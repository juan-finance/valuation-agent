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14.xml" ContentType="application/vnd.openxmlformats-officedocument.presentationml.notesSlide+xml"/>
  <Override PartName="/ppt/charts/chart2.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7" r:id="rId2"/>
    <p:sldId id="281" r:id="rId3"/>
    <p:sldId id="282" r:id="rId4"/>
    <p:sldId id="267" r:id="rId5"/>
    <p:sldId id="283" r:id="rId6"/>
    <p:sldId id="268" r:id="rId7"/>
    <p:sldId id="269" r:id="rId8"/>
    <p:sldId id="284" r:id="rId9"/>
    <p:sldId id="270" r:id="rId10"/>
    <p:sldId id="285" r:id="rId11"/>
    <p:sldId id="271" r:id="rId12"/>
    <p:sldId id="272" r:id="rId13"/>
    <p:sldId id="259" r:id="rId14"/>
    <p:sldId id="260" r:id="rId15"/>
    <p:sldId id="261" r:id="rId16"/>
    <p:sldId id="262" r:id="rId17"/>
    <p:sldId id="263" r:id="rId18"/>
    <p:sldId id="286" r:id="rId19"/>
    <p:sldId id="273" r:id="rId20"/>
    <p:sldId id="274" r:id="rId21"/>
    <p:sldId id="275" r:id="rId22"/>
    <p:sldId id="287" r:id="rId23"/>
    <p:sldId id="279" r:id="rId24"/>
    <p:sldId id="278" r:id="rId25"/>
    <p:sldId id="276" r:id="rId26"/>
    <p:sldId id="277" r:id="rId27"/>
    <p:sldId id="288"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CE33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C4CA57-48BB-407C-B3E7-406492642339}" v="10" dt="2026-09-29T14:03:33.0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24" autoAdjust="0"/>
    <p:restoredTop sz="81688" autoAdjust="0"/>
  </p:normalViewPr>
  <p:slideViewPr>
    <p:cSldViewPr>
      <p:cViewPr varScale="1">
        <p:scale>
          <a:sx n="72" d="100"/>
          <a:sy n="72" d="100"/>
        </p:scale>
        <p:origin x="1647" y="3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AITZOGLOU Iordanis" userId="59a78b65-5149-4b7e-9a03-bcb365d691a2" providerId="ADAL" clId="{DD3CBDC3-F255-4437-BA5F-C63C0C4F1C5E}"/>
    <pc:docChg chg="undo custSel addSld delSld modSld sldOrd">
      <pc:chgData name="KALAITZOGLOU Iordanis" userId="59a78b65-5149-4b7e-9a03-bcb365d691a2" providerId="ADAL" clId="{DD3CBDC3-F255-4437-BA5F-C63C0C4F1C5E}" dt="2026-09-29T14:03:33.097" v="337"/>
      <pc:docMkLst>
        <pc:docMk/>
      </pc:docMkLst>
      <pc:sldChg chg="modSp mod">
        <pc:chgData name="KALAITZOGLOU Iordanis" userId="59a78b65-5149-4b7e-9a03-bcb365d691a2" providerId="ADAL" clId="{DD3CBDC3-F255-4437-BA5F-C63C0C4F1C5E}" dt="2026-09-27T16:34:30.102" v="40" actId="20577"/>
        <pc:sldMkLst>
          <pc:docMk/>
          <pc:sldMk cId="891975869" sldId="257"/>
        </pc:sldMkLst>
        <pc:spChg chg="mod">
          <ac:chgData name="KALAITZOGLOU Iordanis" userId="59a78b65-5149-4b7e-9a03-bcb365d691a2" providerId="ADAL" clId="{DD3CBDC3-F255-4437-BA5F-C63C0C4F1C5E}" dt="2026-09-27T16:34:30.102" v="40" actId="20577"/>
          <ac:spMkLst>
            <pc:docMk/>
            <pc:sldMk cId="891975869" sldId="257"/>
            <ac:spMk id="82947" creationId="{00000000-0000-0000-0000-000000000000}"/>
          </ac:spMkLst>
        </pc:spChg>
      </pc:sldChg>
      <pc:sldChg chg="add">
        <pc:chgData name="KALAITZOGLOU Iordanis" userId="59a78b65-5149-4b7e-9a03-bcb365d691a2" providerId="ADAL" clId="{DD3CBDC3-F255-4437-BA5F-C63C0C4F1C5E}" dt="2026-09-27T16:47:25.068" v="66"/>
        <pc:sldMkLst>
          <pc:docMk/>
          <pc:sldMk cId="1905162229" sldId="259"/>
        </pc:sldMkLst>
      </pc:sldChg>
      <pc:sldChg chg="add">
        <pc:chgData name="KALAITZOGLOU Iordanis" userId="59a78b65-5149-4b7e-9a03-bcb365d691a2" providerId="ADAL" clId="{DD3CBDC3-F255-4437-BA5F-C63C0C4F1C5E}" dt="2026-09-27T16:47:25.068" v="66"/>
        <pc:sldMkLst>
          <pc:docMk/>
          <pc:sldMk cId="1287451692" sldId="260"/>
        </pc:sldMkLst>
      </pc:sldChg>
      <pc:sldChg chg="add">
        <pc:chgData name="KALAITZOGLOU Iordanis" userId="59a78b65-5149-4b7e-9a03-bcb365d691a2" providerId="ADAL" clId="{DD3CBDC3-F255-4437-BA5F-C63C0C4F1C5E}" dt="2026-09-27T16:47:25.068" v="66"/>
        <pc:sldMkLst>
          <pc:docMk/>
          <pc:sldMk cId="2528468155" sldId="261"/>
        </pc:sldMkLst>
      </pc:sldChg>
      <pc:sldChg chg="add">
        <pc:chgData name="KALAITZOGLOU Iordanis" userId="59a78b65-5149-4b7e-9a03-bcb365d691a2" providerId="ADAL" clId="{DD3CBDC3-F255-4437-BA5F-C63C0C4F1C5E}" dt="2026-09-27T16:47:25.068" v="66"/>
        <pc:sldMkLst>
          <pc:docMk/>
          <pc:sldMk cId="718797678" sldId="262"/>
        </pc:sldMkLst>
      </pc:sldChg>
      <pc:sldChg chg="add">
        <pc:chgData name="KALAITZOGLOU Iordanis" userId="59a78b65-5149-4b7e-9a03-bcb365d691a2" providerId="ADAL" clId="{DD3CBDC3-F255-4437-BA5F-C63C0C4F1C5E}" dt="2026-09-27T16:47:25.068" v="66"/>
        <pc:sldMkLst>
          <pc:docMk/>
          <pc:sldMk cId="4257742559" sldId="263"/>
        </pc:sldMkLst>
      </pc:sldChg>
      <pc:sldChg chg="addSp modSp mod">
        <pc:chgData name="KALAITZOGLOU Iordanis" userId="59a78b65-5149-4b7e-9a03-bcb365d691a2" providerId="ADAL" clId="{DD3CBDC3-F255-4437-BA5F-C63C0C4F1C5E}" dt="2026-09-27T16:53:20.639" v="312" actId="403"/>
        <pc:sldMkLst>
          <pc:docMk/>
          <pc:sldMk cId="1455813043" sldId="278"/>
        </pc:sldMkLst>
        <pc:spChg chg="add mod">
          <ac:chgData name="KALAITZOGLOU Iordanis" userId="59a78b65-5149-4b7e-9a03-bcb365d691a2" providerId="ADAL" clId="{DD3CBDC3-F255-4437-BA5F-C63C0C4F1C5E}" dt="2026-09-27T16:53:20.639" v="312" actId="403"/>
          <ac:spMkLst>
            <pc:docMk/>
            <pc:sldMk cId="1455813043" sldId="278"/>
            <ac:spMk id="2" creationId="{CFEB7F86-AA2E-BD72-7A30-34D0A2924ED4}"/>
          </ac:spMkLst>
        </pc:spChg>
        <pc:spChg chg="mod">
          <ac:chgData name="KALAITZOGLOU Iordanis" userId="59a78b65-5149-4b7e-9a03-bcb365d691a2" providerId="ADAL" clId="{DD3CBDC3-F255-4437-BA5F-C63C0C4F1C5E}" dt="2026-09-27T16:52:45.743" v="210" actId="14100"/>
          <ac:spMkLst>
            <pc:docMk/>
            <pc:sldMk cId="1455813043" sldId="278"/>
            <ac:spMk id="596995" creationId="{00000000-0000-0000-0000-000000000000}"/>
          </ac:spMkLst>
        </pc:spChg>
      </pc:sldChg>
      <pc:sldChg chg="ord">
        <pc:chgData name="KALAITZOGLOU Iordanis" userId="59a78b65-5149-4b7e-9a03-bcb365d691a2" providerId="ADAL" clId="{DD3CBDC3-F255-4437-BA5F-C63C0C4F1C5E}" dt="2026-09-27T16:44:17.122" v="63"/>
        <pc:sldMkLst>
          <pc:docMk/>
          <pc:sldMk cId="3890705850" sldId="281"/>
        </pc:sldMkLst>
      </pc:sldChg>
      <pc:sldChg chg="addSp delSp modSp new mod modClrScheme chgLayout">
        <pc:chgData name="KALAITZOGLOU Iordanis" userId="59a78b65-5149-4b7e-9a03-bcb365d691a2" providerId="ADAL" clId="{DD3CBDC3-F255-4437-BA5F-C63C0C4F1C5E}" dt="2026-09-27T16:48:50.579" v="103" actId="26606"/>
        <pc:sldMkLst>
          <pc:docMk/>
          <pc:sldMk cId="4293969869" sldId="282"/>
        </pc:sldMkLst>
        <pc:spChg chg="add mod">
          <ac:chgData name="KALAITZOGLOU Iordanis" userId="59a78b65-5149-4b7e-9a03-bcb365d691a2" providerId="ADAL" clId="{DD3CBDC3-F255-4437-BA5F-C63C0C4F1C5E}" dt="2026-09-27T16:48:50.579" v="103" actId="26606"/>
          <ac:spMkLst>
            <pc:docMk/>
            <pc:sldMk cId="4293969869" sldId="282"/>
            <ac:spMk id="2" creationId="{6CF12ED2-A2C3-3760-EDFB-53C8293D2DCC}"/>
          </ac:spMkLst>
        </pc:spChg>
        <pc:spChg chg="add mod">
          <ac:chgData name="KALAITZOGLOU Iordanis" userId="59a78b65-5149-4b7e-9a03-bcb365d691a2" providerId="ADAL" clId="{DD3CBDC3-F255-4437-BA5F-C63C0C4F1C5E}" dt="2026-09-27T16:48:50.579" v="103" actId="26606"/>
          <ac:spMkLst>
            <pc:docMk/>
            <pc:sldMk cId="4293969869" sldId="282"/>
            <ac:spMk id="12" creationId="{8490848D-8E4B-7381-DA0D-8356726C0B21}"/>
          </ac:spMkLst>
        </pc:spChg>
        <pc:picChg chg="add">
          <ac:chgData name="KALAITZOGLOU Iordanis" userId="59a78b65-5149-4b7e-9a03-bcb365d691a2" providerId="ADAL" clId="{DD3CBDC3-F255-4437-BA5F-C63C0C4F1C5E}" dt="2026-09-27T16:48:50.579" v="103" actId="26606"/>
          <ac:picMkLst>
            <pc:docMk/>
            <pc:sldMk cId="4293969869" sldId="282"/>
            <ac:picMk id="11" creationId="{9593A6AB-76B0-894E-87D2-729F638251EB}"/>
          </ac:picMkLst>
        </pc:picChg>
      </pc:sldChg>
      <pc:sldChg chg="addSp delSp modSp new mod modClrScheme chgLayout">
        <pc:chgData name="KALAITZOGLOU Iordanis" userId="59a78b65-5149-4b7e-9a03-bcb365d691a2" providerId="ADAL" clId="{DD3CBDC3-F255-4437-BA5F-C63C0C4F1C5E}" dt="2026-09-27T16:49:36.057" v="116" actId="20577"/>
        <pc:sldMkLst>
          <pc:docMk/>
          <pc:sldMk cId="363328996" sldId="283"/>
        </pc:sldMkLst>
        <pc:spChg chg="mod">
          <ac:chgData name="KALAITZOGLOU Iordanis" userId="59a78b65-5149-4b7e-9a03-bcb365d691a2" providerId="ADAL" clId="{DD3CBDC3-F255-4437-BA5F-C63C0C4F1C5E}" dt="2026-09-27T16:49:29.659" v="115" actId="26606"/>
          <ac:spMkLst>
            <pc:docMk/>
            <pc:sldMk cId="363328996" sldId="283"/>
            <ac:spMk id="2" creationId="{DAE6FDC9-E762-A9C9-5E61-14532D5E97FD}"/>
          </ac:spMkLst>
        </pc:spChg>
        <pc:spChg chg="add mod">
          <ac:chgData name="KALAITZOGLOU Iordanis" userId="59a78b65-5149-4b7e-9a03-bcb365d691a2" providerId="ADAL" clId="{DD3CBDC3-F255-4437-BA5F-C63C0C4F1C5E}" dt="2026-09-27T16:49:36.057" v="116" actId="20577"/>
          <ac:spMkLst>
            <pc:docMk/>
            <pc:sldMk cId="363328996" sldId="283"/>
            <ac:spMk id="9" creationId="{CB7A9024-AF6B-8BBF-9FEB-369E687713DD}"/>
          </ac:spMkLst>
        </pc:spChg>
        <pc:picChg chg="add">
          <ac:chgData name="KALAITZOGLOU Iordanis" userId="59a78b65-5149-4b7e-9a03-bcb365d691a2" providerId="ADAL" clId="{DD3CBDC3-F255-4437-BA5F-C63C0C4F1C5E}" dt="2026-09-27T16:49:29.659" v="115" actId="26606"/>
          <ac:picMkLst>
            <pc:docMk/>
            <pc:sldMk cId="363328996" sldId="283"/>
            <ac:picMk id="5" creationId="{3FDE6476-592C-565E-65C3-56D46441F78F}"/>
          </ac:picMkLst>
        </pc:picChg>
      </pc:sldChg>
      <pc:sldChg chg="addSp delSp modSp new mod modClrScheme chgLayout">
        <pc:chgData name="KALAITZOGLOU Iordanis" userId="59a78b65-5149-4b7e-9a03-bcb365d691a2" providerId="ADAL" clId="{DD3CBDC3-F255-4437-BA5F-C63C0C4F1C5E}" dt="2026-09-27T16:50:01.701" v="131" actId="26606"/>
        <pc:sldMkLst>
          <pc:docMk/>
          <pc:sldMk cId="231541462" sldId="284"/>
        </pc:sldMkLst>
        <pc:spChg chg="mod">
          <ac:chgData name="KALAITZOGLOU Iordanis" userId="59a78b65-5149-4b7e-9a03-bcb365d691a2" providerId="ADAL" clId="{DD3CBDC3-F255-4437-BA5F-C63C0C4F1C5E}" dt="2026-09-27T16:50:01.701" v="131" actId="26606"/>
          <ac:spMkLst>
            <pc:docMk/>
            <pc:sldMk cId="231541462" sldId="284"/>
            <ac:spMk id="2" creationId="{A4250E88-506C-0B76-3933-FE171032907F}"/>
          </ac:spMkLst>
        </pc:spChg>
        <pc:spChg chg="add mod">
          <ac:chgData name="KALAITZOGLOU Iordanis" userId="59a78b65-5149-4b7e-9a03-bcb365d691a2" providerId="ADAL" clId="{DD3CBDC3-F255-4437-BA5F-C63C0C4F1C5E}" dt="2026-09-27T16:50:01.701" v="131" actId="26606"/>
          <ac:spMkLst>
            <pc:docMk/>
            <pc:sldMk cId="231541462" sldId="284"/>
            <ac:spMk id="9" creationId="{57CD6C34-AD2C-F970-E393-D48BE31E0D92}"/>
          </ac:spMkLst>
        </pc:spChg>
        <pc:picChg chg="add">
          <ac:chgData name="KALAITZOGLOU Iordanis" userId="59a78b65-5149-4b7e-9a03-bcb365d691a2" providerId="ADAL" clId="{DD3CBDC3-F255-4437-BA5F-C63C0C4F1C5E}" dt="2026-09-27T16:50:01.701" v="131" actId="26606"/>
          <ac:picMkLst>
            <pc:docMk/>
            <pc:sldMk cId="231541462" sldId="284"/>
            <ac:picMk id="5" creationId="{34262EA8-C451-4CCA-C4EF-BBFC5A62E863}"/>
          </ac:picMkLst>
        </pc:picChg>
      </pc:sldChg>
      <pc:sldChg chg="addSp delSp modSp new mod modClrScheme chgLayout">
        <pc:chgData name="KALAITZOGLOU Iordanis" userId="59a78b65-5149-4b7e-9a03-bcb365d691a2" providerId="ADAL" clId="{DD3CBDC3-F255-4437-BA5F-C63C0C4F1C5E}" dt="2026-09-27T16:50:34.451" v="157" actId="26606"/>
        <pc:sldMkLst>
          <pc:docMk/>
          <pc:sldMk cId="2880264351" sldId="285"/>
        </pc:sldMkLst>
        <pc:spChg chg="mod">
          <ac:chgData name="KALAITZOGLOU Iordanis" userId="59a78b65-5149-4b7e-9a03-bcb365d691a2" providerId="ADAL" clId="{DD3CBDC3-F255-4437-BA5F-C63C0C4F1C5E}" dt="2026-09-27T16:50:34.451" v="157" actId="26606"/>
          <ac:spMkLst>
            <pc:docMk/>
            <pc:sldMk cId="2880264351" sldId="285"/>
            <ac:spMk id="2" creationId="{18F465B6-6FE9-1A23-1DB2-D1FFC65D06A2}"/>
          </ac:spMkLst>
        </pc:spChg>
        <pc:spChg chg="add mod">
          <ac:chgData name="KALAITZOGLOU Iordanis" userId="59a78b65-5149-4b7e-9a03-bcb365d691a2" providerId="ADAL" clId="{DD3CBDC3-F255-4437-BA5F-C63C0C4F1C5E}" dt="2026-09-27T16:50:34.451" v="157" actId="26606"/>
          <ac:spMkLst>
            <pc:docMk/>
            <pc:sldMk cId="2880264351" sldId="285"/>
            <ac:spMk id="9" creationId="{5DFD2CA1-B117-A0B5-170C-87D85E3AF475}"/>
          </ac:spMkLst>
        </pc:spChg>
        <pc:picChg chg="add">
          <ac:chgData name="KALAITZOGLOU Iordanis" userId="59a78b65-5149-4b7e-9a03-bcb365d691a2" providerId="ADAL" clId="{DD3CBDC3-F255-4437-BA5F-C63C0C4F1C5E}" dt="2026-09-27T16:50:34.451" v="157" actId="26606"/>
          <ac:picMkLst>
            <pc:docMk/>
            <pc:sldMk cId="2880264351" sldId="285"/>
            <ac:picMk id="5" creationId="{C54B3630-44B0-D62E-7E52-C89E006B4855}"/>
          </ac:picMkLst>
        </pc:picChg>
      </pc:sldChg>
      <pc:sldChg chg="addSp delSp modSp new mod modClrScheme chgLayout">
        <pc:chgData name="KALAITZOGLOU Iordanis" userId="59a78b65-5149-4b7e-9a03-bcb365d691a2" providerId="ADAL" clId="{DD3CBDC3-F255-4437-BA5F-C63C0C4F1C5E}" dt="2026-09-27T16:51:25.428" v="175" actId="26606"/>
        <pc:sldMkLst>
          <pc:docMk/>
          <pc:sldMk cId="3852868923" sldId="286"/>
        </pc:sldMkLst>
        <pc:spChg chg="mod">
          <ac:chgData name="KALAITZOGLOU Iordanis" userId="59a78b65-5149-4b7e-9a03-bcb365d691a2" providerId="ADAL" clId="{DD3CBDC3-F255-4437-BA5F-C63C0C4F1C5E}" dt="2026-09-27T16:51:25.428" v="175" actId="26606"/>
          <ac:spMkLst>
            <pc:docMk/>
            <pc:sldMk cId="3852868923" sldId="286"/>
            <ac:spMk id="2" creationId="{B3E40B46-03B6-CEF5-5FA1-576A178EE360}"/>
          </ac:spMkLst>
        </pc:spChg>
        <pc:spChg chg="add mod">
          <ac:chgData name="KALAITZOGLOU Iordanis" userId="59a78b65-5149-4b7e-9a03-bcb365d691a2" providerId="ADAL" clId="{DD3CBDC3-F255-4437-BA5F-C63C0C4F1C5E}" dt="2026-09-27T16:51:25.428" v="175" actId="26606"/>
          <ac:spMkLst>
            <pc:docMk/>
            <pc:sldMk cId="3852868923" sldId="286"/>
            <ac:spMk id="9" creationId="{97CA5EB6-16DA-1818-3DEC-66DDB9A74B3D}"/>
          </ac:spMkLst>
        </pc:spChg>
        <pc:picChg chg="add">
          <ac:chgData name="KALAITZOGLOU Iordanis" userId="59a78b65-5149-4b7e-9a03-bcb365d691a2" providerId="ADAL" clId="{DD3CBDC3-F255-4437-BA5F-C63C0C4F1C5E}" dt="2026-09-27T16:51:25.428" v="175" actId="26606"/>
          <ac:picMkLst>
            <pc:docMk/>
            <pc:sldMk cId="3852868923" sldId="286"/>
            <ac:picMk id="5" creationId="{BF5AE54E-D706-8ABB-F1ED-95B35D6244AD}"/>
          </ac:picMkLst>
        </pc:picChg>
      </pc:sldChg>
      <pc:sldChg chg="addSp delSp modSp new mod modClrScheme chgLayout">
        <pc:chgData name="KALAITZOGLOU Iordanis" userId="59a78b65-5149-4b7e-9a03-bcb365d691a2" providerId="ADAL" clId="{DD3CBDC3-F255-4437-BA5F-C63C0C4F1C5E}" dt="2026-09-27T16:51:45.520" v="208" actId="26606"/>
        <pc:sldMkLst>
          <pc:docMk/>
          <pc:sldMk cId="3858565172" sldId="287"/>
        </pc:sldMkLst>
        <pc:spChg chg="mod">
          <ac:chgData name="KALAITZOGLOU Iordanis" userId="59a78b65-5149-4b7e-9a03-bcb365d691a2" providerId="ADAL" clId="{DD3CBDC3-F255-4437-BA5F-C63C0C4F1C5E}" dt="2026-09-27T16:51:45.520" v="208" actId="26606"/>
          <ac:spMkLst>
            <pc:docMk/>
            <pc:sldMk cId="3858565172" sldId="287"/>
            <ac:spMk id="2" creationId="{5483E31D-0797-C5D7-5D30-ACF830FA6E3E}"/>
          </ac:spMkLst>
        </pc:spChg>
        <pc:spChg chg="add mod">
          <ac:chgData name="KALAITZOGLOU Iordanis" userId="59a78b65-5149-4b7e-9a03-bcb365d691a2" providerId="ADAL" clId="{DD3CBDC3-F255-4437-BA5F-C63C0C4F1C5E}" dt="2026-09-27T16:51:45.520" v="208" actId="26606"/>
          <ac:spMkLst>
            <pc:docMk/>
            <pc:sldMk cId="3858565172" sldId="287"/>
            <ac:spMk id="9" creationId="{98B96763-4342-BBEB-FB5B-357BC711EE58}"/>
          </ac:spMkLst>
        </pc:spChg>
        <pc:picChg chg="add">
          <ac:chgData name="KALAITZOGLOU Iordanis" userId="59a78b65-5149-4b7e-9a03-bcb365d691a2" providerId="ADAL" clId="{DD3CBDC3-F255-4437-BA5F-C63C0C4F1C5E}" dt="2026-09-27T16:51:45.520" v="208" actId="26606"/>
          <ac:picMkLst>
            <pc:docMk/>
            <pc:sldMk cId="3858565172" sldId="287"/>
            <ac:picMk id="5" creationId="{0817FEF5-122D-5B07-1E4D-6371AFE39B3B}"/>
          </ac:picMkLst>
        </pc:picChg>
      </pc:sldChg>
      <pc:sldChg chg="addSp delSp modSp new mod">
        <pc:chgData name="KALAITZOGLOU Iordanis" userId="59a78b65-5149-4b7e-9a03-bcb365d691a2" providerId="ADAL" clId="{DD3CBDC3-F255-4437-BA5F-C63C0C4F1C5E}" dt="2026-09-29T14:03:33.097" v="337"/>
        <pc:sldMkLst>
          <pc:docMk/>
          <pc:sldMk cId="933973760" sldId="288"/>
        </pc:sldMkLst>
        <pc:spChg chg="mod">
          <ac:chgData name="KALAITZOGLOU Iordanis" userId="59a78b65-5149-4b7e-9a03-bcb365d691a2" providerId="ADAL" clId="{DD3CBDC3-F255-4437-BA5F-C63C0C4F1C5E}" dt="2026-09-27T16:53:54.161" v="326" actId="122"/>
          <ac:spMkLst>
            <pc:docMk/>
            <pc:sldMk cId="933973760" sldId="288"/>
            <ac:spMk id="2" creationId="{7BD7A461-9188-D0C1-4B04-6751A51ABB04}"/>
          </ac:spMkLst>
        </pc:spChg>
        <pc:graphicFrameChg chg="add mod">
          <ac:chgData name="KALAITZOGLOU Iordanis" userId="59a78b65-5149-4b7e-9a03-bcb365d691a2" providerId="ADAL" clId="{DD3CBDC3-F255-4437-BA5F-C63C0C4F1C5E}" dt="2026-09-29T14:03:33.097" v="337"/>
          <ac:graphicFrameMkLst>
            <pc:docMk/>
            <pc:sldMk cId="933973760" sldId="288"/>
            <ac:graphicFrameMk id="4" creationId="{8CD5135D-9187-9A93-FCAA-407DEFC34394}"/>
          </ac:graphicFrameMkLst>
        </pc:graphicFrameChg>
        <pc:graphicFrameChg chg="add mod">
          <ac:chgData name="KALAITZOGLOU Iordanis" userId="59a78b65-5149-4b7e-9a03-bcb365d691a2" providerId="ADAL" clId="{DD3CBDC3-F255-4437-BA5F-C63C0C4F1C5E}" dt="2026-09-29T11:36:25.431" v="336"/>
          <ac:graphicFrameMkLst>
            <pc:docMk/>
            <pc:sldMk cId="933973760" sldId="288"/>
            <ac:graphicFrameMk id="5" creationId="{02F85D53-A1CD-A289-B235-74CE5083D135}"/>
          </ac:graphicFrameMkLst>
        </pc:graphicFrameChg>
      </pc:sldChg>
    </pc:docChg>
  </pc:docChgLst>
</pc:chgInfo>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Macintosh%20HD:All%20My%20Stuff:Home%20Page%202002:pc:eqegs:coned06.xls"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29"/>
    </mc:Choice>
    <mc:Fallback>
      <c:style val="29"/>
    </mc:Fallback>
  </mc:AlternateContent>
  <c:chart>
    <c:title>
      <c:tx>
        <c:rich>
          <a:bodyPr/>
          <a:lstStyle/>
          <a:p>
            <a:pPr>
              <a:defRPr/>
            </a:pPr>
            <a:r>
              <a:rPr lang="en-US"/>
              <a:t>Value versus Growth Rate</a:t>
            </a:r>
          </a:p>
        </c:rich>
      </c:tx>
      <c:layout>
        <c:manualLayout>
          <c:xMode val="edge"/>
          <c:yMode val="edge"/>
          <c:x val="0.32474659340801071"/>
          <c:y val="1.960773085182534E-2"/>
        </c:manualLayout>
      </c:layout>
      <c:overlay val="0"/>
    </c:title>
    <c:autoTitleDeleted val="0"/>
    <c:plotArea>
      <c:layout>
        <c:manualLayout>
          <c:layoutTarget val="inner"/>
          <c:xMode val="edge"/>
          <c:yMode val="edge"/>
          <c:x val="0.17404293213348332"/>
          <c:y val="0.13528031496062989"/>
          <c:w val="0.77275014730301572"/>
          <c:h val="0.67948244750656173"/>
        </c:manualLayout>
      </c:layout>
      <c:lineChart>
        <c:grouping val="standard"/>
        <c:varyColors val="0"/>
        <c:ser>
          <c:idx val="1"/>
          <c:order val="0"/>
          <c:tx>
            <c:strRef>
              <c:f>'ConEd01.xls'!$C$47</c:f>
              <c:strCache>
                <c:ptCount val="1"/>
                <c:pt idx="0">
                  <c:v>Value</c:v>
                </c:pt>
              </c:strCache>
            </c:strRef>
          </c:tx>
          <c:spPr>
            <a:ln w="57150" cmpd="sng">
              <a:solidFill>
                <a:schemeClr val="bg2">
                  <a:lumMod val="50000"/>
                </a:schemeClr>
              </a:solidFill>
            </a:ln>
          </c:spPr>
          <c:marker>
            <c:symbol val="square"/>
            <c:size val="11"/>
            <c:spPr>
              <a:solidFill>
                <a:srgbClr val="FF0000"/>
              </a:solidFill>
              <a:ln w="12700">
                <a:noFill/>
              </a:ln>
            </c:spPr>
          </c:marker>
          <c:cat>
            <c:numRef>
              <c:f>'ConEd01.xls'!$B$48:$B$56</c:f>
              <c:numCache>
                <c:formatCode>0.00%</c:formatCode>
                <c:ptCount val="9"/>
                <c:pt idx="0">
                  <c:v>4.1000000000000009E-2</c:v>
                </c:pt>
                <c:pt idx="1">
                  <c:v>3.100000000000001E-2</c:v>
                </c:pt>
                <c:pt idx="2">
                  <c:v>2.1000000000000008E-2</c:v>
                </c:pt>
                <c:pt idx="3">
                  <c:v>1.1000000000000005E-2</c:v>
                </c:pt>
                <c:pt idx="4">
                  <c:v>1.0000000000000005E-3</c:v>
                </c:pt>
                <c:pt idx="5">
                  <c:v>-9.0000000000000028E-3</c:v>
                </c:pt>
                <c:pt idx="6">
                  <c:v>-1.9000000000000006E-2</c:v>
                </c:pt>
                <c:pt idx="7">
                  <c:v>-2.9000000000000008E-2</c:v>
                </c:pt>
                <c:pt idx="8">
                  <c:v>-3.9000000000000014E-2</c:v>
                </c:pt>
              </c:numCache>
            </c:numRef>
          </c:cat>
          <c:val>
            <c:numRef>
              <c:f>'ConEd01.xls'!$C$48:$C$56</c:f>
              <c:numCache>
                <c:formatCode>\$#,##0.00_);[Red]\(\$#,##0.00\)</c:formatCode>
                <c:ptCount val="9"/>
                <c:pt idx="0">
                  <c:v>67.086666666666673</c:v>
                </c:pt>
                <c:pt idx="1">
                  <c:v>51.998260869565208</c:v>
                </c:pt>
                <c:pt idx="2">
                  <c:v>42.29857142857152</c:v>
                </c:pt>
                <c:pt idx="3">
                  <c:v>35.538181818181819</c:v>
                </c:pt>
                <c:pt idx="4">
                  <c:v>30.556842105263144</c:v>
                </c:pt>
                <c:pt idx="5">
                  <c:v>26.733953488372105</c:v>
                </c:pt>
                <c:pt idx="6">
                  <c:v>23.7075</c:v>
                </c:pt>
                <c:pt idx="7">
                  <c:v>21.252075471698117</c:v>
                </c:pt>
                <c:pt idx="8">
                  <c:v>19.22</c:v>
                </c:pt>
              </c:numCache>
            </c:numRef>
          </c:val>
          <c:smooth val="0"/>
          <c:extLst>
            <c:ext xmlns:c16="http://schemas.microsoft.com/office/drawing/2014/chart" uri="{C3380CC4-5D6E-409C-BE32-E72D297353CC}">
              <c16:uniqueId val="{00000000-3D6B-42A4-9AE8-9A7E189CB6E2}"/>
            </c:ext>
          </c:extLst>
        </c:ser>
        <c:dLbls>
          <c:showLegendKey val="0"/>
          <c:showVal val="0"/>
          <c:showCatName val="0"/>
          <c:showSerName val="0"/>
          <c:showPercent val="0"/>
          <c:showBubbleSize val="0"/>
        </c:dLbls>
        <c:marker val="1"/>
        <c:smooth val="0"/>
        <c:axId val="232956864"/>
        <c:axId val="232957424"/>
      </c:lineChart>
      <c:catAx>
        <c:axId val="232956864"/>
        <c:scaling>
          <c:orientation val="minMax"/>
        </c:scaling>
        <c:delete val="0"/>
        <c:axPos val="b"/>
        <c:title>
          <c:tx>
            <c:rich>
              <a:bodyPr/>
              <a:lstStyle/>
              <a:p>
                <a:pPr>
                  <a:defRPr/>
                </a:pPr>
                <a:r>
                  <a:rPr lang="en-US"/>
                  <a:t>Expected Growth rate</a:t>
                </a:r>
              </a:p>
            </c:rich>
          </c:tx>
          <c:layout>
            <c:manualLayout>
              <c:xMode val="edge"/>
              <c:yMode val="edge"/>
              <c:x val="0.75627993061063925"/>
              <c:y val="0.92909090909090919"/>
            </c:manualLayout>
          </c:layout>
          <c:overlay val="0"/>
        </c:title>
        <c:numFmt formatCode="0.00%" sourceLinked="1"/>
        <c:majorTickMark val="out"/>
        <c:minorTickMark val="none"/>
        <c:tickLblPos val="nextTo"/>
        <c:txPr>
          <a:bodyPr rot="0" vert="horz"/>
          <a:lstStyle/>
          <a:p>
            <a:pPr>
              <a:defRPr/>
            </a:pPr>
            <a:endParaRPr lang="en-US"/>
          </a:p>
        </c:txPr>
        <c:crossAx val="232957424"/>
        <c:crosses val="autoZero"/>
        <c:auto val="1"/>
        <c:lblAlgn val="ctr"/>
        <c:lblOffset val="100"/>
        <c:tickLblSkip val="1"/>
        <c:tickMarkSkip val="1"/>
        <c:noMultiLvlLbl val="0"/>
      </c:catAx>
      <c:valAx>
        <c:axId val="232957424"/>
        <c:scaling>
          <c:orientation val="minMax"/>
        </c:scaling>
        <c:delete val="0"/>
        <c:axPos val="l"/>
        <c:majorGridlines/>
        <c:title>
          <c:tx>
            <c:rich>
              <a:bodyPr/>
              <a:lstStyle/>
              <a:p>
                <a:pPr>
                  <a:defRPr/>
                </a:pPr>
                <a:r>
                  <a:rPr lang="en-US"/>
                  <a:t>Value per share</a:t>
                </a:r>
              </a:p>
            </c:rich>
          </c:tx>
          <c:layout>
            <c:manualLayout>
              <c:xMode val="edge"/>
              <c:yMode val="edge"/>
              <c:x val="3.2624954138797056E-4"/>
              <c:y val="1.4942175196850394E-2"/>
            </c:manualLayout>
          </c:layout>
          <c:overlay val="0"/>
        </c:title>
        <c:numFmt formatCode="\$#,##0.00_);[Red]\(\$#,##0.00\)" sourceLinked="1"/>
        <c:majorTickMark val="out"/>
        <c:minorTickMark val="none"/>
        <c:tickLblPos val="nextTo"/>
        <c:txPr>
          <a:bodyPr rot="0" vert="horz"/>
          <a:lstStyle/>
          <a:p>
            <a:pPr>
              <a:defRPr/>
            </a:pPr>
            <a:endParaRPr lang="en-US"/>
          </a:p>
        </c:txPr>
        <c:crossAx val="232956864"/>
        <c:crosses val="autoZero"/>
        <c:crossBetween val="between"/>
      </c:valAx>
    </c:plotArea>
    <c:plotVisOnly val="1"/>
    <c:dispBlanksAs val="gap"/>
    <c:showDLblsOverMax val="0"/>
  </c:chart>
  <c:txPr>
    <a:bodyPr/>
    <a:lstStyle/>
    <a:p>
      <a:pPr>
        <a:defRPr sz="1800"/>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45"/>
    </mc:Choice>
    <mc:Fallback>
      <c:style val="45"/>
    </mc:Fallback>
  </mc:AlternateContent>
  <c:chart>
    <c:title>
      <c:overlay val="0"/>
    </c:title>
    <c:autoTitleDeleted val="0"/>
    <c:plotArea>
      <c:layout/>
      <c:barChart>
        <c:barDir val="col"/>
        <c:grouping val="clustered"/>
        <c:varyColors val="0"/>
        <c:ser>
          <c:idx val="0"/>
          <c:order val="0"/>
          <c:tx>
            <c:strRef>
              <c:f>Sheet1!$Q$22</c:f>
              <c:strCache>
                <c:ptCount val="1"/>
                <c:pt idx="0">
                  <c:v>Probability</c:v>
                </c:pt>
              </c:strCache>
            </c:strRef>
          </c:tx>
          <c:spPr>
            <a:solidFill>
              <a:srgbClr val="CE3302">
                <a:alpha val="85000"/>
              </a:srgbClr>
            </a:solidFill>
          </c:spPr>
          <c:invertIfNegative val="0"/>
          <c:cat>
            <c:multiLvlStrRef>
              <c:f>Sheet1!$O$23:$P$32</c:f>
              <c:multiLvlStrCache>
                <c:ptCount val="10"/>
                <c:lvl>
                  <c:pt idx="0">
                    <c:v>£23.33</c:v>
                  </c:pt>
                  <c:pt idx="1">
                    <c:v>£27.50</c:v>
                  </c:pt>
                  <c:pt idx="2">
                    <c:v>£32.86</c:v>
                  </c:pt>
                  <c:pt idx="3">
                    <c:v>£40.00</c:v>
                  </c:pt>
                  <c:pt idx="4">
                    <c:v>£50.00</c:v>
                  </c:pt>
                  <c:pt idx="5">
                    <c:v>£57.78</c:v>
                  </c:pt>
                  <c:pt idx="6">
                    <c:v>£67.50</c:v>
                  </c:pt>
                  <c:pt idx="7">
                    <c:v>£80.00</c:v>
                  </c:pt>
                  <c:pt idx="8">
                    <c:v>£96.67</c:v>
                  </c:pt>
                  <c:pt idx="9">
                    <c:v>£120.00</c:v>
                  </c:pt>
                </c:lvl>
                <c:lvl>
                  <c:pt idx="0">
                    <c:v>Value</c:v>
                  </c:pt>
                </c:lvl>
              </c:multiLvlStrCache>
            </c:multiLvlStrRef>
          </c:cat>
          <c:val>
            <c:numRef>
              <c:f>Sheet1!$Q$23:$Q$32</c:f>
              <c:numCache>
                <c:formatCode>General</c:formatCode>
                <c:ptCount val="10"/>
                <c:pt idx="0">
                  <c:v>0.02</c:v>
                </c:pt>
                <c:pt idx="1">
                  <c:v>0.05</c:v>
                </c:pt>
                <c:pt idx="2">
                  <c:v>0.08</c:v>
                </c:pt>
                <c:pt idx="3">
                  <c:v>0.1</c:v>
                </c:pt>
                <c:pt idx="4">
                  <c:v>0.25</c:v>
                </c:pt>
                <c:pt idx="5">
                  <c:v>0.2</c:v>
                </c:pt>
                <c:pt idx="6">
                  <c:v>0.1</c:v>
                </c:pt>
                <c:pt idx="7">
                  <c:v>0.1</c:v>
                </c:pt>
                <c:pt idx="8">
                  <c:v>0.05</c:v>
                </c:pt>
                <c:pt idx="9">
                  <c:v>0.05</c:v>
                </c:pt>
              </c:numCache>
            </c:numRef>
          </c:val>
          <c:extLst>
            <c:ext xmlns:c16="http://schemas.microsoft.com/office/drawing/2014/chart" uri="{C3380CC4-5D6E-409C-BE32-E72D297353CC}">
              <c16:uniqueId val="{00000000-B15D-483D-A677-9D2D4165C4B3}"/>
            </c:ext>
          </c:extLst>
        </c:ser>
        <c:dLbls>
          <c:showLegendKey val="0"/>
          <c:showVal val="0"/>
          <c:showCatName val="0"/>
          <c:showSerName val="0"/>
          <c:showPercent val="0"/>
          <c:showBubbleSize val="0"/>
        </c:dLbls>
        <c:gapWidth val="150"/>
        <c:axId val="232959664"/>
        <c:axId val="232960224"/>
      </c:barChart>
      <c:catAx>
        <c:axId val="232959664"/>
        <c:scaling>
          <c:orientation val="minMax"/>
        </c:scaling>
        <c:delete val="0"/>
        <c:axPos val="b"/>
        <c:numFmt formatCode="General" sourceLinked="0"/>
        <c:majorTickMark val="out"/>
        <c:minorTickMark val="none"/>
        <c:tickLblPos val="nextTo"/>
        <c:crossAx val="232960224"/>
        <c:crosses val="autoZero"/>
        <c:auto val="1"/>
        <c:lblAlgn val="ctr"/>
        <c:lblOffset val="100"/>
        <c:noMultiLvlLbl val="0"/>
      </c:catAx>
      <c:valAx>
        <c:axId val="232960224"/>
        <c:scaling>
          <c:orientation val="minMax"/>
        </c:scaling>
        <c:delete val="0"/>
        <c:axPos val="l"/>
        <c:majorGridlines/>
        <c:numFmt formatCode="General" sourceLinked="1"/>
        <c:majorTickMark val="out"/>
        <c:minorTickMark val="none"/>
        <c:tickLblPos val="nextTo"/>
        <c:crossAx val="23295966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158BE9-5B8E-467E-A341-3C675C52C8A2}" type="doc">
      <dgm:prSet loTypeId="urn:microsoft.com/office/officeart/2008/layout/HalfCircleOrganizationChart" loCatId="hierarchy" qsTypeId="urn:microsoft.com/office/officeart/2005/8/quickstyle/3d4" qsCatId="3D" csTypeId="urn:microsoft.com/office/officeart/2005/8/colors/accent0_3" csCatId="mainScheme" phldr="1"/>
      <dgm:spPr/>
      <dgm:t>
        <a:bodyPr/>
        <a:lstStyle/>
        <a:p>
          <a:endParaRPr lang="en-GB"/>
        </a:p>
      </dgm:t>
    </dgm:pt>
    <dgm:pt modelId="{7A8EAD54-5814-4289-8951-F1B7D294CDAD}">
      <dgm:prSet/>
      <dgm:spPr/>
      <dgm:t>
        <a:bodyPr/>
        <a:lstStyle/>
        <a:p>
          <a:pPr rtl="0"/>
          <a:r>
            <a:rPr lang="en-GB" dirty="0"/>
            <a:t>Equity Valuation Dividends</a:t>
          </a:r>
        </a:p>
      </dgm:t>
    </dgm:pt>
    <dgm:pt modelId="{86E2D2A0-83D0-4BB8-B05D-79A42AC18D15}" type="parTrans" cxnId="{44D51841-BEA8-4400-BC13-AFB730CAC9E3}">
      <dgm:prSet/>
      <dgm:spPr/>
      <dgm:t>
        <a:bodyPr/>
        <a:lstStyle/>
        <a:p>
          <a:endParaRPr lang="en-GB"/>
        </a:p>
      </dgm:t>
    </dgm:pt>
    <dgm:pt modelId="{0E321437-7548-4C2B-82A8-5863F42FDFEF}" type="sibTrans" cxnId="{44D51841-BEA8-4400-BC13-AFB730CAC9E3}">
      <dgm:prSet/>
      <dgm:spPr/>
      <dgm:t>
        <a:bodyPr/>
        <a:lstStyle/>
        <a:p>
          <a:endParaRPr lang="en-GB"/>
        </a:p>
      </dgm:t>
    </dgm:pt>
    <dgm:pt modelId="{3274025A-F4DA-4B44-A24F-196958DAFC3D}">
      <dgm:prSet/>
      <dgm:spPr/>
      <dgm:t>
        <a:bodyPr/>
        <a:lstStyle/>
        <a:p>
          <a:pPr rtl="0"/>
          <a:r>
            <a:rPr lang="en-GB" dirty="0"/>
            <a:t>Firm Valuation</a:t>
          </a:r>
        </a:p>
      </dgm:t>
    </dgm:pt>
    <dgm:pt modelId="{C566CC5C-CA80-41AD-AFAB-99DC03AC56E5}" type="parTrans" cxnId="{C0429035-FDA3-4CB3-901F-12848197B70B}">
      <dgm:prSet/>
      <dgm:spPr/>
      <dgm:t>
        <a:bodyPr/>
        <a:lstStyle/>
        <a:p>
          <a:endParaRPr lang="en-GB"/>
        </a:p>
      </dgm:t>
    </dgm:pt>
    <dgm:pt modelId="{FEAF69A2-5BA1-438D-A81C-5D6C4F8C0D08}" type="sibTrans" cxnId="{C0429035-FDA3-4CB3-901F-12848197B70B}">
      <dgm:prSet/>
      <dgm:spPr/>
      <dgm:t>
        <a:bodyPr/>
        <a:lstStyle/>
        <a:p>
          <a:endParaRPr lang="en-GB"/>
        </a:p>
      </dgm:t>
    </dgm:pt>
    <dgm:pt modelId="{F8571093-9D3D-4E39-82C6-1117169C68A3}">
      <dgm:prSet/>
      <dgm:spPr/>
      <dgm:t>
        <a:bodyPr/>
        <a:lstStyle/>
        <a:p>
          <a:pPr rtl="0"/>
          <a:r>
            <a:rPr lang="en-GB" dirty="0"/>
            <a:t>FCFF</a:t>
          </a:r>
        </a:p>
      </dgm:t>
    </dgm:pt>
    <dgm:pt modelId="{B0E075A4-33B1-4D4E-B37C-081526B24BA5}" type="parTrans" cxnId="{CF3B67E4-6A94-43BD-A159-749DF7096EC1}">
      <dgm:prSet/>
      <dgm:spPr/>
      <dgm:t>
        <a:bodyPr/>
        <a:lstStyle/>
        <a:p>
          <a:endParaRPr lang="en-GB"/>
        </a:p>
      </dgm:t>
    </dgm:pt>
    <dgm:pt modelId="{0D2D76D0-8CF6-4AE1-B6DE-933D0E6DEE2A}" type="sibTrans" cxnId="{CF3B67E4-6A94-43BD-A159-749DF7096EC1}">
      <dgm:prSet/>
      <dgm:spPr/>
      <dgm:t>
        <a:bodyPr/>
        <a:lstStyle/>
        <a:p>
          <a:endParaRPr lang="en-GB"/>
        </a:p>
      </dgm:t>
    </dgm:pt>
    <dgm:pt modelId="{06E2CE0F-8FDE-45B1-B36E-9CA8B246E2C6}">
      <dgm:prSet/>
      <dgm:spPr/>
      <dgm:t>
        <a:bodyPr/>
        <a:lstStyle/>
        <a:p>
          <a:pPr rtl="0"/>
          <a:r>
            <a:rPr lang="en-GB" dirty="0"/>
            <a:t>WACC</a:t>
          </a:r>
        </a:p>
      </dgm:t>
    </dgm:pt>
    <dgm:pt modelId="{91CD8D0B-6ACF-44B4-AB77-4613E5BAC5AF}" type="parTrans" cxnId="{A402CA09-8B70-4A13-972D-091F8DC440B1}">
      <dgm:prSet/>
      <dgm:spPr/>
      <dgm:t>
        <a:bodyPr/>
        <a:lstStyle/>
        <a:p>
          <a:endParaRPr lang="en-GB"/>
        </a:p>
      </dgm:t>
    </dgm:pt>
    <dgm:pt modelId="{346D2CBD-CA3D-493A-99D3-354D62084A39}" type="sibTrans" cxnId="{A402CA09-8B70-4A13-972D-091F8DC440B1}">
      <dgm:prSet/>
      <dgm:spPr/>
      <dgm:t>
        <a:bodyPr/>
        <a:lstStyle/>
        <a:p>
          <a:endParaRPr lang="en-GB"/>
        </a:p>
      </dgm:t>
    </dgm:pt>
    <dgm:pt modelId="{1F274FCB-5998-4624-8D8A-A63FCBA7DFA4}">
      <dgm:prSet/>
      <dgm:spPr/>
      <dgm:t>
        <a:bodyPr/>
        <a:lstStyle/>
        <a:p>
          <a:pPr rtl="0"/>
          <a:r>
            <a:rPr lang="en-GB" dirty="0"/>
            <a:t>Cost of Equity</a:t>
          </a:r>
        </a:p>
      </dgm:t>
    </dgm:pt>
    <dgm:pt modelId="{82995668-1E60-4A95-8485-97A040CD64DA}">
      <dgm:prSet/>
      <dgm:spPr/>
      <dgm:t>
        <a:bodyPr/>
        <a:lstStyle/>
        <a:p>
          <a:pPr rtl="0"/>
          <a:r>
            <a:rPr lang="en-GB" dirty="0"/>
            <a:t>FCFE</a:t>
          </a:r>
        </a:p>
      </dgm:t>
    </dgm:pt>
    <dgm:pt modelId="{660014AE-A3C8-4A52-96EC-2B42D9557163}">
      <dgm:prSet/>
      <dgm:spPr/>
      <dgm:t>
        <a:bodyPr/>
        <a:lstStyle/>
        <a:p>
          <a:pPr rtl="0"/>
          <a:r>
            <a:rPr lang="en-GB" dirty="0"/>
            <a:t>Equity Valuation Cash Flows to Equity</a:t>
          </a:r>
        </a:p>
      </dgm:t>
    </dgm:pt>
    <dgm:pt modelId="{1A9ACB67-A0E4-46EE-AA8A-043BBE5689B3}" type="sibTrans" cxnId="{41B2EE31-CD53-4063-B37A-C0F4C724CBAE}">
      <dgm:prSet/>
      <dgm:spPr/>
      <dgm:t>
        <a:bodyPr/>
        <a:lstStyle/>
        <a:p>
          <a:endParaRPr lang="en-GB"/>
        </a:p>
      </dgm:t>
    </dgm:pt>
    <dgm:pt modelId="{10F01520-CB1C-45D1-AA9E-3144576BD665}" type="parTrans" cxnId="{41B2EE31-CD53-4063-B37A-C0F4C724CBAE}">
      <dgm:prSet/>
      <dgm:spPr/>
      <dgm:t>
        <a:bodyPr/>
        <a:lstStyle/>
        <a:p>
          <a:endParaRPr lang="en-GB"/>
        </a:p>
      </dgm:t>
    </dgm:pt>
    <dgm:pt modelId="{A805CB9D-0A36-4558-97C7-218ADFD8EB2B}" type="sibTrans" cxnId="{2B0C198F-D814-4177-87B1-2DFDD3BCEFBD}">
      <dgm:prSet/>
      <dgm:spPr/>
      <dgm:t>
        <a:bodyPr/>
        <a:lstStyle/>
        <a:p>
          <a:endParaRPr lang="en-GB"/>
        </a:p>
      </dgm:t>
    </dgm:pt>
    <dgm:pt modelId="{A6293F79-1CAB-43B0-86AF-47472117FE72}" type="parTrans" cxnId="{2B0C198F-D814-4177-87B1-2DFDD3BCEFBD}">
      <dgm:prSet/>
      <dgm:spPr/>
      <dgm:t>
        <a:bodyPr/>
        <a:lstStyle/>
        <a:p>
          <a:endParaRPr lang="en-GB"/>
        </a:p>
      </dgm:t>
    </dgm:pt>
    <dgm:pt modelId="{8D8FA94D-DDDA-4002-B025-991963DA191F}" type="sibTrans" cxnId="{0162BD3E-AE8A-4D77-AA33-B938C3370501}">
      <dgm:prSet/>
      <dgm:spPr/>
      <dgm:t>
        <a:bodyPr/>
        <a:lstStyle/>
        <a:p>
          <a:endParaRPr lang="en-GB"/>
        </a:p>
      </dgm:t>
    </dgm:pt>
    <dgm:pt modelId="{2E1D9B9C-B4C7-4A0C-842B-1819DFD14363}" type="parTrans" cxnId="{0162BD3E-AE8A-4D77-AA33-B938C3370501}">
      <dgm:prSet/>
      <dgm:spPr/>
      <dgm:t>
        <a:bodyPr/>
        <a:lstStyle/>
        <a:p>
          <a:endParaRPr lang="en-GB"/>
        </a:p>
      </dgm:t>
    </dgm:pt>
    <dgm:pt modelId="{43C0493A-1A02-4B25-8CD8-893A9A56931D}">
      <dgm:prSet/>
      <dgm:spPr/>
      <dgm:t>
        <a:bodyPr/>
        <a:lstStyle/>
        <a:p>
          <a:pPr rtl="0"/>
          <a:r>
            <a:rPr lang="en-GB" dirty="0"/>
            <a:t>Cost of Equity</a:t>
          </a:r>
        </a:p>
      </dgm:t>
    </dgm:pt>
    <dgm:pt modelId="{CE5342A4-7188-44E6-A256-8DEA8895B82B}">
      <dgm:prSet/>
      <dgm:spPr/>
      <dgm:t>
        <a:bodyPr/>
        <a:lstStyle/>
        <a:p>
          <a:pPr rtl="0"/>
          <a:r>
            <a:rPr lang="en-GB" dirty="0"/>
            <a:t>Dividends</a:t>
          </a:r>
        </a:p>
      </dgm:t>
    </dgm:pt>
    <dgm:pt modelId="{34E7EE35-4BF2-4536-8733-46E6A35E26CD}" type="sibTrans" cxnId="{36651EEC-71E9-46CB-A950-3A2B977C8BF2}">
      <dgm:prSet/>
      <dgm:spPr/>
      <dgm:t>
        <a:bodyPr/>
        <a:lstStyle/>
        <a:p>
          <a:endParaRPr lang="en-GB"/>
        </a:p>
      </dgm:t>
    </dgm:pt>
    <dgm:pt modelId="{456A6B5A-2E90-4E1C-BBF9-E44DEF6FF18E}" type="parTrans" cxnId="{36651EEC-71E9-46CB-A950-3A2B977C8BF2}">
      <dgm:prSet/>
      <dgm:spPr/>
      <dgm:t>
        <a:bodyPr/>
        <a:lstStyle/>
        <a:p>
          <a:endParaRPr lang="en-GB"/>
        </a:p>
      </dgm:t>
    </dgm:pt>
    <dgm:pt modelId="{CEB0FC27-17A3-4250-B8FD-DD35E12C961D}" type="sibTrans" cxnId="{72B25E1E-84CF-4E77-BFC9-D30429F03F4C}">
      <dgm:prSet/>
      <dgm:spPr/>
      <dgm:t>
        <a:bodyPr/>
        <a:lstStyle/>
        <a:p>
          <a:endParaRPr lang="en-GB"/>
        </a:p>
      </dgm:t>
    </dgm:pt>
    <dgm:pt modelId="{80E7A140-8483-451E-8755-6E533E153249}" type="parTrans" cxnId="{72B25E1E-84CF-4E77-BFC9-D30429F03F4C}">
      <dgm:prSet/>
      <dgm:spPr/>
      <dgm:t>
        <a:bodyPr/>
        <a:lstStyle/>
        <a:p>
          <a:endParaRPr lang="en-GB"/>
        </a:p>
      </dgm:t>
    </dgm:pt>
    <dgm:pt modelId="{97C9A6EC-60DD-4ED4-BD7A-4DE50E87C41F}">
      <dgm:prSet/>
      <dgm:spPr/>
      <dgm:t>
        <a:bodyPr/>
        <a:lstStyle/>
        <a:p>
          <a:pPr rtl="0"/>
          <a:r>
            <a:rPr lang="en-GB" dirty="0"/>
            <a:t>Valuation Approaches</a:t>
          </a:r>
        </a:p>
      </dgm:t>
    </dgm:pt>
    <dgm:pt modelId="{52F4850F-990B-4CD1-A24D-EF204807300C}" type="sibTrans" cxnId="{22689696-F167-4868-902E-527D6C4EA68C}">
      <dgm:prSet/>
      <dgm:spPr/>
      <dgm:t>
        <a:bodyPr/>
        <a:lstStyle/>
        <a:p>
          <a:endParaRPr lang="en-GB"/>
        </a:p>
      </dgm:t>
    </dgm:pt>
    <dgm:pt modelId="{B3F05ADB-E29B-43F8-A312-11B5CD3CC973}" type="parTrans" cxnId="{22689696-F167-4868-902E-527D6C4EA68C}">
      <dgm:prSet/>
      <dgm:spPr/>
      <dgm:t>
        <a:bodyPr/>
        <a:lstStyle/>
        <a:p>
          <a:endParaRPr lang="en-GB"/>
        </a:p>
      </dgm:t>
    </dgm:pt>
    <dgm:pt modelId="{5961498C-54A5-431C-BE8A-FEA0F034A1E6}" type="pres">
      <dgm:prSet presAssocID="{3D158BE9-5B8E-467E-A341-3C675C52C8A2}" presName="Name0" presStyleCnt="0">
        <dgm:presLayoutVars>
          <dgm:orgChart val="1"/>
          <dgm:chPref val="1"/>
          <dgm:dir/>
          <dgm:animOne val="branch"/>
          <dgm:animLvl val="lvl"/>
          <dgm:resizeHandles/>
        </dgm:presLayoutVars>
      </dgm:prSet>
      <dgm:spPr/>
    </dgm:pt>
    <dgm:pt modelId="{F16D8FD4-297F-4543-818A-FEB6C06BD2AC}" type="pres">
      <dgm:prSet presAssocID="{97C9A6EC-60DD-4ED4-BD7A-4DE50E87C41F}" presName="hierRoot1" presStyleCnt="0">
        <dgm:presLayoutVars>
          <dgm:hierBranch val="init"/>
        </dgm:presLayoutVars>
      </dgm:prSet>
      <dgm:spPr/>
    </dgm:pt>
    <dgm:pt modelId="{09010EBD-E2A3-4733-8A38-FEA6BA512D32}" type="pres">
      <dgm:prSet presAssocID="{97C9A6EC-60DD-4ED4-BD7A-4DE50E87C41F}" presName="rootComposite1" presStyleCnt="0"/>
      <dgm:spPr/>
    </dgm:pt>
    <dgm:pt modelId="{F4796DFC-8FC9-4E48-A812-6C350265B5EE}" type="pres">
      <dgm:prSet presAssocID="{97C9A6EC-60DD-4ED4-BD7A-4DE50E87C41F}" presName="rootText1" presStyleLbl="alignAcc1" presStyleIdx="0" presStyleCnt="0">
        <dgm:presLayoutVars>
          <dgm:chPref val="3"/>
        </dgm:presLayoutVars>
      </dgm:prSet>
      <dgm:spPr/>
    </dgm:pt>
    <dgm:pt modelId="{AADA1D86-2DD5-4B51-8DBC-9610C76C4A56}" type="pres">
      <dgm:prSet presAssocID="{97C9A6EC-60DD-4ED4-BD7A-4DE50E87C41F}" presName="topArc1" presStyleLbl="parChTrans1D1" presStyleIdx="0" presStyleCnt="20"/>
      <dgm:spPr/>
    </dgm:pt>
    <dgm:pt modelId="{25DEB369-3A61-43EC-9139-D4EB99C8F873}" type="pres">
      <dgm:prSet presAssocID="{97C9A6EC-60DD-4ED4-BD7A-4DE50E87C41F}" presName="bottomArc1" presStyleLbl="parChTrans1D1" presStyleIdx="1" presStyleCnt="20"/>
      <dgm:spPr/>
    </dgm:pt>
    <dgm:pt modelId="{1F42A9DE-9782-4741-969A-77AC4EA9E04B}" type="pres">
      <dgm:prSet presAssocID="{97C9A6EC-60DD-4ED4-BD7A-4DE50E87C41F}" presName="topConnNode1" presStyleLbl="node1" presStyleIdx="0" presStyleCnt="0"/>
      <dgm:spPr/>
    </dgm:pt>
    <dgm:pt modelId="{D087DC5E-36CA-4354-AB5F-C83E06C456E6}" type="pres">
      <dgm:prSet presAssocID="{97C9A6EC-60DD-4ED4-BD7A-4DE50E87C41F}" presName="hierChild2" presStyleCnt="0"/>
      <dgm:spPr/>
    </dgm:pt>
    <dgm:pt modelId="{0A9A1E8D-7172-4CA6-B7A9-A854BD43BBFA}" type="pres">
      <dgm:prSet presAssocID="{86E2D2A0-83D0-4BB8-B05D-79A42AC18D15}" presName="Name28" presStyleLbl="parChTrans1D2" presStyleIdx="0" presStyleCnt="3"/>
      <dgm:spPr/>
    </dgm:pt>
    <dgm:pt modelId="{68C9FB0D-8F2C-4A83-92C4-825F84A3BF2F}" type="pres">
      <dgm:prSet presAssocID="{7A8EAD54-5814-4289-8951-F1B7D294CDAD}" presName="hierRoot2" presStyleCnt="0">
        <dgm:presLayoutVars>
          <dgm:hierBranch val="init"/>
        </dgm:presLayoutVars>
      </dgm:prSet>
      <dgm:spPr/>
    </dgm:pt>
    <dgm:pt modelId="{F303447B-ABA1-420A-AB79-73F1CDDDD06C}" type="pres">
      <dgm:prSet presAssocID="{7A8EAD54-5814-4289-8951-F1B7D294CDAD}" presName="rootComposite2" presStyleCnt="0"/>
      <dgm:spPr/>
    </dgm:pt>
    <dgm:pt modelId="{A88D94EA-C940-463C-B086-32FE49B0C2C8}" type="pres">
      <dgm:prSet presAssocID="{7A8EAD54-5814-4289-8951-F1B7D294CDAD}" presName="rootText2" presStyleLbl="alignAcc1" presStyleIdx="0" presStyleCnt="0">
        <dgm:presLayoutVars>
          <dgm:chPref val="3"/>
        </dgm:presLayoutVars>
      </dgm:prSet>
      <dgm:spPr/>
    </dgm:pt>
    <dgm:pt modelId="{BCB45312-43F1-4FEE-89B9-9AF7241C1B70}" type="pres">
      <dgm:prSet presAssocID="{7A8EAD54-5814-4289-8951-F1B7D294CDAD}" presName="topArc2" presStyleLbl="parChTrans1D1" presStyleIdx="2" presStyleCnt="20"/>
      <dgm:spPr/>
    </dgm:pt>
    <dgm:pt modelId="{3A1F09D6-DDEC-42AA-8ABD-9073B7CE13F5}" type="pres">
      <dgm:prSet presAssocID="{7A8EAD54-5814-4289-8951-F1B7D294CDAD}" presName="bottomArc2" presStyleLbl="parChTrans1D1" presStyleIdx="3" presStyleCnt="20"/>
      <dgm:spPr/>
    </dgm:pt>
    <dgm:pt modelId="{70DD885E-8069-4761-9F07-F80188D36A99}" type="pres">
      <dgm:prSet presAssocID="{7A8EAD54-5814-4289-8951-F1B7D294CDAD}" presName="topConnNode2" presStyleLbl="node2" presStyleIdx="0" presStyleCnt="0"/>
      <dgm:spPr/>
    </dgm:pt>
    <dgm:pt modelId="{4A3A1E76-AAC6-45A3-9342-BE5E20ABA5E2}" type="pres">
      <dgm:prSet presAssocID="{7A8EAD54-5814-4289-8951-F1B7D294CDAD}" presName="hierChild4" presStyleCnt="0"/>
      <dgm:spPr/>
    </dgm:pt>
    <dgm:pt modelId="{8B1DB5E2-E7CA-495D-821F-1C70F2890CE6}" type="pres">
      <dgm:prSet presAssocID="{80E7A140-8483-451E-8755-6E533E153249}" presName="Name28" presStyleLbl="parChTrans1D3" presStyleIdx="0" presStyleCnt="6"/>
      <dgm:spPr/>
    </dgm:pt>
    <dgm:pt modelId="{D463314B-B6DF-49AE-81B9-DCD3CC16DAF7}" type="pres">
      <dgm:prSet presAssocID="{CE5342A4-7188-44E6-A256-8DEA8895B82B}" presName="hierRoot2" presStyleCnt="0">
        <dgm:presLayoutVars>
          <dgm:hierBranch val="init"/>
        </dgm:presLayoutVars>
      </dgm:prSet>
      <dgm:spPr/>
    </dgm:pt>
    <dgm:pt modelId="{9F04AB3B-3862-4114-8F24-F4FCA87DB1CA}" type="pres">
      <dgm:prSet presAssocID="{CE5342A4-7188-44E6-A256-8DEA8895B82B}" presName="rootComposite2" presStyleCnt="0"/>
      <dgm:spPr/>
    </dgm:pt>
    <dgm:pt modelId="{C6EF57B8-2616-4D8C-A605-8B0261420122}" type="pres">
      <dgm:prSet presAssocID="{CE5342A4-7188-44E6-A256-8DEA8895B82B}" presName="rootText2" presStyleLbl="alignAcc1" presStyleIdx="0" presStyleCnt="0">
        <dgm:presLayoutVars>
          <dgm:chPref val="3"/>
        </dgm:presLayoutVars>
      </dgm:prSet>
      <dgm:spPr/>
    </dgm:pt>
    <dgm:pt modelId="{67C00D5E-F0C6-4EC6-A160-F8EFC91A19C6}" type="pres">
      <dgm:prSet presAssocID="{CE5342A4-7188-44E6-A256-8DEA8895B82B}" presName="topArc2" presStyleLbl="parChTrans1D1" presStyleIdx="4" presStyleCnt="20"/>
      <dgm:spPr/>
    </dgm:pt>
    <dgm:pt modelId="{A3CDAC6B-63A0-4A54-A354-E064343D22A5}" type="pres">
      <dgm:prSet presAssocID="{CE5342A4-7188-44E6-A256-8DEA8895B82B}" presName="bottomArc2" presStyleLbl="parChTrans1D1" presStyleIdx="5" presStyleCnt="20"/>
      <dgm:spPr/>
    </dgm:pt>
    <dgm:pt modelId="{A2FF08C6-A2AD-495F-91BF-C22CFFFA5776}" type="pres">
      <dgm:prSet presAssocID="{CE5342A4-7188-44E6-A256-8DEA8895B82B}" presName="topConnNode2" presStyleLbl="node3" presStyleIdx="0" presStyleCnt="0"/>
      <dgm:spPr/>
    </dgm:pt>
    <dgm:pt modelId="{E062F1BB-FFD4-4F87-9F5E-DB330E138E7D}" type="pres">
      <dgm:prSet presAssocID="{CE5342A4-7188-44E6-A256-8DEA8895B82B}" presName="hierChild4" presStyleCnt="0"/>
      <dgm:spPr/>
    </dgm:pt>
    <dgm:pt modelId="{519B7E5C-6ECE-4EBB-9219-E1D75D379292}" type="pres">
      <dgm:prSet presAssocID="{CE5342A4-7188-44E6-A256-8DEA8895B82B}" presName="hierChild5" presStyleCnt="0"/>
      <dgm:spPr/>
    </dgm:pt>
    <dgm:pt modelId="{BDFC2999-9480-4F86-AF40-714F428E5047}" type="pres">
      <dgm:prSet presAssocID="{456A6B5A-2E90-4E1C-BBF9-E44DEF6FF18E}" presName="Name28" presStyleLbl="parChTrans1D3" presStyleIdx="1" presStyleCnt="6"/>
      <dgm:spPr/>
    </dgm:pt>
    <dgm:pt modelId="{7C0B6832-6954-4809-B347-F8FF39175C11}" type="pres">
      <dgm:prSet presAssocID="{43C0493A-1A02-4B25-8CD8-893A9A56931D}" presName="hierRoot2" presStyleCnt="0">
        <dgm:presLayoutVars>
          <dgm:hierBranch val="init"/>
        </dgm:presLayoutVars>
      </dgm:prSet>
      <dgm:spPr/>
    </dgm:pt>
    <dgm:pt modelId="{18B96D7F-2D24-4311-B5E9-7E1135998938}" type="pres">
      <dgm:prSet presAssocID="{43C0493A-1A02-4B25-8CD8-893A9A56931D}" presName="rootComposite2" presStyleCnt="0"/>
      <dgm:spPr/>
    </dgm:pt>
    <dgm:pt modelId="{1CEEAE04-0B5B-45E5-9F83-E9AF8E0D6805}" type="pres">
      <dgm:prSet presAssocID="{43C0493A-1A02-4B25-8CD8-893A9A56931D}" presName="rootText2" presStyleLbl="alignAcc1" presStyleIdx="0" presStyleCnt="0">
        <dgm:presLayoutVars>
          <dgm:chPref val="3"/>
        </dgm:presLayoutVars>
      </dgm:prSet>
      <dgm:spPr/>
    </dgm:pt>
    <dgm:pt modelId="{8F5B08F1-64FD-4C80-A45A-98A0070713FC}" type="pres">
      <dgm:prSet presAssocID="{43C0493A-1A02-4B25-8CD8-893A9A56931D}" presName="topArc2" presStyleLbl="parChTrans1D1" presStyleIdx="6" presStyleCnt="20"/>
      <dgm:spPr/>
    </dgm:pt>
    <dgm:pt modelId="{5554E742-907D-410E-A178-E9FE5B0D2FDA}" type="pres">
      <dgm:prSet presAssocID="{43C0493A-1A02-4B25-8CD8-893A9A56931D}" presName="bottomArc2" presStyleLbl="parChTrans1D1" presStyleIdx="7" presStyleCnt="20"/>
      <dgm:spPr/>
    </dgm:pt>
    <dgm:pt modelId="{36187B63-07B6-4295-B56D-6CF8458A034C}" type="pres">
      <dgm:prSet presAssocID="{43C0493A-1A02-4B25-8CD8-893A9A56931D}" presName="topConnNode2" presStyleLbl="node3" presStyleIdx="0" presStyleCnt="0"/>
      <dgm:spPr/>
    </dgm:pt>
    <dgm:pt modelId="{534264E7-7C61-47D0-B83E-64394D914C9D}" type="pres">
      <dgm:prSet presAssocID="{43C0493A-1A02-4B25-8CD8-893A9A56931D}" presName="hierChild4" presStyleCnt="0"/>
      <dgm:spPr/>
    </dgm:pt>
    <dgm:pt modelId="{351C65FB-11D4-45CE-A77C-F849D34DF2DA}" type="pres">
      <dgm:prSet presAssocID="{43C0493A-1A02-4B25-8CD8-893A9A56931D}" presName="hierChild5" presStyleCnt="0"/>
      <dgm:spPr/>
    </dgm:pt>
    <dgm:pt modelId="{EDDC98F5-CEA4-42C0-94A9-EE407CCCEACB}" type="pres">
      <dgm:prSet presAssocID="{7A8EAD54-5814-4289-8951-F1B7D294CDAD}" presName="hierChild5" presStyleCnt="0"/>
      <dgm:spPr/>
    </dgm:pt>
    <dgm:pt modelId="{7123640E-962A-4617-84FD-1D5049141320}" type="pres">
      <dgm:prSet presAssocID="{10F01520-CB1C-45D1-AA9E-3144576BD665}" presName="Name28" presStyleLbl="parChTrans1D2" presStyleIdx="1" presStyleCnt="3"/>
      <dgm:spPr/>
    </dgm:pt>
    <dgm:pt modelId="{0FE1A1A6-E645-4EBC-9EDB-8F17BE48DF05}" type="pres">
      <dgm:prSet presAssocID="{660014AE-A3C8-4A52-96EC-2B42D9557163}" presName="hierRoot2" presStyleCnt="0">
        <dgm:presLayoutVars>
          <dgm:hierBranch val="init"/>
        </dgm:presLayoutVars>
      </dgm:prSet>
      <dgm:spPr/>
    </dgm:pt>
    <dgm:pt modelId="{C0AC5118-F3C6-4325-A91E-EADDB35B36A7}" type="pres">
      <dgm:prSet presAssocID="{660014AE-A3C8-4A52-96EC-2B42D9557163}" presName="rootComposite2" presStyleCnt="0"/>
      <dgm:spPr/>
    </dgm:pt>
    <dgm:pt modelId="{C497E1FE-2DDA-4362-9592-616A4FFB2846}" type="pres">
      <dgm:prSet presAssocID="{660014AE-A3C8-4A52-96EC-2B42D9557163}" presName="rootText2" presStyleLbl="alignAcc1" presStyleIdx="0" presStyleCnt="0">
        <dgm:presLayoutVars>
          <dgm:chPref val="3"/>
        </dgm:presLayoutVars>
      </dgm:prSet>
      <dgm:spPr/>
    </dgm:pt>
    <dgm:pt modelId="{746DADC8-643A-42C4-8973-E0031EFDCDB9}" type="pres">
      <dgm:prSet presAssocID="{660014AE-A3C8-4A52-96EC-2B42D9557163}" presName="topArc2" presStyleLbl="parChTrans1D1" presStyleIdx="8" presStyleCnt="20"/>
      <dgm:spPr/>
    </dgm:pt>
    <dgm:pt modelId="{BC1E8456-6F55-457A-B98F-D40E79B5551F}" type="pres">
      <dgm:prSet presAssocID="{660014AE-A3C8-4A52-96EC-2B42D9557163}" presName="bottomArc2" presStyleLbl="parChTrans1D1" presStyleIdx="9" presStyleCnt="20"/>
      <dgm:spPr/>
    </dgm:pt>
    <dgm:pt modelId="{F36106B7-417A-43B8-8D94-CB9E25D48B16}" type="pres">
      <dgm:prSet presAssocID="{660014AE-A3C8-4A52-96EC-2B42D9557163}" presName="topConnNode2" presStyleLbl="node2" presStyleIdx="0" presStyleCnt="0"/>
      <dgm:spPr/>
    </dgm:pt>
    <dgm:pt modelId="{DFEA561F-F587-4FCE-A112-EE482B8A1900}" type="pres">
      <dgm:prSet presAssocID="{660014AE-A3C8-4A52-96EC-2B42D9557163}" presName="hierChild4" presStyleCnt="0"/>
      <dgm:spPr/>
    </dgm:pt>
    <dgm:pt modelId="{F5ABC9A4-DC9A-4B5A-B9A7-A7AB0EDA07F5}" type="pres">
      <dgm:prSet presAssocID="{2E1D9B9C-B4C7-4A0C-842B-1819DFD14363}" presName="Name28" presStyleLbl="parChTrans1D3" presStyleIdx="2" presStyleCnt="6"/>
      <dgm:spPr/>
    </dgm:pt>
    <dgm:pt modelId="{7B06965D-BB72-4132-82AB-E3380F8671A6}" type="pres">
      <dgm:prSet presAssocID="{82995668-1E60-4A95-8485-97A040CD64DA}" presName="hierRoot2" presStyleCnt="0">
        <dgm:presLayoutVars>
          <dgm:hierBranch val="init"/>
        </dgm:presLayoutVars>
      </dgm:prSet>
      <dgm:spPr/>
    </dgm:pt>
    <dgm:pt modelId="{3C299139-0470-4D80-9F3A-0E869C2FD3B4}" type="pres">
      <dgm:prSet presAssocID="{82995668-1E60-4A95-8485-97A040CD64DA}" presName="rootComposite2" presStyleCnt="0"/>
      <dgm:spPr/>
    </dgm:pt>
    <dgm:pt modelId="{B5A02F26-2B90-4466-B64C-ABF593A176AB}" type="pres">
      <dgm:prSet presAssocID="{82995668-1E60-4A95-8485-97A040CD64DA}" presName="rootText2" presStyleLbl="alignAcc1" presStyleIdx="0" presStyleCnt="0">
        <dgm:presLayoutVars>
          <dgm:chPref val="3"/>
        </dgm:presLayoutVars>
      </dgm:prSet>
      <dgm:spPr/>
    </dgm:pt>
    <dgm:pt modelId="{CA419011-6983-4C9A-B315-9B89E31F0F41}" type="pres">
      <dgm:prSet presAssocID="{82995668-1E60-4A95-8485-97A040CD64DA}" presName="topArc2" presStyleLbl="parChTrans1D1" presStyleIdx="10" presStyleCnt="20"/>
      <dgm:spPr/>
    </dgm:pt>
    <dgm:pt modelId="{BB8808BA-CF40-47CA-B5C1-8499A1EFA1B6}" type="pres">
      <dgm:prSet presAssocID="{82995668-1E60-4A95-8485-97A040CD64DA}" presName="bottomArc2" presStyleLbl="parChTrans1D1" presStyleIdx="11" presStyleCnt="20"/>
      <dgm:spPr/>
    </dgm:pt>
    <dgm:pt modelId="{61F5A8C1-B6ED-4A8C-BB8A-5AC48C01CD44}" type="pres">
      <dgm:prSet presAssocID="{82995668-1E60-4A95-8485-97A040CD64DA}" presName="topConnNode2" presStyleLbl="node3" presStyleIdx="0" presStyleCnt="0"/>
      <dgm:spPr/>
    </dgm:pt>
    <dgm:pt modelId="{40BFA308-9299-4378-8829-46C36CE0E11C}" type="pres">
      <dgm:prSet presAssocID="{82995668-1E60-4A95-8485-97A040CD64DA}" presName="hierChild4" presStyleCnt="0"/>
      <dgm:spPr/>
    </dgm:pt>
    <dgm:pt modelId="{4801F3E5-F7FD-468B-B457-91D2523A8986}" type="pres">
      <dgm:prSet presAssocID="{82995668-1E60-4A95-8485-97A040CD64DA}" presName="hierChild5" presStyleCnt="0"/>
      <dgm:spPr/>
    </dgm:pt>
    <dgm:pt modelId="{A0F5E0A8-2AC5-4352-8FD9-602ABDB8CE86}" type="pres">
      <dgm:prSet presAssocID="{A6293F79-1CAB-43B0-86AF-47472117FE72}" presName="Name28" presStyleLbl="parChTrans1D3" presStyleIdx="3" presStyleCnt="6"/>
      <dgm:spPr/>
    </dgm:pt>
    <dgm:pt modelId="{22A1CD88-C37A-4FF8-98AD-D6A06C9BB2E7}" type="pres">
      <dgm:prSet presAssocID="{1F274FCB-5998-4624-8D8A-A63FCBA7DFA4}" presName="hierRoot2" presStyleCnt="0">
        <dgm:presLayoutVars>
          <dgm:hierBranch val="init"/>
        </dgm:presLayoutVars>
      </dgm:prSet>
      <dgm:spPr/>
    </dgm:pt>
    <dgm:pt modelId="{4F8EBEBC-7929-4EC8-8BC2-FF78B7A2C1C7}" type="pres">
      <dgm:prSet presAssocID="{1F274FCB-5998-4624-8D8A-A63FCBA7DFA4}" presName="rootComposite2" presStyleCnt="0"/>
      <dgm:spPr/>
    </dgm:pt>
    <dgm:pt modelId="{A012C0CF-0F9E-4827-8376-BC98D0D7DDA7}" type="pres">
      <dgm:prSet presAssocID="{1F274FCB-5998-4624-8D8A-A63FCBA7DFA4}" presName="rootText2" presStyleLbl="alignAcc1" presStyleIdx="0" presStyleCnt="0">
        <dgm:presLayoutVars>
          <dgm:chPref val="3"/>
        </dgm:presLayoutVars>
      </dgm:prSet>
      <dgm:spPr/>
    </dgm:pt>
    <dgm:pt modelId="{70572782-F1C2-4798-8885-1B38B3E95BDC}" type="pres">
      <dgm:prSet presAssocID="{1F274FCB-5998-4624-8D8A-A63FCBA7DFA4}" presName="topArc2" presStyleLbl="parChTrans1D1" presStyleIdx="12" presStyleCnt="20"/>
      <dgm:spPr/>
    </dgm:pt>
    <dgm:pt modelId="{A66DB169-17B0-4BAD-ABBF-B2FF95AC80D0}" type="pres">
      <dgm:prSet presAssocID="{1F274FCB-5998-4624-8D8A-A63FCBA7DFA4}" presName="bottomArc2" presStyleLbl="parChTrans1D1" presStyleIdx="13" presStyleCnt="20"/>
      <dgm:spPr/>
    </dgm:pt>
    <dgm:pt modelId="{A5EFEF5F-FD0C-467E-9681-E59E2AE3C93C}" type="pres">
      <dgm:prSet presAssocID="{1F274FCB-5998-4624-8D8A-A63FCBA7DFA4}" presName="topConnNode2" presStyleLbl="node3" presStyleIdx="0" presStyleCnt="0"/>
      <dgm:spPr/>
    </dgm:pt>
    <dgm:pt modelId="{824D5947-E09F-47B9-BA38-4F059717F0D0}" type="pres">
      <dgm:prSet presAssocID="{1F274FCB-5998-4624-8D8A-A63FCBA7DFA4}" presName="hierChild4" presStyleCnt="0"/>
      <dgm:spPr/>
    </dgm:pt>
    <dgm:pt modelId="{C3B800D5-5849-42CA-B9B7-2F60DCED02A3}" type="pres">
      <dgm:prSet presAssocID="{1F274FCB-5998-4624-8D8A-A63FCBA7DFA4}" presName="hierChild5" presStyleCnt="0"/>
      <dgm:spPr/>
    </dgm:pt>
    <dgm:pt modelId="{EB00D6C6-870A-4A5B-9093-1575C2C2861B}" type="pres">
      <dgm:prSet presAssocID="{660014AE-A3C8-4A52-96EC-2B42D9557163}" presName="hierChild5" presStyleCnt="0"/>
      <dgm:spPr/>
    </dgm:pt>
    <dgm:pt modelId="{77DAA68B-73F2-4AD5-8DC5-B85B1896E470}" type="pres">
      <dgm:prSet presAssocID="{C566CC5C-CA80-41AD-AFAB-99DC03AC56E5}" presName="Name28" presStyleLbl="parChTrans1D2" presStyleIdx="2" presStyleCnt="3"/>
      <dgm:spPr/>
    </dgm:pt>
    <dgm:pt modelId="{66C01227-12D5-4BE2-8EC3-774A4DAAE095}" type="pres">
      <dgm:prSet presAssocID="{3274025A-F4DA-4B44-A24F-196958DAFC3D}" presName="hierRoot2" presStyleCnt="0">
        <dgm:presLayoutVars>
          <dgm:hierBranch val="init"/>
        </dgm:presLayoutVars>
      </dgm:prSet>
      <dgm:spPr/>
    </dgm:pt>
    <dgm:pt modelId="{B0D1E538-BB43-4316-B0DE-9ED491BF8D95}" type="pres">
      <dgm:prSet presAssocID="{3274025A-F4DA-4B44-A24F-196958DAFC3D}" presName="rootComposite2" presStyleCnt="0"/>
      <dgm:spPr/>
    </dgm:pt>
    <dgm:pt modelId="{653792CC-5069-4156-9115-6D9C92AA3539}" type="pres">
      <dgm:prSet presAssocID="{3274025A-F4DA-4B44-A24F-196958DAFC3D}" presName="rootText2" presStyleLbl="alignAcc1" presStyleIdx="0" presStyleCnt="0">
        <dgm:presLayoutVars>
          <dgm:chPref val="3"/>
        </dgm:presLayoutVars>
      </dgm:prSet>
      <dgm:spPr/>
    </dgm:pt>
    <dgm:pt modelId="{FDB27C1D-C182-4A40-8C73-DBEBCAC09478}" type="pres">
      <dgm:prSet presAssocID="{3274025A-F4DA-4B44-A24F-196958DAFC3D}" presName="topArc2" presStyleLbl="parChTrans1D1" presStyleIdx="14" presStyleCnt="20"/>
      <dgm:spPr/>
    </dgm:pt>
    <dgm:pt modelId="{DF73BEB2-61A5-44CF-96CE-1D4F0707108C}" type="pres">
      <dgm:prSet presAssocID="{3274025A-F4DA-4B44-A24F-196958DAFC3D}" presName="bottomArc2" presStyleLbl="parChTrans1D1" presStyleIdx="15" presStyleCnt="20"/>
      <dgm:spPr/>
    </dgm:pt>
    <dgm:pt modelId="{508D8010-72D2-4665-B8F8-0278AC81DD55}" type="pres">
      <dgm:prSet presAssocID="{3274025A-F4DA-4B44-A24F-196958DAFC3D}" presName="topConnNode2" presStyleLbl="node2" presStyleIdx="0" presStyleCnt="0"/>
      <dgm:spPr/>
    </dgm:pt>
    <dgm:pt modelId="{5B8A1F1F-D5FB-4910-88F7-07994496CC62}" type="pres">
      <dgm:prSet presAssocID="{3274025A-F4DA-4B44-A24F-196958DAFC3D}" presName="hierChild4" presStyleCnt="0"/>
      <dgm:spPr/>
    </dgm:pt>
    <dgm:pt modelId="{8BE0E40D-338E-4F90-A492-30327D4E53CF}" type="pres">
      <dgm:prSet presAssocID="{B0E075A4-33B1-4D4E-B37C-081526B24BA5}" presName="Name28" presStyleLbl="parChTrans1D3" presStyleIdx="4" presStyleCnt="6"/>
      <dgm:spPr/>
    </dgm:pt>
    <dgm:pt modelId="{924B604D-7294-45EC-B128-9E2C22F4CBB5}" type="pres">
      <dgm:prSet presAssocID="{F8571093-9D3D-4E39-82C6-1117169C68A3}" presName="hierRoot2" presStyleCnt="0">
        <dgm:presLayoutVars>
          <dgm:hierBranch val="init"/>
        </dgm:presLayoutVars>
      </dgm:prSet>
      <dgm:spPr/>
    </dgm:pt>
    <dgm:pt modelId="{6C63985E-4165-4C60-BE73-A2FDF3486040}" type="pres">
      <dgm:prSet presAssocID="{F8571093-9D3D-4E39-82C6-1117169C68A3}" presName="rootComposite2" presStyleCnt="0"/>
      <dgm:spPr/>
    </dgm:pt>
    <dgm:pt modelId="{250A9A20-918C-4ACF-99A8-38A9627B50D0}" type="pres">
      <dgm:prSet presAssocID="{F8571093-9D3D-4E39-82C6-1117169C68A3}" presName="rootText2" presStyleLbl="alignAcc1" presStyleIdx="0" presStyleCnt="0">
        <dgm:presLayoutVars>
          <dgm:chPref val="3"/>
        </dgm:presLayoutVars>
      </dgm:prSet>
      <dgm:spPr/>
    </dgm:pt>
    <dgm:pt modelId="{08A27790-979E-4031-902C-002FEAC5069B}" type="pres">
      <dgm:prSet presAssocID="{F8571093-9D3D-4E39-82C6-1117169C68A3}" presName="topArc2" presStyleLbl="parChTrans1D1" presStyleIdx="16" presStyleCnt="20"/>
      <dgm:spPr/>
    </dgm:pt>
    <dgm:pt modelId="{B00E513A-4C37-4F2C-B4DA-9245495DBB7B}" type="pres">
      <dgm:prSet presAssocID="{F8571093-9D3D-4E39-82C6-1117169C68A3}" presName="bottomArc2" presStyleLbl="parChTrans1D1" presStyleIdx="17" presStyleCnt="20"/>
      <dgm:spPr/>
    </dgm:pt>
    <dgm:pt modelId="{3196C01D-712D-46B0-908C-3F7F51F8185D}" type="pres">
      <dgm:prSet presAssocID="{F8571093-9D3D-4E39-82C6-1117169C68A3}" presName="topConnNode2" presStyleLbl="node3" presStyleIdx="0" presStyleCnt="0"/>
      <dgm:spPr/>
    </dgm:pt>
    <dgm:pt modelId="{7AA7F326-14E3-4934-8971-CB04A97E7690}" type="pres">
      <dgm:prSet presAssocID="{F8571093-9D3D-4E39-82C6-1117169C68A3}" presName="hierChild4" presStyleCnt="0"/>
      <dgm:spPr/>
    </dgm:pt>
    <dgm:pt modelId="{37329F45-8FB0-471D-98AD-B0ABBFA04111}" type="pres">
      <dgm:prSet presAssocID="{F8571093-9D3D-4E39-82C6-1117169C68A3}" presName="hierChild5" presStyleCnt="0"/>
      <dgm:spPr/>
    </dgm:pt>
    <dgm:pt modelId="{5FFB93E6-9EB0-4F33-ABC9-B04F4E0B4D78}" type="pres">
      <dgm:prSet presAssocID="{91CD8D0B-6ACF-44B4-AB77-4613E5BAC5AF}" presName="Name28" presStyleLbl="parChTrans1D3" presStyleIdx="5" presStyleCnt="6"/>
      <dgm:spPr/>
    </dgm:pt>
    <dgm:pt modelId="{0352F266-99E7-406D-8C8E-BDF8DDA51AD0}" type="pres">
      <dgm:prSet presAssocID="{06E2CE0F-8FDE-45B1-B36E-9CA8B246E2C6}" presName="hierRoot2" presStyleCnt="0">
        <dgm:presLayoutVars>
          <dgm:hierBranch val="init"/>
        </dgm:presLayoutVars>
      </dgm:prSet>
      <dgm:spPr/>
    </dgm:pt>
    <dgm:pt modelId="{B03E174C-3D1A-4914-9DBA-F99FF5C19606}" type="pres">
      <dgm:prSet presAssocID="{06E2CE0F-8FDE-45B1-B36E-9CA8B246E2C6}" presName="rootComposite2" presStyleCnt="0"/>
      <dgm:spPr/>
    </dgm:pt>
    <dgm:pt modelId="{3C7E9805-F98D-4B11-89FB-8880EA405CA4}" type="pres">
      <dgm:prSet presAssocID="{06E2CE0F-8FDE-45B1-B36E-9CA8B246E2C6}" presName="rootText2" presStyleLbl="alignAcc1" presStyleIdx="0" presStyleCnt="0">
        <dgm:presLayoutVars>
          <dgm:chPref val="3"/>
        </dgm:presLayoutVars>
      </dgm:prSet>
      <dgm:spPr/>
    </dgm:pt>
    <dgm:pt modelId="{035397E1-6238-4577-A98B-44BE4EDAFD0B}" type="pres">
      <dgm:prSet presAssocID="{06E2CE0F-8FDE-45B1-B36E-9CA8B246E2C6}" presName="topArc2" presStyleLbl="parChTrans1D1" presStyleIdx="18" presStyleCnt="20"/>
      <dgm:spPr/>
    </dgm:pt>
    <dgm:pt modelId="{82CC4E0B-F1C4-4879-9AE8-1623006CCBD3}" type="pres">
      <dgm:prSet presAssocID="{06E2CE0F-8FDE-45B1-B36E-9CA8B246E2C6}" presName="bottomArc2" presStyleLbl="parChTrans1D1" presStyleIdx="19" presStyleCnt="20"/>
      <dgm:spPr/>
    </dgm:pt>
    <dgm:pt modelId="{3AF28BF7-74D6-43E4-A897-1B5AA2D755E5}" type="pres">
      <dgm:prSet presAssocID="{06E2CE0F-8FDE-45B1-B36E-9CA8B246E2C6}" presName="topConnNode2" presStyleLbl="node3" presStyleIdx="0" presStyleCnt="0"/>
      <dgm:spPr/>
    </dgm:pt>
    <dgm:pt modelId="{5BDBF882-76B0-4043-BCAC-E1D02CABD0C6}" type="pres">
      <dgm:prSet presAssocID="{06E2CE0F-8FDE-45B1-B36E-9CA8B246E2C6}" presName="hierChild4" presStyleCnt="0"/>
      <dgm:spPr/>
    </dgm:pt>
    <dgm:pt modelId="{807359D9-1C0C-494D-AADC-0318BF5C66B2}" type="pres">
      <dgm:prSet presAssocID="{06E2CE0F-8FDE-45B1-B36E-9CA8B246E2C6}" presName="hierChild5" presStyleCnt="0"/>
      <dgm:spPr/>
    </dgm:pt>
    <dgm:pt modelId="{CF225379-7853-42BA-9C62-B73973885D9D}" type="pres">
      <dgm:prSet presAssocID="{3274025A-F4DA-4B44-A24F-196958DAFC3D}" presName="hierChild5" presStyleCnt="0"/>
      <dgm:spPr/>
    </dgm:pt>
    <dgm:pt modelId="{4A9054C9-797C-4BB4-B497-8A1A25859296}" type="pres">
      <dgm:prSet presAssocID="{97C9A6EC-60DD-4ED4-BD7A-4DE50E87C41F}" presName="hierChild3" presStyleCnt="0"/>
      <dgm:spPr/>
    </dgm:pt>
  </dgm:ptLst>
  <dgm:cxnLst>
    <dgm:cxn modelId="{A402CA09-8B70-4A13-972D-091F8DC440B1}" srcId="{3274025A-F4DA-4B44-A24F-196958DAFC3D}" destId="{06E2CE0F-8FDE-45B1-B36E-9CA8B246E2C6}" srcOrd="1" destOrd="0" parTransId="{91CD8D0B-6ACF-44B4-AB77-4613E5BAC5AF}" sibTransId="{346D2CBD-CA3D-493A-99D3-354D62084A39}"/>
    <dgm:cxn modelId="{9950FB0B-8035-4AE5-9C89-9BCC65DBD6EB}" type="presOf" srcId="{06E2CE0F-8FDE-45B1-B36E-9CA8B246E2C6}" destId="{3AF28BF7-74D6-43E4-A897-1B5AA2D755E5}" srcOrd="1" destOrd="0" presId="urn:microsoft.com/office/officeart/2008/layout/HalfCircleOrganizationChart"/>
    <dgm:cxn modelId="{CC00B917-E341-46FA-B039-048FCEEA261F}" type="presOf" srcId="{06E2CE0F-8FDE-45B1-B36E-9CA8B246E2C6}" destId="{3C7E9805-F98D-4B11-89FB-8880EA405CA4}" srcOrd="0" destOrd="0" presId="urn:microsoft.com/office/officeart/2008/layout/HalfCircleOrganizationChart"/>
    <dgm:cxn modelId="{72B25E1E-84CF-4E77-BFC9-D30429F03F4C}" srcId="{7A8EAD54-5814-4289-8951-F1B7D294CDAD}" destId="{CE5342A4-7188-44E6-A256-8DEA8895B82B}" srcOrd="0" destOrd="0" parTransId="{80E7A140-8483-451E-8755-6E533E153249}" sibTransId="{CEB0FC27-17A3-4250-B8FD-DD35E12C961D}"/>
    <dgm:cxn modelId="{94B26E29-8B55-4B93-8521-248795089258}" type="presOf" srcId="{1F274FCB-5998-4624-8D8A-A63FCBA7DFA4}" destId="{A5EFEF5F-FD0C-467E-9681-E59E2AE3C93C}" srcOrd="1" destOrd="0" presId="urn:microsoft.com/office/officeart/2008/layout/HalfCircleOrganizationChart"/>
    <dgm:cxn modelId="{672F8E2D-BD46-4307-9321-DCB21E1A0123}" type="presOf" srcId="{B0E075A4-33B1-4D4E-B37C-081526B24BA5}" destId="{8BE0E40D-338E-4F90-A492-30327D4E53CF}" srcOrd="0" destOrd="0" presId="urn:microsoft.com/office/officeart/2008/layout/HalfCircleOrganizationChart"/>
    <dgm:cxn modelId="{7F77042E-72BC-4C6C-8417-23F52A97022D}" type="presOf" srcId="{82995668-1E60-4A95-8485-97A040CD64DA}" destId="{61F5A8C1-B6ED-4A8C-BB8A-5AC48C01CD44}" srcOrd="1" destOrd="0" presId="urn:microsoft.com/office/officeart/2008/layout/HalfCircleOrganizationChart"/>
    <dgm:cxn modelId="{FEC13C2E-5AAC-40DC-8320-DED0EE07E83F}" type="presOf" srcId="{7A8EAD54-5814-4289-8951-F1B7D294CDAD}" destId="{A88D94EA-C940-463C-B086-32FE49B0C2C8}" srcOrd="0" destOrd="0" presId="urn:microsoft.com/office/officeart/2008/layout/HalfCircleOrganizationChart"/>
    <dgm:cxn modelId="{41B2EE31-CD53-4063-B37A-C0F4C724CBAE}" srcId="{97C9A6EC-60DD-4ED4-BD7A-4DE50E87C41F}" destId="{660014AE-A3C8-4A52-96EC-2B42D9557163}" srcOrd="1" destOrd="0" parTransId="{10F01520-CB1C-45D1-AA9E-3144576BD665}" sibTransId="{1A9ACB67-A0E4-46EE-AA8A-043BBE5689B3}"/>
    <dgm:cxn modelId="{F50BB434-4224-4AB6-948E-2240701F066C}" type="presOf" srcId="{3274025A-F4DA-4B44-A24F-196958DAFC3D}" destId="{508D8010-72D2-4665-B8F8-0278AC81DD55}" srcOrd="1" destOrd="0" presId="urn:microsoft.com/office/officeart/2008/layout/HalfCircleOrganizationChart"/>
    <dgm:cxn modelId="{C0429035-FDA3-4CB3-901F-12848197B70B}" srcId="{97C9A6EC-60DD-4ED4-BD7A-4DE50E87C41F}" destId="{3274025A-F4DA-4B44-A24F-196958DAFC3D}" srcOrd="2" destOrd="0" parTransId="{C566CC5C-CA80-41AD-AFAB-99DC03AC56E5}" sibTransId="{FEAF69A2-5BA1-438D-A81C-5D6C4F8C0D08}"/>
    <dgm:cxn modelId="{0D9E3E39-BE5F-4574-9B93-8F732FCBC793}" type="presOf" srcId="{660014AE-A3C8-4A52-96EC-2B42D9557163}" destId="{F36106B7-417A-43B8-8D94-CB9E25D48B16}" srcOrd="1" destOrd="0" presId="urn:microsoft.com/office/officeart/2008/layout/HalfCircleOrganizationChart"/>
    <dgm:cxn modelId="{F49EB939-F458-4BD7-AA72-ABCC1CB4FAEC}" type="presOf" srcId="{CE5342A4-7188-44E6-A256-8DEA8895B82B}" destId="{A2FF08C6-A2AD-495F-91BF-C22CFFFA5776}" srcOrd="1" destOrd="0" presId="urn:microsoft.com/office/officeart/2008/layout/HalfCircleOrganizationChart"/>
    <dgm:cxn modelId="{0162BD3E-AE8A-4D77-AA33-B938C3370501}" srcId="{660014AE-A3C8-4A52-96EC-2B42D9557163}" destId="{82995668-1E60-4A95-8485-97A040CD64DA}" srcOrd="0" destOrd="0" parTransId="{2E1D9B9C-B4C7-4A0C-842B-1819DFD14363}" sibTransId="{8D8FA94D-DDDA-4002-B025-991963DA191F}"/>
    <dgm:cxn modelId="{8596135D-2AB3-425B-8EB0-CF151854284A}" type="presOf" srcId="{97C9A6EC-60DD-4ED4-BD7A-4DE50E87C41F}" destId="{F4796DFC-8FC9-4E48-A812-6C350265B5EE}" srcOrd="0" destOrd="0" presId="urn:microsoft.com/office/officeart/2008/layout/HalfCircleOrganizationChart"/>
    <dgm:cxn modelId="{44D51841-BEA8-4400-BC13-AFB730CAC9E3}" srcId="{97C9A6EC-60DD-4ED4-BD7A-4DE50E87C41F}" destId="{7A8EAD54-5814-4289-8951-F1B7D294CDAD}" srcOrd="0" destOrd="0" parTransId="{86E2D2A0-83D0-4BB8-B05D-79A42AC18D15}" sibTransId="{0E321437-7548-4C2B-82A8-5863F42FDFEF}"/>
    <dgm:cxn modelId="{F0408445-639B-47B4-8161-A3153D945EBB}" type="presOf" srcId="{10F01520-CB1C-45D1-AA9E-3144576BD665}" destId="{7123640E-962A-4617-84FD-1D5049141320}" srcOrd="0" destOrd="0" presId="urn:microsoft.com/office/officeart/2008/layout/HalfCircleOrganizationChart"/>
    <dgm:cxn modelId="{94F08865-6A5C-4AC6-8B2E-51CF108FA838}" type="presOf" srcId="{7A8EAD54-5814-4289-8951-F1B7D294CDAD}" destId="{70DD885E-8069-4761-9F07-F80188D36A99}" srcOrd="1" destOrd="0" presId="urn:microsoft.com/office/officeart/2008/layout/HalfCircleOrganizationChart"/>
    <dgm:cxn modelId="{C22DF366-0A82-4C54-82CD-2533D33CE2BD}" type="presOf" srcId="{43C0493A-1A02-4B25-8CD8-893A9A56931D}" destId="{1CEEAE04-0B5B-45E5-9F83-E9AF8E0D6805}" srcOrd="0" destOrd="0" presId="urn:microsoft.com/office/officeart/2008/layout/HalfCircleOrganizationChart"/>
    <dgm:cxn modelId="{4C9C1274-FAE6-4731-A7B9-C89CAE7BC817}" type="presOf" srcId="{F8571093-9D3D-4E39-82C6-1117169C68A3}" destId="{3196C01D-712D-46B0-908C-3F7F51F8185D}" srcOrd="1" destOrd="0" presId="urn:microsoft.com/office/officeart/2008/layout/HalfCircleOrganizationChart"/>
    <dgm:cxn modelId="{0037D17B-F13A-4FA4-9726-D38BB8EF1424}" type="presOf" srcId="{C566CC5C-CA80-41AD-AFAB-99DC03AC56E5}" destId="{77DAA68B-73F2-4AD5-8DC5-B85B1896E470}" srcOrd="0" destOrd="0" presId="urn:microsoft.com/office/officeart/2008/layout/HalfCircleOrganizationChart"/>
    <dgm:cxn modelId="{29BA1C87-AD98-4F8D-A485-2B776871616C}" type="presOf" srcId="{82995668-1E60-4A95-8485-97A040CD64DA}" destId="{B5A02F26-2B90-4466-B64C-ABF593A176AB}" srcOrd="0" destOrd="0" presId="urn:microsoft.com/office/officeart/2008/layout/HalfCircleOrganizationChart"/>
    <dgm:cxn modelId="{FB4FCF8E-B10F-47C0-9954-71E565ED9F03}" type="presOf" srcId="{43C0493A-1A02-4B25-8CD8-893A9A56931D}" destId="{36187B63-07B6-4295-B56D-6CF8458A034C}" srcOrd="1" destOrd="0" presId="urn:microsoft.com/office/officeart/2008/layout/HalfCircleOrganizationChart"/>
    <dgm:cxn modelId="{2B0C198F-D814-4177-87B1-2DFDD3BCEFBD}" srcId="{660014AE-A3C8-4A52-96EC-2B42D9557163}" destId="{1F274FCB-5998-4624-8D8A-A63FCBA7DFA4}" srcOrd="1" destOrd="0" parTransId="{A6293F79-1CAB-43B0-86AF-47472117FE72}" sibTransId="{A805CB9D-0A36-4558-97C7-218ADFD8EB2B}"/>
    <dgm:cxn modelId="{22689696-F167-4868-902E-527D6C4EA68C}" srcId="{3D158BE9-5B8E-467E-A341-3C675C52C8A2}" destId="{97C9A6EC-60DD-4ED4-BD7A-4DE50E87C41F}" srcOrd="0" destOrd="0" parTransId="{B3F05ADB-E29B-43F8-A312-11B5CD3CC973}" sibTransId="{52F4850F-990B-4CD1-A24D-EF204807300C}"/>
    <dgm:cxn modelId="{7B23B399-6F16-430F-AF2E-79A1857A6B18}" type="presOf" srcId="{456A6B5A-2E90-4E1C-BBF9-E44DEF6FF18E}" destId="{BDFC2999-9480-4F86-AF40-714F428E5047}" srcOrd="0" destOrd="0" presId="urn:microsoft.com/office/officeart/2008/layout/HalfCircleOrganizationChart"/>
    <dgm:cxn modelId="{13CF059D-4E3D-4B22-B45C-94E2AD1A1F45}" type="presOf" srcId="{660014AE-A3C8-4A52-96EC-2B42D9557163}" destId="{C497E1FE-2DDA-4362-9592-616A4FFB2846}" srcOrd="0" destOrd="0" presId="urn:microsoft.com/office/officeart/2008/layout/HalfCircleOrganizationChart"/>
    <dgm:cxn modelId="{DD2B2DA2-905D-4C13-A2E6-56A6D3CDD099}" type="presOf" srcId="{CE5342A4-7188-44E6-A256-8DEA8895B82B}" destId="{C6EF57B8-2616-4D8C-A605-8B0261420122}" srcOrd="0" destOrd="0" presId="urn:microsoft.com/office/officeart/2008/layout/HalfCircleOrganizationChart"/>
    <dgm:cxn modelId="{CFFEFEB1-1186-46A5-99E8-1294C6038DD4}" type="presOf" srcId="{80E7A140-8483-451E-8755-6E533E153249}" destId="{8B1DB5E2-E7CA-495D-821F-1C70F2890CE6}" srcOrd="0" destOrd="0" presId="urn:microsoft.com/office/officeart/2008/layout/HalfCircleOrganizationChart"/>
    <dgm:cxn modelId="{987871C9-CB79-43D4-AE01-1609978F9110}" type="presOf" srcId="{2E1D9B9C-B4C7-4A0C-842B-1819DFD14363}" destId="{F5ABC9A4-DC9A-4B5A-B9A7-A7AB0EDA07F5}" srcOrd="0" destOrd="0" presId="urn:microsoft.com/office/officeart/2008/layout/HalfCircleOrganizationChart"/>
    <dgm:cxn modelId="{52D759CA-E02E-4CD0-8CA6-C8DC357B8B19}" type="presOf" srcId="{86E2D2A0-83D0-4BB8-B05D-79A42AC18D15}" destId="{0A9A1E8D-7172-4CA6-B7A9-A854BD43BBFA}" srcOrd="0" destOrd="0" presId="urn:microsoft.com/office/officeart/2008/layout/HalfCircleOrganizationChart"/>
    <dgm:cxn modelId="{CEB5E0CB-A6A0-4E78-972F-1930BE536576}" type="presOf" srcId="{91CD8D0B-6ACF-44B4-AB77-4613E5BAC5AF}" destId="{5FFB93E6-9EB0-4F33-ABC9-B04F4E0B4D78}" srcOrd="0" destOrd="0" presId="urn:microsoft.com/office/officeart/2008/layout/HalfCircleOrganizationChart"/>
    <dgm:cxn modelId="{BD9DFBCF-87E6-4924-84FA-C44F9AFEA948}" type="presOf" srcId="{1F274FCB-5998-4624-8D8A-A63FCBA7DFA4}" destId="{A012C0CF-0F9E-4827-8376-BC98D0D7DDA7}" srcOrd="0" destOrd="0" presId="urn:microsoft.com/office/officeart/2008/layout/HalfCircleOrganizationChart"/>
    <dgm:cxn modelId="{16A00BD6-7553-4CDA-8B8A-36E8BB967FF9}" type="presOf" srcId="{97C9A6EC-60DD-4ED4-BD7A-4DE50E87C41F}" destId="{1F42A9DE-9782-4741-969A-77AC4EA9E04B}" srcOrd="1" destOrd="0" presId="urn:microsoft.com/office/officeart/2008/layout/HalfCircleOrganizationChart"/>
    <dgm:cxn modelId="{CF3B67E4-6A94-43BD-A159-749DF7096EC1}" srcId="{3274025A-F4DA-4B44-A24F-196958DAFC3D}" destId="{F8571093-9D3D-4E39-82C6-1117169C68A3}" srcOrd="0" destOrd="0" parTransId="{B0E075A4-33B1-4D4E-B37C-081526B24BA5}" sibTransId="{0D2D76D0-8CF6-4AE1-B6DE-933D0E6DEE2A}"/>
    <dgm:cxn modelId="{F67A04E9-1FB9-442A-A0C4-70653C8BCD01}" type="presOf" srcId="{3D158BE9-5B8E-467E-A341-3C675C52C8A2}" destId="{5961498C-54A5-431C-BE8A-FEA0F034A1E6}" srcOrd="0" destOrd="0" presId="urn:microsoft.com/office/officeart/2008/layout/HalfCircleOrganizationChart"/>
    <dgm:cxn modelId="{994B2DEA-29C9-4478-8936-7B76EC7812F2}" type="presOf" srcId="{F8571093-9D3D-4E39-82C6-1117169C68A3}" destId="{250A9A20-918C-4ACF-99A8-38A9627B50D0}" srcOrd="0" destOrd="0" presId="urn:microsoft.com/office/officeart/2008/layout/HalfCircleOrganizationChart"/>
    <dgm:cxn modelId="{36651EEC-71E9-46CB-A950-3A2B977C8BF2}" srcId="{7A8EAD54-5814-4289-8951-F1B7D294CDAD}" destId="{43C0493A-1A02-4B25-8CD8-893A9A56931D}" srcOrd="1" destOrd="0" parTransId="{456A6B5A-2E90-4E1C-BBF9-E44DEF6FF18E}" sibTransId="{34E7EE35-4BF2-4536-8733-46E6A35E26CD}"/>
    <dgm:cxn modelId="{77F885F1-C7DA-4811-AE2C-AC7AFA794362}" type="presOf" srcId="{A6293F79-1CAB-43B0-86AF-47472117FE72}" destId="{A0F5E0A8-2AC5-4352-8FD9-602ABDB8CE86}" srcOrd="0" destOrd="0" presId="urn:microsoft.com/office/officeart/2008/layout/HalfCircleOrganizationChart"/>
    <dgm:cxn modelId="{AF8D5DFC-1215-4057-AB62-3CB7991B552E}" type="presOf" srcId="{3274025A-F4DA-4B44-A24F-196958DAFC3D}" destId="{653792CC-5069-4156-9115-6D9C92AA3539}" srcOrd="0" destOrd="0" presId="urn:microsoft.com/office/officeart/2008/layout/HalfCircleOrganizationChart"/>
    <dgm:cxn modelId="{28B2CE3E-7F58-49A0-98DD-8738F5ED9049}" type="presParOf" srcId="{5961498C-54A5-431C-BE8A-FEA0F034A1E6}" destId="{F16D8FD4-297F-4543-818A-FEB6C06BD2AC}" srcOrd="0" destOrd="0" presId="urn:microsoft.com/office/officeart/2008/layout/HalfCircleOrganizationChart"/>
    <dgm:cxn modelId="{91C7AE12-1E88-4994-9E04-AE0E2A589CED}" type="presParOf" srcId="{F16D8FD4-297F-4543-818A-FEB6C06BD2AC}" destId="{09010EBD-E2A3-4733-8A38-FEA6BA512D32}" srcOrd="0" destOrd="0" presId="urn:microsoft.com/office/officeart/2008/layout/HalfCircleOrganizationChart"/>
    <dgm:cxn modelId="{2F2570D1-FE24-4FE7-8FB9-15857E2F5523}" type="presParOf" srcId="{09010EBD-E2A3-4733-8A38-FEA6BA512D32}" destId="{F4796DFC-8FC9-4E48-A812-6C350265B5EE}" srcOrd="0" destOrd="0" presId="urn:microsoft.com/office/officeart/2008/layout/HalfCircleOrganizationChart"/>
    <dgm:cxn modelId="{7B81B574-F914-4DEC-BEDC-84AC5C340954}" type="presParOf" srcId="{09010EBD-E2A3-4733-8A38-FEA6BA512D32}" destId="{AADA1D86-2DD5-4B51-8DBC-9610C76C4A56}" srcOrd="1" destOrd="0" presId="urn:microsoft.com/office/officeart/2008/layout/HalfCircleOrganizationChart"/>
    <dgm:cxn modelId="{49A06F13-B3B7-4CD8-894B-D60C236404D2}" type="presParOf" srcId="{09010EBD-E2A3-4733-8A38-FEA6BA512D32}" destId="{25DEB369-3A61-43EC-9139-D4EB99C8F873}" srcOrd="2" destOrd="0" presId="urn:microsoft.com/office/officeart/2008/layout/HalfCircleOrganizationChart"/>
    <dgm:cxn modelId="{585293BD-EA20-4D60-8EBB-2A78128C18C4}" type="presParOf" srcId="{09010EBD-E2A3-4733-8A38-FEA6BA512D32}" destId="{1F42A9DE-9782-4741-969A-77AC4EA9E04B}" srcOrd="3" destOrd="0" presId="urn:microsoft.com/office/officeart/2008/layout/HalfCircleOrganizationChart"/>
    <dgm:cxn modelId="{9FCA1231-6A10-471E-8D0A-C5A1FBB3208E}" type="presParOf" srcId="{F16D8FD4-297F-4543-818A-FEB6C06BD2AC}" destId="{D087DC5E-36CA-4354-AB5F-C83E06C456E6}" srcOrd="1" destOrd="0" presId="urn:microsoft.com/office/officeart/2008/layout/HalfCircleOrganizationChart"/>
    <dgm:cxn modelId="{FFAFAC74-63CF-4D91-A118-DCB1088D6895}" type="presParOf" srcId="{D087DC5E-36CA-4354-AB5F-C83E06C456E6}" destId="{0A9A1E8D-7172-4CA6-B7A9-A854BD43BBFA}" srcOrd="0" destOrd="0" presId="urn:microsoft.com/office/officeart/2008/layout/HalfCircleOrganizationChart"/>
    <dgm:cxn modelId="{C54FA50C-F338-4F9A-8E32-819F0482B09D}" type="presParOf" srcId="{D087DC5E-36CA-4354-AB5F-C83E06C456E6}" destId="{68C9FB0D-8F2C-4A83-92C4-825F84A3BF2F}" srcOrd="1" destOrd="0" presId="urn:microsoft.com/office/officeart/2008/layout/HalfCircleOrganizationChart"/>
    <dgm:cxn modelId="{9CFAC027-9F94-4FA9-8E8F-662BF3CB3355}" type="presParOf" srcId="{68C9FB0D-8F2C-4A83-92C4-825F84A3BF2F}" destId="{F303447B-ABA1-420A-AB79-73F1CDDDD06C}" srcOrd="0" destOrd="0" presId="urn:microsoft.com/office/officeart/2008/layout/HalfCircleOrganizationChart"/>
    <dgm:cxn modelId="{2B1B78F6-BDC0-4EDE-8644-48E980395439}" type="presParOf" srcId="{F303447B-ABA1-420A-AB79-73F1CDDDD06C}" destId="{A88D94EA-C940-463C-B086-32FE49B0C2C8}" srcOrd="0" destOrd="0" presId="urn:microsoft.com/office/officeart/2008/layout/HalfCircleOrganizationChart"/>
    <dgm:cxn modelId="{3C2430A2-BC68-42AB-B877-E21891972B05}" type="presParOf" srcId="{F303447B-ABA1-420A-AB79-73F1CDDDD06C}" destId="{BCB45312-43F1-4FEE-89B9-9AF7241C1B70}" srcOrd="1" destOrd="0" presId="urn:microsoft.com/office/officeart/2008/layout/HalfCircleOrganizationChart"/>
    <dgm:cxn modelId="{ADBED23D-1CB5-44AE-AC31-DCEA6FDA4AAA}" type="presParOf" srcId="{F303447B-ABA1-420A-AB79-73F1CDDDD06C}" destId="{3A1F09D6-DDEC-42AA-8ABD-9073B7CE13F5}" srcOrd="2" destOrd="0" presId="urn:microsoft.com/office/officeart/2008/layout/HalfCircleOrganizationChart"/>
    <dgm:cxn modelId="{7E3FF92F-06DD-4B9A-8ED2-0E81A12B547E}" type="presParOf" srcId="{F303447B-ABA1-420A-AB79-73F1CDDDD06C}" destId="{70DD885E-8069-4761-9F07-F80188D36A99}" srcOrd="3" destOrd="0" presId="urn:microsoft.com/office/officeart/2008/layout/HalfCircleOrganizationChart"/>
    <dgm:cxn modelId="{44E468E4-C1C0-4FC0-9452-2D5270576E1F}" type="presParOf" srcId="{68C9FB0D-8F2C-4A83-92C4-825F84A3BF2F}" destId="{4A3A1E76-AAC6-45A3-9342-BE5E20ABA5E2}" srcOrd="1" destOrd="0" presId="urn:microsoft.com/office/officeart/2008/layout/HalfCircleOrganizationChart"/>
    <dgm:cxn modelId="{0FF03614-8284-4B72-AC80-9BF2AA1E73BF}" type="presParOf" srcId="{4A3A1E76-AAC6-45A3-9342-BE5E20ABA5E2}" destId="{8B1DB5E2-E7CA-495D-821F-1C70F2890CE6}" srcOrd="0" destOrd="0" presId="urn:microsoft.com/office/officeart/2008/layout/HalfCircleOrganizationChart"/>
    <dgm:cxn modelId="{DD8BE2E4-F684-4B54-A3A2-9A0EB305CDCB}" type="presParOf" srcId="{4A3A1E76-AAC6-45A3-9342-BE5E20ABA5E2}" destId="{D463314B-B6DF-49AE-81B9-DCD3CC16DAF7}" srcOrd="1" destOrd="0" presId="urn:microsoft.com/office/officeart/2008/layout/HalfCircleOrganizationChart"/>
    <dgm:cxn modelId="{D6D93F35-3699-4B29-A4D2-56C4442DB6C5}" type="presParOf" srcId="{D463314B-B6DF-49AE-81B9-DCD3CC16DAF7}" destId="{9F04AB3B-3862-4114-8F24-F4FCA87DB1CA}" srcOrd="0" destOrd="0" presId="urn:microsoft.com/office/officeart/2008/layout/HalfCircleOrganizationChart"/>
    <dgm:cxn modelId="{B42F7746-C3F0-4A75-A765-B36A47B2C800}" type="presParOf" srcId="{9F04AB3B-3862-4114-8F24-F4FCA87DB1CA}" destId="{C6EF57B8-2616-4D8C-A605-8B0261420122}" srcOrd="0" destOrd="0" presId="urn:microsoft.com/office/officeart/2008/layout/HalfCircleOrganizationChart"/>
    <dgm:cxn modelId="{0F1AEFB3-D935-4A38-BB93-98927FA99B3A}" type="presParOf" srcId="{9F04AB3B-3862-4114-8F24-F4FCA87DB1CA}" destId="{67C00D5E-F0C6-4EC6-A160-F8EFC91A19C6}" srcOrd="1" destOrd="0" presId="urn:microsoft.com/office/officeart/2008/layout/HalfCircleOrganizationChart"/>
    <dgm:cxn modelId="{F2DA9CDE-DDEB-4DE8-95D6-CB5EE860AB2B}" type="presParOf" srcId="{9F04AB3B-3862-4114-8F24-F4FCA87DB1CA}" destId="{A3CDAC6B-63A0-4A54-A354-E064343D22A5}" srcOrd="2" destOrd="0" presId="urn:microsoft.com/office/officeart/2008/layout/HalfCircleOrganizationChart"/>
    <dgm:cxn modelId="{4031133D-6A99-4D29-890A-3CAD10DE3B3A}" type="presParOf" srcId="{9F04AB3B-3862-4114-8F24-F4FCA87DB1CA}" destId="{A2FF08C6-A2AD-495F-91BF-C22CFFFA5776}" srcOrd="3" destOrd="0" presId="urn:microsoft.com/office/officeart/2008/layout/HalfCircleOrganizationChart"/>
    <dgm:cxn modelId="{B9551BF8-B731-441E-9316-9DE91D24267C}" type="presParOf" srcId="{D463314B-B6DF-49AE-81B9-DCD3CC16DAF7}" destId="{E062F1BB-FFD4-4F87-9F5E-DB330E138E7D}" srcOrd="1" destOrd="0" presId="urn:microsoft.com/office/officeart/2008/layout/HalfCircleOrganizationChart"/>
    <dgm:cxn modelId="{EDA53950-3466-492E-ACD9-43D36B7C6176}" type="presParOf" srcId="{D463314B-B6DF-49AE-81B9-DCD3CC16DAF7}" destId="{519B7E5C-6ECE-4EBB-9219-E1D75D379292}" srcOrd="2" destOrd="0" presId="urn:microsoft.com/office/officeart/2008/layout/HalfCircleOrganizationChart"/>
    <dgm:cxn modelId="{E71836E7-7915-4E98-B0D0-A7EDC39455C1}" type="presParOf" srcId="{4A3A1E76-AAC6-45A3-9342-BE5E20ABA5E2}" destId="{BDFC2999-9480-4F86-AF40-714F428E5047}" srcOrd="2" destOrd="0" presId="urn:microsoft.com/office/officeart/2008/layout/HalfCircleOrganizationChart"/>
    <dgm:cxn modelId="{29B6339C-160C-4D9F-B6AB-B633D6E14E76}" type="presParOf" srcId="{4A3A1E76-AAC6-45A3-9342-BE5E20ABA5E2}" destId="{7C0B6832-6954-4809-B347-F8FF39175C11}" srcOrd="3" destOrd="0" presId="urn:microsoft.com/office/officeart/2008/layout/HalfCircleOrganizationChart"/>
    <dgm:cxn modelId="{F33CF54F-C65B-45EF-AED2-D183B008A24B}" type="presParOf" srcId="{7C0B6832-6954-4809-B347-F8FF39175C11}" destId="{18B96D7F-2D24-4311-B5E9-7E1135998938}" srcOrd="0" destOrd="0" presId="urn:microsoft.com/office/officeart/2008/layout/HalfCircleOrganizationChart"/>
    <dgm:cxn modelId="{9BEE41C3-DF71-42AB-82A2-F3EA03A179AE}" type="presParOf" srcId="{18B96D7F-2D24-4311-B5E9-7E1135998938}" destId="{1CEEAE04-0B5B-45E5-9F83-E9AF8E0D6805}" srcOrd="0" destOrd="0" presId="urn:microsoft.com/office/officeart/2008/layout/HalfCircleOrganizationChart"/>
    <dgm:cxn modelId="{EE074F9B-BD2C-4A05-B560-C821D8B83AA9}" type="presParOf" srcId="{18B96D7F-2D24-4311-B5E9-7E1135998938}" destId="{8F5B08F1-64FD-4C80-A45A-98A0070713FC}" srcOrd="1" destOrd="0" presId="urn:microsoft.com/office/officeart/2008/layout/HalfCircleOrganizationChart"/>
    <dgm:cxn modelId="{7EA36CCC-7E72-4939-9779-780E9C3B34BB}" type="presParOf" srcId="{18B96D7F-2D24-4311-B5E9-7E1135998938}" destId="{5554E742-907D-410E-A178-E9FE5B0D2FDA}" srcOrd="2" destOrd="0" presId="urn:microsoft.com/office/officeart/2008/layout/HalfCircleOrganizationChart"/>
    <dgm:cxn modelId="{56BCEE59-B7E5-427A-8719-54B797E4352E}" type="presParOf" srcId="{18B96D7F-2D24-4311-B5E9-7E1135998938}" destId="{36187B63-07B6-4295-B56D-6CF8458A034C}" srcOrd="3" destOrd="0" presId="urn:microsoft.com/office/officeart/2008/layout/HalfCircleOrganizationChart"/>
    <dgm:cxn modelId="{9F1C20C1-574D-4BAD-B446-4659D2B71DF8}" type="presParOf" srcId="{7C0B6832-6954-4809-B347-F8FF39175C11}" destId="{534264E7-7C61-47D0-B83E-64394D914C9D}" srcOrd="1" destOrd="0" presId="urn:microsoft.com/office/officeart/2008/layout/HalfCircleOrganizationChart"/>
    <dgm:cxn modelId="{570684F7-C975-45E4-913E-3E88DD7C44AF}" type="presParOf" srcId="{7C0B6832-6954-4809-B347-F8FF39175C11}" destId="{351C65FB-11D4-45CE-A77C-F849D34DF2DA}" srcOrd="2" destOrd="0" presId="urn:microsoft.com/office/officeart/2008/layout/HalfCircleOrganizationChart"/>
    <dgm:cxn modelId="{595BB640-2A26-4C35-8D3B-E5013F95FA03}" type="presParOf" srcId="{68C9FB0D-8F2C-4A83-92C4-825F84A3BF2F}" destId="{EDDC98F5-CEA4-42C0-94A9-EE407CCCEACB}" srcOrd="2" destOrd="0" presId="urn:microsoft.com/office/officeart/2008/layout/HalfCircleOrganizationChart"/>
    <dgm:cxn modelId="{73E51144-88E1-495B-A933-1C66965B9A84}" type="presParOf" srcId="{D087DC5E-36CA-4354-AB5F-C83E06C456E6}" destId="{7123640E-962A-4617-84FD-1D5049141320}" srcOrd="2" destOrd="0" presId="urn:microsoft.com/office/officeart/2008/layout/HalfCircleOrganizationChart"/>
    <dgm:cxn modelId="{DA187A76-1163-46B6-BE34-90BB7AC5672E}" type="presParOf" srcId="{D087DC5E-36CA-4354-AB5F-C83E06C456E6}" destId="{0FE1A1A6-E645-4EBC-9EDB-8F17BE48DF05}" srcOrd="3" destOrd="0" presId="urn:microsoft.com/office/officeart/2008/layout/HalfCircleOrganizationChart"/>
    <dgm:cxn modelId="{53A6F10C-69B2-4D6A-94C2-520527F63D8C}" type="presParOf" srcId="{0FE1A1A6-E645-4EBC-9EDB-8F17BE48DF05}" destId="{C0AC5118-F3C6-4325-A91E-EADDB35B36A7}" srcOrd="0" destOrd="0" presId="urn:microsoft.com/office/officeart/2008/layout/HalfCircleOrganizationChart"/>
    <dgm:cxn modelId="{FA2B4026-D53E-4EF5-970C-58FF46F71F14}" type="presParOf" srcId="{C0AC5118-F3C6-4325-A91E-EADDB35B36A7}" destId="{C497E1FE-2DDA-4362-9592-616A4FFB2846}" srcOrd="0" destOrd="0" presId="urn:microsoft.com/office/officeart/2008/layout/HalfCircleOrganizationChart"/>
    <dgm:cxn modelId="{EB96193C-53C4-4684-8F36-ECDB808B23DC}" type="presParOf" srcId="{C0AC5118-F3C6-4325-A91E-EADDB35B36A7}" destId="{746DADC8-643A-42C4-8973-E0031EFDCDB9}" srcOrd="1" destOrd="0" presId="urn:microsoft.com/office/officeart/2008/layout/HalfCircleOrganizationChart"/>
    <dgm:cxn modelId="{9E2E1E1B-1709-49DD-A401-D29094D89C45}" type="presParOf" srcId="{C0AC5118-F3C6-4325-A91E-EADDB35B36A7}" destId="{BC1E8456-6F55-457A-B98F-D40E79B5551F}" srcOrd="2" destOrd="0" presId="urn:microsoft.com/office/officeart/2008/layout/HalfCircleOrganizationChart"/>
    <dgm:cxn modelId="{F26790C3-3683-4CCB-98A1-08520FD9BB8F}" type="presParOf" srcId="{C0AC5118-F3C6-4325-A91E-EADDB35B36A7}" destId="{F36106B7-417A-43B8-8D94-CB9E25D48B16}" srcOrd="3" destOrd="0" presId="urn:microsoft.com/office/officeart/2008/layout/HalfCircleOrganizationChart"/>
    <dgm:cxn modelId="{BE556F23-F583-453C-A8AF-30B28E74C1B6}" type="presParOf" srcId="{0FE1A1A6-E645-4EBC-9EDB-8F17BE48DF05}" destId="{DFEA561F-F587-4FCE-A112-EE482B8A1900}" srcOrd="1" destOrd="0" presId="urn:microsoft.com/office/officeart/2008/layout/HalfCircleOrganizationChart"/>
    <dgm:cxn modelId="{C3B94D86-805A-4EE9-9F2B-5800834B7C8B}" type="presParOf" srcId="{DFEA561F-F587-4FCE-A112-EE482B8A1900}" destId="{F5ABC9A4-DC9A-4B5A-B9A7-A7AB0EDA07F5}" srcOrd="0" destOrd="0" presId="urn:microsoft.com/office/officeart/2008/layout/HalfCircleOrganizationChart"/>
    <dgm:cxn modelId="{EBB79903-911D-4B80-886E-C7742D78D75E}" type="presParOf" srcId="{DFEA561F-F587-4FCE-A112-EE482B8A1900}" destId="{7B06965D-BB72-4132-82AB-E3380F8671A6}" srcOrd="1" destOrd="0" presId="urn:microsoft.com/office/officeart/2008/layout/HalfCircleOrganizationChart"/>
    <dgm:cxn modelId="{049EAE40-2655-4B49-AFED-CA1E3D973CBE}" type="presParOf" srcId="{7B06965D-BB72-4132-82AB-E3380F8671A6}" destId="{3C299139-0470-4D80-9F3A-0E869C2FD3B4}" srcOrd="0" destOrd="0" presId="urn:microsoft.com/office/officeart/2008/layout/HalfCircleOrganizationChart"/>
    <dgm:cxn modelId="{7C811FED-A8AB-40EE-A0AB-22261F5544A2}" type="presParOf" srcId="{3C299139-0470-4D80-9F3A-0E869C2FD3B4}" destId="{B5A02F26-2B90-4466-B64C-ABF593A176AB}" srcOrd="0" destOrd="0" presId="urn:microsoft.com/office/officeart/2008/layout/HalfCircleOrganizationChart"/>
    <dgm:cxn modelId="{63DF7931-4B1E-48A4-A641-4471783C0339}" type="presParOf" srcId="{3C299139-0470-4D80-9F3A-0E869C2FD3B4}" destId="{CA419011-6983-4C9A-B315-9B89E31F0F41}" srcOrd="1" destOrd="0" presId="urn:microsoft.com/office/officeart/2008/layout/HalfCircleOrganizationChart"/>
    <dgm:cxn modelId="{2DF7B346-0F94-46C9-8387-E542DF15BE9E}" type="presParOf" srcId="{3C299139-0470-4D80-9F3A-0E869C2FD3B4}" destId="{BB8808BA-CF40-47CA-B5C1-8499A1EFA1B6}" srcOrd="2" destOrd="0" presId="urn:microsoft.com/office/officeart/2008/layout/HalfCircleOrganizationChart"/>
    <dgm:cxn modelId="{643337F7-DE04-4784-AA16-FC769F5B3E30}" type="presParOf" srcId="{3C299139-0470-4D80-9F3A-0E869C2FD3B4}" destId="{61F5A8C1-B6ED-4A8C-BB8A-5AC48C01CD44}" srcOrd="3" destOrd="0" presId="urn:microsoft.com/office/officeart/2008/layout/HalfCircleOrganizationChart"/>
    <dgm:cxn modelId="{167C774C-7E3F-40CD-99CE-3034F030C221}" type="presParOf" srcId="{7B06965D-BB72-4132-82AB-E3380F8671A6}" destId="{40BFA308-9299-4378-8829-46C36CE0E11C}" srcOrd="1" destOrd="0" presId="urn:microsoft.com/office/officeart/2008/layout/HalfCircleOrganizationChart"/>
    <dgm:cxn modelId="{A95659DE-DC55-4276-A0EB-C1D72E808B4F}" type="presParOf" srcId="{7B06965D-BB72-4132-82AB-E3380F8671A6}" destId="{4801F3E5-F7FD-468B-B457-91D2523A8986}" srcOrd="2" destOrd="0" presId="urn:microsoft.com/office/officeart/2008/layout/HalfCircleOrganizationChart"/>
    <dgm:cxn modelId="{D21B24DB-4B7C-4099-A4F2-7F610933420C}" type="presParOf" srcId="{DFEA561F-F587-4FCE-A112-EE482B8A1900}" destId="{A0F5E0A8-2AC5-4352-8FD9-602ABDB8CE86}" srcOrd="2" destOrd="0" presId="urn:microsoft.com/office/officeart/2008/layout/HalfCircleOrganizationChart"/>
    <dgm:cxn modelId="{AAD7E8BF-BA8F-4275-9399-14931A092628}" type="presParOf" srcId="{DFEA561F-F587-4FCE-A112-EE482B8A1900}" destId="{22A1CD88-C37A-4FF8-98AD-D6A06C9BB2E7}" srcOrd="3" destOrd="0" presId="urn:microsoft.com/office/officeart/2008/layout/HalfCircleOrganizationChart"/>
    <dgm:cxn modelId="{45982125-5534-4AA0-9E08-973DB5B981E5}" type="presParOf" srcId="{22A1CD88-C37A-4FF8-98AD-D6A06C9BB2E7}" destId="{4F8EBEBC-7929-4EC8-8BC2-FF78B7A2C1C7}" srcOrd="0" destOrd="0" presId="urn:microsoft.com/office/officeart/2008/layout/HalfCircleOrganizationChart"/>
    <dgm:cxn modelId="{47A29876-0BCF-49C2-8CDA-FC00F514D365}" type="presParOf" srcId="{4F8EBEBC-7929-4EC8-8BC2-FF78B7A2C1C7}" destId="{A012C0CF-0F9E-4827-8376-BC98D0D7DDA7}" srcOrd="0" destOrd="0" presId="urn:microsoft.com/office/officeart/2008/layout/HalfCircleOrganizationChart"/>
    <dgm:cxn modelId="{EDBB8A0C-D639-402F-882E-F15EF5A8A077}" type="presParOf" srcId="{4F8EBEBC-7929-4EC8-8BC2-FF78B7A2C1C7}" destId="{70572782-F1C2-4798-8885-1B38B3E95BDC}" srcOrd="1" destOrd="0" presId="urn:microsoft.com/office/officeart/2008/layout/HalfCircleOrganizationChart"/>
    <dgm:cxn modelId="{E8448B94-02A5-4B5D-B07C-95C0AAB29A04}" type="presParOf" srcId="{4F8EBEBC-7929-4EC8-8BC2-FF78B7A2C1C7}" destId="{A66DB169-17B0-4BAD-ABBF-B2FF95AC80D0}" srcOrd="2" destOrd="0" presId="urn:microsoft.com/office/officeart/2008/layout/HalfCircleOrganizationChart"/>
    <dgm:cxn modelId="{F2EB2163-02E7-47AB-A923-734444EFDBA1}" type="presParOf" srcId="{4F8EBEBC-7929-4EC8-8BC2-FF78B7A2C1C7}" destId="{A5EFEF5F-FD0C-467E-9681-E59E2AE3C93C}" srcOrd="3" destOrd="0" presId="urn:microsoft.com/office/officeart/2008/layout/HalfCircleOrganizationChart"/>
    <dgm:cxn modelId="{F1CF8EFD-CE62-4687-ADE0-DF939B1E35F0}" type="presParOf" srcId="{22A1CD88-C37A-4FF8-98AD-D6A06C9BB2E7}" destId="{824D5947-E09F-47B9-BA38-4F059717F0D0}" srcOrd="1" destOrd="0" presId="urn:microsoft.com/office/officeart/2008/layout/HalfCircleOrganizationChart"/>
    <dgm:cxn modelId="{D7A65FA8-1402-4160-8555-79884DF04D24}" type="presParOf" srcId="{22A1CD88-C37A-4FF8-98AD-D6A06C9BB2E7}" destId="{C3B800D5-5849-42CA-B9B7-2F60DCED02A3}" srcOrd="2" destOrd="0" presId="urn:microsoft.com/office/officeart/2008/layout/HalfCircleOrganizationChart"/>
    <dgm:cxn modelId="{01CDDC27-3350-4FD0-8174-1EDE791C5709}" type="presParOf" srcId="{0FE1A1A6-E645-4EBC-9EDB-8F17BE48DF05}" destId="{EB00D6C6-870A-4A5B-9093-1575C2C2861B}" srcOrd="2" destOrd="0" presId="urn:microsoft.com/office/officeart/2008/layout/HalfCircleOrganizationChart"/>
    <dgm:cxn modelId="{0FC576EC-A6FE-4C9D-B0E9-84FDBF12BBCF}" type="presParOf" srcId="{D087DC5E-36CA-4354-AB5F-C83E06C456E6}" destId="{77DAA68B-73F2-4AD5-8DC5-B85B1896E470}" srcOrd="4" destOrd="0" presId="urn:microsoft.com/office/officeart/2008/layout/HalfCircleOrganizationChart"/>
    <dgm:cxn modelId="{B9A625CF-5006-4869-9B2D-58DCF633018B}" type="presParOf" srcId="{D087DC5E-36CA-4354-AB5F-C83E06C456E6}" destId="{66C01227-12D5-4BE2-8EC3-774A4DAAE095}" srcOrd="5" destOrd="0" presId="urn:microsoft.com/office/officeart/2008/layout/HalfCircleOrganizationChart"/>
    <dgm:cxn modelId="{674D4769-4361-48D4-BD41-4890E0AF101B}" type="presParOf" srcId="{66C01227-12D5-4BE2-8EC3-774A4DAAE095}" destId="{B0D1E538-BB43-4316-B0DE-9ED491BF8D95}" srcOrd="0" destOrd="0" presId="urn:microsoft.com/office/officeart/2008/layout/HalfCircleOrganizationChart"/>
    <dgm:cxn modelId="{28F48AB3-6012-483F-9BF8-081CAFFD8B77}" type="presParOf" srcId="{B0D1E538-BB43-4316-B0DE-9ED491BF8D95}" destId="{653792CC-5069-4156-9115-6D9C92AA3539}" srcOrd="0" destOrd="0" presId="urn:microsoft.com/office/officeart/2008/layout/HalfCircleOrganizationChart"/>
    <dgm:cxn modelId="{4A33B0E3-2BE6-4E65-A803-E875AABDBCE3}" type="presParOf" srcId="{B0D1E538-BB43-4316-B0DE-9ED491BF8D95}" destId="{FDB27C1D-C182-4A40-8C73-DBEBCAC09478}" srcOrd="1" destOrd="0" presId="urn:microsoft.com/office/officeart/2008/layout/HalfCircleOrganizationChart"/>
    <dgm:cxn modelId="{15EA18D9-82F8-4081-A90B-EFB24CDFBB49}" type="presParOf" srcId="{B0D1E538-BB43-4316-B0DE-9ED491BF8D95}" destId="{DF73BEB2-61A5-44CF-96CE-1D4F0707108C}" srcOrd="2" destOrd="0" presId="urn:microsoft.com/office/officeart/2008/layout/HalfCircleOrganizationChart"/>
    <dgm:cxn modelId="{7874F65D-BC57-4B07-B3B6-5A32D0FB2BFE}" type="presParOf" srcId="{B0D1E538-BB43-4316-B0DE-9ED491BF8D95}" destId="{508D8010-72D2-4665-B8F8-0278AC81DD55}" srcOrd="3" destOrd="0" presId="urn:microsoft.com/office/officeart/2008/layout/HalfCircleOrganizationChart"/>
    <dgm:cxn modelId="{615777FE-FA7A-411D-978B-539F36C37D15}" type="presParOf" srcId="{66C01227-12D5-4BE2-8EC3-774A4DAAE095}" destId="{5B8A1F1F-D5FB-4910-88F7-07994496CC62}" srcOrd="1" destOrd="0" presId="urn:microsoft.com/office/officeart/2008/layout/HalfCircleOrganizationChart"/>
    <dgm:cxn modelId="{195A0C3D-F763-45F2-868B-3F7EF217BB2B}" type="presParOf" srcId="{5B8A1F1F-D5FB-4910-88F7-07994496CC62}" destId="{8BE0E40D-338E-4F90-A492-30327D4E53CF}" srcOrd="0" destOrd="0" presId="urn:microsoft.com/office/officeart/2008/layout/HalfCircleOrganizationChart"/>
    <dgm:cxn modelId="{CDA4B73E-1B73-4BA8-B2C5-CFF28609B470}" type="presParOf" srcId="{5B8A1F1F-D5FB-4910-88F7-07994496CC62}" destId="{924B604D-7294-45EC-B128-9E2C22F4CBB5}" srcOrd="1" destOrd="0" presId="urn:microsoft.com/office/officeart/2008/layout/HalfCircleOrganizationChart"/>
    <dgm:cxn modelId="{32869AE6-4107-43B2-8CC4-CEC69FEC042A}" type="presParOf" srcId="{924B604D-7294-45EC-B128-9E2C22F4CBB5}" destId="{6C63985E-4165-4C60-BE73-A2FDF3486040}" srcOrd="0" destOrd="0" presId="urn:microsoft.com/office/officeart/2008/layout/HalfCircleOrganizationChart"/>
    <dgm:cxn modelId="{B43AC0BE-D1C9-4751-8439-16735193E4BF}" type="presParOf" srcId="{6C63985E-4165-4C60-BE73-A2FDF3486040}" destId="{250A9A20-918C-4ACF-99A8-38A9627B50D0}" srcOrd="0" destOrd="0" presId="urn:microsoft.com/office/officeart/2008/layout/HalfCircleOrganizationChart"/>
    <dgm:cxn modelId="{F5A87CF5-5F95-49D3-A098-ED1213746242}" type="presParOf" srcId="{6C63985E-4165-4C60-BE73-A2FDF3486040}" destId="{08A27790-979E-4031-902C-002FEAC5069B}" srcOrd="1" destOrd="0" presId="urn:microsoft.com/office/officeart/2008/layout/HalfCircleOrganizationChart"/>
    <dgm:cxn modelId="{4A4CF6BB-4950-4C8A-84CE-5B1A96BEA66D}" type="presParOf" srcId="{6C63985E-4165-4C60-BE73-A2FDF3486040}" destId="{B00E513A-4C37-4F2C-B4DA-9245495DBB7B}" srcOrd="2" destOrd="0" presId="urn:microsoft.com/office/officeart/2008/layout/HalfCircleOrganizationChart"/>
    <dgm:cxn modelId="{03A02FF4-F3D4-4C42-9B59-4C020087EAAB}" type="presParOf" srcId="{6C63985E-4165-4C60-BE73-A2FDF3486040}" destId="{3196C01D-712D-46B0-908C-3F7F51F8185D}" srcOrd="3" destOrd="0" presId="urn:microsoft.com/office/officeart/2008/layout/HalfCircleOrganizationChart"/>
    <dgm:cxn modelId="{DF8C988F-5C08-4255-9F92-BE1C0BD6245A}" type="presParOf" srcId="{924B604D-7294-45EC-B128-9E2C22F4CBB5}" destId="{7AA7F326-14E3-4934-8971-CB04A97E7690}" srcOrd="1" destOrd="0" presId="urn:microsoft.com/office/officeart/2008/layout/HalfCircleOrganizationChart"/>
    <dgm:cxn modelId="{C57165D1-3121-4F8E-9635-A9A6A77A4DE8}" type="presParOf" srcId="{924B604D-7294-45EC-B128-9E2C22F4CBB5}" destId="{37329F45-8FB0-471D-98AD-B0ABBFA04111}" srcOrd="2" destOrd="0" presId="urn:microsoft.com/office/officeart/2008/layout/HalfCircleOrganizationChart"/>
    <dgm:cxn modelId="{AE6EF738-1438-4983-82BE-7C6193696689}" type="presParOf" srcId="{5B8A1F1F-D5FB-4910-88F7-07994496CC62}" destId="{5FFB93E6-9EB0-4F33-ABC9-B04F4E0B4D78}" srcOrd="2" destOrd="0" presId="urn:microsoft.com/office/officeart/2008/layout/HalfCircleOrganizationChart"/>
    <dgm:cxn modelId="{1AD8DA21-4D7D-4F1D-92EC-CC5464B9C000}" type="presParOf" srcId="{5B8A1F1F-D5FB-4910-88F7-07994496CC62}" destId="{0352F266-99E7-406D-8C8E-BDF8DDA51AD0}" srcOrd="3" destOrd="0" presId="urn:microsoft.com/office/officeart/2008/layout/HalfCircleOrganizationChart"/>
    <dgm:cxn modelId="{41522E8D-A036-480B-8DD2-3FEAAE591A0D}" type="presParOf" srcId="{0352F266-99E7-406D-8C8E-BDF8DDA51AD0}" destId="{B03E174C-3D1A-4914-9DBA-F99FF5C19606}" srcOrd="0" destOrd="0" presId="urn:microsoft.com/office/officeart/2008/layout/HalfCircleOrganizationChart"/>
    <dgm:cxn modelId="{FBC0823B-DA72-48F4-978A-57D5BD9126DD}" type="presParOf" srcId="{B03E174C-3D1A-4914-9DBA-F99FF5C19606}" destId="{3C7E9805-F98D-4B11-89FB-8880EA405CA4}" srcOrd="0" destOrd="0" presId="urn:microsoft.com/office/officeart/2008/layout/HalfCircleOrganizationChart"/>
    <dgm:cxn modelId="{1C45029C-4601-4E41-B8BF-9182F581047D}" type="presParOf" srcId="{B03E174C-3D1A-4914-9DBA-F99FF5C19606}" destId="{035397E1-6238-4577-A98B-44BE4EDAFD0B}" srcOrd="1" destOrd="0" presId="urn:microsoft.com/office/officeart/2008/layout/HalfCircleOrganizationChart"/>
    <dgm:cxn modelId="{FF295511-BC5C-4696-9930-BEEC234B5A5A}" type="presParOf" srcId="{B03E174C-3D1A-4914-9DBA-F99FF5C19606}" destId="{82CC4E0B-F1C4-4879-9AE8-1623006CCBD3}" srcOrd="2" destOrd="0" presId="urn:microsoft.com/office/officeart/2008/layout/HalfCircleOrganizationChart"/>
    <dgm:cxn modelId="{1AA3DA0B-4C1B-47EA-B69E-95229BEE2DE0}" type="presParOf" srcId="{B03E174C-3D1A-4914-9DBA-F99FF5C19606}" destId="{3AF28BF7-74D6-43E4-A897-1B5AA2D755E5}" srcOrd="3" destOrd="0" presId="urn:microsoft.com/office/officeart/2008/layout/HalfCircleOrganizationChart"/>
    <dgm:cxn modelId="{ACECB6B6-A401-4EA4-81B2-758C3ED2823A}" type="presParOf" srcId="{0352F266-99E7-406D-8C8E-BDF8DDA51AD0}" destId="{5BDBF882-76B0-4043-BCAC-E1D02CABD0C6}" srcOrd="1" destOrd="0" presId="urn:microsoft.com/office/officeart/2008/layout/HalfCircleOrganizationChart"/>
    <dgm:cxn modelId="{B62CBDC3-1951-4556-9456-F6437D8AE536}" type="presParOf" srcId="{0352F266-99E7-406D-8C8E-BDF8DDA51AD0}" destId="{807359D9-1C0C-494D-AADC-0318BF5C66B2}" srcOrd="2" destOrd="0" presId="urn:microsoft.com/office/officeart/2008/layout/HalfCircleOrganizationChart"/>
    <dgm:cxn modelId="{D03A6241-A3EF-42C7-827C-02EE0F92682E}" type="presParOf" srcId="{66C01227-12D5-4BE2-8EC3-774A4DAAE095}" destId="{CF225379-7853-42BA-9C62-B73973885D9D}" srcOrd="2" destOrd="0" presId="urn:microsoft.com/office/officeart/2008/layout/HalfCircleOrganizationChart"/>
    <dgm:cxn modelId="{EF4FCDFF-8E93-4ECB-A83A-5D5136BA5EDB}" type="presParOf" srcId="{F16D8FD4-297F-4543-818A-FEB6C06BD2AC}" destId="{4A9054C9-797C-4BB4-B497-8A1A25859296}" srcOrd="2" destOrd="0" presId="urn:microsoft.com/office/officeart/2008/layout/HalfCircle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BF986F-C4FD-414F-A6F3-0469C0B706A5}" type="doc">
      <dgm:prSet loTypeId="urn:microsoft.com/office/officeart/2005/8/layout/hList6" loCatId="list" qsTypeId="urn:microsoft.com/office/officeart/2005/8/quickstyle/simple1" qsCatId="simple" csTypeId="urn:microsoft.com/office/officeart/2005/8/colors/accent0_3" csCatId="mainScheme"/>
      <dgm:spPr/>
      <dgm:t>
        <a:bodyPr/>
        <a:lstStyle/>
        <a:p>
          <a:endParaRPr lang="en-US"/>
        </a:p>
      </dgm:t>
    </dgm:pt>
    <dgm:pt modelId="{27077B25-1C17-4A47-A608-F87E31AA2F9C}">
      <dgm:prSet/>
      <dgm:spPr/>
      <dgm:t>
        <a:bodyPr/>
        <a:lstStyle/>
        <a:p>
          <a:pPr rtl="0"/>
          <a:r>
            <a:rPr lang="en-US" dirty="0"/>
            <a:t>which cash flow to discount, which should indicate</a:t>
          </a:r>
        </a:p>
      </dgm:t>
    </dgm:pt>
    <dgm:pt modelId="{59661623-28E4-4117-8C40-DC4A266B18BB}" type="parTrans" cxnId="{0AF84F83-671A-42BD-829E-6770375C1C54}">
      <dgm:prSet/>
      <dgm:spPr/>
      <dgm:t>
        <a:bodyPr/>
        <a:lstStyle/>
        <a:p>
          <a:endParaRPr lang="en-US"/>
        </a:p>
      </dgm:t>
    </dgm:pt>
    <dgm:pt modelId="{7B4A76E7-19FF-4683-AD41-B9241AC632AE}" type="sibTrans" cxnId="{0AF84F83-671A-42BD-829E-6770375C1C54}">
      <dgm:prSet/>
      <dgm:spPr/>
      <dgm:t>
        <a:bodyPr/>
        <a:lstStyle/>
        <a:p>
          <a:endParaRPr lang="en-US"/>
        </a:p>
      </dgm:t>
    </dgm:pt>
    <dgm:pt modelId="{794C80C5-5340-4911-8A0F-FFC7BF025549}">
      <dgm:prSet/>
      <dgm:spPr/>
      <dgm:t>
        <a:bodyPr/>
        <a:lstStyle/>
        <a:p>
          <a:pPr rtl="0"/>
          <a:r>
            <a:rPr lang="en-US"/>
            <a:t>which discount rate needs to be estimated and </a:t>
          </a:r>
        </a:p>
      </dgm:t>
    </dgm:pt>
    <dgm:pt modelId="{B3FE5C3A-04C7-487E-806F-0994DCD7A4A2}" type="parTrans" cxnId="{A39783CB-5B2C-4145-B3D8-765F5AE2FE78}">
      <dgm:prSet/>
      <dgm:spPr/>
      <dgm:t>
        <a:bodyPr/>
        <a:lstStyle/>
        <a:p>
          <a:endParaRPr lang="en-US"/>
        </a:p>
      </dgm:t>
    </dgm:pt>
    <dgm:pt modelId="{BC2319EA-2127-462A-AFE2-8AF278EBA1F3}" type="sibTrans" cxnId="{A39783CB-5B2C-4145-B3D8-765F5AE2FE78}">
      <dgm:prSet/>
      <dgm:spPr/>
      <dgm:t>
        <a:bodyPr/>
        <a:lstStyle/>
        <a:p>
          <a:endParaRPr lang="en-US"/>
        </a:p>
      </dgm:t>
    </dgm:pt>
    <dgm:pt modelId="{A0F1082D-D742-479B-BF3E-E6311C68E12E}">
      <dgm:prSet/>
      <dgm:spPr/>
      <dgm:t>
        <a:bodyPr/>
        <a:lstStyle/>
        <a:p>
          <a:pPr rtl="0"/>
          <a:r>
            <a:rPr lang="en-GB"/>
            <a:t>How fast are earnings expected to grow</a:t>
          </a:r>
          <a:endParaRPr lang="en-US"/>
        </a:p>
      </dgm:t>
    </dgm:pt>
    <dgm:pt modelId="{9F21D82A-B287-46EE-AAF8-D53B486AD14C}" type="parTrans" cxnId="{74913CE3-3B4D-4134-8521-4757880DE306}">
      <dgm:prSet/>
      <dgm:spPr/>
      <dgm:t>
        <a:bodyPr/>
        <a:lstStyle/>
        <a:p>
          <a:endParaRPr lang="en-US"/>
        </a:p>
      </dgm:t>
    </dgm:pt>
    <dgm:pt modelId="{793EFC56-7685-4D49-A096-CAF9057D4794}" type="sibTrans" cxnId="{74913CE3-3B4D-4134-8521-4757880DE306}">
      <dgm:prSet/>
      <dgm:spPr/>
      <dgm:t>
        <a:bodyPr/>
        <a:lstStyle/>
        <a:p>
          <a:endParaRPr lang="en-US"/>
        </a:p>
      </dgm:t>
    </dgm:pt>
    <dgm:pt modelId="{827A9629-A8DA-419A-BB8E-4B450025B342}">
      <dgm:prSet/>
      <dgm:spPr/>
      <dgm:t>
        <a:bodyPr/>
        <a:lstStyle/>
        <a:p>
          <a:pPr rtl="0"/>
          <a:r>
            <a:rPr lang="en-US"/>
            <a:t>what pattern we will assume growth to follow</a:t>
          </a:r>
        </a:p>
      </dgm:t>
    </dgm:pt>
    <dgm:pt modelId="{CBDB1AE1-F43F-4146-91C9-A296D8C468CD}" type="parTrans" cxnId="{7AD21F97-C82B-4E26-82D9-89FB71FE20C5}">
      <dgm:prSet/>
      <dgm:spPr/>
      <dgm:t>
        <a:bodyPr/>
        <a:lstStyle/>
        <a:p>
          <a:endParaRPr lang="en-US"/>
        </a:p>
      </dgm:t>
    </dgm:pt>
    <dgm:pt modelId="{7D0B6413-7991-489B-9CCB-B33280AB3B95}" type="sibTrans" cxnId="{7AD21F97-C82B-4E26-82D9-89FB71FE20C5}">
      <dgm:prSet/>
      <dgm:spPr/>
      <dgm:t>
        <a:bodyPr/>
        <a:lstStyle/>
        <a:p>
          <a:endParaRPr lang="en-US"/>
        </a:p>
      </dgm:t>
    </dgm:pt>
    <dgm:pt modelId="{861B88B7-1F3C-461F-B886-5FEC1439BD29}" type="pres">
      <dgm:prSet presAssocID="{46BF986F-C4FD-414F-A6F3-0469C0B706A5}" presName="Name0" presStyleCnt="0">
        <dgm:presLayoutVars>
          <dgm:dir/>
          <dgm:resizeHandles val="exact"/>
        </dgm:presLayoutVars>
      </dgm:prSet>
      <dgm:spPr/>
    </dgm:pt>
    <dgm:pt modelId="{8C392E15-7463-4A5C-8C45-57E6F8D595AA}" type="pres">
      <dgm:prSet presAssocID="{27077B25-1C17-4A47-A608-F87E31AA2F9C}" presName="node" presStyleLbl="node1" presStyleIdx="0" presStyleCnt="4">
        <dgm:presLayoutVars>
          <dgm:bulletEnabled val="1"/>
        </dgm:presLayoutVars>
      </dgm:prSet>
      <dgm:spPr/>
    </dgm:pt>
    <dgm:pt modelId="{3C9FB4AE-A14C-4C0F-B27C-BE6E3114F483}" type="pres">
      <dgm:prSet presAssocID="{7B4A76E7-19FF-4683-AD41-B9241AC632AE}" presName="sibTrans" presStyleCnt="0"/>
      <dgm:spPr/>
    </dgm:pt>
    <dgm:pt modelId="{A719AF2E-1144-4922-9181-D7522372C667}" type="pres">
      <dgm:prSet presAssocID="{794C80C5-5340-4911-8A0F-FFC7BF025549}" presName="node" presStyleLbl="node1" presStyleIdx="1" presStyleCnt="4">
        <dgm:presLayoutVars>
          <dgm:bulletEnabled val="1"/>
        </dgm:presLayoutVars>
      </dgm:prSet>
      <dgm:spPr/>
    </dgm:pt>
    <dgm:pt modelId="{576C4BB1-9E51-49ED-B369-A18F873EDA5B}" type="pres">
      <dgm:prSet presAssocID="{BC2319EA-2127-462A-AFE2-8AF278EBA1F3}" presName="sibTrans" presStyleCnt="0"/>
      <dgm:spPr/>
    </dgm:pt>
    <dgm:pt modelId="{5B6B6FC4-7CEB-4DBC-B2C6-9A053B7EFA03}" type="pres">
      <dgm:prSet presAssocID="{A0F1082D-D742-479B-BF3E-E6311C68E12E}" presName="node" presStyleLbl="node1" presStyleIdx="2" presStyleCnt="4">
        <dgm:presLayoutVars>
          <dgm:bulletEnabled val="1"/>
        </dgm:presLayoutVars>
      </dgm:prSet>
      <dgm:spPr/>
    </dgm:pt>
    <dgm:pt modelId="{C721FF41-AE27-464F-B6A4-B9199F7FA57A}" type="pres">
      <dgm:prSet presAssocID="{793EFC56-7685-4D49-A096-CAF9057D4794}" presName="sibTrans" presStyleCnt="0"/>
      <dgm:spPr/>
    </dgm:pt>
    <dgm:pt modelId="{5B672D20-D461-4972-965B-5AA648AF84E1}" type="pres">
      <dgm:prSet presAssocID="{827A9629-A8DA-419A-BB8E-4B450025B342}" presName="node" presStyleLbl="node1" presStyleIdx="3" presStyleCnt="4">
        <dgm:presLayoutVars>
          <dgm:bulletEnabled val="1"/>
        </dgm:presLayoutVars>
      </dgm:prSet>
      <dgm:spPr/>
    </dgm:pt>
  </dgm:ptLst>
  <dgm:cxnLst>
    <dgm:cxn modelId="{2EA7D519-759A-48D4-856D-8F9A36F7153C}" type="presOf" srcId="{27077B25-1C17-4A47-A608-F87E31AA2F9C}" destId="{8C392E15-7463-4A5C-8C45-57E6F8D595AA}" srcOrd="0" destOrd="0" presId="urn:microsoft.com/office/officeart/2005/8/layout/hList6"/>
    <dgm:cxn modelId="{20305D23-2C5A-4378-8BCA-E4B6AFAE1D4C}" type="presOf" srcId="{46BF986F-C4FD-414F-A6F3-0469C0B706A5}" destId="{861B88B7-1F3C-461F-B886-5FEC1439BD29}" srcOrd="0" destOrd="0" presId="urn:microsoft.com/office/officeart/2005/8/layout/hList6"/>
    <dgm:cxn modelId="{5F0BEB46-705B-4D37-AE7D-16CEF7F7C7D2}" type="presOf" srcId="{794C80C5-5340-4911-8A0F-FFC7BF025549}" destId="{A719AF2E-1144-4922-9181-D7522372C667}" srcOrd="0" destOrd="0" presId="urn:microsoft.com/office/officeart/2005/8/layout/hList6"/>
    <dgm:cxn modelId="{0AF84F83-671A-42BD-829E-6770375C1C54}" srcId="{46BF986F-C4FD-414F-A6F3-0469C0B706A5}" destId="{27077B25-1C17-4A47-A608-F87E31AA2F9C}" srcOrd="0" destOrd="0" parTransId="{59661623-28E4-4117-8C40-DC4A266B18BB}" sibTransId="{7B4A76E7-19FF-4683-AD41-B9241AC632AE}"/>
    <dgm:cxn modelId="{7AD21F97-C82B-4E26-82D9-89FB71FE20C5}" srcId="{46BF986F-C4FD-414F-A6F3-0469C0B706A5}" destId="{827A9629-A8DA-419A-BB8E-4B450025B342}" srcOrd="3" destOrd="0" parTransId="{CBDB1AE1-F43F-4146-91C9-A296D8C468CD}" sibTransId="{7D0B6413-7991-489B-9CCB-B33280AB3B95}"/>
    <dgm:cxn modelId="{A39783CB-5B2C-4145-B3D8-765F5AE2FE78}" srcId="{46BF986F-C4FD-414F-A6F3-0469C0B706A5}" destId="{794C80C5-5340-4911-8A0F-FFC7BF025549}" srcOrd="1" destOrd="0" parTransId="{B3FE5C3A-04C7-487E-806F-0994DCD7A4A2}" sibTransId="{BC2319EA-2127-462A-AFE2-8AF278EBA1F3}"/>
    <dgm:cxn modelId="{3FB9CFD0-703C-4ED7-B49C-2757DDB2A474}" type="presOf" srcId="{A0F1082D-D742-479B-BF3E-E6311C68E12E}" destId="{5B6B6FC4-7CEB-4DBC-B2C6-9A053B7EFA03}" srcOrd="0" destOrd="0" presId="urn:microsoft.com/office/officeart/2005/8/layout/hList6"/>
    <dgm:cxn modelId="{74913CE3-3B4D-4134-8521-4757880DE306}" srcId="{46BF986F-C4FD-414F-A6F3-0469C0B706A5}" destId="{A0F1082D-D742-479B-BF3E-E6311C68E12E}" srcOrd="2" destOrd="0" parTransId="{9F21D82A-B287-46EE-AAF8-D53B486AD14C}" sibTransId="{793EFC56-7685-4D49-A096-CAF9057D4794}"/>
    <dgm:cxn modelId="{6009B5FC-9921-41EF-8EC3-DDA733BB89A6}" type="presOf" srcId="{827A9629-A8DA-419A-BB8E-4B450025B342}" destId="{5B672D20-D461-4972-965B-5AA648AF84E1}" srcOrd="0" destOrd="0" presId="urn:microsoft.com/office/officeart/2005/8/layout/hList6"/>
    <dgm:cxn modelId="{B96C88A4-CC11-4A04-B359-2321017255FE}" type="presParOf" srcId="{861B88B7-1F3C-461F-B886-5FEC1439BD29}" destId="{8C392E15-7463-4A5C-8C45-57E6F8D595AA}" srcOrd="0" destOrd="0" presId="urn:microsoft.com/office/officeart/2005/8/layout/hList6"/>
    <dgm:cxn modelId="{41567974-BF81-4E2C-ABB9-040002A24229}" type="presParOf" srcId="{861B88B7-1F3C-461F-B886-5FEC1439BD29}" destId="{3C9FB4AE-A14C-4C0F-B27C-BE6E3114F483}" srcOrd="1" destOrd="0" presId="urn:microsoft.com/office/officeart/2005/8/layout/hList6"/>
    <dgm:cxn modelId="{FECBD8FE-AE9A-432F-A012-0B53C2EA2ADE}" type="presParOf" srcId="{861B88B7-1F3C-461F-B886-5FEC1439BD29}" destId="{A719AF2E-1144-4922-9181-D7522372C667}" srcOrd="2" destOrd="0" presId="urn:microsoft.com/office/officeart/2005/8/layout/hList6"/>
    <dgm:cxn modelId="{B5C45354-FCA0-4EC5-9EB0-E8231716F89E}" type="presParOf" srcId="{861B88B7-1F3C-461F-B886-5FEC1439BD29}" destId="{576C4BB1-9E51-49ED-B369-A18F873EDA5B}" srcOrd="3" destOrd="0" presId="urn:microsoft.com/office/officeart/2005/8/layout/hList6"/>
    <dgm:cxn modelId="{703C90C9-93E4-4BB2-B936-257D3E8FAF14}" type="presParOf" srcId="{861B88B7-1F3C-461F-B886-5FEC1439BD29}" destId="{5B6B6FC4-7CEB-4DBC-B2C6-9A053B7EFA03}" srcOrd="4" destOrd="0" presId="urn:microsoft.com/office/officeart/2005/8/layout/hList6"/>
    <dgm:cxn modelId="{F05DA18B-6F0A-4D4D-8AD2-2426DB43C520}" type="presParOf" srcId="{861B88B7-1F3C-461F-B886-5FEC1439BD29}" destId="{C721FF41-AE27-464F-B6A4-B9199F7FA57A}" srcOrd="5" destOrd="0" presId="urn:microsoft.com/office/officeart/2005/8/layout/hList6"/>
    <dgm:cxn modelId="{587B070C-3ED8-483A-84AC-C7B9F05AC0BD}" type="presParOf" srcId="{861B88B7-1F3C-461F-B886-5FEC1439BD29}" destId="{5B672D20-D461-4972-965B-5AA648AF84E1}" srcOrd="6"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3A2A9B-1E53-4623-AB38-4272AA003822}"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5C3B0EBC-828A-4656-BDB3-DCD9BC1F468F}">
      <dgm:prSet/>
      <dgm:spPr/>
      <dgm:t>
        <a:bodyPr/>
        <a:lstStyle/>
        <a:p>
          <a:pPr rtl="0"/>
          <a:r>
            <a:rPr lang="en-US"/>
            <a:t>Use Equity Valuation </a:t>
          </a:r>
        </a:p>
      </dgm:t>
    </dgm:pt>
    <dgm:pt modelId="{05916DE1-A0FB-4B5D-9E02-E0C6748632E0}" type="parTrans" cxnId="{F87F230D-3297-4B7D-AECA-DE86999B41A8}">
      <dgm:prSet/>
      <dgm:spPr/>
      <dgm:t>
        <a:bodyPr/>
        <a:lstStyle/>
        <a:p>
          <a:endParaRPr lang="en-US"/>
        </a:p>
      </dgm:t>
    </dgm:pt>
    <dgm:pt modelId="{5225EA37-7DE6-40CF-998C-937290E7B233}" type="sibTrans" cxnId="{F87F230D-3297-4B7D-AECA-DE86999B41A8}">
      <dgm:prSet/>
      <dgm:spPr/>
      <dgm:t>
        <a:bodyPr/>
        <a:lstStyle/>
        <a:p>
          <a:endParaRPr lang="en-US"/>
        </a:p>
      </dgm:t>
    </dgm:pt>
    <dgm:pt modelId="{682C000C-9259-4C1C-B05C-2FB672DF326E}">
      <dgm:prSet/>
      <dgm:spPr/>
      <dgm:t>
        <a:bodyPr/>
        <a:lstStyle/>
        <a:p>
          <a:pPr rtl="0"/>
          <a:r>
            <a:rPr lang="en-US"/>
            <a:t>(a) for firms which have </a:t>
          </a:r>
          <a:r>
            <a:rPr lang="en-US" u="sng"/>
            <a:t>stable leverage</a:t>
          </a:r>
          <a:r>
            <a:rPr lang="en-US"/>
            <a:t>, whether high or not, and</a:t>
          </a:r>
        </a:p>
      </dgm:t>
    </dgm:pt>
    <dgm:pt modelId="{8E499392-ED8F-472B-87D9-3D922A45CB45}" type="parTrans" cxnId="{D122F203-F999-4E8C-98D4-52D3CD429F58}">
      <dgm:prSet/>
      <dgm:spPr/>
      <dgm:t>
        <a:bodyPr/>
        <a:lstStyle/>
        <a:p>
          <a:endParaRPr lang="en-US"/>
        </a:p>
      </dgm:t>
    </dgm:pt>
    <dgm:pt modelId="{B0BB780E-1964-40DC-AA6B-C7349682F5E8}" type="sibTrans" cxnId="{D122F203-F999-4E8C-98D4-52D3CD429F58}">
      <dgm:prSet/>
      <dgm:spPr/>
      <dgm:t>
        <a:bodyPr/>
        <a:lstStyle/>
        <a:p>
          <a:endParaRPr lang="en-US"/>
        </a:p>
      </dgm:t>
    </dgm:pt>
    <dgm:pt modelId="{55293313-EA09-43C8-80CA-15E56F2718DC}">
      <dgm:prSet/>
      <dgm:spPr/>
      <dgm:t>
        <a:bodyPr/>
        <a:lstStyle/>
        <a:p>
          <a:pPr rtl="0"/>
          <a:r>
            <a:rPr lang="en-US"/>
            <a:t>(b) if equity (stock) is being valued</a:t>
          </a:r>
          <a:endParaRPr lang="en-US" dirty="0"/>
        </a:p>
      </dgm:t>
    </dgm:pt>
    <dgm:pt modelId="{1A330D32-318D-4777-9B95-C54493404177}" type="parTrans" cxnId="{F2C4E5FA-3F7F-4BDF-A13C-C3834920A291}">
      <dgm:prSet/>
      <dgm:spPr/>
      <dgm:t>
        <a:bodyPr/>
        <a:lstStyle/>
        <a:p>
          <a:endParaRPr lang="en-US"/>
        </a:p>
      </dgm:t>
    </dgm:pt>
    <dgm:pt modelId="{FCDE34BB-A4BC-48F1-A072-18FA323E05BF}" type="sibTrans" cxnId="{F2C4E5FA-3F7F-4BDF-A13C-C3834920A291}">
      <dgm:prSet/>
      <dgm:spPr/>
      <dgm:t>
        <a:bodyPr/>
        <a:lstStyle/>
        <a:p>
          <a:endParaRPr lang="en-US"/>
        </a:p>
      </dgm:t>
    </dgm:pt>
    <dgm:pt modelId="{81BA6421-819E-4AE6-B963-0DE76E4E3669}">
      <dgm:prSet/>
      <dgm:spPr/>
      <dgm:t>
        <a:bodyPr/>
        <a:lstStyle/>
        <a:p>
          <a:pPr rtl="0"/>
          <a:r>
            <a:rPr lang="en-US"/>
            <a:t>Use Firm Valuation</a:t>
          </a:r>
        </a:p>
      </dgm:t>
    </dgm:pt>
    <dgm:pt modelId="{826AE91D-3F5F-45DC-9C99-7A504BA3772B}" type="parTrans" cxnId="{2FACAD3E-D3C1-4640-BFBD-40530FBC67DA}">
      <dgm:prSet/>
      <dgm:spPr/>
      <dgm:t>
        <a:bodyPr/>
        <a:lstStyle/>
        <a:p>
          <a:endParaRPr lang="en-US"/>
        </a:p>
      </dgm:t>
    </dgm:pt>
    <dgm:pt modelId="{6B1C9800-EDC8-4A87-AD4B-59D8FE8AD85F}" type="sibTrans" cxnId="{2FACAD3E-D3C1-4640-BFBD-40530FBC67DA}">
      <dgm:prSet/>
      <dgm:spPr/>
      <dgm:t>
        <a:bodyPr/>
        <a:lstStyle/>
        <a:p>
          <a:endParaRPr lang="en-US"/>
        </a:p>
      </dgm:t>
    </dgm:pt>
    <dgm:pt modelId="{116A2017-197B-400E-A9BE-FFDF4D224560}">
      <dgm:prSet/>
      <dgm:spPr/>
      <dgm:t>
        <a:bodyPr/>
        <a:lstStyle/>
        <a:p>
          <a:pPr rtl="0"/>
          <a:r>
            <a:rPr lang="en-US"/>
            <a:t>(a) for firms which have </a:t>
          </a:r>
          <a:r>
            <a:rPr lang="en-US" u="sng"/>
            <a:t>leverage which is too high or too low</a:t>
          </a:r>
          <a:r>
            <a:rPr lang="en-US"/>
            <a:t>, and expect to change the leverage over time, because debt payments and issues do not have to be factored in the cash flows and the discount rate (cost of capital) does not change dramatically over time.</a:t>
          </a:r>
        </a:p>
      </dgm:t>
    </dgm:pt>
    <dgm:pt modelId="{22739084-93A2-44A3-8C65-8D2D50E6AD14}" type="parTrans" cxnId="{4E1708BD-8AE0-4940-8F41-C3D4AE53572A}">
      <dgm:prSet/>
      <dgm:spPr/>
      <dgm:t>
        <a:bodyPr/>
        <a:lstStyle/>
        <a:p>
          <a:endParaRPr lang="en-US"/>
        </a:p>
      </dgm:t>
    </dgm:pt>
    <dgm:pt modelId="{C74A730C-6A87-4CBB-AAE5-97764812448F}" type="sibTrans" cxnId="{4E1708BD-8AE0-4940-8F41-C3D4AE53572A}">
      <dgm:prSet/>
      <dgm:spPr/>
      <dgm:t>
        <a:bodyPr/>
        <a:lstStyle/>
        <a:p>
          <a:endParaRPr lang="en-US"/>
        </a:p>
      </dgm:t>
    </dgm:pt>
    <dgm:pt modelId="{E6E7AE9E-60FD-4630-9F74-571E1573ED64}">
      <dgm:prSet/>
      <dgm:spPr/>
      <dgm:t>
        <a:bodyPr/>
        <a:lstStyle/>
        <a:p>
          <a:pPr rtl="0"/>
          <a:r>
            <a:rPr lang="en-US"/>
            <a:t>(b) for firms for which you have  </a:t>
          </a:r>
          <a:r>
            <a:rPr lang="en-US" u="sng"/>
            <a:t>partial information on leverage </a:t>
          </a:r>
          <a:r>
            <a:rPr lang="en-US"/>
            <a:t>(eg: interest expenses are missing..)</a:t>
          </a:r>
        </a:p>
      </dgm:t>
    </dgm:pt>
    <dgm:pt modelId="{289CE88F-1231-4C28-9665-A77047C33645}" type="parTrans" cxnId="{0A7C7488-D112-455F-B991-DEBBE4CCFA94}">
      <dgm:prSet/>
      <dgm:spPr/>
      <dgm:t>
        <a:bodyPr/>
        <a:lstStyle/>
        <a:p>
          <a:endParaRPr lang="en-US"/>
        </a:p>
      </dgm:t>
    </dgm:pt>
    <dgm:pt modelId="{04D9415F-95D4-404A-A76F-540D8E4BFC28}" type="sibTrans" cxnId="{0A7C7488-D112-455F-B991-DEBBE4CCFA94}">
      <dgm:prSet/>
      <dgm:spPr/>
      <dgm:t>
        <a:bodyPr/>
        <a:lstStyle/>
        <a:p>
          <a:endParaRPr lang="en-US"/>
        </a:p>
      </dgm:t>
    </dgm:pt>
    <dgm:pt modelId="{62A05CE0-B434-4402-A904-AF71C945BB96}">
      <dgm:prSet/>
      <dgm:spPr/>
      <dgm:t>
        <a:bodyPr/>
        <a:lstStyle/>
        <a:p>
          <a:pPr rtl="0"/>
          <a:r>
            <a:rPr lang="en-US"/>
            <a:t>(c) in all other cases, where you are more interested in </a:t>
          </a:r>
          <a:r>
            <a:rPr lang="en-US" u="sng"/>
            <a:t>valuing the firm </a:t>
          </a:r>
          <a:r>
            <a:rPr lang="en-US"/>
            <a:t>than the equity. (Value Consulting?)</a:t>
          </a:r>
        </a:p>
      </dgm:t>
    </dgm:pt>
    <dgm:pt modelId="{E3EC579D-50BF-43E5-9A0C-E10DF8BD9512}" type="parTrans" cxnId="{D02A88B9-22AB-4FD4-89F8-0F3216FBEDBB}">
      <dgm:prSet/>
      <dgm:spPr/>
      <dgm:t>
        <a:bodyPr/>
        <a:lstStyle/>
        <a:p>
          <a:endParaRPr lang="en-US"/>
        </a:p>
      </dgm:t>
    </dgm:pt>
    <dgm:pt modelId="{CA987971-46C4-43B8-906A-894ED71D90E7}" type="sibTrans" cxnId="{D02A88B9-22AB-4FD4-89F8-0F3216FBEDBB}">
      <dgm:prSet/>
      <dgm:spPr/>
      <dgm:t>
        <a:bodyPr/>
        <a:lstStyle/>
        <a:p>
          <a:endParaRPr lang="en-US"/>
        </a:p>
      </dgm:t>
    </dgm:pt>
    <dgm:pt modelId="{92E6899C-0DA5-423A-9BA9-0F977F562217}" type="pres">
      <dgm:prSet presAssocID="{773A2A9B-1E53-4623-AB38-4272AA003822}" presName="linear" presStyleCnt="0">
        <dgm:presLayoutVars>
          <dgm:animLvl val="lvl"/>
          <dgm:resizeHandles val="exact"/>
        </dgm:presLayoutVars>
      </dgm:prSet>
      <dgm:spPr/>
    </dgm:pt>
    <dgm:pt modelId="{73F5BE4F-CEB5-48C3-A026-06F0777613A4}" type="pres">
      <dgm:prSet presAssocID="{5C3B0EBC-828A-4656-BDB3-DCD9BC1F468F}" presName="parentText" presStyleLbl="node1" presStyleIdx="0" presStyleCnt="2">
        <dgm:presLayoutVars>
          <dgm:chMax val="0"/>
          <dgm:bulletEnabled val="1"/>
        </dgm:presLayoutVars>
      </dgm:prSet>
      <dgm:spPr/>
    </dgm:pt>
    <dgm:pt modelId="{04FA76E2-248A-423D-83DE-CB8024D9AA3B}" type="pres">
      <dgm:prSet presAssocID="{5C3B0EBC-828A-4656-BDB3-DCD9BC1F468F}" presName="childText" presStyleLbl="revTx" presStyleIdx="0" presStyleCnt="2">
        <dgm:presLayoutVars>
          <dgm:bulletEnabled val="1"/>
        </dgm:presLayoutVars>
      </dgm:prSet>
      <dgm:spPr/>
    </dgm:pt>
    <dgm:pt modelId="{8689022E-AC29-4B6E-9A28-37FC6528189B}" type="pres">
      <dgm:prSet presAssocID="{81BA6421-819E-4AE6-B963-0DE76E4E3669}" presName="parentText" presStyleLbl="node1" presStyleIdx="1" presStyleCnt="2">
        <dgm:presLayoutVars>
          <dgm:chMax val="0"/>
          <dgm:bulletEnabled val="1"/>
        </dgm:presLayoutVars>
      </dgm:prSet>
      <dgm:spPr/>
    </dgm:pt>
    <dgm:pt modelId="{04D9D34F-CEEA-411B-BB45-4BD661DECBCA}" type="pres">
      <dgm:prSet presAssocID="{81BA6421-819E-4AE6-B963-0DE76E4E3669}" presName="childText" presStyleLbl="revTx" presStyleIdx="1" presStyleCnt="2">
        <dgm:presLayoutVars>
          <dgm:bulletEnabled val="1"/>
        </dgm:presLayoutVars>
      </dgm:prSet>
      <dgm:spPr/>
    </dgm:pt>
  </dgm:ptLst>
  <dgm:cxnLst>
    <dgm:cxn modelId="{D122F203-F999-4E8C-98D4-52D3CD429F58}" srcId="{5C3B0EBC-828A-4656-BDB3-DCD9BC1F468F}" destId="{682C000C-9259-4C1C-B05C-2FB672DF326E}" srcOrd="0" destOrd="0" parTransId="{8E499392-ED8F-472B-87D9-3D922A45CB45}" sibTransId="{B0BB780E-1964-40DC-AA6B-C7349682F5E8}"/>
    <dgm:cxn modelId="{F87F230D-3297-4B7D-AECA-DE86999B41A8}" srcId="{773A2A9B-1E53-4623-AB38-4272AA003822}" destId="{5C3B0EBC-828A-4656-BDB3-DCD9BC1F468F}" srcOrd="0" destOrd="0" parTransId="{05916DE1-A0FB-4B5D-9E02-E0C6748632E0}" sibTransId="{5225EA37-7DE6-40CF-998C-937290E7B233}"/>
    <dgm:cxn modelId="{E8626511-C4AC-4791-905A-F901A944F424}" type="presOf" srcId="{81BA6421-819E-4AE6-B963-0DE76E4E3669}" destId="{8689022E-AC29-4B6E-9A28-37FC6528189B}" srcOrd="0" destOrd="0" presId="urn:microsoft.com/office/officeart/2005/8/layout/vList2"/>
    <dgm:cxn modelId="{AFDBCF24-BFEC-4203-8505-BF2E61AD37FE}" type="presOf" srcId="{5C3B0EBC-828A-4656-BDB3-DCD9BC1F468F}" destId="{73F5BE4F-CEB5-48C3-A026-06F0777613A4}" srcOrd="0" destOrd="0" presId="urn:microsoft.com/office/officeart/2005/8/layout/vList2"/>
    <dgm:cxn modelId="{47EF1726-ABF7-4107-9245-B6014FD9F599}" type="presOf" srcId="{116A2017-197B-400E-A9BE-FFDF4D224560}" destId="{04D9D34F-CEEA-411B-BB45-4BD661DECBCA}" srcOrd="0" destOrd="0" presId="urn:microsoft.com/office/officeart/2005/8/layout/vList2"/>
    <dgm:cxn modelId="{2FACAD3E-D3C1-4640-BFBD-40530FBC67DA}" srcId="{773A2A9B-1E53-4623-AB38-4272AA003822}" destId="{81BA6421-819E-4AE6-B963-0DE76E4E3669}" srcOrd="1" destOrd="0" parTransId="{826AE91D-3F5F-45DC-9C99-7A504BA3772B}" sibTransId="{6B1C9800-EDC8-4A87-AD4B-59D8FE8AD85F}"/>
    <dgm:cxn modelId="{8ABC5548-DD3C-4CB9-8294-B97400884747}" type="presOf" srcId="{773A2A9B-1E53-4623-AB38-4272AA003822}" destId="{92E6899C-0DA5-423A-9BA9-0F977F562217}" srcOrd="0" destOrd="0" presId="urn:microsoft.com/office/officeart/2005/8/layout/vList2"/>
    <dgm:cxn modelId="{0A7C7488-D112-455F-B991-DEBBE4CCFA94}" srcId="{81BA6421-819E-4AE6-B963-0DE76E4E3669}" destId="{E6E7AE9E-60FD-4630-9F74-571E1573ED64}" srcOrd="1" destOrd="0" parTransId="{289CE88F-1231-4C28-9665-A77047C33645}" sibTransId="{04D9415F-95D4-404A-A76F-540D8E4BFC28}"/>
    <dgm:cxn modelId="{DEEE31AE-191F-47B4-A444-8AA50F276580}" type="presOf" srcId="{682C000C-9259-4C1C-B05C-2FB672DF326E}" destId="{04FA76E2-248A-423D-83DE-CB8024D9AA3B}" srcOrd="0" destOrd="0" presId="urn:microsoft.com/office/officeart/2005/8/layout/vList2"/>
    <dgm:cxn modelId="{D02A88B9-22AB-4FD4-89F8-0F3216FBEDBB}" srcId="{81BA6421-819E-4AE6-B963-0DE76E4E3669}" destId="{62A05CE0-B434-4402-A904-AF71C945BB96}" srcOrd="2" destOrd="0" parTransId="{E3EC579D-50BF-43E5-9A0C-E10DF8BD9512}" sibTransId="{CA987971-46C4-43B8-906A-894ED71D90E7}"/>
    <dgm:cxn modelId="{4E1708BD-8AE0-4940-8F41-C3D4AE53572A}" srcId="{81BA6421-819E-4AE6-B963-0DE76E4E3669}" destId="{116A2017-197B-400E-A9BE-FFDF4D224560}" srcOrd="0" destOrd="0" parTransId="{22739084-93A2-44A3-8C65-8D2D50E6AD14}" sibTransId="{C74A730C-6A87-4CBB-AAE5-97764812448F}"/>
    <dgm:cxn modelId="{3B9B6CC1-3EEA-41FA-AFAA-CE7DE5DAF16D}" type="presOf" srcId="{55293313-EA09-43C8-80CA-15E56F2718DC}" destId="{04FA76E2-248A-423D-83DE-CB8024D9AA3B}" srcOrd="0" destOrd="1" presId="urn:microsoft.com/office/officeart/2005/8/layout/vList2"/>
    <dgm:cxn modelId="{27620FDA-329E-4DBF-8623-D56999566ECA}" type="presOf" srcId="{62A05CE0-B434-4402-A904-AF71C945BB96}" destId="{04D9D34F-CEEA-411B-BB45-4BD661DECBCA}" srcOrd="0" destOrd="2" presId="urn:microsoft.com/office/officeart/2005/8/layout/vList2"/>
    <dgm:cxn modelId="{18F006F8-DEBF-4111-B18E-3174108DD5C5}" type="presOf" srcId="{E6E7AE9E-60FD-4630-9F74-571E1573ED64}" destId="{04D9D34F-CEEA-411B-BB45-4BD661DECBCA}" srcOrd="0" destOrd="1" presId="urn:microsoft.com/office/officeart/2005/8/layout/vList2"/>
    <dgm:cxn modelId="{F2C4E5FA-3F7F-4BDF-A13C-C3834920A291}" srcId="{5C3B0EBC-828A-4656-BDB3-DCD9BC1F468F}" destId="{55293313-EA09-43C8-80CA-15E56F2718DC}" srcOrd="1" destOrd="0" parTransId="{1A330D32-318D-4777-9B95-C54493404177}" sibTransId="{FCDE34BB-A4BC-48F1-A072-18FA323E05BF}"/>
    <dgm:cxn modelId="{5A80C7D2-FF1E-4AF6-9EB6-DBC6ABDF126E}" type="presParOf" srcId="{92E6899C-0DA5-423A-9BA9-0F977F562217}" destId="{73F5BE4F-CEB5-48C3-A026-06F0777613A4}" srcOrd="0" destOrd="0" presId="urn:microsoft.com/office/officeart/2005/8/layout/vList2"/>
    <dgm:cxn modelId="{F2B31D24-9036-4842-8A52-95F4157F8282}" type="presParOf" srcId="{92E6899C-0DA5-423A-9BA9-0F977F562217}" destId="{04FA76E2-248A-423D-83DE-CB8024D9AA3B}" srcOrd="1" destOrd="0" presId="urn:microsoft.com/office/officeart/2005/8/layout/vList2"/>
    <dgm:cxn modelId="{7ECAC786-32AC-4913-B406-0C749C7F5778}" type="presParOf" srcId="{92E6899C-0DA5-423A-9BA9-0F977F562217}" destId="{8689022E-AC29-4B6E-9A28-37FC6528189B}" srcOrd="2" destOrd="0" presId="urn:microsoft.com/office/officeart/2005/8/layout/vList2"/>
    <dgm:cxn modelId="{E15FD318-AE27-4215-B2CF-0E538EA69A37}" type="presParOf" srcId="{92E6899C-0DA5-423A-9BA9-0F977F562217}" destId="{04D9D34F-CEEA-411B-BB45-4BD661DECBCA}"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CF0BEC2-1091-4502-855D-F93733B39714}"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78817A10-4084-4EE9-A038-70ABE4C3B7D7}">
      <dgm:prSet/>
      <dgm:spPr/>
      <dgm:t>
        <a:bodyPr/>
        <a:lstStyle/>
        <a:p>
          <a:pPr rtl="0"/>
          <a:r>
            <a:rPr lang="en-US"/>
            <a:t>Use the Dividend Discount Model</a:t>
          </a:r>
        </a:p>
      </dgm:t>
    </dgm:pt>
    <dgm:pt modelId="{5CC1FD6B-91E4-4D42-A01F-70016E7F1605}" type="parTrans" cxnId="{E9734A13-52AB-4836-BCAA-6CFA5B1FE908}">
      <dgm:prSet/>
      <dgm:spPr/>
      <dgm:t>
        <a:bodyPr/>
        <a:lstStyle/>
        <a:p>
          <a:endParaRPr lang="en-US"/>
        </a:p>
      </dgm:t>
    </dgm:pt>
    <dgm:pt modelId="{822C8704-12CC-492A-BDE5-5D62E5CB5BDE}" type="sibTrans" cxnId="{E9734A13-52AB-4836-BCAA-6CFA5B1FE908}">
      <dgm:prSet/>
      <dgm:spPr/>
      <dgm:t>
        <a:bodyPr/>
        <a:lstStyle/>
        <a:p>
          <a:endParaRPr lang="en-US"/>
        </a:p>
      </dgm:t>
    </dgm:pt>
    <dgm:pt modelId="{C328F03C-49FD-4163-BCB0-87E3183D67A3}">
      <dgm:prSet/>
      <dgm:spPr/>
      <dgm:t>
        <a:bodyPr/>
        <a:lstStyle/>
        <a:p>
          <a:pPr rtl="0"/>
          <a:r>
            <a:rPr lang="en-US"/>
            <a:t>(a) For firms which pay dividends (and repurchase stock) which are close to the Free Cash Flow to Equity (over a extended period)</a:t>
          </a:r>
        </a:p>
      </dgm:t>
    </dgm:pt>
    <dgm:pt modelId="{3B13A662-D87B-42BD-B5E0-42ACBB295A04}" type="parTrans" cxnId="{C1AEF774-F570-43DE-A57F-E222E99AFE24}">
      <dgm:prSet/>
      <dgm:spPr/>
      <dgm:t>
        <a:bodyPr/>
        <a:lstStyle/>
        <a:p>
          <a:endParaRPr lang="en-US"/>
        </a:p>
      </dgm:t>
    </dgm:pt>
    <dgm:pt modelId="{95573711-4444-4611-AE00-1A5F842A0BB6}" type="sibTrans" cxnId="{C1AEF774-F570-43DE-A57F-E222E99AFE24}">
      <dgm:prSet/>
      <dgm:spPr/>
      <dgm:t>
        <a:bodyPr/>
        <a:lstStyle/>
        <a:p>
          <a:endParaRPr lang="en-US"/>
        </a:p>
      </dgm:t>
    </dgm:pt>
    <dgm:pt modelId="{B422B20C-216C-48B1-9F2F-AFD230C86D73}">
      <dgm:prSet/>
      <dgm:spPr/>
      <dgm:t>
        <a:bodyPr/>
        <a:lstStyle/>
        <a:p>
          <a:pPr rtl="0"/>
          <a:r>
            <a:rPr lang="en-US"/>
            <a:t>(b)For firms where FCFE are difficult to estimate (Example: Banks and Financial Service companies)</a:t>
          </a:r>
        </a:p>
      </dgm:t>
    </dgm:pt>
    <dgm:pt modelId="{B6BBDB18-B2CC-49C8-ACE8-40D152A51A3E}" type="parTrans" cxnId="{42DF6B02-28D7-4E54-A46E-E7E2F704984C}">
      <dgm:prSet/>
      <dgm:spPr/>
      <dgm:t>
        <a:bodyPr/>
        <a:lstStyle/>
        <a:p>
          <a:endParaRPr lang="en-US"/>
        </a:p>
      </dgm:t>
    </dgm:pt>
    <dgm:pt modelId="{E3A51BE1-CA95-4069-B804-41AC48130F77}" type="sibTrans" cxnId="{42DF6B02-28D7-4E54-A46E-E7E2F704984C}">
      <dgm:prSet/>
      <dgm:spPr/>
      <dgm:t>
        <a:bodyPr/>
        <a:lstStyle/>
        <a:p>
          <a:endParaRPr lang="en-US"/>
        </a:p>
      </dgm:t>
    </dgm:pt>
    <dgm:pt modelId="{D0BA16A0-223D-43ED-8565-9248D4D336A8}">
      <dgm:prSet/>
      <dgm:spPr/>
      <dgm:t>
        <a:bodyPr/>
        <a:lstStyle/>
        <a:p>
          <a:pPr rtl="0"/>
          <a:r>
            <a:rPr lang="en-US"/>
            <a:t>Use the FCFE Model</a:t>
          </a:r>
        </a:p>
      </dgm:t>
    </dgm:pt>
    <dgm:pt modelId="{C9D684EC-A632-42EC-9DB1-6200B1C2FC34}" type="parTrans" cxnId="{4D7A3033-D09A-4E93-B0A2-2E3B1099DB14}">
      <dgm:prSet/>
      <dgm:spPr/>
      <dgm:t>
        <a:bodyPr/>
        <a:lstStyle/>
        <a:p>
          <a:endParaRPr lang="en-US"/>
        </a:p>
      </dgm:t>
    </dgm:pt>
    <dgm:pt modelId="{C65775F4-3C4E-442E-BE44-53E26C628093}" type="sibTrans" cxnId="{4D7A3033-D09A-4E93-B0A2-2E3B1099DB14}">
      <dgm:prSet/>
      <dgm:spPr/>
      <dgm:t>
        <a:bodyPr/>
        <a:lstStyle/>
        <a:p>
          <a:endParaRPr lang="en-US"/>
        </a:p>
      </dgm:t>
    </dgm:pt>
    <dgm:pt modelId="{7687578A-04CB-4AAB-A7DB-893D82EF01FF}">
      <dgm:prSet/>
      <dgm:spPr/>
      <dgm:t>
        <a:bodyPr/>
        <a:lstStyle/>
        <a:p>
          <a:pPr rtl="0"/>
          <a:r>
            <a:rPr lang="en-US"/>
            <a:t>(a) For  firms which pay dividends which are significantly higher or lower than the Free Cash Flow to Equity. (What is significant? ... As a rule of thumb, if dividends are less than 80% of FCFE or dividends are greater than 110% of  FCFE over a 5-year period, use the FCFE model)</a:t>
          </a:r>
        </a:p>
      </dgm:t>
    </dgm:pt>
    <dgm:pt modelId="{4508DF6C-6E8F-4D10-85B5-7DEDD9C7606E}" type="parTrans" cxnId="{C5B9D8A9-910D-40D4-9EF0-92A5A7B79FDE}">
      <dgm:prSet/>
      <dgm:spPr/>
      <dgm:t>
        <a:bodyPr/>
        <a:lstStyle/>
        <a:p>
          <a:endParaRPr lang="en-US"/>
        </a:p>
      </dgm:t>
    </dgm:pt>
    <dgm:pt modelId="{52978585-2EF9-4D07-A32F-5C401D08C1E9}" type="sibTrans" cxnId="{C5B9D8A9-910D-40D4-9EF0-92A5A7B79FDE}">
      <dgm:prSet/>
      <dgm:spPr/>
      <dgm:t>
        <a:bodyPr/>
        <a:lstStyle/>
        <a:p>
          <a:endParaRPr lang="en-US"/>
        </a:p>
      </dgm:t>
    </dgm:pt>
    <dgm:pt modelId="{AF6F0B5B-D105-4083-8460-CA96160D5B32}">
      <dgm:prSet/>
      <dgm:spPr/>
      <dgm:t>
        <a:bodyPr/>
        <a:lstStyle/>
        <a:p>
          <a:pPr rtl="0"/>
          <a:r>
            <a:rPr lang="en-US"/>
            <a:t>(b) For firms where dividends are not available (Example: Private Companies, IPOs)</a:t>
          </a:r>
        </a:p>
      </dgm:t>
    </dgm:pt>
    <dgm:pt modelId="{022DE963-16FC-462C-9B94-B5FA9EED5FF7}" type="parTrans" cxnId="{0C0C58F6-2652-4F05-8792-1A43F6634F3F}">
      <dgm:prSet/>
      <dgm:spPr/>
      <dgm:t>
        <a:bodyPr/>
        <a:lstStyle/>
        <a:p>
          <a:endParaRPr lang="en-US"/>
        </a:p>
      </dgm:t>
    </dgm:pt>
    <dgm:pt modelId="{E40F70A5-E6F8-47FE-A747-48B82566DBB9}" type="sibTrans" cxnId="{0C0C58F6-2652-4F05-8792-1A43F6634F3F}">
      <dgm:prSet/>
      <dgm:spPr/>
      <dgm:t>
        <a:bodyPr/>
        <a:lstStyle/>
        <a:p>
          <a:endParaRPr lang="en-US"/>
        </a:p>
      </dgm:t>
    </dgm:pt>
    <dgm:pt modelId="{ABDF1445-4200-4FA6-8241-EA43909C07CD}" type="pres">
      <dgm:prSet presAssocID="{4CF0BEC2-1091-4502-855D-F93733B39714}" presName="linear" presStyleCnt="0">
        <dgm:presLayoutVars>
          <dgm:animLvl val="lvl"/>
          <dgm:resizeHandles val="exact"/>
        </dgm:presLayoutVars>
      </dgm:prSet>
      <dgm:spPr/>
    </dgm:pt>
    <dgm:pt modelId="{20ABAE98-1814-4D30-A082-651A1A4A1640}" type="pres">
      <dgm:prSet presAssocID="{78817A10-4084-4EE9-A038-70ABE4C3B7D7}" presName="parentText" presStyleLbl="node1" presStyleIdx="0" presStyleCnt="2">
        <dgm:presLayoutVars>
          <dgm:chMax val="0"/>
          <dgm:bulletEnabled val="1"/>
        </dgm:presLayoutVars>
      </dgm:prSet>
      <dgm:spPr/>
    </dgm:pt>
    <dgm:pt modelId="{F2872337-0DEB-424A-A71F-58824C7BC0EE}" type="pres">
      <dgm:prSet presAssocID="{78817A10-4084-4EE9-A038-70ABE4C3B7D7}" presName="childText" presStyleLbl="revTx" presStyleIdx="0" presStyleCnt="2">
        <dgm:presLayoutVars>
          <dgm:bulletEnabled val="1"/>
        </dgm:presLayoutVars>
      </dgm:prSet>
      <dgm:spPr/>
    </dgm:pt>
    <dgm:pt modelId="{EAA2C43A-94D8-4FA2-8E0F-C4174E67395C}" type="pres">
      <dgm:prSet presAssocID="{D0BA16A0-223D-43ED-8565-9248D4D336A8}" presName="parentText" presStyleLbl="node1" presStyleIdx="1" presStyleCnt="2">
        <dgm:presLayoutVars>
          <dgm:chMax val="0"/>
          <dgm:bulletEnabled val="1"/>
        </dgm:presLayoutVars>
      </dgm:prSet>
      <dgm:spPr/>
    </dgm:pt>
    <dgm:pt modelId="{CDD88DC4-8119-4876-A781-79505B90E272}" type="pres">
      <dgm:prSet presAssocID="{D0BA16A0-223D-43ED-8565-9248D4D336A8}" presName="childText" presStyleLbl="revTx" presStyleIdx="1" presStyleCnt="2">
        <dgm:presLayoutVars>
          <dgm:bulletEnabled val="1"/>
        </dgm:presLayoutVars>
      </dgm:prSet>
      <dgm:spPr/>
    </dgm:pt>
  </dgm:ptLst>
  <dgm:cxnLst>
    <dgm:cxn modelId="{42DF6B02-28D7-4E54-A46E-E7E2F704984C}" srcId="{78817A10-4084-4EE9-A038-70ABE4C3B7D7}" destId="{B422B20C-216C-48B1-9F2F-AFD230C86D73}" srcOrd="1" destOrd="0" parTransId="{B6BBDB18-B2CC-49C8-ACE8-40D152A51A3E}" sibTransId="{E3A51BE1-CA95-4069-B804-41AC48130F77}"/>
    <dgm:cxn modelId="{2D1A2412-268C-483F-99C7-0633592F15C1}" type="presOf" srcId="{7687578A-04CB-4AAB-A7DB-893D82EF01FF}" destId="{CDD88DC4-8119-4876-A781-79505B90E272}" srcOrd="0" destOrd="0" presId="urn:microsoft.com/office/officeart/2005/8/layout/vList2"/>
    <dgm:cxn modelId="{E9734A13-52AB-4836-BCAA-6CFA5B1FE908}" srcId="{4CF0BEC2-1091-4502-855D-F93733B39714}" destId="{78817A10-4084-4EE9-A038-70ABE4C3B7D7}" srcOrd="0" destOrd="0" parTransId="{5CC1FD6B-91E4-4D42-A01F-70016E7F1605}" sibTransId="{822C8704-12CC-492A-BDE5-5D62E5CB5BDE}"/>
    <dgm:cxn modelId="{4D7A3033-D09A-4E93-B0A2-2E3B1099DB14}" srcId="{4CF0BEC2-1091-4502-855D-F93733B39714}" destId="{D0BA16A0-223D-43ED-8565-9248D4D336A8}" srcOrd="1" destOrd="0" parTransId="{C9D684EC-A632-42EC-9DB1-6200B1C2FC34}" sibTransId="{C65775F4-3C4E-442E-BE44-53E26C628093}"/>
    <dgm:cxn modelId="{5178A639-0050-4FB6-823B-1E926D610931}" type="presOf" srcId="{B422B20C-216C-48B1-9F2F-AFD230C86D73}" destId="{F2872337-0DEB-424A-A71F-58824C7BC0EE}" srcOrd="0" destOrd="1" presId="urn:microsoft.com/office/officeart/2005/8/layout/vList2"/>
    <dgm:cxn modelId="{CE65F94B-655C-419C-9311-F748631B74B9}" type="presOf" srcId="{D0BA16A0-223D-43ED-8565-9248D4D336A8}" destId="{EAA2C43A-94D8-4FA2-8E0F-C4174E67395C}" srcOrd="0" destOrd="0" presId="urn:microsoft.com/office/officeart/2005/8/layout/vList2"/>
    <dgm:cxn modelId="{C1AEF774-F570-43DE-A57F-E222E99AFE24}" srcId="{78817A10-4084-4EE9-A038-70ABE4C3B7D7}" destId="{C328F03C-49FD-4163-BCB0-87E3183D67A3}" srcOrd="0" destOrd="0" parTransId="{3B13A662-D87B-42BD-B5E0-42ACBB295A04}" sibTransId="{95573711-4444-4611-AE00-1A5F842A0BB6}"/>
    <dgm:cxn modelId="{24B3825A-3A88-423D-BDFD-3EE127986CE8}" type="presOf" srcId="{78817A10-4084-4EE9-A038-70ABE4C3B7D7}" destId="{20ABAE98-1814-4D30-A082-651A1A4A1640}" srcOrd="0" destOrd="0" presId="urn:microsoft.com/office/officeart/2005/8/layout/vList2"/>
    <dgm:cxn modelId="{684D337E-9EE1-4354-BA06-BDD8BD2FFDE5}" type="presOf" srcId="{C328F03C-49FD-4163-BCB0-87E3183D67A3}" destId="{F2872337-0DEB-424A-A71F-58824C7BC0EE}" srcOrd="0" destOrd="0" presId="urn:microsoft.com/office/officeart/2005/8/layout/vList2"/>
    <dgm:cxn modelId="{C5B9D8A9-910D-40D4-9EF0-92A5A7B79FDE}" srcId="{D0BA16A0-223D-43ED-8565-9248D4D336A8}" destId="{7687578A-04CB-4AAB-A7DB-893D82EF01FF}" srcOrd="0" destOrd="0" parTransId="{4508DF6C-6E8F-4D10-85B5-7DEDD9C7606E}" sibTransId="{52978585-2EF9-4D07-A32F-5C401D08C1E9}"/>
    <dgm:cxn modelId="{804080C4-A17A-4686-90D2-F61F447EB5D9}" type="presOf" srcId="{AF6F0B5B-D105-4083-8460-CA96160D5B32}" destId="{CDD88DC4-8119-4876-A781-79505B90E272}" srcOrd="0" destOrd="1" presId="urn:microsoft.com/office/officeart/2005/8/layout/vList2"/>
    <dgm:cxn modelId="{AEF200ED-BE65-4001-B3AA-C46F5F83A967}" type="presOf" srcId="{4CF0BEC2-1091-4502-855D-F93733B39714}" destId="{ABDF1445-4200-4FA6-8241-EA43909C07CD}" srcOrd="0" destOrd="0" presId="urn:microsoft.com/office/officeart/2005/8/layout/vList2"/>
    <dgm:cxn modelId="{0C0C58F6-2652-4F05-8792-1A43F6634F3F}" srcId="{D0BA16A0-223D-43ED-8565-9248D4D336A8}" destId="{AF6F0B5B-D105-4083-8460-CA96160D5B32}" srcOrd="1" destOrd="0" parTransId="{022DE963-16FC-462C-9B94-B5FA9EED5FF7}" sibTransId="{E40F70A5-E6F8-47FE-A747-48B82566DBB9}"/>
    <dgm:cxn modelId="{B87A8E06-1812-4001-A31C-F5948D27D9EF}" type="presParOf" srcId="{ABDF1445-4200-4FA6-8241-EA43909C07CD}" destId="{20ABAE98-1814-4D30-A082-651A1A4A1640}" srcOrd="0" destOrd="0" presId="urn:microsoft.com/office/officeart/2005/8/layout/vList2"/>
    <dgm:cxn modelId="{5CB6D166-0562-43D9-BF64-B907B83E6C7D}" type="presParOf" srcId="{ABDF1445-4200-4FA6-8241-EA43909C07CD}" destId="{F2872337-0DEB-424A-A71F-58824C7BC0EE}" srcOrd="1" destOrd="0" presId="urn:microsoft.com/office/officeart/2005/8/layout/vList2"/>
    <dgm:cxn modelId="{081012C4-464F-4241-BBDB-B12E3EFDE7EE}" type="presParOf" srcId="{ABDF1445-4200-4FA6-8241-EA43909C07CD}" destId="{EAA2C43A-94D8-4FA2-8E0F-C4174E67395C}" srcOrd="2" destOrd="0" presId="urn:microsoft.com/office/officeart/2005/8/layout/vList2"/>
    <dgm:cxn modelId="{995C2E69-DF32-411B-A09C-6852AC06A12A}" type="presParOf" srcId="{ABDF1445-4200-4FA6-8241-EA43909C07CD}" destId="{CDD88DC4-8119-4876-A781-79505B90E272}"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FB93E6-9EB0-4F33-ABC9-B04F4E0B4D78}">
      <dsp:nvSpPr>
        <dsp:cNvPr id="0" name=""/>
        <dsp:cNvSpPr/>
      </dsp:nvSpPr>
      <dsp:spPr>
        <a:xfrm>
          <a:off x="6250812" y="2893905"/>
          <a:ext cx="984622" cy="2161889"/>
        </a:xfrm>
        <a:custGeom>
          <a:avLst/>
          <a:gdLst/>
          <a:ahLst/>
          <a:cxnLst/>
          <a:rect l="0" t="0" r="0" b="0"/>
          <a:pathLst>
            <a:path>
              <a:moveTo>
                <a:pt x="0" y="0"/>
              </a:moveTo>
              <a:lnTo>
                <a:pt x="0" y="2161889"/>
              </a:lnTo>
              <a:lnTo>
                <a:pt x="984622" y="2161889"/>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8BE0E40D-338E-4F90-A492-30327D4E53CF}">
      <dsp:nvSpPr>
        <dsp:cNvPr id="0" name=""/>
        <dsp:cNvSpPr/>
      </dsp:nvSpPr>
      <dsp:spPr>
        <a:xfrm>
          <a:off x="6250812" y="2893905"/>
          <a:ext cx="984622" cy="642145"/>
        </a:xfrm>
        <a:custGeom>
          <a:avLst/>
          <a:gdLst/>
          <a:ahLst/>
          <a:cxnLst/>
          <a:rect l="0" t="0" r="0" b="0"/>
          <a:pathLst>
            <a:path>
              <a:moveTo>
                <a:pt x="0" y="0"/>
              </a:moveTo>
              <a:lnTo>
                <a:pt x="0" y="642145"/>
              </a:lnTo>
              <a:lnTo>
                <a:pt x="984622" y="642145"/>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77DAA68B-73F2-4AD5-8DC5-B85B1896E470}">
      <dsp:nvSpPr>
        <dsp:cNvPr id="0" name=""/>
        <dsp:cNvSpPr/>
      </dsp:nvSpPr>
      <dsp:spPr>
        <a:xfrm>
          <a:off x="3660826" y="1374161"/>
          <a:ext cx="2589986" cy="449501"/>
        </a:xfrm>
        <a:custGeom>
          <a:avLst/>
          <a:gdLst/>
          <a:ahLst/>
          <a:cxnLst/>
          <a:rect l="0" t="0" r="0" b="0"/>
          <a:pathLst>
            <a:path>
              <a:moveTo>
                <a:pt x="0" y="0"/>
              </a:moveTo>
              <a:lnTo>
                <a:pt x="0" y="224750"/>
              </a:lnTo>
              <a:lnTo>
                <a:pt x="2589986" y="224750"/>
              </a:lnTo>
              <a:lnTo>
                <a:pt x="2589986" y="449501"/>
              </a:lnTo>
            </a:path>
          </a:pathLst>
        </a:custGeom>
        <a:noFill/>
        <a:ln w="25400" cap="flat" cmpd="sng" algn="ctr">
          <a:solidFill>
            <a:schemeClr val="dk2">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A0F5E0A8-2AC5-4352-8FD9-602ABDB8CE86}">
      <dsp:nvSpPr>
        <dsp:cNvPr id="0" name=""/>
        <dsp:cNvSpPr/>
      </dsp:nvSpPr>
      <dsp:spPr>
        <a:xfrm>
          <a:off x="3660826" y="2893905"/>
          <a:ext cx="984622" cy="2161889"/>
        </a:xfrm>
        <a:custGeom>
          <a:avLst/>
          <a:gdLst/>
          <a:ahLst/>
          <a:cxnLst/>
          <a:rect l="0" t="0" r="0" b="0"/>
          <a:pathLst>
            <a:path>
              <a:moveTo>
                <a:pt x="0" y="0"/>
              </a:moveTo>
              <a:lnTo>
                <a:pt x="0" y="2161889"/>
              </a:lnTo>
              <a:lnTo>
                <a:pt x="984622" y="2161889"/>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F5ABC9A4-DC9A-4B5A-B9A7-A7AB0EDA07F5}">
      <dsp:nvSpPr>
        <dsp:cNvPr id="0" name=""/>
        <dsp:cNvSpPr/>
      </dsp:nvSpPr>
      <dsp:spPr>
        <a:xfrm>
          <a:off x="3660826" y="2893905"/>
          <a:ext cx="984622" cy="642145"/>
        </a:xfrm>
        <a:custGeom>
          <a:avLst/>
          <a:gdLst/>
          <a:ahLst/>
          <a:cxnLst/>
          <a:rect l="0" t="0" r="0" b="0"/>
          <a:pathLst>
            <a:path>
              <a:moveTo>
                <a:pt x="0" y="0"/>
              </a:moveTo>
              <a:lnTo>
                <a:pt x="0" y="642145"/>
              </a:lnTo>
              <a:lnTo>
                <a:pt x="984622" y="642145"/>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7123640E-962A-4617-84FD-1D5049141320}">
      <dsp:nvSpPr>
        <dsp:cNvPr id="0" name=""/>
        <dsp:cNvSpPr/>
      </dsp:nvSpPr>
      <dsp:spPr>
        <a:xfrm>
          <a:off x="3615106" y="1374161"/>
          <a:ext cx="91440" cy="449501"/>
        </a:xfrm>
        <a:custGeom>
          <a:avLst/>
          <a:gdLst/>
          <a:ahLst/>
          <a:cxnLst/>
          <a:rect l="0" t="0" r="0" b="0"/>
          <a:pathLst>
            <a:path>
              <a:moveTo>
                <a:pt x="45720" y="0"/>
              </a:moveTo>
              <a:lnTo>
                <a:pt x="45720" y="449501"/>
              </a:lnTo>
            </a:path>
          </a:pathLst>
        </a:custGeom>
        <a:noFill/>
        <a:ln w="25400" cap="flat" cmpd="sng" algn="ctr">
          <a:solidFill>
            <a:schemeClr val="dk2">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BDFC2999-9480-4F86-AF40-714F428E5047}">
      <dsp:nvSpPr>
        <dsp:cNvPr id="0" name=""/>
        <dsp:cNvSpPr/>
      </dsp:nvSpPr>
      <dsp:spPr>
        <a:xfrm>
          <a:off x="1070840" y="2893905"/>
          <a:ext cx="984622" cy="2161889"/>
        </a:xfrm>
        <a:custGeom>
          <a:avLst/>
          <a:gdLst/>
          <a:ahLst/>
          <a:cxnLst/>
          <a:rect l="0" t="0" r="0" b="0"/>
          <a:pathLst>
            <a:path>
              <a:moveTo>
                <a:pt x="0" y="0"/>
              </a:moveTo>
              <a:lnTo>
                <a:pt x="0" y="2161889"/>
              </a:lnTo>
              <a:lnTo>
                <a:pt x="984622" y="2161889"/>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8B1DB5E2-E7CA-495D-821F-1C70F2890CE6}">
      <dsp:nvSpPr>
        <dsp:cNvPr id="0" name=""/>
        <dsp:cNvSpPr/>
      </dsp:nvSpPr>
      <dsp:spPr>
        <a:xfrm>
          <a:off x="1070840" y="2893905"/>
          <a:ext cx="984622" cy="642145"/>
        </a:xfrm>
        <a:custGeom>
          <a:avLst/>
          <a:gdLst/>
          <a:ahLst/>
          <a:cxnLst/>
          <a:rect l="0" t="0" r="0" b="0"/>
          <a:pathLst>
            <a:path>
              <a:moveTo>
                <a:pt x="0" y="0"/>
              </a:moveTo>
              <a:lnTo>
                <a:pt x="0" y="642145"/>
              </a:lnTo>
              <a:lnTo>
                <a:pt x="984622" y="642145"/>
              </a:lnTo>
            </a:path>
          </a:pathLst>
        </a:custGeom>
        <a:noFill/>
        <a:ln w="25400" cap="flat" cmpd="sng" algn="ctr">
          <a:solidFill>
            <a:schemeClr val="dk2">
              <a:shade val="8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0A9A1E8D-7172-4CA6-B7A9-A854BD43BBFA}">
      <dsp:nvSpPr>
        <dsp:cNvPr id="0" name=""/>
        <dsp:cNvSpPr/>
      </dsp:nvSpPr>
      <dsp:spPr>
        <a:xfrm>
          <a:off x="1070840" y="1374161"/>
          <a:ext cx="2589986" cy="449501"/>
        </a:xfrm>
        <a:custGeom>
          <a:avLst/>
          <a:gdLst/>
          <a:ahLst/>
          <a:cxnLst/>
          <a:rect l="0" t="0" r="0" b="0"/>
          <a:pathLst>
            <a:path>
              <a:moveTo>
                <a:pt x="2589986" y="0"/>
              </a:moveTo>
              <a:lnTo>
                <a:pt x="2589986" y="224750"/>
              </a:lnTo>
              <a:lnTo>
                <a:pt x="0" y="224750"/>
              </a:lnTo>
              <a:lnTo>
                <a:pt x="0" y="449501"/>
              </a:lnTo>
            </a:path>
          </a:pathLst>
        </a:custGeom>
        <a:noFill/>
        <a:ln w="25400" cap="flat" cmpd="sng" algn="ctr">
          <a:solidFill>
            <a:schemeClr val="dk2">
              <a:shade val="60000"/>
              <a:hueOff val="0"/>
              <a:satOff val="0"/>
              <a:lumOff val="0"/>
              <a:alphaOff val="0"/>
            </a:schemeClr>
          </a:solidFill>
          <a:prstDash val="solid"/>
        </a:ln>
        <a:effectLst/>
        <a:sp3d z="-40000" prstMaterial="matte"/>
      </dsp:spPr>
      <dsp:style>
        <a:lnRef idx="2">
          <a:scrgbClr r="0" g="0" b="0"/>
        </a:lnRef>
        <a:fillRef idx="0">
          <a:scrgbClr r="0" g="0" b="0"/>
        </a:fillRef>
        <a:effectRef idx="0">
          <a:scrgbClr r="0" g="0" b="0"/>
        </a:effectRef>
        <a:fontRef idx="minor"/>
      </dsp:style>
    </dsp:sp>
    <dsp:sp modelId="{AADA1D86-2DD5-4B51-8DBC-9610C76C4A56}">
      <dsp:nvSpPr>
        <dsp:cNvPr id="0" name=""/>
        <dsp:cNvSpPr/>
      </dsp:nvSpPr>
      <dsp:spPr>
        <a:xfrm>
          <a:off x="3125705" y="303919"/>
          <a:ext cx="1070242" cy="1070242"/>
        </a:xfrm>
        <a:prstGeom prst="arc">
          <a:avLst>
            <a:gd name="adj1" fmla="val 13200000"/>
            <a:gd name="adj2" fmla="val 192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25DEB369-3A61-43EC-9139-D4EB99C8F873}">
      <dsp:nvSpPr>
        <dsp:cNvPr id="0" name=""/>
        <dsp:cNvSpPr/>
      </dsp:nvSpPr>
      <dsp:spPr>
        <a:xfrm>
          <a:off x="3125705" y="303919"/>
          <a:ext cx="1070242" cy="1070242"/>
        </a:xfrm>
        <a:prstGeom prst="arc">
          <a:avLst>
            <a:gd name="adj1" fmla="val 2400000"/>
            <a:gd name="adj2" fmla="val 84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F4796DFC-8FC9-4E48-A812-6C350265B5EE}">
      <dsp:nvSpPr>
        <dsp:cNvPr id="0" name=""/>
        <dsp:cNvSpPr/>
      </dsp:nvSpPr>
      <dsp:spPr>
        <a:xfrm>
          <a:off x="2590584" y="496562"/>
          <a:ext cx="2140484" cy="684955"/>
        </a:xfrm>
        <a:prstGeom prst="rect">
          <a:avLst/>
        </a:prstGeom>
        <a:noFill/>
        <a:ln w="12700" cap="flat" cmpd="sng" algn="ctr">
          <a:noFill/>
          <a:prstDash val="solid"/>
        </a:ln>
        <a:effectLst/>
        <a:scene3d>
          <a:camera prst="orthographicFront"/>
          <a:lightRig rig="chilly" dir="t"/>
        </a:scene3d>
        <a:sp3d/>
      </dsp:spPr>
      <dsp:style>
        <a:lnRef idx="1">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GB" sz="2000" kern="1200" dirty="0"/>
            <a:t>Valuation Approaches</a:t>
          </a:r>
        </a:p>
      </dsp:txBody>
      <dsp:txXfrm>
        <a:off x="2590584" y="496562"/>
        <a:ext cx="2140484" cy="684955"/>
      </dsp:txXfrm>
    </dsp:sp>
    <dsp:sp modelId="{BCB45312-43F1-4FEE-89B9-9AF7241C1B70}">
      <dsp:nvSpPr>
        <dsp:cNvPr id="0" name=""/>
        <dsp:cNvSpPr/>
      </dsp:nvSpPr>
      <dsp:spPr>
        <a:xfrm>
          <a:off x="535719" y="1823662"/>
          <a:ext cx="1070242" cy="1070242"/>
        </a:xfrm>
        <a:prstGeom prst="arc">
          <a:avLst>
            <a:gd name="adj1" fmla="val 13200000"/>
            <a:gd name="adj2" fmla="val 192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3A1F09D6-DDEC-42AA-8ABD-9073B7CE13F5}">
      <dsp:nvSpPr>
        <dsp:cNvPr id="0" name=""/>
        <dsp:cNvSpPr/>
      </dsp:nvSpPr>
      <dsp:spPr>
        <a:xfrm>
          <a:off x="535719" y="1823662"/>
          <a:ext cx="1070242" cy="1070242"/>
        </a:xfrm>
        <a:prstGeom prst="arc">
          <a:avLst>
            <a:gd name="adj1" fmla="val 2400000"/>
            <a:gd name="adj2" fmla="val 84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A88D94EA-C940-463C-B086-32FE49B0C2C8}">
      <dsp:nvSpPr>
        <dsp:cNvPr id="0" name=""/>
        <dsp:cNvSpPr/>
      </dsp:nvSpPr>
      <dsp:spPr>
        <a:xfrm>
          <a:off x="598" y="2016306"/>
          <a:ext cx="2140484" cy="684955"/>
        </a:xfrm>
        <a:prstGeom prst="rect">
          <a:avLst/>
        </a:prstGeom>
        <a:noFill/>
        <a:ln w="12700" cap="flat" cmpd="sng" algn="ctr">
          <a:noFill/>
          <a:prstDash val="solid"/>
        </a:ln>
        <a:effectLst/>
        <a:scene3d>
          <a:camera prst="orthographicFront"/>
          <a:lightRig rig="chilly" dir="t"/>
        </a:scene3d>
        <a:sp3d/>
      </dsp:spPr>
      <dsp:style>
        <a:lnRef idx="1">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GB" sz="2000" kern="1200" dirty="0"/>
            <a:t>Equity Valuation Dividends</a:t>
          </a:r>
        </a:p>
      </dsp:txBody>
      <dsp:txXfrm>
        <a:off x="598" y="2016306"/>
        <a:ext cx="2140484" cy="684955"/>
      </dsp:txXfrm>
    </dsp:sp>
    <dsp:sp modelId="{67C00D5E-F0C6-4EC6-A160-F8EFC91A19C6}">
      <dsp:nvSpPr>
        <dsp:cNvPr id="0" name=""/>
        <dsp:cNvSpPr/>
      </dsp:nvSpPr>
      <dsp:spPr>
        <a:xfrm>
          <a:off x="1927034" y="3343406"/>
          <a:ext cx="1070242" cy="1070242"/>
        </a:xfrm>
        <a:prstGeom prst="arc">
          <a:avLst>
            <a:gd name="adj1" fmla="val 13200000"/>
            <a:gd name="adj2" fmla="val 192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A3CDAC6B-63A0-4A54-A354-E064343D22A5}">
      <dsp:nvSpPr>
        <dsp:cNvPr id="0" name=""/>
        <dsp:cNvSpPr/>
      </dsp:nvSpPr>
      <dsp:spPr>
        <a:xfrm>
          <a:off x="1927034" y="3343406"/>
          <a:ext cx="1070242" cy="1070242"/>
        </a:xfrm>
        <a:prstGeom prst="arc">
          <a:avLst>
            <a:gd name="adj1" fmla="val 2400000"/>
            <a:gd name="adj2" fmla="val 84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C6EF57B8-2616-4D8C-A605-8B0261420122}">
      <dsp:nvSpPr>
        <dsp:cNvPr id="0" name=""/>
        <dsp:cNvSpPr/>
      </dsp:nvSpPr>
      <dsp:spPr>
        <a:xfrm>
          <a:off x="1391913" y="3536050"/>
          <a:ext cx="2140484" cy="684955"/>
        </a:xfrm>
        <a:prstGeom prst="rect">
          <a:avLst/>
        </a:prstGeom>
        <a:noFill/>
        <a:ln w="12700" cap="flat" cmpd="sng" algn="ctr">
          <a:noFill/>
          <a:prstDash val="solid"/>
        </a:ln>
        <a:effectLst/>
        <a:scene3d>
          <a:camera prst="orthographicFront"/>
          <a:lightRig rig="chilly" dir="t"/>
        </a:scene3d>
        <a:sp3d/>
      </dsp:spPr>
      <dsp:style>
        <a:lnRef idx="1">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GB" sz="2000" kern="1200" dirty="0"/>
            <a:t>Dividends</a:t>
          </a:r>
        </a:p>
      </dsp:txBody>
      <dsp:txXfrm>
        <a:off x="1391913" y="3536050"/>
        <a:ext cx="2140484" cy="684955"/>
      </dsp:txXfrm>
    </dsp:sp>
    <dsp:sp modelId="{8F5B08F1-64FD-4C80-A45A-98A0070713FC}">
      <dsp:nvSpPr>
        <dsp:cNvPr id="0" name=""/>
        <dsp:cNvSpPr/>
      </dsp:nvSpPr>
      <dsp:spPr>
        <a:xfrm>
          <a:off x="1927034" y="4863150"/>
          <a:ext cx="1070242" cy="1070242"/>
        </a:xfrm>
        <a:prstGeom prst="arc">
          <a:avLst>
            <a:gd name="adj1" fmla="val 13200000"/>
            <a:gd name="adj2" fmla="val 192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5554E742-907D-410E-A178-E9FE5B0D2FDA}">
      <dsp:nvSpPr>
        <dsp:cNvPr id="0" name=""/>
        <dsp:cNvSpPr/>
      </dsp:nvSpPr>
      <dsp:spPr>
        <a:xfrm>
          <a:off x="1927034" y="4863150"/>
          <a:ext cx="1070242" cy="1070242"/>
        </a:xfrm>
        <a:prstGeom prst="arc">
          <a:avLst>
            <a:gd name="adj1" fmla="val 2400000"/>
            <a:gd name="adj2" fmla="val 84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1CEEAE04-0B5B-45E5-9F83-E9AF8E0D6805}">
      <dsp:nvSpPr>
        <dsp:cNvPr id="0" name=""/>
        <dsp:cNvSpPr/>
      </dsp:nvSpPr>
      <dsp:spPr>
        <a:xfrm>
          <a:off x="1391913" y="5055794"/>
          <a:ext cx="2140484" cy="684955"/>
        </a:xfrm>
        <a:prstGeom prst="rect">
          <a:avLst/>
        </a:prstGeom>
        <a:noFill/>
        <a:ln w="12700" cap="flat" cmpd="sng" algn="ctr">
          <a:noFill/>
          <a:prstDash val="solid"/>
        </a:ln>
        <a:effectLst/>
        <a:scene3d>
          <a:camera prst="orthographicFront"/>
          <a:lightRig rig="chilly" dir="t"/>
        </a:scene3d>
        <a:sp3d/>
      </dsp:spPr>
      <dsp:style>
        <a:lnRef idx="1">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GB" sz="2000" kern="1200" dirty="0"/>
            <a:t>Cost of Equity</a:t>
          </a:r>
        </a:p>
      </dsp:txBody>
      <dsp:txXfrm>
        <a:off x="1391913" y="5055794"/>
        <a:ext cx="2140484" cy="684955"/>
      </dsp:txXfrm>
    </dsp:sp>
    <dsp:sp modelId="{746DADC8-643A-42C4-8973-E0031EFDCDB9}">
      <dsp:nvSpPr>
        <dsp:cNvPr id="0" name=""/>
        <dsp:cNvSpPr/>
      </dsp:nvSpPr>
      <dsp:spPr>
        <a:xfrm>
          <a:off x="3125705" y="1823662"/>
          <a:ext cx="1070242" cy="1070242"/>
        </a:xfrm>
        <a:prstGeom prst="arc">
          <a:avLst>
            <a:gd name="adj1" fmla="val 13200000"/>
            <a:gd name="adj2" fmla="val 192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BC1E8456-6F55-457A-B98F-D40E79B5551F}">
      <dsp:nvSpPr>
        <dsp:cNvPr id="0" name=""/>
        <dsp:cNvSpPr/>
      </dsp:nvSpPr>
      <dsp:spPr>
        <a:xfrm>
          <a:off x="3125705" y="1823662"/>
          <a:ext cx="1070242" cy="1070242"/>
        </a:xfrm>
        <a:prstGeom prst="arc">
          <a:avLst>
            <a:gd name="adj1" fmla="val 2400000"/>
            <a:gd name="adj2" fmla="val 84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C497E1FE-2DDA-4362-9592-616A4FFB2846}">
      <dsp:nvSpPr>
        <dsp:cNvPr id="0" name=""/>
        <dsp:cNvSpPr/>
      </dsp:nvSpPr>
      <dsp:spPr>
        <a:xfrm>
          <a:off x="2590584" y="2016306"/>
          <a:ext cx="2140484" cy="684955"/>
        </a:xfrm>
        <a:prstGeom prst="rect">
          <a:avLst/>
        </a:prstGeom>
        <a:noFill/>
        <a:ln w="12700" cap="flat" cmpd="sng" algn="ctr">
          <a:noFill/>
          <a:prstDash val="solid"/>
        </a:ln>
        <a:effectLst/>
        <a:scene3d>
          <a:camera prst="orthographicFront"/>
          <a:lightRig rig="chilly" dir="t"/>
        </a:scene3d>
        <a:sp3d/>
      </dsp:spPr>
      <dsp:style>
        <a:lnRef idx="1">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GB" sz="2000" kern="1200" dirty="0"/>
            <a:t>Equity Valuation Cash Flows to Equity</a:t>
          </a:r>
        </a:p>
      </dsp:txBody>
      <dsp:txXfrm>
        <a:off x="2590584" y="2016306"/>
        <a:ext cx="2140484" cy="684955"/>
      </dsp:txXfrm>
    </dsp:sp>
    <dsp:sp modelId="{CA419011-6983-4C9A-B315-9B89E31F0F41}">
      <dsp:nvSpPr>
        <dsp:cNvPr id="0" name=""/>
        <dsp:cNvSpPr/>
      </dsp:nvSpPr>
      <dsp:spPr>
        <a:xfrm>
          <a:off x="4517020" y="3343406"/>
          <a:ext cx="1070242" cy="1070242"/>
        </a:xfrm>
        <a:prstGeom prst="arc">
          <a:avLst>
            <a:gd name="adj1" fmla="val 13200000"/>
            <a:gd name="adj2" fmla="val 192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BB8808BA-CF40-47CA-B5C1-8499A1EFA1B6}">
      <dsp:nvSpPr>
        <dsp:cNvPr id="0" name=""/>
        <dsp:cNvSpPr/>
      </dsp:nvSpPr>
      <dsp:spPr>
        <a:xfrm>
          <a:off x="4517020" y="3343406"/>
          <a:ext cx="1070242" cy="1070242"/>
        </a:xfrm>
        <a:prstGeom prst="arc">
          <a:avLst>
            <a:gd name="adj1" fmla="val 2400000"/>
            <a:gd name="adj2" fmla="val 84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B5A02F26-2B90-4466-B64C-ABF593A176AB}">
      <dsp:nvSpPr>
        <dsp:cNvPr id="0" name=""/>
        <dsp:cNvSpPr/>
      </dsp:nvSpPr>
      <dsp:spPr>
        <a:xfrm>
          <a:off x="3981899" y="3536050"/>
          <a:ext cx="2140484" cy="684955"/>
        </a:xfrm>
        <a:prstGeom prst="rect">
          <a:avLst/>
        </a:prstGeom>
        <a:noFill/>
        <a:ln w="12700" cap="flat" cmpd="sng" algn="ctr">
          <a:noFill/>
          <a:prstDash val="solid"/>
        </a:ln>
        <a:effectLst/>
        <a:scene3d>
          <a:camera prst="orthographicFront"/>
          <a:lightRig rig="chilly" dir="t"/>
        </a:scene3d>
        <a:sp3d/>
      </dsp:spPr>
      <dsp:style>
        <a:lnRef idx="1">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GB" sz="2000" kern="1200" dirty="0"/>
            <a:t>FCFE</a:t>
          </a:r>
        </a:p>
      </dsp:txBody>
      <dsp:txXfrm>
        <a:off x="3981899" y="3536050"/>
        <a:ext cx="2140484" cy="684955"/>
      </dsp:txXfrm>
    </dsp:sp>
    <dsp:sp modelId="{70572782-F1C2-4798-8885-1B38B3E95BDC}">
      <dsp:nvSpPr>
        <dsp:cNvPr id="0" name=""/>
        <dsp:cNvSpPr/>
      </dsp:nvSpPr>
      <dsp:spPr>
        <a:xfrm>
          <a:off x="4517020" y="4863150"/>
          <a:ext cx="1070242" cy="1070242"/>
        </a:xfrm>
        <a:prstGeom prst="arc">
          <a:avLst>
            <a:gd name="adj1" fmla="val 13200000"/>
            <a:gd name="adj2" fmla="val 192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A66DB169-17B0-4BAD-ABBF-B2FF95AC80D0}">
      <dsp:nvSpPr>
        <dsp:cNvPr id="0" name=""/>
        <dsp:cNvSpPr/>
      </dsp:nvSpPr>
      <dsp:spPr>
        <a:xfrm>
          <a:off x="4517020" y="4863150"/>
          <a:ext cx="1070242" cy="1070242"/>
        </a:xfrm>
        <a:prstGeom prst="arc">
          <a:avLst>
            <a:gd name="adj1" fmla="val 2400000"/>
            <a:gd name="adj2" fmla="val 84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A012C0CF-0F9E-4827-8376-BC98D0D7DDA7}">
      <dsp:nvSpPr>
        <dsp:cNvPr id="0" name=""/>
        <dsp:cNvSpPr/>
      </dsp:nvSpPr>
      <dsp:spPr>
        <a:xfrm>
          <a:off x="3981899" y="5055794"/>
          <a:ext cx="2140484" cy="684955"/>
        </a:xfrm>
        <a:prstGeom prst="rect">
          <a:avLst/>
        </a:prstGeom>
        <a:noFill/>
        <a:ln w="12700" cap="flat" cmpd="sng" algn="ctr">
          <a:noFill/>
          <a:prstDash val="solid"/>
        </a:ln>
        <a:effectLst/>
        <a:scene3d>
          <a:camera prst="orthographicFront"/>
          <a:lightRig rig="chilly" dir="t"/>
        </a:scene3d>
        <a:sp3d/>
      </dsp:spPr>
      <dsp:style>
        <a:lnRef idx="1">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GB" sz="2000" kern="1200" dirty="0"/>
            <a:t>Cost of Equity</a:t>
          </a:r>
        </a:p>
      </dsp:txBody>
      <dsp:txXfrm>
        <a:off x="3981899" y="5055794"/>
        <a:ext cx="2140484" cy="684955"/>
      </dsp:txXfrm>
    </dsp:sp>
    <dsp:sp modelId="{FDB27C1D-C182-4A40-8C73-DBEBCAC09478}">
      <dsp:nvSpPr>
        <dsp:cNvPr id="0" name=""/>
        <dsp:cNvSpPr/>
      </dsp:nvSpPr>
      <dsp:spPr>
        <a:xfrm>
          <a:off x="5715691" y="1823662"/>
          <a:ext cx="1070242" cy="1070242"/>
        </a:xfrm>
        <a:prstGeom prst="arc">
          <a:avLst>
            <a:gd name="adj1" fmla="val 13200000"/>
            <a:gd name="adj2" fmla="val 192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DF73BEB2-61A5-44CF-96CE-1D4F0707108C}">
      <dsp:nvSpPr>
        <dsp:cNvPr id="0" name=""/>
        <dsp:cNvSpPr/>
      </dsp:nvSpPr>
      <dsp:spPr>
        <a:xfrm>
          <a:off x="5715691" y="1823662"/>
          <a:ext cx="1070242" cy="1070242"/>
        </a:xfrm>
        <a:prstGeom prst="arc">
          <a:avLst>
            <a:gd name="adj1" fmla="val 2400000"/>
            <a:gd name="adj2" fmla="val 84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653792CC-5069-4156-9115-6D9C92AA3539}">
      <dsp:nvSpPr>
        <dsp:cNvPr id="0" name=""/>
        <dsp:cNvSpPr/>
      </dsp:nvSpPr>
      <dsp:spPr>
        <a:xfrm>
          <a:off x="5180570" y="2016306"/>
          <a:ext cx="2140484" cy="684955"/>
        </a:xfrm>
        <a:prstGeom prst="rect">
          <a:avLst/>
        </a:prstGeom>
        <a:noFill/>
        <a:ln w="12700" cap="flat" cmpd="sng" algn="ctr">
          <a:noFill/>
          <a:prstDash val="solid"/>
        </a:ln>
        <a:effectLst/>
        <a:scene3d>
          <a:camera prst="orthographicFront"/>
          <a:lightRig rig="chilly" dir="t"/>
        </a:scene3d>
        <a:sp3d/>
      </dsp:spPr>
      <dsp:style>
        <a:lnRef idx="1">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GB" sz="2000" kern="1200" dirty="0"/>
            <a:t>Firm Valuation</a:t>
          </a:r>
        </a:p>
      </dsp:txBody>
      <dsp:txXfrm>
        <a:off x="5180570" y="2016306"/>
        <a:ext cx="2140484" cy="684955"/>
      </dsp:txXfrm>
    </dsp:sp>
    <dsp:sp modelId="{08A27790-979E-4031-902C-002FEAC5069B}">
      <dsp:nvSpPr>
        <dsp:cNvPr id="0" name=""/>
        <dsp:cNvSpPr/>
      </dsp:nvSpPr>
      <dsp:spPr>
        <a:xfrm>
          <a:off x="7107006" y="3343406"/>
          <a:ext cx="1070242" cy="1070242"/>
        </a:xfrm>
        <a:prstGeom prst="arc">
          <a:avLst>
            <a:gd name="adj1" fmla="val 13200000"/>
            <a:gd name="adj2" fmla="val 192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B00E513A-4C37-4F2C-B4DA-9245495DBB7B}">
      <dsp:nvSpPr>
        <dsp:cNvPr id="0" name=""/>
        <dsp:cNvSpPr/>
      </dsp:nvSpPr>
      <dsp:spPr>
        <a:xfrm>
          <a:off x="7107006" y="3343406"/>
          <a:ext cx="1070242" cy="1070242"/>
        </a:xfrm>
        <a:prstGeom prst="arc">
          <a:avLst>
            <a:gd name="adj1" fmla="val 2400000"/>
            <a:gd name="adj2" fmla="val 84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250A9A20-918C-4ACF-99A8-38A9627B50D0}">
      <dsp:nvSpPr>
        <dsp:cNvPr id="0" name=""/>
        <dsp:cNvSpPr/>
      </dsp:nvSpPr>
      <dsp:spPr>
        <a:xfrm>
          <a:off x="6571885" y="3536050"/>
          <a:ext cx="2140484" cy="684955"/>
        </a:xfrm>
        <a:prstGeom prst="rect">
          <a:avLst/>
        </a:prstGeom>
        <a:noFill/>
        <a:ln w="12700" cap="flat" cmpd="sng" algn="ctr">
          <a:noFill/>
          <a:prstDash val="solid"/>
        </a:ln>
        <a:effectLst/>
        <a:scene3d>
          <a:camera prst="orthographicFront"/>
          <a:lightRig rig="chilly" dir="t"/>
        </a:scene3d>
        <a:sp3d/>
      </dsp:spPr>
      <dsp:style>
        <a:lnRef idx="1">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GB" sz="2000" kern="1200" dirty="0"/>
            <a:t>FCFF</a:t>
          </a:r>
        </a:p>
      </dsp:txBody>
      <dsp:txXfrm>
        <a:off x="6571885" y="3536050"/>
        <a:ext cx="2140484" cy="684955"/>
      </dsp:txXfrm>
    </dsp:sp>
    <dsp:sp modelId="{035397E1-6238-4577-A98B-44BE4EDAFD0B}">
      <dsp:nvSpPr>
        <dsp:cNvPr id="0" name=""/>
        <dsp:cNvSpPr/>
      </dsp:nvSpPr>
      <dsp:spPr>
        <a:xfrm>
          <a:off x="7107006" y="4863150"/>
          <a:ext cx="1070242" cy="1070242"/>
        </a:xfrm>
        <a:prstGeom prst="arc">
          <a:avLst>
            <a:gd name="adj1" fmla="val 13200000"/>
            <a:gd name="adj2" fmla="val 192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82CC4E0B-F1C4-4879-9AE8-1623006CCBD3}">
      <dsp:nvSpPr>
        <dsp:cNvPr id="0" name=""/>
        <dsp:cNvSpPr/>
      </dsp:nvSpPr>
      <dsp:spPr>
        <a:xfrm>
          <a:off x="7107006" y="4863150"/>
          <a:ext cx="1070242" cy="1070242"/>
        </a:xfrm>
        <a:prstGeom prst="arc">
          <a:avLst>
            <a:gd name="adj1" fmla="val 2400000"/>
            <a:gd name="adj2" fmla="val 8400000"/>
          </a:avLst>
        </a:prstGeom>
        <a:noFill/>
        <a:ln w="25400" cap="flat" cmpd="sng" algn="ctr">
          <a:solidFill>
            <a:schemeClr val="dk2">
              <a:shade val="60000"/>
              <a:hueOff val="0"/>
              <a:satOff val="0"/>
              <a:lumOff val="0"/>
              <a:alphaOff val="0"/>
            </a:schemeClr>
          </a:solidFill>
          <a:prstDash val="solid"/>
        </a:ln>
        <a:effectLst/>
        <a:scene3d>
          <a:camera prst="orthographicFront"/>
          <a:lightRig rig="chilly" dir="t"/>
        </a:scene3d>
        <a:sp3d z="-40000" prstMaterial="matte"/>
      </dsp:spPr>
      <dsp:style>
        <a:lnRef idx="2">
          <a:scrgbClr r="0" g="0" b="0"/>
        </a:lnRef>
        <a:fillRef idx="0">
          <a:scrgbClr r="0" g="0" b="0"/>
        </a:fillRef>
        <a:effectRef idx="0">
          <a:scrgbClr r="0" g="0" b="0"/>
        </a:effectRef>
        <a:fontRef idx="minor"/>
      </dsp:style>
    </dsp:sp>
    <dsp:sp modelId="{3C7E9805-F98D-4B11-89FB-8880EA405CA4}">
      <dsp:nvSpPr>
        <dsp:cNvPr id="0" name=""/>
        <dsp:cNvSpPr/>
      </dsp:nvSpPr>
      <dsp:spPr>
        <a:xfrm>
          <a:off x="6571885" y="5055794"/>
          <a:ext cx="2140484" cy="684955"/>
        </a:xfrm>
        <a:prstGeom prst="rect">
          <a:avLst/>
        </a:prstGeom>
        <a:noFill/>
        <a:ln w="12700" cap="flat" cmpd="sng" algn="ctr">
          <a:noFill/>
          <a:prstDash val="solid"/>
        </a:ln>
        <a:effectLst/>
        <a:scene3d>
          <a:camera prst="orthographicFront"/>
          <a:lightRig rig="chilly" dir="t"/>
        </a:scene3d>
        <a:sp3d/>
      </dsp:spPr>
      <dsp:style>
        <a:lnRef idx="1">
          <a:scrgbClr r="0" g="0" b="0"/>
        </a:lnRef>
        <a:fillRef idx="1">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rtl="0">
            <a:lnSpc>
              <a:spcPct val="90000"/>
            </a:lnSpc>
            <a:spcBef>
              <a:spcPct val="0"/>
            </a:spcBef>
            <a:spcAft>
              <a:spcPct val="35000"/>
            </a:spcAft>
            <a:buNone/>
          </a:pPr>
          <a:r>
            <a:rPr lang="en-GB" sz="2000" kern="1200" dirty="0"/>
            <a:t>WACC</a:t>
          </a:r>
        </a:p>
      </dsp:txBody>
      <dsp:txXfrm>
        <a:off x="6571885" y="5055794"/>
        <a:ext cx="2140484" cy="6849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392E15-7463-4A5C-8C45-57E6F8D595AA}">
      <dsp:nvSpPr>
        <dsp:cNvPr id="0" name=""/>
        <dsp:cNvSpPr/>
      </dsp:nvSpPr>
      <dsp:spPr>
        <a:xfrm rot="16200000">
          <a:off x="-1553887" y="1555869"/>
          <a:ext cx="5056187" cy="1944448"/>
        </a:xfrm>
        <a:prstGeom prst="flowChartManualOperation">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0" rIns="193229" bIns="0" numCol="1" spcCol="1270" anchor="ctr" anchorCtr="0">
          <a:noAutofit/>
        </a:bodyPr>
        <a:lstStyle/>
        <a:p>
          <a:pPr marL="0" lvl="0" indent="0" algn="ctr" defTabSz="1333500" rtl="0">
            <a:lnSpc>
              <a:spcPct val="90000"/>
            </a:lnSpc>
            <a:spcBef>
              <a:spcPct val="0"/>
            </a:spcBef>
            <a:spcAft>
              <a:spcPct val="35000"/>
            </a:spcAft>
            <a:buNone/>
          </a:pPr>
          <a:r>
            <a:rPr lang="en-US" sz="3000" kern="1200" dirty="0"/>
            <a:t>which cash flow to discount, which should indicate</a:t>
          </a:r>
        </a:p>
      </dsp:txBody>
      <dsp:txXfrm rot="5400000">
        <a:off x="1982" y="1011237"/>
        <a:ext cx="1944448" cy="3033713"/>
      </dsp:txXfrm>
    </dsp:sp>
    <dsp:sp modelId="{A719AF2E-1144-4922-9181-D7522372C667}">
      <dsp:nvSpPr>
        <dsp:cNvPr id="0" name=""/>
        <dsp:cNvSpPr/>
      </dsp:nvSpPr>
      <dsp:spPr>
        <a:xfrm rot="16200000">
          <a:off x="536393" y="1555869"/>
          <a:ext cx="5056187" cy="1944448"/>
        </a:xfrm>
        <a:prstGeom prst="flowChartManualOperation">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0" rIns="193229" bIns="0" numCol="1" spcCol="1270" anchor="ctr" anchorCtr="0">
          <a:noAutofit/>
        </a:bodyPr>
        <a:lstStyle/>
        <a:p>
          <a:pPr marL="0" lvl="0" indent="0" algn="ctr" defTabSz="1333500" rtl="0">
            <a:lnSpc>
              <a:spcPct val="90000"/>
            </a:lnSpc>
            <a:spcBef>
              <a:spcPct val="0"/>
            </a:spcBef>
            <a:spcAft>
              <a:spcPct val="35000"/>
            </a:spcAft>
            <a:buNone/>
          </a:pPr>
          <a:r>
            <a:rPr lang="en-US" sz="3000" kern="1200"/>
            <a:t>which discount rate needs to be estimated and </a:t>
          </a:r>
        </a:p>
      </dsp:txBody>
      <dsp:txXfrm rot="5400000">
        <a:off x="2092262" y="1011237"/>
        <a:ext cx="1944448" cy="3033713"/>
      </dsp:txXfrm>
    </dsp:sp>
    <dsp:sp modelId="{5B6B6FC4-7CEB-4DBC-B2C6-9A053B7EFA03}">
      <dsp:nvSpPr>
        <dsp:cNvPr id="0" name=""/>
        <dsp:cNvSpPr/>
      </dsp:nvSpPr>
      <dsp:spPr>
        <a:xfrm rot="16200000">
          <a:off x="2626675" y="1555869"/>
          <a:ext cx="5056187" cy="1944448"/>
        </a:xfrm>
        <a:prstGeom prst="flowChartManualOperation">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0" rIns="193229" bIns="0" numCol="1" spcCol="1270" anchor="ctr" anchorCtr="0">
          <a:noAutofit/>
        </a:bodyPr>
        <a:lstStyle/>
        <a:p>
          <a:pPr marL="0" lvl="0" indent="0" algn="ctr" defTabSz="1333500" rtl="0">
            <a:lnSpc>
              <a:spcPct val="90000"/>
            </a:lnSpc>
            <a:spcBef>
              <a:spcPct val="0"/>
            </a:spcBef>
            <a:spcAft>
              <a:spcPct val="35000"/>
            </a:spcAft>
            <a:buNone/>
          </a:pPr>
          <a:r>
            <a:rPr lang="en-GB" sz="3000" kern="1200"/>
            <a:t>How fast are earnings expected to grow</a:t>
          </a:r>
          <a:endParaRPr lang="en-US" sz="3000" kern="1200"/>
        </a:p>
      </dsp:txBody>
      <dsp:txXfrm rot="5400000">
        <a:off x="4182544" y="1011237"/>
        <a:ext cx="1944448" cy="3033713"/>
      </dsp:txXfrm>
    </dsp:sp>
    <dsp:sp modelId="{5B672D20-D461-4972-965B-5AA648AF84E1}">
      <dsp:nvSpPr>
        <dsp:cNvPr id="0" name=""/>
        <dsp:cNvSpPr/>
      </dsp:nvSpPr>
      <dsp:spPr>
        <a:xfrm rot="16200000">
          <a:off x="4716956" y="1555869"/>
          <a:ext cx="5056187" cy="1944448"/>
        </a:xfrm>
        <a:prstGeom prst="flowChartManualOperation">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0" rIns="193229" bIns="0" numCol="1" spcCol="1270" anchor="ctr" anchorCtr="0">
          <a:noAutofit/>
        </a:bodyPr>
        <a:lstStyle/>
        <a:p>
          <a:pPr marL="0" lvl="0" indent="0" algn="ctr" defTabSz="1333500" rtl="0">
            <a:lnSpc>
              <a:spcPct val="90000"/>
            </a:lnSpc>
            <a:spcBef>
              <a:spcPct val="0"/>
            </a:spcBef>
            <a:spcAft>
              <a:spcPct val="35000"/>
            </a:spcAft>
            <a:buNone/>
          </a:pPr>
          <a:r>
            <a:rPr lang="en-US" sz="3000" kern="1200"/>
            <a:t>what pattern we will assume growth to follow</a:t>
          </a:r>
        </a:p>
      </dsp:txBody>
      <dsp:txXfrm rot="5400000">
        <a:off x="6272825" y="1011237"/>
        <a:ext cx="1944448" cy="30337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F5BE4F-CEB5-48C3-A026-06F0777613A4}">
      <dsp:nvSpPr>
        <dsp:cNvPr id="0" name=""/>
        <dsp:cNvSpPr/>
      </dsp:nvSpPr>
      <dsp:spPr>
        <a:xfrm>
          <a:off x="0" y="21634"/>
          <a:ext cx="7859216" cy="67158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n-US" sz="2800" kern="1200"/>
            <a:t>Use Equity Valuation </a:t>
          </a:r>
        </a:p>
      </dsp:txBody>
      <dsp:txXfrm>
        <a:off x="32784" y="54418"/>
        <a:ext cx="7793648" cy="606012"/>
      </dsp:txXfrm>
    </dsp:sp>
    <dsp:sp modelId="{04FA76E2-248A-423D-83DE-CB8024D9AA3B}">
      <dsp:nvSpPr>
        <dsp:cNvPr id="0" name=""/>
        <dsp:cNvSpPr/>
      </dsp:nvSpPr>
      <dsp:spPr>
        <a:xfrm>
          <a:off x="0" y="693214"/>
          <a:ext cx="7859216" cy="1072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9530" tIns="35560" rIns="199136" bIns="35560" numCol="1" spcCol="1270" anchor="t" anchorCtr="0">
          <a:noAutofit/>
        </a:bodyPr>
        <a:lstStyle/>
        <a:p>
          <a:pPr marL="228600" lvl="1" indent="-228600" algn="l" defTabSz="977900" rtl="0">
            <a:lnSpc>
              <a:spcPct val="90000"/>
            </a:lnSpc>
            <a:spcBef>
              <a:spcPct val="0"/>
            </a:spcBef>
            <a:spcAft>
              <a:spcPct val="20000"/>
            </a:spcAft>
            <a:buChar char="•"/>
          </a:pPr>
          <a:r>
            <a:rPr lang="en-US" sz="2200" kern="1200"/>
            <a:t>(a) for firms which have </a:t>
          </a:r>
          <a:r>
            <a:rPr lang="en-US" sz="2200" u="sng" kern="1200"/>
            <a:t>stable leverage</a:t>
          </a:r>
          <a:r>
            <a:rPr lang="en-US" sz="2200" kern="1200"/>
            <a:t>, whether high or not, and</a:t>
          </a:r>
        </a:p>
        <a:p>
          <a:pPr marL="228600" lvl="1" indent="-228600" algn="l" defTabSz="977900" rtl="0">
            <a:lnSpc>
              <a:spcPct val="90000"/>
            </a:lnSpc>
            <a:spcBef>
              <a:spcPct val="0"/>
            </a:spcBef>
            <a:spcAft>
              <a:spcPct val="20000"/>
            </a:spcAft>
            <a:buChar char="•"/>
          </a:pPr>
          <a:r>
            <a:rPr lang="en-US" sz="2200" kern="1200"/>
            <a:t>(b) if equity (stock) is being valued</a:t>
          </a:r>
          <a:endParaRPr lang="en-US" sz="2200" kern="1200" dirty="0"/>
        </a:p>
      </dsp:txBody>
      <dsp:txXfrm>
        <a:off x="0" y="693214"/>
        <a:ext cx="7859216" cy="1072260"/>
      </dsp:txXfrm>
    </dsp:sp>
    <dsp:sp modelId="{8689022E-AC29-4B6E-9A28-37FC6528189B}">
      <dsp:nvSpPr>
        <dsp:cNvPr id="0" name=""/>
        <dsp:cNvSpPr/>
      </dsp:nvSpPr>
      <dsp:spPr>
        <a:xfrm>
          <a:off x="0" y="1765474"/>
          <a:ext cx="7859216" cy="67158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n-US" sz="2800" kern="1200"/>
            <a:t>Use Firm Valuation</a:t>
          </a:r>
        </a:p>
      </dsp:txBody>
      <dsp:txXfrm>
        <a:off x="32784" y="1798258"/>
        <a:ext cx="7793648" cy="606012"/>
      </dsp:txXfrm>
    </dsp:sp>
    <dsp:sp modelId="{04D9D34F-CEEA-411B-BB45-4BD661DECBCA}">
      <dsp:nvSpPr>
        <dsp:cNvPr id="0" name=""/>
        <dsp:cNvSpPr/>
      </dsp:nvSpPr>
      <dsp:spPr>
        <a:xfrm>
          <a:off x="0" y="2437054"/>
          <a:ext cx="7859216" cy="3013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9530" tIns="35560" rIns="199136" bIns="35560" numCol="1" spcCol="1270" anchor="t" anchorCtr="0">
          <a:noAutofit/>
        </a:bodyPr>
        <a:lstStyle/>
        <a:p>
          <a:pPr marL="228600" lvl="1" indent="-228600" algn="l" defTabSz="977900" rtl="0">
            <a:lnSpc>
              <a:spcPct val="90000"/>
            </a:lnSpc>
            <a:spcBef>
              <a:spcPct val="0"/>
            </a:spcBef>
            <a:spcAft>
              <a:spcPct val="20000"/>
            </a:spcAft>
            <a:buChar char="•"/>
          </a:pPr>
          <a:r>
            <a:rPr lang="en-US" sz="2200" kern="1200"/>
            <a:t>(a) for firms which have </a:t>
          </a:r>
          <a:r>
            <a:rPr lang="en-US" sz="2200" u="sng" kern="1200"/>
            <a:t>leverage which is too high or too low</a:t>
          </a:r>
          <a:r>
            <a:rPr lang="en-US" sz="2200" kern="1200"/>
            <a:t>, and expect to change the leverage over time, because debt payments and issues do not have to be factored in the cash flows and the discount rate (cost of capital) does not change dramatically over time.</a:t>
          </a:r>
        </a:p>
        <a:p>
          <a:pPr marL="228600" lvl="1" indent="-228600" algn="l" defTabSz="977900" rtl="0">
            <a:lnSpc>
              <a:spcPct val="90000"/>
            </a:lnSpc>
            <a:spcBef>
              <a:spcPct val="0"/>
            </a:spcBef>
            <a:spcAft>
              <a:spcPct val="20000"/>
            </a:spcAft>
            <a:buChar char="•"/>
          </a:pPr>
          <a:r>
            <a:rPr lang="en-US" sz="2200" kern="1200"/>
            <a:t>(b) for firms for which you have  </a:t>
          </a:r>
          <a:r>
            <a:rPr lang="en-US" sz="2200" u="sng" kern="1200"/>
            <a:t>partial information on leverage </a:t>
          </a:r>
          <a:r>
            <a:rPr lang="en-US" sz="2200" kern="1200"/>
            <a:t>(eg: interest expenses are missing..)</a:t>
          </a:r>
        </a:p>
        <a:p>
          <a:pPr marL="228600" lvl="1" indent="-228600" algn="l" defTabSz="977900" rtl="0">
            <a:lnSpc>
              <a:spcPct val="90000"/>
            </a:lnSpc>
            <a:spcBef>
              <a:spcPct val="0"/>
            </a:spcBef>
            <a:spcAft>
              <a:spcPct val="20000"/>
            </a:spcAft>
            <a:buChar char="•"/>
          </a:pPr>
          <a:r>
            <a:rPr lang="en-US" sz="2200" kern="1200"/>
            <a:t>(c) in all other cases, where you are more interested in </a:t>
          </a:r>
          <a:r>
            <a:rPr lang="en-US" sz="2200" u="sng" kern="1200"/>
            <a:t>valuing the firm </a:t>
          </a:r>
          <a:r>
            <a:rPr lang="en-US" sz="2200" kern="1200"/>
            <a:t>than the equity. (Value Consulting?)</a:t>
          </a:r>
        </a:p>
      </dsp:txBody>
      <dsp:txXfrm>
        <a:off x="0" y="2437054"/>
        <a:ext cx="7859216" cy="30139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BAE98-1814-4D30-A082-651A1A4A1640}">
      <dsp:nvSpPr>
        <dsp:cNvPr id="0" name=""/>
        <dsp:cNvSpPr/>
      </dsp:nvSpPr>
      <dsp:spPr>
        <a:xfrm>
          <a:off x="0" y="105991"/>
          <a:ext cx="8074588" cy="647595"/>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Use the Dividend Discount Model</a:t>
          </a:r>
        </a:p>
      </dsp:txBody>
      <dsp:txXfrm>
        <a:off x="31613" y="137604"/>
        <a:ext cx="8011362" cy="584369"/>
      </dsp:txXfrm>
    </dsp:sp>
    <dsp:sp modelId="{F2872337-0DEB-424A-A71F-58824C7BC0EE}">
      <dsp:nvSpPr>
        <dsp:cNvPr id="0" name=""/>
        <dsp:cNvSpPr/>
      </dsp:nvSpPr>
      <dsp:spPr>
        <a:xfrm>
          <a:off x="0" y="753586"/>
          <a:ext cx="8074588" cy="1313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368" tIns="34290" rIns="192024" bIns="34290" numCol="1" spcCol="1270" anchor="t" anchorCtr="0">
          <a:noAutofit/>
        </a:bodyPr>
        <a:lstStyle/>
        <a:p>
          <a:pPr marL="228600" lvl="1" indent="-228600" algn="l" defTabSz="933450" rtl="0">
            <a:lnSpc>
              <a:spcPct val="90000"/>
            </a:lnSpc>
            <a:spcBef>
              <a:spcPct val="0"/>
            </a:spcBef>
            <a:spcAft>
              <a:spcPct val="20000"/>
            </a:spcAft>
            <a:buChar char="•"/>
          </a:pPr>
          <a:r>
            <a:rPr lang="en-US" sz="2100" kern="1200"/>
            <a:t>(a) For firms which pay dividends (and repurchase stock) which are close to the Free Cash Flow to Equity (over a extended period)</a:t>
          </a:r>
        </a:p>
        <a:p>
          <a:pPr marL="228600" lvl="1" indent="-228600" algn="l" defTabSz="933450" rtl="0">
            <a:lnSpc>
              <a:spcPct val="90000"/>
            </a:lnSpc>
            <a:spcBef>
              <a:spcPct val="0"/>
            </a:spcBef>
            <a:spcAft>
              <a:spcPct val="20000"/>
            </a:spcAft>
            <a:buChar char="•"/>
          </a:pPr>
          <a:r>
            <a:rPr lang="en-US" sz="2100" kern="1200"/>
            <a:t>(b)For firms where FCFE are difficult to estimate (Example: Banks and Financial Service companies)</a:t>
          </a:r>
        </a:p>
      </dsp:txBody>
      <dsp:txXfrm>
        <a:off x="0" y="753586"/>
        <a:ext cx="8074588" cy="1313414"/>
      </dsp:txXfrm>
    </dsp:sp>
    <dsp:sp modelId="{EAA2C43A-94D8-4FA2-8E0F-C4174E67395C}">
      <dsp:nvSpPr>
        <dsp:cNvPr id="0" name=""/>
        <dsp:cNvSpPr/>
      </dsp:nvSpPr>
      <dsp:spPr>
        <a:xfrm>
          <a:off x="0" y="2067001"/>
          <a:ext cx="8074588" cy="647595"/>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Use the FCFE Model</a:t>
          </a:r>
        </a:p>
      </dsp:txBody>
      <dsp:txXfrm>
        <a:off x="31613" y="2098614"/>
        <a:ext cx="8011362" cy="584369"/>
      </dsp:txXfrm>
    </dsp:sp>
    <dsp:sp modelId="{CDD88DC4-8119-4876-A781-79505B90E272}">
      <dsp:nvSpPr>
        <dsp:cNvPr id="0" name=""/>
        <dsp:cNvSpPr/>
      </dsp:nvSpPr>
      <dsp:spPr>
        <a:xfrm>
          <a:off x="0" y="2714596"/>
          <a:ext cx="8074588" cy="2235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368" tIns="34290" rIns="192024" bIns="34290" numCol="1" spcCol="1270" anchor="t" anchorCtr="0">
          <a:noAutofit/>
        </a:bodyPr>
        <a:lstStyle/>
        <a:p>
          <a:pPr marL="228600" lvl="1" indent="-228600" algn="l" defTabSz="933450" rtl="0">
            <a:lnSpc>
              <a:spcPct val="90000"/>
            </a:lnSpc>
            <a:spcBef>
              <a:spcPct val="0"/>
            </a:spcBef>
            <a:spcAft>
              <a:spcPct val="20000"/>
            </a:spcAft>
            <a:buChar char="•"/>
          </a:pPr>
          <a:r>
            <a:rPr lang="en-US" sz="2100" kern="1200"/>
            <a:t>(a) For  firms which pay dividends which are significantly higher or lower than the Free Cash Flow to Equity. (What is significant? ... As a rule of thumb, if dividends are less than 80% of FCFE or dividends are greater than 110% of  FCFE over a 5-year period, use the FCFE model)</a:t>
          </a:r>
        </a:p>
        <a:p>
          <a:pPr marL="228600" lvl="1" indent="-228600" algn="l" defTabSz="933450" rtl="0">
            <a:lnSpc>
              <a:spcPct val="90000"/>
            </a:lnSpc>
            <a:spcBef>
              <a:spcPct val="0"/>
            </a:spcBef>
            <a:spcAft>
              <a:spcPct val="20000"/>
            </a:spcAft>
            <a:buChar char="•"/>
          </a:pPr>
          <a:r>
            <a:rPr lang="en-US" sz="2100" kern="1200"/>
            <a:t>(b) For firms where dividends are not available (Example: Private Companies, IPOs)</a:t>
          </a:r>
        </a:p>
      </dsp:txBody>
      <dsp:txXfrm>
        <a:off x="0" y="2714596"/>
        <a:ext cx="8074588" cy="2235599"/>
      </dsp:txXfrm>
    </dsp:sp>
  </dsp:spTree>
</dsp:drawing>
</file>

<file path=ppt/diagrams/layout1.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cdr:x>
      <cdr:y>0.41579</cdr:y>
    </cdr:from>
    <cdr:to>
      <cdr:x>0.3375</cdr:x>
      <cdr:y>0.41579</cdr:y>
    </cdr:to>
    <cdr:cxnSp macro="">
      <cdr:nvCxnSpPr>
        <cdr:cNvPr id="3" name="Straight Arrow Connector 2">
          <a:extLst xmlns:a="http://schemas.openxmlformats.org/drawingml/2006/main">
            <a:ext uri="{FF2B5EF4-FFF2-40B4-BE49-F238E27FC236}">
              <a16:creationId xmlns:a16="http://schemas.microsoft.com/office/drawing/2014/main" id="{12EFB98A-CEB4-42CE-C4A8-8E68B5F38F3A}"/>
            </a:ext>
          </a:extLst>
        </cdr:cNvPr>
        <cdr:cNvCxnSpPr/>
      </cdr:nvCxnSpPr>
      <cdr:spPr>
        <a:xfrm xmlns:a="http://schemas.openxmlformats.org/drawingml/2006/main">
          <a:off x="0" y="1584176"/>
          <a:ext cx="2520280" cy="0"/>
        </a:xfrm>
        <a:prstGeom xmlns:a="http://schemas.openxmlformats.org/drawingml/2006/main" prst="straightConnector1">
          <a:avLst/>
        </a:prstGeom>
        <a:ln xmlns:a="http://schemas.openxmlformats.org/drawingml/2006/main">
          <a:tailEnd type="arrow"/>
        </a:ln>
      </cdr:spPr>
      <cdr:style>
        <a:lnRef xmlns:a="http://schemas.openxmlformats.org/drawingml/2006/main" idx="2">
          <a:schemeClr val="accent5"/>
        </a:lnRef>
        <a:fillRef xmlns:a="http://schemas.openxmlformats.org/drawingml/2006/main" idx="0">
          <a:schemeClr val="accent5"/>
        </a:fillRef>
        <a:effectRef xmlns:a="http://schemas.openxmlformats.org/drawingml/2006/main" idx="1">
          <a:schemeClr val="accent5"/>
        </a:effectRef>
        <a:fontRef xmlns:a="http://schemas.openxmlformats.org/drawingml/2006/main" idx="minor">
          <a:schemeClr val="tx1"/>
        </a:fontRef>
      </cdr:style>
    </cdr:cxnSp>
  </cdr:relSizeAnchor>
  <cdr:relSizeAnchor xmlns:cdr="http://schemas.openxmlformats.org/drawingml/2006/chartDrawing">
    <cdr:from>
      <cdr:x>0.3375</cdr:x>
      <cdr:y>0.41579</cdr:y>
    </cdr:from>
    <cdr:to>
      <cdr:x>0.3375</cdr:x>
      <cdr:y>0.98279</cdr:y>
    </cdr:to>
    <cdr:cxnSp macro="">
      <cdr:nvCxnSpPr>
        <cdr:cNvPr id="7" name="Straight Arrow Connector 6">
          <a:extLst xmlns:a="http://schemas.openxmlformats.org/drawingml/2006/main">
            <a:ext uri="{FF2B5EF4-FFF2-40B4-BE49-F238E27FC236}">
              <a16:creationId xmlns:a16="http://schemas.microsoft.com/office/drawing/2014/main" id="{494F06CD-2D24-E0EC-E455-B50BE2EF707A}"/>
            </a:ext>
          </a:extLst>
        </cdr:cNvPr>
        <cdr:cNvCxnSpPr/>
      </cdr:nvCxnSpPr>
      <cdr:spPr>
        <a:xfrm xmlns:a="http://schemas.openxmlformats.org/drawingml/2006/main">
          <a:off x="2520280" y="1584176"/>
          <a:ext cx="0" cy="2160240"/>
        </a:xfrm>
        <a:prstGeom xmlns:a="http://schemas.openxmlformats.org/drawingml/2006/main" prst="straightConnector1">
          <a:avLst/>
        </a:prstGeom>
        <a:ln xmlns:a="http://schemas.openxmlformats.org/drawingml/2006/main">
          <a:tailEnd type="arrow"/>
        </a:ln>
      </cdr:spPr>
      <cdr:style>
        <a:lnRef xmlns:a="http://schemas.openxmlformats.org/drawingml/2006/main" idx="2">
          <a:schemeClr val="accent5"/>
        </a:lnRef>
        <a:fillRef xmlns:a="http://schemas.openxmlformats.org/drawingml/2006/main" idx="0">
          <a:schemeClr val="accent5"/>
        </a:fillRef>
        <a:effectRef xmlns:a="http://schemas.openxmlformats.org/drawingml/2006/main" idx="1">
          <a:schemeClr val="accent5"/>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6CB8FDC-C07E-4C51-8888-E4995BCC5109}" type="datetimeFigureOut">
              <a:rPr lang="en-GB" smtClean="0"/>
              <a:t>29/09/2026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F52725-D848-463C-94D2-37AA8C3FBDF1}" type="slidenum">
              <a:rPr lang="en-GB" smtClean="0"/>
              <a:t>‹#›</a:t>
            </a:fld>
            <a:endParaRPr lang="en-GB"/>
          </a:p>
        </p:txBody>
      </p:sp>
    </p:spTree>
    <p:extLst>
      <p:ext uri="{BB962C8B-B14F-4D97-AF65-F5344CB8AC3E}">
        <p14:creationId xmlns:p14="http://schemas.microsoft.com/office/powerpoint/2010/main" val="817212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6589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Tree>
    <p:extLst>
      <p:ext uri="{BB962C8B-B14F-4D97-AF65-F5344CB8AC3E}">
        <p14:creationId xmlns:p14="http://schemas.microsoft.com/office/powerpoint/2010/main" val="2169551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74320" indent="-274320" eaLnBrk="1" fontAlgn="auto" hangingPunct="1">
              <a:spcBef>
                <a:spcPts val="580"/>
              </a:spcBef>
              <a:spcAft>
                <a:spcPts val="0"/>
              </a:spcAft>
              <a:buFont typeface="Wingdings"/>
              <a:buChar char=""/>
              <a:defRPr/>
            </a:pPr>
            <a:r>
              <a:rPr lang="en-US" dirty="0"/>
              <a:t>In summary, at this stage in the process, we should have an estimate of the </a:t>
            </a:r>
          </a:p>
          <a:p>
            <a:pPr marL="640080" lvl="1" indent="-274320" eaLnBrk="1" fontAlgn="auto" hangingPunct="1">
              <a:spcBef>
                <a:spcPts val="370"/>
              </a:spcBef>
              <a:spcAft>
                <a:spcPts val="0"/>
              </a:spcAft>
              <a:buFont typeface="Wingdings 2"/>
              <a:buChar char=""/>
              <a:defRPr/>
            </a:pPr>
            <a:r>
              <a:rPr lang="en-US" dirty="0"/>
              <a:t>the current cash flows on the investment, either to equity investors (dividends or free cash flows to equity) or to the firm (cash flow to the firm)</a:t>
            </a:r>
          </a:p>
          <a:p>
            <a:pPr marL="640080" lvl="1" indent="-274320" eaLnBrk="1" fontAlgn="auto" hangingPunct="1">
              <a:spcBef>
                <a:spcPts val="370"/>
              </a:spcBef>
              <a:spcAft>
                <a:spcPts val="0"/>
              </a:spcAft>
              <a:buFont typeface="Wingdings 2"/>
              <a:buChar char=""/>
              <a:defRPr/>
            </a:pPr>
            <a:r>
              <a:rPr lang="en-US" dirty="0"/>
              <a:t>the current cost of equity and/or capital on the investment</a:t>
            </a:r>
          </a:p>
          <a:p>
            <a:pPr marL="640080" lvl="1" indent="-274320" eaLnBrk="1" fontAlgn="auto" hangingPunct="1">
              <a:spcBef>
                <a:spcPts val="370"/>
              </a:spcBef>
              <a:spcAft>
                <a:spcPts val="0"/>
              </a:spcAft>
              <a:buFont typeface="Wingdings 2"/>
              <a:buChar char=""/>
              <a:defRPr/>
            </a:pPr>
            <a:r>
              <a:rPr lang="en-US" dirty="0"/>
              <a:t>the expected growth rate in earnings, based upon historical growth, analysts forecasts and/or fundamentals</a:t>
            </a:r>
          </a:p>
          <a:p>
            <a:pPr marL="274320" indent="-274320" eaLnBrk="1" fontAlgn="auto" hangingPunct="1">
              <a:spcBef>
                <a:spcPts val="580"/>
              </a:spcBef>
              <a:spcAft>
                <a:spcPts val="0"/>
              </a:spcAft>
              <a:buFont typeface="Wingdings"/>
              <a:buChar char=""/>
              <a:defRPr/>
            </a:pPr>
            <a:r>
              <a:rPr lang="en-US" dirty="0"/>
              <a:t>The next step in the process is deciding</a:t>
            </a:r>
          </a:p>
          <a:p>
            <a:pPr marL="640080" lvl="1" indent="-274320" eaLnBrk="1" fontAlgn="auto" hangingPunct="1">
              <a:spcBef>
                <a:spcPts val="370"/>
              </a:spcBef>
              <a:spcAft>
                <a:spcPts val="0"/>
              </a:spcAft>
              <a:buFont typeface="Wingdings 2"/>
              <a:buChar char=""/>
              <a:defRPr/>
            </a:pPr>
            <a:r>
              <a:rPr lang="en-US" dirty="0"/>
              <a:t>which cash flow to discount, which should indicate</a:t>
            </a:r>
          </a:p>
          <a:p>
            <a:pPr marL="640080" lvl="1" indent="-274320" eaLnBrk="1" fontAlgn="auto" hangingPunct="1">
              <a:spcBef>
                <a:spcPts val="370"/>
              </a:spcBef>
              <a:spcAft>
                <a:spcPts val="0"/>
              </a:spcAft>
              <a:buFont typeface="Wingdings 2"/>
              <a:buChar char=""/>
              <a:defRPr/>
            </a:pPr>
            <a:r>
              <a:rPr lang="en-US" dirty="0"/>
              <a:t>which discount rate needs to be estimated and </a:t>
            </a:r>
          </a:p>
          <a:p>
            <a:pPr marL="640080" lvl="1" indent="-274320" eaLnBrk="1" fontAlgn="auto" hangingPunct="1">
              <a:spcBef>
                <a:spcPts val="370"/>
              </a:spcBef>
              <a:spcAft>
                <a:spcPts val="0"/>
              </a:spcAft>
              <a:buFont typeface="Wingdings 2"/>
              <a:buChar char=""/>
              <a:defRPr/>
            </a:pPr>
            <a:r>
              <a:rPr lang="en-US" dirty="0"/>
              <a:t>what pattern we will assume growth to follow</a:t>
            </a:r>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pPr eaLnBrk="1" hangingPunct="1">
              <a:spcBef>
                <a:spcPct val="0"/>
              </a:spcBef>
            </a:pPr>
            <a:r>
              <a:rPr lang="en-US" dirty="0"/>
              <a:t>You can estimates </a:t>
            </a:r>
            <a:r>
              <a:rPr lang="en-US" dirty="0" err="1"/>
              <a:t>cashflows</a:t>
            </a:r>
            <a:r>
              <a:rPr lang="en-US" dirty="0"/>
              <a:t>, growth rates and discount rates for equity valuation or firm valuation, but you ultimately have to make a choice about how you will approach valuation.</a:t>
            </a:r>
          </a:p>
        </p:txBody>
      </p:sp>
    </p:spTree>
    <p:extLst>
      <p:ext uri="{BB962C8B-B14F-4D97-AF65-F5344CB8AC3E}">
        <p14:creationId xmlns:p14="http://schemas.microsoft.com/office/powerpoint/2010/main" val="3325514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t>When leverage is stable, you can use the short cut for estimating free cashflows to equity.  When leverage is changing, estimating cashflows to equity becomes problematic because you have to estimate how much cash will be raised from new debt issues and how much old debt will be paid off each year. While you have to adjust the cost of capital in the firm valuation approach for changing leverage, this is much simpler to do than estimating cashflows.</a:t>
            </a:r>
          </a:p>
          <a:p>
            <a:pPr eaLnBrk="1" hangingPunct="1">
              <a:spcBef>
                <a:spcPct val="0"/>
              </a:spcBef>
            </a:pPr>
            <a:r>
              <a:rPr lang="en-US"/>
              <a:t>As a rule, firm valuation is a more flexible approach than equity valuation.</a:t>
            </a:r>
          </a:p>
        </p:txBody>
      </p:sp>
    </p:spTree>
    <p:extLst>
      <p:ext uri="{BB962C8B-B14F-4D97-AF65-F5344CB8AC3E}">
        <p14:creationId xmlns:p14="http://schemas.microsoft.com/office/powerpoint/2010/main" val="3772544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t>Restrict the use of the dividend discount model to those firms where you cannot estimate free cashflows to equity easily - because you cannot identify the net capital expenditures and working capital investments of the firm.</a:t>
            </a:r>
          </a:p>
          <a:p>
            <a:pPr eaLnBrk="1" hangingPunct="1">
              <a:spcBef>
                <a:spcPct val="0"/>
              </a:spcBef>
            </a:pPr>
            <a:r>
              <a:rPr lang="en-US"/>
              <a:t>In all other cases where you have decided to do equity valuation, you will be on safer ground using the free cashflows to equity model.</a:t>
            </a:r>
          </a:p>
          <a:p>
            <a:pPr eaLnBrk="1" hangingPunct="1">
              <a:spcBef>
                <a:spcPct val="0"/>
              </a:spcBef>
            </a:pPr>
            <a:r>
              <a:rPr lang="en-US"/>
              <a:t>In theory, you can make the two models converge by adding the cash accumulated by not paying out dividends to the terminal value in the dividend discount model. In practice, it is difficult to do.</a:t>
            </a:r>
          </a:p>
        </p:txBody>
      </p:sp>
    </p:spTree>
    <p:extLst>
      <p:ext uri="{BB962C8B-B14F-4D97-AF65-F5344CB8AC3E}">
        <p14:creationId xmlns:p14="http://schemas.microsoft.com/office/powerpoint/2010/main" val="2988290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t>Consistency is key. </a:t>
            </a:r>
          </a:p>
        </p:txBody>
      </p:sp>
    </p:spTree>
    <p:extLst>
      <p:ext uri="{BB962C8B-B14F-4D97-AF65-F5344CB8AC3E}">
        <p14:creationId xmlns:p14="http://schemas.microsoft.com/office/powerpoint/2010/main" val="2711920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t>The biggest limitation of the two-stage model is the abrupt change in fundamentals (growth, risk and returns) that occurs as the firm goes from high growth to stable growth. The present value effect is small, though, when you are going from a 10% growth rate to a 5% growth rate and you can use a 2-stage model. If the growth rate is much higher, you should allow for a transition phase to allow time for the inputs to adjust over time.</a:t>
            </a:r>
          </a:p>
        </p:txBody>
      </p:sp>
    </p:spTree>
    <p:extLst>
      <p:ext uri="{BB962C8B-B14F-4D97-AF65-F5344CB8AC3E}">
        <p14:creationId xmlns:p14="http://schemas.microsoft.com/office/powerpoint/2010/main" val="1168059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t>DCF valuation models are like Lego blocks. Combining a cash flow, a discount rate and a growth pattern yields a valuation model. </a:t>
            </a:r>
          </a:p>
        </p:txBody>
      </p:sp>
    </p:spTree>
    <p:extLst>
      <p:ext uri="{BB962C8B-B14F-4D97-AF65-F5344CB8AC3E}">
        <p14:creationId xmlns:p14="http://schemas.microsoft.com/office/powerpoint/2010/main" val="1956138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6793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Firms have infinite lives. Since we cannot estimate cash flows forever, we assume a constant growth rate forever as a way of closing off the valuation.</a:t>
            </a:r>
          </a:p>
          <a:p>
            <a:pPr eaLnBrk="1" hangingPunct="1">
              <a:spcBef>
                <a:spcPct val="0"/>
              </a:spcBef>
            </a:pPr>
            <a:endParaRPr lang="en-US"/>
          </a:p>
          <a:p>
            <a:pPr eaLnBrk="1" hangingPunct="1">
              <a:spcBef>
                <a:spcPct val="0"/>
              </a:spcBef>
            </a:pPr>
            <a:r>
              <a:rPr lang="en-US"/>
              <a:t>A very commonly used variant is to use a multiple of the terminal year’s earnings. This brings an element of relative valuation into the analysis. In a pure DCF model, the terminal value has to be estimated with a  stable growth rate.</a:t>
            </a:r>
          </a:p>
          <a:p>
            <a:pPr eaLnBrk="1" hangingPunct="1">
              <a:spcBef>
                <a:spcPct val="0"/>
              </a:spcBef>
            </a:pPr>
            <a:endParaRPr lang="en-US"/>
          </a:p>
          <a:p>
            <a:pPr eaLnBrk="1" hangingPunct="1">
              <a:spcBef>
                <a:spcPct val="0"/>
              </a:spcBef>
            </a:pPr>
            <a:r>
              <a:rPr lang="en-US"/>
              <a:t>The real choice is between stable growth models and liquidation value. One values the firm as a going concern and the other is based upon shutting the firm down and getting what you can for its assets.</a:t>
            </a:r>
          </a:p>
        </p:txBody>
      </p:sp>
    </p:spTree>
    <p:extLst>
      <p:ext uri="{BB962C8B-B14F-4D97-AF65-F5344CB8AC3E}">
        <p14:creationId xmlns:p14="http://schemas.microsoft.com/office/powerpoint/2010/main" val="3224123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6896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In a stable growth model, the </a:t>
            </a:r>
            <a:r>
              <a:rPr lang="en-US" dirty="0" err="1"/>
              <a:t>cashflows</a:t>
            </a:r>
            <a:r>
              <a:rPr lang="en-US" dirty="0"/>
              <a:t> grow at a constant rate forever. Consequently, this growth rate cannot exceed the growth rate of the economy in which the firm operates - in nominal (real) terms, if you are doing a nominal (real) valuation. In fact, as a simple rule of thumb, the stable growth rate should not be higher than the </a:t>
            </a:r>
            <a:r>
              <a:rPr lang="en-US" dirty="0" err="1"/>
              <a:t>riskfree</a:t>
            </a:r>
            <a:r>
              <a:rPr lang="en-US" dirty="0"/>
              <a:t> rate, since the riskless rate can be viewed as the sum of expected inflation and real growth.</a:t>
            </a:r>
          </a:p>
          <a:p>
            <a:pPr eaLnBrk="1" hangingPunct="1">
              <a:spcBef>
                <a:spcPct val="0"/>
              </a:spcBef>
            </a:pPr>
            <a:endParaRPr lang="en-US" dirty="0"/>
          </a:p>
          <a:p>
            <a:pPr eaLnBrk="1" hangingPunct="1">
              <a:spcBef>
                <a:spcPct val="0"/>
              </a:spcBef>
            </a:pPr>
            <a:r>
              <a:rPr lang="en-US" dirty="0"/>
              <a:t>For the calculation</a:t>
            </a:r>
            <a:r>
              <a:rPr lang="en-US" baseline="0" dirty="0"/>
              <a:t> of the terminal value and the value of the stock we have seen an example in Lecture 1. Question 14 should be a guide.</a:t>
            </a:r>
          </a:p>
          <a:p>
            <a:pPr eaLnBrk="1" hangingPunct="1">
              <a:spcBef>
                <a:spcPct val="0"/>
              </a:spcBef>
            </a:pPr>
            <a:endParaRPr lang="en-US" baseline="0" dirty="0"/>
          </a:p>
          <a:p>
            <a:pPr eaLnBrk="1" hangingPunct="1">
              <a:spcBef>
                <a:spcPct val="0"/>
              </a:spcBef>
            </a:pPr>
            <a:endParaRPr lang="en-US" baseline="0" dirty="0"/>
          </a:p>
          <a:p>
            <a:pPr eaLnBrk="1" hangingPunct="1">
              <a:spcBef>
                <a:spcPct val="0"/>
              </a:spcBef>
            </a:pPr>
            <a:r>
              <a:rPr lang="en-US" dirty="0"/>
              <a:t>Limits</a:t>
            </a:r>
            <a:r>
              <a:rPr lang="en-US" baseline="0" dirty="0"/>
              <a:t> on Stable Growth</a:t>
            </a:r>
          </a:p>
          <a:p>
            <a:pPr eaLnBrk="1" hangingPunct="1">
              <a:spcBef>
                <a:spcPct val="0"/>
              </a:spcBef>
            </a:pPr>
            <a:endParaRPr lang="en-US" baseline="0" dirty="0"/>
          </a:p>
          <a:p>
            <a:pPr marL="274320" indent="-274320" eaLnBrk="1" fontAlgn="auto" hangingPunct="1">
              <a:spcAft>
                <a:spcPts val="0"/>
              </a:spcAft>
              <a:buFont typeface="Wingdings"/>
              <a:buChar char=""/>
              <a:defRPr/>
            </a:pPr>
            <a:r>
              <a:rPr lang="en-US" dirty="0"/>
              <a:t>The stable growth rate cannot exceed the growth rate of the economy but it can be set lower. </a:t>
            </a:r>
          </a:p>
          <a:p>
            <a:pPr marL="640080" lvl="1" indent="-274320" eaLnBrk="1" fontAlgn="auto" hangingPunct="1">
              <a:spcAft>
                <a:spcPts val="0"/>
              </a:spcAft>
              <a:buFont typeface="Wingdings 2"/>
              <a:buChar char=""/>
              <a:defRPr/>
            </a:pPr>
            <a:r>
              <a:rPr lang="en-US" dirty="0"/>
              <a:t>If you assume that the economy is composed of high growth and stable growth firms, the growth rate of the latter will probably be lower than the growth rate of the economy.</a:t>
            </a:r>
          </a:p>
          <a:p>
            <a:pPr marL="640080" lvl="1" indent="-274320" eaLnBrk="1" fontAlgn="auto" hangingPunct="1">
              <a:spcAft>
                <a:spcPts val="0"/>
              </a:spcAft>
              <a:buFont typeface="Wingdings 2"/>
              <a:buChar char=""/>
              <a:defRPr/>
            </a:pPr>
            <a:r>
              <a:rPr lang="en-US" dirty="0"/>
              <a:t>The stable growth rate can be negative. The terminal value will be lower and you are assuming that your firm will disappear over time. </a:t>
            </a:r>
          </a:p>
          <a:p>
            <a:pPr marL="640080" lvl="1" indent="-274320" eaLnBrk="1" fontAlgn="auto" hangingPunct="1">
              <a:spcAft>
                <a:spcPts val="0"/>
              </a:spcAft>
              <a:buFont typeface="Wingdings 2"/>
              <a:buChar char=""/>
              <a:defRPr/>
            </a:pPr>
            <a:r>
              <a:rPr lang="en-US" dirty="0"/>
              <a:t>If you use nominal </a:t>
            </a:r>
            <a:r>
              <a:rPr lang="en-US" dirty="0" err="1"/>
              <a:t>cashflows</a:t>
            </a:r>
            <a:r>
              <a:rPr lang="en-US" dirty="0"/>
              <a:t> and discount rates, the growth rate should be nominal </a:t>
            </a:r>
            <a:r>
              <a:rPr lang="en-US" u="sng" dirty="0"/>
              <a:t>in the currency</a:t>
            </a:r>
            <a:r>
              <a:rPr lang="en-US" dirty="0"/>
              <a:t> in which the valuation is denominated.</a:t>
            </a:r>
          </a:p>
          <a:p>
            <a:pPr marL="274320" indent="-274320" eaLnBrk="1" fontAlgn="auto" hangingPunct="1">
              <a:spcAft>
                <a:spcPts val="0"/>
              </a:spcAft>
              <a:buFont typeface="Wingdings"/>
              <a:buChar char=""/>
              <a:defRPr/>
            </a:pPr>
            <a:r>
              <a:rPr lang="en-US" dirty="0"/>
              <a:t>One simple proxy for the nominal growth rate of the economy is the </a:t>
            </a:r>
            <a:r>
              <a:rPr lang="en-US" dirty="0" err="1"/>
              <a:t>riskfree</a:t>
            </a:r>
            <a:r>
              <a:rPr lang="en-US" dirty="0"/>
              <a:t> rate.</a:t>
            </a:r>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pPr eaLnBrk="1" hangingPunct="1">
              <a:spcBef>
                <a:spcPct val="0"/>
              </a:spcBef>
            </a:pPr>
            <a:r>
              <a:rPr lang="en-US" dirty="0"/>
              <a:t>(If the overall economy is composed of high growth and mature companies, and is growing at 5%, the mature companies must be growing at a rate less than 5%).</a:t>
            </a:r>
          </a:p>
          <a:p>
            <a:pPr eaLnBrk="1" hangingPunct="1">
              <a:spcBef>
                <a:spcPct val="0"/>
              </a:spcBef>
            </a:pPr>
            <a:r>
              <a:rPr lang="en-US" dirty="0"/>
              <a:t>The stable growth rate can be a negative number. This is an intermediate solution between the infinite growth model and liquidation value. Using a negative stable growth rate will make your firm disappear gradually over time.</a:t>
            </a:r>
          </a:p>
          <a:p>
            <a:pPr eaLnBrk="1" hangingPunct="1">
              <a:spcBef>
                <a:spcPct val="0"/>
              </a:spcBef>
            </a:pPr>
            <a:endParaRPr lang="en-US" dirty="0"/>
          </a:p>
          <a:p>
            <a:pPr eaLnBrk="1" hangingPunct="1">
              <a:spcBef>
                <a:spcPct val="0"/>
              </a:spcBef>
            </a:pPr>
            <a:endParaRPr lang="en-US" dirty="0"/>
          </a:p>
        </p:txBody>
      </p:sp>
    </p:spTree>
    <p:extLst>
      <p:ext uri="{BB962C8B-B14F-4D97-AF65-F5344CB8AC3E}">
        <p14:creationId xmlns:p14="http://schemas.microsoft.com/office/powerpoint/2010/main" val="3786372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r>
              <a:rPr lang="en-GB" b="1" dirty="0"/>
              <a:t>A</a:t>
            </a:r>
            <a:r>
              <a:rPr lang="en-GB" b="1" baseline="0" dirty="0"/>
              <a:t>n interesting story</a:t>
            </a:r>
          </a:p>
          <a:p>
            <a:endParaRPr lang="en-GB" b="1" baseline="0" dirty="0"/>
          </a:p>
          <a:p>
            <a:r>
              <a:rPr lang="en-GB" b="0" baseline="0" dirty="0"/>
              <a:t>The expected growth rate of a company cannot be independent of macroeconomic factors. European countries do not have the power to print money to enhance or deter fiscal policies, at least not in individual country level. However, in an effort to avoid deflation, European Central Banks and the ECB provide very low interest rates. This provides cheap funding, an alternative to printing money.</a:t>
            </a:r>
          </a:p>
          <a:p>
            <a:endParaRPr lang="en-GB" b="0" baseline="0" dirty="0"/>
          </a:p>
          <a:p>
            <a:r>
              <a:rPr lang="en-GB" b="0" baseline="0" dirty="0"/>
              <a:t>This allows banks to borrow cheap and thus, to lend at lower rates. This consequently reduces cost of corporate debt. We are concerned because this has an impact on value and expected growth. </a:t>
            </a:r>
          </a:p>
          <a:p>
            <a:endParaRPr lang="en-GB" b="0" baseline="0" dirty="0"/>
          </a:p>
          <a:p>
            <a:r>
              <a:rPr lang="en-GB" b="0" baseline="0" dirty="0"/>
              <a:t>The states and the UK can combine both low interest rates and printing money. The anticipation is a systematic risk component that affects all firms in the economy.</a:t>
            </a:r>
          </a:p>
          <a:p>
            <a:endParaRPr lang="en-GB" b="0" baseline="0" dirty="0"/>
          </a:p>
          <a:p>
            <a:r>
              <a:rPr lang="en-GB" b="0" baseline="0" dirty="0"/>
              <a:t>In the UK rates are expected to stay low for a while</a:t>
            </a:r>
          </a:p>
          <a:p>
            <a:endParaRPr lang="en-GB" b="0" baseline="0" dirty="0"/>
          </a:p>
          <a:p>
            <a:r>
              <a:rPr lang="en-GB" b="0" dirty="0"/>
              <a:t>http://money.uk.msn.com/news/rates-remain-at-low-for-five-years</a:t>
            </a:r>
          </a:p>
          <a:p>
            <a:endParaRPr lang="en-GB" b="0" dirty="0"/>
          </a:p>
          <a:p>
            <a:r>
              <a:rPr lang="en-GB" b="0" dirty="0"/>
              <a:t>In the opening months of 2016 markets experience a “rollercoaster” high</a:t>
            </a:r>
            <a:r>
              <a:rPr lang="en-GB" b="0" baseline="0" dirty="0"/>
              <a:t> volatility trading period. Trying to forecast macroeconomic growth on the longer term, might be tricky. Here is the opinion of a </a:t>
            </a:r>
            <a:r>
              <a:rPr lang="en-GB" b="0" baseline="0"/>
              <a:t>Nobel laureate on </a:t>
            </a:r>
            <a:r>
              <a:rPr lang="en-GB" b="0" baseline="0" dirty="0"/>
              <a:t>the topic.</a:t>
            </a:r>
          </a:p>
          <a:p>
            <a:endParaRPr lang="en-GB" b="0" baseline="0" dirty="0"/>
          </a:p>
          <a:p>
            <a:r>
              <a:rPr lang="en-GB" b="0" dirty="0"/>
              <a:t>http://www.theguardian.com/business/2016/feb/08/whats-holding-back-world-economy-joseph-e-stiglitz</a:t>
            </a:r>
          </a:p>
          <a:p>
            <a:endParaRPr lang="en-GB" b="1" dirty="0"/>
          </a:p>
          <a:p>
            <a:endParaRPr lang="en-GB" b="1" dirty="0"/>
          </a:p>
          <a:p>
            <a:r>
              <a:rPr lang="en-GB" b="1" dirty="0"/>
              <a:t>Obey the Growth Cap</a:t>
            </a:r>
          </a:p>
          <a:p>
            <a:endParaRPr lang="en-GB" dirty="0"/>
          </a:p>
          <a:p>
            <a:endParaRPr lang="en-GB" dirty="0"/>
          </a:p>
          <a:p>
            <a:pPr eaLnBrk="1" hangingPunct="1">
              <a:spcBef>
                <a:spcPct val="0"/>
              </a:spcBef>
            </a:pPr>
            <a:r>
              <a:rPr lang="en-US" dirty="0"/>
              <a:t>Limits</a:t>
            </a:r>
            <a:r>
              <a:rPr lang="en-US" baseline="0" dirty="0"/>
              <a:t> on Stable Growth</a:t>
            </a:r>
          </a:p>
          <a:p>
            <a:pPr eaLnBrk="1" hangingPunct="1">
              <a:spcBef>
                <a:spcPct val="0"/>
              </a:spcBef>
            </a:pPr>
            <a:endParaRPr lang="en-US" baseline="0" dirty="0"/>
          </a:p>
          <a:p>
            <a:pPr marL="274320" indent="-274320" eaLnBrk="1" fontAlgn="auto" hangingPunct="1">
              <a:spcAft>
                <a:spcPts val="0"/>
              </a:spcAft>
              <a:buFont typeface="Wingdings"/>
              <a:buChar char=""/>
              <a:defRPr/>
            </a:pPr>
            <a:r>
              <a:rPr lang="en-US" dirty="0"/>
              <a:t>The stable growth rate cannot exceed the growth rate of the economy but it can be set lower. </a:t>
            </a:r>
          </a:p>
          <a:p>
            <a:pPr marL="640080" lvl="1" indent="-274320" eaLnBrk="1" fontAlgn="auto" hangingPunct="1">
              <a:spcAft>
                <a:spcPts val="0"/>
              </a:spcAft>
              <a:buFont typeface="Wingdings 2"/>
              <a:buChar char=""/>
              <a:defRPr/>
            </a:pPr>
            <a:r>
              <a:rPr lang="en-US" dirty="0"/>
              <a:t>If you assume that the economy is composed of high growth and stable growth firms, the growth rate of the latter will probably be lower than the growth rate of the economy.</a:t>
            </a:r>
          </a:p>
          <a:p>
            <a:pPr marL="640080" lvl="1" indent="-274320" eaLnBrk="1" fontAlgn="auto" hangingPunct="1">
              <a:spcAft>
                <a:spcPts val="0"/>
              </a:spcAft>
              <a:buFont typeface="Wingdings 2"/>
              <a:buChar char=""/>
              <a:defRPr/>
            </a:pPr>
            <a:r>
              <a:rPr lang="en-US" dirty="0"/>
              <a:t>The stable growth rate can be negative. The terminal value will be lower and you are assuming that your firm will disappear over time. </a:t>
            </a:r>
          </a:p>
          <a:p>
            <a:pPr marL="640080" lvl="1" indent="-274320" eaLnBrk="1" fontAlgn="auto" hangingPunct="1">
              <a:spcAft>
                <a:spcPts val="0"/>
              </a:spcAft>
              <a:buFont typeface="Wingdings 2"/>
              <a:buChar char=""/>
              <a:defRPr/>
            </a:pPr>
            <a:r>
              <a:rPr lang="en-US" dirty="0"/>
              <a:t>If you use nominal </a:t>
            </a:r>
            <a:r>
              <a:rPr lang="en-US" dirty="0" err="1"/>
              <a:t>cashflows</a:t>
            </a:r>
            <a:r>
              <a:rPr lang="en-US" dirty="0"/>
              <a:t> and discount rates, the growth rate should be nominal </a:t>
            </a:r>
            <a:r>
              <a:rPr lang="en-US" u="sng" dirty="0"/>
              <a:t>in the currency</a:t>
            </a:r>
            <a:r>
              <a:rPr lang="en-US" dirty="0"/>
              <a:t> in which the valuation is denominated.</a:t>
            </a:r>
          </a:p>
          <a:p>
            <a:pPr marL="274320" indent="-274320" eaLnBrk="1" fontAlgn="auto" hangingPunct="1">
              <a:spcAft>
                <a:spcPts val="0"/>
              </a:spcAft>
              <a:buFont typeface="Wingdings"/>
              <a:buChar char=""/>
              <a:defRPr/>
            </a:pPr>
            <a:r>
              <a:rPr lang="en-US" dirty="0"/>
              <a:t>One simple proxy for the nominal growth rate of the economy is the </a:t>
            </a:r>
            <a:r>
              <a:rPr lang="en-US" dirty="0" err="1"/>
              <a:t>riskfree</a:t>
            </a:r>
            <a:r>
              <a:rPr lang="en-US" dirty="0"/>
              <a:t> rate.</a:t>
            </a:r>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pPr eaLnBrk="1" hangingPunct="1">
              <a:spcBef>
                <a:spcPct val="0"/>
              </a:spcBef>
            </a:pPr>
            <a:r>
              <a:rPr lang="en-US" dirty="0"/>
              <a:t>(If the overall economy is composed of high growth and mature companies, and is growing at 5%, the mature companies must be growing at a rate less than 5%).</a:t>
            </a:r>
          </a:p>
          <a:p>
            <a:pPr eaLnBrk="1" hangingPunct="1">
              <a:spcBef>
                <a:spcPct val="0"/>
              </a:spcBef>
            </a:pPr>
            <a:r>
              <a:rPr lang="en-US" dirty="0"/>
              <a:t>The stable growth rate can be a negative number. This is an intermediate solution between the infinite growth model and liquidation value. Using a negative stable growth rate will make your firm disappear gradually over time.</a:t>
            </a:r>
          </a:p>
          <a:p>
            <a:endParaRPr lang="en-GB" dirty="0"/>
          </a:p>
          <a:p>
            <a:endParaRPr lang="en-GB" dirty="0"/>
          </a:p>
          <a:p>
            <a:endParaRPr lang="en-GB" dirty="0"/>
          </a:p>
          <a:p>
            <a:endParaRPr lang="en-GB" dirty="0"/>
          </a:p>
          <a:p>
            <a:r>
              <a:rPr lang="en-GB" b="1" dirty="0"/>
              <a:t>High</a:t>
            </a:r>
            <a:r>
              <a:rPr lang="en-GB" b="1" baseline="0" dirty="0"/>
              <a:t> Growth Period</a:t>
            </a:r>
          </a:p>
          <a:p>
            <a:endParaRPr lang="en-GB" baseline="0" dirty="0"/>
          </a:p>
          <a:p>
            <a:endParaRPr lang="en-GB" baseline="0" dirty="0"/>
          </a:p>
          <a:p>
            <a:r>
              <a:rPr lang="en-US" dirty="0">
                <a:latin typeface="Times" pitchFamily="3" charset="0"/>
              </a:rPr>
              <a:t>Firms that grow for longer than 5 years are more the exception rather than the rule. We may be routinely over valuing growth companies as a consequence.</a:t>
            </a:r>
          </a:p>
          <a:p>
            <a:r>
              <a:rPr lang="en-US" dirty="0">
                <a:latin typeface="Times" pitchFamily="3" charset="0"/>
              </a:rPr>
              <a:t>As a consequence, I use only three growth periods in my DCF valuations:</a:t>
            </a:r>
          </a:p>
          <a:p>
            <a:pPr>
              <a:buFontTx/>
              <a:buChar char="-"/>
            </a:pPr>
            <a:r>
              <a:rPr lang="en-US" dirty="0">
                <a:latin typeface="Times" pitchFamily="3" charset="0"/>
              </a:rPr>
              <a:t>Zero years, for firms that are already large and mature firms (Firms like Toyota and Exxon Mobil)</a:t>
            </a:r>
          </a:p>
          <a:p>
            <a:pPr>
              <a:buFontTx/>
              <a:buChar char="-"/>
            </a:pPr>
            <a:r>
              <a:rPr lang="en-US" dirty="0">
                <a:latin typeface="Times" pitchFamily="3" charset="0"/>
              </a:rPr>
              <a:t>5 years for firms that still retain moderate growth potential or significant competitive advantages. </a:t>
            </a:r>
          </a:p>
          <a:p>
            <a:pPr>
              <a:buFontTx/>
              <a:buChar char="-"/>
            </a:pPr>
            <a:r>
              <a:rPr lang="en-US" dirty="0">
                <a:latin typeface="Times" pitchFamily="3" charset="0"/>
              </a:rPr>
              <a:t>10 years for high growth firms.</a:t>
            </a:r>
          </a:p>
          <a:p>
            <a:r>
              <a:rPr lang="en-US" dirty="0">
                <a:latin typeface="Times" pitchFamily="3" charset="0"/>
              </a:rPr>
              <a:t>You do not want to value your firm to be the exception… That is asking for trouble..</a:t>
            </a:r>
          </a:p>
          <a:p>
            <a:endParaRPr lang="en-GB" dirty="0"/>
          </a:p>
          <a:p>
            <a:endParaRPr lang="en-GB" dirty="0"/>
          </a:p>
          <a:p>
            <a:endParaRPr lang="en-GB" dirty="0"/>
          </a:p>
          <a:p>
            <a:endParaRPr lang="en-GB" dirty="0"/>
          </a:p>
          <a:p>
            <a:r>
              <a:rPr lang="en-GB" b="1" dirty="0"/>
              <a:t>Re-investment</a:t>
            </a:r>
            <a:r>
              <a:rPr lang="en-GB" b="1" baseline="0" dirty="0"/>
              <a:t> Needs</a:t>
            </a:r>
          </a:p>
          <a:p>
            <a:endParaRPr lang="en-GB" baseline="0" dirty="0"/>
          </a:p>
          <a:p>
            <a:endParaRPr lang="en-GB" baseline="0" dirty="0"/>
          </a:p>
          <a:p>
            <a:pPr eaLnBrk="1" hangingPunct="1"/>
            <a:r>
              <a:rPr lang="en-US" dirty="0"/>
              <a:t>Don</a:t>
            </a:r>
            <a:r>
              <a:rPr lang="ja-JP" altLang="en-US" dirty="0"/>
              <a:t>’</a:t>
            </a:r>
            <a:r>
              <a:rPr lang="en-US" altLang="ja-JP" dirty="0"/>
              <a:t>t forget that growth has to be earned..</a:t>
            </a:r>
            <a:br>
              <a:rPr lang="en-US" altLang="ja-JP" dirty="0"/>
            </a:br>
            <a:r>
              <a:rPr lang="en-US" dirty="0"/>
              <a:t>In the section on expected growth, we laid out the fundamental equation for growth:</a:t>
            </a:r>
          </a:p>
          <a:p>
            <a:pPr algn="ctr" eaLnBrk="1" hangingPunct="1">
              <a:buFont typeface="Monotype Sorts" pitchFamily="3" charset="2"/>
              <a:buNone/>
            </a:pPr>
            <a:r>
              <a:rPr lang="en-US" sz="1600" dirty="0"/>
              <a:t>Growth rate = Reinvestment Rate * Return on invested capital </a:t>
            </a:r>
          </a:p>
          <a:p>
            <a:pPr algn="ctr" eaLnBrk="1" hangingPunct="1">
              <a:buFont typeface="Monotype Sorts" pitchFamily="3" charset="2"/>
              <a:buNone/>
            </a:pPr>
            <a:r>
              <a:rPr lang="en-US" sz="1600" dirty="0"/>
              <a:t>+ Growth rate from improved efficiency</a:t>
            </a:r>
          </a:p>
          <a:p>
            <a:pPr eaLnBrk="1" hangingPunct="1"/>
            <a:r>
              <a:rPr lang="en-US" dirty="0"/>
              <a:t>In stable growth, you cannot count on efficiency delivering growth (why?) and you have to reinvest to deliver the growth rate that you have forecast.  Consequently, your reinvestment rate in stable growth will be a function of your stable growth rate and what you believe the firm will earn as a return on capital in perpetuity:</a:t>
            </a:r>
          </a:p>
          <a:p>
            <a:pPr lvl="1" eaLnBrk="1" hangingPunct="1"/>
            <a:r>
              <a:rPr lang="en-US" dirty="0"/>
              <a:t>Reinvestment Rate = Stable growth rate/ Stable period Return on capital</a:t>
            </a:r>
          </a:p>
          <a:p>
            <a:pPr eaLnBrk="1" hangingPunct="1"/>
            <a:r>
              <a:rPr lang="en-US" dirty="0"/>
              <a:t>A key issue in valuation is whether it okay to assume that firms can earn more than their cost of capital in perpetuity. There are some (McKinsey, for instance) who argue that the return on capital = cost of capital in stable growth…</a:t>
            </a:r>
          </a:p>
          <a:p>
            <a:endParaRPr lang="en-US" dirty="0">
              <a:latin typeface="Times" pitchFamily="3" charset="0"/>
            </a:endParaRPr>
          </a:p>
          <a:p>
            <a:endParaRPr lang="en-US" dirty="0">
              <a:latin typeface="Times" pitchFamily="3" charset="0"/>
            </a:endParaRPr>
          </a:p>
          <a:p>
            <a:endParaRPr lang="en-US" dirty="0">
              <a:latin typeface="Times" pitchFamily="3" charset="0"/>
            </a:endParaRPr>
          </a:p>
          <a:p>
            <a:r>
              <a:rPr lang="en-US" dirty="0">
                <a:latin typeface="Times" pitchFamily="3" charset="0"/>
              </a:rPr>
              <a:t>This is the key balancing assumption that keeps terminal values from becoming unbounded. If you can change the growth rate without changing the reinvestment assumptions, you can make any firm worth any amount of money.</a:t>
            </a:r>
          </a:p>
          <a:p>
            <a:r>
              <a:rPr lang="en-US" dirty="0">
                <a:latin typeface="Times" pitchFamily="3" charset="0"/>
              </a:rPr>
              <a:t>If you adopt this rule, the terminal value becomes a function of the return on capital:</a:t>
            </a:r>
          </a:p>
          <a:p>
            <a:r>
              <a:rPr lang="en-US" dirty="0">
                <a:latin typeface="Times" pitchFamily="3" charset="0"/>
              </a:rPr>
              <a:t>Terminal value = EBIT (1-t) (1- g/ROC)/ (Cost of capital –g)</a:t>
            </a:r>
          </a:p>
          <a:p>
            <a:r>
              <a:rPr lang="en-US" dirty="0">
                <a:latin typeface="Times" pitchFamily="3" charset="0"/>
              </a:rPr>
              <a:t>If ROC = Cost of capital,</a:t>
            </a:r>
          </a:p>
          <a:p>
            <a:r>
              <a:rPr lang="en-US" dirty="0">
                <a:latin typeface="Times" pitchFamily="3" charset="0"/>
              </a:rPr>
              <a:t>Terminal value = EBIT (1-t)/ Cost of capital</a:t>
            </a:r>
          </a:p>
          <a:p>
            <a:r>
              <a:rPr lang="en-US" dirty="0">
                <a:latin typeface="Times" pitchFamily="3" charset="0"/>
              </a:rPr>
              <a:t>The growth effect is neutralized entirely by the reinvestment requirement and the terminal value is invariant to the growth rate assumed.</a:t>
            </a:r>
          </a:p>
          <a:p>
            <a:endParaRPr lang="en-GB" dirty="0"/>
          </a:p>
          <a:p>
            <a:endParaRPr lang="en-GB" dirty="0"/>
          </a:p>
          <a:p>
            <a:endParaRPr lang="en-GB" dirty="0"/>
          </a:p>
          <a:p>
            <a:r>
              <a:rPr lang="en-GB" b="1" dirty="0"/>
              <a:t>Be Consistent</a:t>
            </a:r>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pitchFamily="3" charset="0"/>
              </a:rPr>
              <a:t>If you reduce the growth rate but leave the other characteristics of the firm unchanged, you will create internal inconsistencies in your valuation. This can happen if you forecast out the cash flow in your terminal year as the cash flow in the year prior augmented by the stable growth rate. (You are then locking in the reinvestment rate assumptions in the last year of high growth in perpetuity)</a:t>
            </a:r>
          </a:p>
          <a:p>
            <a:endParaRPr lang="en-GB" dirty="0"/>
          </a:p>
        </p:txBody>
      </p:sp>
      <p:sp>
        <p:nvSpPr>
          <p:cNvPr id="4" name="Slide Number Placeholder 3"/>
          <p:cNvSpPr>
            <a:spLocks noGrp="1"/>
          </p:cNvSpPr>
          <p:nvPr>
            <p:ph type="sldNum" sz="quarter" idx="10"/>
          </p:nvPr>
        </p:nvSpPr>
        <p:spPr/>
        <p:txBody>
          <a:bodyPr/>
          <a:lstStyle/>
          <a:p>
            <a:pPr>
              <a:defRPr/>
            </a:pPr>
            <a:fld id="{7B2A8712-D9C4-4A57-8EFC-F418FF8F9E97}" type="slidenum">
              <a:rPr lang="en-GB" smtClean="0"/>
              <a:pPr>
                <a:defRPr/>
              </a:pPr>
              <a:t>15</a:t>
            </a:fld>
            <a:endParaRPr lang="en-GB"/>
          </a:p>
        </p:txBody>
      </p:sp>
    </p:spTree>
    <p:extLst>
      <p:ext uri="{BB962C8B-B14F-4D97-AF65-F5344CB8AC3E}">
        <p14:creationId xmlns:p14="http://schemas.microsoft.com/office/powerpoint/2010/main" val="71606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7101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In each and every pattern, your firm ends in stable growth. It is not a question of whether, it is a question of when.</a:t>
            </a:r>
          </a:p>
        </p:txBody>
      </p:sp>
    </p:spTree>
    <p:extLst>
      <p:ext uri="{BB962C8B-B14F-4D97-AF65-F5344CB8AC3E}">
        <p14:creationId xmlns:p14="http://schemas.microsoft.com/office/powerpoint/2010/main" val="4100946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p:spPr>
      </p:sp>
      <p:sp>
        <p:nvSpPr>
          <p:cNvPr id="17203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dirty="0"/>
              <a:t>Another Interesting</a:t>
            </a:r>
            <a:r>
              <a:rPr lang="en-US" b="1" baseline="0" dirty="0"/>
              <a:t> Story</a:t>
            </a:r>
          </a:p>
          <a:p>
            <a:pPr eaLnBrk="1" hangingPunct="1">
              <a:spcBef>
                <a:spcPct val="0"/>
              </a:spcBef>
            </a:pPr>
            <a:endParaRPr lang="en-US" baseline="0" dirty="0"/>
          </a:p>
          <a:p>
            <a:pPr eaLnBrk="1" hangingPunct="1">
              <a:spcBef>
                <a:spcPct val="0"/>
              </a:spcBef>
            </a:pPr>
            <a:r>
              <a:rPr lang="en-US" dirty="0"/>
              <a:t>What happens if our</a:t>
            </a:r>
            <a:r>
              <a:rPr lang="en-US" baseline="0" dirty="0"/>
              <a:t> expectations over- or under-shoot the realized growth? Apple missed expected sales growth. It is in a very competitive business and thus radical actions are needed. They bought back $14 billion worth of shares, in an effort to keep share prices.</a:t>
            </a:r>
            <a:endParaRPr lang="en-US" dirty="0"/>
          </a:p>
          <a:p>
            <a:pPr eaLnBrk="1" hangingPunct="1">
              <a:spcBef>
                <a:spcPct val="0"/>
              </a:spcBef>
            </a:pPr>
            <a:endParaRPr lang="en-US" dirty="0"/>
          </a:p>
          <a:p>
            <a:pPr eaLnBrk="1" hangingPunct="1">
              <a:spcBef>
                <a:spcPct val="0"/>
              </a:spcBef>
            </a:pPr>
            <a:r>
              <a:rPr lang="en-US" dirty="0"/>
              <a:t>Four</a:t>
            </a:r>
            <a:r>
              <a:rPr lang="en-US" baseline="0" dirty="0"/>
              <a:t> things that we should be concerned with</a:t>
            </a:r>
            <a:endParaRPr lang="en-US" dirty="0"/>
          </a:p>
          <a:p>
            <a:pPr eaLnBrk="1" hangingPunct="1">
              <a:spcBef>
                <a:spcPct val="0"/>
              </a:spcBef>
            </a:pPr>
            <a:endParaRPr lang="en-US" dirty="0"/>
          </a:p>
          <a:p>
            <a:pPr marL="171450" indent="-171450" eaLnBrk="1" hangingPunct="1">
              <a:spcBef>
                <a:spcPct val="0"/>
              </a:spcBef>
              <a:buFont typeface="Arial" pitchFamily="34" charset="0"/>
              <a:buChar char="•"/>
            </a:pPr>
            <a:r>
              <a:rPr lang="en-US" dirty="0"/>
              <a:t>Dividend discounted</a:t>
            </a:r>
            <a:r>
              <a:rPr lang="en-US" baseline="0" dirty="0"/>
              <a:t> models should not be suitable, or they should take into consideration stock buybacks</a:t>
            </a:r>
          </a:p>
          <a:p>
            <a:pPr marL="171450" indent="-171450" eaLnBrk="1" hangingPunct="1">
              <a:spcBef>
                <a:spcPct val="0"/>
              </a:spcBef>
              <a:buFont typeface="Arial" pitchFamily="34" charset="0"/>
              <a:buChar char="•"/>
            </a:pPr>
            <a:r>
              <a:rPr lang="en-US" baseline="0" dirty="0"/>
              <a:t>The length of high growth period for Apple might need to be re-adjusted</a:t>
            </a:r>
          </a:p>
          <a:p>
            <a:pPr marL="171450" indent="-171450" eaLnBrk="1" hangingPunct="1">
              <a:spcBef>
                <a:spcPct val="0"/>
              </a:spcBef>
              <a:buFont typeface="Arial" pitchFamily="34" charset="0"/>
              <a:buChar char="•"/>
            </a:pPr>
            <a:r>
              <a:rPr lang="en-US" baseline="0" dirty="0"/>
              <a:t>The high growth expectations might have been over-estimated</a:t>
            </a:r>
          </a:p>
          <a:p>
            <a:pPr marL="171450" indent="-171450" eaLnBrk="1" hangingPunct="1">
              <a:spcBef>
                <a:spcPct val="0"/>
              </a:spcBef>
              <a:buFont typeface="Arial" pitchFamily="34" charset="0"/>
              <a:buChar char="•"/>
            </a:pPr>
            <a:r>
              <a:rPr lang="en-US" baseline="0" dirty="0"/>
              <a:t>The quality of management. They are good in dealing with crises, but they are not up to maintaining previously gained growth</a:t>
            </a:r>
          </a:p>
          <a:p>
            <a:pPr eaLnBrk="1" hangingPunct="1">
              <a:spcBef>
                <a:spcPct val="0"/>
              </a:spcBef>
            </a:pPr>
            <a:br>
              <a:rPr lang="en-US" baseline="0" dirty="0"/>
            </a:br>
            <a:r>
              <a:rPr lang="en-US" baseline="0" dirty="0"/>
              <a:t>All these might suggest that stock might be long term over-valued. However, management will take the actions to maintain the price of existing shares. Shall we go short or long?</a:t>
            </a:r>
            <a:endParaRPr lang="en-US" dirty="0"/>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pPr eaLnBrk="1" hangingPunct="1">
              <a:spcBef>
                <a:spcPct val="0"/>
              </a:spcBef>
            </a:pPr>
            <a:r>
              <a:rPr lang="en-US" b="1" dirty="0"/>
              <a:t>Determinant</a:t>
            </a:r>
            <a:r>
              <a:rPr lang="en-US" b="1" baseline="0" dirty="0"/>
              <a:t>s of Growth</a:t>
            </a:r>
            <a:endParaRPr lang="en-US" b="1" dirty="0"/>
          </a:p>
          <a:p>
            <a:pPr eaLnBrk="1" hangingPunct="1">
              <a:spcBef>
                <a:spcPct val="0"/>
              </a:spcBef>
            </a:pPr>
            <a:endParaRPr lang="en-US" dirty="0"/>
          </a:p>
          <a:p>
            <a:pPr eaLnBrk="1" hangingPunct="1">
              <a:spcBef>
                <a:spcPct val="0"/>
              </a:spcBef>
            </a:pPr>
            <a:endParaRPr lang="en-US" dirty="0"/>
          </a:p>
          <a:p>
            <a:pPr eaLnBrk="1" hangingPunct="1">
              <a:spcBef>
                <a:spcPct val="0"/>
              </a:spcBef>
            </a:pPr>
            <a:r>
              <a:rPr lang="en-US" dirty="0"/>
              <a:t>When looking at the firm, you probably want to also look at the size of the market and the growth rate in that market. Even large firms may be able to get some breathing room on growth if they operate in markets that are growing - </a:t>
            </a:r>
            <a:r>
              <a:rPr lang="en-US" dirty="0" err="1"/>
              <a:t>eg</a:t>
            </a:r>
            <a:r>
              <a:rPr lang="en-US" dirty="0"/>
              <a:t>. Microsoft in the software market.</a:t>
            </a:r>
          </a:p>
          <a:p>
            <a:pPr eaLnBrk="1" hangingPunct="1">
              <a:spcBef>
                <a:spcPct val="0"/>
              </a:spcBef>
            </a:pPr>
            <a:r>
              <a:rPr lang="en-US" dirty="0"/>
              <a:t>You want to give some weight to momentum in past growth. I would weight revenue growth a lot more than income growth, since accounting rules can be used to pump up the latter.</a:t>
            </a:r>
          </a:p>
          <a:p>
            <a:pPr eaLnBrk="1" hangingPunct="1">
              <a:spcBef>
                <a:spcPct val="0"/>
              </a:spcBef>
            </a:pPr>
            <a:endParaRPr lang="en-US" dirty="0"/>
          </a:p>
          <a:p>
            <a:pPr eaLnBrk="1" hangingPunct="1">
              <a:spcBef>
                <a:spcPct val="0"/>
              </a:spcBef>
            </a:pPr>
            <a:r>
              <a:rPr lang="en-US" dirty="0"/>
              <a:t>Ultimately, though, it is not growth that creates value but excess returns. The essence of value creating growth then is the existence of competitive advantages that are large and sustainable. The larger and more sustainable these advantages are, the longer the growth period can be.</a:t>
            </a:r>
          </a:p>
          <a:p>
            <a:pPr eaLnBrk="1" hangingPunct="1">
              <a:spcBef>
                <a:spcPct val="0"/>
              </a:spcBef>
            </a:pPr>
            <a:endParaRPr lang="en-US" dirty="0"/>
          </a:p>
          <a:p>
            <a:pPr eaLnBrk="1" hangingPunct="1">
              <a:spcBef>
                <a:spcPct val="0"/>
              </a:spcBef>
            </a:pPr>
            <a:r>
              <a:rPr lang="en-US" i="1" dirty="0"/>
              <a:t>Company	Competitive Advantage	Assessment</a:t>
            </a:r>
          </a:p>
          <a:p>
            <a:pPr eaLnBrk="1" hangingPunct="1">
              <a:spcBef>
                <a:spcPct val="0"/>
              </a:spcBef>
            </a:pPr>
            <a:endParaRPr lang="en-US" dirty="0"/>
          </a:p>
          <a:p>
            <a:pPr eaLnBrk="1" hangingPunct="1">
              <a:spcBef>
                <a:spcPct val="0"/>
              </a:spcBef>
            </a:pPr>
            <a:r>
              <a:rPr lang="en-US" dirty="0"/>
              <a:t>Coca Cola	Brand Name		Large and sustainable. Difficult to replicate brand name.</a:t>
            </a:r>
          </a:p>
          <a:p>
            <a:pPr eaLnBrk="1" hangingPunct="1">
              <a:spcBef>
                <a:spcPct val="0"/>
              </a:spcBef>
            </a:pPr>
            <a:r>
              <a:rPr lang="en-US" dirty="0"/>
              <a:t>Bristol Myers	Patents, R&amp;D		Large and sustainable because of legal protection in the U.S. Less so in overseas expansion.</a:t>
            </a:r>
          </a:p>
          <a:p>
            <a:pPr eaLnBrk="1" hangingPunct="1">
              <a:spcBef>
                <a:spcPct val="0"/>
              </a:spcBef>
            </a:pPr>
            <a:r>
              <a:rPr lang="en-US" dirty="0"/>
              <a:t>Amazon	First Mover, Technological,	Firm seems to be still searching Brand Name for its advantage.</a:t>
            </a:r>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pPr eaLnBrk="1" hangingPunct="1">
              <a:spcBef>
                <a:spcPct val="0"/>
              </a:spcBef>
            </a:pPr>
            <a:r>
              <a:rPr lang="en-US" dirty="0"/>
              <a:t>Stable Growth and Fundamentals. What happens to a firm when it reaches stable growth.</a:t>
            </a:r>
          </a:p>
          <a:p>
            <a:pPr eaLnBrk="1" hangingPunct="1">
              <a:spcBef>
                <a:spcPct val="0"/>
              </a:spcBef>
            </a:pPr>
            <a:endParaRPr lang="en-US" dirty="0"/>
          </a:p>
          <a:p>
            <a:pPr eaLnBrk="1" hangingPunct="1">
              <a:tabLst>
                <a:tab pos="1320800" algn="l"/>
                <a:tab pos="4351338" algn="l"/>
              </a:tabLst>
            </a:pPr>
            <a:r>
              <a:rPr lang="en-US" sz="1200" dirty="0"/>
              <a:t>The growth rate of a firm is driven by its fundamentals - how much it reinvests and how high project returns are. As growth rates approach “stability”, the firm should be given the characteristics of a stable growth firm.</a:t>
            </a:r>
          </a:p>
          <a:p>
            <a:pPr eaLnBrk="1" hangingPunct="1">
              <a:tabLst>
                <a:tab pos="1320800" algn="l"/>
                <a:tab pos="4351338" algn="l"/>
              </a:tabLst>
            </a:pPr>
            <a:endParaRPr lang="en-US" sz="1200" dirty="0"/>
          </a:p>
          <a:p>
            <a:pPr eaLnBrk="1" hangingPunct="1">
              <a:buFont typeface="Monotype Sorts" charset="2"/>
              <a:buNone/>
              <a:tabLst>
                <a:tab pos="1320800" algn="l"/>
                <a:tab pos="4351338" algn="l"/>
              </a:tabLst>
            </a:pPr>
            <a:r>
              <a:rPr lang="en-US" sz="1200" i="1" dirty="0"/>
              <a:t>Model	High Growth Firms 	Stable growth firms</a:t>
            </a:r>
          </a:p>
          <a:p>
            <a:pPr eaLnBrk="1" hangingPunct="1">
              <a:buFont typeface="Monotype Sorts" charset="2"/>
              <a:buNone/>
              <a:tabLst>
                <a:tab pos="1320800" algn="l"/>
                <a:tab pos="4351338" algn="l"/>
              </a:tabLst>
            </a:pPr>
            <a:r>
              <a:rPr lang="en-US" sz="1200" dirty="0"/>
              <a:t>DDM	1. Pay no or low dividends	1. Pay high dividends</a:t>
            </a:r>
          </a:p>
          <a:p>
            <a:pPr eaLnBrk="1" hangingPunct="1">
              <a:buFont typeface="Monotype Sorts" charset="2"/>
              <a:buNone/>
              <a:tabLst>
                <a:tab pos="1320800" algn="l"/>
                <a:tab pos="4351338" algn="l"/>
              </a:tabLst>
            </a:pPr>
            <a:r>
              <a:rPr lang="en-US" sz="1200" dirty="0"/>
              <a:t>	2. Have high risk 	2. Have average risk</a:t>
            </a:r>
          </a:p>
          <a:p>
            <a:pPr eaLnBrk="1" hangingPunct="1">
              <a:buFont typeface="Monotype Sorts" charset="2"/>
              <a:buNone/>
              <a:tabLst>
                <a:tab pos="1320800" algn="l"/>
                <a:tab pos="4351338" algn="l"/>
              </a:tabLst>
            </a:pPr>
            <a:r>
              <a:rPr lang="en-US" sz="1200" dirty="0"/>
              <a:t>	3. Earn high ROC	3. Earn ROC closer to WACC</a:t>
            </a:r>
          </a:p>
          <a:p>
            <a:pPr eaLnBrk="1" hangingPunct="1">
              <a:buFont typeface="Monotype Sorts" charset="2"/>
              <a:buNone/>
              <a:tabLst>
                <a:tab pos="1320800" algn="l"/>
                <a:tab pos="4351338" algn="l"/>
              </a:tabLst>
            </a:pPr>
            <a:r>
              <a:rPr lang="en-US" sz="1200" dirty="0"/>
              <a:t>FCFE/	1. Have high net cap ex	1. Have lower net cap ex</a:t>
            </a:r>
          </a:p>
          <a:p>
            <a:pPr eaLnBrk="1" hangingPunct="1">
              <a:buFont typeface="Monotype Sorts" charset="2"/>
              <a:buNone/>
              <a:tabLst>
                <a:tab pos="1320800" algn="l"/>
                <a:tab pos="4351338" algn="l"/>
              </a:tabLst>
            </a:pPr>
            <a:r>
              <a:rPr lang="en-US" sz="1200" dirty="0"/>
              <a:t>FCFF	2. Have high risk	2. Have average risk</a:t>
            </a:r>
          </a:p>
          <a:p>
            <a:pPr eaLnBrk="1" hangingPunct="1">
              <a:buFont typeface="Monotype Sorts" charset="2"/>
              <a:buNone/>
              <a:tabLst>
                <a:tab pos="1320800" algn="l"/>
                <a:tab pos="4351338" algn="l"/>
              </a:tabLst>
            </a:pPr>
            <a:r>
              <a:rPr lang="en-US" sz="1200" dirty="0"/>
              <a:t>	3. Earn high ROC	3. Earn ROC closer to WACC</a:t>
            </a:r>
          </a:p>
          <a:p>
            <a:pPr eaLnBrk="1" hangingPunct="1">
              <a:buFont typeface="Monotype Sorts" charset="2"/>
              <a:buNone/>
              <a:tabLst>
                <a:tab pos="1320800" algn="l"/>
                <a:tab pos="4351338" algn="l"/>
              </a:tabLst>
            </a:pPr>
            <a:r>
              <a:rPr lang="en-US" sz="1200" dirty="0"/>
              <a:t>	4. Have low leverage	4. Have leverage closer to industry average</a:t>
            </a:r>
          </a:p>
          <a:p>
            <a:pPr eaLnBrk="1" hangingPunct="1">
              <a:spcBef>
                <a:spcPct val="0"/>
              </a:spcBef>
            </a:pPr>
            <a:endParaRPr lang="en-US" dirty="0"/>
          </a:p>
          <a:p>
            <a:pPr eaLnBrk="1" hangingPunct="1">
              <a:spcBef>
                <a:spcPct val="0"/>
              </a:spcBef>
            </a:pPr>
            <a:endParaRPr lang="en-US" dirty="0"/>
          </a:p>
          <a:p>
            <a:pPr eaLnBrk="1" hangingPunct="1">
              <a:spcBef>
                <a:spcPct val="0"/>
              </a:spcBef>
            </a:pPr>
            <a:endParaRPr lang="en-US" dirty="0"/>
          </a:p>
          <a:p>
            <a:pPr eaLnBrk="1" hangingPunct="1">
              <a:spcBef>
                <a:spcPct val="0"/>
              </a:spcBef>
            </a:pPr>
            <a:r>
              <a:rPr lang="en-US" dirty="0"/>
              <a:t>As growth rate drops to stable growth, the rest of the characteristics of the firm should change to reflect the lower growth. The firm’s risk should move towards the market average (beta towards one), the excess returns should move towards zero (if not to zero) and the firm should use more debt as its </a:t>
            </a:r>
            <a:r>
              <a:rPr lang="en-US" dirty="0" err="1"/>
              <a:t>cashflows</a:t>
            </a:r>
            <a:r>
              <a:rPr lang="en-US" dirty="0"/>
              <a:t> increase and growth decreases.</a:t>
            </a:r>
          </a:p>
          <a:p>
            <a:pPr eaLnBrk="1" hangingPunct="1">
              <a:spcBef>
                <a:spcPct val="0"/>
              </a:spcBef>
            </a:pPr>
            <a:endParaRPr lang="en-US" dirty="0"/>
          </a:p>
        </p:txBody>
      </p:sp>
    </p:spTree>
    <p:extLst>
      <p:ext uri="{BB962C8B-B14F-4D97-AF65-F5344CB8AC3E}">
        <p14:creationId xmlns:p14="http://schemas.microsoft.com/office/powerpoint/2010/main" val="16124739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pitchFamily="3" charset="0"/>
              </a:rPr>
              <a:t>There is some growth rate at which you can justify the current market price. The growth rate is called an implied growth rate. We can solve for the implied growth rate. Assuming that the market and you are in agreement on the other inputs, the question about whether you should invest in Con Ed boils down to a question of whether their earnings can grow faster than this rate in the long term. You can also compute the fundamental growth rate to see how close you get to your break even.</a:t>
            </a:r>
          </a:p>
          <a:p>
            <a:endParaRPr lang="en-GB" dirty="0"/>
          </a:p>
        </p:txBody>
      </p:sp>
      <p:sp>
        <p:nvSpPr>
          <p:cNvPr id="4" name="Slide Number Placeholder 3"/>
          <p:cNvSpPr>
            <a:spLocks noGrp="1"/>
          </p:cNvSpPr>
          <p:nvPr>
            <p:ph type="sldNum" sz="quarter" idx="10"/>
          </p:nvPr>
        </p:nvSpPr>
        <p:spPr/>
        <p:txBody>
          <a:bodyPr/>
          <a:lstStyle/>
          <a:p>
            <a:fld id="{D9F52725-D848-463C-94D2-37AA8C3FBDF1}" type="slidenum">
              <a:rPr lang="en-GB" smtClean="0"/>
              <a:t>23</a:t>
            </a:fld>
            <a:endParaRPr lang="en-GB"/>
          </a:p>
        </p:txBody>
      </p:sp>
    </p:spTree>
    <p:extLst>
      <p:ext uri="{BB962C8B-B14F-4D97-AF65-F5344CB8AC3E}">
        <p14:creationId xmlns:p14="http://schemas.microsoft.com/office/powerpoint/2010/main" val="2059969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bwMode="auto">
          <a:xfrm>
            <a:off x="1152525" y="692150"/>
            <a:ext cx="4552950" cy="3416300"/>
          </a:xfrm>
          <a:solidFill>
            <a:srgbClr val="FFFFFF"/>
          </a:solidFill>
          <a:ln>
            <a:solidFill>
              <a:srgbClr val="000000"/>
            </a:solidFill>
            <a:miter lim="800000"/>
            <a:headEnd/>
            <a:tailEnd/>
          </a:ln>
        </p:spPr>
      </p:sp>
      <p:sp>
        <p:nvSpPr>
          <p:cNvPr id="74755" name="Rectangle 3"/>
          <p:cNvSpPr>
            <a:spLocks noGrp="1" noChangeArrowheads="1"/>
          </p:cNvSpPr>
          <p:nvPr>
            <p:ph type="body" idx="1"/>
          </p:nvPr>
        </p:nvSpPr>
        <p:spPr bwMode="auto">
          <a:xfrm>
            <a:off x="914180" y="4343508"/>
            <a:ext cx="5029640" cy="4115014"/>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r>
              <a:rPr lang="en-US"/>
              <a:t>The third possibility is probably the most likely one, but you still want to be closer to the true value.</a:t>
            </a:r>
          </a:p>
          <a:p>
            <a:pPr eaLnBrk="1" hangingPunct="1">
              <a:spcBef>
                <a:spcPct val="0"/>
              </a:spcBef>
            </a:pPr>
            <a:r>
              <a:rPr lang="en-US"/>
              <a:t>Even if you are right, there is no guarantee that you will make excess returns because the market has to see its mistakes and correct them.</a:t>
            </a:r>
          </a:p>
        </p:txBody>
      </p:sp>
    </p:spTree>
    <p:extLst>
      <p:ext uri="{BB962C8B-B14F-4D97-AF65-F5344CB8AC3E}">
        <p14:creationId xmlns:p14="http://schemas.microsoft.com/office/powerpoint/2010/main" val="1532312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F777A8-CDE9-4640-8912-8B5F245A7C7B}" type="datetimeFigureOut">
              <a:rPr lang="en-GB" smtClean="0"/>
              <a:t>29/09/2026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6457CD-1DC9-4FEE-B211-BC0278564878}"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F777A8-CDE9-4640-8912-8B5F245A7C7B}" type="datetimeFigureOut">
              <a:rPr lang="en-GB" smtClean="0"/>
              <a:t>29/09/2026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6457CD-1DC9-4FEE-B211-BC0278564878}"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F777A8-CDE9-4640-8912-8B5F245A7C7B}" type="datetimeFigureOut">
              <a:rPr lang="en-GB" smtClean="0"/>
              <a:t>29/09/2026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6457CD-1DC9-4FEE-B211-BC0278564878}"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F777A8-CDE9-4640-8912-8B5F245A7C7B}" type="datetimeFigureOut">
              <a:rPr lang="en-GB" smtClean="0"/>
              <a:t>29/09/2026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F6457CD-1DC9-4FEE-B211-BC0278564878}"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F777A8-CDE9-4640-8912-8B5F245A7C7B}" type="datetimeFigureOut">
              <a:rPr lang="en-GB" smtClean="0"/>
              <a:t>29/09/2026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F6457CD-1DC9-4FEE-B211-BC0278564878}"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F777A8-CDE9-4640-8912-8B5F245A7C7B}" type="datetimeFigureOut">
              <a:rPr lang="en-GB" smtClean="0"/>
              <a:t>29/09/2026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F6457CD-1DC9-4FEE-B211-BC0278564878}"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F777A8-CDE9-4640-8912-8B5F245A7C7B}" type="datetimeFigureOut">
              <a:rPr lang="en-GB" smtClean="0"/>
              <a:t>29/09/2026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F6457CD-1DC9-4FEE-B211-BC0278564878}"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F777A8-CDE9-4640-8912-8B5F245A7C7B}" type="datetimeFigureOut">
              <a:rPr lang="en-GB" smtClean="0"/>
              <a:t>29/09/2026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F6457CD-1DC9-4FEE-B211-BC0278564878}" type="slidenum">
              <a:rPr lang="en-GB" smtClean="0"/>
              <a:t>‹#›</a:t>
            </a:fld>
            <a:endParaRPr lang="en-GB"/>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9DF777A8-CDE9-4640-8912-8B5F245A7C7B}" type="datetimeFigureOut">
              <a:rPr lang="en-GB" smtClean="0"/>
              <a:t>29/09/2026</a:t>
            </a:fld>
            <a:endParaRPr lang="en-GB"/>
          </a:p>
        </p:txBody>
      </p:sp>
      <p:sp>
        <p:nvSpPr>
          <p:cNvPr id="9" name="Slide Number Placeholder 8"/>
          <p:cNvSpPr>
            <a:spLocks noGrp="1"/>
          </p:cNvSpPr>
          <p:nvPr>
            <p:ph type="sldNum" sz="quarter" idx="11"/>
          </p:nvPr>
        </p:nvSpPr>
        <p:spPr/>
        <p:txBody>
          <a:bodyPr/>
          <a:lstStyle/>
          <a:p>
            <a:fld id="{CF6457CD-1DC9-4FEE-B211-BC0278564878}" type="slidenum">
              <a:rPr lang="en-GB" smtClean="0"/>
              <a:t>‹#›</a:t>
            </a:fld>
            <a:endParaRPr lang="en-GB"/>
          </a:p>
        </p:txBody>
      </p:sp>
      <p:sp>
        <p:nvSpPr>
          <p:cNvPr id="10" name="Footer Placeholder 9"/>
          <p:cNvSpPr>
            <a:spLocks noGrp="1"/>
          </p:cNvSpPr>
          <p:nvPr>
            <p:ph type="ftr" sz="quarter" idx="12"/>
          </p:nvPr>
        </p:nvSpPr>
        <p:spPr/>
        <p:txBody>
          <a:body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F777A8-CDE9-4640-8912-8B5F245A7C7B}" type="datetimeFigureOut">
              <a:rPr lang="en-GB" smtClean="0"/>
              <a:t>29/09/2026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6457CD-1DC9-4FEE-B211-BC0278564878}"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F777A8-CDE9-4640-8912-8B5F245A7C7B}" type="datetimeFigureOut">
              <a:rPr lang="en-GB" smtClean="0"/>
              <a:t>29/09/2026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F6457CD-1DC9-4FEE-B211-BC0278564878}"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CF6457CD-1DC9-4FEE-B211-BC0278564878}" type="slidenum">
              <a:rPr lang="en-GB" smtClean="0"/>
              <a:t>‹#›</a:t>
            </a:fld>
            <a:endParaRPr lang="en-GB"/>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GB"/>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9DF777A8-CDE9-4640-8912-8B5F245A7C7B}" type="datetimeFigureOut">
              <a:rPr lang="en-GB" smtClean="0"/>
              <a:t>29/09/2026</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hyperlink" Target="http://www.schweser.com/downloads/general/l2schwesernotes.pdf" TargetMode="External"/><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olesiafx.com/economics/day-200707-02.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chart" Target="../charts/chart2.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2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package" Target="../embeddings/Microsoft_Word_Document.docx"/><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package" Target="../embeddings/Microsoft_Word_Document1.docx"/></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ctrTitle"/>
          </p:nvPr>
        </p:nvSpPr>
        <p:spPr>
          <a:xfrm>
            <a:off x="1619672" y="2286000"/>
            <a:ext cx="6838528" cy="1143000"/>
          </a:xfrm>
        </p:spPr>
        <p:txBody>
          <a:bodyPr>
            <a:noAutofit/>
          </a:bodyPr>
          <a:lstStyle/>
          <a:p>
            <a:pPr algn="ctr" eaLnBrk="1" fontAlgn="auto" hangingPunct="1">
              <a:spcAft>
                <a:spcPts val="0"/>
              </a:spcAft>
              <a:defRPr/>
            </a:pPr>
            <a:r>
              <a:rPr lang="en-US" sz="4400" dirty="0"/>
              <a:t>Closure in Valuation</a:t>
            </a:r>
          </a:p>
        </p:txBody>
      </p:sp>
      <p:sp>
        <p:nvSpPr>
          <p:cNvPr id="82947" name="Rectangle 3"/>
          <p:cNvSpPr>
            <a:spLocks noGrp="1" noChangeArrowheads="1"/>
          </p:cNvSpPr>
          <p:nvPr>
            <p:ph type="subTitle" idx="1"/>
          </p:nvPr>
        </p:nvSpPr>
        <p:spPr>
          <a:xfrm>
            <a:off x="2123728" y="5003800"/>
            <a:ext cx="6172200" cy="1371600"/>
          </a:xfrm>
          <a:noFill/>
        </p:spPr>
        <p:txBody>
          <a:bodyPr/>
          <a:lstStyle/>
          <a:p>
            <a:pPr marL="342900" indent="-342900" algn="ctr" eaLnBrk="1" hangingPunct="1"/>
            <a:r>
              <a:rPr lang="en-GB" sz="2400" dirty="0">
                <a:solidFill>
                  <a:schemeClr val="bg2">
                    <a:lumMod val="25000"/>
                  </a:schemeClr>
                </a:solidFill>
              </a:rPr>
              <a:t>Some Rules of Thumb for your valuations</a:t>
            </a:r>
            <a:endParaRPr lang="en-US" sz="2400" dirty="0">
              <a:solidFill>
                <a:schemeClr val="bg2">
                  <a:lumMod val="25000"/>
                </a:schemeClr>
              </a:solidFill>
            </a:endParaRPr>
          </a:p>
        </p:txBody>
      </p:sp>
      <p:sp>
        <p:nvSpPr>
          <p:cNvPr id="2" name="Slide Number Placeholder 1"/>
          <p:cNvSpPr>
            <a:spLocks noGrp="1"/>
          </p:cNvSpPr>
          <p:nvPr>
            <p:ph type="sldNum" sz="quarter" idx="12"/>
          </p:nvPr>
        </p:nvSpPr>
        <p:spPr/>
        <p:txBody>
          <a:bodyPr/>
          <a:lstStyle/>
          <a:p>
            <a:pPr>
              <a:defRPr/>
            </a:pPr>
            <a:fld id="{F6DE7525-602C-4B2D-9656-37F186FF1596}" type="slidenum">
              <a:rPr lang="en-GB" smtClean="0"/>
              <a:pPr>
                <a:defRPr/>
              </a:pPr>
              <a:t>1</a:t>
            </a:fld>
            <a:endParaRPr lang="en-GB"/>
          </a:p>
        </p:txBody>
      </p:sp>
    </p:spTree>
    <p:extLst>
      <p:ext uri="{BB962C8B-B14F-4D97-AF65-F5344CB8AC3E}">
        <p14:creationId xmlns:p14="http://schemas.microsoft.com/office/powerpoint/2010/main" val="8919758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p:cNvGraphicFramePr>
            <a:graphicFrameLocks noGrp="1"/>
          </p:cNvGraphicFramePr>
          <p:nvPr>
            <p:ph sz="quarter" idx="4294967295"/>
            <p:extLst>
              <p:ext uri="{D42A27DB-BD31-4B8C-83A1-F6EECF244321}">
                <p14:modId xmlns:p14="http://schemas.microsoft.com/office/powerpoint/2010/main" val="1157078456"/>
              </p:ext>
            </p:extLst>
          </p:nvPr>
        </p:nvGraphicFramePr>
        <p:xfrm>
          <a:off x="179512" y="260648"/>
          <a:ext cx="8712968" cy="62373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90705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12ED2-A2C3-3760-EDFB-53C8293D2DCC}"/>
              </a:ext>
            </a:extLst>
          </p:cNvPr>
          <p:cNvSpPr>
            <a:spLocks noGrp="1"/>
          </p:cNvSpPr>
          <p:nvPr>
            <p:ph type="title"/>
          </p:nvPr>
        </p:nvSpPr>
        <p:spPr>
          <a:xfrm>
            <a:off x="301752" y="5495278"/>
            <a:ext cx="7772400" cy="594626"/>
          </a:xfrm>
        </p:spPr>
        <p:txBody>
          <a:bodyPr anchor="b">
            <a:normAutofit/>
          </a:bodyPr>
          <a:lstStyle/>
          <a:p>
            <a:r>
              <a:rPr lang="en-GB" dirty="0"/>
              <a:t>DCF VALUATION INPUTS</a:t>
            </a:r>
          </a:p>
        </p:txBody>
      </p:sp>
      <p:pic>
        <p:nvPicPr>
          <p:cNvPr id="11" name="Picture 10" descr="Colourful network cables">
            <a:extLst>
              <a:ext uri="{FF2B5EF4-FFF2-40B4-BE49-F238E27FC236}">
                <a16:creationId xmlns:a16="http://schemas.microsoft.com/office/drawing/2014/main" id="{9593A6AB-76B0-894E-87D2-729F638251EB}"/>
              </a:ext>
            </a:extLst>
          </p:cNvPr>
          <p:cNvPicPr>
            <a:picLocks noChangeAspect="1"/>
          </p:cNvPicPr>
          <p:nvPr/>
        </p:nvPicPr>
        <p:blipFill>
          <a:blip r:embed="rId2"/>
          <a:srcRect r="-2" b="2822"/>
          <a:stretch>
            <a:fillRect/>
          </a:stretch>
        </p:blipFill>
        <p:spPr>
          <a:xfrm>
            <a:off x="20" y="10"/>
            <a:ext cx="8458180" cy="5486390"/>
          </a:xfrm>
          <a:prstGeom prst="rect">
            <a:avLst/>
          </a:prstGeom>
          <a:noFill/>
        </p:spPr>
      </p:pic>
      <p:sp>
        <p:nvSpPr>
          <p:cNvPr id="12" name="Text Placeholder 3">
            <a:extLst>
              <a:ext uri="{FF2B5EF4-FFF2-40B4-BE49-F238E27FC236}">
                <a16:creationId xmlns:a16="http://schemas.microsoft.com/office/drawing/2014/main" id="{8490848D-8E4B-7381-DA0D-8356726C0B21}"/>
              </a:ext>
            </a:extLst>
          </p:cNvPr>
          <p:cNvSpPr>
            <a:spLocks noGrp="1"/>
          </p:cNvSpPr>
          <p:nvPr>
            <p:ph type="body" sz="half" idx="2"/>
          </p:nvPr>
        </p:nvSpPr>
        <p:spPr>
          <a:xfrm>
            <a:off x="301752" y="6096000"/>
            <a:ext cx="7772400" cy="612648"/>
          </a:xfrm>
        </p:spPr>
        <p:txBody>
          <a:bodyPr/>
          <a:lstStyle/>
          <a:p>
            <a:endParaRPr lang="en-US"/>
          </a:p>
        </p:txBody>
      </p:sp>
    </p:spTree>
    <p:extLst>
      <p:ext uri="{BB962C8B-B14F-4D97-AF65-F5344CB8AC3E}">
        <p14:creationId xmlns:p14="http://schemas.microsoft.com/office/powerpoint/2010/main" val="4293969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Summarizing the Inputs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355305769"/>
              </p:ext>
            </p:extLst>
          </p:nvPr>
        </p:nvGraphicFramePr>
        <p:xfrm>
          <a:off x="457200" y="1417638"/>
          <a:ext cx="8219256" cy="50561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p:cNvSpPr>
            <a:spLocks noGrp="1"/>
          </p:cNvSpPr>
          <p:nvPr>
            <p:ph type="sldNum" sz="quarter" idx="12"/>
          </p:nvPr>
        </p:nvSpPr>
        <p:spPr/>
        <p:txBody>
          <a:bodyPr/>
          <a:lstStyle/>
          <a:p>
            <a:pPr>
              <a:defRPr/>
            </a:pPr>
            <a:fld id="{C3168C1A-0F73-4148-A9C6-17783D0D792E}" type="slidenum">
              <a:rPr lang="en-GB" smtClean="0"/>
              <a:pPr>
                <a:defRPr/>
              </a:pPr>
              <a:t>4</a:t>
            </a:fld>
            <a:endParaRPr lang="en-GB"/>
          </a:p>
        </p:txBody>
      </p:sp>
    </p:spTree>
    <p:extLst>
      <p:ext uri="{BB962C8B-B14F-4D97-AF65-F5344CB8AC3E}">
        <p14:creationId xmlns:p14="http://schemas.microsoft.com/office/powerpoint/2010/main" val="141814809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6FDC9-E762-A9C9-5E61-14532D5E97FD}"/>
              </a:ext>
            </a:extLst>
          </p:cNvPr>
          <p:cNvSpPr>
            <a:spLocks noGrp="1"/>
          </p:cNvSpPr>
          <p:nvPr>
            <p:ph type="title"/>
          </p:nvPr>
        </p:nvSpPr>
        <p:spPr>
          <a:xfrm>
            <a:off x="301752" y="5495278"/>
            <a:ext cx="7772400" cy="594626"/>
          </a:xfrm>
        </p:spPr>
        <p:txBody>
          <a:bodyPr anchor="b">
            <a:normAutofit/>
          </a:bodyPr>
          <a:lstStyle/>
          <a:p>
            <a:r>
              <a:rPr lang="en-GB" dirty="0"/>
              <a:t>Cash Flows</a:t>
            </a:r>
          </a:p>
        </p:txBody>
      </p:sp>
      <p:pic>
        <p:nvPicPr>
          <p:cNvPr id="5" name="Picture 4" descr="World map made up of coins">
            <a:extLst>
              <a:ext uri="{FF2B5EF4-FFF2-40B4-BE49-F238E27FC236}">
                <a16:creationId xmlns:a16="http://schemas.microsoft.com/office/drawing/2014/main" id="{3FDE6476-592C-565E-65C3-56D46441F78F}"/>
              </a:ext>
            </a:extLst>
          </p:cNvPr>
          <p:cNvPicPr>
            <a:picLocks noChangeAspect="1"/>
          </p:cNvPicPr>
          <p:nvPr/>
        </p:nvPicPr>
        <p:blipFill>
          <a:blip r:embed="rId2"/>
          <a:srcRect t="373" r="-2" b="12849"/>
          <a:stretch>
            <a:fillRect/>
          </a:stretch>
        </p:blipFill>
        <p:spPr>
          <a:xfrm>
            <a:off x="20" y="10"/>
            <a:ext cx="8458180" cy="5486390"/>
          </a:xfrm>
          <a:prstGeom prst="rect">
            <a:avLst/>
          </a:prstGeom>
          <a:noFill/>
        </p:spPr>
      </p:pic>
      <p:sp>
        <p:nvSpPr>
          <p:cNvPr id="9" name="Text Placeholder 3">
            <a:extLst>
              <a:ext uri="{FF2B5EF4-FFF2-40B4-BE49-F238E27FC236}">
                <a16:creationId xmlns:a16="http://schemas.microsoft.com/office/drawing/2014/main" id="{CB7A9024-AF6B-8BBF-9FEB-369E687713DD}"/>
              </a:ext>
            </a:extLst>
          </p:cNvPr>
          <p:cNvSpPr>
            <a:spLocks noGrp="1"/>
          </p:cNvSpPr>
          <p:nvPr>
            <p:ph type="body" sz="half" idx="2"/>
          </p:nvPr>
        </p:nvSpPr>
        <p:spPr>
          <a:xfrm>
            <a:off x="301752" y="6096000"/>
            <a:ext cx="7772400" cy="612648"/>
          </a:xfrm>
        </p:spPr>
        <p:txBody>
          <a:bodyPr/>
          <a:lstStyle/>
          <a:p>
            <a:r>
              <a:rPr lang="en-US" dirty="0"/>
              <a:t> </a:t>
            </a:r>
          </a:p>
        </p:txBody>
      </p:sp>
    </p:spTree>
    <p:extLst>
      <p:ext uri="{BB962C8B-B14F-4D97-AF65-F5344CB8AC3E}">
        <p14:creationId xmlns:p14="http://schemas.microsoft.com/office/powerpoint/2010/main" val="363328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74638"/>
            <a:ext cx="7859216" cy="634082"/>
          </a:xfrm>
        </p:spPr>
        <p:txBody>
          <a:bodyPr>
            <a:normAutofit fontScale="90000"/>
          </a:bodyPr>
          <a:lstStyle/>
          <a:p>
            <a:pPr eaLnBrk="1" hangingPunct="1"/>
            <a:r>
              <a:rPr lang="en-US" dirty="0">
                <a:hlinkClick r:id="rId3"/>
              </a:rPr>
              <a:t>Which cash flow should I discount?</a:t>
            </a:r>
            <a:endParaRPr lang="en-US" dirty="0"/>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570480073"/>
              </p:ext>
            </p:extLst>
          </p:nvPr>
        </p:nvGraphicFramePr>
        <p:xfrm>
          <a:off x="457200" y="1052736"/>
          <a:ext cx="7859216" cy="54726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Slide Number Placeholder 1"/>
          <p:cNvSpPr>
            <a:spLocks noGrp="1"/>
          </p:cNvSpPr>
          <p:nvPr>
            <p:ph type="sldNum" sz="quarter" idx="12"/>
          </p:nvPr>
        </p:nvSpPr>
        <p:spPr/>
        <p:txBody>
          <a:bodyPr/>
          <a:lstStyle/>
          <a:p>
            <a:pPr>
              <a:defRPr/>
            </a:pPr>
            <a:fld id="{C3168C1A-0F73-4148-A9C6-17783D0D792E}" type="slidenum">
              <a:rPr lang="en-GB" smtClean="0"/>
              <a:pPr>
                <a:defRPr/>
              </a:pPr>
              <a:t>6</a:t>
            </a:fld>
            <a:endParaRPr lang="en-GB"/>
          </a:p>
        </p:txBody>
      </p:sp>
    </p:spTree>
    <p:extLst>
      <p:ext uri="{BB962C8B-B14F-4D97-AF65-F5344CB8AC3E}">
        <p14:creationId xmlns:p14="http://schemas.microsoft.com/office/powerpoint/2010/main" val="11409912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normAutofit fontScale="90000"/>
          </a:bodyPr>
          <a:lstStyle/>
          <a:p>
            <a:pPr eaLnBrk="1" fontAlgn="auto" hangingPunct="1">
              <a:spcAft>
                <a:spcPts val="0"/>
              </a:spcAft>
              <a:defRPr/>
            </a:pPr>
            <a:r>
              <a:rPr lang="en-US"/>
              <a:t>Given cash flows to equity, should I discount dividends or FCFE?</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091475793"/>
              </p:ext>
            </p:extLst>
          </p:nvPr>
        </p:nvGraphicFramePr>
        <p:xfrm>
          <a:off x="457200" y="1417638"/>
          <a:ext cx="8074588" cy="50561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p:cNvSpPr>
            <a:spLocks noGrp="1"/>
          </p:cNvSpPr>
          <p:nvPr>
            <p:ph type="sldNum" sz="quarter" idx="12"/>
          </p:nvPr>
        </p:nvSpPr>
        <p:spPr/>
        <p:txBody>
          <a:bodyPr/>
          <a:lstStyle/>
          <a:p>
            <a:pPr>
              <a:defRPr/>
            </a:pPr>
            <a:fld id="{C3168C1A-0F73-4148-A9C6-17783D0D792E}" type="slidenum">
              <a:rPr lang="en-GB" smtClean="0"/>
              <a:pPr>
                <a:defRPr/>
              </a:pPr>
              <a:t>7</a:t>
            </a:fld>
            <a:endParaRPr lang="en-GB"/>
          </a:p>
        </p:txBody>
      </p:sp>
    </p:spTree>
    <p:extLst>
      <p:ext uri="{BB962C8B-B14F-4D97-AF65-F5344CB8AC3E}">
        <p14:creationId xmlns:p14="http://schemas.microsoft.com/office/powerpoint/2010/main" val="14544427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50E88-506C-0B76-3933-FE171032907F}"/>
              </a:ext>
            </a:extLst>
          </p:cNvPr>
          <p:cNvSpPr>
            <a:spLocks noGrp="1"/>
          </p:cNvSpPr>
          <p:nvPr>
            <p:ph type="title"/>
          </p:nvPr>
        </p:nvSpPr>
        <p:spPr>
          <a:xfrm>
            <a:off x="301752" y="5495278"/>
            <a:ext cx="7772400" cy="594626"/>
          </a:xfrm>
        </p:spPr>
        <p:txBody>
          <a:bodyPr anchor="b">
            <a:normAutofit/>
          </a:bodyPr>
          <a:lstStyle/>
          <a:p>
            <a:r>
              <a:rPr lang="en-GB" dirty="0"/>
              <a:t>Discount Rate</a:t>
            </a:r>
          </a:p>
        </p:txBody>
      </p:sp>
      <p:pic>
        <p:nvPicPr>
          <p:cNvPr id="5" name="Picture 4" descr="White percentage symbol on red background">
            <a:extLst>
              <a:ext uri="{FF2B5EF4-FFF2-40B4-BE49-F238E27FC236}">
                <a16:creationId xmlns:a16="http://schemas.microsoft.com/office/drawing/2014/main" id="{34262EA8-C451-4CCA-C4EF-BBFC5A62E863}"/>
              </a:ext>
            </a:extLst>
          </p:cNvPr>
          <p:cNvPicPr>
            <a:picLocks noChangeAspect="1"/>
          </p:cNvPicPr>
          <p:nvPr/>
        </p:nvPicPr>
        <p:blipFill>
          <a:blip r:embed="rId2"/>
          <a:srcRect t="2824" r="-2" b="-2"/>
          <a:stretch>
            <a:fillRect/>
          </a:stretch>
        </p:blipFill>
        <p:spPr>
          <a:xfrm>
            <a:off x="20" y="10"/>
            <a:ext cx="8458180" cy="5486390"/>
          </a:xfrm>
          <a:prstGeom prst="rect">
            <a:avLst/>
          </a:prstGeom>
          <a:noFill/>
        </p:spPr>
      </p:pic>
      <p:sp>
        <p:nvSpPr>
          <p:cNvPr id="9" name="Text Placeholder 3">
            <a:extLst>
              <a:ext uri="{FF2B5EF4-FFF2-40B4-BE49-F238E27FC236}">
                <a16:creationId xmlns:a16="http://schemas.microsoft.com/office/drawing/2014/main" id="{57CD6C34-AD2C-F970-E393-D48BE31E0D92}"/>
              </a:ext>
            </a:extLst>
          </p:cNvPr>
          <p:cNvSpPr>
            <a:spLocks noGrp="1"/>
          </p:cNvSpPr>
          <p:nvPr>
            <p:ph type="body" sz="half" idx="2"/>
          </p:nvPr>
        </p:nvSpPr>
        <p:spPr>
          <a:xfrm>
            <a:off x="301752" y="6096000"/>
            <a:ext cx="7772400" cy="612648"/>
          </a:xfrm>
        </p:spPr>
        <p:txBody>
          <a:bodyPr/>
          <a:lstStyle/>
          <a:p>
            <a:endParaRPr lang="en-US"/>
          </a:p>
        </p:txBody>
      </p:sp>
    </p:spTree>
    <p:extLst>
      <p:ext uri="{BB962C8B-B14F-4D97-AF65-F5344CB8AC3E}">
        <p14:creationId xmlns:p14="http://schemas.microsoft.com/office/powerpoint/2010/main" val="231541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274638"/>
            <a:ext cx="7467600" cy="634082"/>
          </a:xfrm>
        </p:spPr>
        <p:txBody>
          <a:bodyPr>
            <a:normAutofit fontScale="90000"/>
          </a:bodyPr>
          <a:lstStyle/>
          <a:p>
            <a:pPr eaLnBrk="1" hangingPunct="1"/>
            <a:r>
              <a:rPr lang="en-US" dirty="0"/>
              <a:t>What discount rate should I use?</a:t>
            </a:r>
          </a:p>
        </p:txBody>
      </p:sp>
      <p:sp>
        <p:nvSpPr>
          <p:cNvPr id="189443" name="Rectangle 3"/>
          <p:cNvSpPr>
            <a:spLocks noGrp="1" noChangeArrowheads="1"/>
          </p:cNvSpPr>
          <p:nvPr>
            <p:ph idx="1"/>
          </p:nvPr>
        </p:nvSpPr>
        <p:spPr>
          <a:xfrm>
            <a:off x="457200" y="1052736"/>
            <a:ext cx="7467600" cy="5421089"/>
          </a:xfrm>
        </p:spPr>
        <p:txBody>
          <a:bodyPr>
            <a:normAutofit/>
          </a:bodyPr>
          <a:lstStyle/>
          <a:p>
            <a:pPr marL="274320" indent="-274320" eaLnBrk="1" fontAlgn="auto" hangingPunct="1">
              <a:spcBef>
                <a:spcPts val="580"/>
              </a:spcBef>
              <a:spcAft>
                <a:spcPts val="0"/>
              </a:spcAft>
              <a:buFont typeface="Wingdings"/>
              <a:buChar char=""/>
              <a:defRPr/>
            </a:pPr>
            <a:r>
              <a:rPr lang="en-US" dirty="0"/>
              <a:t>Cost of Equity versus Cost of Capital</a:t>
            </a:r>
          </a:p>
          <a:p>
            <a:pPr marL="640080" lvl="1" indent="-274320" eaLnBrk="1" fontAlgn="auto" hangingPunct="1">
              <a:spcBef>
                <a:spcPts val="370"/>
              </a:spcBef>
              <a:spcAft>
                <a:spcPts val="0"/>
              </a:spcAft>
              <a:buFont typeface="Wingdings 2"/>
              <a:buChar char=""/>
              <a:defRPr/>
            </a:pPr>
            <a:r>
              <a:rPr lang="en-US" dirty="0"/>
              <a:t>If discounting cash flows to equity -&gt; Cost of Equity</a:t>
            </a:r>
          </a:p>
          <a:p>
            <a:pPr marL="640080" lvl="1" indent="-274320" eaLnBrk="1" fontAlgn="auto" hangingPunct="1">
              <a:spcBef>
                <a:spcPts val="370"/>
              </a:spcBef>
              <a:spcAft>
                <a:spcPts val="0"/>
              </a:spcAft>
              <a:buFont typeface="Wingdings 2"/>
              <a:buChar char=""/>
              <a:defRPr/>
            </a:pPr>
            <a:r>
              <a:rPr lang="en-US" dirty="0"/>
              <a:t>If discounting cash flows to the firm-&gt; Cost of Capital</a:t>
            </a:r>
          </a:p>
          <a:p>
            <a:pPr marL="274320" indent="-274320" eaLnBrk="1" fontAlgn="auto" hangingPunct="1">
              <a:spcBef>
                <a:spcPts val="580"/>
              </a:spcBef>
              <a:spcAft>
                <a:spcPts val="0"/>
              </a:spcAft>
              <a:buFont typeface="Wingdings"/>
              <a:buChar char=""/>
              <a:defRPr/>
            </a:pPr>
            <a:r>
              <a:rPr lang="en-US" dirty="0"/>
              <a:t>What currency should the discount rate (risk free rate) be in?</a:t>
            </a:r>
          </a:p>
          <a:p>
            <a:pPr marL="640080" lvl="1" indent="-274320" eaLnBrk="1" fontAlgn="auto" hangingPunct="1">
              <a:spcBef>
                <a:spcPts val="370"/>
              </a:spcBef>
              <a:spcAft>
                <a:spcPts val="0"/>
              </a:spcAft>
              <a:buFont typeface="Wingdings 2"/>
              <a:buChar char=""/>
              <a:defRPr/>
            </a:pPr>
            <a:r>
              <a:rPr lang="en-US" dirty="0"/>
              <a:t>Match the currency in which you estimate the risk free rate to the currency of your cash flows</a:t>
            </a:r>
          </a:p>
          <a:p>
            <a:pPr marL="274320" indent="-274320" eaLnBrk="1" fontAlgn="auto" hangingPunct="1">
              <a:spcBef>
                <a:spcPts val="580"/>
              </a:spcBef>
              <a:spcAft>
                <a:spcPts val="0"/>
              </a:spcAft>
              <a:buFont typeface="Wingdings"/>
              <a:buChar char=""/>
              <a:defRPr/>
            </a:pPr>
            <a:r>
              <a:rPr lang="en-US" dirty="0"/>
              <a:t>Should I use real or nominal cash flows?</a:t>
            </a:r>
          </a:p>
          <a:p>
            <a:pPr marL="640080" lvl="1" indent="-274320" eaLnBrk="1" fontAlgn="auto" hangingPunct="1">
              <a:spcBef>
                <a:spcPts val="370"/>
              </a:spcBef>
              <a:spcAft>
                <a:spcPts val="0"/>
              </a:spcAft>
              <a:buFont typeface="Wingdings 2"/>
              <a:buChar char=""/>
              <a:defRPr/>
            </a:pPr>
            <a:r>
              <a:rPr lang="en-US" dirty="0"/>
              <a:t>If discounting real cash flows	-&gt; real cost of capital</a:t>
            </a:r>
          </a:p>
          <a:p>
            <a:pPr marL="640080" lvl="1" indent="-274320" eaLnBrk="1" fontAlgn="auto" hangingPunct="1">
              <a:spcBef>
                <a:spcPts val="370"/>
              </a:spcBef>
              <a:spcAft>
                <a:spcPts val="0"/>
              </a:spcAft>
              <a:buFont typeface="Wingdings 2"/>
              <a:buChar char=""/>
              <a:defRPr/>
            </a:pPr>
            <a:r>
              <a:rPr lang="en-US" dirty="0"/>
              <a:t>If nominal cash flows	-&gt; nominal cost of capital</a:t>
            </a:r>
          </a:p>
          <a:p>
            <a:pPr marL="640080" lvl="1" indent="-274320" eaLnBrk="1" fontAlgn="auto" hangingPunct="1">
              <a:spcBef>
                <a:spcPts val="370"/>
              </a:spcBef>
              <a:spcAft>
                <a:spcPts val="0"/>
              </a:spcAft>
              <a:buFont typeface="Wingdings 2"/>
              <a:buChar char=""/>
              <a:defRPr/>
            </a:pPr>
            <a:r>
              <a:rPr lang="en-US" dirty="0"/>
              <a:t>If inflation is low (&lt;10%), stick with nominal cash flows since taxes are based upon nominal income</a:t>
            </a:r>
          </a:p>
          <a:p>
            <a:pPr marL="640080" lvl="1" indent="-274320" eaLnBrk="1" fontAlgn="auto" hangingPunct="1">
              <a:spcBef>
                <a:spcPts val="370"/>
              </a:spcBef>
              <a:spcAft>
                <a:spcPts val="0"/>
              </a:spcAft>
              <a:buFont typeface="Wingdings 2"/>
              <a:buChar char=""/>
              <a:defRPr/>
            </a:pPr>
            <a:r>
              <a:rPr lang="en-US" dirty="0"/>
              <a:t>If inflation is high (&gt;10%) switch to real cash flows</a:t>
            </a:r>
          </a:p>
        </p:txBody>
      </p:sp>
      <p:sp>
        <p:nvSpPr>
          <p:cNvPr id="2" name="Slide Number Placeholder 1"/>
          <p:cNvSpPr>
            <a:spLocks noGrp="1"/>
          </p:cNvSpPr>
          <p:nvPr>
            <p:ph type="sldNum" sz="quarter" idx="12"/>
          </p:nvPr>
        </p:nvSpPr>
        <p:spPr/>
        <p:txBody>
          <a:bodyPr/>
          <a:lstStyle/>
          <a:p>
            <a:pPr>
              <a:defRPr/>
            </a:pPr>
            <a:fld id="{C3168C1A-0F73-4148-A9C6-17783D0D792E}" type="slidenum">
              <a:rPr lang="en-GB" smtClean="0"/>
              <a:pPr>
                <a:defRPr/>
              </a:pPr>
              <a:t>9</a:t>
            </a:fld>
            <a:endParaRPr lang="en-GB"/>
          </a:p>
        </p:txBody>
      </p:sp>
    </p:spTree>
    <p:extLst>
      <p:ext uri="{BB962C8B-B14F-4D97-AF65-F5344CB8AC3E}">
        <p14:creationId xmlns:p14="http://schemas.microsoft.com/office/powerpoint/2010/main" val="6441140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465B6-6FE9-1A23-1DB2-D1FFC65D06A2}"/>
              </a:ext>
            </a:extLst>
          </p:cNvPr>
          <p:cNvSpPr>
            <a:spLocks noGrp="1"/>
          </p:cNvSpPr>
          <p:nvPr>
            <p:ph type="title"/>
          </p:nvPr>
        </p:nvSpPr>
        <p:spPr>
          <a:xfrm>
            <a:off x="301752" y="5495278"/>
            <a:ext cx="7772400" cy="594626"/>
          </a:xfrm>
        </p:spPr>
        <p:txBody>
          <a:bodyPr anchor="b">
            <a:normAutofit/>
          </a:bodyPr>
          <a:lstStyle/>
          <a:p>
            <a:r>
              <a:rPr lang="en-GB" dirty="0"/>
              <a:t>Growth Rate and Patterns</a:t>
            </a:r>
          </a:p>
        </p:txBody>
      </p:sp>
      <p:pic>
        <p:nvPicPr>
          <p:cNvPr id="5" name="Picture 4" descr="Financial graphs on a dark display">
            <a:extLst>
              <a:ext uri="{FF2B5EF4-FFF2-40B4-BE49-F238E27FC236}">
                <a16:creationId xmlns:a16="http://schemas.microsoft.com/office/drawing/2014/main" id="{C54B3630-44B0-D62E-7E52-C89E006B4855}"/>
              </a:ext>
            </a:extLst>
          </p:cNvPr>
          <p:cNvPicPr>
            <a:picLocks noChangeAspect="1"/>
          </p:cNvPicPr>
          <p:nvPr/>
        </p:nvPicPr>
        <p:blipFill>
          <a:blip r:embed="rId2"/>
          <a:srcRect r="3648" b="2"/>
          <a:stretch>
            <a:fillRect/>
          </a:stretch>
        </p:blipFill>
        <p:spPr>
          <a:xfrm>
            <a:off x="20" y="10"/>
            <a:ext cx="8458180" cy="5486390"/>
          </a:xfrm>
          <a:prstGeom prst="rect">
            <a:avLst/>
          </a:prstGeom>
          <a:noFill/>
        </p:spPr>
      </p:pic>
      <p:sp>
        <p:nvSpPr>
          <p:cNvPr id="9" name="Text Placeholder 3">
            <a:extLst>
              <a:ext uri="{FF2B5EF4-FFF2-40B4-BE49-F238E27FC236}">
                <a16:creationId xmlns:a16="http://schemas.microsoft.com/office/drawing/2014/main" id="{5DFD2CA1-B117-A0B5-170C-87D85E3AF475}"/>
              </a:ext>
            </a:extLst>
          </p:cNvPr>
          <p:cNvSpPr>
            <a:spLocks noGrp="1"/>
          </p:cNvSpPr>
          <p:nvPr>
            <p:ph type="body" sz="half" idx="2"/>
          </p:nvPr>
        </p:nvSpPr>
        <p:spPr>
          <a:xfrm>
            <a:off x="301752" y="6096000"/>
            <a:ext cx="7772400" cy="612648"/>
          </a:xfrm>
        </p:spPr>
        <p:txBody>
          <a:bodyPr/>
          <a:lstStyle/>
          <a:p>
            <a:endParaRPr lang="en-US"/>
          </a:p>
        </p:txBody>
      </p:sp>
    </p:spTree>
    <p:extLst>
      <p:ext uri="{BB962C8B-B14F-4D97-AF65-F5344CB8AC3E}">
        <p14:creationId xmlns:p14="http://schemas.microsoft.com/office/powerpoint/2010/main" val="2880264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684213" y="116632"/>
            <a:ext cx="7772400" cy="777875"/>
          </a:xfrm>
        </p:spPr>
        <p:txBody>
          <a:bodyPr>
            <a:normAutofit fontScale="90000"/>
          </a:bodyPr>
          <a:lstStyle/>
          <a:p>
            <a:pPr eaLnBrk="1" fontAlgn="auto" hangingPunct="1">
              <a:spcAft>
                <a:spcPts val="0"/>
              </a:spcAft>
              <a:defRPr/>
            </a:pPr>
            <a:r>
              <a:rPr lang="en-US" dirty="0"/>
              <a:t>Which Growth Pattern Should I use?</a:t>
            </a:r>
          </a:p>
        </p:txBody>
      </p:sp>
      <p:sp>
        <p:nvSpPr>
          <p:cNvPr id="19459" name="Rectangle 3"/>
          <p:cNvSpPr>
            <a:spLocks noGrp="1" noChangeArrowheads="1"/>
          </p:cNvSpPr>
          <p:nvPr>
            <p:ph idx="1"/>
          </p:nvPr>
        </p:nvSpPr>
        <p:spPr>
          <a:xfrm>
            <a:off x="323850" y="836712"/>
            <a:ext cx="8218488" cy="5805488"/>
          </a:xfrm>
        </p:spPr>
        <p:txBody>
          <a:bodyPr>
            <a:normAutofit lnSpcReduction="10000"/>
          </a:bodyPr>
          <a:lstStyle/>
          <a:p>
            <a:pPr eaLnBrk="1" hangingPunct="1"/>
            <a:r>
              <a:rPr lang="en-US" sz="2400" dirty="0"/>
              <a:t>If your firm is </a:t>
            </a:r>
          </a:p>
          <a:p>
            <a:pPr lvl="1" eaLnBrk="1" hangingPunct="1"/>
            <a:r>
              <a:rPr lang="en-US" sz="2000" dirty="0"/>
              <a:t>large and growing at a rate close to or less than growth rate of the economy</a:t>
            </a:r>
            <a:r>
              <a:rPr lang="en-US" sz="2000" i="1" dirty="0"/>
              <a:t>, or</a:t>
            </a:r>
          </a:p>
          <a:p>
            <a:pPr lvl="1" eaLnBrk="1" hangingPunct="1"/>
            <a:r>
              <a:rPr lang="en-US" sz="2000" dirty="0"/>
              <a:t>constrained by regulation from growing at rate faster than the economy</a:t>
            </a:r>
          </a:p>
          <a:p>
            <a:pPr lvl="1" eaLnBrk="1" hangingPunct="1"/>
            <a:r>
              <a:rPr lang="en-US" sz="2000" dirty="0"/>
              <a:t>has the characteristics of a stable firm (average risk &amp; reinvestment rates)</a:t>
            </a:r>
          </a:p>
          <a:p>
            <a:pPr lvl="1" algn="ctr" eaLnBrk="1" hangingPunct="1">
              <a:buFontTx/>
              <a:buNone/>
            </a:pPr>
            <a:r>
              <a:rPr lang="en-US" sz="2000" b="1" dirty="0"/>
              <a:t>Use a Stable Growth Model</a:t>
            </a:r>
          </a:p>
          <a:p>
            <a:pPr eaLnBrk="1" hangingPunct="1"/>
            <a:r>
              <a:rPr lang="en-US" sz="2400" dirty="0"/>
              <a:t>If your firm </a:t>
            </a:r>
          </a:p>
          <a:p>
            <a:pPr lvl="1" eaLnBrk="1" hangingPunct="1"/>
            <a:r>
              <a:rPr lang="en-US" sz="2000" dirty="0"/>
              <a:t>is large &amp; growing at a moderate rate (≤ Overall growth rate + 10%)  </a:t>
            </a:r>
            <a:r>
              <a:rPr lang="en-US" sz="2000" i="1" dirty="0"/>
              <a:t>or</a:t>
            </a:r>
            <a:endParaRPr lang="en-US" sz="2000" dirty="0"/>
          </a:p>
          <a:p>
            <a:pPr lvl="1" eaLnBrk="1" hangingPunct="1"/>
            <a:r>
              <a:rPr lang="en-US" sz="2000" dirty="0"/>
              <a:t>has a single product &amp; barriers to entry with a finite life (e.g. patents)</a:t>
            </a:r>
          </a:p>
          <a:p>
            <a:pPr algn="ctr" eaLnBrk="1" hangingPunct="1">
              <a:buFont typeface="Monotype Sorts" pitchFamily="3" charset="2"/>
              <a:buNone/>
            </a:pPr>
            <a:r>
              <a:rPr lang="en-US" sz="2400" b="1" dirty="0"/>
              <a:t>Use a 2-Stage Growth Model</a:t>
            </a:r>
          </a:p>
          <a:p>
            <a:pPr eaLnBrk="1" hangingPunct="1"/>
            <a:r>
              <a:rPr lang="en-US" sz="2400" dirty="0"/>
              <a:t>If your firm</a:t>
            </a:r>
          </a:p>
          <a:p>
            <a:pPr lvl="1" eaLnBrk="1" hangingPunct="1"/>
            <a:r>
              <a:rPr lang="en-US" sz="2000" dirty="0"/>
              <a:t>is small and growing at a very high rate (&gt; Overall growth rate + 10%) or</a:t>
            </a:r>
          </a:p>
          <a:p>
            <a:pPr lvl="1" eaLnBrk="1" hangingPunct="1"/>
            <a:r>
              <a:rPr lang="en-US" sz="2000" dirty="0"/>
              <a:t>has significant barriers to entry into the business</a:t>
            </a:r>
          </a:p>
          <a:p>
            <a:pPr lvl="1" eaLnBrk="1" hangingPunct="1"/>
            <a:r>
              <a:rPr lang="en-US" sz="2000" dirty="0"/>
              <a:t>has firm characteristics that are very different from the norm</a:t>
            </a:r>
          </a:p>
          <a:p>
            <a:pPr algn="ctr" eaLnBrk="1" hangingPunct="1">
              <a:buFont typeface="Monotype Sorts" pitchFamily="3" charset="2"/>
              <a:buNone/>
            </a:pPr>
            <a:r>
              <a:rPr lang="en-US" sz="2400" b="1" dirty="0"/>
              <a:t>Use a 3-Stage or n-stage Model</a:t>
            </a:r>
          </a:p>
        </p:txBody>
      </p:sp>
      <p:sp>
        <p:nvSpPr>
          <p:cNvPr id="2" name="Slide Number Placeholder 1"/>
          <p:cNvSpPr>
            <a:spLocks noGrp="1"/>
          </p:cNvSpPr>
          <p:nvPr>
            <p:ph type="sldNum" sz="quarter" idx="12"/>
          </p:nvPr>
        </p:nvSpPr>
        <p:spPr/>
        <p:txBody>
          <a:bodyPr/>
          <a:lstStyle/>
          <a:p>
            <a:pPr>
              <a:defRPr/>
            </a:pPr>
            <a:fld id="{C3168C1A-0F73-4148-A9C6-17783D0D792E}" type="slidenum">
              <a:rPr lang="en-GB" smtClean="0"/>
              <a:pPr>
                <a:defRPr/>
              </a:pPr>
              <a:t>11</a:t>
            </a:fld>
            <a:endParaRPr lang="en-GB"/>
          </a:p>
        </p:txBody>
      </p:sp>
    </p:spTree>
    <p:extLst>
      <p:ext uri="{BB962C8B-B14F-4D97-AF65-F5344CB8AC3E}">
        <p14:creationId xmlns:p14="http://schemas.microsoft.com/office/powerpoint/2010/main" val="270445213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274638"/>
            <a:ext cx="8074588" cy="1143000"/>
          </a:xfrm>
        </p:spPr>
        <p:txBody>
          <a:bodyPr/>
          <a:lstStyle/>
          <a:p>
            <a:pPr eaLnBrk="1" hangingPunct="1"/>
            <a:r>
              <a:rPr lang="en-US" dirty="0">
                <a:hlinkClick r:id="rId3"/>
              </a:rPr>
              <a:t>The Building Blocks of Valuation</a:t>
            </a:r>
            <a:endParaRPr lang="en-US" dirty="0"/>
          </a:p>
        </p:txBody>
      </p:sp>
      <p:sp>
        <p:nvSpPr>
          <p:cNvPr id="2" name="Slide Number Placeholder 1"/>
          <p:cNvSpPr>
            <a:spLocks noGrp="1"/>
          </p:cNvSpPr>
          <p:nvPr>
            <p:ph type="sldNum" sz="quarter" idx="12"/>
          </p:nvPr>
        </p:nvSpPr>
        <p:spPr/>
        <p:txBody>
          <a:bodyPr/>
          <a:lstStyle/>
          <a:p>
            <a:pPr>
              <a:defRPr/>
            </a:pPr>
            <a:fld id="{C3168C1A-0F73-4148-A9C6-17783D0D792E}" type="slidenum">
              <a:rPr lang="en-GB" smtClean="0"/>
              <a:pPr>
                <a:defRPr/>
              </a:pPr>
              <a:t>12</a:t>
            </a:fld>
            <a:endParaRPr lang="en-GB"/>
          </a:p>
        </p:txBody>
      </p:sp>
      <p:graphicFrame>
        <p:nvGraphicFramePr>
          <p:cNvPr id="20483" name="Object 3"/>
          <p:cNvGraphicFramePr>
            <a:graphicFrameLocks/>
          </p:cNvGraphicFramePr>
          <p:nvPr/>
        </p:nvGraphicFramePr>
        <p:xfrm>
          <a:off x="323850" y="1484313"/>
          <a:ext cx="8569325" cy="5040312"/>
        </p:xfrm>
        <a:graphic>
          <a:graphicData uri="http://schemas.openxmlformats.org/presentationml/2006/ole">
            <mc:AlternateContent xmlns:mc="http://schemas.openxmlformats.org/markup-compatibility/2006">
              <mc:Choice xmlns:v="urn:schemas-microsoft-com:vml" Requires="v">
                <p:oleObj name="Document" r:id="rId4" imgW="8229600" imgH="5041900" progId="Word.Document.8">
                  <p:embed/>
                </p:oleObj>
              </mc:Choice>
              <mc:Fallback>
                <p:oleObj name="Document" r:id="rId4" imgW="8229600" imgH="5041900" progId="Word.Document.8">
                  <p:embed/>
                  <p:pic>
                    <p:nvPicPr>
                      <p:cNvPr id="20483"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1484313"/>
                        <a:ext cx="8569325" cy="5040312"/>
                      </a:xfrm>
                      <a:prstGeom prst="rect">
                        <a:avLst/>
                      </a:prstGeom>
                      <a:solidFill>
                        <a:schemeClr val="accent1"/>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7335531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457200" y="274638"/>
            <a:ext cx="7620000" cy="1143000"/>
          </a:xfrm>
        </p:spPr>
        <p:txBody>
          <a:bodyPr anchor="ctr">
            <a:normAutofit/>
          </a:bodyPr>
          <a:lstStyle/>
          <a:p>
            <a:pPr algn="ctr" eaLnBrk="1" fontAlgn="auto" hangingPunct="1">
              <a:lnSpc>
                <a:spcPct val="90000"/>
              </a:lnSpc>
              <a:spcAft>
                <a:spcPts val="0"/>
              </a:spcAft>
              <a:defRPr/>
            </a:pPr>
            <a:r>
              <a:rPr lang="en-US" sz="3900" dirty="0"/>
              <a:t>Valuation and Terminal Value</a:t>
            </a:r>
          </a:p>
        </p:txBody>
      </p:sp>
      <p:pic>
        <p:nvPicPr>
          <p:cNvPr id="6" name="Content Placeholder 5" descr="The image illustrates a two-stage dividend growth model for comprehensive stock valuation, showing high growth in the initial stage and stable growth in the latter stage, along with various valuation methods and factors such as EV/EBITDA, PE, and growth rates.&#10;&#10;AI-generated content may be incorrect.">
            <a:extLst>
              <a:ext uri="{FF2B5EF4-FFF2-40B4-BE49-F238E27FC236}">
                <a16:creationId xmlns:a16="http://schemas.microsoft.com/office/drawing/2014/main" id="{21069F33-57CD-9475-CE03-EEC93FF127C3}"/>
              </a:ext>
            </a:extLst>
          </p:cNvPr>
          <p:cNvPicPr>
            <a:picLocks noGrp="1" noChangeAspect="1"/>
          </p:cNvPicPr>
          <p:nvPr>
            <p:ph idx="1"/>
          </p:nvPr>
        </p:nvPicPr>
        <p:blipFill>
          <a:blip r:embed="rId3"/>
          <a:stretch>
            <a:fillRect/>
          </a:stretch>
        </p:blipFill>
        <p:spPr>
          <a:xfrm>
            <a:off x="457200" y="1924050"/>
            <a:ext cx="7620000" cy="4152900"/>
          </a:xfrm>
          <a:prstGeom prst="rect">
            <a:avLst/>
          </a:prstGeom>
          <a:noFill/>
        </p:spPr>
      </p:pic>
      <p:sp>
        <p:nvSpPr>
          <p:cNvPr id="2" name="Slide Number Placeholder 1" hidden="1"/>
          <p:cNvSpPr>
            <a:spLocks noGrp="1"/>
          </p:cNvSpPr>
          <p:nvPr>
            <p:ph type="sldNum" sz="quarter" idx="12"/>
          </p:nvPr>
        </p:nvSpPr>
        <p:spPr/>
        <p:txBody>
          <a:bodyPr/>
          <a:lstStyle/>
          <a:p>
            <a:pPr>
              <a:spcAft>
                <a:spcPts val="600"/>
              </a:spcAft>
              <a:defRPr/>
            </a:pPr>
            <a:fld id="{C3168C1A-0F73-4148-A9C6-17783D0D792E}" type="slidenum">
              <a:rPr lang="en-GB" smtClean="0"/>
              <a:pPr>
                <a:spcAft>
                  <a:spcPts val="600"/>
                </a:spcAft>
                <a:defRPr/>
              </a:pPr>
              <a:t>13</a:t>
            </a:fld>
            <a:endParaRPr lang="en-GB"/>
          </a:p>
        </p:txBody>
      </p:sp>
    </p:spTree>
    <p:extLst>
      <p:ext uri="{BB962C8B-B14F-4D97-AF65-F5344CB8AC3E}">
        <p14:creationId xmlns:p14="http://schemas.microsoft.com/office/powerpoint/2010/main" val="1905162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a:xfrm>
            <a:off x="457200" y="274638"/>
            <a:ext cx="7467600" cy="778098"/>
          </a:xfrm>
        </p:spPr>
        <p:txBody>
          <a:bodyPr>
            <a:normAutofit fontScale="90000"/>
          </a:bodyPr>
          <a:lstStyle/>
          <a:p>
            <a:pPr eaLnBrk="1" fontAlgn="auto" hangingPunct="1">
              <a:spcAft>
                <a:spcPts val="0"/>
              </a:spcAft>
              <a:defRPr/>
            </a:pPr>
            <a:r>
              <a:rPr lang="en-US" dirty="0"/>
              <a:t>Stable Growth and Terminal Value</a:t>
            </a:r>
          </a:p>
        </p:txBody>
      </p:sp>
      <p:sp>
        <p:nvSpPr>
          <p:cNvPr id="179203" name="Rectangle 3"/>
          <p:cNvSpPr>
            <a:spLocks noGrp="1" noChangeArrowheads="1"/>
          </p:cNvSpPr>
          <p:nvPr>
            <p:ph idx="1"/>
          </p:nvPr>
        </p:nvSpPr>
        <p:spPr>
          <a:xfrm>
            <a:off x="457200" y="1268760"/>
            <a:ext cx="7787208" cy="5205065"/>
          </a:xfrm>
        </p:spPr>
        <p:txBody>
          <a:bodyPr>
            <a:normAutofit lnSpcReduction="10000"/>
          </a:bodyPr>
          <a:lstStyle/>
          <a:p>
            <a:pPr marL="274320" indent="-274320" eaLnBrk="1" fontAlgn="auto" hangingPunct="1">
              <a:spcAft>
                <a:spcPts val="0"/>
              </a:spcAft>
              <a:buFont typeface="Wingdings"/>
              <a:buChar char=""/>
              <a:defRPr/>
            </a:pPr>
            <a:r>
              <a:rPr lang="en-US" dirty="0"/>
              <a:t>When a firm’s cash flows grow at a “constant” rate forever, the present value of those cash flows can be written as:</a:t>
            </a:r>
          </a:p>
          <a:p>
            <a:pPr marL="640080" lvl="1" indent="-274320" eaLnBrk="1" fontAlgn="auto" hangingPunct="1">
              <a:spcAft>
                <a:spcPts val="0"/>
              </a:spcAft>
              <a:buFontTx/>
              <a:buNone/>
              <a:defRPr/>
            </a:pPr>
            <a:r>
              <a:rPr lang="en-US" dirty="0"/>
              <a:t>Value = Expected Cash Flow Next Period / (r - g)</a:t>
            </a:r>
          </a:p>
          <a:p>
            <a:pPr marL="640080" lvl="1" indent="-274320" eaLnBrk="1" fontAlgn="auto" hangingPunct="1">
              <a:spcAft>
                <a:spcPts val="0"/>
              </a:spcAft>
              <a:buFontTx/>
              <a:buNone/>
              <a:defRPr/>
            </a:pPr>
            <a:r>
              <a:rPr lang="en-US" dirty="0"/>
              <a:t>where,</a:t>
            </a:r>
          </a:p>
          <a:p>
            <a:pPr marL="640080" lvl="1" indent="-274320" eaLnBrk="1" fontAlgn="auto" hangingPunct="1">
              <a:spcAft>
                <a:spcPts val="0"/>
              </a:spcAft>
              <a:buFontTx/>
              <a:buNone/>
              <a:defRPr/>
            </a:pPr>
            <a:r>
              <a:rPr lang="en-US" dirty="0"/>
              <a:t>	r = Discount rate (Cost of Equity or Cost of Capital)</a:t>
            </a:r>
          </a:p>
          <a:p>
            <a:pPr marL="640080" lvl="1" indent="-274320" eaLnBrk="1" fontAlgn="auto" hangingPunct="1">
              <a:spcAft>
                <a:spcPts val="0"/>
              </a:spcAft>
              <a:buFontTx/>
              <a:buNone/>
              <a:defRPr/>
            </a:pPr>
            <a:r>
              <a:rPr lang="en-US" dirty="0"/>
              <a:t>	g = Expected growth rate</a:t>
            </a:r>
          </a:p>
          <a:p>
            <a:pPr marL="274320" indent="-274320" eaLnBrk="1" fontAlgn="auto" hangingPunct="1">
              <a:spcAft>
                <a:spcPts val="0"/>
              </a:spcAft>
              <a:buFont typeface="Wingdings"/>
              <a:buChar char=""/>
              <a:defRPr/>
            </a:pPr>
            <a:r>
              <a:rPr lang="en-US" dirty="0"/>
              <a:t>This “constant” growth rate is called a </a:t>
            </a:r>
            <a:r>
              <a:rPr lang="en-US" u="sng" dirty="0"/>
              <a:t>stable growth rate </a:t>
            </a:r>
            <a:r>
              <a:rPr lang="en-US" dirty="0"/>
              <a:t>and </a:t>
            </a:r>
            <a:r>
              <a:rPr lang="en-US" u="sng" dirty="0"/>
              <a:t>cannot be higher than the growth rate of the economy </a:t>
            </a:r>
            <a:r>
              <a:rPr lang="en-US" dirty="0"/>
              <a:t>in which the firm operates.</a:t>
            </a:r>
          </a:p>
          <a:p>
            <a:pPr marL="274320" indent="-274320" eaLnBrk="1" fontAlgn="auto" hangingPunct="1">
              <a:spcAft>
                <a:spcPts val="0"/>
              </a:spcAft>
              <a:buFont typeface="Wingdings"/>
              <a:buChar char=""/>
              <a:defRPr/>
            </a:pPr>
            <a:r>
              <a:rPr lang="en-US" dirty="0"/>
              <a:t>While companies can maintain high growth rates for extended periods, they will all approach “stable growth” at some point in time.</a:t>
            </a:r>
          </a:p>
          <a:p>
            <a:pPr marL="274320" indent="-274320" eaLnBrk="1" fontAlgn="auto" hangingPunct="1">
              <a:spcAft>
                <a:spcPts val="0"/>
              </a:spcAft>
              <a:buFont typeface="Wingdings"/>
              <a:buChar char=""/>
              <a:defRPr/>
            </a:pPr>
            <a:r>
              <a:rPr lang="en-US" dirty="0"/>
              <a:t>When they do approach stable growth, the valuation formula above can be used to estimate the “terminal value” of all cash flows beyond.</a:t>
            </a:r>
          </a:p>
        </p:txBody>
      </p:sp>
      <p:sp>
        <p:nvSpPr>
          <p:cNvPr id="2" name="Slide Number Placeholder 1"/>
          <p:cNvSpPr>
            <a:spLocks noGrp="1"/>
          </p:cNvSpPr>
          <p:nvPr>
            <p:ph type="sldNum" sz="quarter" idx="12"/>
          </p:nvPr>
        </p:nvSpPr>
        <p:spPr/>
        <p:txBody>
          <a:bodyPr/>
          <a:lstStyle/>
          <a:p>
            <a:pPr>
              <a:defRPr/>
            </a:pPr>
            <a:fld id="{C3168C1A-0F73-4148-A9C6-17783D0D792E}" type="slidenum">
              <a:rPr lang="en-GB" smtClean="0"/>
              <a:pPr>
                <a:defRPr/>
              </a:pPr>
              <a:t>14</a:t>
            </a:fld>
            <a:endParaRPr lang="en-GB"/>
          </a:p>
        </p:txBody>
      </p:sp>
    </p:spTree>
    <p:extLst>
      <p:ext uri="{BB962C8B-B14F-4D97-AF65-F5344CB8AC3E}">
        <p14:creationId xmlns:p14="http://schemas.microsoft.com/office/powerpoint/2010/main" val="128745169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06090"/>
          </a:xfrm>
        </p:spPr>
        <p:txBody>
          <a:bodyPr>
            <a:normAutofit fontScale="90000"/>
          </a:bodyPr>
          <a:lstStyle/>
          <a:p>
            <a:r>
              <a:rPr lang="en-GB" dirty="0"/>
              <a:t>Estimate A Fair Stable Growth Rate</a:t>
            </a:r>
          </a:p>
        </p:txBody>
      </p:sp>
      <p:sp>
        <p:nvSpPr>
          <p:cNvPr id="3" name="Content Placeholder 2"/>
          <p:cNvSpPr>
            <a:spLocks noGrp="1"/>
          </p:cNvSpPr>
          <p:nvPr>
            <p:ph idx="1"/>
          </p:nvPr>
        </p:nvSpPr>
        <p:spPr>
          <a:xfrm>
            <a:off x="457200" y="1052736"/>
            <a:ext cx="8003232" cy="5421216"/>
          </a:xfrm>
        </p:spPr>
        <p:txBody>
          <a:bodyPr>
            <a:normAutofit/>
          </a:bodyPr>
          <a:lstStyle/>
          <a:p>
            <a:r>
              <a:rPr lang="en-GB" dirty="0"/>
              <a:t>Obey the growth Cap</a:t>
            </a:r>
          </a:p>
          <a:p>
            <a:pPr lvl="1"/>
            <a:r>
              <a:rPr lang="en-GB" dirty="0"/>
              <a:t>The stable growth rate cannot exceed the growth rate of the economy</a:t>
            </a:r>
          </a:p>
          <a:p>
            <a:r>
              <a:rPr lang="en-GB" dirty="0"/>
              <a:t>Do not wait too long for the stable growth stage</a:t>
            </a:r>
          </a:p>
          <a:p>
            <a:pPr lvl="1"/>
            <a:r>
              <a:rPr lang="en-GB" dirty="0"/>
              <a:t>Although some companies can maintain high growth rates for long periods of time, this is not the usual case</a:t>
            </a:r>
          </a:p>
          <a:p>
            <a:r>
              <a:rPr lang="en-GB" dirty="0"/>
              <a:t>Do not assume that stable growth does not need investments. </a:t>
            </a:r>
          </a:p>
          <a:p>
            <a:pPr lvl="1"/>
            <a:r>
              <a:rPr lang="en-GB" dirty="0"/>
              <a:t>When inflation is considerable, the value of assets is nominally depreciated and thus, further investments are needed</a:t>
            </a:r>
          </a:p>
          <a:p>
            <a:r>
              <a:rPr lang="en-GB" dirty="0"/>
              <a:t>Be internally consistent</a:t>
            </a:r>
          </a:p>
          <a:p>
            <a:pPr lvl="1"/>
            <a:r>
              <a:rPr lang="en-GB" dirty="0"/>
              <a:t>Stable firms tend to have betas equal to 1</a:t>
            </a:r>
          </a:p>
          <a:p>
            <a:pPr lvl="1"/>
            <a:r>
              <a:rPr lang="en-GB" dirty="0"/>
              <a:t>Debt ratios are closer to the firm</a:t>
            </a:r>
          </a:p>
          <a:p>
            <a:pPr lvl="1"/>
            <a:r>
              <a:rPr lang="en-GB" dirty="0"/>
              <a:t>Risk free rate might be different and close to the stable growth rate</a:t>
            </a:r>
          </a:p>
          <a:p>
            <a:pPr lvl="1"/>
            <a:r>
              <a:rPr lang="en-GB" dirty="0"/>
              <a:t>The re-investment needs should reflect the expected growth rate, as well as the dividend policy</a:t>
            </a:r>
          </a:p>
        </p:txBody>
      </p:sp>
      <p:sp>
        <p:nvSpPr>
          <p:cNvPr id="4" name="Slide Number Placeholder 3"/>
          <p:cNvSpPr>
            <a:spLocks noGrp="1"/>
          </p:cNvSpPr>
          <p:nvPr>
            <p:ph type="sldNum" sz="quarter" idx="12"/>
          </p:nvPr>
        </p:nvSpPr>
        <p:spPr/>
        <p:txBody>
          <a:bodyPr/>
          <a:lstStyle/>
          <a:p>
            <a:pPr>
              <a:defRPr/>
            </a:pPr>
            <a:fld id="{C3168C1A-0F73-4148-A9C6-17783D0D792E}" type="slidenum">
              <a:rPr lang="en-GB" smtClean="0"/>
              <a:pPr>
                <a:defRPr/>
              </a:pPr>
              <a:t>15</a:t>
            </a:fld>
            <a:endParaRPr lang="en-GB"/>
          </a:p>
        </p:txBody>
      </p:sp>
    </p:spTree>
    <p:extLst>
      <p:ext uri="{BB962C8B-B14F-4D97-AF65-F5344CB8AC3E}">
        <p14:creationId xmlns:p14="http://schemas.microsoft.com/office/powerpoint/2010/main" val="2528468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pPr eaLnBrk="1" fontAlgn="auto" hangingPunct="1">
              <a:spcAft>
                <a:spcPts val="0"/>
              </a:spcAft>
              <a:defRPr/>
            </a:pPr>
            <a:r>
              <a:rPr lang="en-US"/>
              <a:t>Growth Patterns</a:t>
            </a:r>
          </a:p>
        </p:txBody>
      </p:sp>
      <p:sp>
        <p:nvSpPr>
          <p:cNvPr id="180227" name="Rectangle 3"/>
          <p:cNvSpPr>
            <a:spLocks noGrp="1" noChangeArrowheads="1"/>
          </p:cNvSpPr>
          <p:nvPr>
            <p:ph idx="1"/>
          </p:nvPr>
        </p:nvSpPr>
        <p:spPr>
          <a:xfrm>
            <a:off x="457200" y="1600200"/>
            <a:ext cx="7467600" cy="4873625"/>
          </a:xfrm>
        </p:spPr>
        <p:txBody>
          <a:bodyPr>
            <a:normAutofit/>
          </a:bodyPr>
          <a:lstStyle/>
          <a:p>
            <a:pPr marL="274320" indent="-274320" eaLnBrk="1" fontAlgn="auto" hangingPunct="1">
              <a:spcAft>
                <a:spcPts val="0"/>
              </a:spcAft>
              <a:buFont typeface="Wingdings"/>
              <a:buChar char=""/>
              <a:defRPr/>
            </a:pPr>
            <a:r>
              <a:rPr lang="en-US"/>
              <a:t>A key assumption in all discounted cash flow models is the period of high growth, and the pattern of growth during that period. In general, we can make one of three assumptions:</a:t>
            </a:r>
          </a:p>
          <a:p>
            <a:pPr marL="640080" lvl="1" indent="-274320" eaLnBrk="1" fontAlgn="auto" hangingPunct="1">
              <a:spcAft>
                <a:spcPts val="0"/>
              </a:spcAft>
              <a:buFont typeface="Wingdings 2"/>
              <a:buChar char=""/>
              <a:defRPr/>
            </a:pPr>
            <a:r>
              <a:rPr lang="en-US"/>
              <a:t>there is no high growth, in which case the firm is already in stable growth</a:t>
            </a:r>
          </a:p>
          <a:p>
            <a:pPr marL="640080" lvl="1" indent="-274320" eaLnBrk="1" fontAlgn="auto" hangingPunct="1">
              <a:spcAft>
                <a:spcPts val="0"/>
              </a:spcAft>
              <a:buFont typeface="Wingdings 2"/>
              <a:buChar char=""/>
              <a:defRPr/>
            </a:pPr>
            <a:r>
              <a:rPr lang="en-US"/>
              <a:t>there will be high growth for a period, at the end of which the growth rate will drop to the stable growth rate (2-stage)</a:t>
            </a:r>
          </a:p>
          <a:p>
            <a:pPr marL="640080" lvl="1" indent="-274320" eaLnBrk="1" fontAlgn="auto" hangingPunct="1">
              <a:spcAft>
                <a:spcPts val="0"/>
              </a:spcAft>
              <a:buFont typeface="Wingdings 2"/>
              <a:buChar char=""/>
              <a:defRPr/>
            </a:pPr>
            <a:r>
              <a:rPr lang="en-US"/>
              <a:t>there will be high growth for a period, at the end of which the growth rate will decline gradually to a stable growth rate(3-stage)</a:t>
            </a:r>
          </a:p>
          <a:p>
            <a:pPr marL="640080" lvl="1" indent="-274320" eaLnBrk="1" fontAlgn="auto" hangingPunct="1">
              <a:spcAft>
                <a:spcPts val="0"/>
              </a:spcAft>
              <a:buFont typeface="Wingdings 2"/>
              <a:buChar char=""/>
              <a:defRPr/>
            </a:pPr>
            <a:r>
              <a:rPr lang="en-US"/>
              <a:t>Each year will have different margins and different growth rates (n stage)</a:t>
            </a:r>
          </a:p>
          <a:p>
            <a:pPr marL="274320" indent="-274320" eaLnBrk="1" fontAlgn="auto" hangingPunct="1">
              <a:spcAft>
                <a:spcPts val="0"/>
              </a:spcAft>
              <a:buFont typeface="Wingdings"/>
              <a:buChar char=""/>
              <a:defRPr/>
            </a:pPr>
            <a:endParaRPr lang="en-US" sz="1800"/>
          </a:p>
        </p:txBody>
      </p:sp>
      <p:sp>
        <p:nvSpPr>
          <p:cNvPr id="2" name="Slide Number Placeholder 1"/>
          <p:cNvSpPr>
            <a:spLocks noGrp="1"/>
          </p:cNvSpPr>
          <p:nvPr>
            <p:ph type="sldNum" sz="quarter" idx="12"/>
          </p:nvPr>
        </p:nvSpPr>
        <p:spPr/>
        <p:txBody>
          <a:bodyPr/>
          <a:lstStyle/>
          <a:p>
            <a:pPr>
              <a:defRPr/>
            </a:pPr>
            <a:fld id="{C3168C1A-0F73-4148-A9C6-17783D0D792E}" type="slidenum">
              <a:rPr lang="en-GB" smtClean="0"/>
              <a:pPr>
                <a:defRPr/>
              </a:pPr>
              <a:t>16</a:t>
            </a:fld>
            <a:endParaRPr lang="en-GB"/>
          </a:p>
        </p:txBody>
      </p:sp>
    </p:spTree>
    <p:extLst>
      <p:ext uri="{BB962C8B-B14F-4D97-AF65-F5344CB8AC3E}">
        <p14:creationId xmlns:p14="http://schemas.microsoft.com/office/powerpoint/2010/main" val="71879767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pPr eaLnBrk="1" fontAlgn="auto" hangingPunct="1">
              <a:spcAft>
                <a:spcPts val="0"/>
              </a:spcAft>
              <a:defRPr/>
            </a:pPr>
            <a:r>
              <a:rPr lang="en-US"/>
              <a:t>Determinants of Growth Patterns</a:t>
            </a:r>
          </a:p>
        </p:txBody>
      </p:sp>
      <p:sp>
        <p:nvSpPr>
          <p:cNvPr id="181251" name="Rectangle 3"/>
          <p:cNvSpPr>
            <a:spLocks noGrp="1" noChangeArrowheads="1"/>
          </p:cNvSpPr>
          <p:nvPr>
            <p:ph idx="1"/>
          </p:nvPr>
        </p:nvSpPr>
        <p:spPr>
          <a:xfrm>
            <a:off x="457200" y="1600200"/>
            <a:ext cx="7467600" cy="4873625"/>
          </a:xfrm>
        </p:spPr>
        <p:txBody>
          <a:bodyPr>
            <a:normAutofit fontScale="92500" lnSpcReduction="20000"/>
          </a:bodyPr>
          <a:lstStyle/>
          <a:p>
            <a:pPr marL="274320" indent="-274320" eaLnBrk="1" fontAlgn="auto" hangingPunct="1">
              <a:spcAft>
                <a:spcPts val="0"/>
              </a:spcAft>
              <a:buFont typeface="Wingdings"/>
              <a:buChar char=""/>
              <a:defRPr/>
            </a:pPr>
            <a:r>
              <a:rPr lang="en-US"/>
              <a:t>Size of the firm </a:t>
            </a:r>
          </a:p>
          <a:p>
            <a:pPr marL="640080" lvl="1" indent="-274320" eaLnBrk="1" fontAlgn="auto" hangingPunct="1">
              <a:spcAft>
                <a:spcPts val="0"/>
              </a:spcAft>
              <a:buFont typeface="Wingdings 2"/>
              <a:buChar char=""/>
              <a:defRPr/>
            </a:pPr>
            <a:r>
              <a:rPr lang="en-US"/>
              <a:t>Success usually makes a firm larger. As firms </a:t>
            </a:r>
            <a:r>
              <a:rPr lang="en-US" u="sng"/>
              <a:t>become larger</a:t>
            </a:r>
            <a:r>
              <a:rPr lang="en-US"/>
              <a:t>, it becomes much more difficult for them to maintain high growth rates</a:t>
            </a:r>
          </a:p>
          <a:p>
            <a:pPr marL="274320" indent="-274320" eaLnBrk="1" fontAlgn="auto" hangingPunct="1">
              <a:spcAft>
                <a:spcPts val="0"/>
              </a:spcAft>
              <a:buFont typeface="Wingdings"/>
              <a:buChar char=""/>
              <a:defRPr/>
            </a:pPr>
            <a:r>
              <a:rPr lang="en-US"/>
              <a:t>Current growth rate </a:t>
            </a:r>
          </a:p>
          <a:p>
            <a:pPr marL="640080" lvl="1" indent="-274320" eaLnBrk="1" fontAlgn="auto" hangingPunct="1">
              <a:spcAft>
                <a:spcPts val="0"/>
              </a:spcAft>
              <a:buFont typeface="Wingdings 2"/>
              <a:buChar char=""/>
              <a:defRPr/>
            </a:pPr>
            <a:r>
              <a:rPr lang="en-US"/>
              <a:t>While past growth is not always a reliable indicator of future growth, there is a </a:t>
            </a:r>
            <a:r>
              <a:rPr lang="en-US" u="sng"/>
              <a:t>correlation between current growth and future growth</a:t>
            </a:r>
            <a:r>
              <a:rPr lang="en-US"/>
              <a:t>. Thus, a firm growing at 30% currently probably has higher growth and a longer expected growth period than one growing 10% a year now.</a:t>
            </a:r>
          </a:p>
          <a:p>
            <a:pPr marL="274320" indent="-274320" eaLnBrk="1" fontAlgn="auto" hangingPunct="1">
              <a:spcAft>
                <a:spcPts val="0"/>
              </a:spcAft>
              <a:buFont typeface="Wingdings"/>
              <a:buChar char=""/>
              <a:defRPr/>
            </a:pPr>
            <a:r>
              <a:rPr lang="en-US"/>
              <a:t>Barriers to entry and differential advantages </a:t>
            </a:r>
          </a:p>
          <a:p>
            <a:pPr marL="640080" lvl="1" indent="-274320" eaLnBrk="1" fontAlgn="auto" hangingPunct="1">
              <a:spcAft>
                <a:spcPts val="0"/>
              </a:spcAft>
              <a:buFont typeface="Wingdings 2"/>
              <a:buChar char=""/>
              <a:defRPr/>
            </a:pPr>
            <a:r>
              <a:rPr lang="en-US"/>
              <a:t>Ultimately, high growth comes from high project returns, which,  in turn, comes from </a:t>
            </a:r>
            <a:r>
              <a:rPr lang="en-US" u="sng"/>
              <a:t>barriers to entry </a:t>
            </a:r>
            <a:r>
              <a:rPr lang="en-US"/>
              <a:t>and </a:t>
            </a:r>
            <a:r>
              <a:rPr lang="en-US" u="sng"/>
              <a:t>differential advantages</a:t>
            </a:r>
            <a:r>
              <a:rPr lang="en-US"/>
              <a:t>.</a:t>
            </a:r>
          </a:p>
          <a:p>
            <a:pPr marL="640080" lvl="1" indent="-274320" eaLnBrk="1" fontAlgn="auto" hangingPunct="1">
              <a:spcAft>
                <a:spcPts val="0"/>
              </a:spcAft>
              <a:buFont typeface="Wingdings 2"/>
              <a:buChar char=""/>
              <a:defRPr/>
            </a:pPr>
            <a:r>
              <a:rPr lang="en-US"/>
              <a:t>The question of how long growth will last and how high it will be can therefore be framed as a question about </a:t>
            </a:r>
            <a:r>
              <a:rPr lang="en-US" u="sng"/>
              <a:t>what the barriers to entry are, how long they will stay up and how strong they will remain.</a:t>
            </a:r>
          </a:p>
        </p:txBody>
      </p:sp>
      <p:sp>
        <p:nvSpPr>
          <p:cNvPr id="2" name="Slide Number Placeholder 1"/>
          <p:cNvSpPr>
            <a:spLocks noGrp="1"/>
          </p:cNvSpPr>
          <p:nvPr>
            <p:ph type="sldNum" sz="quarter" idx="12"/>
          </p:nvPr>
        </p:nvSpPr>
        <p:spPr/>
        <p:txBody>
          <a:bodyPr/>
          <a:lstStyle/>
          <a:p>
            <a:pPr>
              <a:defRPr/>
            </a:pPr>
            <a:fld id="{C3168C1A-0F73-4148-A9C6-17783D0D792E}" type="slidenum">
              <a:rPr lang="en-GB" smtClean="0"/>
              <a:pPr>
                <a:defRPr/>
              </a:pPr>
              <a:t>17</a:t>
            </a:fld>
            <a:endParaRPr lang="en-GB"/>
          </a:p>
        </p:txBody>
      </p:sp>
    </p:spTree>
    <p:extLst>
      <p:ext uri="{BB962C8B-B14F-4D97-AF65-F5344CB8AC3E}">
        <p14:creationId xmlns:p14="http://schemas.microsoft.com/office/powerpoint/2010/main" val="425774255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40B46-03B6-CEF5-5FA1-576A178EE360}"/>
              </a:ext>
            </a:extLst>
          </p:cNvPr>
          <p:cNvSpPr>
            <a:spLocks noGrp="1"/>
          </p:cNvSpPr>
          <p:nvPr>
            <p:ph type="title"/>
          </p:nvPr>
        </p:nvSpPr>
        <p:spPr>
          <a:xfrm>
            <a:off x="301752" y="5495278"/>
            <a:ext cx="7772400" cy="594626"/>
          </a:xfrm>
        </p:spPr>
        <p:txBody>
          <a:bodyPr anchor="b">
            <a:normAutofit/>
          </a:bodyPr>
          <a:lstStyle/>
          <a:p>
            <a:r>
              <a:rPr lang="en-GB" dirty="0"/>
              <a:t>Generic Formulas</a:t>
            </a:r>
          </a:p>
        </p:txBody>
      </p:sp>
      <p:pic>
        <p:nvPicPr>
          <p:cNvPr id="5" name="Picture 4" descr="A calculus formula">
            <a:extLst>
              <a:ext uri="{FF2B5EF4-FFF2-40B4-BE49-F238E27FC236}">
                <a16:creationId xmlns:a16="http://schemas.microsoft.com/office/drawing/2014/main" id="{BF5AE54E-D706-8ABB-F1ED-95B35D6244AD}"/>
              </a:ext>
            </a:extLst>
          </p:cNvPr>
          <p:cNvPicPr>
            <a:picLocks noChangeAspect="1"/>
          </p:cNvPicPr>
          <p:nvPr/>
        </p:nvPicPr>
        <p:blipFill>
          <a:blip r:embed="rId2"/>
          <a:srcRect r="-2" b="2822"/>
          <a:stretch>
            <a:fillRect/>
          </a:stretch>
        </p:blipFill>
        <p:spPr>
          <a:xfrm>
            <a:off x="20" y="10"/>
            <a:ext cx="8458180" cy="5486390"/>
          </a:xfrm>
          <a:prstGeom prst="rect">
            <a:avLst/>
          </a:prstGeom>
          <a:noFill/>
        </p:spPr>
      </p:pic>
      <p:sp>
        <p:nvSpPr>
          <p:cNvPr id="9" name="Text Placeholder 3">
            <a:extLst>
              <a:ext uri="{FF2B5EF4-FFF2-40B4-BE49-F238E27FC236}">
                <a16:creationId xmlns:a16="http://schemas.microsoft.com/office/drawing/2014/main" id="{97CA5EB6-16DA-1818-3DEC-66DDB9A74B3D}"/>
              </a:ext>
            </a:extLst>
          </p:cNvPr>
          <p:cNvSpPr>
            <a:spLocks noGrp="1"/>
          </p:cNvSpPr>
          <p:nvPr>
            <p:ph type="body" sz="half" idx="2"/>
          </p:nvPr>
        </p:nvSpPr>
        <p:spPr>
          <a:xfrm>
            <a:off x="301752" y="6096000"/>
            <a:ext cx="7772400" cy="612648"/>
          </a:xfrm>
        </p:spPr>
        <p:txBody>
          <a:bodyPr/>
          <a:lstStyle/>
          <a:p>
            <a:endParaRPr lang="en-US"/>
          </a:p>
        </p:txBody>
      </p:sp>
    </p:spTree>
    <p:extLst>
      <p:ext uri="{BB962C8B-B14F-4D97-AF65-F5344CB8AC3E}">
        <p14:creationId xmlns:p14="http://schemas.microsoft.com/office/powerpoint/2010/main" val="3852868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GB"/>
              <a:t>Stable Growth Model</a:t>
            </a:r>
          </a:p>
        </p:txBody>
      </p:sp>
      <p:sp>
        <p:nvSpPr>
          <p:cNvPr id="21507" name="Content Placeholder 2"/>
          <p:cNvSpPr>
            <a:spLocks noGrp="1"/>
          </p:cNvSpPr>
          <p:nvPr>
            <p:ph idx="1"/>
          </p:nvPr>
        </p:nvSpPr>
        <p:spPr>
          <a:xfrm>
            <a:off x="914400" y="1447800"/>
            <a:ext cx="7772400" cy="685800"/>
          </a:xfrm>
        </p:spPr>
        <p:txBody>
          <a:bodyPr>
            <a:normAutofit/>
          </a:bodyPr>
          <a:lstStyle/>
          <a:p>
            <a:pPr eaLnBrk="1" hangingPunct="1"/>
            <a:r>
              <a:rPr lang="en-GB"/>
              <a:t>Designed to value firms that are growing at a stable rate </a:t>
            </a:r>
          </a:p>
        </p:txBody>
      </p:sp>
      <p:sp>
        <p:nvSpPr>
          <p:cNvPr id="2" name="Slide Number Placeholder 1"/>
          <p:cNvSpPr>
            <a:spLocks noGrp="1"/>
          </p:cNvSpPr>
          <p:nvPr>
            <p:ph type="sldNum" sz="quarter" idx="12"/>
          </p:nvPr>
        </p:nvSpPr>
        <p:spPr/>
        <p:txBody>
          <a:bodyPr/>
          <a:lstStyle/>
          <a:p>
            <a:pPr>
              <a:defRPr/>
            </a:pPr>
            <a:fld id="{C3168C1A-0F73-4148-A9C6-17783D0D792E}" type="slidenum">
              <a:rPr lang="en-GB" smtClean="0"/>
              <a:pPr>
                <a:defRPr/>
              </a:pPr>
              <a:t>19</a:t>
            </a:fld>
            <a:endParaRPr lang="en-GB"/>
          </a:p>
        </p:txBody>
      </p:sp>
      <p:graphicFrame>
        <p:nvGraphicFramePr>
          <p:cNvPr id="21508" name="Object 3"/>
          <p:cNvGraphicFramePr>
            <a:graphicFrameLocks noChangeAspect="1"/>
          </p:cNvGraphicFramePr>
          <p:nvPr/>
        </p:nvGraphicFramePr>
        <p:xfrm>
          <a:off x="1547813" y="2205038"/>
          <a:ext cx="5446712" cy="4103687"/>
        </p:xfrm>
        <a:graphic>
          <a:graphicData uri="http://schemas.openxmlformats.org/presentationml/2006/ole">
            <mc:AlternateContent xmlns:mc="http://schemas.openxmlformats.org/markup-compatibility/2006">
              <mc:Choice xmlns:v="urn:schemas-microsoft-com:vml" Requires="v">
                <p:oleObj name="Equation" r:id="rId2" imgW="1803400" imgH="1358900" progId="Equation.3">
                  <p:embed/>
                </p:oleObj>
              </mc:Choice>
              <mc:Fallback>
                <p:oleObj name="Equation" r:id="rId2" imgW="1803400" imgH="1358900" progId="Equation.3">
                  <p:embed/>
                  <p:pic>
                    <p:nvPicPr>
                      <p:cNvPr id="21508"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2205038"/>
                        <a:ext cx="5446712" cy="410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61279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914400" y="274638"/>
            <a:ext cx="7772400" cy="777875"/>
          </a:xfrm>
        </p:spPr>
        <p:txBody>
          <a:bodyPr/>
          <a:lstStyle/>
          <a:p>
            <a:pPr eaLnBrk="1" hangingPunct="1"/>
            <a:r>
              <a:rPr lang="en-GB"/>
              <a:t>2-stage Growth Model</a:t>
            </a:r>
          </a:p>
        </p:txBody>
      </p:sp>
      <mc:AlternateContent xmlns:mc="http://schemas.openxmlformats.org/markup-compatibility/2006" xmlns:a14="http://schemas.microsoft.com/office/drawing/2010/main">
        <mc:Choice Requires="a14">
          <p:sp>
            <p:nvSpPr>
              <p:cNvPr id="22531" name="Content Placeholder 2"/>
              <p:cNvSpPr>
                <a:spLocks noGrp="1"/>
              </p:cNvSpPr>
              <p:nvPr>
                <p:ph idx="1"/>
              </p:nvPr>
            </p:nvSpPr>
            <p:spPr>
              <a:xfrm>
                <a:off x="684213" y="981075"/>
                <a:ext cx="7772400" cy="5688285"/>
              </a:xfrm>
            </p:spPr>
            <p:txBody>
              <a:bodyPr>
                <a:normAutofit fontScale="92500" lnSpcReduction="10000"/>
              </a:bodyPr>
              <a:lstStyle/>
              <a:p>
                <a:pPr eaLnBrk="1" hangingPunct="1"/>
                <a:r>
                  <a:rPr lang="en-GB" dirty="0"/>
                  <a:t>Designed to value firms that experience extraordinary growth for a period of time</a:t>
                </a:r>
              </a:p>
              <a:p>
                <a:pPr eaLnBrk="1" hangingPunct="1"/>
                <a:endParaRPr lang="en-GB" dirty="0"/>
              </a:p>
              <a:p>
                <a:pPr eaLnBrk="1" hangingPunct="1"/>
                <a:endParaRPr lang="en-GB" dirty="0"/>
              </a:p>
              <a:p>
                <a:pPr eaLnBrk="1" hangingPunct="1"/>
                <a:endParaRPr lang="en-GB" dirty="0"/>
              </a:p>
              <a:p>
                <a:pPr eaLnBrk="1" hangingPunct="1"/>
                <a:endParaRPr lang="en-GB" dirty="0"/>
              </a:p>
              <a:p>
                <a:pPr eaLnBrk="1" hangingPunct="1"/>
                <a:endParaRPr lang="en-GB" dirty="0"/>
              </a:p>
              <a:p>
                <a:pPr eaLnBrk="1" hangingPunct="1"/>
                <a:endParaRPr lang="en-GB" dirty="0"/>
              </a:p>
              <a:p>
                <a:pPr eaLnBrk="1" hangingPunct="1"/>
                <a:endParaRPr lang="en-GB" dirty="0"/>
              </a:p>
              <a:p>
                <a:pPr eaLnBrk="1" hangingPunct="1"/>
                <a:r>
                  <a:rPr lang="en-GB" dirty="0"/>
                  <a:t>Where</a:t>
                </a:r>
              </a:p>
              <a:p>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𝑃</m:t>
                        </m:r>
                      </m:e>
                      <m:sub>
                        <m:r>
                          <a:rPr lang="en-GB" i="1">
                            <a:latin typeface="Cambria Math" panose="02040503050406030204" pitchFamily="18" charset="0"/>
                          </a:rPr>
                          <m:t>0</m:t>
                        </m:r>
                      </m:sub>
                    </m:sSub>
                  </m:oMath>
                </a14:m>
                <a:r>
                  <a:rPr lang="en-GB" dirty="0"/>
                  <a:t> is the price of the stock today</a:t>
                </a:r>
              </a:p>
              <a:p>
                <a14:m>
                  <m:oMath xmlns:m="http://schemas.openxmlformats.org/officeDocument/2006/math">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𝑡</m:t>
                        </m:r>
                      </m:sub>
                      <m:sup>
                        <m:r>
                          <a:rPr lang="en-GB" i="1">
                            <a:latin typeface="Cambria Math" panose="02040503050406030204" pitchFamily="18" charset="0"/>
                          </a:rPr>
                          <m:t>𝑛</m:t>
                        </m:r>
                      </m:sup>
                      <m:e>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𝐶𝐹</m:t>
                                </m:r>
                              </m:e>
                              <m:sub>
                                <m:r>
                                  <a:rPr lang="en-GB" i="1">
                                    <a:latin typeface="Cambria Math" panose="02040503050406030204" pitchFamily="18" charset="0"/>
                                  </a:rPr>
                                  <m:t>0</m:t>
                                </m:r>
                              </m:sub>
                            </m:sSub>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1+</m:t>
                                    </m:r>
                                    <m:sSub>
                                      <m:sSubPr>
                                        <m:ctrlPr>
                                          <a:rPr lang="en-GB" i="1">
                                            <a:latin typeface="Cambria Math" panose="02040503050406030204" pitchFamily="18" charset="0"/>
                                          </a:rPr>
                                        </m:ctrlPr>
                                      </m:sSubPr>
                                      <m:e>
                                        <m:r>
                                          <a:rPr lang="en-GB" i="1">
                                            <a:latin typeface="Cambria Math" panose="02040503050406030204" pitchFamily="18" charset="0"/>
                                          </a:rPr>
                                          <m:t>𝑔</m:t>
                                        </m:r>
                                      </m:e>
                                      <m:sub>
                                        <m:r>
                                          <a:rPr lang="en-GB" i="1">
                                            <a:latin typeface="Cambria Math" panose="02040503050406030204" pitchFamily="18" charset="0"/>
                                          </a:rPr>
                                          <m:t>ℎ</m:t>
                                        </m:r>
                                      </m:sub>
                                    </m:sSub>
                                  </m:e>
                                </m:d>
                              </m:e>
                              <m:sup>
                                <m:r>
                                  <a:rPr lang="en-GB" i="1">
                                    <a:latin typeface="Cambria Math" panose="02040503050406030204" pitchFamily="18" charset="0"/>
                                  </a:rPr>
                                  <m:t>𝑡</m:t>
                                </m:r>
                              </m:sup>
                            </m:sSup>
                          </m:num>
                          <m:den>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1+</m:t>
                                    </m:r>
                                    <m:sSub>
                                      <m:sSubPr>
                                        <m:ctrlPr>
                                          <a:rPr lang="en-GB" i="1">
                                            <a:latin typeface="Cambria Math" panose="02040503050406030204" pitchFamily="18" charset="0"/>
                                          </a:rPr>
                                        </m:ctrlPr>
                                      </m:sSubPr>
                                      <m:e>
                                        <m:r>
                                          <a:rPr lang="en-GB" i="1">
                                            <a:latin typeface="Cambria Math" panose="02040503050406030204" pitchFamily="18" charset="0"/>
                                          </a:rPr>
                                          <m:t>𝑘</m:t>
                                        </m:r>
                                      </m:e>
                                      <m:sub>
                                        <m:r>
                                          <a:rPr lang="en-GB" i="1">
                                            <a:latin typeface="Cambria Math" panose="02040503050406030204" pitchFamily="18" charset="0"/>
                                          </a:rPr>
                                          <m:t>𝑒</m:t>
                                        </m:r>
                                        <m:r>
                                          <a:rPr lang="en-GB" i="1">
                                            <a:latin typeface="Cambria Math" panose="02040503050406030204" pitchFamily="18" charset="0"/>
                                          </a:rPr>
                                          <m:t>,</m:t>
                                        </m:r>
                                        <m:r>
                                          <a:rPr lang="en-GB" i="1">
                                            <a:latin typeface="Cambria Math" panose="02040503050406030204" pitchFamily="18" charset="0"/>
                                          </a:rPr>
                                          <m:t>ℎ</m:t>
                                        </m:r>
                                      </m:sub>
                                    </m:sSub>
                                  </m:e>
                                </m:d>
                              </m:e>
                              <m:sup>
                                <m:r>
                                  <a:rPr lang="en-GB" i="1">
                                    <a:latin typeface="Cambria Math" panose="02040503050406030204" pitchFamily="18" charset="0"/>
                                  </a:rPr>
                                  <m:t>𝑡</m:t>
                                </m:r>
                              </m:sup>
                            </m:sSup>
                          </m:den>
                        </m:f>
                      </m:e>
                    </m:nary>
                  </m:oMath>
                </a14:m>
                <a:r>
                  <a:rPr lang="en-GB" dirty="0"/>
                  <a:t> is the present value of the cash flows during the explicit forecasting period</a:t>
                </a:r>
              </a:p>
              <a:p>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𝑇𝑉</m:t>
                        </m:r>
                      </m:e>
                      <m:sub>
                        <m:r>
                          <a:rPr lang="en-GB" i="1">
                            <a:latin typeface="Cambria Math" panose="02040503050406030204" pitchFamily="18" charset="0"/>
                          </a:rPr>
                          <m:t>𝑛</m:t>
                        </m:r>
                      </m:sub>
                    </m:sSub>
                  </m:oMath>
                </a14:m>
                <a:r>
                  <a:rPr lang="en-GB" dirty="0"/>
                  <a:t> is the terminal value </a:t>
                </a:r>
              </a:p>
              <a:p>
                <a14:m>
                  <m:oMath xmlns:m="http://schemas.openxmlformats.org/officeDocument/2006/math">
                    <m:r>
                      <a:rPr lang="en-GB" i="1">
                        <a:latin typeface="Cambria Math" panose="02040503050406030204" pitchFamily="18" charset="0"/>
                      </a:rPr>
                      <m:t>𝑔</m:t>
                    </m:r>
                  </m:oMath>
                </a14:m>
                <a:r>
                  <a:rPr lang="en-GB" dirty="0"/>
                  <a:t> is (stable (s) or high (h)) growth and</a:t>
                </a:r>
              </a:p>
              <a:p>
                <a14:m>
                  <m:oMath xmlns:m="http://schemas.openxmlformats.org/officeDocument/2006/math">
                    <m:r>
                      <a:rPr lang="en-GB" i="1">
                        <a:latin typeface="Cambria Math" panose="02040503050406030204" pitchFamily="18" charset="0"/>
                      </a:rPr>
                      <m:t>𝑘</m:t>
                    </m:r>
                  </m:oMath>
                </a14:m>
                <a:r>
                  <a:rPr lang="en-GB" dirty="0"/>
                  <a:t> is (stable (s) or high (h)) cost of equity</a:t>
                </a:r>
              </a:p>
            </p:txBody>
          </p:sp>
        </mc:Choice>
        <mc:Fallback xmlns="">
          <p:sp>
            <p:nvSpPr>
              <p:cNvPr id="22531" name="Content Placeholder 2"/>
              <p:cNvSpPr>
                <a:spLocks noGrp="1" noRot="1" noChangeAspect="1" noMove="1" noResize="1" noEditPoints="1" noAdjustHandles="1" noChangeArrowheads="1" noChangeShapeType="1" noTextEdit="1"/>
              </p:cNvSpPr>
              <p:nvPr>
                <p:ph idx="1"/>
              </p:nvPr>
            </p:nvSpPr>
            <p:spPr>
              <a:xfrm>
                <a:off x="684213" y="981075"/>
                <a:ext cx="7772400" cy="5688285"/>
              </a:xfrm>
              <a:blipFill>
                <a:blip r:embed="rId2"/>
                <a:stretch>
                  <a:fillRect t="-1179" r="-235"/>
                </a:stretch>
              </a:blipFill>
            </p:spPr>
            <p:txBody>
              <a:bodyPr/>
              <a:lstStyle/>
              <a:p>
                <a:r>
                  <a:rPr lang="fr-FR">
                    <a:noFill/>
                  </a:rPr>
                  <a:t> </a:t>
                </a:r>
              </a:p>
            </p:txBody>
          </p:sp>
        </mc:Fallback>
      </mc:AlternateContent>
      <p:sp>
        <p:nvSpPr>
          <p:cNvPr id="2" name="Slide Number Placeholder 1"/>
          <p:cNvSpPr>
            <a:spLocks noGrp="1"/>
          </p:cNvSpPr>
          <p:nvPr>
            <p:ph type="sldNum" sz="quarter" idx="12"/>
          </p:nvPr>
        </p:nvSpPr>
        <p:spPr/>
        <p:txBody>
          <a:bodyPr/>
          <a:lstStyle/>
          <a:p>
            <a:pPr>
              <a:defRPr/>
            </a:pPr>
            <a:fld id="{C3168C1A-0F73-4148-A9C6-17783D0D792E}" type="slidenum">
              <a:rPr lang="en-GB" smtClean="0"/>
              <a:pPr>
                <a:defRPr/>
              </a:pPr>
              <a:t>20</a:t>
            </a:fld>
            <a:endParaRPr lang="en-GB"/>
          </a:p>
        </p:txBody>
      </p:sp>
      <mc:AlternateContent xmlns:mc="http://schemas.openxmlformats.org/markup-compatibility/2006" xmlns:a14="http://schemas.microsoft.com/office/drawing/2010/main">
        <mc:Choice Requires="a14">
          <p:sp>
            <p:nvSpPr>
              <p:cNvPr id="3" name="TextBox 2"/>
              <p:cNvSpPr txBox="1"/>
              <p:nvPr/>
            </p:nvSpPr>
            <p:spPr>
              <a:xfrm>
                <a:off x="914400" y="1628800"/>
                <a:ext cx="6984776" cy="2530693"/>
              </a:xfrm>
              <a:prstGeom prst="rect">
                <a:avLst/>
              </a:prstGeom>
              <a:noFill/>
            </p:spPr>
            <p:txBody>
              <a:bodyPr wrap="square" lIns="0" tIns="0" rIns="0" bIns="0" rtlCol="0">
                <a:spAutoFit/>
              </a:bodyPr>
              <a:lstStyle/>
              <a:p>
                <a:pPr/>
                <a14:m>
                  <m:oMathPara xmlns:m="http://schemas.openxmlformats.org/officeDocument/2006/math">
                    <m:o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𝑃</m:t>
                          </m:r>
                        </m:e>
                        <m:sub>
                          <m:r>
                            <a:rPr lang="en-GB" sz="2800" b="0" i="1" smtClean="0">
                              <a:latin typeface="Cambria Math" panose="02040503050406030204" pitchFamily="18" charset="0"/>
                            </a:rPr>
                            <m:t>0</m:t>
                          </m:r>
                        </m:sub>
                      </m:sSub>
                      <m:r>
                        <m:rPr>
                          <m:aln/>
                        </m:rPr>
                        <a:rPr lang="en-GB" sz="2800" b="0" i="1" smtClean="0">
                          <a:latin typeface="Cambria Math" panose="02040503050406030204" pitchFamily="18" charset="0"/>
                        </a:rPr>
                        <m:t>=</m:t>
                      </m:r>
                      <m:sSub>
                        <m:sSubPr>
                          <m:ctrlPr>
                            <a:rPr lang="en-GB" sz="2800" i="1">
                              <a:latin typeface="Cambria Math" panose="02040503050406030204" pitchFamily="18" charset="0"/>
                            </a:rPr>
                          </m:ctrlPr>
                        </m:sSubPr>
                        <m:e>
                          <m:r>
                            <a:rPr lang="en-GB" sz="2800" i="1">
                              <a:latin typeface="Cambria Math" panose="02040503050406030204" pitchFamily="18" charset="0"/>
                            </a:rPr>
                            <m:t>𝑃</m:t>
                          </m:r>
                          <m:r>
                            <a:rPr lang="en-GB" sz="2800" b="0" i="1" smtClean="0">
                              <a:latin typeface="Cambria Math" panose="02040503050406030204" pitchFamily="18" charset="0"/>
                            </a:rPr>
                            <m:t>𝑉</m:t>
                          </m:r>
                        </m:e>
                        <m:sub>
                          <m:r>
                            <a:rPr lang="en-GB" sz="2800" b="0" i="1" smtClean="0">
                              <a:latin typeface="Cambria Math" panose="02040503050406030204" pitchFamily="18" charset="0"/>
                            </a:rPr>
                            <m:t>𝐶𝐹</m:t>
                          </m:r>
                        </m:sub>
                      </m:sSub>
                      <m:r>
                        <a:rPr lang="en-GB" sz="2800" b="0" i="1" smtClean="0">
                          <a:latin typeface="Cambria Math" panose="02040503050406030204" pitchFamily="18" charset="0"/>
                        </a:rPr>
                        <m:t>+</m:t>
                      </m:r>
                      <m:sSub>
                        <m:sSubPr>
                          <m:ctrlPr>
                            <a:rPr lang="en-GB" sz="2800" i="1">
                              <a:latin typeface="Cambria Math" panose="02040503050406030204" pitchFamily="18" charset="0"/>
                            </a:rPr>
                          </m:ctrlPr>
                        </m:sSubPr>
                        <m:e>
                          <m:r>
                            <a:rPr lang="en-GB" sz="2800" i="1">
                              <a:latin typeface="Cambria Math" panose="02040503050406030204" pitchFamily="18" charset="0"/>
                            </a:rPr>
                            <m:t>𝑃𝑉</m:t>
                          </m:r>
                        </m:e>
                        <m:sub>
                          <m:r>
                            <a:rPr lang="en-GB" sz="2800" b="0" i="1" smtClean="0">
                              <a:latin typeface="Cambria Math" panose="02040503050406030204" pitchFamily="18" charset="0"/>
                            </a:rPr>
                            <m:t>𝑇𝑒𝑟𝑚𝑖𝑛𝑎𝑙</m:t>
                          </m:r>
                          <m:r>
                            <a:rPr lang="en-GB" sz="2800" b="0" i="1" smtClean="0">
                              <a:latin typeface="Cambria Math" panose="02040503050406030204" pitchFamily="18" charset="0"/>
                            </a:rPr>
                            <m:t> </m:t>
                          </m:r>
                          <m:r>
                            <a:rPr lang="en-GB" sz="2800" b="0" i="1" smtClean="0">
                              <a:latin typeface="Cambria Math" panose="02040503050406030204" pitchFamily="18" charset="0"/>
                            </a:rPr>
                            <m:t>𝑉𝑎𝑙𝑢𝑒</m:t>
                          </m:r>
                        </m:sub>
                      </m:sSub>
                    </m:oMath>
                  </m:oMathPara>
                </a14:m>
                <a:endParaRPr lang="en-GB" sz="2800" i="1" dirty="0">
                  <a:latin typeface="Cambria Math" panose="02040503050406030204" pitchFamily="18" charset="0"/>
                </a:endParaRPr>
              </a:p>
              <a:p>
                <a:pPr/>
                <a14:m>
                  <m:oMathPara xmlns:m="http://schemas.openxmlformats.org/officeDocument/2006/math">
                    <m:oMath>
                      <m:r>
                        <a:rPr lang="en-GB" sz="2800" b="0" i="1" smtClean="0">
                          <a:latin typeface="Cambria Math" panose="02040503050406030204" pitchFamily="18" charset="0"/>
                        </a:rPr>
                        <m:t>=</m:t>
                      </m:r>
                      <m:nary>
                        <m:naryPr>
                          <m:chr m:val="∑"/>
                          <m:ctrlPr>
                            <a:rPr lang="en-GB" sz="2800" b="0" i="1" smtClean="0">
                              <a:latin typeface="Cambria Math" panose="02040503050406030204" pitchFamily="18" charset="0"/>
                            </a:rPr>
                          </m:ctrlPr>
                        </m:naryPr>
                        <m:sub>
                          <m:r>
                            <m:rPr>
                              <m:brk m:alnAt="23"/>
                            </m:rPr>
                            <a:rPr lang="en-GB" sz="2800" b="0" i="1" smtClean="0">
                              <a:latin typeface="Cambria Math" panose="02040503050406030204" pitchFamily="18" charset="0"/>
                            </a:rPr>
                            <m:t>𝑡</m:t>
                          </m:r>
                        </m:sub>
                        <m:sup>
                          <m:r>
                            <a:rPr lang="en-GB" sz="2800" b="0" i="1" smtClean="0">
                              <a:latin typeface="Cambria Math" panose="02040503050406030204" pitchFamily="18" charset="0"/>
                            </a:rPr>
                            <m:t>𝑛</m:t>
                          </m:r>
                        </m:sup>
                        <m:e>
                          <m:f>
                            <m:fPr>
                              <m:ctrlPr>
                                <a:rPr lang="en-GB" sz="2800" i="1">
                                  <a:latin typeface="Cambria Math" panose="02040503050406030204" pitchFamily="18" charset="0"/>
                                </a:rPr>
                              </m:ctrlPr>
                            </m:fPr>
                            <m:num>
                              <m:sSub>
                                <m:sSubPr>
                                  <m:ctrlPr>
                                    <a:rPr lang="en-GB" sz="2800" i="1">
                                      <a:latin typeface="Cambria Math" panose="02040503050406030204" pitchFamily="18" charset="0"/>
                                    </a:rPr>
                                  </m:ctrlPr>
                                </m:sSubPr>
                                <m:e>
                                  <m:r>
                                    <a:rPr lang="en-GB" sz="2800" i="1">
                                      <a:latin typeface="Cambria Math" panose="02040503050406030204" pitchFamily="18" charset="0"/>
                                    </a:rPr>
                                    <m:t>𝐶𝐹</m:t>
                                  </m:r>
                                </m:e>
                                <m:sub>
                                  <m:r>
                                    <a:rPr lang="en-GB" sz="2800" i="1">
                                      <a:latin typeface="Cambria Math" panose="02040503050406030204" pitchFamily="18" charset="0"/>
                                    </a:rPr>
                                    <m:t>0</m:t>
                                  </m:r>
                                </m:sub>
                              </m:sSub>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r>
                                        <a:rPr lang="en-GB" sz="2800" i="1">
                                          <a:latin typeface="Cambria Math" panose="02040503050406030204" pitchFamily="18" charset="0"/>
                                        </a:rPr>
                                        <m:t>1+</m:t>
                                      </m:r>
                                      <m:sSub>
                                        <m:sSubPr>
                                          <m:ctrlPr>
                                            <a:rPr lang="en-GB" sz="2800" i="1">
                                              <a:latin typeface="Cambria Math" panose="02040503050406030204" pitchFamily="18" charset="0"/>
                                            </a:rPr>
                                          </m:ctrlPr>
                                        </m:sSubPr>
                                        <m:e>
                                          <m:r>
                                            <a:rPr lang="en-GB" sz="2800" i="1">
                                              <a:latin typeface="Cambria Math" panose="02040503050406030204" pitchFamily="18" charset="0"/>
                                            </a:rPr>
                                            <m:t>𝑔</m:t>
                                          </m:r>
                                        </m:e>
                                        <m:sub>
                                          <m:r>
                                            <a:rPr lang="en-GB" sz="2800" i="1">
                                              <a:latin typeface="Cambria Math" panose="02040503050406030204" pitchFamily="18" charset="0"/>
                                            </a:rPr>
                                            <m:t>ℎ</m:t>
                                          </m:r>
                                        </m:sub>
                                      </m:sSub>
                                    </m:e>
                                  </m:d>
                                </m:e>
                                <m:sup>
                                  <m:r>
                                    <a:rPr lang="en-GB" sz="2800" i="1">
                                      <a:latin typeface="Cambria Math" panose="02040503050406030204" pitchFamily="18" charset="0"/>
                                    </a:rPr>
                                    <m:t>𝑡</m:t>
                                  </m:r>
                                </m:sup>
                              </m:sSup>
                            </m:num>
                            <m:den>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r>
                                        <a:rPr lang="en-GB" sz="2800" i="1">
                                          <a:latin typeface="Cambria Math" panose="02040503050406030204" pitchFamily="18" charset="0"/>
                                        </a:rPr>
                                        <m:t>1+</m:t>
                                      </m:r>
                                      <m:sSub>
                                        <m:sSubPr>
                                          <m:ctrlPr>
                                            <a:rPr lang="en-GB" sz="2800" i="1">
                                              <a:latin typeface="Cambria Math" panose="02040503050406030204" pitchFamily="18" charset="0"/>
                                            </a:rPr>
                                          </m:ctrlPr>
                                        </m:sSubPr>
                                        <m:e>
                                          <m:r>
                                            <a:rPr lang="en-GB" sz="2800" i="1">
                                              <a:latin typeface="Cambria Math" panose="02040503050406030204" pitchFamily="18" charset="0"/>
                                            </a:rPr>
                                            <m:t>𝑘</m:t>
                                          </m:r>
                                        </m:e>
                                        <m:sub>
                                          <m:r>
                                            <a:rPr lang="en-GB" sz="2800" i="1">
                                              <a:latin typeface="Cambria Math" panose="02040503050406030204" pitchFamily="18" charset="0"/>
                                            </a:rPr>
                                            <m:t>𝑒</m:t>
                                          </m:r>
                                          <m:r>
                                            <a:rPr lang="en-GB" sz="2800" i="1">
                                              <a:latin typeface="Cambria Math" panose="02040503050406030204" pitchFamily="18" charset="0"/>
                                            </a:rPr>
                                            <m:t>,</m:t>
                                          </m:r>
                                          <m:r>
                                            <a:rPr lang="en-GB" sz="2800" i="1">
                                              <a:latin typeface="Cambria Math" panose="02040503050406030204" pitchFamily="18" charset="0"/>
                                            </a:rPr>
                                            <m:t>ℎ</m:t>
                                          </m:r>
                                        </m:sub>
                                      </m:sSub>
                                    </m:e>
                                  </m:d>
                                </m:e>
                                <m:sup>
                                  <m:r>
                                    <a:rPr lang="en-GB" sz="2800" i="1">
                                      <a:latin typeface="Cambria Math" panose="02040503050406030204" pitchFamily="18" charset="0"/>
                                    </a:rPr>
                                    <m:t>𝑡</m:t>
                                  </m:r>
                                </m:sup>
                              </m:sSup>
                            </m:den>
                          </m:f>
                        </m:e>
                      </m:nary>
                      <m:r>
                        <a:rPr lang="en-GB" sz="2800" i="1">
                          <a:latin typeface="Cambria Math" panose="02040503050406030204" pitchFamily="18" charset="0"/>
                        </a:rPr>
                        <m:t>+</m:t>
                      </m:r>
                      <m:f>
                        <m:fPr>
                          <m:ctrlPr>
                            <a:rPr lang="en-GB" sz="2800" i="1">
                              <a:latin typeface="Cambria Math" panose="02040503050406030204" pitchFamily="18" charset="0"/>
                            </a:rPr>
                          </m:ctrlPr>
                        </m:fPr>
                        <m:num>
                          <m:sSub>
                            <m:sSubPr>
                              <m:ctrlPr>
                                <a:rPr lang="en-GB" sz="2800" i="1">
                                  <a:latin typeface="Cambria Math" panose="02040503050406030204" pitchFamily="18" charset="0"/>
                                </a:rPr>
                              </m:ctrlPr>
                            </m:sSubPr>
                            <m:e>
                              <m:r>
                                <a:rPr lang="en-GB" sz="2800" i="1">
                                  <a:latin typeface="Cambria Math" panose="02040503050406030204" pitchFamily="18" charset="0"/>
                                </a:rPr>
                                <m:t>𝑇𝑉</m:t>
                              </m:r>
                            </m:e>
                            <m:sub>
                              <m:r>
                                <a:rPr lang="en-GB" sz="2800" i="1">
                                  <a:latin typeface="Cambria Math" panose="02040503050406030204" pitchFamily="18" charset="0"/>
                                </a:rPr>
                                <m:t>𝑛</m:t>
                              </m:r>
                            </m:sub>
                          </m:sSub>
                        </m:num>
                        <m:den>
                          <m:sSup>
                            <m:sSupPr>
                              <m:ctrlPr>
                                <a:rPr lang="en-GB" sz="2800" i="1">
                                  <a:latin typeface="Cambria Math" panose="02040503050406030204" pitchFamily="18" charset="0"/>
                                </a:rPr>
                              </m:ctrlPr>
                            </m:sSupPr>
                            <m:e>
                              <m:d>
                                <m:dPr>
                                  <m:ctrlPr>
                                    <a:rPr lang="en-GB" sz="2800" i="1">
                                      <a:latin typeface="Cambria Math" panose="02040503050406030204" pitchFamily="18" charset="0"/>
                                    </a:rPr>
                                  </m:ctrlPr>
                                </m:dPr>
                                <m:e>
                                  <m:r>
                                    <a:rPr lang="en-GB" sz="2800" i="1">
                                      <a:latin typeface="Cambria Math" panose="02040503050406030204" pitchFamily="18" charset="0"/>
                                    </a:rPr>
                                    <m:t>1+</m:t>
                                  </m:r>
                                  <m:sSub>
                                    <m:sSubPr>
                                      <m:ctrlPr>
                                        <a:rPr lang="en-GB" sz="2800" i="1">
                                          <a:latin typeface="Cambria Math" panose="02040503050406030204" pitchFamily="18" charset="0"/>
                                        </a:rPr>
                                      </m:ctrlPr>
                                    </m:sSubPr>
                                    <m:e>
                                      <m:r>
                                        <a:rPr lang="en-GB" sz="2800" i="1">
                                          <a:latin typeface="Cambria Math" panose="02040503050406030204" pitchFamily="18" charset="0"/>
                                        </a:rPr>
                                        <m:t>𝑘</m:t>
                                      </m:r>
                                    </m:e>
                                    <m:sub>
                                      <m:r>
                                        <a:rPr lang="en-GB" sz="2800" i="1">
                                          <a:latin typeface="Cambria Math" panose="02040503050406030204" pitchFamily="18" charset="0"/>
                                        </a:rPr>
                                        <m:t>𝑒</m:t>
                                      </m:r>
                                      <m:r>
                                        <a:rPr lang="en-GB" sz="2800" i="1">
                                          <a:latin typeface="Cambria Math" panose="02040503050406030204" pitchFamily="18" charset="0"/>
                                        </a:rPr>
                                        <m:t>,</m:t>
                                      </m:r>
                                      <m:r>
                                        <a:rPr lang="en-GB" sz="2800" i="1">
                                          <a:latin typeface="Cambria Math" panose="02040503050406030204" pitchFamily="18" charset="0"/>
                                        </a:rPr>
                                        <m:t>ℎ</m:t>
                                      </m:r>
                                    </m:sub>
                                  </m:sSub>
                                </m:e>
                              </m:d>
                            </m:e>
                            <m:sup>
                              <m:r>
                                <a:rPr lang="en-GB" sz="2800" b="0" i="1" smtClean="0">
                                  <a:latin typeface="Cambria Math" panose="02040503050406030204" pitchFamily="18" charset="0"/>
                                </a:rPr>
                                <m:t>𝑛</m:t>
                              </m:r>
                            </m:sup>
                          </m:sSup>
                        </m:den>
                      </m:f>
                    </m:oMath>
                  </m:oMathPara>
                </a14:m>
                <a:endParaRPr lang="en-GB" sz="2800" i="1" dirty="0">
                  <a:latin typeface="Cambria Math" panose="02040503050406030204" pitchFamily="18" charset="0"/>
                </a:endParaRPr>
              </a:p>
              <a:p>
                <a:pPr/>
                <a14:m>
                  <m:oMathPara xmlns:m="http://schemas.openxmlformats.org/officeDocument/2006/math">
                    <m:oMath>
                      <m:sSub>
                        <m:sSubPr>
                          <m:ctrlPr>
                            <a:rPr lang="en-GB" sz="2800" i="1">
                              <a:latin typeface="Cambria Math" panose="02040503050406030204" pitchFamily="18" charset="0"/>
                            </a:rPr>
                          </m:ctrlPr>
                        </m:sSubPr>
                        <m:e>
                          <m:r>
                            <a:rPr lang="en-GB" sz="2800" i="1">
                              <a:latin typeface="Cambria Math" panose="02040503050406030204" pitchFamily="18" charset="0"/>
                            </a:rPr>
                            <m:t>𝑇𝑉</m:t>
                          </m:r>
                        </m:e>
                        <m:sub>
                          <m:r>
                            <a:rPr lang="en-GB" sz="2800" i="1">
                              <a:latin typeface="Cambria Math" panose="02040503050406030204" pitchFamily="18" charset="0"/>
                            </a:rPr>
                            <m:t>𝑛</m:t>
                          </m:r>
                        </m:sub>
                      </m:sSub>
                      <m:r>
                        <a:rPr lang="en-GB" sz="2800" b="0" i="1" smtClean="0">
                          <a:latin typeface="Cambria Math" panose="02040503050406030204" pitchFamily="18" charset="0"/>
                        </a:rPr>
                        <m:t>=</m:t>
                      </m:r>
                      <m:f>
                        <m:fPr>
                          <m:ctrlPr>
                            <a:rPr lang="en-GB" sz="2800" b="0" i="1" smtClean="0">
                              <a:latin typeface="Cambria Math" panose="02040503050406030204" pitchFamily="18" charset="0"/>
                            </a:rPr>
                          </m:ctrlPr>
                        </m:fPr>
                        <m:num>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𝐶𝐹</m:t>
                              </m:r>
                            </m:e>
                            <m:sub>
                              <m:r>
                                <a:rPr lang="en-GB" sz="2800" b="0" i="1" smtClean="0">
                                  <a:latin typeface="Cambria Math" panose="02040503050406030204" pitchFamily="18" charset="0"/>
                                </a:rPr>
                                <m:t>𝑛</m:t>
                              </m:r>
                              <m:r>
                                <a:rPr lang="en-GB" sz="2800" b="0" i="1" smtClean="0">
                                  <a:latin typeface="Cambria Math" panose="02040503050406030204" pitchFamily="18" charset="0"/>
                                </a:rPr>
                                <m:t>+1</m:t>
                              </m:r>
                            </m:sub>
                          </m:sSub>
                        </m:num>
                        <m:den>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𝑘</m:t>
                              </m:r>
                            </m:e>
                            <m:sub>
                              <m:r>
                                <a:rPr lang="en-GB" sz="2800" b="0" i="1" smtClean="0">
                                  <a:latin typeface="Cambria Math" panose="02040503050406030204" pitchFamily="18" charset="0"/>
                                </a:rPr>
                                <m:t>𝑒</m:t>
                              </m:r>
                              <m:r>
                                <a:rPr lang="en-GB" sz="2800" b="0" i="1" smtClean="0">
                                  <a:latin typeface="Cambria Math" panose="02040503050406030204" pitchFamily="18" charset="0"/>
                                </a:rPr>
                                <m:t>,</m:t>
                              </m:r>
                              <m:r>
                                <a:rPr lang="en-GB" sz="2800" b="0" i="1" smtClean="0">
                                  <a:latin typeface="Cambria Math" panose="02040503050406030204" pitchFamily="18" charset="0"/>
                                </a:rPr>
                                <m:t>𝑠𝑡</m:t>
                              </m:r>
                            </m:sub>
                          </m:sSub>
                          <m:r>
                            <a:rPr lang="en-GB" sz="2800" b="0" i="1" smtClean="0">
                              <a:latin typeface="Cambria Math" panose="02040503050406030204" pitchFamily="18" charset="0"/>
                            </a:rPr>
                            <m:t>−</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𝑔</m:t>
                              </m:r>
                            </m:e>
                            <m:sub>
                              <m:r>
                                <a:rPr lang="en-GB" sz="2800" b="0" i="1" smtClean="0">
                                  <a:latin typeface="Cambria Math" panose="02040503050406030204" pitchFamily="18" charset="0"/>
                                </a:rPr>
                                <m:t>𝑠</m:t>
                              </m:r>
                            </m:sub>
                          </m:sSub>
                        </m:den>
                      </m:f>
                    </m:oMath>
                  </m:oMathPara>
                </a14:m>
                <a:endParaRPr lang="fr-FR" sz="2800" dirty="0"/>
              </a:p>
            </p:txBody>
          </p:sp>
        </mc:Choice>
        <mc:Fallback xmlns="">
          <p:sp>
            <p:nvSpPr>
              <p:cNvPr id="3" name="TextBox 2"/>
              <p:cNvSpPr txBox="1">
                <a:spLocks noRot="1" noChangeAspect="1" noMove="1" noResize="1" noEditPoints="1" noAdjustHandles="1" noChangeArrowheads="1" noChangeShapeType="1" noTextEdit="1"/>
              </p:cNvSpPr>
              <p:nvPr/>
            </p:nvSpPr>
            <p:spPr>
              <a:xfrm>
                <a:off x="914400" y="1628800"/>
                <a:ext cx="6984776" cy="2530693"/>
              </a:xfrm>
              <a:prstGeom prst="rect">
                <a:avLst/>
              </a:prstGeom>
              <a:blipFill>
                <a:blip r:embed="rId3"/>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249711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914400" y="274638"/>
            <a:ext cx="7772400" cy="777875"/>
          </a:xfrm>
        </p:spPr>
        <p:txBody>
          <a:bodyPr/>
          <a:lstStyle/>
          <a:p>
            <a:pPr eaLnBrk="1" hangingPunct="1"/>
            <a:r>
              <a:rPr lang="en-GB"/>
              <a:t>3-stage Growth Model</a:t>
            </a:r>
          </a:p>
        </p:txBody>
      </p:sp>
      <p:sp>
        <p:nvSpPr>
          <p:cNvPr id="23555" name="Content Placeholder 2"/>
          <p:cNvSpPr>
            <a:spLocks noGrp="1"/>
          </p:cNvSpPr>
          <p:nvPr>
            <p:ph idx="1"/>
          </p:nvPr>
        </p:nvSpPr>
        <p:spPr>
          <a:xfrm>
            <a:off x="684213" y="981075"/>
            <a:ext cx="7772400" cy="684213"/>
          </a:xfrm>
        </p:spPr>
        <p:txBody>
          <a:bodyPr>
            <a:normAutofit fontScale="92500" lnSpcReduction="10000"/>
          </a:bodyPr>
          <a:lstStyle/>
          <a:p>
            <a:pPr eaLnBrk="1" hangingPunct="1"/>
            <a:r>
              <a:rPr lang="en-GB"/>
              <a:t>Designed to value firms that is expected to go through three stages of growth</a:t>
            </a:r>
          </a:p>
        </p:txBody>
      </p:sp>
      <p:sp>
        <p:nvSpPr>
          <p:cNvPr id="2" name="Slide Number Placeholder 1"/>
          <p:cNvSpPr>
            <a:spLocks noGrp="1"/>
          </p:cNvSpPr>
          <p:nvPr>
            <p:ph type="sldNum" sz="quarter" idx="12"/>
          </p:nvPr>
        </p:nvSpPr>
        <p:spPr/>
        <p:txBody>
          <a:bodyPr/>
          <a:lstStyle/>
          <a:p>
            <a:pPr>
              <a:defRPr/>
            </a:pPr>
            <a:fld id="{C3168C1A-0F73-4148-A9C6-17783D0D792E}" type="slidenum">
              <a:rPr lang="en-GB" smtClean="0"/>
              <a:pPr>
                <a:defRPr/>
              </a:pPr>
              <a:t>21</a:t>
            </a:fld>
            <a:endParaRPr lang="en-GB"/>
          </a:p>
        </p:txBody>
      </p:sp>
      <p:graphicFrame>
        <p:nvGraphicFramePr>
          <p:cNvPr id="23556" name="Object 3"/>
          <p:cNvGraphicFramePr>
            <a:graphicFrameLocks noChangeAspect="1"/>
          </p:cNvGraphicFramePr>
          <p:nvPr/>
        </p:nvGraphicFramePr>
        <p:xfrm>
          <a:off x="341313" y="2133600"/>
          <a:ext cx="8478837" cy="4191000"/>
        </p:xfrm>
        <a:graphic>
          <a:graphicData uri="http://schemas.openxmlformats.org/presentationml/2006/ole">
            <mc:AlternateContent xmlns:mc="http://schemas.openxmlformats.org/markup-compatibility/2006">
              <mc:Choice xmlns:v="urn:schemas-microsoft-com:vml" Requires="v">
                <p:oleObj name="Equation" r:id="rId2" imgW="4521200" imgH="2235200" progId="Equation.3">
                  <p:embed/>
                </p:oleObj>
              </mc:Choice>
              <mc:Fallback>
                <p:oleObj name="Equation" r:id="rId2" imgW="4521200" imgH="2235200" progId="Equation.3">
                  <p:embed/>
                  <p:pic>
                    <p:nvPicPr>
                      <p:cNvPr id="2355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313" y="2133600"/>
                        <a:ext cx="8478837"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02323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3E31D-0797-C5D7-5D30-ACF830FA6E3E}"/>
              </a:ext>
            </a:extLst>
          </p:cNvPr>
          <p:cNvSpPr>
            <a:spLocks noGrp="1"/>
          </p:cNvSpPr>
          <p:nvPr>
            <p:ph type="title"/>
          </p:nvPr>
        </p:nvSpPr>
        <p:spPr>
          <a:xfrm>
            <a:off x="301752" y="5495278"/>
            <a:ext cx="7772400" cy="594626"/>
          </a:xfrm>
        </p:spPr>
        <p:txBody>
          <a:bodyPr anchor="b">
            <a:normAutofit/>
          </a:bodyPr>
          <a:lstStyle/>
          <a:p>
            <a:r>
              <a:rPr lang="en-GB" dirty="0"/>
              <a:t>After Valuation: Verification</a:t>
            </a:r>
          </a:p>
        </p:txBody>
      </p:sp>
      <p:pic>
        <p:nvPicPr>
          <p:cNvPr id="5" name="Picture 4" descr="Pen placed on top of a signature line">
            <a:extLst>
              <a:ext uri="{FF2B5EF4-FFF2-40B4-BE49-F238E27FC236}">
                <a16:creationId xmlns:a16="http://schemas.microsoft.com/office/drawing/2014/main" id="{0817FEF5-122D-5B07-1E4D-6371AFE39B3B}"/>
              </a:ext>
            </a:extLst>
          </p:cNvPr>
          <p:cNvPicPr>
            <a:picLocks noChangeAspect="1"/>
          </p:cNvPicPr>
          <p:nvPr/>
        </p:nvPicPr>
        <p:blipFill>
          <a:blip r:embed="rId2"/>
          <a:srcRect r="-2" b="2822"/>
          <a:stretch>
            <a:fillRect/>
          </a:stretch>
        </p:blipFill>
        <p:spPr>
          <a:xfrm>
            <a:off x="20" y="10"/>
            <a:ext cx="8458180" cy="5486390"/>
          </a:xfrm>
          <a:prstGeom prst="rect">
            <a:avLst/>
          </a:prstGeom>
          <a:noFill/>
        </p:spPr>
      </p:pic>
      <p:sp>
        <p:nvSpPr>
          <p:cNvPr id="9" name="Text Placeholder 3">
            <a:extLst>
              <a:ext uri="{FF2B5EF4-FFF2-40B4-BE49-F238E27FC236}">
                <a16:creationId xmlns:a16="http://schemas.microsoft.com/office/drawing/2014/main" id="{98B96763-4342-BBEB-FB5B-357BC711EE58}"/>
              </a:ext>
            </a:extLst>
          </p:cNvPr>
          <p:cNvSpPr>
            <a:spLocks noGrp="1"/>
          </p:cNvSpPr>
          <p:nvPr>
            <p:ph type="body" sz="half" idx="2"/>
          </p:nvPr>
        </p:nvSpPr>
        <p:spPr>
          <a:xfrm>
            <a:off x="301752" y="6096000"/>
            <a:ext cx="7772400" cy="612648"/>
          </a:xfrm>
        </p:spPr>
        <p:txBody>
          <a:bodyPr/>
          <a:lstStyle/>
          <a:p>
            <a:endParaRPr lang="en-US"/>
          </a:p>
        </p:txBody>
      </p:sp>
    </p:spTree>
    <p:extLst>
      <p:ext uri="{BB962C8B-B14F-4D97-AF65-F5344CB8AC3E}">
        <p14:creationId xmlns:p14="http://schemas.microsoft.com/office/powerpoint/2010/main" val="3858565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7620000" cy="778098"/>
          </a:xfrm>
        </p:spPr>
        <p:txBody>
          <a:bodyPr/>
          <a:lstStyle/>
          <a:p>
            <a:r>
              <a:rPr lang="en-GB" dirty="0"/>
              <a:t>Implied Growth Rate</a:t>
            </a:r>
          </a:p>
        </p:txBody>
      </p:sp>
      <p:sp>
        <p:nvSpPr>
          <p:cNvPr id="3" name="Content Placeholder 2"/>
          <p:cNvSpPr>
            <a:spLocks noGrp="1"/>
          </p:cNvSpPr>
          <p:nvPr>
            <p:ph idx="1"/>
          </p:nvPr>
        </p:nvSpPr>
        <p:spPr>
          <a:xfrm>
            <a:off x="457200" y="764704"/>
            <a:ext cx="7620000" cy="1872208"/>
          </a:xfrm>
        </p:spPr>
        <p:txBody>
          <a:bodyPr/>
          <a:lstStyle/>
          <a:p>
            <a:r>
              <a:rPr lang="en-GB" dirty="0"/>
              <a:t>All valuation depend on an assumed growth rate. The estimated value changes dramatically for small changes in assumed growth.</a:t>
            </a:r>
          </a:p>
          <a:p>
            <a:r>
              <a:rPr lang="en-GB" dirty="0"/>
              <a:t>There is an (implied) growth rate that makes the present value of expected cash flows the same with market price</a:t>
            </a:r>
          </a:p>
        </p:txBody>
      </p:sp>
      <p:graphicFrame>
        <p:nvGraphicFramePr>
          <p:cNvPr id="5" name="Content Placeholder 4"/>
          <p:cNvGraphicFramePr>
            <a:graphicFrameLocks/>
          </p:cNvGraphicFramePr>
          <p:nvPr>
            <p:extLst>
              <p:ext uri="{D42A27DB-BD31-4B8C-83A1-F6EECF244321}">
                <p14:modId xmlns:p14="http://schemas.microsoft.com/office/powerpoint/2010/main" val="1431220303"/>
              </p:ext>
            </p:extLst>
          </p:nvPr>
        </p:nvGraphicFramePr>
        <p:xfrm>
          <a:off x="611560" y="2636912"/>
          <a:ext cx="7467600" cy="3810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1"/>
          <p:cNvSpPr txBox="1"/>
          <p:nvPr/>
        </p:nvSpPr>
        <p:spPr>
          <a:xfrm>
            <a:off x="2267744" y="6453336"/>
            <a:ext cx="1728192" cy="288032"/>
          </a:xfrm>
          <a:prstGeom prst="rect">
            <a:avLst/>
          </a:prstGeom>
          <a:ln>
            <a:solidFill>
              <a:srgbClr val="CC0000"/>
            </a:solidFill>
          </a:ln>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GB" sz="1400" dirty="0">
                <a:solidFill>
                  <a:srgbClr val="FF0000"/>
                </a:solidFill>
              </a:rPr>
              <a:t>Implied Growth rate</a:t>
            </a:r>
          </a:p>
        </p:txBody>
      </p:sp>
      <p:sp>
        <p:nvSpPr>
          <p:cNvPr id="8" name="TextBox 1"/>
          <p:cNvSpPr txBox="1"/>
          <p:nvPr/>
        </p:nvSpPr>
        <p:spPr>
          <a:xfrm>
            <a:off x="179512" y="3429000"/>
            <a:ext cx="432048" cy="1656184"/>
          </a:xfrm>
          <a:prstGeom prst="rect">
            <a:avLst/>
          </a:prstGeom>
          <a:ln>
            <a:solidFill>
              <a:srgbClr val="CC0000"/>
            </a:solidFill>
          </a:ln>
        </p:spPr>
        <p:txBody>
          <a:bodyPr vert="vert270"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GB" sz="1400" dirty="0">
                <a:solidFill>
                  <a:srgbClr val="FF0000"/>
                </a:solidFill>
              </a:rPr>
              <a:t>Current Share Price</a:t>
            </a:r>
          </a:p>
        </p:txBody>
      </p:sp>
    </p:spTree>
    <p:extLst>
      <p:ext uri="{BB962C8B-B14F-4D97-AF65-F5344CB8AC3E}">
        <p14:creationId xmlns:p14="http://schemas.microsoft.com/office/powerpoint/2010/main" val="2338549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p:txBody>
          <a:bodyPr>
            <a:normAutofit fontScale="90000"/>
          </a:bodyPr>
          <a:lstStyle/>
          <a:p>
            <a:pPr eaLnBrk="1" fontAlgn="auto" hangingPunct="1">
              <a:spcAft>
                <a:spcPts val="0"/>
              </a:spcAft>
              <a:defRPr/>
            </a:pPr>
            <a:r>
              <a:rPr lang="en-US"/>
              <a:t>Implied Growth Rates and Valuation Judgments</a:t>
            </a:r>
          </a:p>
        </p:txBody>
      </p:sp>
      <p:sp>
        <p:nvSpPr>
          <p:cNvPr id="596995" name="Rectangle 3"/>
          <p:cNvSpPr>
            <a:spLocks noGrp="1" noChangeArrowheads="1"/>
          </p:cNvSpPr>
          <p:nvPr>
            <p:ph type="body" idx="1"/>
          </p:nvPr>
        </p:nvSpPr>
        <p:spPr>
          <a:xfrm>
            <a:off x="323528" y="1744216"/>
            <a:ext cx="7859216" cy="2188840"/>
          </a:xfrm>
        </p:spPr>
        <p:txBody>
          <a:bodyPr>
            <a:normAutofit/>
          </a:bodyPr>
          <a:lstStyle/>
          <a:p>
            <a:pPr marL="274320" indent="-274320" eaLnBrk="1" fontAlgn="auto" hangingPunct="1">
              <a:spcBef>
                <a:spcPts val="580"/>
              </a:spcBef>
              <a:spcAft>
                <a:spcPts val="0"/>
              </a:spcAft>
              <a:buFont typeface="Wingdings 2"/>
              <a:buChar char=""/>
              <a:defRPr/>
            </a:pPr>
            <a:r>
              <a:rPr lang="en-US" sz="2400" dirty="0"/>
              <a:t>When you do any valuation, there are three possibilities. The first is that </a:t>
            </a:r>
            <a:r>
              <a:rPr lang="en-US" sz="2400" u="sng" dirty="0"/>
              <a:t>you are right and the market is wrong</a:t>
            </a:r>
            <a:r>
              <a:rPr lang="en-US" sz="2400" dirty="0"/>
              <a:t>. The second is that the </a:t>
            </a:r>
            <a:r>
              <a:rPr lang="en-US" sz="2400" u="sng" dirty="0"/>
              <a:t>market is right and that you are wrong</a:t>
            </a:r>
            <a:r>
              <a:rPr lang="en-US" sz="2400" dirty="0"/>
              <a:t>. The third is that you are </a:t>
            </a:r>
            <a:r>
              <a:rPr lang="en-US" sz="2400" u="sng" dirty="0"/>
              <a:t>both wrong</a:t>
            </a:r>
            <a:r>
              <a:rPr lang="en-US" sz="2400" dirty="0"/>
              <a:t>. In an efficient market, which is the most likely scenario?</a:t>
            </a:r>
          </a:p>
          <a:p>
            <a:pPr marL="274320" indent="-274320" eaLnBrk="1" fontAlgn="auto" hangingPunct="1">
              <a:spcBef>
                <a:spcPts val="580"/>
              </a:spcBef>
              <a:spcAft>
                <a:spcPts val="0"/>
              </a:spcAft>
              <a:buFont typeface="Monotype Sorts" pitchFamily="-80" charset="2"/>
              <a:buNone/>
              <a:defRPr/>
            </a:pPr>
            <a:endParaRPr lang="en-US" sz="2400" dirty="0"/>
          </a:p>
        </p:txBody>
      </p:sp>
      <p:sp>
        <p:nvSpPr>
          <p:cNvPr id="2" name="Rectangle: Rounded Corners 1">
            <a:extLst>
              <a:ext uri="{FF2B5EF4-FFF2-40B4-BE49-F238E27FC236}">
                <a16:creationId xmlns:a16="http://schemas.microsoft.com/office/drawing/2014/main" id="{CFEB7F86-AA2E-BD72-7A30-34D0A2924ED4}"/>
              </a:ext>
            </a:extLst>
          </p:cNvPr>
          <p:cNvSpPr/>
          <p:nvPr/>
        </p:nvSpPr>
        <p:spPr>
          <a:xfrm>
            <a:off x="971600" y="4221088"/>
            <a:ext cx="6336704" cy="18002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sz="3600" dirty="0"/>
              <a:t>Everything is bound to your story and how it is reflected on your assumptions</a:t>
            </a:r>
          </a:p>
        </p:txBody>
      </p:sp>
    </p:spTree>
    <p:extLst>
      <p:ext uri="{BB962C8B-B14F-4D97-AF65-F5344CB8AC3E}">
        <p14:creationId xmlns:p14="http://schemas.microsoft.com/office/powerpoint/2010/main" val="145581304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7467600" cy="706090"/>
          </a:xfrm>
        </p:spPr>
        <p:txBody>
          <a:bodyPr>
            <a:normAutofit fontScale="90000"/>
          </a:bodyPr>
          <a:lstStyle/>
          <a:p>
            <a:r>
              <a:rPr lang="en-GB" dirty="0"/>
              <a:t>Incorporate Uncertainty Into Estimates-Probabilistic Valuation</a:t>
            </a:r>
          </a:p>
        </p:txBody>
      </p:sp>
      <p:sp>
        <p:nvSpPr>
          <p:cNvPr id="3" name="Content Placeholder 2"/>
          <p:cNvSpPr>
            <a:spLocks noGrp="1"/>
          </p:cNvSpPr>
          <p:nvPr>
            <p:ph idx="1"/>
          </p:nvPr>
        </p:nvSpPr>
        <p:spPr>
          <a:xfrm>
            <a:off x="107504" y="1556792"/>
            <a:ext cx="4762872" cy="4873752"/>
          </a:xfrm>
        </p:spPr>
        <p:txBody>
          <a:bodyPr>
            <a:normAutofit/>
          </a:bodyPr>
          <a:lstStyle/>
          <a:p>
            <a:r>
              <a:rPr lang="en-GB" dirty="0"/>
              <a:t>Assume that you can expect $5 dividends in perpetuity and your required return is 10%. </a:t>
            </a:r>
          </a:p>
          <a:p>
            <a:r>
              <a:rPr lang="en-GB" dirty="0"/>
              <a:t>You should be willing to pay:</a:t>
            </a:r>
          </a:p>
          <a:p>
            <a:endParaRPr lang="en-GB" dirty="0"/>
          </a:p>
          <a:p>
            <a:endParaRPr lang="en-GB" dirty="0"/>
          </a:p>
          <a:p>
            <a:endParaRPr lang="en-GB" dirty="0"/>
          </a:p>
          <a:p>
            <a:r>
              <a:rPr lang="en-GB" dirty="0"/>
              <a:t>However, you anticipate that the incoming currency war might influence the ability of the firm to pay dividends. You consider the possible scenarios</a:t>
            </a:r>
          </a:p>
        </p:txBody>
      </p:sp>
      <p:sp>
        <p:nvSpPr>
          <p:cNvPr id="4" name="Slide Number Placeholder 3"/>
          <p:cNvSpPr>
            <a:spLocks noGrp="1"/>
          </p:cNvSpPr>
          <p:nvPr>
            <p:ph type="sldNum" sz="quarter" idx="12"/>
          </p:nvPr>
        </p:nvSpPr>
        <p:spPr/>
        <p:txBody>
          <a:bodyPr/>
          <a:lstStyle/>
          <a:p>
            <a:pPr>
              <a:defRPr/>
            </a:pPr>
            <a:fld id="{C3168C1A-0F73-4148-A9C6-17783D0D792E}" type="slidenum">
              <a:rPr lang="en-GB" smtClean="0"/>
              <a:pPr>
                <a:defRPr/>
              </a:pPr>
              <a:t>25</a:t>
            </a:fld>
            <a:endParaRPr lang="en-GB"/>
          </a:p>
        </p:txBody>
      </p:sp>
      <p:graphicFrame>
        <p:nvGraphicFramePr>
          <p:cNvPr id="5" name="Object 4"/>
          <p:cNvGraphicFramePr>
            <a:graphicFrameLocks noChangeAspect="1"/>
          </p:cNvGraphicFramePr>
          <p:nvPr>
            <p:extLst>
              <p:ext uri="{D42A27DB-BD31-4B8C-83A1-F6EECF244321}">
                <p14:modId xmlns:p14="http://schemas.microsoft.com/office/powerpoint/2010/main" val="2205078731"/>
              </p:ext>
            </p:extLst>
          </p:nvPr>
        </p:nvGraphicFramePr>
        <p:xfrm>
          <a:off x="827584" y="3212976"/>
          <a:ext cx="2564414" cy="864096"/>
        </p:xfrm>
        <a:graphic>
          <a:graphicData uri="http://schemas.openxmlformats.org/presentationml/2006/ole">
            <mc:AlternateContent xmlns:mc="http://schemas.openxmlformats.org/markup-compatibility/2006">
              <mc:Choice xmlns:v="urn:schemas-microsoft-com:vml" Requires="v">
                <p:oleObj name="Equation" r:id="rId2" imgW="1168200" imgH="393480" progId="Equation.3">
                  <p:embed/>
                </p:oleObj>
              </mc:Choice>
              <mc:Fallback>
                <p:oleObj name="Equation" r:id="rId2" imgW="1168200" imgH="393480" progId="Equation.3">
                  <p:embed/>
                  <p:pic>
                    <p:nvPicPr>
                      <p:cNvPr id="5" name="Object 4"/>
                      <p:cNvPicPr/>
                      <p:nvPr/>
                    </p:nvPicPr>
                    <p:blipFill>
                      <a:blip r:embed="rId3"/>
                      <a:stretch>
                        <a:fillRect/>
                      </a:stretch>
                    </p:blipFill>
                    <p:spPr>
                      <a:xfrm>
                        <a:off x="827584" y="3212976"/>
                        <a:ext cx="2564414" cy="864096"/>
                      </a:xfrm>
                      <a:prstGeom prst="rect">
                        <a:avLst/>
                      </a:prstGeom>
                    </p:spPr>
                  </p:pic>
                </p:oleObj>
              </mc:Fallback>
            </mc:AlternateContent>
          </a:graphicData>
        </a:graphic>
      </p:graphicFrame>
      <p:graphicFrame>
        <p:nvGraphicFramePr>
          <p:cNvPr id="7" name="Table 6"/>
          <p:cNvGraphicFramePr>
            <a:graphicFrameLocks noGrp="1"/>
          </p:cNvGraphicFramePr>
          <p:nvPr>
            <p:extLst>
              <p:ext uri="{D42A27DB-BD31-4B8C-83A1-F6EECF244321}">
                <p14:modId xmlns:p14="http://schemas.microsoft.com/office/powerpoint/2010/main" val="626330642"/>
              </p:ext>
            </p:extLst>
          </p:nvPr>
        </p:nvGraphicFramePr>
        <p:xfrm>
          <a:off x="4644008" y="1375692"/>
          <a:ext cx="3672408" cy="5074140"/>
        </p:xfrm>
        <a:graphic>
          <a:graphicData uri="http://schemas.openxmlformats.org/drawingml/2006/table">
            <a:tbl>
              <a:tblPr firstRow="1" bandRow="1">
                <a:tableStyleId>{5C22544A-7EE6-4342-B048-85BDC9FD1C3A}</a:tableStyleId>
              </a:tblPr>
              <a:tblGrid>
                <a:gridCol w="1138718">
                  <a:extLst>
                    <a:ext uri="{9D8B030D-6E8A-4147-A177-3AD203B41FA5}">
                      <a16:colId xmlns:a16="http://schemas.microsoft.com/office/drawing/2014/main" val="20000"/>
                    </a:ext>
                  </a:extLst>
                </a:gridCol>
                <a:gridCol w="697486">
                  <a:extLst>
                    <a:ext uri="{9D8B030D-6E8A-4147-A177-3AD203B41FA5}">
                      <a16:colId xmlns:a16="http://schemas.microsoft.com/office/drawing/2014/main" val="20001"/>
                    </a:ext>
                  </a:extLst>
                </a:gridCol>
                <a:gridCol w="918102">
                  <a:extLst>
                    <a:ext uri="{9D8B030D-6E8A-4147-A177-3AD203B41FA5}">
                      <a16:colId xmlns:a16="http://schemas.microsoft.com/office/drawing/2014/main" val="20002"/>
                    </a:ext>
                  </a:extLst>
                </a:gridCol>
                <a:gridCol w="918102">
                  <a:extLst>
                    <a:ext uri="{9D8B030D-6E8A-4147-A177-3AD203B41FA5}">
                      <a16:colId xmlns:a16="http://schemas.microsoft.com/office/drawing/2014/main" val="20003"/>
                    </a:ext>
                  </a:extLst>
                </a:gridCol>
              </a:tblGrid>
              <a:tr h="835787">
                <a:tc>
                  <a:txBody>
                    <a:bodyPr/>
                    <a:lstStyle/>
                    <a:p>
                      <a:pPr algn="ctr"/>
                      <a:r>
                        <a:rPr lang="en-GB" sz="2800" dirty="0"/>
                        <a:t>Scenario</a:t>
                      </a:r>
                    </a:p>
                  </a:txBody>
                  <a:tcPr anchor="ctr"/>
                </a:tc>
                <a:tc>
                  <a:txBody>
                    <a:bodyPr/>
                    <a:lstStyle/>
                    <a:p>
                      <a:pPr algn="ctr"/>
                      <a:r>
                        <a:rPr lang="en-GB" sz="2800" dirty="0"/>
                        <a:t>p</a:t>
                      </a:r>
                    </a:p>
                  </a:txBody>
                  <a:tcPr anchor="ctr"/>
                </a:tc>
                <a:tc>
                  <a:txBody>
                    <a:bodyPr/>
                    <a:lstStyle/>
                    <a:p>
                      <a:pPr algn="ctr"/>
                      <a:r>
                        <a:rPr lang="en-GB" sz="2800" dirty="0"/>
                        <a:t>C</a:t>
                      </a:r>
                    </a:p>
                  </a:txBody>
                  <a:tcPr anchor="ctr"/>
                </a:tc>
                <a:tc>
                  <a:txBody>
                    <a:bodyPr/>
                    <a:lstStyle/>
                    <a:p>
                      <a:pPr algn="ctr"/>
                      <a:r>
                        <a:rPr lang="en-GB" sz="2800" dirty="0"/>
                        <a:t>r</a:t>
                      </a:r>
                    </a:p>
                  </a:txBody>
                  <a:tcPr anchor="ctr"/>
                </a:tc>
                <a:extLst>
                  <a:ext uri="{0D108BD9-81ED-4DB2-BD59-A6C34878D82A}">
                    <a16:rowId xmlns:a16="http://schemas.microsoft.com/office/drawing/2014/main" val="10000"/>
                  </a:ext>
                </a:extLst>
              </a:tr>
              <a:tr h="412926">
                <a:tc>
                  <a:txBody>
                    <a:bodyPr/>
                    <a:lstStyle/>
                    <a:p>
                      <a:pPr algn="ctr" fontAlgn="b"/>
                      <a:r>
                        <a:rPr lang="en-GB" sz="2000" b="0" i="0" u="none" strike="noStrike" dirty="0">
                          <a:solidFill>
                            <a:srgbClr val="000000"/>
                          </a:solidFill>
                          <a:effectLst/>
                          <a:latin typeface="Calibri"/>
                        </a:rPr>
                        <a:t>1</a:t>
                      </a:r>
                    </a:p>
                  </a:txBody>
                  <a:tcPr marL="9525" marR="9525" marT="9525" marB="0" anchor="ctr"/>
                </a:tc>
                <a:tc>
                  <a:txBody>
                    <a:bodyPr/>
                    <a:lstStyle/>
                    <a:p>
                      <a:pPr algn="ctr" fontAlgn="b"/>
                      <a:r>
                        <a:rPr kumimoji="0" lang="en-GB" sz="2000" b="0" i="0" u="none" strike="noStrike" kern="1200" dirty="0">
                          <a:solidFill>
                            <a:srgbClr val="000000"/>
                          </a:solidFill>
                          <a:effectLst/>
                          <a:latin typeface="Calibri"/>
                          <a:ea typeface="+mn-ea"/>
                          <a:cs typeface="+mn-cs"/>
                        </a:rPr>
                        <a:t>0.02</a:t>
                      </a:r>
                    </a:p>
                  </a:txBody>
                  <a:tcPr marL="9525" marR="9525" marT="9525" marB="0" anchor="ctr"/>
                </a:tc>
                <a:tc>
                  <a:txBody>
                    <a:bodyPr/>
                    <a:lstStyle/>
                    <a:p>
                      <a:pPr algn="ctr" fontAlgn="b"/>
                      <a:r>
                        <a:rPr lang="en-GB" sz="2000" b="0" i="0" u="none" strike="noStrike">
                          <a:solidFill>
                            <a:srgbClr val="000000"/>
                          </a:solidFill>
                          <a:effectLst/>
                          <a:latin typeface="Calibri"/>
                        </a:rPr>
                        <a:t>4.2</a:t>
                      </a:r>
                    </a:p>
                  </a:txBody>
                  <a:tcPr marL="9525" marR="9525" marT="9525" marB="0" anchor="ctr"/>
                </a:tc>
                <a:tc>
                  <a:txBody>
                    <a:bodyPr/>
                    <a:lstStyle/>
                    <a:p>
                      <a:pPr algn="ctr" fontAlgn="b"/>
                      <a:r>
                        <a:rPr lang="en-GB" sz="2000" b="0" i="0" u="none" strike="noStrike">
                          <a:solidFill>
                            <a:srgbClr val="000000"/>
                          </a:solidFill>
                          <a:effectLst/>
                          <a:latin typeface="Calibri"/>
                        </a:rPr>
                        <a:t>0.18</a:t>
                      </a:r>
                    </a:p>
                  </a:txBody>
                  <a:tcPr marL="9525" marR="9525" marT="9525" marB="0" anchor="ctr"/>
                </a:tc>
                <a:extLst>
                  <a:ext uri="{0D108BD9-81ED-4DB2-BD59-A6C34878D82A}">
                    <a16:rowId xmlns:a16="http://schemas.microsoft.com/office/drawing/2014/main" val="10001"/>
                  </a:ext>
                </a:extLst>
              </a:tr>
              <a:tr h="412926">
                <a:tc>
                  <a:txBody>
                    <a:bodyPr/>
                    <a:lstStyle/>
                    <a:p>
                      <a:pPr algn="ctr" fontAlgn="b"/>
                      <a:r>
                        <a:rPr lang="en-GB" sz="2000" b="0" i="0" u="none" strike="noStrike" dirty="0">
                          <a:solidFill>
                            <a:srgbClr val="000000"/>
                          </a:solidFill>
                          <a:effectLst/>
                          <a:latin typeface="Calibri"/>
                        </a:rPr>
                        <a:t>2</a:t>
                      </a:r>
                    </a:p>
                  </a:txBody>
                  <a:tcPr marL="9525" marR="9525" marT="9525" marB="0" anchor="ctr"/>
                </a:tc>
                <a:tc>
                  <a:txBody>
                    <a:bodyPr/>
                    <a:lstStyle/>
                    <a:p>
                      <a:pPr algn="ctr" fontAlgn="b"/>
                      <a:r>
                        <a:rPr kumimoji="0" lang="en-GB" sz="2000" b="0" i="0" u="none" strike="noStrike" kern="1200" dirty="0">
                          <a:solidFill>
                            <a:srgbClr val="000000"/>
                          </a:solidFill>
                          <a:effectLst/>
                          <a:latin typeface="Calibri"/>
                          <a:ea typeface="+mn-ea"/>
                          <a:cs typeface="+mn-cs"/>
                        </a:rPr>
                        <a:t>0.05</a:t>
                      </a:r>
                    </a:p>
                  </a:txBody>
                  <a:tcPr marL="9525" marR="9525" marT="9525" marB="0" anchor="ctr"/>
                </a:tc>
                <a:tc>
                  <a:txBody>
                    <a:bodyPr/>
                    <a:lstStyle/>
                    <a:p>
                      <a:pPr algn="ctr" fontAlgn="b"/>
                      <a:r>
                        <a:rPr lang="en-GB" sz="2000" b="0" i="0" u="none" strike="noStrike">
                          <a:solidFill>
                            <a:srgbClr val="000000"/>
                          </a:solidFill>
                          <a:effectLst/>
                          <a:latin typeface="Calibri"/>
                        </a:rPr>
                        <a:t>4.4</a:t>
                      </a:r>
                    </a:p>
                  </a:txBody>
                  <a:tcPr marL="9525" marR="9525" marT="9525" marB="0" anchor="ctr"/>
                </a:tc>
                <a:tc>
                  <a:txBody>
                    <a:bodyPr/>
                    <a:lstStyle/>
                    <a:p>
                      <a:pPr algn="ctr" fontAlgn="b"/>
                      <a:r>
                        <a:rPr lang="en-GB" sz="2000" b="0" i="0" u="none" strike="noStrike">
                          <a:solidFill>
                            <a:srgbClr val="000000"/>
                          </a:solidFill>
                          <a:effectLst/>
                          <a:latin typeface="Calibri"/>
                        </a:rPr>
                        <a:t>0.16</a:t>
                      </a:r>
                    </a:p>
                  </a:txBody>
                  <a:tcPr marL="9525" marR="9525" marT="9525" marB="0" anchor="ctr"/>
                </a:tc>
                <a:extLst>
                  <a:ext uri="{0D108BD9-81ED-4DB2-BD59-A6C34878D82A}">
                    <a16:rowId xmlns:a16="http://schemas.microsoft.com/office/drawing/2014/main" val="10002"/>
                  </a:ext>
                </a:extLst>
              </a:tr>
              <a:tr h="412926">
                <a:tc>
                  <a:txBody>
                    <a:bodyPr/>
                    <a:lstStyle/>
                    <a:p>
                      <a:pPr algn="ctr" fontAlgn="b"/>
                      <a:r>
                        <a:rPr lang="en-GB" sz="2000" b="0" i="0" u="none" strike="noStrike">
                          <a:solidFill>
                            <a:srgbClr val="000000"/>
                          </a:solidFill>
                          <a:effectLst/>
                          <a:latin typeface="Calibri"/>
                        </a:rPr>
                        <a:t>3</a:t>
                      </a:r>
                    </a:p>
                  </a:txBody>
                  <a:tcPr marL="9525" marR="9525" marT="9525" marB="0" anchor="ctr"/>
                </a:tc>
                <a:tc>
                  <a:txBody>
                    <a:bodyPr/>
                    <a:lstStyle/>
                    <a:p>
                      <a:pPr algn="ctr" fontAlgn="b"/>
                      <a:r>
                        <a:rPr kumimoji="0" lang="en-GB" sz="2000" b="0" i="0" u="none" strike="noStrike" kern="1200" dirty="0">
                          <a:solidFill>
                            <a:srgbClr val="000000"/>
                          </a:solidFill>
                          <a:effectLst/>
                          <a:latin typeface="Calibri"/>
                          <a:ea typeface="+mn-ea"/>
                          <a:cs typeface="+mn-cs"/>
                        </a:rPr>
                        <a:t>0.08</a:t>
                      </a:r>
                    </a:p>
                  </a:txBody>
                  <a:tcPr marL="9525" marR="9525" marT="9525" marB="0" anchor="ctr"/>
                </a:tc>
                <a:tc>
                  <a:txBody>
                    <a:bodyPr/>
                    <a:lstStyle/>
                    <a:p>
                      <a:pPr algn="ctr" fontAlgn="b"/>
                      <a:r>
                        <a:rPr lang="en-GB" sz="2000" b="0" i="0" u="none" strike="noStrike">
                          <a:solidFill>
                            <a:srgbClr val="000000"/>
                          </a:solidFill>
                          <a:effectLst/>
                          <a:latin typeface="Calibri"/>
                        </a:rPr>
                        <a:t>4.6</a:t>
                      </a:r>
                    </a:p>
                  </a:txBody>
                  <a:tcPr marL="9525" marR="9525" marT="9525" marB="0" anchor="ctr"/>
                </a:tc>
                <a:tc>
                  <a:txBody>
                    <a:bodyPr/>
                    <a:lstStyle/>
                    <a:p>
                      <a:pPr algn="ctr" fontAlgn="b"/>
                      <a:r>
                        <a:rPr lang="en-GB" sz="2000" b="0" i="0" u="none" strike="noStrike">
                          <a:solidFill>
                            <a:srgbClr val="000000"/>
                          </a:solidFill>
                          <a:effectLst/>
                          <a:latin typeface="Calibri"/>
                        </a:rPr>
                        <a:t>0.14</a:t>
                      </a:r>
                    </a:p>
                  </a:txBody>
                  <a:tcPr marL="9525" marR="9525" marT="9525" marB="0" anchor="ctr"/>
                </a:tc>
                <a:extLst>
                  <a:ext uri="{0D108BD9-81ED-4DB2-BD59-A6C34878D82A}">
                    <a16:rowId xmlns:a16="http://schemas.microsoft.com/office/drawing/2014/main" val="10003"/>
                  </a:ext>
                </a:extLst>
              </a:tr>
              <a:tr h="412926">
                <a:tc>
                  <a:txBody>
                    <a:bodyPr/>
                    <a:lstStyle/>
                    <a:p>
                      <a:pPr algn="ctr" fontAlgn="b"/>
                      <a:r>
                        <a:rPr lang="en-GB" sz="2000" b="0" i="0" u="none" strike="noStrike">
                          <a:solidFill>
                            <a:srgbClr val="000000"/>
                          </a:solidFill>
                          <a:effectLst/>
                          <a:latin typeface="Calibri"/>
                        </a:rPr>
                        <a:t>4</a:t>
                      </a:r>
                    </a:p>
                  </a:txBody>
                  <a:tcPr marL="9525" marR="9525" marT="9525" marB="0" anchor="ctr"/>
                </a:tc>
                <a:tc>
                  <a:txBody>
                    <a:bodyPr/>
                    <a:lstStyle/>
                    <a:p>
                      <a:pPr algn="ctr" fontAlgn="b"/>
                      <a:r>
                        <a:rPr kumimoji="0" lang="en-GB" sz="2000" b="0" i="0" u="none" strike="noStrike" kern="1200" dirty="0">
                          <a:solidFill>
                            <a:srgbClr val="000000"/>
                          </a:solidFill>
                          <a:effectLst/>
                          <a:latin typeface="Calibri"/>
                          <a:ea typeface="+mn-ea"/>
                          <a:cs typeface="+mn-cs"/>
                        </a:rPr>
                        <a:t>0.1</a:t>
                      </a:r>
                    </a:p>
                  </a:txBody>
                  <a:tcPr marL="9525" marR="9525" marT="9525" marB="0" anchor="ctr"/>
                </a:tc>
                <a:tc>
                  <a:txBody>
                    <a:bodyPr/>
                    <a:lstStyle/>
                    <a:p>
                      <a:pPr algn="ctr" fontAlgn="b"/>
                      <a:r>
                        <a:rPr lang="en-GB" sz="2000" b="0" i="0" u="none" strike="noStrike">
                          <a:solidFill>
                            <a:srgbClr val="000000"/>
                          </a:solidFill>
                          <a:effectLst/>
                          <a:latin typeface="Calibri"/>
                        </a:rPr>
                        <a:t>4.8</a:t>
                      </a:r>
                    </a:p>
                  </a:txBody>
                  <a:tcPr marL="9525" marR="9525" marT="9525" marB="0" anchor="ctr"/>
                </a:tc>
                <a:tc>
                  <a:txBody>
                    <a:bodyPr/>
                    <a:lstStyle/>
                    <a:p>
                      <a:pPr algn="ctr" fontAlgn="b"/>
                      <a:r>
                        <a:rPr lang="en-GB" sz="2000" b="0" i="0" u="none" strike="noStrike">
                          <a:solidFill>
                            <a:srgbClr val="000000"/>
                          </a:solidFill>
                          <a:effectLst/>
                          <a:latin typeface="Calibri"/>
                        </a:rPr>
                        <a:t>0.12</a:t>
                      </a:r>
                    </a:p>
                  </a:txBody>
                  <a:tcPr marL="9525" marR="9525" marT="9525" marB="0" anchor="ctr"/>
                </a:tc>
                <a:extLst>
                  <a:ext uri="{0D108BD9-81ED-4DB2-BD59-A6C34878D82A}">
                    <a16:rowId xmlns:a16="http://schemas.microsoft.com/office/drawing/2014/main" val="10004"/>
                  </a:ext>
                </a:extLst>
              </a:tr>
              <a:tr h="412926">
                <a:tc>
                  <a:txBody>
                    <a:bodyPr/>
                    <a:lstStyle/>
                    <a:p>
                      <a:pPr algn="ctr" fontAlgn="b"/>
                      <a:r>
                        <a:rPr lang="en-GB" sz="2000" b="0" i="0" u="none" strike="noStrike">
                          <a:solidFill>
                            <a:srgbClr val="000000"/>
                          </a:solidFill>
                          <a:effectLst/>
                          <a:latin typeface="Calibri"/>
                        </a:rPr>
                        <a:t>5</a:t>
                      </a:r>
                    </a:p>
                  </a:txBody>
                  <a:tcPr marL="9525" marR="9525" marT="9525" marB="0" anchor="ctr"/>
                </a:tc>
                <a:tc>
                  <a:txBody>
                    <a:bodyPr/>
                    <a:lstStyle/>
                    <a:p>
                      <a:pPr algn="ctr" fontAlgn="b"/>
                      <a:r>
                        <a:rPr kumimoji="0" lang="en-GB" sz="2000" b="0" i="0" u="none" strike="noStrike" kern="1200" dirty="0">
                          <a:solidFill>
                            <a:srgbClr val="000000"/>
                          </a:solidFill>
                          <a:effectLst/>
                          <a:latin typeface="Calibri"/>
                          <a:ea typeface="+mn-ea"/>
                          <a:cs typeface="+mn-cs"/>
                        </a:rPr>
                        <a:t>0.25</a:t>
                      </a:r>
                    </a:p>
                  </a:txBody>
                  <a:tcPr marL="9525" marR="9525" marT="9525" marB="0" anchor="ctr"/>
                </a:tc>
                <a:tc>
                  <a:txBody>
                    <a:bodyPr/>
                    <a:lstStyle/>
                    <a:p>
                      <a:pPr algn="ctr" fontAlgn="b"/>
                      <a:r>
                        <a:rPr lang="en-GB" sz="2000" b="0" i="0" u="none" strike="noStrike" dirty="0">
                          <a:solidFill>
                            <a:srgbClr val="000000"/>
                          </a:solidFill>
                          <a:effectLst/>
                          <a:latin typeface="Calibri"/>
                        </a:rPr>
                        <a:t>5</a:t>
                      </a:r>
                    </a:p>
                  </a:txBody>
                  <a:tcPr marL="9525" marR="9525" marT="9525" marB="0" anchor="ctr"/>
                </a:tc>
                <a:tc>
                  <a:txBody>
                    <a:bodyPr/>
                    <a:lstStyle/>
                    <a:p>
                      <a:pPr algn="ctr" fontAlgn="b"/>
                      <a:r>
                        <a:rPr lang="en-GB" sz="2000" b="0" i="0" u="none" strike="noStrike">
                          <a:solidFill>
                            <a:srgbClr val="000000"/>
                          </a:solidFill>
                          <a:effectLst/>
                          <a:latin typeface="Calibri"/>
                        </a:rPr>
                        <a:t>0.1</a:t>
                      </a:r>
                    </a:p>
                  </a:txBody>
                  <a:tcPr marL="9525" marR="9525" marT="9525" marB="0" anchor="ctr"/>
                </a:tc>
                <a:extLst>
                  <a:ext uri="{0D108BD9-81ED-4DB2-BD59-A6C34878D82A}">
                    <a16:rowId xmlns:a16="http://schemas.microsoft.com/office/drawing/2014/main" val="10005"/>
                  </a:ext>
                </a:extLst>
              </a:tr>
              <a:tr h="412926">
                <a:tc>
                  <a:txBody>
                    <a:bodyPr/>
                    <a:lstStyle/>
                    <a:p>
                      <a:pPr algn="ctr" fontAlgn="b"/>
                      <a:r>
                        <a:rPr lang="en-GB" sz="2000" b="0" i="0" u="none" strike="noStrike">
                          <a:solidFill>
                            <a:srgbClr val="000000"/>
                          </a:solidFill>
                          <a:effectLst/>
                          <a:latin typeface="Calibri"/>
                        </a:rPr>
                        <a:t>6</a:t>
                      </a:r>
                    </a:p>
                  </a:txBody>
                  <a:tcPr marL="9525" marR="9525" marT="9525" marB="0" anchor="ctr"/>
                </a:tc>
                <a:tc>
                  <a:txBody>
                    <a:bodyPr/>
                    <a:lstStyle/>
                    <a:p>
                      <a:pPr algn="ctr" fontAlgn="b"/>
                      <a:r>
                        <a:rPr kumimoji="0" lang="en-GB" sz="2000" b="0" i="0" u="none" strike="noStrike" kern="1200" dirty="0">
                          <a:solidFill>
                            <a:srgbClr val="000000"/>
                          </a:solidFill>
                          <a:effectLst/>
                          <a:latin typeface="Calibri"/>
                          <a:ea typeface="+mn-ea"/>
                          <a:cs typeface="+mn-cs"/>
                        </a:rPr>
                        <a:t>0.2</a:t>
                      </a:r>
                    </a:p>
                  </a:txBody>
                  <a:tcPr marL="9525" marR="9525" marT="9525" marB="0" anchor="ctr"/>
                </a:tc>
                <a:tc>
                  <a:txBody>
                    <a:bodyPr/>
                    <a:lstStyle/>
                    <a:p>
                      <a:pPr algn="ctr" fontAlgn="b"/>
                      <a:r>
                        <a:rPr lang="en-GB" sz="2000" b="0" i="0" u="none" strike="noStrike" dirty="0">
                          <a:solidFill>
                            <a:srgbClr val="000000"/>
                          </a:solidFill>
                          <a:effectLst/>
                          <a:latin typeface="Calibri"/>
                        </a:rPr>
                        <a:t>5.2</a:t>
                      </a:r>
                    </a:p>
                  </a:txBody>
                  <a:tcPr marL="9525" marR="9525" marT="9525" marB="0" anchor="ctr"/>
                </a:tc>
                <a:tc>
                  <a:txBody>
                    <a:bodyPr/>
                    <a:lstStyle/>
                    <a:p>
                      <a:pPr algn="ctr" fontAlgn="b"/>
                      <a:r>
                        <a:rPr lang="en-GB" sz="2000" b="0" i="0" u="none" strike="noStrike">
                          <a:solidFill>
                            <a:srgbClr val="000000"/>
                          </a:solidFill>
                          <a:effectLst/>
                          <a:latin typeface="Calibri"/>
                        </a:rPr>
                        <a:t>0.09</a:t>
                      </a:r>
                    </a:p>
                  </a:txBody>
                  <a:tcPr marL="9525" marR="9525" marT="9525" marB="0" anchor="ctr"/>
                </a:tc>
                <a:extLst>
                  <a:ext uri="{0D108BD9-81ED-4DB2-BD59-A6C34878D82A}">
                    <a16:rowId xmlns:a16="http://schemas.microsoft.com/office/drawing/2014/main" val="10006"/>
                  </a:ext>
                </a:extLst>
              </a:tr>
              <a:tr h="412926">
                <a:tc>
                  <a:txBody>
                    <a:bodyPr/>
                    <a:lstStyle/>
                    <a:p>
                      <a:pPr algn="ctr" fontAlgn="b"/>
                      <a:r>
                        <a:rPr lang="en-GB" sz="2000" b="0" i="0" u="none" strike="noStrike">
                          <a:solidFill>
                            <a:srgbClr val="000000"/>
                          </a:solidFill>
                          <a:effectLst/>
                          <a:latin typeface="Calibri"/>
                        </a:rPr>
                        <a:t>7</a:t>
                      </a:r>
                    </a:p>
                  </a:txBody>
                  <a:tcPr marL="9525" marR="9525" marT="9525" marB="0" anchor="ctr"/>
                </a:tc>
                <a:tc>
                  <a:txBody>
                    <a:bodyPr/>
                    <a:lstStyle/>
                    <a:p>
                      <a:pPr algn="ctr" fontAlgn="b"/>
                      <a:r>
                        <a:rPr kumimoji="0" lang="en-GB" sz="2000" b="0" i="0" u="none" strike="noStrike" kern="1200" dirty="0">
                          <a:solidFill>
                            <a:srgbClr val="000000"/>
                          </a:solidFill>
                          <a:effectLst/>
                          <a:latin typeface="Calibri"/>
                          <a:ea typeface="+mn-ea"/>
                          <a:cs typeface="+mn-cs"/>
                        </a:rPr>
                        <a:t>0.1</a:t>
                      </a:r>
                    </a:p>
                  </a:txBody>
                  <a:tcPr marL="9525" marR="9525" marT="9525" marB="0" anchor="ctr"/>
                </a:tc>
                <a:tc>
                  <a:txBody>
                    <a:bodyPr/>
                    <a:lstStyle/>
                    <a:p>
                      <a:pPr algn="ctr" fontAlgn="b"/>
                      <a:r>
                        <a:rPr lang="en-GB" sz="2000" b="0" i="0" u="none" strike="noStrike" dirty="0">
                          <a:solidFill>
                            <a:srgbClr val="000000"/>
                          </a:solidFill>
                          <a:effectLst/>
                          <a:latin typeface="Calibri"/>
                        </a:rPr>
                        <a:t>5.4</a:t>
                      </a:r>
                    </a:p>
                  </a:txBody>
                  <a:tcPr marL="9525" marR="9525" marT="9525" marB="0" anchor="ctr"/>
                </a:tc>
                <a:tc>
                  <a:txBody>
                    <a:bodyPr/>
                    <a:lstStyle/>
                    <a:p>
                      <a:pPr algn="ctr" fontAlgn="b"/>
                      <a:r>
                        <a:rPr lang="en-GB" sz="2000" b="0" i="0" u="none" strike="noStrike" dirty="0">
                          <a:solidFill>
                            <a:srgbClr val="000000"/>
                          </a:solidFill>
                          <a:effectLst/>
                          <a:latin typeface="Calibri"/>
                        </a:rPr>
                        <a:t>0.08</a:t>
                      </a:r>
                    </a:p>
                  </a:txBody>
                  <a:tcPr marL="9525" marR="9525" marT="9525" marB="0" anchor="ctr"/>
                </a:tc>
                <a:extLst>
                  <a:ext uri="{0D108BD9-81ED-4DB2-BD59-A6C34878D82A}">
                    <a16:rowId xmlns:a16="http://schemas.microsoft.com/office/drawing/2014/main" val="10007"/>
                  </a:ext>
                </a:extLst>
              </a:tr>
              <a:tr h="412926">
                <a:tc>
                  <a:txBody>
                    <a:bodyPr/>
                    <a:lstStyle/>
                    <a:p>
                      <a:pPr algn="ctr" fontAlgn="b"/>
                      <a:r>
                        <a:rPr lang="en-GB" sz="2000" b="0" i="0" u="none" strike="noStrike">
                          <a:solidFill>
                            <a:srgbClr val="000000"/>
                          </a:solidFill>
                          <a:effectLst/>
                          <a:latin typeface="Calibri"/>
                        </a:rPr>
                        <a:t>8</a:t>
                      </a:r>
                    </a:p>
                  </a:txBody>
                  <a:tcPr marL="9525" marR="9525" marT="9525" marB="0" anchor="ctr"/>
                </a:tc>
                <a:tc>
                  <a:txBody>
                    <a:bodyPr/>
                    <a:lstStyle/>
                    <a:p>
                      <a:pPr algn="ctr" fontAlgn="b"/>
                      <a:r>
                        <a:rPr kumimoji="0" lang="en-GB" sz="2000" b="0" i="0" u="none" strike="noStrike" kern="1200" dirty="0">
                          <a:solidFill>
                            <a:srgbClr val="000000"/>
                          </a:solidFill>
                          <a:effectLst/>
                          <a:latin typeface="Calibri"/>
                          <a:ea typeface="+mn-ea"/>
                          <a:cs typeface="+mn-cs"/>
                        </a:rPr>
                        <a:t>0.1</a:t>
                      </a:r>
                    </a:p>
                  </a:txBody>
                  <a:tcPr marL="9525" marR="9525" marT="9525" marB="0" anchor="ctr"/>
                </a:tc>
                <a:tc>
                  <a:txBody>
                    <a:bodyPr/>
                    <a:lstStyle/>
                    <a:p>
                      <a:pPr algn="ctr" fontAlgn="b"/>
                      <a:r>
                        <a:rPr lang="en-GB" sz="2000" b="0" i="0" u="none" strike="noStrike">
                          <a:solidFill>
                            <a:srgbClr val="000000"/>
                          </a:solidFill>
                          <a:effectLst/>
                          <a:latin typeface="Calibri"/>
                        </a:rPr>
                        <a:t>5.6</a:t>
                      </a:r>
                    </a:p>
                  </a:txBody>
                  <a:tcPr marL="9525" marR="9525" marT="9525" marB="0" anchor="ctr"/>
                </a:tc>
                <a:tc>
                  <a:txBody>
                    <a:bodyPr/>
                    <a:lstStyle/>
                    <a:p>
                      <a:pPr algn="ctr" fontAlgn="b"/>
                      <a:r>
                        <a:rPr lang="en-GB" sz="2000" b="0" i="0" u="none" strike="noStrike" dirty="0">
                          <a:solidFill>
                            <a:srgbClr val="000000"/>
                          </a:solidFill>
                          <a:effectLst/>
                          <a:latin typeface="Calibri"/>
                        </a:rPr>
                        <a:t>0.07</a:t>
                      </a:r>
                    </a:p>
                  </a:txBody>
                  <a:tcPr marL="9525" marR="9525" marT="9525" marB="0" anchor="ctr"/>
                </a:tc>
                <a:extLst>
                  <a:ext uri="{0D108BD9-81ED-4DB2-BD59-A6C34878D82A}">
                    <a16:rowId xmlns:a16="http://schemas.microsoft.com/office/drawing/2014/main" val="10008"/>
                  </a:ext>
                </a:extLst>
              </a:tr>
              <a:tr h="412926">
                <a:tc>
                  <a:txBody>
                    <a:bodyPr/>
                    <a:lstStyle/>
                    <a:p>
                      <a:pPr algn="ctr" fontAlgn="b"/>
                      <a:r>
                        <a:rPr lang="en-GB" sz="2000" b="0" i="0" u="none" strike="noStrike">
                          <a:solidFill>
                            <a:srgbClr val="000000"/>
                          </a:solidFill>
                          <a:effectLst/>
                          <a:latin typeface="Calibri"/>
                        </a:rPr>
                        <a:t>9</a:t>
                      </a:r>
                    </a:p>
                  </a:txBody>
                  <a:tcPr marL="9525" marR="9525" marT="9525" marB="0" anchor="ctr"/>
                </a:tc>
                <a:tc>
                  <a:txBody>
                    <a:bodyPr/>
                    <a:lstStyle/>
                    <a:p>
                      <a:pPr algn="ctr" fontAlgn="b"/>
                      <a:r>
                        <a:rPr kumimoji="0" lang="en-GB" sz="2000" b="0" i="0" u="none" strike="noStrike" kern="1200" dirty="0">
                          <a:solidFill>
                            <a:srgbClr val="000000"/>
                          </a:solidFill>
                          <a:effectLst/>
                          <a:latin typeface="Calibri"/>
                          <a:ea typeface="+mn-ea"/>
                          <a:cs typeface="+mn-cs"/>
                        </a:rPr>
                        <a:t>0.05</a:t>
                      </a:r>
                    </a:p>
                  </a:txBody>
                  <a:tcPr marL="9525" marR="9525" marT="9525" marB="0" anchor="ctr"/>
                </a:tc>
                <a:tc>
                  <a:txBody>
                    <a:bodyPr/>
                    <a:lstStyle/>
                    <a:p>
                      <a:pPr algn="ctr" fontAlgn="b"/>
                      <a:r>
                        <a:rPr lang="en-GB" sz="2000" b="0" i="0" u="none" strike="noStrike">
                          <a:solidFill>
                            <a:srgbClr val="000000"/>
                          </a:solidFill>
                          <a:effectLst/>
                          <a:latin typeface="Calibri"/>
                        </a:rPr>
                        <a:t>5.8</a:t>
                      </a:r>
                    </a:p>
                  </a:txBody>
                  <a:tcPr marL="9525" marR="9525" marT="9525" marB="0" anchor="ctr"/>
                </a:tc>
                <a:tc>
                  <a:txBody>
                    <a:bodyPr/>
                    <a:lstStyle/>
                    <a:p>
                      <a:pPr algn="ctr" fontAlgn="b"/>
                      <a:r>
                        <a:rPr lang="en-GB" sz="2000" b="0" i="0" u="none" strike="noStrike" dirty="0">
                          <a:solidFill>
                            <a:srgbClr val="000000"/>
                          </a:solidFill>
                          <a:effectLst/>
                          <a:latin typeface="Calibri"/>
                        </a:rPr>
                        <a:t>0.06</a:t>
                      </a:r>
                    </a:p>
                  </a:txBody>
                  <a:tcPr marL="9525" marR="9525" marT="9525" marB="0" anchor="ctr"/>
                </a:tc>
                <a:extLst>
                  <a:ext uri="{0D108BD9-81ED-4DB2-BD59-A6C34878D82A}">
                    <a16:rowId xmlns:a16="http://schemas.microsoft.com/office/drawing/2014/main" val="10009"/>
                  </a:ext>
                </a:extLst>
              </a:tr>
              <a:tr h="412926">
                <a:tc>
                  <a:txBody>
                    <a:bodyPr/>
                    <a:lstStyle/>
                    <a:p>
                      <a:pPr algn="ctr" fontAlgn="b"/>
                      <a:r>
                        <a:rPr lang="en-GB" sz="2000" b="0" i="0" u="none" strike="noStrike">
                          <a:solidFill>
                            <a:srgbClr val="000000"/>
                          </a:solidFill>
                          <a:effectLst/>
                          <a:latin typeface="Calibri"/>
                        </a:rPr>
                        <a:t>10</a:t>
                      </a:r>
                    </a:p>
                  </a:txBody>
                  <a:tcPr marL="9525" marR="9525" marT="9525" marB="0" anchor="ctr"/>
                </a:tc>
                <a:tc>
                  <a:txBody>
                    <a:bodyPr/>
                    <a:lstStyle/>
                    <a:p>
                      <a:pPr algn="ctr" fontAlgn="b"/>
                      <a:r>
                        <a:rPr kumimoji="0" lang="en-GB" sz="2000" b="0" i="0" u="none" strike="noStrike" kern="1200" dirty="0">
                          <a:solidFill>
                            <a:srgbClr val="000000"/>
                          </a:solidFill>
                          <a:effectLst/>
                          <a:latin typeface="Calibri"/>
                          <a:ea typeface="+mn-ea"/>
                          <a:cs typeface="+mn-cs"/>
                        </a:rPr>
                        <a:t>0.05</a:t>
                      </a:r>
                    </a:p>
                  </a:txBody>
                  <a:tcPr marL="9525" marR="9525" marT="9525" marB="0" anchor="ctr"/>
                </a:tc>
                <a:tc>
                  <a:txBody>
                    <a:bodyPr/>
                    <a:lstStyle/>
                    <a:p>
                      <a:pPr algn="ctr" fontAlgn="b"/>
                      <a:r>
                        <a:rPr lang="en-GB" sz="2000" b="0" i="0" u="none" strike="noStrike">
                          <a:solidFill>
                            <a:srgbClr val="000000"/>
                          </a:solidFill>
                          <a:effectLst/>
                          <a:latin typeface="Calibri"/>
                        </a:rPr>
                        <a:t>6</a:t>
                      </a:r>
                    </a:p>
                  </a:txBody>
                  <a:tcPr marL="9525" marR="9525" marT="9525" marB="0" anchor="ctr"/>
                </a:tc>
                <a:tc>
                  <a:txBody>
                    <a:bodyPr/>
                    <a:lstStyle/>
                    <a:p>
                      <a:pPr algn="ctr" fontAlgn="b"/>
                      <a:r>
                        <a:rPr lang="en-GB" sz="2000" b="0" i="0" u="none" strike="noStrike" dirty="0">
                          <a:solidFill>
                            <a:srgbClr val="000000"/>
                          </a:solidFill>
                          <a:effectLst/>
                          <a:latin typeface="Calibri"/>
                        </a:rPr>
                        <a:t>0.05</a:t>
                      </a:r>
                    </a:p>
                  </a:txBody>
                  <a:tcPr marL="9525" marR="9525" marT="9525" marB="0" anchor="ct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793397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467600" cy="634082"/>
          </a:xfrm>
        </p:spPr>
        <p:txBody>
          <a:bodyPr>
            <a:normAutofit fontScale="90000"/>
          </a:bodyPr>
          <a:lstStyle/>
          <a:p>
            <a:r>
              <a:rPr lang="en-GB" dirty="0"/>
              <a:t>Probabilistic Valuation</a:t>
            </a:r>
          </a:p>
        </p:txBody>
      </p:sp>
      <p:sp>
        <p:nvSpPr>
          <p:cNvPr id="3" name="Content Placeholder 2"/>
          <p:cNvSpPr>
            <a:spLocks noGrp="1"/>
          </p:cNvSpPr>
          <p:nvPr>
            <p:ph idx="1"/>
          </p:nvPr>
        </p:nvSpPr>
        <p:spPr>
          <a:xfrm>
            <a:off x="107504" y="5373216"/>
            <a:ext cx="8280920" cy="792088"/>
          </a:xfrm>
        </p:spPr>
        <p:txBody>
          <a:bodyPr>
            <a:normAutofit lnSpcReduction="10000"/>
          </a:bodyPr>
          <a:lstStyle/>
          <a:p>
            <a:r>
              <a:rPr lang="en-GB" dirty="0"/>
              <a:t>This provides a better picture of potential values we can expect.</a:t>
            </a:r>
          </a:p>
          <a:p>
            <a:r>
              <a:rPr lang="en-GB" dirty="0"/>
              <a:t>The expected value should be given by</a:t>
            </a:r>
          </a:p>
        </p:txBody>
      </p:sp>
      <p:sp>
        <p:nvSpPr>
          <p:cNvPr id="5" name="Slide Number Placeholder 4"/>
          <p:cNvSpPr>
            <a:spLocks noGrp="1"/>
          </p:cNvSpPr>
          <p:nvPr>
            <p:ph type="sldNum" sz="quarter" idx="12"/>
          </p:nvPr>
        </p:nvSpPr>
        <p:spPr/>
        <p:txBody>
          <a:bodyPr/>
          <a:lstStyle/>
          <a:p>
            <a:pPr>
              <a:defRPr/>
            </a:pPr>
            <a:fld id="{C3168C1A-0F73-4148-A9C6-17783D0D792E}" type="slidenum">
              <a:rPr lang="en-GB" smtClean="0"/>
              <a:pPr>
                <a:defRPr/>
              </a:pPr>
              <a:t>26</a:t>
            </a:fld>
            <a:endParaRPr lang="en-GB"/>
          </a:p>
        </p:txBody>
      </p:sp>
      <p:graphicFrame>
        <p:nvGraphicFramePr>
          <p:cNvPr id="4" name="Chart 3"/>
          <p:cNvGraphicFramePr>
            <a:graphicFrameLocks/>
          </p:cNvGraphicFramePr>
          <p:nvPr>
            <p:extLst>
              <p:ext uri="{D42A27DB-BD31-4B8C-83A1-F6EECF244321}">
                <p14:modId xmlns:p14="http://schemas.microsoft.com/office/powerpoint/2010/main" val="4010705875"/>
              </p:ext>
            </p:extLst>
          </p:nvPr>
        </p:nvGraphicFramePr>
        <p:xfrm>
          <a:off x="107504" y="764704"/>
          <a:ext cx="8424935" cy="453650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473935067"/>
              </p:ext>
            </p:extLst>
          </p:nvPr>
        </p:nvGraphicFramePr>
        <p:xfrm>
          <a:off x="2483768" y="6127328"/>
          <a:ext cx="3776346" cy="614040"/>
        </p:xfrm>
        <a:graphic>
          <a:graphicData uri="http://schemas.openxmlformats.org/presentationml/2006/ole">
            <mc:AlternateContent xmlns:mc="http://schemas.openxmlformats.org/markup-compatibility/2006">
              <mc:Choice xmlns:v="urn:schemas-microsoft-com:vml" Requires="v">
                <p:oleObj name="Equation" r:id="rId3" imgW="1562040" imgH="253800" progId="Equation.3">
                  <p:embed/>
                </p:oleObj>
              </mc:Choice>
              <mc:Fallback>
                <p:oleObj name="Equation" r:id="rId3" imgW="1562040" imgH="253800" progId="Equation.3">
                  <p:embed/>
                  <p:pic>
                    <p:nvPicPr>
                      <p:cNvPr id="7" name="Object 6"/>
                      <p:cNvPicPr/>
                      <p:nvPr/>
                    </p:nvPicPr>
                    <p:blipFill>
                      <a:blip r:embed="rId4"/>
                      <a:stretch>
                        <a:fillRect/>
                      </a:stretch>
                    </p:blipFill>
                    <p:spPr>
                      <a:xfrm>
                        <a:off x="2483768" y="6127328"/>
                        <a:ext cx="3776346" cy="614040"/>
                      </a:xfrm>
                      <a:prstGeom prst="rect">
                        <a:avLst/>
                      </a:prstGeom>
                    </p:spPr>
                  </p:pic>
                </p:oleObj>
              </mc:Fallback>
            </mc:AlternateContent>
          </a:graphicData>
        </a:graphic>
      </p:graphicFrame>
    </p:spTree>
    <p:extLst>
      <p:ext uri="{BB962C8B-B14F-4D97-AF65-F5344CB8AC3E}">
        <p14:creationId xmlns:p14="http://schemas.microsoft.com/office/powerpoint/2010/main" val="13687338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7A461-9188-D0C1-4B04-6751A51ABB04}"/>
              </a:ext>
            </a:extLst>
          </p:cNvPr>
          <p:cNvSpPr>
            <a:spLocks noGrp="1"/>
          </p:cNvSpPr>
          <p:nvPr>
            <p:ph type="title"/>
          </p:nvPr>
        </p:nvSpPr>
        <p:spPr/>
        <p:txBody>
          <a:bodyPr/>
          <a:lstStyle/>
          <a:p>
            <a:pPr algn="ctr"/>
            <a:r>
              <a:rPr lang="en-GB" dirty="0"/>
              <a:t>Case Studies</a:t>
            </a:r>
          </a:p>
        </p:txBody>
      </p:sp>
      <p:graphicFrame>
        <p:nvGraphicFramePr>
          <p:cNvPr id="4" name="Content Placeholder 3">
            <a:extLst>
              <a:ext uri="{FF2B5EF4-FFF2-40B4-BE49-F238E27FC236}">
                <a16:creationId xmlns:a16="http://schemas.microsoft.com/office/drawing/2014/main" id="{8CD5135D-9187-9A93-FCAA-407DEFC34394}"/>
              </a:ext>
            </a:extLst>
          </p:cNvPr>
          <p:cNvGraphicFramePr>
            <a:graphicFrameLocks noGrp="1" noChangeAspect="1"/>
          </p:cNvGraphicFramePr>
          <p:nvPr>
            <p:ph idx="1"/>
            <p:extLst>
              <p:ext uri="{D42A27DB-BD31-4B8C-83A1-F6EECF244321}">
                <p14:modId xmlns:p14="http://schemas.microsoft.com/office/powerpoint/2010/main" val="2780103344"/>
              </p:ext>
            </p:extLst>
          </p:nvPr>
        </p:nvGraphicFramePr>
        <p:xfrm>
          <a:off x="323527" y="1916832"/>
          <a:ext cx="3456385" cy="2952328"/>
        </p:xfrm>
        <a:graphic>
          <a:graphicData uri="http://schemas.openxmlformats.org/presentationml/2006/ole">
            <mc:AlternateContent xmlns:mc="http://schemas.openxmlformats.org/markup-compatibility/2006">
              <mc:Choice xmlns:v="urn:schemas-microsoft-com:vml" Requires="v">
                <p:oleObj name="Document" showAsIcon="1" r:id="rId2" imgW="914400" imgH="781000" progId="Word.Document.12">
                  <p:embed/>
                </p:oleObj>
              </mc:Choice>
              <mc:Fallback>
                <p:oleObj name="Document" showAsIcon="1" r:id="rId2" imgW="914400" imgH="781000" progId="Word.Document.12">
                  <p:embed/>
                  <p:pic>
                    <p:nvPicPr>
                      <p:cNvPr id="4" name="Content Placeholder 3">
                        <a:extLst>
                          <a:ext uri="{FF2B5EF4-FFF2-40B4-BE49-F238E27FC236}">
                            <a16:creationId xmlns:a16="http://schemas.microsoft.com/office/drawing/2014/main" id="{8CD5135D-9187-9A93-FCAA-407DEFC34394}"/>
                          </a:ext>
                        </a:extLst>
                      </p:cNvPr>
                      <p:cNvPicPr/>
                      <p:nvPr/>
                    </p:nvPicPr>
                    <p:blipFill>
                      <a:blip r:embed="rId3"/>
                      <a:stretch>
                        <a:fillRect/>
                      </a:stretch>
                    </p:blipFill>
                    <p:spPr>
                      <a:xfrm>
                        <a:off x="323527" y="1916832"/>
                        <a:ext cx="3456385" cy="2952328"/>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02F85D53-A1CD-A289-B235-74CE5083D135}"/>
              </a:ext>
            </a:extLst>
          </p:cNvPr>
          <p:cNvGraphicFramePr>
            <a:graphicFrameLocks noChangeAspect="1"/>
          </p:cNvGraphicFramePr>
          <p:nvPr>
            <p:extLst>
              <p:ext uri="{D42A27DB-BD31-4B8C-83A1-F6EECF244321}">
                <p14:modId xmlns:p14="http://schemas.microsoft.com/office/powerpoint/2010/main" val="3568536120"/>
              </p:ext>
            </p:extLst>
          </p:nvPr>
        </p:nvGraphicFramePr>
        <p:xfrm>
          <a:off x="4453135" y="3710012"/>
          <a:ext cx="3456385" cy="2952329"/>
        </p:xfrm>
        <a:graphic>
          <a:graphicData uri="http://schemas.openxmlformats.org/presentationml/2006/ole">
            <mc:AlternateContent xmlns:mc="http://schemas.openxmlformats.org/markup-compatibility/2006">
              <mc:Choice xmlns:v="urn:schemas-microsoft-com:vml" Requires="v">
                <p:oleObj name="Document" showAsIcon="1" r:id="rId4" imgW="914400" imgH="781000" progId="Word.Document.12">
                  <p:embed/>
                </p:oleObj>
              </mc:Choice>
              <mc:Fallback>
                <p:oleObj name="Document" showAsIcon="1" r:id="rId4" imgW="914400" imgH="781000" progId="Word.Document.12">
                  <p:embed/>
                  <p:pic>
                    <p:nvPicPr>
                      <p:cNvPr id="5" name="Object 4">
                        <a:extLst>
                          <a:ext uri="{FF2B5EF4-FFF2-40B4-BE49-F238E27FC236}">
                            <a16:creationId xmlns:a16="http://schemas.microsoft.com/office/drawing/2014/main" id="{02F85D53-A1CD-A289-B235-74CE5083D135}"/>
                          </a:ext>
                        </a:extLst>
                      </p:cNvPr>
                      <p:cNvPicPr/>
                      <p:nvPr/>
                    </p:nvPicPr>
                    <p:blipFill>
                      <a:blip r:embed="rId5"/>
                      <a:stretch>
                        <a:fillRect/>
                      </a:stretch>
                    </p:blipFill>
                    <p:spPr>
                      <a:xfrm>
                        <a:off x="4453135" y="3710012"/>
                        <a:ext cx="3456385" cy="2952329"/>
                      </a:xfrm>
                      <a:prstGeom prst="rect">
                        <a:avLst/>
                      </a:prstGeom>
                    </p:spPr>
                  </p:pic>
                </p:oleObj>
              </mc:Fallback>
            </mc:AlternateContent>
          </a:graphicData>
        </a:graphic>
      </p:graphicFrame>
    </p:spTree>
    <p:extLst>
      <p:ext uri="{BB962C8B-B14F-4D97-AF65-F5344CB8AC3E}">
        <p14:creationId xmlns:p14="http://schemas.microsoft.com/office/powerpoint/2010/main" val="9339737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121</TotalTime>
  <Words>4196</Words>
  <Application>Microsoft Office PowerPoint</Application>
  <PresentationFormat>On-screen Show (4:3)</PresentationFormat>
  <Paragraphs>375</Paragraphs>
  <Slides>27</Slides>
  <Notes>14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3</vt:i4>
      </vt:variant>
      <vt:variant>
        <vt:lpstr>Slide Titles</vt:lpstr>
      </vt:variant>
      <vt:variant>
        <vt:i4>27</vt:i4>
      </vt:variant>
    </vt:vector>
  </HeadingPairs>
  <TitlesOfParts>
    <vt:vector size="39" baseType="lpstr">
      <vt:lpstr>Arial</vt:lpstr>
      <vt:lpstr>Calibri</vt:lpstr>
      <vt:lpstr>Cambria</vt:lpstr>
      <vt:lpstr>Cambria Math</vt:lpstr>
      <vt:lpstr>Monotype Sorts</vt:lpstr>
      <vt:lpstr>Times</vt:lpstr>
      <vt:lpstr>Wingdings</vt:lpstr>
      <vt:lpstr>Wingdings 2</vt:lpstr>
      <vt:lpstr>Adjacency</vt:lpstr>
      <vt:lpstr>Document</vt:lpstr>
      <vt:lpstr>Equation</vt:lpstr>
      <vt:lpstr>Microsoft Word Document</vt:lpstr>
      <vt:lpstr>Closure in Valuation</vt:lpstr>
      <vt:lpstr>PowerPoint Presentation</vt:lpstr>
      <vt:lpstr>DCF VALUATION INPUTS</vt:lpstr>
      <vt:lpstr>Summarizing the Inputs</vt:lpstr>
      <vt:lpstr>Cash Flows</vt:lpstr>
      <vt:lpstr>Which cash flow should I discount?</vt:lpstr>
      <vt:lpstr>Given cash flows to equity, should I discount dividends or FCFE?</vt:lpstr>
      <vt:lpstr>Discount Rate</vt:lpstr>
      <vt:lpstr>What discount rate should I use?</vt:lpstr>
      <vt:lpstr>Growth Rate and Patterns</vt:lpstr>
      <vt:lpstr>Which Growth Pattern Should I use?</vt:lpstr>
      <vt:lpstr>The Building Blocks of Valuation</vt:lpstr>
      <vt:lpstr>Valuation and Terminal Value</vt:lpstr>
      <vt:lpstr>Stable Growth and Terminal Value</vt:lpstr>
      <vt:lpstr>Estimate A Fair Stable Growth Rate</vt:lpstr>
      <vt:lpstr>Growth Patterns</vt:lpstr>
      <vt:lpstr>Determinants of Growth Patterns</vt:lpstr>
      <vt:lpstr>Generic Formulas</vt:lpstr>
      <vt:lpstr>Stable Growth Model</vt:lpstr>
      <vt:lpstr>2-stage Growth Model</vt:lpstr>
      <vt:lpstr>3-stage Growth Model</vt:lpstr>
      <vt:lpstr>After Valuation: Verification</vt:lpstr>
      <vt:lpstr>Implied Growth Rate</vt:lpstr>
      <vt:lpstr>Implied Growth Rates and Valuation Judgments</vt:lpstr>
      <vt:lpstr>Incorporate Uncertainty Into Estimates-Probabilistic Valuation</vt:lpstr>
      <vt:lpstr>Probabilistic Valuation</vt:lpstr>
      <vt:lpstr>Case Studies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Closure in Valuation</dc:title>
  <dc:creator>MARIFLEUR</dc:creator>
  <cp:lastModifiedBy>KALAITZOGLOU Iordanis</cp:lastModifiedBy>
  <cp:revision>17</cp:revision>
  <dcterms:created xsi:type="dcterms:W3CDTF">2014-02-05T21:48:23Z</dcterms:created>
  <dcterms:modified xsi:type="dcterms:W3CDTF">2026-09-29T14:03:35Z</dcterms:modified>
</cp:coreProperties>
</file>