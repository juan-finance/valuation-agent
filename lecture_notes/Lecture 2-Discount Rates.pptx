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webextensions/webextension1.xml" ContentType="application/vnd.ms-office.webextension+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webextensions/webextension2.xml" ContentType="application/vnd.ms-office.webextension+xml"/>
  <Override PartName="/ppt/notesSlides/notesSlide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7.xml" ContentType="application/vnd.openxmlformats-officedocument.presentationml.notesSlide+xml"/>
  <Override PartName="/ppt/webextensions/webextension3.xml" ContentType="application/vnd.ms-office.webextension+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1.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webextensions/webextension4.xml" ContentType="application/vnd.ms-office.webextension+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5.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webextensions/webextension5.xml" ContentType="application/vnd.ms-office.webextension+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diagrams/data19.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49.xml" ContentType="application/vnd.openxmlformats-officedocument.presentationml.notesSlide+xml"/>
  <Override PartName="/ppt/diagrams/data20.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50.xml" ContentType="application/vnd.openxmlformats-officedocument.presentationml.notesSlide+xml"/>
  <Override PartName="/ppt/diagrams/data21.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2.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3.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webextensions/webextension6.xml" ContentType="application/vnd.ms-office.webextension+xml"/>
  <Override PartName="/ppt/notesSlides/notesSlide55.xml" ContentType="application/vnd.openxmlformats-officedocument.presentationml.notesSlide+xml"/>
  <Override PartName="/ppt/diagrams/data24.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webextensions/webextension7.xml" ContentType="application/vnd.ms-office.webextension+xml"/>
  <Override PartName="/ppt/diagrams/data25.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webextensions/webextension8.xml" ContentType="application/vnd.ms-office.webextension+xml"/>
  <Override PartName="/ppt/notesSlides/notesSlide58.xml" ContentType="application/vnd.openxmlformats-officedocument.presentationml.notesSlide+xml"/>
  <Override PartName="/ppt/ink/ink1.xml" ContentType="application/inkml+xml"/>
  <Override PartName="/ppt/webextensions/webextension9.xml" ContentType="application/vnd.ms-office.webextension+xml"/>
  <Override PartName="/ppt/diagrams/data26.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59.xml" ContentType="application/vnd.openxmlformats-officedocument.presentationml.notesSlide+xml"/>
  <Override PartName="/ppt/diagrams/data27.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8.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diagrams/data29.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diagrams/data18.xml" ContentType="application/vnd.openxmlformats-officedocument.drawingml.diagramData+xml"/>
  <Override PartName="/ppt/diagrams/data221.xml" ContentType="application/vnd.openxmlformats-officedocument.drawingml.diagramData+xml"/>
  <Override PartName="/ppt/diagrams/layout210.xml" ContentType="application/vnd.openxmlformats-officedocument.drawingml.diagramLayout+xml"/>
  <Override PartName="/ppt/diagrams/quickStyle210.xml" ContentType="application/vnd.openxmlformats-officedocument.drawingml.diagramStyle+xml"/>
  <Override PartName="/ppt/diagrams/colors210.xml" ContentType="application/vnd.openxmlformats-officedocument.drawingml.diagramColors+xml"/>
  <Override PartName="/ppt/diagrams/data220.xml" ContentType="application/vnd.openxmlformats-officedocument.drawingml.diagramData+xml"/>
  <Override PartName="/ppt/diagrams/layout220.xml" ContentType="application/vnd.openxmlformats-officedocument.drawingml.diagramLayout+xml"/>
  <Override PartName="/ppt/diagrams/quickStyle220.xml" ContentType="application/vnd.openxmlformats-officedocument.drawingml.diagramStyle+xml"/>
  <Override PartName="/ppt/diagrams/colors220.xml" ContentType="application/vnd.openxmlformats-officedocument.drawingml.diagramCol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6" r:id="rId4"/>
  </p:sldMasterIdLst>
  <p:notesMasterIdLst>
    <p:notesMasterId r:id="rId104"/>
  </p:notesMasterIdLst>
  <p:handoutMasterIdLst>
    <p:handoutMasterId r:id="rId105"/>
  </p:handoutMasterIdLst>
  <p:sldIdLst>
    <p:sldId id="277" r:id="rId5"/>
    <p:sldId id="751" r:id="rId6"/>
    <p:sldId id="541" r:id="rId7"/>
    <p:sldId id="831" r:id="rId8"/>
    <p:sldId id="832" r:id="rId9"/>
    <p:sldId id="285" r:id="rId10"/>
    <p:sldId id="769" r:id="rId11"/>
    <p:sldId id="283" r:id="rId12"/>
    <p:sldId id="287" r:id="rId13"/>
    <p:sldId id="752" r:id="rId14"/>
    <p:sldId id="288" r:id="rId15"/>
    <p:sldId id="833" r:id="rId16"/>
    <p:sldId id="783" r:id="rId17"/>
    <p:sldId id="784" r:id="rId18"/>
    <p:sldId id="785" r:id="rId19"/>
    <p:sldId id="787" r:id="rId20"/>
    <p:sldId id="788" r:id="rId21"/>
    <p:sldId id="786" r:id="rId22"/>
    <p:sldId id="480" r:id="rId23"/>
    <p:sldId id="789" r:id="rId24"/>
    <p:sldId id="834" r:id="rId25"/>
    <p:sldId id="768" r:id="rId26"/>
    <p:sldId id="791" r:id="rId27"/>
    <p:sldId id="837" r:id="rId28"/>
    <p:sldId id="756" r:id="rId29"/>
    <p:sldId id="792" r:id="rId30"/>
    <p:sldId id="793" r:id="rId31"/>
    <p:sldId id="794" r:id="rId32"/>
    <p:sldId id="456" r:id="rId33"/>
    <p:sldId id="795" r:id="rId34"/>
    <p:sldId id="770" r:id="rId35"/>
    <p:sldId id="809" r:id="rId36"/>
    <p:sldId id="812" r:id="rId37"/>
    <p:sldId id="771" r:id="rId38"/>
    <p:sldId id="808" r:id="rId39"/>
    <p:sldId id="772" r:id="rId40"/>
    <p:sldId id="457" r:id="rId41"/>
    <p:sldId id="830" r:id="rId42"/>
    <p:sldId id="828" r:id="rId43"/>
    <p:sldId id="458" r:id="rId44"/>
    <p:sldId id="839" r:id="rId45"/>
    <p:sldId id="817" r:id="rId46"/>
    <p:sldId id="459" r:id="rId47"/>
    <p:sldId id="818" r:id="rId48"/>
    <p:sldId id="819" r:id="rId49"/>
    <p:sldId id="820" r:id="rId50"/>
    <p:sldId id="821" r:id="rId51"/>
    <p:sldId id="822" r:id="rId52"/>
    <p:sldId id="823" r:id="rId53"/>
    <p:sldId id="824" r:id="rId54"/>
    <p:sldId id="596" r:id="rId55"/>
    <p:sldId id="815" r:id="rId56"/>
    <p:sldId id="813" r:id="rId57"/>
    <p:sldId id="689" r:id="rId58"/>
    <p:sldId id="798" r:id="rId59"/>
    <p:sldId id="829" r:id="rId60"/>
    <p:sldId id="691" r:id="rId61"/>
    <p:sldId id="692" r:id="rId62"/>
    <p:sldId id="693" r:id="rId63"/>
    <p:sldId id="696" r:id="rId64"/>
    <p:sldId id="840" r:id="rId65"/>
    <p:sldId id="841" r:id="rId66"/>
    <p:sldId id="471" r:id="rId67"/>
    <p:sldId id="476" r:id="rId68"/>
    <p:sldId id="474" r:id="rId69"/>
    <p:sldId id="698" r:id="rId70"/>
    <p:sldId id="807" r:id="rId71"/>
    <p:sldId id="814" r:id="rId72"/>
    <p:sldId id="477" r:id="rId73"/>
    <p:sldId id="799" r:id="rId74"/>
    <p:sldId id="825" r:id="rId75"/>
    <p:sldId id="699" r:id="rId76"/>
    <p:sldId id="842" r:id="rId77"/>
    <p:sldId id="553" r:id="rId78"/>
    <p:sldId id="838" r:id="rId79"/>
    <p:sldId id="835" r:id="rId80"/>
    <p:sldId id="543" r:id="rId81"/>
    <p:sldId id="702" r:id="rId82"/>
    <p:sldId id="826" r:id="rId83"/>
    <p:sldId id="827" r:id="rId84"/>
    <p:sldId id="810" r:id="rId85"/>
    <p:sldId id="811" r:id="rId86"/>
    <p:sldId id="843" r:id="rId87"/>
    <p:sldId id="800" r:id="rId88"/>
    <p:sldId id="801" r:id="rId89"/>
    <p:sldId id="762" r:id="rId90"/>
    <p:sldId id="802" r:id="rId91"/>
    <p:sldId id="803" r:id="rId92"/>
    <p:sldId id="844" r:id="rId93"/>
    <p:sldId id="836" r:id="rId94"/>
    <p:sldId id="775" r:id="rId95"/>
    <p:sldId id="776" r:id="rId96"/>
    <p:sldId id="777" r:id="rId97"/>
    <p:sldId id="778" r:id="rId98"/>
    <p:sldId id="779" r:id="rId99"/>
    <p:sldId id="805" r:id="rId100"/>
    <p:sldId id="806" r:id="rId101"/>
    <p:sldId id="780" r:id="rId102"/>
    <p:sldId id="781" r:id="rId103"/>
  </p:sldIdLst>
  <p:sldSz cx="9144000" cy="6858000" type="screen4x3"/>
  <p:notesSz cx="9872663" cy="6797675"/>
  <p:defaultTextStyle>
    <a:defPPr>
      <a:defRPr lang="en-US"/>
    </a:defPPr>
    <a:lvl1pPr algn="l" rtl="0" eaLnBrk="0" fontAlgn="base" hangingPunct="0">
      <a:spcBef>
        <a:spcPct val="0"/>
      </a:spcBef>
      <a:spcAft>
        <a:spcPct val="0"/>
      </a:spcAft>
      <a:defRPr sz="2400" kern="1200">
        <a:solidFill>
          <a:schemeClr val="tx1"/>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41">
          <p15:clr>
            <a:srgbClr val="A4A3A4"/>
          </p15:clr>
        </p15:guide>
        <p15:guide id="2" pos="311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v" initials="r"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E854A"/>
    <a:srgbClr val="000000"/>
    <a:srgbClr val="0005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5BA717-275A-477F-A99D-559691EC741F}" v="124" dt="2026-09-13T09:51:10.2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5" autoAdjust="0"/>
    <p:restoredTop sz="84489" autoAdjust="0"/>
  </p:normalViewPr>
  <p:slideViewPr>
    <p:cSldViewPr>
      <p:cViewPr varScale="1">
        <p:scale>
          <a:sx n="58" d="100"/>
          <a:sy n="58" d="100"/>
        </p:scale>
        <p:origin x="1746" y="66"/>
      </p:cViewPr>
      <p:guideLst>
        <p:guide orient="horz" pos="2160"/>
        <p:guide pos="2880"/>
      </p:guideLst>
    </p:cSldViewPr>
  </p:slideViewPr>
  <p:outlineViewPr>
    <p:cViewPr>
      <p:scale>
        <a:sx n="33" d="100"/>
        <a:sy n="33" d="100"/>
      </p:scale>
      <p:origin x="0" y="-43698"/>
    </p:cViewPr>
  </p:outlineViewPr>
  <p:notesTextViewPr>
    <p:cViewPr>
      <p:scale>
        <a:sx n="100" d="100"/>
        <a:sy n="100" d="100"/>
      </p:scale>
      <p:origin x="0" y="0"/>
    </p:cViewPr>
  </p:notesTextViewPr>
  <p:sorterViewPr>
    <p:cViewPr>
      <p:scale>
        <a:sx n="66" d="100"/>
        <a:sy n="66" d="100"/>
      </p:scale>
      <p:origin x="0" y="0"/>
    </p:cViewPr>
  </p:sorterViewPr>
  <p:notesViewPr>
    <p:cSldViewPr>
      <p:cViewPr>
        <p:scale>
          <a:sx n="100" d="100"/>
          <a:sy n="100" d="100"/>
        </p:scale>
        <p:origin x="-2544" y="-96"/>
      </p:cViewPr>
      <p:guideLst>
        <p:guide orient="horz" pos="2141"/>
        <p:guide pos="3111"/>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microsoft.com/office/2015/10/relationships/revisionInfo" Target="revisionInfo.xml"/><Relationship Id="rId16" Type="http://schemas.openxmlformats.org/officeDocument/2006/relationships/slide" Target="slides/slide12.xml"/><Relationship Id="rId107" Type="http://schemas.openxmlformats.org/officeDocument/2006/relationships/presProps" Target="presProps.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viewProps" Target="viewProps.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commentAuthors" Target="commen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theme" Target="theme/theme1.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tableStyles" Target="tableStyle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LAITZOGLOU Iordanis" userId="59a78b65-5149-4b7e-9a03-bcb365d691a2" providerId="ADAL" clId="{DD3CBDC3-F255-4437-BA5F-C63C0C4F1C5E}"/>
    <pc:docChg chg="undo custSel addSld delSld modSld sldOrd">
      <pc:chgData name="KALAITZOGLOU Iordanis" userId="59a78b65-5149-4b7e-9a03-bcb365d691a2" providerId="ADAL" clId="{DD3CBDC3-F255-4437-BA5F-C63C0C4F1C5E}" dt="2026-09-13T09:51:42.850" v="1718" actId="6549"/>
      <pc:docMkLst>
        <pc:docMk/>
      </pc:docMkLst>
      <pc:sldChg chg="del">
        <pc:chgData name="KALAITZOGLOU Iordanis" userId="59a78b65-5149-4b7e-9a03-bcb365d691a2" providerId="ADAL" clId="{DD3CBDC3-F255-4437-BA5F-C63C0C4F1C5E}" dt="2026-09-13T08:44:59.540" v="0" actId="47"/>
        <pc:sldMkLst>
          <pc:docMk/>
          <pc:sldMk cId="0" sldId="279"/>
        </pc:sldMkLst>
      </pc:sldChg>
      <pc:sldChg chg="modSp mod">
        <pc:chgData name="KALAITZOGLOU Iordanis" userId="59a78b65-5149-4b7e-9a03-bcb365d691a2" providerId="ADAL" clId="{DD3CBDC3-F255-4437-BA5F-C63C0C4F1C5E}" dt="2026-09-13T09:01:32.875" v="918" actId="123"/>
        <pc:sldMkLst>
          <pc:docMk/>
          <pc:sldMk cId="0" sldId="287"/>
        </pc:sldMkLst>
        <pc:graphicFrameChg chg="mod modGraphic">
          <ac:chgData name="KALAITZOGLOU Iordanis" userId="59a78b65-5149-4b7e-9a03-bcb365d691a2" providerId="ADAL" clId="{DD3CBDC3-F255-4437-BA5F-C63C0C4F1C5E}" dt="2026-09-13T09:01:32.875" v="918" actId="123"/>
          <ac:graphicFrameMkLst>
            <pc:docMk/>
            <pc:sldMk cId="0" sldId="287"/>
            <ac:graphicFrameMk id="4" creationId="{00000000-0000-0000-0000-000000000000}"/>
          </ac:graphicFrameMkLst>
        </pc:graphicFrameChg>
      </pc:sldChg>
      <pc:sldChg chg="del">
        <pc:chgData name="KALAITZOGLOU Iordanis" userId="59a78b65-5149-4b7e-9a03-bcb365d691a2" providerId="ADAL" clId="{DD3CBDC3-F255-4437-BA5F-C63C0C4F1C5E}" dt="2026-09-13T09:49:33.184" v="1672" actId="47"/>
        <pc:sldMkLst>
          <pc:docMk/>
          <pc:sldMk cId="1876566312" sldId="774"/>
        </pc:sldMkLst>
      </pc:sldChg>
      <pc:sldChg chg="delSp modSp mod">
        <pc:chgData name="KALAITZOGLOU Iordanis" userId="59a78b65-5149-4b7e-9a03-bcb365d691a2" providerId="ADAL" clId="{DD3CBDC3-F255-4437-BA5F-C63C0C4F1C5E}" dt="2026-09-13T09:51:42.850" v="1718" actId="6549"/>
        <pc:sldMkLst>
          <pc:docMk/>
          <pc:sldMk cId="2784811398" sldId="780"/>
        </pc:sldMkLst>
        <pc:spChg chg="mod">
          <ac:chgData name="KALAITZOGLOU Iordanis" userId="59a78b65-5149-4b7e-9a03-bcb365d691a2" providerId="ADAL" clId="{DD3CBDC3-F255-4437-BA5F-C63C0C4F1C5E}" dt="2026-09-13T09:51:42.850" v="1718" actId="6549"/>
          <ac:spMkLst>
            <pc:docMk/>
            <pc:sldMk cId="2784811398" sldId="780"/>
            <ac:spMk id="2" creationId="{00000000-0000-0000-0000-000000000000}"/>
          </ac:spMkLst>
        </pc:spChg>
        <pc:graphicFrameChg chg="del">
          <ac:chgData name="KALAITZOGLOU Iordanis" userId="59a78b65-5149-4b7e-9a03-bcb365d691a2" providerId="ADAL" clId="{DD3CBDC3-F255-4437-BA5F-C63C0C4F1C5E}" dt="2026-09-13T09:51:33.459" v="1707" actId="478"/>
          <ac:graphicFrameMkLst>
            <pc:docMk/>
            <pc:sldMk cId="2784811398" sldId="780"/>
            <ac:graphicFrameMk id="4" creationId="{00000000-0000-0000-0000-000000000000}"/>
          </ac:graphicFrameMkLst>
        </pc:graphicFrameChg>
        <pc:graphicFrameChg chg="del">
          <ac:chgData name="KALAITZOGLOU Iordanis" userId="59a78b65-5149-4b7e-9a03-bcb365d691a2" providerId="ADAL" clId="{DD3CBDC3-F255-4437-BA5F-C63C0C4F1C5E}" dt="2026-09-13T09:51:33.459" v="1707" actId="478"/>
          <ac:graphicFrameMkLst>
            <pc:docMk/>
            <pc:sldMk cId="2784811398" sldId="780"/>
            <ac:graphicFrameMk id="5" creationId="{00000000-0000-0000-0000-000000000000}"/>
          </ac:graphicFrameMkLst>
        </pc:graphicFrameChg>
        <pc:graphicFrameChg chg="del">
          <ac:chgData name="KALAITZOGLOU Iordanis" userId="59a78b65-5149-4b7e-9a03-bcb365d691a2" providerId="ADAL" clId="{DD3CBDC3-F255-4437-BA5F-C63C0C4F1C5E}" dt="2026-09-13T09:51:33.459" v="1707" actId="478"/>
          <ac:graphicFrameMkLst>
            <pc:docMk/>
            <pc:sldMk cId="2784811398" sldId="780"/>
            <ac:graphicFrameMk id="6" creationId="{00000000-0000-0000-0000-000000000000}"/>
          </ac:graphicFrameMkLst>
        </pc:graphicFrameChg>
        <pc:graphicFrameChg chg="del">
          <ac:chgData name="KALAITZOGLOU Iordanis" userId="59a78b65-5149-4b7e-9a03-bcb365d691a2" providerId="ADAL" clId="{DD3CBDC3-F255-4437-BA5F-C63C0C4F1C5E}" dt="2026-09-13T09:51:33.459" v="1707" actId="478"/>
          <ac:graphicFrameMkLst>
            <pc:docMk/>
            <pc:sldMk cId="2784811398" sldId="780"/>
            <ac:graphicFrameMk id="7" creationId="{00000000-0000-0000-0000-000000000000}"/>
          </ac:graphicFrameMkLst>
        </pc:graphicFrameChg>
      </pc:sldChg>
      <pc:sldChg chg="ord">
        <pc:chgData name="KALAITZOGLOU Iordanis" userId="59a78b65-5149-4b7e-9a03-bcb365d691a2" providerId="ADAL" clId="{DD3CBDC3-F255-4437-BA5F-C63C0C4F1C5E}" dt="2026-09-13T09:10:54.978" v="963"/>
        <pc:sldMkLst>
          <pc:docMk/>
          <pc:sldMk cId="3331411865" sldId="789"/>
        </pc:sldMkLst>
      </pc:sldChg>
      <pc:sldChg chg="del ord">
        <pc:chgData name="KALAITZOGLOU Iordanis" userId="59a78b65-5149-4b7e-9a03-bcb365d691a2" providerId="ADAL" clId="{DD3CBDC3-F255-4437-BA5F-C63C0C4F1C5E}" dt="2026-09-13T09:15:37.741" v="1211" actId="47"/>
        <pc:sldMkLst>
          <pc:docMk/>
          <pc:sldMk cId="3291580219" sldId="790"/>
        </pc:sldMkLst>
      </pc:sldChg>
      <pc:sldChg chg="del">
        <pc:chgData name="KALAITZOGLOU Iordanis" userId="59a78b65-5149-4b7e-9a03-bcb365d691a2" providerId="ADAL" clId="{DD3CBDC3-F255-4437-BA5F-C63C0C4F1C5E}" dt="2026-09-13T09:13:43.861" v="1095" actId="47"/>
        <pc:sldMkLst>
          <pc:docMk/>
          <pc:sldMk cId="3318667309" sldId="796"/>
        </pc:sldMkLst>
      </pc:sldChg>
      <pc:sldChg chg="addSp modSp new mod">
        <pc:chgData name="KALAITZOGLOU Iordanis" userId="59a78b65-5149-4b7e-9a03-bcb365d691a2" providerId="ADAL" clId="{DD3CBDC3-F255-4437-BA5F-C63C0C4F1C5E}" dt="2026-09-13T08:52:49.733" v="439" actId="1037"/>
        <pc:sldMkLst>
          <pc:docMk/>
          <pc:sldMk cId="1724074355" sldId="831"/>
        </pc:sldMkLst>
        <pc:spChg chg="mod">
          <ac:chgData name="KALAITZOGLOU Iordanis" userId="59a78b65-5149-4b7e-9a03-bcb365d691a2" providerId="ADAL" clId="{DD3CBDC3-F255-4437-BA5F-C63C0C4F1C5E}" dt="2026-09-13T08:45:19.806" v="61" actId="20577"/>
          <ac:spMkLst>
            <pc:docMk/>
            <pc:sldMk cId="1724074355" sldId="831"/>
            <ac:spMk id="2" creationId="{173D0751-5610-439F-A51F-4CAD170939B1}"/>
          </ac:spMkLst>
        </pc:spChg>
        <pc:spChg chg="mod">
          <ac:chgData name="KALAITZOGLOU Iordanis" userId="59a78b65-5149-4b7e-9a03-bcb365d691a2" providerId="ADAL" clId="{DD3CBDC3-F255-4437-BA5F-C63C0C4F1C5E}" dt="2026-09-13T08:49:15.135" v="247" actId="1076"/>
          <ac:spMkLst>
            <pc:docMk/>
            <pc:sldMk cId="1724074355" sldId="831"/>
            <ac:spMk id="3" creationId="{1109AD19-0588-1100-1E86-D35F852DBA6C}"/>
          </ac:spMkLst>
        </pc:spChg>
        <pc:spChg chg="add mod">
          <ac:chgData name="KALAITZOGLOU Iordanis" userId="59a78b65-5149-4b7e-9a03-bcb365d691a2" providerId="ADAL" clId="{DD3CBDC3-F255-4437-BA5F-C63C0C4F1C5E}" dt="2026-09-13T08:50:55.751" v="424" actId="13822"/>
          <ac:spMkLst>
            <pc:docMk/>
            <pc:sldMk cId="1724074355" sldId="831"/>
            <ac:spMk id="4" creationId="{4C098A0F-B19B-FE34-0F5F-618CA15BC072}"/>
          </ac:spMkLst>
        </pc:spChg>
        <pc:spChg chg="add mod">
          <ac:chgData name="KALAITZOGLOU Iordanis" userId="59a78b65-5149-4b7e-9a03-bcb365d691a2" providerId="ADAL" clId="{DD3CBDC3-F255-4437-BA5F-C63C0C4F1C5E}" dt="2026-09-13T08:51:27.740" v="428" actId="13822"/>
          <ac:spMkLst>
            <pc:docMk/>
            <pc:sldMk cId="1724074355" sldId="831"/>
            <ac:spMk id="6" creationId="{B2F95E63-4061-4718-2B49-7ABFA0302CB8}"/>
          </ac:spMkLst>
        </pc:spChg>
        <pc:spChg chg="add mod">
          <ac:chgData name="KALAITZOGLOU Iordanis" userId="59a78b65-5149-4b7e-9a03-bcb365d691a2" providerId="ADAL" clId="{DD3CBDC3-F255-4437-BA5F-C63C0C4F1C5E}" dt="2026-09-13T08:50:31.944" v="419" actId="1076"/>
          <ac:spMkLst>
            <pc:docMk/>
            <pc:sldMk cId="1724074355" sldId="831"/>
            <ac:spMk id="8" creationId="{1E2E8054-5F57-A037-30D3-C644AD2B48E3}"/>
          </ac:spMkLst>
        </pc:spChg>
        <pc:spChg chg="add mod">
          <ac:chgData name="KALAITZOGLOU Iordanis" userId="59a78b65-5149-4b7e-9a03-bcb365d691a2" providerId="ADAL" clId="{DD3CBDC3-F255-4437-BA5F-C63C0C4F1C5E}" dt="2026-09-13T08:52:43.743" v="438" actId="208"/>
          <ac:spMkLst>
            <pc:docMk/>
            <pc:sldMk cId="1724074355" sldId="831"/>
            <ac:spMk id="18" creationId="{CA8B532B-1B31-2261-2934-7ED21DDF8E28}"/>
          </ac:spMkLst>
        </pc:spChg>
        <pc:cxnChg chg="add mod">
          <ac:chgData name="KALAITZOGLOU Iordanis" userId="59a78b65-5149-4b7e-9a03-bcb365d691a2" providerId="ADAL" clId="{DD3CBDC3-F255-4437-BA5F-C63C0C4F1C5E}" dt="2026-09-13T08:51:20.335" v="427" actId="14100"/>
          <ac:cxnSpMkLst>
            <pc:docMk/>
            <pc:sldMk cId="1724074355" sldId="831"/>
            <ac:cxnSpMk id="10" creationId="{CD1DC8E5-8BC1-0D45-A927-750B77C5A307}"/>
          </ac:cxnSpMkLst>
        </pc:cxnChg>
        <pc:cxnChg chg="add mod">
          <ac:chgData name="KALAITZOGLOU Iordanis" userId="59a78b65-5149-4b7e-9a03-bcb365d691a2" providerId="ADAL" clId="{DD3CBDC3-F255-4437-BA5F-C63C0C4F1C5E}" dt="2026-09-13T08:51:38.556" v="431" actId="14100"/>
          <ac:cxnSpMkLst>
            <pc:docMk/>
            <pc:sldMk cId="1724074355" sldId="831"/>
            <ac:cxnSpMk id="12" creationId="{B6D4DCE7-9B1A-F9F9-D5AE-EDDAFC1EEF5B}"/>
          </ac:cxnSpMkLst>
        </pc:cxnChg>
        <pc:cxnChg chg="add mod">
          <ac:chgData name="KALAITZOGLOU Iordanis" userId="59a78b65-5149-4b7e-9a03-bcb365d691a2" providerId="ADAL" clId="{DD3CBDC3-F255-4437-BA5F-C63C0C4F1C5E}" dt="2026-09-13T08:52:49.733" v="439" actId="1037"/>
          <ac:cxnSpMkLst>
            <pc:docMk/>
            <pc:sldMk cId="1724074355" sldId="831"/>
            <ac:cxnSpMk id="16" creationId="{D53CBFAF-B31C-044B-C726-B5C8D5A794DE}"/>
          </ac:cxnSpMkLst>
        </pc:cxnChg>
      </pc:sldChg>
      <pc:sldChg chg="addSp delSp modSp new mod">
        <pc:chgData name="KALAITZOGLOU Iordanis" userId="59a78b65-5149-4b7e-9a03-bcb365d691a2" providerId="ADAL" clId="{DD3CBDC3-F255-4437-BA5F-C63C0C4F1C5E}" dt="2026-09-13T08:54:31.458" v="466" actId="14100"/>
        <pc:sldMkLst>
          <pc:docMk/>
          <pc:sldMk cId="3638042707" sldId="832"/>
        </pc:sldMkLst>
        <pc:spChg chg="mod">
          <ac:chgData name="KALAITZOGLOU Iordanis" userId="59a78b65-5149-4b7e-9a03-bcb365d691a2" providerId="ADAL" clId="{DD3CBDC3-F255-4437-BA5F-C63C0C4F1C5E}" dt="2026-09-13T08:53:51.753" v="464" actId="20577"/>
          <ac:spMkLst>
            <pc:docMk/>
            <pc:sldMk cId="3638042707" sldId="832"/>
            <ac:spMk id="2" creationId="{0D358101-E028-9B65-095C-BE083873FE93}"/>
          </ac:spMkLst>
        </pc:spChg>
        <pc:spChg chg="del">
          <ac:chgData name="KALAITZOGLOU Iordanis" userId="59a78b65-5149-4b7e-9a03-bcb365d691a2" providerId="ADAL" clId="{DD3CBDC3-F255-4437-BA5F-C63C0C4F1C5E}" dt="2026-09-13T08:53:56.090" v="465" actId="546"/>
          <ac:spMkLst>
            <pc:docMk/>
            <pc:sldMk cId="3638042707" sldId="832"/>
            <ac:spMk id="3" creationId="{F2B59D38-7183-843C-3CB6-93E3C0DA6BF4}"/>
          </ac:spMkLst>
        </pc:spChg>
        <pc:graphicFrameChg chg="add mod">
          <ac:chgData name="KALAITZOGLOU Iordanis" userId="59a78b65-5149-4b7e-9a03-bcb365d691a2" providerId="ADAL" clId="{DD3CBDC3-F255-4437-BA5F-C63C0C4F1C5E}" dt="2026-09-13T08:54:31.458" v="466" actId="14100"/>
          <ac:graphicFrameMkLst>
            <pc:docMk/>
            <pc:sldMk cId="3638042707" sldId="832"/>
            <ac:graphicFrameMk id="4" creationId="{43BA974E-538F-CFBA-2A1B-A2380A55F238}"/>
          </ac:graphicFrameMkLst>
        </pc:graphicFrameChg>
      </pc:sldChg>
      <pc:sldChg chg="addSp delSp modSp new mod">
        <pc:chgData name="KALAITZOGLOU Iordanis" userId="59a78b65-5149-4b7e-9a03-bcb365d691a2" providerId="ADAL" clId="{DD3CBDC3-F255-4437-BA5F-C63C0C4F1C5E}" dt="2026-09-13T09:09:24.489" v="953" actId="14100"/>
        <pc:sldMkLst>
          <pc:docMk/>
          <pc:sldMk cId="2502166447" sldId="833"/>
        </pc:sldMkLst>
        <pc:spChg chg="mod">
          <ac:chgData name="KALAITZOGLOU Iordanis" userId="59a78b65-5149-4b7e-9a03-bcb365d691a2" providerId="ADAL" clId="{DD3CBDC3-F255-4437-BA5F-C63C0C4F1C5E}" dt="2026-09-13T09:08:29.647" v="952" actId="20577"/>
          <ac:spMkLst>
            <pc:docMk/>
            <pc:sldMk cId="2502166447" sldId="833"/>
            <ac:spMk id="2" creationId="{8C395FCF-8DB1-2A30-5729-B60EFC9888CE}"/>
          </ac:spMkLst>
        </pc:spChg>
        <pc:spChg chg="del">
          <ac:chgData name="KALAITZOGLOU Iordanis" userId="59a78b65-5149-4b7e-9a03-bcb365d691a2" providerId="ADAL" clId="{DD3CBDC3-F255-4437-BA5F-C63C0C4F1C5E}" dt="2026-09-13T09:07:28.292" v="943" actId="546"/>
          <ac:spMkLst>
            <pc:docMk/>
            <pc:sldMk cId="2502166447" sldId="833"/>
            <ac:spMk id="3" creationId="{9600D082-23E7-46BB-15C7-B37726AB20CB}"/>
          </ac:spMkLst>
        </pc:spChg>
        <pc:graphicFrameChg chg="add mod">
          <ac:chgData name="KALAITZOGLOU Iordanis" userId="59a78b65-5149-4b7e-9a03-bcb365d691a2" providerId="ADAL" clId="{DD3CBDC3-F255-4437-BA5F-C63C0C4F1C5E}" dt="2026-09-13T09:09:24.489" v="953" actId="14100"/>
          <ac:graphicFrameMkLst>
            <pc:docMk/>
            <pc:sldMk cId="2502166447" sldId="833"/>
            <ac:graphicFrameMk id="4" creationId="{8C93DD93-FBA0-5E8F-29A9-AC815C408E3E}"/>
          </ac:graphicFrameMkLst>
        </pc:graphicFrameChg>
      </pc:sldChg>
      <pc:sldChg chg="addSp delSp modSp new mod modClrScheme chgLayout">
        <pc:chgData name="KALAITZOGLOU Iordanis" userId="59a78b65-5149-4b7e-9a03-bcb365d691a2" providerId="ADAL" clId="{DD3CBDC3-F255-4437-BA5F-C63C0C4F1C5E}" dt="2026-09-13T09:12:39.415" v="1040" actId="14100"/>
        <pc:sldMkLst>
          <pc:docMk/>
          <pc:sldMk cId="2129522129" sldId="834"/>
        </pc:sldMkLst>
        <pc:spChg chg="del mod ord">
          <ac:chgData name="KALAITZOGLOU Iordanis" userId="59a78b65-5149-4b7e-9a03-bcb365d691a2" providerId="ADAL" clId="{DD3CBDC3-F255-4437-BA5F-C63C0C4F1C5E}" dt="2026-09-13T09:11:35.499" v="965" actId="700"/>
          <ac:spMkLst>
            <pc:docMk/>
            <pc:sldMk cId="2129522129" sldId="834"/>
            <ac:spMk id="2" creationId="{D43A7D5E-0BEC-7FA8-E8C3-4C86F75F8813}"/>
          </ac:spMkLst>
        </pc:spChg>
        <pc:spChg chg="del mod ord">
          <ac:chgData name="KALAITZOGLOU Iordanis" userId="59a78b65-5149-4b7e-9a03-bcb365d691a2" providerId="ADAL" clId="{DD3CBDC3-F255-4437-BA5F-C63C0C4F1C5E}" dt="2026-09-13T09:11:35.499" v="965" actId="700"/>
          <ac:spMkLst>
            <pc:docMk/>
            <pc:sldMk cId="2129522129" sldId="834"/>
            <ac:spMk id="3" creationId="{8D8DC88D-B667-F61C-442E-679FEC8EE6E8}"/>
          </ac:spMkLst>
        </pc:spChg>
        <pc:spChg chg="add del mod ord">
          <ac:chgData name="KALAITZOGLOU Iordanis" userId="59a78b65-5149-4b7e-9a03-bcb365d691a2" providerId="ADAL" clId="{DD3CBDC3-F255-4437-BA5F-C63C0C4F1C5E}" dt="2026-09-13T09:11:38.872" v="966" actId="700"/>
          <ac:spMkLst>
            <pc:docMk/>
            <pc:sldMk cId="2129522129" sldId="834"/>
            <ac:spMk id="4" creationId="{49E6B75F-054E-8817-5694-A0806C2F9446}"/>
          </ac:spMkLst>
        </pc:spChg>
        <pc:spChg chg="add del mod ord">
          <ac:chgData name="KALAITZOGLOU Iordanis" userId="59a78b65-5149-4b7e-9a03-bcb365d691a2" providerId="ADAL" clId="{DD3CBDC3-F255-4437-BA5F-C63C0C4F1C5E}" dt="2026-09-13T09:11:38.872" v="966" actId="700"/>
          <ac:spMkLst>
            <pc:docMk/>
            <pc:sldMk cId="2129522129" sldId="834"/>
            <ac:spMk id="5" creationId="{44855B45-A347-FC75-4472-ABDD3A913901}"/>
          </ac:spMkLst>
        </pc:spChg>
        <pc:spChg chg="add mod ord">
          <ac:chgData name="KALAITZOGLOU Iordanis" userId="59a78b65-5149-4b7e-9a03-bcb365d691a2" providerId="ADAL" clId="{DD3CBDC3-F255-4437-BA5F-C63C0C4F1C5E}" dt="2026-09-13T09:12:39.415" v="1040" actId="14100"/>
          <ac:spMkLst>
            <pc:docMk/>
            <pc:sldMk cId="2129522129" sldId="834"/>
            <ac:spMk id="6" creationId="{0D9F5F21-E323-F54E-32F2-BDA73B9B9E0F}"/>
          </ac:spMkLst>
        </pc:spChg>
        <pc:spChg chg="add mod ord">
          <ac:chgData name="KALAITZOGLOU Iordanis" userId="59a78b65-5149-4b7e-9a03-bcb365d691a2" providerId="ADAL" clId="{DD3CBDC3-F255-4437-BA5F-C63C0C4F1C5E}" dt="2026-09-13T09:12:24.839" v="1038" actId="1076"/>
          <ac:spMkLst>
            <pc:docMk/>
            <pc:sldMk cId="2129522129" sldId="834"/>
            <ac:spMk id="7" creationId="{DF50C2D2-24D9-FA43-136F-5C1A8A893E78}"/>
          </ac:spMkLst>
        </pc:spChg>
        <pc:graphicFrameChg chg="add mod">
          <ac:chgData name="KALAITZOGLOU Iordanis" userId="59a78b65-5149-4b7e-9a03-bcb365d691a2" providerId="ADAL" clId="{DD3CBDC3-F255-4437-BA5F-C63C0C4F1C5E}" dt="2026-09-13T09:12:34.334" v="1039" actId="1076"/>
          <ac:graphicFrameMkLst>
            <pc:docMk/>
            <pc:sldMk cId="2129522129" sldId="834"/>
            <ac:graphicFrameMk id="9" creationId="{0751422E-8592-A794-6C5E-70F3F7C5A25C}"/>
          </ac:graphicFrameMkLst>
        </pc:graphicFrameChg>
      </pc:sldChg>
      <pc:sldChg chg="modSp add mod">
        <pc:chgData name="KALAITZOGLOU Iordanis" userId="59a78b65-5149-4b7e-9a03-bcb365d691a2" providerId="ADAL" clId="{DD3CBDC3-F255-4437-BA5F-C63C0C4F1C5E}" dt="2026-09-13T09:15:22.108" v="1210" actId="20577"/>
        <pc:sldMkLst>
          <pc:docMk/>
          <pc:sldMk cId="3817662025" sldId="835"/>
        </pc:sldMkLst>
        <pc:spChg chg="mod">
          <ac:chgData name="KALAITZOGLOU Iordanis" userId="59a78b65-5149-4b7e-9a03-bcb365d691a2" providerId="ADAL" clId="{DD3CBDC3-F255-4437-BA5F-C63C0C4F1C5E}" dt="2026-09-13T09:15:03.433" v="1192" actId="20577"/>
          <ac:spMkLst>
            <pc:docMk/>
            <pc:sldMk cId="3817662025" sldId="835"/>
            <ac:spMk id="6" creationId="{851C28F0-EB2E-D655-8B9A-8B5B920EC78E}"/>
          </ac:spMkLst>
        </pc:spChg>
        <pc:spChg chg="mod">
          <ac:chgData name="KALAITZOGLOU Iordanis" userId="59a78b65-5149-4b7e-9a03-bcb365d691a2" providerId="ADAL" clId="{DD3CBDC3-F255-4437-BA5F-C63C0C4F1C5E}" dt="2026-09-13T09:15:22.108" v="1210" actId="20577"/>
          <ac:spMkLst>
            <pc:docMk/>
            <pc:sldMk cId="3817662025" sldId="835"/>
            <ac:spMk id="7" creationId="{39F98819-F731-9A5B-8465-3F13226C93EC}"/>
          </ac:spMkLst>
        </pc:spChg>
        <pc:graphicFrameChg chg="modGraphic">
          <ac:chgData name="KALAITZOGLOU Iordanis" userId="59a78b65-5149-4b7e-9a03-bcb365d691a2" providerId="ADAL" clId="{DD3CBDC3-F255-4437-BA5F-C63C0C4F1C5E}" dt="2026-09-13T09:13:34.447" v="1094" actId="20577"/>
          <ac:graphicFrameMkLst>
            <pc:docMk/>
            <pc:sldMk cId="3817662025" sldId="835"/>
            <ac:graphicFrameMk id="9" creationId="{2247961D-732E-DBED-87C5-AC5823EB3D54}"/>
          </ac:graphicFrameMkLst>
        </pc:graphicFrameChg>
      </pc:sldChg>
      <pc:sldChg chg="modSp add mod">
        <pc:chgData name="KALAITZOGLOU Iordanis" userId="59a78b65-5149-4b7e-9a03-bcb365d691a2" providerId="ADAL" clId="{DD3CBDC3-F255-4437-BA5F-C63C0C4F1C5E}" dt="2026-09-13T09:14:53.824" v="1188" actId="20577"/>
        <pc:sldMkLst>
          <pc:docMk/>
          <pc:sldMk cId="1822227211" sldId="836"/>
        </pc:sldMkLst>
        <pc:spChg chg="mod">
          <ac:chgData name="KALAITZOGLOU Iordanis" userId="59a78b65-5149-4b7e-9a03-bcb365d691a2" providerId="ADAL" clId="{DD3CBDC3-F255-4437-BA5F-C63C0C4F1C5E}" dt="2026-09-13T09:14:03.878" v="1116" actId="20577"/>
          <ac:spMkLst>
            <pc:docMk/>
            <pc:sldMk cId="1822227211" sldId="836"/>
            <ac:spMk id="6" creationId="{A332F8DF-473C-A00C-13FA-B7D1F75B7278}"/>
          </ac:spMkLst>
        </pc:spChg>
        <pc:spChg chg="mod">
          <ac:chgData name="KALAITZOGLOU Iordanis" userId="59a78b65-5149-4b7e-9a03-bcb365d691a2" providerId="ADAL" clId="{DD3CBDC3-F255-4437-BA5F-C63C0C4F1C5E}" dt="2026-09-13T09:14:24.050" v="1129" actId="20577"/>
          <ac:spMkLst>
            <pc:docMk/>
            <pc:sldMk cId="1822227211" sldId="836"/>
            <ac:spMk id="7" creationId="{653EBA9B-4C1A-7B21-1F3E-ECFC4C76032A}"/>
          </ac:spMkLst>
        </pc:spChg>
        <pc:graphicFrameChg chg="modGraphic">
          <ac:chgData name="KALAITZOGLOU Iordanis" userId="59a78b65-5149-4b7e-9a03-bcb365d691a2" providerId="ADAL" clId="{DD3CBDC3-F255-4437-BA5F-C63C0C4F1C5E}" dt="2026-09-13T09:14:53.824" v="1188" actId="20577"/>
          <ac:graphicFrameMkLst>
            <pc:docMk/>
            <pc:sldMk cId="1822227211" sldId="836"/>
            <ac:graphicFrameMk id="9" creationId="{F58181D6-8B0C-1E7E-0436-D1FC973420F7}"/>
          </ac:graphicFrameMkLst>
        </pc:graphicFrameChg>
      </pc:sldChg>
      <pc:sldChg chg="addSp delSp modSp new mod">
        <pc:chgData name="KALAITZOGLOU Iordanis" userId="59a78b65-5149-4b7e-9a03-bcb365d691a2" providerId="ADAL" clId="{DD3CBDC3-F255-4437-BA5F-C63C0C4F1C5E}" dt="2026-09-13T09:27:23.086" v="1239" actId="14100"/>
        <pc:sldMkLst>
          <pc:docMk/>
          <pc:sldMk cId="2836596456" sldId="837"/>
        </pc:sldMkLst>
        <pc:spChg chg="mod">
          <ac:chgData name="KALAITZOGLOU Iordanis" userId="59a78b65-5149-4b7e-9a03-bcb365d691a2" providerId="ADAL" clId="{DD3CBDC3-F255-4437-BA5F-C63C0C4F1C5E}" dt="2026-09-13T09:16:00.522" v="1237" actId="20577"/>
          <ac:spMkLst>
            <pc:docMk/>
            <pc:sldMk cId="2836596456" sldId="837"/>
            <ac:spMk id="2" creationId="{54ED334A-A2BA-A0DE-9076-8010335FC454}"/>
          </ac:spMkLst>
        </pc:spChg>
        <pc:spChg chg="del">
          <ac:chgData name="KALAITZOGLOU Iordanis" userId="59a78b65-5149-4b7e-9a03-bcb365d691a2" providerId="ADAL" clId="{DD3CBDC3-F255-4437-BA5F-C63C0C4F1C5E}" dt="2026-09-13T09:25:56.205" v="1238" actId="546"/>
          <ac:spMkLst>
            <pc:docMk/>
            <pc:sldMk cId="2836596456" sldId="837"/>
            <ac:spMk id="3" creationId="{ACEF8105-5C7D-3650-5D83-52EDF8F2C226}"/>
          </ac:spMkLst>
        </pc:spChg>
        <pc:graphicFrameChg chg="add mod">
          <ac:chgData name="KALAITZOGLOU Iordanis" userId="59a78b65-5149-4b7e-9a03-bcb365d691a2" providerId="ADAL" clId="{DD3CBDC3-F255-4437-BA5F-C63C0C4F1C5E}" dt="2026-09-13T09:27:23.086" v="1239" actId="14100"/>
          <ac:graphicFrameMkLst>
            <pc:docMk/>
            <pc:sldMk cId="2836596456" sldId="837"/>
            <ac:graphicFrameMk id="4" creationId="{EA435620-794E-B0B0-D4C9-42E3967A90D9}"/>
          </ac:graphicFrameMkLst>
        </pc:graphicFrameChg>
      </pc:sldChg>
      <pc:sldChg chg="add">
        <pc:chgData name="KALAITZOGLOU Iordanis" userId="59a78b65-5149-4b7e-9a03-bcb365d691a2" providerId="ADAL" clId="{DD3CBDC3-F255-4437-BA5F-C63C0C4F1C5E}" dt="2026-09-13T09:28:16.846" v="1240"/>
        <pc:sldMkLst>
          <pc:docMk/>
          <pc:sldMk cId="3335295889" sldId="838"/>
        </pc:sldMkLst>
      </pc:sldChg>
      <pc:sldChg chg="addSp delSp modSp new mod">
        <pc:chgData name="KALAITZOGLOU Iordanis" userId="59a78b65-5149-4b7e-9a03-bcb365d691a2" providerId="ADAL" clId="{DD3CBDC3-F255-4437-BA5F-C63C0C4F1C5E}" dt="2026-09-13T09:34:32.616" v="1270" actId="14100"/>
        <pc:sldMkLst>
          <pc:docMk/>
          <pc:sldMk cId="3169797039" sldId="839"/>
        </pc:sldMkLst>
        <pc:spChg chg="mod">
          <ac:chgData name="KALAITZOGLOU Iordanis" userId="59a78b65-5149-4b7e-9a03-bcb365d691a2" providerId="ADAL" clId="{DD3CBDC3-F255-4437-BA5F-C63C0C4F1C5E}" dt="2026-09-13T09:29:39.581" v="1268" actId="20577"/>
          <ac:spMkLst>
            <pc:docMk/>
            <pc:sldMk cId="3169797039" sldId="839"/>
            <ac:spMk id="2" creationId="{A162E833-C6D6-6B69-5C29-9963EF6CE9A4}"/>
          </ac:spMkLst>
        </pc:spChg>
        <pc:spChg chg="del">
          <ac:chgData name="KALAITZOGLOU Iordanis" userId="59a78b65-5149-4b7e-9a03-bcb365d691a2" providerId="ADAL" clId="{DD3CBDC3-F255-4437-BA5F-C63C0C4F1C5E}" dt="2026-09-13T09:29:44.267" v="1269" actId="546"/>
          <ac:spMkLst>
            <pc:docMk/>
            <pc:sldMk cId="3169797039" sldId="839"/>
            <ac:spMk id="3" creationId="{388FD2F1-67F5-709A-A3FB-CD6565C0EE94}"/>
          </ac:spMkLst>
        </pc:spChg>
        <pc:graphicFrameChg chg="add mod">
          <ac:chgData name="KALAITZOGLOU Iordanis" userId="59a78b65-5149-4b7e-9a03-bcb365d691a2" providerId="ADAL" clId="{DD3CBDC3-F255-4437-BA5F-C63C0C4F1C5E}" dt="2026-09-13T09:34:32.616" v="1270" actId="14100"/>
          <ac:graphicFrameMkLst>
            <pc:docMk/>
            <pc:sldMk cId="3169797039" sldId="839"/>
            <ac:graphicFrameMk id="4" creationId="{5F685E82-B1A2-3C3E-E1DA-93DA21DA8E45}"/>
          </ac:graphicFrameMkLst>
        </pc:graphicFrameChg>
      </pc:sldChg>
      <pc:sldChg chg="addSp delSp modSp new mod">
        <pc:chgData name="KALAITZOGLOU Iordanis" userId="59a78b65-5149-4b7e-9a03-bcb365d691a2" providerId="ADAL" clId="{DD3CBDC3-F255-4437-BA5F-C63C0C4F1C5E}" dt="2026-09-13T09:41:22.639" v="1595" actId="790"/>
        <pc:sldMkLst>
          <pc:docMk/>
          <pc:sldMk cId="1860370981" sldId="840"/>
        </pc:sldMkLst>
        <pc:spChg chg="mod">
          <ac:chgData name="KALAITZOGLOU Iordanis" userId="59a78b65-5149-4b7e-9a03-bcb365d691a2" providerId="ADAL" clId="{DD3CBDC3-F255-4437-BA5F-C63C0C4F1C5E}" dt="2026-09-13T09:38:51.711" v="1501" actId="1076"/>
          <ac:spMkLst>
            <pc:docMk/>
            <pc:sldMk cId="1860370981" sldId="840"/>
            <ac:spMk id="2" creationId="{7D0205DC-81EE-CBE8-6421-EA13908289F4}"/>
          </ac:spMkLst>
        </pc:spChg>
        <pc:spChg chg="del mod">
          <ac:chgData name="KALAITZOGLOU Iordanis" userId="59a78b65-5149-4b7e-9a03-bcb365d691a2" providerId="ADAL" clId="{DD3CBDC3-F255-4437-BA5F-C63C0C4F1C5E}" dt="2026-09-13T09:38:09.838" v="1495" actId="12084"/>
          <ac:spMkLst>
            <pc:docMk/>
            <pc:sldMk cId="1860370981" sldId="840"/>
            <ac:spMk id="3" creationId="{A9125090-A445-7F95-7253-38F045EE72AF}"/>
          </ac:spMkLst>
        </pc:spChg>
        <pc:graphicFrameChg chg="add mod modGraphic">
          <ac:chgData name="KALAITZOGLOU Iordanis" userId="59a78b65-5149-4b7e-9a03-bcb365d691a2" providerId="ADAL" clId="{DD3CBDC3-F255-4437-BA5F-C63C0C4F1C5E}" dt="2026-09-13T09:41:22.639" v="1595" actId="790"/>
          <ac:graphicFrameMkLst>
            <pc:docMk/>
            <pc:sldMk cId="1860370981" sldId="840"/>
            <ac:graphicFrameMk id="4" creationId="{1B37394D-3719-D227-F5E9-B65FB074DAE1}"/>
          </ac:graphicFrameMkLst>
        </pc:graphicFrameChg>
      </pc:sldChg>
      <pc:sldChg chg="addSp delSp modSp new mod">
        <pc:chgData name="KALAITZOGLOU Iordanis" userId="59a78b65-5149-4b7e-9a03-bcb365d691a2" providerId="ADAL" clId="{DD3CBDC3-F255-4437-BA5F-C63C0C4F1C5E}" dt="2026-09-13T09:43:31.409" v="1597" actId="14100"/>
        <pc:sldMkLst>
          <pc:docMk/>
          <pc:sldMk cId="2861252647" sldId="841"/>
        </pc:sldMkLst>
        <pc:spChg chg="mod">
          <ac:chgData name="KALAITZOGLOU Iordanis" userId="59a78b65-5149-4b7e-9a03-bcb365d691a2" providerId="ADAL" clId="{DD3CBDC3-F255-4437-BA5F-C63C0C4F1C5E}" dt="2026-09-13T09:39:12.989" v="1529" actId="20577"/>
          <ac:spMkLst>
            <pc:docMk/>
            <pc:sldMk cId="2861252647" sldId="841"/>
            <ac:spMk id="2" creationId="{B2B5026B-E02E-74C9-A4AD-4ED3F6238A69}"/>
          </ac:spMkLst>
        </pc:spChg>
        <pc:spChg chg="del">
          <ac:chgData name="KALAITZOGLOU Iordanis" userId="59a78b65-5149-4b7e-9a03-bcb365d691a2" providerId="ADAL" clId="{DD3CBDC3-F255-4437-BA5F-C63C0C4F1C5E}" dt="2026-09-13T09:41:42.918" v="1596" actId="546"/>
          <ac:spMkLst>
            <pc:docMk/>
            <pc:sldMk cId="2861252647" sldId="841"/>
            <ac:spMk id="3" creationId="{BA1D0093-4169-6F43-E8CD-C4AFA10000E2}"/>
          </ac:spMkLst>
        </pc:spChg>
        <pc:graphicFrameChg chg="add mod">
          <ac:chgData name="KALAITZOGLOU Iordanis" userId="59a78b65-5149-4b7e-9a03-bcb365d691a2" providerId="ADAL" clId="{DD3CBDC3-F255-4437-BA5F-C63C0C4F1C5E}" dt="2026-09-13T09:43:31.409" v="1597" actId="14100"/>
          <ac:graphicFrameMkLst>
            <pc:docMk/>
            <pc:sldMk cId="2861252647" sldId="841"/>
            <ac:graphicFrameMk id="4" creationId="{2808EEAA-E550-679F-15AB-A742A95D8642}"/>
          </ac:graphicFrameMkLst>
        </pc:graphicFrameChg>
      </pc:sldChg>
      <pc:sldChg chg="addSp delSp modSp new mod">
        <pc:chgData name="KALAITZOGLOU Iordanis" userId="59a78b65-5149-4b7e-9a03-bcb365d691a2" providerId="ADAL" clId="{DD3CBDC3-F255-4437-BA5F-C63C0C4F1C5E}" dt="2026-09-13T09:46:37.380" v="1628" actId="14100"/>
        <pc:sldMkLst>
          <pc:docMk/>
          <pc:sldMk cId="3999471773" sldId="842"/>
        </pc:sldMkLst>
        <pc:spChg chg="mod">
          <ac:chgData name="KALAITZOGLOU Iordanis" userId="59a78b65-5149-4b7e-9a03-bcb365d691a2" providerId="ADAL" clId="{DD3CBDC3-F255-4437-BA5F-C63C0C4F1C5E}" dt="2026-09-13T09:44:11.403" v="1626" actId="20577"/>
          <ac:spMkLst>
            <pc:docMk/>
            <pc:sldMk cId="3999471773" sldId="842"/>
            <ac:spMk id="2" creationId="{28178012-F3B9-5157-7D90-A8B615C7AB46}"/>
          </ac:spMkLst>
        </pc:spChg>
        <pc:spChg chg="del">
          <ac:chgData name="KALAITZOGLOU Iordanis" userId="59a78b65-5149-4b7e-9a03-bcb365d691a2" providerId="ADAL" clId="{DD3CBDC3-F255-4437-BA5F-C63C0C4F1C5E}" dt="2026-09-13T09:44:21.230" v="1627" actId="546"/>
          <ac:spMkLst>
            <pc:docMk/>
            <pc:sldMk cId="3999471773" sldId="842"/>
            <ac:spMk id="3" creationId="{7C8A138E-1B4C-A388-6425-48A8BBA9D0B5}"/>
          </ac:spMkLst>
        </pc:spChg>
        <pc:graphicFrameChg chg="add mod">
          <ac:chgData name="KALAITZOGLOU Iordanis" userId="59a78b65-5149-4b7e-9a03-bcb365d691a2" providerId="ADAL" clId="{DD3CBDC3-F255-4437-BA5F-C63C0C4F1C5E}" dt="2026-09-13T09:46:37.380" v="1628" actId="14100"/>
          <ac:graphicFrameMkLst>
            <pc:docMk/>
            <pc:sldMk cId="3999471773" sldId="842"/>
            <ac:graphicFrameMk id="4" creationId="{9A89CE72-3F87-79E9-51B0-E5617333A3C5}"/>
          </ac:graphicFrameMkLst>
        </pc:graphicFrameChg>
      </pc:sldChg>
      <pc:sldChg chg="addSp delSp modSp new mod">
        <pc:chgData name="KALAITZOGLOU Iordanis" userId="59a78b65-5149-4b7e-9a03-bcb365d691a2" providerId="ADAL" clId="{DD3CBDC3-F255-4437-BA5F-C63C0C4F1C5E}" dt="2026-09-13T09:49:07.668" v="1671" actId="14100"/>
        <pc:sldMkLst>
          <pc:docMk/>
          <pc:sldMk cId="769694733" sldId="843"/>
        </pc:sldMkLst>
        <pc:spChg chg="mod">
          <ac:chgData name="KALAITZOGLOU Iordanis" userId="59a78b65-5149-4b7e-9a03-bcb365d691a2" providerId="ADAL" clId="{DD3CBDC3-F255-4437-BA5F-C63C0C4F1C5E}" dt="2026-09-13T09:47:46.370" v="1669" actId="20577"/>
          <ac:spMkLst>
            <pc:docMk/>
            <pc:sldMk cId="769694733" sldId="843"/>
            <ac:spMk id="2" creationId="{A2AF7CCB-BDD8-AE25-B7B1-F61330E735C1}"/>
          </ac:spMkLst>
        </pc:spChg>
        <pc:spChg chg="del">
          <ac:chgData name="KALAITZOGLOU Iordanis" userId="59a78b65-5149-4b7e-9a03-bcb365d691a2" providerId="ADAL" clId="{DD3CBDC3-F255-4437-BA5F-C63C0C4F1C5E}" dt="2026-09-13T09:47:50.504" v="1670" actId="546"/>
          <ac:spMkLst>
            <pc:docMk/>
            <pc:sldMk cId="769694733" sldId="843"/>
            <ac:spMk id="3" creationId="{54AA1E53-0E14-C12E-2539-E55376734CD6}"/>
          </ac:spMkLst>
        </pc:spChg>
        <pc:graphicFrameChg chg="add mod">
          <ac:chgData name="KALAITZOGLOU Iordanis" userId="59a78b65-5149-4b7e-9a03-bcb365d691a2" providerId="ADAL" clId="{DD3CBDC3-F255-4437-BA5F-C63C0C4F1C5E}" dt="2026-09-13T09:49:07.668" v="1671" actId="14100"/>
          <ac:graphicFrameMkLst>
            <pc:docMk/>
            <pc:sldMk cId="769694733" sldId="843"/>
            <ac:graphicFrameMk id="4" creationId="{0C72B0E2-431D-3AB6-38F4-1C2CBA38E91B}"/>
          </ac:graphicFrameMkLst>
        </pc:graphicFrameChg>
      </pc:sldChg>
      <pc:sldChg chg="addSp delSp modSp new mod">
        <pc:chgData name="KALAITZOGLOU Iordanis" userId="59a78b65-5149-4b7e-9a03-bcb365d691a2" providerId="ADAL" clId="{DD3CBDC3-F255-4437-BA5F-C63C0C4F1C5E}" dt="2026-09-13T09:50:03.889" v="1706" actId="546"/>
        <pc:sldMkLst>
          <pc:docMk/>
          <pc:sldMk cId="2632646519" sldId="844"/>
        </pc:sldMkLst>
        <pc:spChg chg="mod">
          <ac:chgData name="KALAITZOGLOU Iordanis" userId="59a78b65-5149-4b7e-9a03-bcb365d691a2" providerId="ADAL" clId="{DD3CBDC3-F255-4437-BA5F-C63C0C4F1C5E}" dt="2026-09-13T09:49:59.272" v="1705" actId="20577"/>
          <ac:spMkLst>
            <pc:docMk/>
            <pc:sldMk cId="2632646519" sldId="844"/>
            <ac:spMk id="2" creationId="{9F9555B2-08E7-F41D-C70F-812B13C82E72}"/>
          </ac:spMkLst>
        </pc:spChg>
        <pc:spChg chg="del">
          <ac:chgData name="KALAITZOGLOU Iordanis" userId="59a78b65-5149-4b7e-9a03-bcb365d691a2" providerId="ADAL" clId="{DD3CBDC3-F255-4437-BA5F-C63C0C4F1C5E}" dt="2026-09-13T09:50:03.889" v="1706" actId="546"/>
          <ac:spMkLst>
            <pc:docMk/>
            <pc:sldMk cId="2632646519" sldId="844"/>
            <ac:spMk id="3" creationId="{9F04E4C8-8C89-856A-1EBA-578349412FE9}"/>
          </ac:spMkLst>
        </pc:spChg>
        <pc:graphicFrameChg chg="add">
          <ac:chgData name="KALAITZOGLOU Iordanis" userId="59a78b65-5149-4b7e-9a03-bcb365d691a2" providerId="ADAL" clId="{DD3CBDC3-F255-4437-BA5F-C63C0C4F1C5E}" dt="2026-09-13T09:50:03.889" v="1706" actId="546"/>
          <ac:graphicFrameMkLst>
            <pc:docMk/>
            <pc:sldMk cId="2632646519" sldId="844"/>
            <ac:graphicFrameMk id="4" creationId="{B388AC4F-CD6E-ABDE-EF1F-0EC76269099B}"/>
          </ac:graphicFrameMkLst>
        </pc:graphicFrameChg>
      </pc:sldChg>
    </pc:docChg>
  </pc:docChgLst>
</pc:chgInfo>
</file>

<file path=ppt/charts/_rels/chart1.xml.rels><?xml version="1.0" encoding="UTF-8" standalone="yes"?>
<Relationships xmlns="http://schemas.openxmlformats.org/package/2006/relationships"><Relationship Id="rId2" Type="http://schemas.openxmlformats.org/officeDocument/2006/relationships/oleObject" Target="Macintosh%20HD:All%20My%20Stuff:TEACHING:EqFall2008:riskfree.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3" Type="http://schemas.openxmlformats.org/officeDocument/2006/relationships/oleObject" Target="Worksheet%20in%20Lecture%202-Discount%20Rates-2021"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oleObject" Target="Worksheet%20in%20Lecture%202-Discount%20Rates-2021"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oleObject" Target="Worksheet%20in%20Lecture%202-Discount%20Rates-2021"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18"/>
    </mc:Choice>
    <mc:Fallback>
      <c:style val="18"/>
    </mc:Fallback>
  </mc:AlternateContent>
  <c:clrMapOvr bg1="lt1" tx1="dk1" bg2="lt2" tx2="dk2" accent1="accent1" accent2="accent2" accent3="accent3" accent4="accent4" accent5="accent5" accent6="accent6" hlink="hlink" folHlink="folHlink"/>
  <c:chart>
    <c:title>
      <c:tx>
        <c:rich>
          <a:bodyPr/>
          <a:lstStyle/>
          <a:p>
            <a:pPr>
              <a:defRPr/>
            </a:pPr>
            <a:r>
              <a:rPr lang="en-US"/>
              <a:t>US Treasuries</a:t>
            </a:r>
          </a:p>
        </c:rich>
      </c:tx>
      <c:overlay val="0"/>
    </c:title>
    <c:autoTitleDeleted val="0"/>
    <c:view3D>
      <c:rotX val="15"/>
      <c:rotY val="20"/>
      <c:rAngAx val="1"/>
    </c:view3D>
    <c:floor>
      <c:thickness val="0"/>
    </c:floor>
    <c:sideWall>
      <c:thickness val="0"/>
    </c:sideWall>
    <c:backWall>
      <c:thickness val="0"/>
    </c:backWall>
    <c:plotArea>
      <c:layout/>
      <c:bar3DChart>
        <c:barDir val="col"/>
        <c:grouping val="clustered"/>
        <c:varyColors val="0"/>
        <c:dLbls>
          <c:showLegendKey val="0"/>
          <c:showVal val="0"/>
          <c:showCatName val="0"/>
          <c:showSerName val="0"/>
          <c:showPercent val="0"/>
          <c:showBubbleSize val="0"/>
        </c:dLbls>
        <c:gapWidth val="150"/>
        <c:shape val="box"/>
        <c:axId val="151514496"/>
        <c:axId val="151515056"/>
        <c:axId val="0"/>
      </c:bar3DChart>
      <c:catAx>
        <c:axId val="151514496"/>
        <c:scaling>
          <c:orientation val="minMax"/>
        </c:scaling>
        <c:delete val="0"/>
        <c:axPos val="b"/>
        <c:majorTickMark val="out"/>
        <c:minorTickMark val="none"/>
        <c:tickLblPos val="nextTo"/>
        <c:crossAx val="151515056"/>
        <c:crosses val="autoZero"/>
        <c:auto val="1"/>
        <c:lblAlgn val="ctr"/>
        <c:lblOffset val="100"/>
        <c:noMultiLvlLbl val="0"/>
      </c:catAx>
      <c:valAx>
        <c:axId val="151515056"/>
        <c:scaling>
          <c:orientation val="minMax"/>
        </c:scaling>
        <c:delete val="0"/>
        <c:axPos val="l"/>
        <c:majorGridlines/>
        <c:numFmt formatCode="0.00%" sourceLinked="1"/>
        <c:majorTickMark val="out"/>
        <c:minorTickMark val="none"/>
        <c:tickLblPos val="nextTo"/>
        <c:crossAx val="151514496"/>
        <c:crosses val="autoZero"/>
        <c:crossBetween val="between"/>
      </c:valAx>
    </c:plotArea>
    <c:plotVisOnly val="1"/>
    <c:dispBlanksAs val="gap"/>
    <c:showDLblsOverMax val="0"/>
  </c:chart>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pivotSource>
    <c:name>[Worksheet in Lecture 2-Discount Rates-2021]Sheet1!PivotTable2</c:name>
    <c:fmtId val="-1"/>
  </c:pivotSource>
  <c:chart>
    <c:autoTitleDeleted val="0"/>
    <c:pivotFmts>
      <c:pivotFmt>
        <c:idx val="0"/>
        <c:spPr>
          <a:solidFill>
            <a:schemeClr val="accent1"/>
          </a:solidFill>
          <a:ln>
            <a:noFill/>
          </a:ln>
          <a:effectLst/>
          <a:scene3d>
            <a:camera prst="orthographicFront" fov="0">
              <a:rot lat="0" lon="0" rev="0"/>
            </a:camera>
            <a:lightRig rig="soft" dir="b">
              <a:rot lat="0" lon="0" rev="0"/>
            </a:lightRig>
          </a:scene3d>
          <a:sp3d prstMaterial="dkEdge">
            <a:bevelT w="63500" h="63500" prst="cross"/>
            <a:contourClr>
              <a:scrgbClr r="0" g="0" b="0"/>
            </a:contourClr>
          </a:sp3d>
        </c:spPr>
        <c:marker>
          <c:symbol val="none"/>
        </c:marker>
      </c:pivotFmt>
      <c:pivotFmt>
        <c:idx val="1"/>
        <c:spPr>
          <a:solidFill>
            <a:schemeClr val="accent1"/>
          </a:solidFill>
          <a:ln>
            <a:noFill/>
          </a:ln>
          <a:effectLst/>
          <a:scene3d>
            <a:camera prst="orthographicFront" fov="0">
              <a:rot lat="0" lon="0" rev="0"/>
            </a:camera>
            <a:lightRig rig="soft" dir="b">
              <a:rot lat="0" lon="0" rev="0"/>
            </a:lightRig>
          </a:scene3d>
          <a:sp3d prstMaterial="dkEdge">
            <a:bevelT w="63500" h="63500" prst="cross"/>
            <a:contourClr>
              <a:scrgbClr r="0" g="0" b="0"/>
            </a:contourClr>
          </a:sp3d>
        </c:spPr>
        <c:marker>
          <c:symbol val="none"/>
        </c:marker>
      </c:pivotFmt>
      <c:pivotFmt>
        <c:idx val="2"/>
        <c:spPr>
          <a:solidFill>
            <a:schemeClr val="accent1"/>
          </a:solidFill>
          <a:ln>
            <a:noFill/>
          </a:ln>
          <a:effectLst/>
          <a:scene3d>
            <a:camera prst="orthographicFront" fov="0">
              <a:rot lat="0" lon="0" rev="0"/>
            </a:camera>
            <a:lightRig rig="soft" dir="b">
              <a:rot lat="0" lon="0" rev="0"/>
            </a:lightRig>
          </a:scene3d>
          <a:sp3d prstMaterial="dkEdge">
            <a:bevelT w="63500" h="63500" prst="cross"/>
            <a:contourClr>
              <a:scrgbClr r="0" g="0" b="0"/>
            </a:contourClr>
          </a:sp3d>
        </c:spPr>
        <c:marker>
          <c:symbol val="none"/>
        </c:marker>
      </c:pivotFmt>
      <c:pivotFmt>
        <c:idx val="3"/>
        <c:spPr>
          <a:solidFill>
            <a:schemeClr val="accent1"/>
          </a:solidFill>
          <a:ln>
            <a:noFill/>
          </a:ln>
          <a:effectLst/>
          <a:scene3d>
            <a:camera prst="orthographicFront" fov="0">
              <a:rot lat="0" lon="0" rev="0"/>
            </a:camera>
            <a:lightRig rig="soft" dir="b">
              <a:rot lat="0" lon="0" rev="0"/>
            </a:lightRig>
          </a:scene3d>
          <a:sp3d prstMaterial="dkEdge">
            <a:bevelT w="63500" h="63500" prst="cross"/>
            <a:contourClr>
              <a:scrgbClr r="0" g="0" b="0"/>
            </a:contourClr>
          </a:sp3d>
        </c:spPr>
        <c:marker>
          <c:symbol val="none"/>
        </c:marker>
      </c:pivotFmt>
      <c:pivotFmt>
        <c:idx val="4"/>
        <c:spPr>
          <a:solidFill>
            <a:schemeClr val="accent1"/>
          </a:solidFill>
          <a:ln>
            <a:noFill/>
          </a:ln>
          <a:effectLst/>
          <a:scene3d>
            <a:camera prst="orthographicFront" fov="0">
              <a:rot lat="0" lon="0" rev="0"/>
            </a:camera>
            <a:lightRig rig="soft" dir="b">
              <a:rot lat="0" lon="0" rev="0"/>
            </a:lightRig>
          </a:scene3d>
          <a:sp3d prstMaterial="dkEdge">
            <a:bevelT w="63500" h="63500" prst="cross"/>
            <a:contourClr>
              <a:scrgbClr r="0" g="0" b="0"/>
            </a:contourClr>
          </a:sp3d>
        </c:spPr>
        <c:marker>
          <c:symbol val="none"/>
        </c:marker>
      </c:pivotFmt>
      <c:pivotFmt>
        <c:idx val="5"/>
        <c:spPr>
          <a:solidFill>
            <a:schemeClr val="accent1"/>
          </a:solidFill>
          <a:ln>
            <a:noFill/>
          </a:ln>
          <a:effectLst/>
          <a:scene3d>
            <a:camera prst="orthographicFront" fov="0">
              <a:rot lat="0" lon="0" rev="0"/>
            </a:camera>
            <a:lightRig rig="soft" dir="b">
              <a:rot lat="0" lon="0" rev="0"/>
            </a:lightRig>
          </a:scene3d>
          <a:sp3d prstMaterial="dkEdge">
            <a:bevelT w="63500" h="63500" prst="cross"/>
            <a:contourClr>
              <a:scrgbClr r="0" g="0" b="0"/>
            </a:contourClr>
          </a:sp3d>
        </c:spPr>
        <c:marker>
          <c:symbol val="none"/>
        </c:marker>
      </c:pivotFmt>
      <c:pivotFmt>
        <c:idx val="6"/>
        <c:spPr>
          <a:solidFill>
            <a:schemeClr val="accent1"/>
          </a:solidFill>
          <a:ln>
            <a:noFill/>
          </a:ln>
          <a:effectLst/>
          <a:scene3d>
            <a:camera prst="orthographicFront" fov="0">
              <a:rot lat="0" lon="0" rev="0"/>
            </a:camera>
            <a:lightRig rig="soft" dir="b">
              <a:rot lat="0" lon="0" rev="0"/>
            </a:lightRig>
          </a:scene3d>
          <a:sp3d prstMaterial="dkEdge">
            <a:bevelT w="63500" h="63500" prst="cross"/>
            <a:contourClr>
              <a:scrgbClr r="0" g="0" b="0"/>
            </a:contourClr>
          </a:sp3d>
        </c:spPr>
        <c:marker>
          <c:symbol val="none"/>
        </c:marker>
      </c:pivotFmt>
      <c:pivotFmt>
        <c:idx val="7"/>
        <c:spPr>
          <a:solidFill>
            <a:schemeClr val="accent1"/>
          </a:solidFill>
          <a:ln>
            <a:noFill/>
          </a:ln>
          <a:effectLst/>
          <a:scene3d>
            <a:camera prst="orthographicFront" fov="0">
              <a:rot lat="0" lon="0" rev="0"/>
            </a:camera>
            <a:lightRig rig="soft" dir="b">
              <a:rot lat="0" lon="0" rev="0"/>
            </a:lightRig>
          </a:scene3d>
          <a:sp3d prstMaterial="dkEdge">
            <a:bevelT w="63500" h="63500" prst="cross"/>
            <a:contourClr>
              <a:scrgbClr r="0" g="0" b="0"/>
            </a:contourClr>
          </a:sp3d>
        </c:spPr>
        <c:marker>
          <c:symbol val="none"/>
        </c:marker>
      </c:pivotFmt>
      <c:pivotFmt>
        <c:idx val="8"/>
        <c:spPr>
          <a:solidFill>
            <a:schemeClr val="accent1"/>
          </a:solidFill>
          <a:ln>
            <a:noFill/>
          </a:ln>
          <a:effectLst/>
          <a:scene3d>
            <a:camera prst="orthographicFront" fov="0">
              <a:rot lat="0" lon="0" rev="0"/>
            </a:camera>
            <a:lightRig rig="soft" dir="b">
              <a:rot lat="0" lon="0" rev="0"/>
            </a:lightRig>
          </a:scene3d>
          <a:sp3d prstMaterial="dkEdge">
            <a:bevelT w="63500" h="63500" prst="cross"/>
            <a:contourClr>
              <a:scrgbClr r="0" g="0" b="0"/>
            </a:contourClr>
          </a:sp3d>
        </c:spPr>
        <c:marker>
          <c:symbol val="none"/>
        </c:marker>
      </c:pivotFmt>
      <c:pivotFmt>
        <c:idx val="9"/>
        <c:spPr>
          <a:solidFill>
            <a:schemeClr val="accent1"/>
          </a:solidFill>
          <a:ln>
            <a:noFill/>
          </a:ln>
          <a:effectLst/>
          <a:scene3d>
            <a:camera prst="orthographicFront" fov="0">
              <a:rot lat="0" lon="0" rev="0"/>
            </a:camera>
            <a:lightRig rig="soft" dir="b">
              <a:rot lat="0" lon="0" rev="0"/>
            </a:lightRig>
          </a:scene3d>
          <a:sp3d prstMaterial="dkEdge">
            <a:bevelT w="63500" h="63500" prst="cross"/>
            <a:contourClr>
              <a:scrgbClr r="0" g="0" b="0"/>
            </a:contourClr>
          </a:sp3d>
        </c:spPr>
        <c:marker>
          <c:symbol val="none"/>
        </c:marker>
      </c:pivotFmt>
      <c:pivotFmt>
        <c:idx val="10"/>
        <c:spPr>
          <a:solidFill>
            <a:schemeClr val="accent1"/>
          </a:solidFill>
          <a:ln>
            <a:noFill/>
          </a:ln>
          <a:effectLst/>
          <a:scene3d>
            <a:camera prst="orthographicFront" fov="0">
              <a:rot lat="0" lon="0" rev="0"/>
            </a:camera>
            <a:lightRig rig="soft" dir="b">
              <a:rot lat="0" lon="0" rev="0"/>
            </a:lightRig>
          </a:scene3d>
          <a:sp3d prstMaterial="dkEdge">
            <a:bevelT w="63500" h="63500" prst="cross"/>
            <a:contourClr>
              <a:scrgbClr r="0" g="0" b="0"/>
            </a:contourClr>
          </a:sp3d>
        </c:spPr>
        <c:marker>
          <c:symbol val="none"/>
        </c:marker>
      </c:pivotFmt>
      <c:pivotFmt>
        <c:idx val="11"/>
        <c:spPr>
          <a:solidFill>
            <a:schemeClr val="accent1"/>
          </a:solidFill>
          <a:ln>
            <a:noFill/>
          </a:ln>
          <a:effectLst/>
          <a:scene3d>
            <a:camera prst="orthographicFront" fov="0">
              <a:rot lat="0" lon="0" rev="0"/>
            </a:camera>
            <a:lightRig rig="soft" dir="b">
              <a:rot lat="0" lon="0" rev="0"/>
            </a:lightRig>
          </a:scene3d>
          <a:sp3d prstMaterial="dkEdge">
            <a:bevelT w="63500" h="63500" prst="cross"/>
            <a:contourClr>
              <a:scrgbClr r="0" g="0" b="0"/>
            </a:contourClr>
          </a:sp3d>
        </c:spPr>
        <c:marker>
          <c:symbol val="none"/>
        </c:marker>
      </c:pivotFmt>
      <c:pivotFmt>
        <c:idx val="12"/>
        <c:spPr>
          <a:solidFill>
            <a:schemeClr val="accent1"/>
          </a:solidFill>
          <a:ln>
            <a:noFill/>
          </a:ln>
          <a:effectLst/>
          <a:scene3d>
            <a:camera prst="orthographicFront" fov="0">
              <a:rot lat="0" lon="0" rev="0"/>
            </a:camera>
            <a:lightRig rig="soft" dir="b">
              <a:rot lat="0" lon="0" rev="0"/>
            </a:lightRig>
          </a:scene3d>
          <a:sp3d prstMaterial="dkEdge">
            <a:bevelT w="63500" h="63500" prst="cross"/>
            <a:contourClr>
              <a:scrgbClr r="0" g="0" b="0"/>
            </a:contourClr>
          </a:sp3d>
        </c:spPr>
        <c:marker>
          <c:symbol val="none"/>
        </c:marker>
      </c:pivotFmt>
      <c:pivotFmt>
        <c:idx val="13"/>
        <c:spPr>
          <a:solidFill>
            <a:schemeClr val="accent1"/>
          </a:solidFill>
          <a:ln>
            <a:noFill/>
          </a:ln>
          <a:effectLst/>
          <a:scene3d>
            <a:camera prst="orthographicFront" fov="0">
              <a:rot lat="0" lon="0" rev="0"/>
            </a:camera>
            <a:lightRig rig="soft" dir="b">
              <a:rot lat="0" lon="0" rev="0"/>
            </a:lightRig>
          </a:scene3d>
          <a:sp3d prstMaterial="dkEdge">
            <a:bevelT w="63500" h="63500" prst="cross"/>
            <a:contourClr>
              <a:scrgbClr r="0" g="0" b="0"/>
            </a:contourClr>
          </a:sp3d>
        </c:spPr>
        <c:marker>
          <c:symbol val="none"/>
        </c:marker>
      </c:pivotFmt>
      <c:pivotFmt>
        <c:idx val="14"/>
        <c:spPr>
          <a:solidFill>
            <a:schemeClr val="accent1"/>
          </a:solidFill>
          <a:ln>
            <a:noFill/>
          </a:ln>
          <a:effectLst/>
          <a:scene3d>
            <a:camera prst="orthographicFront" fov="0">
              <a:rot lat="0" lon="0" rev="0"/>
            </a:camera>
            <a:lightRig rig="soft" dir="b">
              <a:rot lat="0" lon="0" rev="0"/>
            </a:lightRig>
          </a:scene3d>
          <a:sp3d prstMaterial="dkEdge">
            <a:bevelT w="63500" h="63500" prst="cross"/>
            <a:contourClr>
              <a:scrgbClr r="0" g="0" b="0"/>
            </a:contourClr>
          </a:sp3d>
        </c:spPr>
        <c:marker>
          <c:symbol val="none"/>
        </c:marker>
      </c:pivotFmt>
    </c:pivotFmts>
    <c:plotArea>
      <c:layout/>
      <c:barChart>
        <c:barDir val="col"/>
        <c:grouping val="clustered"/>
        <c:varyColors val="0"/>
        <c:ser>
          <c:idx val="0"/>
          <c:order val="0"/>
          <c:tx>
            <c:strRef>
              <c:f>Sheet1!$H$9:$H$10</c:f>
              <c:strCache>
                <c:ptCount val="1"/>
                <c:pt idx="0">
                  <c:v> smaller and riskier firms</c:v>
                </c:pt>
              </c:strCache>
            </c:strRef>
          </c:tx>
          <c:spPr>
            <a:solidFill>
              <a:schemeClr val="accent1">
                <a:tint val="95000"/>
              </a:schemeClr>
            </a:solidFill>
            <a:ln>
              <a:noFill/>
            </a:ln>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rgbClr r="0" g="0" b="0"/>
              </a:contourClr>
            </a:sp3d>
          </c:spPr>
          <c:invertIfNegative val="0"/>
          <c:cat>
            <c:strRef>
              <c:f>Sheet1!$G$11:$G$25</c:f>
              <c:strCache>
                <c:ptCount val="14"/>
                <c:pt idx="0">
                  <c:v>Aaa/AAA</c:v>
                </c:pt>
                <c:pt idx="1">
                  <c:v>Aa2/AA</c:v>
                </c:pt>
                <c:pt idx="2">
                  <c:v>A1/A+</c:v>
                </c:pt>
                <c:pt idx="3">
                  <c:v>A2/A</c:v>
                </c:pt>
                <c:pt idx="4">
                  <c:v>A3/A-</c:v>
                </c:pt>
                <c:pt idx="5">
                  <c:v>Baa2/BBB</c:v>
                </c:pt>
                <c:pt idx="6">
                  <c:v>Ba1/BB+</c:v>
                </c:pt>
                <c:pt idx="7">
                  <c:v>Ba2/BB</c:v>
                </c:pt>
                <c:pt idx="8">
                  <c:v>B1/B+</c:v>
                </c:pt>
                <c:pt idx="9">
                  <c:v>B2/B</c:v>
                </c:pt>
                <c:pt idx="10">
                  <c:v>B3/B-</c:v>
                </c:pt>
                <c:pt idx="11">
                  <c:v>Caa/CCC</c:v>
                </c:pt>
                <c:pt idx="12">
                  <c:v>Ca2/CC</c:v>
                </c:pt>
                <c:pt idx="13">
                  <c:v>C2/C</c:v>
                </c:pt>
              </c:strCache>
            </c:strRef>
          </c:cat>
          <c:val>
            <c:numRef>
              <c:f>Sheet1!$H$11:$H$25</c:f>
              <c:numCache>
                <c:formatCode>General</c:formatCode>
                <c:ptCount val="14"/>
                <c:pt idx="0">
                  <c:v>12.5</c:v>
                </c:pt>
                <c:pt idx="1">
                  <c:v>9.5</c:v>
                </c:pt>
                <c:pt idx="2">
                  <c:v>7.5</c:v>
                </c:pt>
                <c:pt idx="3">
                  <c:v>6</c:v>
                </c:pt>
                <c:pt idx="4">
                  <c:v>4.5</c:v>
                </c:pt>
                <c:pt idx="5">
                  <c:v>4</c:v>
                </c:pt>
                <c:pt idx="6">
                  <c:v>3.5</c:v>
                </c:pt>
                <c:pt idx="7">
                  <c:v>3</c:v>
                </c:pt>
                <c:pt idx="8">
                  <c:v>2.5</c:v>
                </c:pt>
                <c:pt idx="9">
                  <c:v>2</c:v>
                </c:pt>
                <c:pt idx="10">
                  <c:v>1.5</c:v>
                </c:pt>
                <c:pt idx="11">
                  <c:v>1.25</c:v>
                </c:pt>
                <c:pt idx="12">
                  <c:v>0.8</c:v>
                </c:pt>
                <c:pt idx="13">
                  <c:v>0.5</c:v>
                </c:pt>
              </c:numCache>
            </c:numRef>
          </c:val>
          <c:extLst>
            <c:ext xmlns:c16="http://schemas.microsoft.com/office/drawing/2014/chart" uri="{C3380CC4-5D6E-409C-BE32-E72D297353CC}">
              <c16:uniqueId val="{00000000-31CB-412C-9BA7-E2BBF7130AD9}"/>
            </c:ext>
          </c:extLst>
        </c:ser>
        <c:ser>
          <c:idx val="1"/>
          <c:order val="1"/>
          <c:tx>
            <c:strRef>
              <c:f>Sheet1!$I$9:$I$10</c:f>
              <c:strCache>
                <c:ptCount val="1"/>
                <c:pt idx="0">
                  <c:v> large manufacturing firms</c:v>
                </c:pt>
              </c:strCache>
            </c:strRef>
          </c:tx>
          <c:spPr>
            <a:solidFill>
              <a:schemeClr val="accent2">
                <a:tint val="95000"/>
              </a:schemeClr>
            </a:solidFill>
            <a:ln>
              <a:noFill/>
            </a:ln>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rgbClr r="0" g="0" b="0"/>
              </a:contourClr>
            </a:sp3d>
          </c:spPr>
          <c:invertIfNegative val="0"/>
          <c:cat>
            <c:strRef>
              <c:f>Sheet1!$G$11:$G$25</c:f>
              <c:strCache>
                <c:ptCount val="14"/>
                <c:pt idx="0">
                  <c:v>Aaa/AAA</c:v>
                </c:pt>
                <c:pt idx="1">
                  <c:v>Aa2/AA</c:v>
                </c:pt>
                <c:pt idx="2">
                  <c:v>A1/A+</c:v>
                </c:pt>
                <c:pt idx="3">
                  <c:v>A2/A</c:v>
                </c:pt>
                <c:pt idx="4">
                  <c:v>A3/A-</c:v>
                </c:pt>
                <c:pt idx="5">
                  <c:v>Baa2/BBB</c:v>
                </c:pt>
                <c:pt idx="6">
                  <c:v>Ba1/BB+</c:v>
                </c:pt>
                <c:pt idx="7">
                  <c:v>Ba2/BB</c:v>
                </c:pt>
                <c:pt idx="8">
                  <c:v>B1/B+</c:v>
                </c:pt>
                <c:pt idx="9">
                  <c:v>B2/B</c:v>
                </c:pt>
                <c:pt idx="10">
                  <c:v>B3/B-</c:v>
                </c:pt>
                <c:pt idx="11">
                  <c:v>Caa/CCC</c:v>
                </c:pt>
                <c:pt idx="12">
                  <c:v>Ca2/CC</c:v>
                </c:pt>
                <c:pt idx="13">
                  <c:v>C2/C</c:v>
                </c:pt>
              </c:strCache>
            </c:strRef>
          </c:cat>
          <c:val>
            <c:numRef>
              <c:f>Sheet1!$I$11:$I$25</c:f>
              <c:numCache>
                <c:formatCode>General</c:formatCode>
                <c:ptCount val="14"/>
                <c:pt idx="0">
                  <c:v>8.5</c:v>
                </c:pt>
                <c:pt idx="1">
                  <c:v>6.5</c:v>
                </c:pt>
                <c:pt idx="2">
                  <c:v>5.5</c:v>
                </c:pt>
                <c:pt idx="3">
                  <c:v>4.25</c:v>
                </c:pt>
                <c:pt idx="4">
                  <c:v>3</c:v>
                </c:pt>
                <c:pt idx="5">
                  <c:v>2.5</c:v>
                </c:pt>
                <c:pt idx="6">
                  <c:v>2.25</c:v>
                </c:pt>
                <c:pt idx="7">
                  <c:v>2</c:v>
                </c:pt>
                <c:pt idx="8">
                  <c:v>1.75</c:v>
                </c:pt>
                <c:pt idx="9">
                  <c:v>1.5</c:v>
                </c:pt>
                <c:pt idx="10">
                  <c:v>1.25</c:v>
                </c:pt>
                <c:pt idx="11">
                  <c:v>0.8</c:v>
                </c:pt>
                <c:pt idx="12">
                  <c:v>0.65</c:v>
                </c:pt>
                <c:pt idx="13">
                  <c:v>0.2</c:v>
                </c:pt>
              </c:numCache>
            </c:numRef>
          </c:val>
          <c:extLst>
            <c:ext xmlns:c16="http://schemas.microsoft.com/office/drawing/2014/chart" uri="{C3380CC4-5D6E-409C-BE32-E72D297353CC}">
              <c16:uniqueId val="{00000001-31CB-412C-9BA7-E2BBF7130AD9}"/>
            </c:ext>
          </c:extLst>
        </c:ser>
        <c:ser>
          <c:idx val="2"/>
          <c:order val="2"/>
          <c:tx>
            <c:strRef>
              <c:f>Sheet1!$J$9:$J$10</c:f>
              <c:strCache>
                <c:ptCount val="1"/>
                <c:pt idx="0">
                  <c:v>financial service firms</c:v>
                </c:pt>
              </c:strCache>
            </c:strRef>
          </c:tx>
          <c:spPr>
            <a:solidFill>
              <a:schemeClr val="accent3">
                <a:tint val="95000"/>
              </a:schemeClr>
            </a:solidFill>
            <a:ln>
              <a:noFill/>
            </a:ln>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rgbClr r="0" g="0" b="0"/>
              </a:contourClr>
            </a:sp3d>
          </c:spPr>
          <c:invertIfNegative val="0"/>
          <c:cat>
            <c:strRef>
              <c:f>Sheet1!$G$11:$G$25</c:f>
              <c:strCache>
                <c:ptCount val="14"/>
                <c:pt idx="0">
                  <c:v>Aaa/AAA</c:v>
                </c:pt>
                <c:pt idx="1">
                  <c:v>Aa2/AA</c:v>
                </c:pt>
                <c:pt idx="2">
                  <c:v>A1/A+</c:v>
                </c:pt>
                <c:pt idx="3">
                  <c:v>A2/A</c:v>
                </c:pt>
                <c:pt idx="4">
                  <c:v>A3/A-</c:v>
                </c:pt>
                <c:pt idx="5">
                  <c:v>Baa2/BBB</c:v>
                </c:pt>
                <c:pt idx="6">
                  <c:v>Ba1/BB+</c:v>
                </c:pt>
                <c:pt idx="7">
                  <c:v>Ba2/BB</c:v>
                </c:pt>
                <c:pt idx="8">
                  <c:v>B1/B+</c:v>
                </c:pt>
                <c:pt idx="9">
                  <c:v>B2/B</c:v>
                </c:pt>
                <c:pt idx="10">
                  <c:v>B3/B-</c:v>
                </c:pt>
                <c:pt idx="11">
                  <c:v>Caa/CCC</c:v>
                </c:pt>
                <c:pt idx="12">
                  <c:v>Ca2/CC</c:v>
                </c:pt>
                <c:pt idx="13">
                  <c:v>C2/C</c:v>
                </c:pt>
              </c:strCache>
            </c:strRef>
          </c:cat>
          <c:val>
            <c:numRef>
              <c:f>Sheet1!$J$11:$J$25</c:f>
              <c:numCache>
                <c:formatCode>General</c:formatCode>
                <c:ptCount val="14"/>
                <c:pt idx="0">
                  <c:v>3</c:v>
                </c:pt>
                <c:pt idx="1">
                  <c:v>2.5</c:v>
                </c:pt>
                <c:pt idx="2">
                  <c:v>2</c:v>
                </c:pt>
                <c:pt idx="3">
                  <c:v>1.5</c:v>
                </c:pt>
                <c:pt idx="4">
                  <c:v>1.2</c:v>
                </c:pt>
                <c:pt idx="5">
                  <c:v>0.9</c:v>
                </c:pt>
                <c:pt idx="6">
                  <c:v>0.75</c:v>
                </c:pt>
                <c:pt idx="7">
                  <c:v>0.6</c:v>
                </c:pt>
                <c:pt idx="8">
                  <c:v>0.5</c:v>
                </c:pt>
                <c:pt idx="9">
                  <c:v>0.4</c:v>
                </c:pt>
                <c:pt idx="10">
                  <c:v>0.3</c:v>
                </c:pt>
                <c:pt idx="11">
                  <c:v>0.2</c:v>
                </c:pt>
                <c:pt idx="12">
                  <c:v>0.1</c:v>
                </c:pt>
                <c:pt idx="13">
                  <c:v>0.05</c:v>
                </c:pt>
              </c:numCache>
            </c:numRef>
          </c:val>
          <c:extLst>
            <c:ext xmlns:c16="http://schemas.microsoft.com/office/drawing/2014/chart" uri="{C3380CC4-5D6E-409C-BE32-E72D297353CC}">
              <c16:uniqueId val="{00000002-31CB-412C-9BA7-E2BBF7130AD9}"/>
            </c:ext>
          </c:extLst>
        </c:ser>
        <c:dLbls>
          <c:showLegendKey val="0"/>
          <c:showVal val="0"/>
          <c:showCatName val="0"/>
          <c:showSerName val="0"/>
          <c:showPercent val="0"/>
          <c:showBubbleSize val="0"/>
        </c:dLbls>
        <c:gapWidth val="100"/>
        <c:overlap val="-24"/>
        <c:axId val="1939139440"/>
        <c:axId val="1939137776"/>
      </c:barChart>
      <c:catAx>
        <c:axId val="1939139440"/>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939137776"/>
        <c:crosses val="autoZero"/>
        <c:auto val="1"/>
        <c:lblAlgn val="ctr"/>
        <c:lblOffset val="100"/>
        <c:noMultiLvlLbl val="0"/>
      </c:catAx>
      <c:valAx>
        <c:axId val="193913777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939139440"/>
        <c:crosses val="autoZero"/>
        <c:crossBetween val="between"/>
      </c:valAx>
      <c:spPr>
        <a:noFill/>
        <a:ln>
          <a:noFill/>
        </a:ln>
        <a:effectLst/>
      </c:spPr>
    </c:plotArea>
    <c:legend>
      <c:legendPos val="r"/>
      <c:layout>
        <c:manualLayout>
          <c:xMode val="edge"/>
          <c:yMode val="edge"/>
          <c:x val="0.61773053368328956"/>
          <c:y val="0.17910797608632256"/>
          <c:w val="0.34637677752967444"/>
          <c:h val="0.5364632545931759"/>
        </c:manualLayout>
      </c:layout>
      <c:overlay val="1"/>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pivotSource>
    <c:name>[Worksheet in Lecture 2-Discount Rates-2021]Sheet2!PivotTable3</c:name>
    <c:fmtId val="-1"/>
  </c:pivotSource>
  <c:chart>
    <c:autoTitleDeleted val="0"/>
    <c:pivotFmts>
      <c:pivotFmt>
        <c:idx val="0"/>
        <c:spPr>
          <a:solidFill>
            <a:schemeClr val="accent1"/>
          </a:solidFill>
          <a:ln w="28575" cap="rnd">
            <a:solidFill>
              <a:schemeClr val="accent1"/>
            </a:solidFill>
            <a:round/>
          </a:ln>
          <a:effectLst/>
          <a:scene3d>
            <a:camera prst="orthographicFront" fov="0">
              <a:rot lat="0" lon="0" rev="0"/>
            </a:camera>
            <a:lightRig rig="soft" dir="b">
              <a:rot lat="0" lon="0" rev="0"/>
            </a:lightRig>
          </a:scene3d>
          <a:sp3d prstMaterial="dkEdge">
            <a:bevelT w="63500" h="63500" prst="cross"/>
            <a:contourClr>
              <a:scrgbClr r="0" g="0" b="0"/>
            </a:contourClr>
          </a:sp3d>
        </c:spPr>
        <c:marker>
          <c:symbol val="none"/>
        </c:marker>
      </c:pivotFmt>
      <c:pivotFmt>
        <c:idx val="1"/>
        <c:spPr>
          <a:solidFill>
            <a:schemeClr val="accent1"/>
          </a:solidFill>
          <a:ln w="28575" cap="rnd">
            <a:solidFill>
              <a:schemeClr val="accent1"/>
            </a:solidFill>
            <a:round/>
          </a:ln>
          <a:effectLst/>
          <a:scene3d>
            <a:camera prst="orthographicFront" fov="0">
              <a:rot lat="0" lon="0" rev="0"/>
            </a:camera>
            <a:lightRig rig="soft" dir="b">
              <a:rot lat="0" lon="0" rev="0"/>
            </a:lightRig>
          </a:scene3d>
          <a:sp3d prstMaterial="dkEdge">
            <a:bevelT w="63500" h="63500" prst="cross"/>
            <a:contourClr>
              <a:scrgbClr r="0" g="0" b="0"/>
            </a:contourClr>
          </a:sp3d>
        </c:spPr>
        <c:marker>
          <c:symbol val="none"/>
        </c:marker>
      </c:pivotFmt>
      <c:pivotFmt>
        <c:idx val="2"/>
        <c:spPr>
          <a:solidFill>
            <a:schemeClr val="accent1"/>
          </a:solidFill>
          <a:ln w="28575" cap="rnd">
            <a:solidFill>
              <a:schemeClr val="accent1"/>
            </a:solidFill>
            <a:round/>
          </a:ln>
          <a:effectLst/>
          <a:scene3d>
            <a:camera prst="orthographicFront" fov="0">
              <a:rot lat="0" lon="0" rev="0"/>
            </a:camera>
            <a:lightRig rig="soft" dir="b">
              <a:rot lat="0" lon="0" rev="0"/>
            </a:lightRig>
          </a:scene3d>
          <a:sp3d prstMaterial="dkEdge">
            <a:bevelT w="63500" h="63500" prst="cross"/>
            <a:contourClr>
              <a:scrgbClr r="0" g="0" b="0"/>
            </a:contourClr>
          </a:sp3d>
        </c:spPr>
        <c:marker>
          <c:symbol val="none"/>
        </c:marker>
      </c:pivotFmt>
      <c:pivotFmt>
        <c:idx val="3"/>
        <c:spPr>
          <a:solidFill>
            <a:schemeClr val="accent1"/>
          </a:solidFill>
          <a:ln>
            <a:noFill/>
          </a:ln>
          <a:effectLst/>
          <a:scene3d>
            <a:camera prst="orthographicFront" fov="0">
              <a:rot lat="0" lon="0" rev="0"/>
            </a:camera>
            <a:lightRig rig="soft" dir="b">
              <a:rot lat="0" lon="0" rev="0"/>
            </a:lightRig>
          </a:scene3d>
          <a:sp3d prstMaterial="dkEdge">
            <a:bevelT w="63500" h="63500" prst="cross"/>
            <a:contourClr>
              <a:scrgbClr r="0" g="0" b="0"/>
            </a:contourClr>
          </a:sp3d>
        </c:spPr>
        <c:marker>
          <c:symbol val="none"/>
        </c:marker>
      </c:pivotFmt>
      <c:pivotFmt>
        <c:idx val="4"/>
        <c:spPr>
          <a:solidFill>
            <a:schemeClr val="accent1"/>
          </a:solidFill>
          <a:ln>
            <a:noFill/>
          </a:ln>
          <a:effectLst/>
          <a:scene3d>
            <a:camera prst="orthographicFront" fov="0">
              <a:rot lat="0" lon="0" rev="0"/>
            </a:camera>
            <a:lightRig rig="soft" dir="b">
              <a:rot lat="0" lon="0" rev="0"/>
            </a:lightRig>
          </a:scene3d>
          <a:sp3d prstMaterial="dkEdge">
            <a:bevelT w="63500" h="63500" prst="cross"/>
            <a:contourClr>
              <a:scrgbClr r="0" g="0" b="0"/>
            </a:contourClr>
          </a:sp3d>
        </c:spPr>
        <c:marker>
          <c:symbol val="none"/>
        </c:marker>
      </c:pivotFmt>
      <c:pivotFmt>
        <c:idx val="5"/>
        <c:spPr>
          <a:solidFill>
            <a:schemeClr val="accent1"/>
          </a:solidFill>
          <a:ln>
            <a:noFill/>
          </a:ln>
          <a:effectLst/>
          <a:scene3d>
            <a:camera prst="orthographicFront" fov="0">
              <a:rot lat="0" lon="0" rev="0"/>
            </a:camera>
            <a:lightRig rig="soft" dir="b">
              <a:rot lat="0" lon="0" rev="0"/>
            </a:lightRig>
          </a:scene3d>
          <a:sp3d prstMaterial="dkEdge">
            <a:bevelT w="63500" h="63500" prst="cross"/>
            <a:contourClr>
              <a:scrgbClr r="0" g="0" b="0"/>
            </a:contourClr>
          </a:sp3d>
        </c:spPr>
        <c:marker>
          <c:symbol val="none"/>
        </c:marker>
      </c:pivotFmt>
      <c:pivotFmt>
        <c:idx val="6"/>
        <c:spPr>
          <a:solidFill>
            <a:schemeClr val="accent1"/>
          </a:solidFill>
          <a:ln>
            <a:noFill/>
          </a:ln>
          <a:effectLst/>
          <a:scene3d>
            <a:camera prst="orthographicFront" fov="0">
              <a:rot lat="0" lon="0" rev="0"/>
            </a:camera>
            <a:lightRig rig="soft" dir="b">
              <a:rot lat="0" lon="0" rev="0"/>
            </a:lightRig>
          </a:scene3d>
          <a:sp3d prstMaterial="dkEdge">
            <a:bevelT w="63500" h="63500" prst="cross"/>
            <a:contourClr>
              <a:scrgbClr r="0" g="0" b="0"/>
            </a:contourClr>
          </a:sp3d>
        </c:spPr>
        <c:marker>
          <c:symbol val="none"/>
        </c:marker>
      </c:pivotFmt>
      <c:pivotFmt>
        <c:idx val="7"/>
        <c:spPr>
          <a:solidFill>
            <a:schemeClr val="accent1"/>
          </a:solidFill>
          <a:ln>
            <a:noFill/>
          </a:ln>
          <a:effectLst/>
          <a:scene3d>
            <a:camera prst="orthographicFront" fov="0">
              <a:rot lat="0" lon="0" rev="0"/>
            </a:camera>
            <a:lightRig rig="soft" dir="b">
              <a:rot lat="0" lon="0" rev="0"/>
            </a:lightRig>
          </a:scene3d>
          <a:sp3d prstMaterial="dkEdge">
            <a:bevelT w="63500" h="63500" prst="cross"/>
            <a:contourClr>
              <a:scrgbClr r="0" g="0" b="0"/>
            </a:contourClr>
          </a:sp3d>
        </c:spPr>
        <c:marker>
          <c:symbol val="none"/>
        </c:marker>
      </c:pivotFmt>
      <c:pivotFmt>
        <c:idx val="8"/>
        <c:spPr>
          <a:solidFill>
            <a:schemeClr val="accent1"/>
          </a:solidFill>
          <a:ln>
            <a:noFill/>
          </a:ln>
          <a:effectLst/>
          <a:scene3d>
            <a:camera prst="orthographicFront" fov="0">
              <a:rot lat="0" lon="0" rev="0"/>
            </a:camera>
            <a:lightRig rig="soft" dir="b">
              <a:rot lat="0" lon="0" rev="0"/>
            </a:lightRig>
          </a:scene3d>
          <a:sp3d prstMaterial="dkEdge">
            <a:bevelT w="63500" h="63500" prst="cross"/>
            <a:contourClr>
              <a:scrgbClr r="0" g="0" b="0"/>
            </a:contourClr>
          </a:sp3d>
        </c:spPr>
        <c:marker>
          <c:symbol val="none"/>
        </c:marker>
      </c:pivotFmt>
      <c:pivotFmt>
        <c:idx val="9"/>
        <c:spPr>
          <a:solidFill>
            <a:schemeClr val="accent1"/>
          </a:solidFill>
          <a:ln>
            <a:noFill/>
          </a:ln>
          <a:effectLst/>
          <a:scene3d>
            <a:camera prst="orthographicFront" fov="0">
              <a:rot lat="0" lon="0" rev="0"/>
            </a:camera>
            <a:lightRig rig="soft" dir="b">
              <a:rot lat="0" lon="0" rev="0"/>
            </a:lightRig>
          </a:scene3d>
          <a:sp3d prstMaterial="dkEdge">
            <a:bevelT w="63500" h="63500" prst="cross"/>
            <a:contourClr>
              <a:scrgbClr r="0" g="0" b="0"/>
            </a:contourClr>
          </a:sp3d>
        </c:spPr>
        <c:marker>
          <c:symbol val="none"/>
        </c:marker>
      </c:pivotFmt>
      <c:pivotFmt>
        <c:idx val="10"/>
        <c:spPr>
          <a:solidFill>
            <a:schemeClr val="accent1"/>
          </a:solidFill>
          <a:ln>
            <a:noFill/>
          </a:ln>
          <a:effectLst/>
          <a:scene3d>
            <a:camera prst="orthographicFront" fov="0">
              <a:rot lat="0" lon="0" rev="0"/>
            </a:camera>
            <a:lightRig rig="soft" dir="b">
              <a:rot lat="0" lon="0" rev="0"/>
            </a:lightRig>
          </a:scene3d>
          <a:sp3d prstMaterial="dkEdge">
            <a:bevelT w="63500" h="63500" prst="cross"/>
            <a:contourClr>
              <a:scrgbClr r="0" g="0" b="0"/>
            </a:contourClr>
          </a:sp3d>
        </c:spPr>
        <c:marker>
          <c:symbol val="none"/>
        </c:marker>
      </c:pivotFmt>
      <c:pivotFmt>
        <c:idx val="11"/>
        <c:spPr>
          <a:solidFill>
            <a:schemeClr val="accent1"/>
          </a:solidFill>
          <a:ln>
            <a:noFill/>
          </a:ln>
          <a:effectLst/>
          <a:scene3d>
            <a:camera prst="orthographicFront" fov="0">
              <a:rot lat="0" lon="0" rev="0"/>
            </a:camera>
            <a:lightRig rig="soft" dir="b">
              <a:rot lat="0" lon="0" rev="0"/>
            </a:lightRig>
          </a:scene3d>
          <a:sp3d prstMaterial="dkEdge">
            <a:bevelT w="63500" h="63500" prst="cross"/>
            <a:contourClr>
              <a:scrgbClr r="0" g="0" b="0"/>
            </a:contourClr>
          </a:sp3d>
        </c:spPr>
        <c:marker>
          <c:symbol val="none"/>
        </c:marker>
      </c:pivotFmt>
    </c:pivotFmts>
    <c:plotArea>
      <c:layout/>
      <c:barChart>
        <c:barDir val="col"/>
        <c:grouping val="clustered"/>
        <c:varyColors val="0"/>
        <c:ser>
          <c:idx val="0"/>
          <c:order val="0"/>
          <c:tx>
            <c:strRef>
              <c:f>Sheet2!$H$4:$H$5</c:f>
              <c:strCache>
                <c:ptCount val="1"/>
                <c:pt idx="0">
                  <c:v> smaller and riskier firms</c:v>
                </c:pt>
              </c:strCache>
            </c:strRef>
          </c:tx>
          <c:spPr>
            <a:solidFill>
              <a:schemeClr val="accent1">
                <a:tint val="95000"/>
              </a:schemeClr>
            </a:solidFill>
            <a:ln>
              <a:noFill/>
            </a:ln>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rgbClr r="0" g="0" b="0"/>
              </a:contourClr>
            </a:sp3d>
          </c:spPr>
          <c:invertIfNegative val="0"/>
          <c:cat>
            <c:strRef>
              <c:f>Sheet2!$G$6:$G$18</c:f>
              <c:strCache>
                <c:ptCount val="12"/>
                <c:pt idx="0">
                  <c:v>&lt;0</c:v>
                </c:pt>
                <c:pt idx="1">
                  <c:v>0-1</c:v>
                </c:pt>
                <c:pt idx="2">
                  <c:v>1-2</c:v>
                </c:pt>
                <c:pt idx="3">
                  <c:v>2-3</c:v>
                </c:pt>
                <c:pt idx="4">
                  <c:v>3-4</c:v>
                </c:pt>
                <c:pt idx="5">
                  <c:v>4-5</c:v>
                </c:pt>
                <c:pt idx="6">
                  <c:v>5-6</c:v>
                </c:pt>
                <c:pt idx="7">
                  <c:v>6-7</c:v>
                </c:pt>
                <c:pt idx="8">
                  <c:v>7-8</c:v>
                </c:pt>
                <c:pt idx="9">
                  <c:v>8-9</c:v>
                </c:pt>
                <c:pt idx="10">
                  <c:v>9-10</c:v>
                </c:pt>
                <c:pt idx="11">
                  <c:v>&gt;10</c:v>
                </c:pt>
              </c:strCache>
            </c:strRef>
          </c:cat>
          <c:val>
            <c:numRef>
              <c:f>Sheet2!$H$6:$H$18</c:f>
              <c:numCache>
                <c:formatCode>General</c:formatCode>
                <c:ptCount val="12"/>
                <c:pt idx="0">
                  <c:v>0.1744</c:v>
                </c:pt>
                <c:pt idx="1">
                  <c:v>0.11529999999999999</c:v>
                </c:pt>
                <c:pt idx="2">
                  <c:v>7.6999999999999999E-2</c:v>
                </c:pt>
                <c:pt idx="3">
                  <c:v>4.4549999999999999E-2</c:v>
                </c:pt>
                <c:pt idx="4">
                  <c:v>2.5399999999999999E-2</c:v>
                </c:pt>
                <c:pt idx="5">
                  <c:v>1.52E-2</c:v>
                </c:pt>
                <c:pt idx="7">
                  <c:v>1.18E-2</c:v>
                </c:pt>
                <c:pt idx="8">
                  <c:v>1.0699999999999999E-2</c:v>
                </c:pt>
                <c:pt idx="10">
                  <c:v>8.5000000000000006E-3</c:v>
                </c:pt>
                <c:pt idx="11">
                  <c:v>6.8999999999999999E-3</c:v>
                </c:pt>
              </c:numCache>
            </c:numRef>
          </c:val>
          <c:extLst>
            <c:ext xmlns:c16="http://schemas.microsoft.com/office/drawing/2014/chart" uri="{C3380CC4-5D6E-409C-BE32-E72D297353CC}">
              <c16:uniqueId val="{00000000-037A-4069-8EBB-989DC6812F09}"/>
            </c:ext>
          </c:extLst>
        </c:ser>
        <c:ser>
          <c:idx val="1"/>
          <c:order val="1"/>
          <c:tx>
            <c:strRef>
              <c:f>Sheet2!$I$4:$I$5</c:f>
              <c:strCache>
                <c:ptCount val="1"/>
                <c:pt idx="0">
                  <c:v> large manufacturing firms</c:v>
                </c:pt>
              </c:strCache>
            </c:strRef>
          </c:tx>
          <c:spPr>
            <a:solidFill>
              <a:schemeClr val="accent2">
                <a:tint val="95000"/>
              </a:schemeClr>
            </a:solidFill>
            <a:ln>
              <a:noFill/>
            </a:ln>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rgbClr r="0" g="0" b="0"/>
              </a:contourClr>
            </a:sp3d>
          </c:spPr>
          <c:invertIfNegative val="0"/>
          <c:cat>
            <c:strRef>
              <c:f>Sheet2!$G$6:$G$18</c:f>
              <c:strCache>
                <c:ptCount val="12"/>
                <c:pt idx="0">
                  <c:v>&lt;0</c:v>
                </c:pt>
                <c:pt idx="1">
                  <c:v>0-1</c:v>
                </c:pt>
                <c:pt idx="2">
                  <c:v>1-2</c:v>
                </c:pt>
                <c:pt idx="3">
                  <c:v>2-3</c:v>
                </c:pt>
                <c:pt idx="4">
                  <c:v>3-4</c:v>
                </c:pt>
                <c:pt idx="5">
                  <c:v>4-5</c:v>
                </c:pt>
                <c:pt idx="6">
                  <c:v>5-6</c:v>
                </c:pt>
                <c:pt idx="7">
                  <c:v>6-7</c:v>
                </c:pt>
                <c:pt idx="8">
                  <c:v>7-8</c:v>
                </c:pt>
                <c:pt idx="9">
                  <c:v>8-9</c:v>
                </c:pt>
                <c:pt idx="10">
                  <c:v>9-10</c:v>
                </c:pt>
                <c:pt idx="11">
                  <c:v>&gt;10</c:v>
                </c:pt>
              </c:strCache>
            </c:strRef>
          </c:cat>
          <c:val>
            <c:numRef>
              <c:f>Sheet2!$I$6:$I$18</c:f>
              <c:numCache>
                <c:formatCode>General</c:formatCode>
                <c:ptCount val="12"/>
                <c:pt idx="0">
                  <c:v>0.1744</c:v>
                </c:pt>
                <c:pt idx="1">
                  <c:v>0.1084</c:v>
                </c:pt>
                <c:pt idx="2">
                  <c:v>4.9499999999999995E-2</c:v>
                </c:pt>
                <c:pt idx="3">
                  <c:v>2.2633333333333335E-2</c:v>
                </c:pt>
                <c:pt idx="4">
                  <c:v>1.3299999999999999E-2</c:v>
                </c:pt>
                <c:pt idx="5">
                  <c:v>1.18E-2</c:v>
                </c:pt>
                <c:pt idx="6">
                  <c:v>1.0699999999999999E-2</c:v>
                </c:pt>
                <c:pt idx="7">
                  <c:v>8.5000000000000006E-3</c:v>
                </c:pt>
                <c:pt idx="9">
                  <c:v>6.8999999999999999E-3</c:v>
                </c:pt>
              </c:numCache>
            </c:numRef>
          </c:val>
          <c:extLst>
            <c:ext xmlns:c16="http://schemas.microsoft.com/office/drawing/2014/chart" uri="{C3380CC4-5D6E-409C-BE32-E72D297353CC}">
              <c16:uniqueId val="{00000001-037A-4069-8EBB-989DC6812F09}"/>
            </c:ext>
          </c:extLst>
        </c:ser>
        <c:ser>
          <c:idx val="2"/>
          <c:order val="2"/>
          <c:tx>
            <c:strRef>
              <c:f>Sheet2!$J$4:$J$5</c:f>
              <c:strCache>
                <c:ptCount val="1"/>
                <c:pt idx="0">
                  <c:v> financial service firms </c:v>
                </c:pt>
              </c:strCache>
            </c:strRef>
          </c:tx>
          <c:spPr>
            <a:solidFill>
              <a:schemeClr val="accent3">
                <a:tint val="95000"/>
              </a:schemeClr>
            </a:solidFill>
            <a:ln>
              <a:noFill/>
            </a:ln>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rgbClr r="0" g="0" b="0"/>
              </a:contourClr>
            </a:sp3d>
          </c:spPr>
          <c:invertIfNegative val="0"/>
          <c:cat>
            <c:strRef>
              <c:f>Sheet2!$G$6:$G$18</c:f>
              <c:strCache>
                <c:ptCount val="12"/>
                <c:pt idx="0">
                  <c:v>&lt;0</c:v>
                </c:pt>
                <c:pt idx="1">
                  <c:v>0-1</c:v>
                </c:pt>
                <c:pt idx="2">
                  <c:v>1-2</c:v>
                </c:pt>
                <c:pt idx="3">
                  <c:v>2-3</c:v>
                </c:pt>
                <c:pt idx="4">
                  <c:v>3-4</c:v>
                </c:pt>
                <c:pt idx="5">
                  <c:v>4-5</c:v>
                </c:pt>
                <c:pt idx="6">
                  <c:v>5-6</c:v>
                </c:pt>
                <c:pt idx="7">
                  <c:v>6-7</c:v>
                </c:pt>
                <c:pt idx="8">
                  <c:v>7-8</c:v>
                </c:pt>
                <c:pt idx="9">
                  <c:v>8-9</c:v>
                </c:pt>
                <c:pt idx="10">
                  <c:v>9-10</c:v>
                </c:pt>
                <c:pt idx="11">
                  <c:v>&gt;10</c:v>
                </c:pt>
              </c:strCache>
            </c:strRef>
          </c:cat>
          <c:val>
            <c:numRef>
              <c:f>Sheet2!$J$6:$J$18</c:f>
              <c:numCache>
                <c:formatCode>General</c:formatCode>
                <c:ptCount val="12"/>
                <c:pt idx="0">
                  <c:v>0.1744</c:v>
                </c:pt>
                <c:pt idx="1">
                  <c:v>6.0177777777777774E-2</c:v>
                </c:pt>
                <c:pt idx="2">
                  <c:v>1.2549999999999999E-2</c:v>
                </c:pt>
                <c:pt idx="3">
                  <c:v>9.6000000000000009E-3</c:v>
                </c:pt>
                <c:pt idx="4">
                  <c:v>6.8999999999999999E-3</c:v>
                </c:pt>
              </c:numCache>
            </c:numRef>
          </c:val>
          <c:extLst>
            <c:ext xmlns:c16="http://schemas.microsoft.com/office/drawing/2014/chart" uri="{C3380CC4-5D6E-409C-BE32-E72D297353CC}">
              <c16:uniqueId val="{00000002-037A-4069-8EBB-989DC6812F09}"/>
            </c:ext>
          </c:extLst>
        </c:ser>
        <c:dLbls>
          <c:showLegendKey val="0"/>
          <c:showVal val="0"/>
          <c:showCatName val="0"/>
          <c:showSerName val="0"/>
          <c:showPercent val="0"/>
          <c:showBubbleSize val="0"/>
        </c:dLbls>
        <c:gapWidth val="100"/>
        <c:overlap val="-24"/>
        <c:axId val="1425334320"/>
        <c:axId val="1939127376"/>
      </c:barChart>
      <c:catAx>
        <c:axId val="1425334320"/>
        <c:scaling>
          <c:orientation val="maxMin"/>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2000" b="0" i="0" u="none" strike="noStrike" kern="1200" baseline="0">
                <a:solidFill>
                  <a:schemeClr val="lt1">
                    <a:lumMod val="85000"/>
                  </a:schemeClr>
                </a:solidFill>
                <a:latin typeface="+mn-lt"/>
                <a:ea typeface="+mn-ea"/>
                <a:cs typeface="+mn-cs"/>
              </a:defRPr>
            </a:pPr>
            <a:endParaRPr lang="en-US"/>
          </a:p>
        </c:txPr>
        <c:crossAx val="1939127376"/>
        <c:crosses val="autoZero"/>
        <c:auto val="1"/>
        <c:lblAlgn val="ctr"/>
        <c:lblOffset val="100"/>
        <c:noMultiLvlLbl val="0"/>
      </c:catAx>
      <c:valAx>
        <c:axId val="1939127376"/>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lt1">
                    <a:lumMod val="85000"/>
                  </a:schemeClr>
                </a:solidFill>
                <a:latin typeface="+mn-lt"/>
                <a:ea typeface="+mn-ea"/>
                <a:cs typeface="+mn-cs"/>
              </a:defRPr>
            </a:pPr>
            <a:endParaRPr lang="en-US"/>
          </a:p>
        </c:txPr>
        <c:crossAx val="1425334320"/>
        <c:crosses val="autoZero"/>
        <c:crossBetween val="between"/>
      </c:valAx>
      <c:spPr>
        <a:noFill/>
        <a:ln>
          <a:noFill/>
        </a:ln>
        <a:effectLst/>
      </c:spPr>
    </c:plotArea>
    <c:legend>
      <c:legendPos val="r"/>
      <c:layout>
        <c:manualLayout>
          <c:xMode val="edge"/>
          <c:yMode val="edge"/>
          <c:x val="0.13161942257217851"/>
          <c:y val="0.17290212685518516"/>
          <c:w val="0.34214211497264874"/>
          <c:h val="0.53977544564591884"/>
        </c:manualLayout>
      </c:layout>
      <c:overlay val="1"/>
      <c:spPr>
        <a:noFill/>
        <a:ln>
          <a:noFill/>
        </a:ln>
        <a:effectLst/>
      </c:spPr>
      <c:txPr>
        <a:bodyPr rot="0" spcFirstLastPara="1" vertOverflow="ellipsis" vert="horz" wrap="square" anchor="ctr" anchorCtr="1"/>
        <a:lstStyle/>
        <a:p>
          <a:pPr>
            <a:defRPr sz="20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sz="2000"/>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GB"/>
              <a:t>DRPs over time</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lineChart>
        <c:grouping val="standard"/>
        <c:varyColors val="0"/>
        <c:ser>
          <c:idx val="0"/>
          <c:order val="0"/>
          <c:tx>
            <c:strRef>
              <c:f>'[Worksheet in Lecture 2-Discount Rates-2021]Sheet1'!$R$8</c:f>
              <c:strCache>
                <c:ptCount val="1"/>
                <c:pt idx="0">
                  <c:v>2020</c:v>
                </c:pt>
              </c:strCache>
            </c:strRef>
          </c:tx>
          <c:spPr>
            <a:ln w="34925" cap="rnd">
              <a:solidFill>
                <a:schemeClr val="accent1"/>
              </a:solidFill>
              <a:round/>
            </a:ln>
            <a:effectLst>
              <a:outerShdw blurRad="50800" dist="25400" dir="5400000" rotWithShape="0">
                <a:srgbClr val="000000">
                  <a:alpha val="45000"/>
                </a:srgbClr>
              </a:outerShdw>
            </a:effectLst>
          </c:spPr>
          <c:marker>
            <c:symbol val="none"/>
          </c:marker>
          <c:cat>
            <c:strRef>
              <c:f>'[Worksheet in Lecture 2-Discount Rates-2021]Sheet1'!$Q$9:$Q$23</c:f>
              <c:strCache>
                <c:ptCount val="15"/>
                <c:pt idx="0">
                  <c:v>Aaa/AAA</c:v>
                </c:pt>
                <c:pt idx="1">
                  <c:v>Aa2/AA</c:v>
                </c:pt>
                <c:pt idx="2">
                  <c:v>A1/A+</c:v>
                </c:pt>
                <c:pt idx="3">
                  <c:v>A2/A</c:v>
                </c:pt>
                <c:pt idx="4">
                  <c:v>A3/A-</c:v>
                </c:pt>
                <c:pt idx="5">
                  <c:v>Baa2/BBB</c:v>
                </c:pt>
                <c:pt idx="6">
                  <c:v>Ba1/BB+</c:v>
                </c:pt>
                <c:pt idx="7">
                  <c:v>Ba2/BB</c:v>
                </c:pt>
                <c:pt idx="8">
                  <c:v>B1/B+</c:v>
                </c:pt>
                <c:pt idx="9">
                  <c:v>B2/B</c:v>
                </c:pt>
                <c:pt idx="10">
                  <c:v>B3/B-</c:v>
                </c:pt>
                <c:pt idx="11">
                  <c:v>Caa/CCC</c:v>
                </c:pt>
                <c:pt idx="12">
                  <c:v>Ca2/CC</c:v>
                </c:pt>
                <c:pt idx="13">
                  <c:v>C2/C</c:v>
                </c:pt>
                <c:pt idx="14">
                  <c:v>D2/D</c:v>
                </c:pt>
              </c:strCache>
            </c:strRef>
          </c:cat>
          <c:val>
            <c:numRef>
              <c:f>'[Worksheet in Lecture 2-Discount Rates-2021]Sheet1'!$R$9:$R$23</c:f>
              <c:numCache>
                <c:formatCode>0.00%</c:formatCode>
                <c:ptCount val="15"/>
                <c:pt idx="0">
                  <c:v>6.8999999999999999E-3</c:v>
                </c:pt>
                <c:pt idx="1">
                  <c:v>8.5000000000000006E-3</c:v>
                </c:pt>
                <c:pt idx="2">
                  <c:v>1.0699999999999999E-2</c:v>
                </c:pt>
                <c:pt idx="3" formatCode="0%">
                  <c:v>1.18E-2</c:v>
                </c:pt>
                <c:pt idx="4">
                  <c:v>1.3299999999999999E-2</c:v>
                </c:pt>
                <c:pt idx="5">
                  <c:v>1.7100000000000001E-2</c:v>
                </c:pt>
                <c:pt idx="6">
                  <c:v>2.3099999999999999E-2</c:v>
                </c:pt>
                <c:pt idx="7">
                  <c:v>2.7699999999999999E-2</c:v>
                </c:pt>
                <c:pt idx="8">
                  <c:v>4.0500000000000001E-2</c:v>
                </c:pt>
                <c:pt idx="9">
                  <c:v>4.8599999999999997E-2</c:v>
                </c:pt>
                <c:pt idx="10">
                  <c:v>5.9400000000000001E-2</c:v>
                </c:pt>
                <c:pt idx="11">
                  <c:v>9.4600000000000004E-2</c:v>
                </c:pt>
                <c:pt idx="12">
                  <c:v>9.9699999999999997E-2</c:v>
                </c:pt>
                <c:pt idx="13">
                  <c:v>0.13089999999999999</c:v>
                </c:pt>
                <c:pt idx="14">
                  <c:v>0.1845</c:v>
                </c:pt>
              </c:numCache>
            </c:numRef>
          </c:val>
          <c:smooth val="0"/>
          <c:extLst>
            <c:ext xmlns:c16="http://schemas.microsoft.com/office/drawing/2014/chart" uri="{C3380CC4-5D6E-409C-BE32-E72D297353CC}">
              <c16:uniqueId val="{00000000-847F-40E3-9C9D-106574845A31}"/>
            </c:ext>
          </c:extLst>
        </c:ser>
        <c:ser>
          <c:idx val="1"/>
          <c:order val="1"/>
          <c:tx>
            <c:strRef>
              <c:f>'[Worksheet in Lecture 2-Discount Rates-2021]Sheet1'!$S$8</c:f>
              <c:strCache>
                <c:ptCount val="1"/>
                <c:pt idx="0">
                  <c:v>2019</c:v>
                </c:pt>
              </c:strCache>
            </c:strRef>
          </c:tx>
          <c:spPr>
            <a:ln w="34925" cap="rnd">
              <a:solidFill>
                <a:schemeClr val="accent2"/>
              </a:solidFill>
              <a:round/>
            </a:ln>
            <a:effectLst>
              <a:outerShdw blurRad="50800" dist="25400" dir="5400000" rotWithShape="0">
                <a:srgbClr val="000000">
                  <a:alpha val="45000"/>
                </a:srgbClr>
              </a:outerShdw>
            </a:effectLst>
          </c:spPr>
          <c:marker>
            <c:symbol val="none"/>
          </c:marker>
          <c:cat>
            <c:strRef>
              <c:f>'[Worksheet in Lecture 2-Discount Rates-2021]Sheet1'!$Q$9:$Q$23</c:f>
              <c:strCache>
                <c:ptCount val="15"/>
                <c:pt idx="0">
                  <c:v>Aaa/AAA</c:v>
                </c:pt>
                <c:pt idx="1">
                  <c:v>Aa2/AA</c:v>
                </c:pt>
                <c:pt idx="2">
                  <c:v>A1/A+</c:v>
                </c:pt>
                <c:pt idx="3">
                  <c:v>A2/A</c:v>
                </c:pt>
                <c:pt idx="4">
                  <c:v>A3/A-</c:v>
                </c:pt>
                <c:pt idx="5">
                  <c:v>Baa2/BBB</c:v>
                </c:pt>
                <c:pt idx="6">
                  <c:v>Ba1/BB+</c:v>
                </c:pt>
                <c:pt idx="7">
                  <c:v>Ba2/BB</c:v>
                </c:pt>
                <c:pt idx="8">
                  <c:v>B1/B+</c:v>
                </c:pt>
                <c:pt idx="9">
                  <c:v>B2/B</c:v>
                </c:pt>
                <c:pt idx="10">
                  <c:v>B3/B-</c:v>
                </c:pt>
                <c:pt idx="11">
                  <c:v>Caa/CCC</c:v>
                </c:pt>
                <c:pt idx="12">
                  <c:v>Ca2/CC</c:v>
                </c:pt>
                <c:pt idx="13">
                  <c:v>C2/C</c:v>
                </c:pt>
                <c:pt idx="14">
                  <c:v>D2/D</c:v>
                </c:pt>
              </c:strCache>
            </c:strRef>
          </c:cat>
          <c:val>
            <c:numRef>
              <c:f>'[Worksheet in Lecture 2-Discount Rates-2021]Sheet1'!$S$9:$S$23</c:f>
              <c:numCache>
                <c:formatCode>0.00%</c:formatCode>
                <c:ptCount val="15"/>
                <c:pt idx="0">
                  <c:v>5.4999999999999997E-3</c:v>
                </c:pt>
                <c:pt idx="1">
                  <c:v>7.3000000000000001E-3</c:v>
                </c:pt>
                <c:pt idx="2">
                  <c:v>9.4999999999999998E-3</c:v>
                </c:pt>
                <c:pt idx="3" formatCode="0%">
                  <c:v>0.01</c:v>
                </c:pt>
                <c:pt idx="4">
                  <c:v>1.0800000000000001E-2</c:v>
                </c:pt>
                <c:pt idx="5">
                  <c:v>1.2445999999999999E-2</c:v>
                </c:pt>
                <c:pt idx="6">
                  <c:v>1.9404000000000001E-2</c:v>
                </c:pt>
                <c:pt idx="7">
                  <c:v>2.3324000000000001E-2</c:v>
                </c:pt>
                <c:pt idx="8">
                  <c:v>2.9204000000000001E-2</c:v>
                </c:pt>
                <c:pt idx="9">
                  <c:v>3.4986000000000003E-2</c:v>
                </c:pt>
                <c:pt idx="10">
                  <c:v>4.2826000000000003E-2</c:v>
                </c:pt>
                <c:pt idx="11">
                  <c:v>8.6199999999999999E-2</c:v>
                </c:pt>
                <c:pt idx="12">
                  <c:v>0.104</c:v>
                </c:pt>
                <c:pt idx="13">
                  <c:v>0.13009999999999999</c:v>
                </c:pt>
                <c:pt idx="14">
                  <c:v>0.182</c:v>
                </c:pt>
              </c:numCache>
            </c:numRef>
          </c:val>
          <c:smooth val="0"/>
          <c:extLst>
            <c:ext xmlns:c16="http://schemas.microsoft.com/office/drawing/2014/chart" uri="{C3380CC4-5D6E-409C-BE32-E72D297353CC}">
              <c16:uniqueId val="{00000001-847F-40E3-9C9D-106574845A31}"/>
            </c:ext>
          </c:extLst>
        </c:ser>
        <c:ser>
          <c:idx val="2"/>
          <c:order val="2"/>
          <c:tx>
            <c:strRef>
              <c:f>'[Worksheet in Lecture 2-Discount Rates-2021]Sheet1'!$T$8</c:f>
              <c:strCache>
                <c:ptCount val="1"/>
                <c:pt idx="0">
                  <c:v>2018</c:v>
                </c:pt>
              </c:strCache>
            </c:strRef>
          </c:tx>
          <c:spPr>
            <a:ln w="34925" cap="rnd">
              <a:solidFill>
                <a:schemeClr val="accent3"/>
              </a:solidFill>
              <a:round/>
            </a:ln>
            <a:effectLst>
              <a:outerShdw blurRad="50800" dist="25400" dir="5400000" rotWithShape="0">
                <a:srgbClr val="000000">
                  <a:alpha val="45000"/>
                </a:srgbClr>
              </a:outerShdw>
            </a:effectLst>
          </c:spPr>
          <c:marker>
            <c:symbol val="none"/>
          </c:marker>
          <c:cat>
            <c:strRef>
              <c:f>'[Worksheet in Lecture 2-Discount Rates-2021]Sheet1'!$Q$9:$Q$23</c:f>
              <c:strCache>
                <c:ptCount val="15"/>
                <c:pt idx="0">
                  <c:v>Aaa/AAA</c:v>
                </c:pt>
                <c:pt idx="1">
                  <c:v>Aa2/AA</c:v>
                </c:pt>
                <c:pt idx="2">
                  <c:v>A1/A+</c:v>
                </c:pt>
                <c:pt idx="3">
                  <c:v>A2/A</c:v>
                </c:pt>
                <c:pt idx="4">
                  <c:v>A3/A-</c:v>
                </c:pt>
                <c:pt idx="5">
                  <c:v>Baa2/BBB</c:v>
                </c:pt>
                <c:pt idx="6">
                  <c:v>Ba1/BB+</c:v>
                </c:pt>
                <c:pt idx="7">
                  <c:v>Ba2/BB</c:v>
                </c:pt>
                <c:pt idx="8">
                  <c:v>B1/B+</c:v>
                </c:pt>
                <c:pt idx="9">
                  <c:v>B2/B</c:v>
                </c:pt>
                <c:pt idx="10">
                  <c:v>B3/B-</c:v>
                </c:pt>
                <c:pt idx="11">
                  <c:v>Caa/CCC</c:v>
                </c:pt>
                <c:pt idx="12">
                  <c:v>Ca2/CC</c:v>
                </c:pt>
                <c:pt idx="13">
                  <c:v>C2/C</c:v>
                </c:pt>
                <c:pt idx="14">
                  <c:v>D2/D</c:v>
                </c:pt>
              </c:strCache>
            </c:strRef>
          </c:cat>
          <c:val>
            <c:numRef>
              <c:f>'[Worksheet in Lecture 2-Discount Rates-2021]Sheet1'!$T$9:$T$23</c:f>
              <c:numCache>
                <c:formatCode>0.00%</c:formatCode>
                <c:ptCount val="15"/>
                <c:pt idx="0">
                  <c:v>5.4000000000000003E-3</c:v>
                </c:pt>
                <c:pt idx="1">
                  <c:v>7.1999999999999998E-3</c:v>
                </c:pt>
                <c:pt idx="2">
                  <c:v>8.9999999999999993E-3</c:v>
                </c:pt>
                <c:pt idx="3">
                  <c:v>9.9000000000000008E-3</c:v>
                </c:pt>
                <c:pt idx="4">
                  <c:v>1.1299999999999999E-2</c:v>
                </c:pt>
                <c:pt idx="5">
                  <c:v>1.2699999999999999E-2</c:v>
                </c:pt>
                <c:pt idx="6">
                  <c:v>1.9800000000000002E-2</c:v>
                </c:pt>
                <c:pt idx="7">
                  <c:v>2.3800000000000002E-2</c:v>
                </c:pt>
                <c:pt idx="8">
                  <c:v>2.98E-2</c:v>
                </c:pt>
                <c:pt idx="9">
                  <c:v>3.5700000000000003E-2</c:v>
                </c:pt>
                <c:pt idx="10">
                  <c:v>4.3700000000000003E-2</c:v>
                </c:pt>
                <c:pt idx="11">
                  <c:v>8.6400000000000005E-2</c:v>
                </c:pt>
                <c:pt idx="12">
                  <c:v>0.10630000000000001</c:v>
                </c:pt>
                <c:pt idx="13">
                  <c:v>0.13950000000000001</c:v>
                </c:pt>
                <c:pt idx="14">
                  <c:v>0.186</c:v>
                </c:pt>
              </c:numCache>
            </c:numRef>
          </c:val>
          <c:smooth val="0"/>
          <c:extLst>
            <c:ext xmlns:c16="http://schemas.microsoft.com/office/drawing/2014/chart" uri="{C3380CC4-5D6E-409C-BE32-E72D297353CC}">
              <c16:uniqueId val="{00000002-847F-40E3-9C9D-106574845A31}"/>
            </c:ext>
          </c:extLst>
        </c:ser>
        <c:ser>
          <c:idx val="3"/>
          <c:order val="3"/>
          <c:tx>
            <c:strRef>
              <c:f>'[Worksheet in Lecture 2-Discount Rates-2021]Sheet1'!$U$8</c:f>
              <c:strCache>
                <c:ptCount val="1"/>
                <c:pt idx="0">
                  <c:v>2017</c:v>
                </c:pt>
              </c:strCache>
            </c:strRef>
          </c:tx>
          <c:spPr>
            <a:ln w="34925" cap="rnd">
              <a:solidFill>
                <a:schemeClr val="accent4"/>
              </a:solidFill>
              <a:round/>
            </a:ln>
            <a:effectLst>
              <a:outerShdw blurRad="50800" dist="25400" dir="5400000" rotWithShape="0">
                <a:srgbClr val="000000">
                  <a:alpha val="45000"/>
                </a:srgbClr>
              </a:outerShdw>
            </a:effectLst>
          </c:spPr>
          <c:marker>
            <c:symbol val="none"/>
          </c:marker>
          <c:cat>
            <c:strRef>
              <c:f>'[Worksheet in Lecture 2-Discount Rates-2021]Sheet1'!$Q$9:$Q$23</c:f>
              <c:strCache>
                <c:ptCount val="15"/>
                <c:pt idx="0">
                  <c:v>Aaa/AAA</c:v>
                </c:pt>
                <c:pt idx="1">
                  <c:v>Aa2/AA</c:v>
                </c:pt>
                <c:pt idx="2">
                  <c:v>A1/A+</c:v>
                </c:pt>
                <c:pt idx="3">
                  <c:v>A2/A</c:v>
                </c:pt>
                <c:pt idx="4">
                  <c:v>A3/A-</c:v>
                </c:pt>
                <c:pt idx="5">
                  <c:v>Baa2/BBB</c:v>
                </c:pt>
                <c:pt idx="6">
                  <c:v>Ba1/BB+</c:v>
                </c:pt>
                <c:pt idx="7">
                  <c:v>Ba2/BB</c:v>
                </c:pt>
                <c:pt idx="8">
                  <c:v>B1/B+</c:v>
                </c:pt>
                <c:pt idx="9">
                  <c:v>B2/B</c:v>
                </c:pt>
                <c:pt idx="10">
                  <c:v>B3/B-</c:v>
                </c:pt>
                <c:pt idx="11">
                  <c:v>Caa/CCC</c:v>
                </c:pt>
                <c:pt idx="12">
                  <c:v>Ca2/CC</c:v>
                </c:pt>
                <c:pt idx="13">
                  <c:v>C2/C</c:v>
                </c:pt>
                <c:pt idx="14">
                  <c:v>D2/D</c:v>
                </c:pt>
              </c:strCache>
            </c:strRef>
          </c:cat>
          <c:val>
            <c:numRef>
              <c:f>'[Worksheet in Lecture 2-Discount Rates-2021]Sheet1'!$U$9:$U$23</c:f>
              <c:numCache>
                <c:formatCode>0.00%</c:formatCode>
                <c:ptCount val="15"/>
                <c:pt idx="0">
                  <c:v>7.4999999999999997E-3</c:v>
                </c:pt>
                <c:pt idx="1">
                  <c:v>0.01</c:v>
                </c:pt>
                <c:pt idx="2">
                  <c:v>1.0999999999999999E-2</c:v>
                </c:pt>
                <c:pt idx="3">
                  <c:v>1.2500000000000001E-2</c:v>
                </c:pt>
                <c:pt idx="4">
                  <c:v>1.7500000000000002E-2</c:v>
                </c:pt>
                <c:pt idx="5">
                  <c:v>2.2499999999999999E-2</c:v>
                </c:pt>
                <c:pt idx="6">
                  <c:v>3.2500000000000001E-2</c:v>
                </c:pt>
                <c:pt idx="7">
                  <c:v>4.2500000000000003E-2</c:v>
                </c:pt>
                <c:pt idx="8">
                  <c:v>5.5E-2</c:v>
                </c:pt>
                <c:pt idx="9">
                  <c:v>6.5000000000000002E-2</c:v>
                </c:pt>
                <c:pt idx="10">
                  <c:v>7.4999999999999997E-2</c:v>
                </c:pt>
                <c:pt idx="11">
                  <c:v>0.09</c:v>
                </c:pt>
                <c:pt idx="12">
                  <c:v>0.12</c:v>
                </c:pt>
                <c:pt idx="13">
                  <c:v>0.16</c:v>
                </c:pt>
                <c:pt idx="14">
                  <c:v>0.2</c:v>
                </c:pt>
              </c:numCache>
            </c:numRef>
          </c:val>
          <c:smooth val="0"/>
          <c:extLst>
            <c:ext xmlns:c16="http://schemas.microsoft.com/office/drawing/2014/chart" uri="{C3380CC4-5D6E-409C-BE32-E72D297353CC}">
              <c16:uniqueId val="{00000003-847F-40E3-9C9D-106574845A31}"/>
            </c:ext>
          </c:extLst>
        </c:ser>
        <c:ser>
          <c:idx val="4"/>
          <c:order val="4"/>
          <c:tx>
            <c:strRef>
              <c:f>'[Worksheet in Lecture 2-Discount Rates-2021]Sheet1'!$V$8</c:f>
              <c:strCache>
                <c:ptCount val="1"/>
                <c:pt idx="0">
                  <c:v>2016</c:v>
                </c:pt>
              </c:strCache>
            </c:strRef>
          </c:tx>
          <c:spPr>
            <a:ln w="34925" cap="rnd">
              <a:solidFill>
                <a:schemeClr val="accent5"/>
              </a:solidFill>
              <a:round/>
            </a:ln>
            <a:effectLst>
              <a:outerShdw blurRad="50800" dist="25400" dir="5400000" rotWithShape="0">
                <a:srgbClr val="000000">
                  <a:alpha val="45000"/>
                </a:srgbClr>
              </a:outerShdw>
            </a:effectLst>
          </c:spPr>
          <c:marker>
            <c:symbol val="none"/>
          </c:marker>
          <c:cat>
            <c:strRef>
              <c:f>'[Worksheet in Lecture 2-Discount Rates-2021]Sheet1'!$Q$9:$Q$23</c:f>
              <c:strCache>
                <c:ptCount val="15"/>
                <c:pt idx="0">
                  <c:v>Aaa/AAA</c:v>
                </c:pt>
                <c:pt idx="1">
                  <c:v>Aa2/AA</c:v>
                </c:pt>
                <c:pt idx="2">
                  <c:v>A1/A+</c:v>
                </c:pt>
                <c:pt idx="3">
                  <c:v>A2/A</c:v>
                </c:pt>
                <c:pt idx="4">
                  <c:v>A3/A-</c:v>
                </c:pt>
                <c:pt idx="5">
                  <c:v>Baa2/BBB</c:v>
                </c:pt>
                <c:pt idx="6">
                  <c:v>Ba1/BB+</c:v>
                </c:pt>
                <c:pt idx="7">
                  <c:v>Ba2/BB</c:v>
                </c:pt>
                <c:pt idx="8">
                  <c:v>B1/B+</c:v>
                </c:pt>
                <c:pt idx="9">
                  <c:v>B2/B</c:v>
                </c:pt>
                <c:pt idx="10">
                  <c:v>B3/B-</c:v>
                </c:pt>
                <c:pt idx="11">
                  <c:v>Caa/CCC</c:v>
                </c:pt>
                <c:pt idx="12">
                  <c:v>Ca2/CC</c:v>
                </c:pt>
                <c:pt idx="13">
                  <c:v>C2/C</c:v>
                </c:pt>
                <c:pt idx="14">
                  <c:v>D2/D</c:v>
                </c:pt>
              </c:strCache>
            </c:strRef>
          </c:cat>
          <c:val>
            <c:numRef>
              <c:f>'[Worksheet in Lecture 2-Discount Rates-2021]Sheet1'!$V$9:$V$23</c:f>
              <c:numCache>
                <c:formatCode>0.00%</c:formatCode>
                <c:ptCount val="15"/>
                <c:pt idx="0">
                  <c:v>4.0000000000000001E-3</c:v>
                </c:pt>
                <c:pt idx="1">
                  <c:v>7.0000000000000001E-3</c:v>
                </c:pt>
                <c:pt idx="2">
                  <c:v>8.9999999999999993E-3</c:v>
                </c:pt>
                <c:pt idx="3">
                  <c:v>0.01</c:v>
                </c:pt>
                <c:pt idx="4">
                  <c:v>1.2E-2</c:v>
                </c:pt>
                <c:pt idx="5">
                  <c:v>1.7500000000000002E-2</c:v>
                </c:pt>
                <c:pt idx="6">
                  <c:v>2.75E-2</c:v>
                </c:pt>
                <c:pt idx="7">
                  <c:v>3.2500000000000001E-2</c:v>
                </c:pt>
                <c:pt idx="8">
                  <c:v>0.04</c:v>
                </c:pt>
                <c:pt idx="9">
                  <c:v>0.05</c:v>
                </c:pt>
                <c:pt idx="10">
                  <c:v>0.06</c:v>
                </c:pt>
                <c:pt idx="11">
                  <c:v>7.0000000000000007E-2</c:v>
                </c:pt>
                <c:pt idx="12">
                  <c:v>0.08</c:v>
                </c:pt>
                <c:pt idx="13">
                  <c:v>0.1</c:v>
                </c:pt>
                <c:pt idx="14">
                  <c:v>0.12</c:v>
                </c:pt>
              </c:numCache>
            </c:numRef>
          </c:val>
          <c:smooth val="0"/>
          <c:extLst>
            <c:ext xmlns:c16="http://schemas.microsoft.com/office/drawing/2014/chart" uri="{C3380CC4-5D6E-409C-BE32-E72D297353CC}">
              <c16:uniqueId val="{00000004-847F-40E3-9C9D-106574845A31}"/>
            </c:ext>
          </c:extLst>
        </c:ser>
        <c:ser>
          <c:idx val="5"/>
          <c:order val="5"/>
          <c:tx>
            <c:strRef>
              <c:f>'[Worksheet in Lecture 2-Discount Rates-2021]Sheet1'!$W$8</c:f>
              <c:strCache>
                <c:ptCount val="1"/>
                <c:pt idx="0">
                  <c:v>2015</c:v>
                </c:pt>
              </c:strCache>
            </c:strRef>
          </c:tx>
          <c:spPr>
            <a:ln w="34925" cap="rnd">
              <a:solidFill>
                <a:schemeClr val="accent6"/>
              </a:solidFill>
              <a:round/>
            </a:ln>
            <a:effectLst>
              <a:outerShdw blurRad="50800" dist="25400" dir="5400000" rotWithShape="0">
                <a:srgbClr val="000000">
                  <a:alpha val="45000"/>
                </a:srgbClr>
              </a:outerShdw>
            </a:effectLst>
          </c:spPr>
          <c:marker>
            <c:symbol val="none"/>
          </c:marker>
          <c:cat>
            <c:strRef>
              <c:f>'[Worksheet in Lecture 2-Discount Rates-2021]Sheet1'!$Q$9:$Q$23</c:f>
              <c:strCache>
                <c:ptCount val="15"/>
                <c:pt idx="0">
                  <c:v>Aaa/AAA</c:v>
                </c:pt>
                <c:pt idx="1">
                  <c:v>Aa2/AA</c:v>
                </c:pt>
                <c:pt idx="2">
                  <c:v>A1/A+</c:v>
                </c:pt>
                <c:pt idx="3">
                  <c:v>A2/A</c:v>
                </c:pt>
                <c:pt idx="4">
                  <c:v>A3/A-</c:v>
                </c:pt>
                <c:pt idx="5">
                  <c:v>Baa2/BBB</c:v>
                </c:pt>
                <c:pt idx="6">
                  <c:v>Ba1/BB+</c:v>
                </c:pt>
                <c:pt idx="7">
                  <c:v>Ba2/BB</c:v>
                </c:pt>
                <c:pt idx="8">
                  <c:v>B1/B+</c:v>
                </c:pt>
                <c:pt idx="9">
                  <c:v>B2/B</c:v>
                </c:pt>
                <c:pt idx="10">
                  <c:v>B3/B-</c:v>
                </c:pt>
                <c:pt idx="11">
                  <c:v>Caa/CCC</c:v>
                </c:pt>
                <c:pt idx="12">
                  <c:v>Ca2/CC</c:v>
                </c:pt>
                <c:pt idx="13">
                  <c:v>C2/C</c:v>
                </c:pt>
                <c:pt idx="14">
                  <c:v>D2/D</c:v>
                </c:pt>
              </c:strCache>
            </c:strRef>
          </c:cat>
          <c:val>
            <c:numRef>
              <c:f>'[Worksheet in Lecture 2-Discount Rates-2021]Sheet1'!$W$9:$W$23</c:f>
              <c:numCache>
                <c:formatCode>0.00%</c:formatCode>
                <c:ptCount val="15"/>
                <c:pt idx="0">
                  <c:v>4.1999999999999997E-3</c:v>
                </c:pt>
                <c:pt idx="1">
                  <c:v>7.7999999999999996E-3</c:v>
                </c:pt>
                <c:pt idx="2">
                  <c:v>9.5652100000000011E-3</c:v>
                </c:pt>
                <c:pt idx="3">
                  <c:v>9.65652E-3</c:v>
                </c:pt>
                <c:pt idx="4">
                  <c:v>1.100869E-2</c:v>
                </c:pt>
                <c:pt idx="5">
                  <c:v>1.666086E-2</c:v>
                </c:pt>
                <c:pt idx="6">
                  <c:v>2.6069560000000002E-2</c:v>
                </c:pt>
                <c:pt idx="7">
                  <c:v>2.9669560000000001E-2</c:v>
                </c:pt>
                <c:pt idx="8">
                  <c:v>3.7369560000000003E-2</c:v>
                </c:pt>
                <c:pt idx="9">
                  <c:v>4.0969560000000002E-2</c:v>
                </c:pt>
                <c:pt idx="10">
                  <c:v>4.4469559999999998E-2</c:v>
                </c:pt>
                <c:pt idx="11">
                  <c:v>4.8569560000000005E-2</c:v>
                </c:pt>
                <c:pt idx="12">
                  <c:v>6.0007926946649033E-2</c:v>
                </c:pt>
                <c:pt idx="13">
                  <c:v>7.7923432469944348E-2</c:v>
                </c:pt>
                <c:pt idx="14">
                  <c:v>9.8270106503763152E-2</c:v>
                </c:pt>
              </c:numCache>
            </c:numRef>
          </c:val>
          <c:smooth val="0"/>
          <c:extLst>
            <c:ext xmlns:c16="http://schemas.microsoft.com/office/drawing/2014/chart" uri="{C3380CC4-5D6E-409C-BE32-E72D297353CC}">
              <c16:uniqueId val="{00000005-847F-40E3-9C9D-106574845A31}"/>
            </c:ext>
          </c:extLst>
        </c:ser>
        <c:dLbls>
          <c:showLegendKey val="0"/>
          <c:showVal val="0"/>
          <c:showCatName val="0"/>
          <c:showSerName val="0"/>
          <c:showPercent val="0"/>
          <c:showBubbleSize val="0"/>
        </c:dLbls>
        <c:smooth val="0"/>
        <c:axId val="1772674992"/>
        <c:axId val="1772675408"/>
      </c:lineChart>
      <c:catAx>
        <c:axId val="1772674992"/>
        <c:scaling>
          <c:orientation val="minMax"/>
        </c:scaling>
        <c:delete val="0"/>
        <c:axPos val="b"/>
        <c:numFmt formatCode="General" sourceLinked="1"/>
        <c:majorTickMark val="none"/>
        <c:minorTickMark val="none"/>
        <c:tickLblPos val="nextTo"/>
        <c:spPr>
          <a:noFill/>
          <a:ln w="9525" cap="flat" cmpd="sng" algn="ctr">
            <a:solidFill>
              <a:schemeClr val="lt1">
                <a:lumMod val="95000"/>
                <a:alpha val="10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772675408"/>
        <c:crosses val="autoZero"/>
        <c:auto val="1"/>
        <c:lblAlgn val="ctr"/>
        <c:lblOffset val="100"/>
        <c:noMultiLvlLbl val="0"/>
      </c:catAx>
      <c:valAx>
        <c:axId val="1772675408"/>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772674992"/>
        <c:crosses val="autoZero"/>
        <c:crossBetween val="between"/>
      </c:valAx>
      <c:spPr>
        <a:noFill/>
        <a:ln>
          <a:noFill/>
        </a:ln>
        <a:effectLst/>
      </c:spPr>
    </c:plotArea>
    <c:legend>
      <c:legendPos val="b"/>
      <c:layout>
        <c:manualLayout>
          <c:xMode val="edge"/>
          <c:yMode val="edge"/>
          <c:x val="0.16478096636605594"/>
          <c:y val="0.13774996508527312"/>
          <c:w val="0.12752737618525481"/>
          <c:h val="0.4085209796909966"/>
        </c:manualLayout>
      </c:layout>
      <c:overlay val="1"/>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33">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9525" cap="flat" cmpd="sng" algn="ctr">
        <a:solidFill>
          <a:schemeClr val="lt1">
            <a:lumMod val="95000"/>
            <a:alpha val="10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diagrams/_rels/data1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image" Target="../media/image44.png"/></Relationships>
</file>

<file path=ppt/diagrams/_rels/data20.xml.rels><?xml version="1.0" encoding="UTF-8" standalone="yes"?>
<Relationships xmlns="http://schemas.openxmlformats.org/package/2006/relationships"><Relationship Id="rId1" Type="http://schemas.openxmlformats.org/officeDocument/2006/relationships/hyperlink" Target="https://pages.stern.nyu.edu/~adamodar/New_Home_Page/datafile/Betas.html" TargetMode="External"/></Relationships>
</file>

<file path=ppt/diagrams/_rels/data220.xml.rels><?xml version="1.0" encoding="UTF-8" standalone="yes"?>
<Relationships xmlns="http://schemas.openxmlformats.org/package/2006/relationships"><Relationship Id="rId3" Type="http://schemas.openxmlformats.org/officeDocument/2006/relationships/image" Target="../media/image560.png"/><Relationship Id="rId2" Type="http://schemas.openxmlformats.org/officeDocument/2006/relationships/image" Target="../media/image550.png"/><Relationship Id="rId1" Type="http://schemas.openxmlformats.org/officeDocument/2006/relationships/image" Target="../media/image54.png"/></Relationships>
</file>

<file path=ppt/diagrams/_rels/data2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diagrams/_rels/drawing19.xml.rels><?xml version="1.0" encoding="UTF-8" standalone="yes"?>
<Relationships xmlns="http://schemas.openxmlformats.org/package/2006/relationships"><Relationship Id="rId1" Type="http://schemas.openxmlformats.org/officeDocument/2006/relationships/hyperlink" Target="https://pages.stern.nyu.edu/~adamodar/New_Home_Page/datafile/Betas.html" TargetMode="Externa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1">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2">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1#5">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1#6">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1NoLn">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ltNode1NoLn">
    <dgm:fillClrLst meth="repeat">
      <a:schemeClr val="accent2">
        <a:tint val="75000"/>
      </a:schemeClr>
      <a:schemeClr val="accent3">
        <a:tint val="75000"/>
      </a:schemeClr>
      <a:schemeClr val="accent4">
        <a:tint val="75000"/>
      </a:schemeClr>
      <a:schemeClr val="accent5">
        <a:tint val="75000"/>
      </a:schemeClr>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2NoLn">
    <dgm:fillClrLst>
      <a:schemeClr val="accent2"/>
    </dgm:fillClrLst>
    <dgm:linClrLst meth="repeat">
      <a:schemeClr val="lt1">
        <a:alpha val="0"/>
      </a:schemeClr>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3NoLn">
    <dgm:fillClrLst>
      <a:schemeClr val="accent3"/>
    </dgm:fillClrLst>
    <dgm:linClrLst meth="repeat">
      <a:schemeClr val="lt1">
        <a:alpha val="0"/>
      </a:schemeClr>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node4NoLn">
    <dgm:fillClrLst>
      <a:schemeClr val="accent4"/>
    </dgm:fillClrLst>
    <dgm:linClrLst meth="repeat">
      <a:schemeClr val="lt1">
        <a:alpha val="0"/>
      </a:schemeClr>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1#7">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1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0_3#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1#7">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1#8">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colorful1#9">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colorful4#1">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colorful2#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0.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FCDA4D6-2E08-47CD-9129-3E9A6BC3D7CF}" type="doc">
      <dgm:prSet loTypeId="urn:microsoft.com/office/officeart/2005/8/layout/radial4" loCatId="relationship" qsTypeId="urn:microsoft.com/office/officeart/2005/8/quickstyle/3d3#1" qsCatId="3D" csTypeId="urn:microsoft.com/office/officeart/2005/8/colors/accent1_2#1" csCatId="accent1" phldr="1"/>
      <dgm:spPr/>
      <dgm:t>
        <a:bodyPr/>
        <a:lstStyle/>
        <a:p>
          <a:endParaRPr lang="en-GB"/>
        </a:p>
      </dgm:t>
    </dgm:pt>
    <dgm:pt modelId="{B39501E9-89A6-4E6E-9D5E-FCAF2C03653E}">
      <dgm:prSet phldrT="[Text]"/>
      <dgm:spPr/>
      <dgm:t>
        <a:bodyPr/>
        <a:lstStyle/>
        <a:p>
          <a:r>
            <a:rPr lang="en-GB" dirty="0"/>
            <a:t>Company Valuation</a:t>
          </a:r>
        </a:p>
      </dgm:t>
    </dgm:pt>
    <dgm:pt modelId="{B2638FD2-5467-4315-A099-D3A612606D98}" type="parTrans" cxnId="{F1E01C11-B0F6-4E5A-967C-80CF65F27B44}">
      <dgm:prSet/>
      <dgm:spPr/>
      <dgm:t>
        <a:bodyPr/>
        <a:lstStyle/>
        <a:p>
          <a:endParaRPr lang="en-GB"/>
        </a:p>
      </dgm:t>
    </dgm:pt>
    <dgm:pt modelId="{F843199F-A153-444B-B852-5F6F06F9D469}" type="sibTrans" cxnId="{F1E01C11-B0F6-4E5A-967C-80CF65F27B44}">
      <dgm:prSet/>
      <dgm:spPr/>
      <dgm:t>
        <a:bodyPr/>
        <a:lstStyle/>
        <a:p>
          <a:endParaRPr lang="en-GB"/>
        </a:p>
      </dgm:t>
    </dgm:pt>
    <dgm:pt modelId="{33AD0358-21DA-40E7-87FE-00F65E0EA23B}">
      <dgm:prSet phldrT="[Text]" custT="1"/>
      <dgm:spPr/>
      <dgm:t>
        <a:bodyPr/>
        <a:lstStyle/>
        <a:p>
          <a:r>
            <a:rPr lang="en-GB" sz="3200" b="1" dirty="0">
              <a:solidFill>
                <a:srgbClr val="002060"/>
              </a:solidFill>
            </a:rPr>
            <a:t>DCF</a:t>
          </a:r>
          <a:endParaRPr lang="en-GB" sz="1900" b="1" dirty="0">
            <a:solidFill>
              <a:srgbClr val="002060"/>
            </a:solidFill>
          </a:endParaRPr>
        </a:p>
        <a:p>
          <a:r>
            <a:rPr lang="en-GB" sz="1900" dirty="0"/>
            <a:t>Intrinsic Value</a:t>
          </a:r>
        </a:p>
        <a:p>
          <a:r>
            <a:rPr lang="en-GB" sz="1900" dirty="0"/>
            <a:t>Business Oriented</a:t>
          </a:r>
        </a:p>
      </dgm:t>
    </dgm:pt>
    <dgm:pt modelId="{6A24EBDB-89A5-415B-B14D-9F05E90C11AA}" type="parTrans" cxnId="{054489EA-B1D3-4C5B-ABA8-010DBD2433A4}">
      <dgm:prSet/>
      <dgm:spPr/>
      <dgm:t>
        <a:bodyPr/>
        <a:lstStyle/>
        <a:p>
          <a:endParaRPr lang="en-GB"/>
        </a:p>
      </dgm:t>
    </dgm:pt>
    <dgm:pt modelId="{2A934961-B8E1-4AD9-812C-EF57453023E3}" type="sibTrans" cxnId="{054489EA-B1D3-4C5B-ABA8-010DBD2433A4}">
      <dgm:prSet/>
      <dgm:spPr/>
      <dgm:t>
        <a:bodyPr/>
        <a:lstStyle/>
        <a:p>
          <a:endParaRPr lang="en-GB"/>
        </a:p>
      </dgm:t>
    </dgm:pt>
    <dgm:pt modelId="{2E50DD25-AE3D-4515-93E6-3ACF5929A1EF}">
      <dgm:prSet phldrT="[Text]" custT="1"/>
      <dgm:spPr/>
      <dgm:t>
        <a:bodyPr/>
        <a:lstStyle/>
        <a:p>
          <a:r>
            <a:rPr lang="en-GB" sz="3200" b="1" dirty="0">
              <a:solidFill>
                <a:srgbClr val="002060"/>
              </a:solidFill>
            </a:rPr>
            <a:t>Relative Valuation</a:t>
          </a:r>
        </a:p>
        <a:p>
          <a:r>
            <a:rPr lang="en-GB" sz="2000" dirty="0"/>
            <a:t>Other Assets</a:t>
          </a:r>
        </a:p>
        <a:p>
          <a:r>
            <a:rPr lang="en-GB" sz="2000" dirty="0"/>
            <a:t>Market Oriented</a:t>
          </a:r>
        </a:p>
      </dgm:t>
    </dgm:pt>
    <dgm:pt modelId="{0AB54842-CDD6-437F-B922-FDED8DB5C122}" type="parTrans" cxnId="{F5E72A7F-E657-4BC3-8E71-01E8C98539B4}">
      <dgm:prSet/>
      <dgm:spPr/>
      <dgm:t>
        <a:bodyPr/>
        <a:lstStyle/>
        <a:p>
          <a:endParaRPr lang="en-GB"/>
        </a:p>
      </dgm:t>
    </dgm:pt>
    <dgm:pt modelId="{7B145CB7-E4A2-496C-AF47-891E9178B4FF}" type="sibTrans" cxnId="{F5E72A7F-E657-4BC3-8E71-01E8C98539B4}">
      <dgm:prSet/>
      <dgm:spPr/>
      <dgm:t>
        <a:bodyPr/>
        <a:lstStyle/>
        <a:p>
          <a:endParaRPr lang="en-GB"/>
        </a:p>
      </dgm:t>
    </dgm:pt>
    <dgm:pt modelId="{1CDD1CDC-ABAA-412F-BAF6-9D82F62EA204}">
      <dgm:prSet phldrT="[Text]" custT="1"/>
      <dgm:spPr/>
      <dgm:t>
        <a:bodyPr/>
        <a:lstStyle/>
        <a:p>
          <a:r>
            <a:rPr lang="en-GB" sz="3200" b="1" dirty="0">
              <a:solidFill>
                <a:srgbClr val="002060"/>
              </a:solidFill>
            </a:rPr>
            <a:t>Real Options</a:t>
          </a:r>
        </a:p>
        <a:p>
          <a:r>
            <a:rPr lang="en-GB" sz="2100" dirty="0"/>
            <a:t>Derivatives</a:t>
          </a:r>
        </a:p>
        <a:p>
          <a:r>
            <a:rPr lang="en-GB" sz="2100" dirty="0"/>
            <a:t>Flexibility</a:t>
          </a:r>
        </a:p>
      </dgm:t>
    </dgm:pt>
    <dgm:pt modelId="{5C7C2546-BC97-4670-A97E-423146CF054C}" type="parTrans" cxnId="{32BFCC43-ABA5-4EB3-A19F-C6E60A5EC05E}">
      <dgm:prSet/>
      <dgm:spPr/>
      <dgm:t>
        <a:bodyPr/>
        <a:lstStyle/>
        <a:p>
          <a:endParaRPr lang="en-GB"/>
        </a:p>
      </dgm:t>
    </dgm:pt>
    <dgm:pt modelId="{844B1F57-5506-45BC-8A4A-DB10CCD5F622}" type="sibTrans" cxnId="{32BFCC43-ABA5-4EB3-A19F-C6E60A5EC05E}">
      <dgm:prSet/>
      <dgm:spPr/>
      <dgm:t>
        <a:bodyPr/>
        <a:lstStyle/>
        <a:p>
          <a:endParaRPr lang="en-GB"/>
        </a:p>
      </dgm:t>
    </dgm:pt>
    <dgm:pt modelId="{4C83E1C6-F3B7-4F2E-8268-6F1E0B599E60}">
      <dgm:prSet phldrT="[Text]"/>
      <dgm:spPr/>
      <dgm:t>
        <a:bodyPr/>
        <a:lstStyle/>
        <a:p>
          <a:r>
            <a:rPr lang="en-GB" dirty="0"/>
            <a:t>Uncertainty</a:t>
          </a:r>
        </a:p>
      </dgm:t>
    </dgm:pt>
    <dgm:pt modelId="{FE38549A-9FA6-46F1-959B-60D37CE3D39A}" type="parTrans" cxnId="{D0FEFBAF-C68D-4544-B6C7-BD1573A541FA}">
      <dgm:prSet/>
      <dgm:spPr/>
      <dgm:t>
        <a:bodyPr/>
        <a:lstStyle/>
        <a:p>
          <a:endParaRPr lang="en-GB"/>
        </a:p>
      </dgm:t>
    </dgm:pt>
    <dgm:pt modelId="{1C38D96E-F1B1-4D18-9132-450FAAF58D69}" type="sibTrans" cxnId="{D0FEFBAF-C68D-4544-B6C7-BD1573A541FA}">
      <dgm:prSet/>
      <dgm:spPr/>
      <dgm:t>
        <a:bodyPr/>
        <a:lstStyle/>
        <a:p>
          <a:endParaRPr lang="en-GB"/>
        </a:p>
      </dgm:t>
    </dgm:pt>
    <dgm:pt modelId="{2F943697-8AD0-49C4-8004-91AD011F126B}">
      <dgm:prSet phldrT="[Text]"/>
      <dgm:spPr/>
      <dgm:t>
        <a:bodyPr/>
        <a:lstStyle/>
        <a:p>
          <a:r>
            <a:rPr lang="en-GB" dirty="0"/>
            <a:t>Bias</a:t>
          </a:r>
        </a:p>
      </dgm:t>
    </dgm:pt>
    <dgm:pt modelId="{8977C4B2-5B42-4870-B021-AF50E3F1DF81}" type="parTrans" cxnId="{12261212-8DC5-439A-8361-828A529F89AD}">
      <dgm:prSet/>
      <dgm:spPr/>
      <dgm:t>
        <a:bodyPr/>
        <a:lstStyle/>
        <a:p>
          <a:endParaRPr lang="en-GB"/>
        </a:p>
      </dgm:t>
    </dgm:pt>
    <dgm:pt modelId="{18EACDF7-30F7-4FC3-9317-5E4BC4766B29}" type="sibTrans" cxnId="{12261212-8DC5-439A-8361-828A529F89AD}">
      <dgm:prSet/>
      <dgm:spPr/>
      <dgm:t>
        <a:bodyPr/>
        <a:lstStyle/>
        <a:p>
          <a:endParaRPr lang="en-GB"/>
        </a:p>
      </dgm:t>
    </dgm:pt>
    <dgm:pt modelId="{56371C0F-41D2-4924-AF57-85FC219B062C}">
      <dgm:prSet phldrT="[Text]"/>
      <dgm:spPr/>
      <dgm:t>
        <a:bodyPr/>
        <a:lstStyle/>
        <a:p>
          <a:r>
            <a:rPr lang="en-GB" dirty="0"/>
            <a:t>Complexity</a:t>
          </a:r>
        </a:p>
      </dgm:t>
    </dgm:pt>
    <dgm:pt modelId="{E3462BE8-B1B1-46E3-9EFA-8BEF4540D3E6}" type="parTrans" cxnId="{796E45CE-7F9B-43CC-94DF-075AE975C176}">
      <dgm:prSet/>
      <dgm:spPr/>
      <dgm:t>
        <a:bodyPr/>
        <a:lstStyle/>
        <a:p>
          <a:endParaRPr lang="en-GB"/>
        </a:p>
      </dgm:t>
    </dgm:pt>
    <dgm:pt modelId="{A45CD1E7-8372-4437-AD13-F6EC1AACA7BC}" type="sibTrans" cxnId="{796E45CE-7F9B-43CC-94DF-075AE975C176}">
      <dgm:prSet/>
      <dgm:spPr/>
      <dgm:t>
        <a:bodyPr/>
        <a:lstStyle/>
        <a:p>
          <a:endParaRPr lang="en-GB"/>
        </a:p>
      </dgm:t>
    </dgm:pt>
    <dgm:pt modelId="{CA860D9C-9932-4C3A-B5E4-8FDCE70469EA}" type="pres">
      <dgm:prSet presAssocID="{7FCDA4D6-2E08-47CD-9129-3E9A6BC3D7CF}" presName="cycle" presStyleCnt="0">
        <dgm:presLayoutVars>
          <dgm:chMax val="1"/>
          <dgm:dir/>
          <dgm:animLvl val="ctr"/>
          <dgm:resizeHandles val="exact"/>
        </dgm:presLayoutVars>
      </dgm:prSet>
      <dgm:spPr/>
    </dgm:pt>
    <dgm:pt modelId="{EE43AA89-C318-440A-9F16-2919F17370E9}" type="pres">
      <dgm:prSet presAssocID="{B39501E9-89A6-4E6E-9D5E-FCAF2C03653E}" presName="centerShape" presStyleLbl="node0" presStyleIdx="0" presStyleCnt="1" custScaleX="95710" custScaleY="46264" custLinFactNeighborX="-3324" custLinFactNeighborY="-28166"/>
      <dgm:spPr/>
    </dgm:pt>
    <dgm:pt modelId="{BF8CE21D-0E26-4BEE-9B67-B4DB59AC6557}" type="pres">
      <dgm:prSet presAssocID="{6A24EBDB-89A5-415B-B14D-9F05E90C11AA}" presName="parTrans" presStyleLbl="bgSibTrans2D1" presStyleIdx="0" presStyleCnt="6" custScaleY="32250"/>
      <dgm:spPr/>
    </dgm:pt>
    <dgm:pt modelId="{A3B6F484-CADE-451A-B03F-CE3246E32F6B}" type="pres">
      <dgm:prSet presAssocID="{33AD0358-21DA-40E7-87FE-00F65E0EA23B}" presName="node" presStyleLbl="node1" presStyleIdx="0" presStyleCnt="6" custScaleX="153919" custScaleY="151812" custRadScaleRad="92141" custRadScaleInc="2020">
        <dgm:presLayoutVars>
          <dgm:bulletEnabled val="1"/>
        </dgm:presLayoutVars>
      </dgm:prSet>
      <dgm:spPr/>
    </dgm:pt>
    <dgm:pt modelId="{10E2E671-1D52-4928-A1C6-E0C23DB2954A}" type="pres">
      <dgm:prSet presAssocID="{0AB54842-CDD6-437F-B922-FDED8DB5C122}" presName="parTrans" presStyleLbl="bgSibTrans2D1" presStyleIdx="1" presStyleCnt="6" custScaleY="32250"/>
      <dgm:spPr/>
    </dgm:pt>
    <dgm:pt modelId="{114F5292-13FE-4767-9405-4B369DB9253A}" type="pres">
      <dgm:prSet presAssocID="{2E50DD25-AE3D-4515-93E6-3ACF5929A1EF}" presName="node" presStyleLbl="node1" presStyleIdx="1" presStyleCnt="6" custScaleX="153919" custScaleY="156589" custRadScaleRad="6540" custRadScaleInc="-85900">
        <dgm:presLayoutVars>
          <dgm:bulletEnabled val="1"/>
        </dgm:presLayoutVars>
      </dgm:prSet>
      <dgm:spPr/>
    </dgm:pt>
    <dgm:pt modelId="{5D121F3F-34E4-486C-BA24-B52ED92D021D}" type="pres">
      <dgm:prSet presAssocID="{5C7C2546-BC97-4670-A97E-423146CF054C}" presName="parTrans" presStyleLbl="bgSibTrans2D1" presStyleIdx="2" presStyleCnt="6" custScaleY="32250"/>
      <dgm:spPr/>
    </dgm:pt>
    <dgm:pt modelId="{FE98681D-D65F-4600-8482-7940DF1B513C}" type="pres">
      <dgm:prSet presAssocID="{1CDD1CDC-ABAA-412F-BAF6-9D82F62EA204}" presName="node" presStyleLbl="node1" presStyleIdx="2" presStyleCnt="6" custScaleX="153919" custScaleY="156589" custRadScaleRad="85716" custRadScaleInc="392355">
        <dgm:presLayoutVars>
          <dgm:bulletEnabled val="1"/>
        </dgm:presLayoutVars>
      </dgm:prSet>
      <dgm:spPr/>
    </dgm:pt>
    <dgm:pt modelId="{36AF84C6-66BE-483D-996B-A7FBCFFAD9B3}" type="pres">
      <dgm:prSet presAssocID="{FE38549A-9FA6-46F1-959B-60D37CE3D39A}" presName="parTrans" presStyleLbl="bgSibTrans2D1" presStyleIdx="3" presStyleCnt="6" custScaleY="32250"/>
      <dgm:spPr/>
    </dgm:pt>
    <dgm:pt modelId="{B5DD2568-723C-4242-93BA-BAEFE068095E}" type="pres">
      <dgm:prSet presAssocID="{4C83E1C6-F3B7-4F2E-8268-6F1E0B599E60}" presName="node" presStyleLbl="node1" presStyleIdx="3" presStyleCnt="6" custRadScaleRad="107654" custRadScaleInc="-71258">
        <dgm:presLayoutVars>
          <dgm:bulletEnabled val="1"/>
        </dgm:presLayoutVars>
      </dgm:prSet>
      <dgm:spPr/>
    </dgm:pt>
    <dgm:pt modelId="{15226B39-7ECE-457F-BF8B-2AFBADEE0B9B}" type="pres">
      <dgm:prSet presAssocID="{8977C4B2-5B42-4870-B021-AF50E3F1DF81}" presName="parTrans" presStyleLbl="bgSibTrans2D1" presStyleIdx="4" presStyleCnt="6" custScaleY="32250"/>
      <dgm:spPr/>
    </dgm:pt>
    <dgm:pt modelId="{09361335-4AAD-442A-B10C-E1849C562F66}" type="pres">
      <dgm:prSet presAssocID="{2F943697-8AD0-49C4-8004-91AD011F126B}" presName="node" presStyleLbl="node1" presStyleIdx="4" presStyleCnt="6" custRadScaleRad="140144" custRadScaleInc="-313099">
        <dgm:presLayoutVars>
          <dgm:bulletEnabled val="1"/>
        </dgm:presLayoutVars>
      </dgm:prSet>
      <dgm:spPr/>
    </dgm:pt>
    <dgm:pt modelId="{31E1642A-C702-409F-AEA9-2A52F27EC1F3}" type="pres">
      <dgm:prSet presAssocID="{E3462BE8-B1B1-46E3-9EFA-8BEF4540D3E6}" presName="parTrans" presStyleLbl="bgSibTrans2D1" presStyleIdx="5" presStyleCnt="6" custScaleY="32250"/>
      <dgm:spPr/>
    </dgm:pt>
    <dgm:pt modelId="{528F45F9-A1BB-44D0-910D-5B51B2457ED1}" type="pres">
      <dgm:prSet presAssocID="{56371C0F-41D2-4924-AF57-85FC219B062C}" presName="node" presStyleLbl="node1" presStyleIdx="5" presStyleCnt="6" custRadScaleRad="133592" custRadScaleInc="-178522">
        <dgm:presLayoutVars>
          <dgm:bulletEnabled val="1"/>
        </dgm:presLayoutVars>
      </dgm:prSet>
      <dgm:spPr/>
    </dgm:pt>
  </dgm:ptLst>
  <dgm:cxnLst>
    <dgm:cxn modelId="{60394E0C-6C0B-4ED7-820F-124EF2412EDA}" type="presOf" srcId="{8977C4B2-5B42-4870-B021-AF50E3F1DF81}" destId="{15226B39-7ECE-457F-BF8B-2AFBADEE0B9B}" srcOrd="0" destOrd="0" presId="urn:microsoft.com/office/officeart/2005/8/layout/radial4"/>
    <dgm:cxn modelId="{F1E01C11-B0F6-4E5A-967C-80CF65F27B44}" srcId="{7FCDA4D6-2E08-47CD-9129-3E9A6BC3D7CF}" destId="{B39501E9-89A6-4E6E-9D5E-FCAF2C03653E}" srcOrd="0" destOrd="0" parTransId="{B2638FD2-5467-4315-A099-D3A612606D98}" sibTransId="{F843199F-A153-444B-B852-5F6F06F9D469}"/>
    <dgm:cxn modelId="{12261212-8DC5-439A-8361-828A529F89AD}" srcId="{B39501E9-89A6-4E6E-9D5E-FCAF2C03653E}" destId="{2F943697-8AD0-49C4-8004-91AD011F126B}" srcOrd="4" destOrd="0" parTransId="{8977C4B2-5B42-4870-B021-AF50E3F1DF81}" sibTransId="{18EACDF7-30F7-4FC3-9317-5E4BC4766B29}"/>
    <dgm:cxn modelId="{C6213A30-849D-4428-B74C-907847B7D795}" type="presOf" srcId="{2E50DD25-AE3D-4515-93E6-3ACF5929A1EF}" destId="{114F5292-13FE-4767-9405-4B369DB9253A}" srcOrd="0" destOrd="0" presId="urn:microsoft.com/office/officeart/2005/8/layout/radial4"/>
    <dgm:cxn modelId="{32BFCC43-ABA5-4EB3-A19F-C6E60A5EC05E}" srcId="{B39501E9-89A6-4E6E-9D5E-FCAF2C03653E}" destId="{1CDD1CDC-ABAA-412F-BAF6-9D82F62EA204}" srcOrd="2" destOrd="0" parTransId="{5C7C2546-BC97-4670-A97E-423146CF054C}" sibTransId="{844B1F57-5506-45BC-8A4A-DB10CCD5F622}"/>
    <dgm:cxn modelId="{2AA80F6A-B153-4EED-AB11-BAB41B91E472}" type="presOf" srcId="{B39501E9-89A6-4E6E-9D5E-FCAF2C03653E}" destId="{EE43AA89-C318-440A-9F16-2919F17370E9}" srcOrd="0" destOrd="0" presId="urn:microsoft.com/office/officeart/2005/8/layout/radial4"/>
    <dgm:cxn modelId="{18F59C6A-4876-4D1F-9FA6-834DD4440545}" type="presOf" srcId="{56371C0F-41D2-4924-AF57-85FC219B062C}" destId="{528F45F9-A1BB-44D0-910D-5B51B2457ED1}" srcOrd="0" destOrd="0" presId="urn:microsoft.com/office/officeart/2005/8/layout/radial4"/>
    <dgm:cxn modelId="{03FE236C-1D78-4D99-87FC-C0C36D065CF2}" type="presOf" srcId="{1CDD1CDC-ABAA-412F-BAF6-9D82F62EA204}" destId="{FE98681D-D65F-4600-8482-7940DF1B513C}" srcOrd="0" destOrd="0" presId="urn:microsoft.com/office/officeart/2005/8/layout/radial4"/>
    <dgm:cxn modelId="{B965F04D-34CC-44A5-8AEB-4E1BF254E58A}" type="presOf" srcId="{2F943697-8AD0-49C4-8004-91AD011F126B}" destId="{09361335-4AAD-442A-B10C-E1849C562F66}" srcOrd="0" destOrd="0" presId="urn:microsoft.com/office/officeart/2005/8/layout/radial4"/>
    <dgm:cxn modelId="{5129D770-4B31-4BB5-85A9-60F6D9D59645}" type="presOf" srcId="{FE38549A-9FA6-46F1-959B-60D37CE3D39A}" destId="{36AF84C6-66BE-483D-996B-A7FBCFFAD9B3}" srcOrd="0" destOrd="0" presId="urn:microsoft.com/office/officeart/2005/8/layout/radial4"/>
    <dgm:cxn modelId="{A5F99154-964E-4327-83CC-1404A4B4EDD0}" type="presOf" srcId="{E3462BE8-B1B1-46E3-9EFA-8BEF4540D3E6}" destId="{31E1642A-C702-409F-AEA9-2A52F27EC1F3}" srcOrd="0" destOrd="0" presId="urn:microsoft.com/office/officeart/2005/8/layout/radial4"/>
    <dgm:cxn modelId="{F5E72A7F-E657-4BC3-8E71-01E8C98539B4}" srcId="{B39501E9-89A6-4E6E-9D5E-FCAF2C03653E}" destId="{2E50DD25-AE3D-4515-93E6-3ACF5929A1EF}" srcOrd="1" destOrd="0" parTransId="{0AB54842-CDD6-437F-B922-FDED8DB5C122}" sibTransId="{7B145CB7-E4A2-496C-AF47-891E9178B4FF}"/>
    <dgm:cxn modelId="{515FB697-FC56-4B4B-8469-68485F6D66BA}" type="presOf" srcId="{7FCDA4D6-2E08-47CD-9129-3E9A6BC3D7CF}" destId="{CA860D9C-9932-4C3A-B5E4-8FDCE70469EA}" srcOrd="0" destOrd="0" presId="urn:microsoft.com/office/officeart/2005/8/layout/radial4"/>
    <dgm:cxn modelId="{726C1CA7-4CB6-40D5-AADD-E0484D9A27F3}" type="presOf" srcId="{33AD0358-21DA-40E7-87FE-00F65E0EA23B}" destId="{A3B6F484-CADE-451A-B03F-CE3246E32F6B}" srcOrd="0" destOrd="0" presId="urn:microsoft.com/office/officeart/2005/8/layout/radial4"/>
    <dgm:cxn modelId="{EB04EEAA-1893-4EE4-A053-774937655B58}" type="presOf" srcId="{4C83E1C6-F3B7-4F2E-8268-6F1E0B599E60}" destId="{B5DD2568-723C-4242-93BA-BAEFE068095E}" srcOrd="0" destOrd="0" presId="urn:microsoft.com/office/officeart/2005/8/layout/radial4"/>
    <dgm:cxn modelId="{D0FEFBAF-C68D-4544-B6C7-BD1573A541FA}" srcId="{B39501E9-89A6-4E6E-9D5E-FCAF2C03653E}" destId="{4C83E1C6-F3B7-4F2E-8268-6F1E0B599E60}" srcOrd="3" destOrd="0" parTransId="{FE38549A-9FA6-46F1-959B-60D37CE3D39A}" sibTransId="{1C38D96E-F1B1-4D18-9132-450FAAF58D69}"/>
    <dgm:cxn modelId="{796E45CE-7F9B-43CC-94DF-075AE975C176}" srcId="{B39501E9-89A6-4E6E-9D5E-FCAF2C03653E}" destId="{56371C0F-41D2-4924-AF57-85FC219B062C}" srcOrd="5" destOrd="0" parTransId="{E3462BE8-B1B1-46E3-9EFA-8BEF4540D3E6}" sibTransId="{A45CD1E7-8372-4437-AD13-F6EC1AACA7BC}"/>
    <dgm:cxn modelId="{971546E1-FA2F-4967-98C6-3596E3D4D8C6}" type="presOf" srcId="{5C7C2546-BC97-4670-A97E-423146CF054C}" destId="{5D121F3F-34E4-486C-BA24-B52ED92D021D}" srcOrd="0" destOrd="0" presId="urn:microsoft.com/office/officeart/2005/8/layout/radial4"/>
    <dgm:cxn modelId="{054489EA-B1D3-4C5B-ABA8-010DBD2433A4}" srcId="{B39501E9-89A6-4E6E-9D5E-FCAF2C03653E}" destId="{33AD0358-21DA-40E7-87FE-00F65E0EA23B}" srcOrd="0" destOrd="0" parTransId="{6A24EBDB-89A5-415B-B14D-9F05E90C11AA}" sibTransId="{2A934961-B8E1-4AD9-812C-EF57453023E3}"/>
    <dgm:cxn modelId="{CC7E22F0-3101-4F12-9D87-C9CD94F47D92}" type="presOf" srcId="{6A24EBDB-89A5-415B-B14D-9F05E90C11AA}" destId="{BF8CE21D-0E26-4BEE-9B67-B4DB59AC6557}" srcOrd="0" destOrd="0" presId="urn:microsoft.com/office/officeart/2005/8/layout/radial4"/>
    <dgm:cxn modelId="{D0BD8DFA-96DC-4D8E-B197-444668AA8DEA}" type="presOf" srcId="{0AB54842-CDD6-437F-B922-FDED8DB5C122}" destId="{10E2E671-1D52-4928-A1C6-E0C23DB2954A}" srcOrd="0" destOrd="0" presId="urn:microsoft.com/office/officeart/2005/8/layout/radial4"/>
    <dgm:cxn modelId="{F04F8A59-2B8B-438B-98A8-B10A84BE3E91}" type="presParOf" srcId="{CA860D9C-9932-4C3A-B5E4-8FDCE70469EA}" destId="{EE43AA89-C318-440A-9F16-2919F17370E9}" srcOrd="0" destOrd="0" presId="urn:microsoft.com/office/officeart/2005/8/layout/radial4"/>
    <dgm:cxn modelId="{80556AAB-FABF-4ECF-8895-1BF205A4B3F6}" type="presParOf" srcId="{CA860D9C-9932-4C3A-B5E4-8FDCE70469EA}" destId="{BF8CE21D-0E26-4BEE-9B67-B4DB59AC6557}" srcOrd="1" destOrd="0" presId="urn:microsoft.com/office/officeart/2005/8/layout/radial4"/>
    <dgm:cxn modelId="{4B73084B-7061-4F3D-A490-377F25F3FAFA}" type="presParOf" srcId="{CA860D9C-9932-4C3A-B5E4-8FDCE70469EA}" destId="{A3B6F484-CADE-451A-B03F-CE3246E32F6B}" srcOrd="2" destOrd="0" presId="urn:microsoft.com/office/officeart/2005/8/layout/radial4"/>
    <dgm:cxn modelId="{07FD82B5-FF1C-42F7-ADA2-65C90E754E41}" type="presParOf" srcId="{CA860D9C-9932-4C3A-B5E4-8FDCE70469EA}" destId="{10E2E671-1D52-4928-A1C6-E0C23DB2954A}" srcOrd="3" destOrd="0" presId="urn:microsoft.com/office/officeart/2005/8/layout/radial4"/>
    <dgm:cxn modelId="{73B91EBF-CADF-4DC5-BD1D-C8F643519AA1}" type="presParOf" srcId="{CA860D9C-9932-4C3A-B5E4-8FDCE70469EA}" destId="{114F5292-13FE-4767-9405-4B369DB9253A}" srcOrd="4" destOrd="0" presId="urn:microsoft.com/office/officeart/2005/8/layout/radial4"/>
    <dgm:cxn modelId="{57058FAD-CF83-4209-B93D-65EE5790D78B}" type="presParOf" srcId="{CA860D9C-9932-4C3A-B5E4-8FDCE70469EA}" destId="{5D121F3F-34E4-486C-BA24-B52ED92D021D}" srcOrd="5" destOrd="0" presId="urn:microsoft.com/office/officeart/2005/8/layout/radial4"/>
    <dgm:cxn modelId="{63502818-43EC-4F11-9EFA-64DD71107775}" type="presParOf" srcId="{CA860D9C-9932-4C3A-B5E4-8FDCE70469EA}" destId="{FE98681D-D65F-4600-8482-7940DF1B513C}" srcOrd="6" destOrd="0" presId="urn:microsoft.com/office/officeart/2005/8/layout/radial4"/>
    <dgm:cxn modelId="{50081CFE-5027-405C-99CC-A5ADC0B0B986}" type="presParOf" srcId="{CA860D9C-9932-4C3A-B5E4-8FDCE70469EA}" destId="{36AF84C6-66BE-483D-996B-A7FBCFFAD9B3}" srcOrd="7" destOrd="0" presId="urn:microsoft.com/office/officeart/2005/8/layout/radial4"/>
    <dgm:cxn modelId="{3B3D4BD4-7D03-4ED5-AD31-18F0D6DFA58C}" type="presParOf" srcId="{CA860D9C-9932-4C3A-B5E4-8FDCE70469EA}" destId="{B5DD2568-723C-4242-93BA-BAEFE068095E}" srcOrd="8" destOrd="0" presId="urn:microsoft.com/office/officeart/2005/8/layout/radial4"/>
    <dgm:cxn modelId="{3EAFC8FC-99B5-4C05-984F-32C6A3EA3EF6}" type="presParOf" srcId="{CA860D9C-9932-4C3A-B5E4-8FDCE70469EA}" destId="{15226B39-7ECE-457F-BF8B-2AFBADEE0B9B}" srcOrd="9" destOrd="0" presId="urn:microsoft.com/office/officeart/2005/8/layout/radial4"/>
    <dgm:cxn modelId="{CCAC028E-774F-467F-804F-07ACA4F84412}" type="presParOf" srcId="{CA860D9C-9932-4C3A-B5E4-8FDCE70469EA}" destId="{09361335-4AAD-442A-B10C-E1849C562F66}" srcOrd="10" destOrd="0" presId="urn:microsoft.com/office/officeart/2005/8/layout/radial4"/>
    <dgm:cxn modelId="{A84C1051-E779-4067-B82C-3FE7EE2FAAA4}" type="presParOf" srcId="{CA860D9C-9932-4C3A-B5E4-8FDCE70469EA}" destId="{31E1642A-C702-409F-AEA9-2A52F27EC1F3}" srcOrd="11" destOrd="0" presId="urn:microsoft.com/office/officeart/2005/8/layout/radial4"/>
    <dgm:cxn modelId="{067BA791-1EA8-46D9-B2CA-C8B4C8A4FA8F}" type="presParOf" srcId="{CA860D9C-9932-4C3A-B5E4-8FDCE70469EA}" destId="{528F45F9-A1BB-44D0-910D-5B51B2457ED1}" srcOrd="12"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576E893-64BF-443E-BC88-5918A1EC6850}" type="doc">
      <dgm:prSet loTypeId="urn:microsoft.com/office/officeart/2005/8/layout/list1" loCatId="list" qsTypeId="urn:microsoft.com/office/officeart/2005/8/quickstyle/3d2#1" qsCatId="3D" csTypeId="urn:microsoft.com/office/officeart/2005/8/colors/accent0_3#1" csCatId="mainScheme" phldr="1"/>
      <dgm:spPr/>
      <dgm:t>
        <a:bodyPr/>
        <a:lstStyle/>
        <a:p>
          <a:endParaRPr lang="en-GB"/>
        </a:p>
      </dgm:t>
    </dgm:pt>
    <dgm:pt modelId="{B161B7F3-FDB7-4B9F-A7AF-B5BC632B7FFC}">
      <dgm:prSet/>
      <dgm:spPr/>
      <dgm:t>
        <a:bodyPr/>
        <a:lstStyle/>
        <a:p>
          <a:pPr rtl="0"/>
          <a:r>
            <a:rPr lang="en-US" u="sng" dirty="0"/>
            <a:t>Never mix and match</a:t>
          </a:r>
          <a:r>
            <a:rPr lang="en-US" dirty="0"/>
            <a:t> cash flows and discount rates.  </a:t>
          </a:r>
          <a:endParaRPr lang="en-GB" dirty="0"/>
        </a:p>
      </dgm:t>
    </dgm:pt>
    <dgm:pt modelId="{CACC1D7E-4E5A-4714-A650-AA64DA915B22}" type="parTrans" cxnId="{B251B180-B101-4D2F-8814-657E9DB35EA8}">
      <dgm:prSet/>
      <dgm:spPr/>
      <dgm:t>
        <a:bodyPr/>
        <a:lstStyle/>
        <a:p>
          <a:endParaRPr lang="en-GB"/>
        </a:p>
      </dgm:t>
    </dgm:pt>
    <dgm:pt modelId="{8BE3AD28-CA9F-4499-ABA4-558453513D0B}" type="sibTrans" cxnId="{B251B180-B101-4D2F-8814-657E9DB35EA8}">
      <dgm:prSet/>
      <dgm:spPr/>
      <dgm:t>
        <a:bodyPr/>
        <a:lstStyle/>
        <a:p>
          <a:endParaRPr lang="en-GB"/>
        </a:p>
      </dgm:t>
    </dgm:pt>
    <dgm:pt modelId="{19EFB793-540B-42D5-AF01-623F02D46D7E}">
      <dgm:prSet/>
      <dgm:spPr/>
      <dgm:t>
        <a:bodyPr/>
        <a:lstStyle/>
        <a:p>
          <a:pPr rtl="0"/>
          <a:r>
            <a:rPr lang="en-US" dirty="0"/>
            <a:t>The key error to avoid is </a:t>
          </a:r>
          <a:r>
            <a:rPr lang="en-US" u="sng" dirty="0"/>
            <a:t>mismatching CFs and discount rates</a:t>
          </a:r>
          <a:r>
            <a:rPr lang="en-US" dirty="0"/>
            <a:t>, </a:t>
          </a:r>
          <a:endParaRPr lang="en-GB" dirty="0"/>
        </a:p>
      </dgm:t>
    </dgm:pt>
    <dgm:pt modelId="{CA0EA20A-72D3-4030-8679-D551849DAAB4}" type="parTrans" cxnId="{5EACB9FD-C2F4-4F09-B241-5A07D7627EA6}">
      <dgm:prSet/>
      <dgm:spPr/>
      <dgm:t>
        <a:bodyPr/>
        <a:lstStyle/>
        <a:p>
          <a:endParaRPr lang="en-GB"/>
        </a:p>
      </dgm:t>
    </dgm:pt>
    <dgm:pt modelId="{D36B4AEA-8369-4413-8643-5530AC21A4DE}" type="sibTrans" cxnId="{5EACB9FD-C2F4-4F09-B241-5A07D7627EA6}">
      <dgm:prSet/>
      <dgm:spPr/>
      <dgm:t>
        <a:bodyPr/>
        <a:lstStyle/>
        <a:p>
          <a:endParaRPr lang="en-GB"/>
        </a:p>
      </dgm:t>
    </dgm:pt>
    <dgm:pt modelId="{CA733D51-74C2-49E5-9E6C-806E2D81C352}">
      <dgm:prSet custT="1"/>
      <dgm:spPr/>
      <dgm:t>
        <a:bodyPr/>
        <a:lstStyle/>
        <a:p>
          <a:pPr marL="169863" indent="-74613" rtl="0">
            <a:tabLst/>
          </a:pPr>
          <a:r>
            <a:rPr lang="en-US" sz="1800" dirty="0">
              <a:solidFill>
                <a:srgbClr val="C00000"/>
              </a:solidFill>
            </a:rPr>
            <a:t> discounting CFs to equity (CFE) at the weighted average cost of capital will lead to an upwardly biased estimate of the value of equity</a:t>
          </a:r>
          <a:endParaRPr lang="en-GB" sz="1800" dirty="0">
            <a:solidFill>
              <a:srgbClr val="C00000"/>
            </a:solidFill>
          </a:endParaRPr>
        </a:p>
      </dgm:t>
    </dgm:pt>
    <dgm:pt modelId="{8A8E40FD-5C1F-428B-BA2C-3DEE757082B1}" type="parTrans" cxnId="{D75C59CB-C968-46B6-AE05-AD79036FD84C}">
      <dgm:prSet/>
      <dgm:spPr/>
      <dgm:t>
        <a:bodyPr/>
        <a:lstStyle/>
        <a:p>
          <a:endParaRPr lang="en-GB"/>
        </a:p>
      </dgm:t>
    </dgm:pt>
    <dgm:pt modelId="{CACBD803-3047-4A84-BEA1-628EF7498331}" type="sibTrans" cxnId="{D75C59CB-C968-46B6-AE05-AD79036FD84C}">
      <dgm:prSet/>
      <dgm:spPr/>
      <dgm:t>
        <a:bodyPr/>
        <a:lstStyle/>
        <a:p>
          <a:endParaRPr lang="en-GB"/>
        </a:p>
      </dgm:t>
    </dgm:pt>
    <dgm:pt modelId="{26ADA978-070B-4358-A24F-90C88F52D405}">
      <dgm:prSet custT="1"/>
      <dgm:spPr/>
      <dgm:t>
        <a:bodyPr/>
        <a:lstStyle/>
        <a:p>
          <a:pPr marL="169863" indent="-74613" rtl="0">
            <a:tabLst/>
          </a:pPr>
          <a:r>
            <a:rPr lang="en-US" sz="1800" dirty="0">
              <a:solidFill>
                <a:srgbClr val="C00000"/>
              </a:solidFill>
            </a:rPr>
            <a:t> discounting CFs to the firm (CFF) at the cost of equity will yield a downward biased estimate of the value of the firm.</a:t>
          </a:r>
          <a:endParaRPr lang="en-GB" sz="1800" dirty="0">
            <a:solidFill>
              <a:srgbClr val="C00000"/>
            </a:solidFill>
          </a:endParaRPr>
        </a:p>
      </dgm:t>
    </dgm:pt>
    <dgm:pt modelId="{C79DC8B9-F26F-40CA-804C-4ECFAAFBB8D3}" type="parTrans" cxnId="{29F98B5B-B42C-463E-9F9F-FEFE6C57DB8D}">
      <dgm:prSet/>
      <dgm:spPr/>
      <dgm:t>
        <a:bodyPr/>
        <a:lstStyle/>
        <a:p>
          <a:endParaRPr lang="en-GB"/>
        </a:p>
      </dgm:t>
    </dgm:pt>
    <dgm:pt modelId="{766E0DB2-3D64-4BAB-8D34-391FA76A30E2}" type="sibTrans" cxnId="{29F98B5B-B42C-463E-9F9F-FEFE6C57DB8D}">
      <dgm:prSet/>
      <dgm:spPr/>
      <dgm:t>
        <a:bodyPr/>
        <a:lstStyle/>
        <a:p>
          <a:endParaRPr lang="en-GB"/>
        </a:p>
      </dgm:t>
    </dgm:pt>
    <dgm:pt modelId="{055B9B74-7964-4080-B6D3-4C0C672DC101}">
      <dgm:prSet/>
      <dgm:spPr/>
      <dgm:t>
        <a:bodyPr/>
        <a:lstStyle/>
        <a:p>
          <a:pPr marL="0" indent="0" rtl="0"/>
          <a:r>
            <a:rPr lang="en-GB" sz="1900" dirty="0"/>
            <a:t>Firm </a:t>
          </a:r>
          <a:r>
            <a:rPr lang="en-GB" sz="1900" dirty="0" err="1"/>
            <a:t>vs</a:t>
          </a:r>
          <a:r>
            <a:rPr lang="en-GB" sz="1900" dirty="0"/>
            <a:t> Equity</a:t>
          </a:r>
        </a:p>
      </dgm:t>
    </dgm:pt>
    <dgm:pt modelId="{87F7CBB0-5AF0-45CC-9CA1-491A788B555C}" type="parTrans" cxnId="{AD5B97D5-8E5D-4D97-B93E-E668C3B04512}">
      <dgm:prSet/>
      <dgm:spPr/>
      <dgm:t>
        <a:bodyPr/>
        <a:lstStyle/>
        <a:p>
          <a:endParaRPr lang="en-GB"/>
        </a:p>
      </dgm:t>
    </dgm:pt>
    <dgm:pt modelId="{9DDD7CB0-D804-485F-9FEA-24988BA49C8C}" type="sibTrans" cxnId="{AD5B97D5-8E5D-4D97-B93E-E668C3B04512}">
      <dgm:prSet/>
      <dgm:spPr/>
      <dgm:t>
        <a:bodyPr/>
        <a:lstStyle/>
        <a:p>
          <a:endParaRPr lang="en-GB"/>
        </a:p>
      </dgm:t>
    </dgm:pt>
    <dgm:pt modelId="{9FC1466A-E3C5-4748-947D-AD250B520234}">
      <dgm:prSet/>
      <dgm:spPr/>
      <dgm:t>
        <a:bodyPr/>
        <a:lstStyle/>
        <a:p>
          <a:pPr marL="0" indent="0" rtl="0"/>
          <a:r>
            <a:rPr lang="en-GB" sz="1900" dirty="0"/>
            <a:t>Currency-Inflation-Risk</a:t>
          </a:r>
        </a:p>
      </dgm:t>
    </dgm:pt>
    <dgm:pt modelId="{F3DBCCB2-1B29-4924-85A6-89B9AD9BD2B8}" type="parTrans" cxnId="{EBAAE865-4DEB-42F9-9029-7CE8BEE207BE}">
      <dgm:prSet/>
      <dgm:spPr/>
      <dgm:t>
        <a:bodyPr/>
        <a:lstStyle/>
        <a:p>
          <a:endParaRPr lang="en-GB"/>
        </a:p>
      </dgm:t>
    </dgm:pt>
    <dgm:pt modelId="{4B922253-D8DA-4CC8-A768-78B093BB2099}" type="sibTrans" cxnId="{EBAAE865-4DEB-42F9-9029-7CE8BEE207BE}">
      <dgm:prSet/>
      <dgm:spPr/>
      <dgm:t>
        <a:bodyPr/>
        <a:lstStyle/>
        <a:p>
          <a:endParaRPr lang="en-GB"/>
        </a:p>
      </dgm:t>
    </dgm:pt>
    <dgm:pt modelId="{7E22A396-CD3E-4F56-B546-5307A5FFC2AD}">
      <dgm:prSet custT="1"/>
      <dgm:spPr/>
      <dgm:t>
        <a:bodyPr/>
        <a:lstStyle/>
        <a:p>
          <a:pPr marL="173038" indent="-95250" rtl="0">
            <a:tabLst>
              <a:tab pos="898525" algn="l"/>
            </a:tabLst>
          </a:pPr>
          <a:r>
            <a:rPr lang="en-US" sz="1800" dirty="0">
              <a:solidFill>
                <a:srgbClr val="C00000"/>
              </a:solidFill>
            </a:rPr>
            <a:t> The currency in which the cash flows are estimated should also be the currency in which the discount rate is estimated.</a:t>
          </a:r>
          <a:endParaRPr lang="en-GB" sz="1800" dirty="0">
            <a:solidFill>
              <a:srgbClr val="C00000"/>
            </a:solidFill>
          </a:endParaRPr>
        </a:p>
      </dgm:t>
    </dgm:pt>
    <dgm:pt modelId="{FAE0F89B-34B1-4FE7-A8C8-54B651F7706B}" type="parTrans" cxnId="{E1E2B52F-E997-4338-89BF-44A0F99133B8}">
      <dgm:prSet/>
      <dgm:spPr/>
      <dgm:t>
        <a:bodyPr/>
        <a:lstStyle/>
        <a:p>
          <a:endParaRPr lang="en-GB"/>
        </a:p>
      </dgm:t>
    </dgm:pt>
    <dgm:pt modelId="{81D34BC6-6163-4156-911D-9A8C8A43082B}" type="sibTrans" cxnId="{E1E2B52F-E997-4338-89BF-44A0F99133B8}">
      <dgm:prSet/>
      <dgm:spPr/>
      <dgm:t>
        <a:bodyPr/>
        <a:lstStyle/>
        <a:p>
          <a:endParaRPr lang="en-GB"/>
        </a:p>
      </dgm:t>
    </dgm:pt>
    <dgm:pt modelId="{2A381D84-1F46-4FBF-BDCE-DE81217172AD}">
      <dgm:prSet custT="1"/>
      <dgm:spPr/>
      <dgm:t>
        <a:bodyPr/>
        <a:lstStyle/>
        <a:p>
          <a:pPr marL="173038" indent="-95250" rtl="0">
            <a:tabLst>
              <a:tab pos="898525" algn="l"/>
            </a:tabLst>
          </a:pPr>
          <a:r>
            <a:rPr lang="en-US" sz="1800">
              <a:solidFill>
                <a:srgbClr val="C00000"/>
              </a:solidFill>
            </a:rPr>
            <a:t> If </a:t>
          </a:r>
          <a:r>
            <a:rPr lang="en-US" sz="1800" dirty="0">
              <a:solidFill>
                <a:srgbClr val="C00000"/>
              </a:solidFill>
            </a:rPr>
            <a:t>the cash flows being discounted are nominal cash flows (i.e., reflect expected inflation), the discount rate should be nominal</a:t>
          </a:r>
          <a:endParaRPr lang="en-GB" sz="1800" dirty="0">
            <a:solidFill>
              <a:srgbClr val="C00000"/>
            </a:solidFill>
          </a:endParaRPr>
        </a:p>
      </dgm:t>
    </dgm:pt>
    <dgm:pt modelId="{A976C931-C212-49FA-BF9A-3B43A3539A20}" type="parTrans" cxnId="{17B652C2-EDB5-4FB0-9776-FF3B25FB6161}">
      <dgm:prSet/>
      <dgm:spPr/>
      <dgm:t>
        <a:bodyPr/>
        <a:lstStyle/>
        <a:p>
          <a:endParaRPr lang="en-GB"/>
        </a:p>
      </dgm:t>
    </dgm:pt>
    <dgm:pt modelId="{D8A1696E-BE68-4DC5-8C4D-46E820BFDC8E}" type="sibTrans" cxnId="{17B652C2-EDB5-4FB0-9776-FF3B25FB6161}">
      <dgm:prSet/>
      <dgm:spPr/>
      <dgm:t>
        <a:bodyPr/>
        <a:lstStyle/>
        <a:p>
          <a:endParaRPr lang="en-GB"/>
        </a:p>
      </dgm:t>
    </dgm:pt>
    <dgm:pt modelId="{5F418998-CEA1-4F69-94EC-58E36861C0CF}">
      <dgm:prSet custT="1"/>
      <dgm:spPr/>
      <dgm:t>
        <a:bodyPr/>
        <a:lstStyle/>
        <a:p>
          <a:pPr marL="173038" indent="-95250" rtl="0">
            <a:tabLst>
              <a:tab pos="898525" algn="l"/>
            </a:tabLst>
          </a:pPr>
          <a:r>
            <a:rPr lang="en-GB" sz="1800">
              <a:solidFill>
                <a:srgbClr val="C00000"/>
              </a:solidFill>
            </a:rPr>
            <a:t> Risky </a:t>
          </a:r>
          <a:r>
            <a:rPr lang="en-GB" sz="1800" dirty="0">
              <a:solidFill>
                <a:srgbClr val="C00000"/>
              </a:solidFill>
            </a:rPr>
            <a:t>CF should be discounted using discount rates that reflect the risk. Certainty Equivalent cash flows should be discounted using the risk free rate.</a:t>
          </a:r>
        </a:p>
      </dgm:t>
    </dgm:pt>
    <dgm:pt modelId="{72394DEF-32A2-4D09-8B76-3CA9E5A76EB3}" type="parTrans" cxnId="{4046A78E-1343-47B8-8188-344A90DCFD6B}">
      <dgm:prSet/>
      <dgm:spPr/>
      <dgm:t>
        <a:bodyPr/>
        <a:lstStyle/>
        <a:p>
          <a:endParaRPr lang="en-GB"/>
        </a:p>
      </dgm:t>
    </dgm:pt>
    <dgm:pt modelId="{EB1BA267-70DF-433A-9642-9E6A93EA08DC}" type="sibTrans" cxnId="{4046A78E-1343-47B8-8188-344A90DCFD6B}">
      <dgm:prSet/>
      <dgm:spPr/>
      <dgm:t>
        <a:bodyPr/>
        <a:lstStyle/>
        <a:p>
          <a:endParaRPr lang="en-GB"/>
        </a:p>
      </dgm:t>
    </dgm:pt>
    <dgm:pt modelId="{EF15BC1F-C7D1-4800-B602-B93FD2BE5028}" type="pres">
      <dgm:prSet presAssocID="{9576E893-64BF-443E-BC88-5918A1EC6850}" presName="linear" presStyleCnt="0">
        <dgm:presLayoutVars>
          <dgm:dir/>
          <dgm:animLvl val="lvl"/>
          <dgm:resizeHandles val="exact"/>
        </dgm:presLayoutVars>
      </dgm:prSet>
      <dgm:spPr/>
    </dgm:pt>
    <dgm:pt modelId="{595E1363-FC6C-420F-90B6-EF5BF6495B26}" type="pres">
      <dgm:prSet presAssocID="{B161B7F3-FDB7-4B9F-A7AF-B5BC632B7FFC}" presName="parentLin" presStyleCnt="0"/>
      <dgm:spPr/>
    </dgm:pt>
    <dgm:pt modelId="{3F9AA3A6-D0CA-404C-8241-9C6C9F051A97}" type="pres">
      <dgm:prSet presAssocID="{B161B7F3-FDB7-4B9F-A7AF-B5BC632B7FFC}" presName="parentLeftMargin" presStyleLbl="node1" presStyleIdx="0" presStyleCnt="2"/>
      <dgm:spPr/>
    </dgm:pt>
    <dgm:pt modelId="{1BF82DCB-E4D2-4704-B840-122D16D5F41A}" type="pres">
      <dgm:prSet presAssocID="{B161B7F3-FDB7-4B9F-A7AF-B5BC632B7FFC}" presName="parentText" presStyleLbl="node1" presStyleIdx="0" presStyleCnt="2" custScaleX="125959">
        <dgm:presLayoutVars>
          <dgm:chMax val="0"/>
          <dgm:bulletEnabled val="1"/>
        </dgm:presLayoutVars>
      </dgm:prSet>
      <dgm:spPr/>
    </dgm:pt>
    <dgm:pt modelId="{813EABE5-F2B0-4D67-8365-137633DA7E71}" type="pres">
      <dgm:prSet presAssocID="{B161B7F3-FDB7-4B9F-A7AF-B5BC632B7FFC}" presName="negativeSpace" presStyleCnt="0"/>
      <dgm:spPr/>
    </dgm:pt>
    <dgm:pt modelId="{B3292A6E-76CF-45C3-9E68-DCD7106DEE4F}" type="pres">
      <dgm:prSet presAssocID="{B161B7F3-FDB7-4B9F-A7AF-B5BC632B7FFC}" presName="childText" presStyleLbl="conFgAcc1" presStyleIdx="0" presStyleCnt="2">
        <dgm:presLayoutVars>
          <dgm:bulletEnabled val="1"/>
        </dgm:presLayoutVars>
      </dgm:prSet>
      <dgm:spPr/>
    </dgm:pt>
    <dgm:pt modelId="{1162487F-5643-4199-96A3-CDB634B9BD4A}" type="pres">
      <dgm:prSet presAssocID="{8BE3AD28-CA9F-4499-ABA4-558453513D0B}" presName="spaceBetweenRectangles" presStyleCnt="0"/>
      <dgm:spPr/>
    </dgm:pt>
    <dgm:pt modelId="{5EF890F1-9CF4-472C-90C1-4AB474E09455}" type="pres">
      <dgm:prSet presAssocID="{19EFB793-540B-42D5-AF01-623F02D46D7E}" presName="parentLin" presStyleCnt="0"/>
      <dgm:spPr/>
    </dgm:pt>
    <dgm:pt modelId="{6E8A46B6-A981-40D7-A2AC-0D0533FD2EDE}" type="pres">
      <dgm:prSet presAssocID="{19EFB793-540B-42D5-AF01-623F02D46D7E}" presName="parentLeftMargin" presStyleLbl="node1" presStyleIdx="0" presStyleCnt="2"/>
      <dgm:spPr/>
    </dgm:pt>
    <dgm:pt modelId="{4A8661A1-A628-4A73-9BF0-0540A1AAC78F}" type="pres">
      <dgm:prSet presAssocID="{19EFB793-540B-42D5-AF01-623F02D46D7E}" presName="parentText" presStyleLbl="node1" presStyleIdx="1" presStyleCnt="2" custScaleX="125959">
        <dgm:presLayoutVars>
          <dgm:chMax val="0"/>
          <dgm:bulletEnabled val="1"/>
        </dgm:presLayoutVars>
      </dgm:prSet>
      <dgm:spPr/>
    </dgm:pt>
    <dgm:pt modelId="{FF0FBAFE-AAF3-4392-B8CC-178D2693A9A1}" type="pres">
      <dgm:prSet presAssocID="{19EFB793-540B-42D5-AF01-623F02D46D7E}" presName="negativeSpace" presStyleCnt="0"/>
      <dgm:spPr/>
    </dgm:pt>
    <dgm:pt modelId="{CD55BD26-271C-4075-A83E-53D2568FBA93}" type="pres">
      <dgm:prSet presAssocID="{19EFB793-540B-42D5-AF01-623F02D46D7E}" presName="childText" presStyleLbl="conFgAcc1" presStyleIdx="1" presStyleCnt="2">
        <dgm:presLayoutVars>
          <dgm:bulletEnabled val="1"/>
        </dgm:presLayoutVars>
      </dgm:prSet>
      <dgm:spPr/>
    </dgm:pt>
  </dgm:ptLst>
  <dgm:cxnLst>
    <dgm:cxn modelId="{923DEB01-A610-4EA1-9991-6520B7CE978C}" type="presOf" srcId="{9FC1466A-E3C5-4748-947D-AD250B520234}" destId="{CD55BD26-271C-4075-A83E-53D2568FBA93}" srcOrd="0" destOrd="3" presId="urn:microsoft.com/office/officeart/2005/8/layout/list1"/>
    <dgm:cxn modelId="{2C90F227-8C4C-481E-9E9D-4DEB386ED50B}" type="presOf" srcId="{7E22A396-CD3E-4F56-B546-5307A5FFC2AD}" destId="{CD55BD26-271C-4075-A83E-53D2568FBA93}" srcOrd="0" destOrd="4" presId="urn:microsoft.com/office/officeart/2005/8/layout/list1"/>
    <dgm:cxn modelId="{2A1BA62F-2016-4700-A465-1DCEDCD63858}" type="presOf" srcId="{B161B7F3-FDB7-4B9F-A7AF-B5BC632B7FFC}" destId="{1BF82DCB-E4D2-4704-B840-122D16D5F41A}" srcOrd="1" destOrd="0" presId="urn:microsoft.com/office/officeart/2005/8/layout/list1"/>
    <dgm:cxn modelId="{E1E2B52F-E997-4338-89BF-44A0F99133B8}" srcId="{9FC1466A-E3C5-4748-947D-AD250B520234}" destId="{7E22A396-CD3E-4F56-B546-5307A5FFC2AD}" srcOrd="0" destOrd="0" parTransId="{FAE0F89B-34B1-4FE7-A8C8-54B651F7706B}" sibTransId="{81D34BC6-6163-4156-911D-9A8C8A43082B}"/>
    <dgm:cxn modelId="{A903B532-D59E-4DED-8A3E-AE11076B7B37}" type="presOf" srcId="{B161B7F3-FDB7-4B9F-A7AF-B5BC632B7FFC}" destId="{3F9AA3A6-D0CA-404C-8241-9C6C9F051A97}" srcOrd="0" destOrd="0" presId="urn:microsoft.com/office/officeart/2005/8/layout/list1"/>
    <dgm:cxn modelId="{29F98B5B-B42C-463E-9F9F-FEFE6C57DB8D}" srcId="{055B9B74-7964-4080-B6D3-4C0C672DC101}" destId="{26ADA978-070B-4358-A24F-90C88F52D405}" srcOrd="1" destOrd="0" parTransId="{C79DC8B9-F26F-40CA-804C-4ECFAAFBB8D3}" sibTransId="{766E0DB2-3D64-4BAB-8D34-391FA76A30E2}"/>
    <dgm:cxn modelId="{80D9235D-8D3C-4B3C-9DF8-D5005EC40EB2}" type="presOf" srcId="{19EFB793-540B-42D5-AF01-623F02D46D7E}" destId="{6E8A46B6-A981-40D7-A2AC-0D0533FD2EDE}" srcOrd="0" destOrd="0" presId="urn:microsoft.com/office/officeart/2005/8/layout/list1"/>
    <dgm:cxn modelId="{EBAAE865-4DEB-42F9-9029-7CE8BEE207BE}" srcId="{19EFB793-540B-42D5-AF01-623F02D46D7E}" destId="{9FC1466A-E3C5-4748-947D-AD250B520234}" srcOrd="1" destOrd="0" parTransId="{F3DBCCB2-1B29-4924-85A6-89B9AD9BD2B8}" sibTransId="{4B922253-D8DA-4CC8-A768-78B093BB2099}"/>
    <dgm:cxn modelId="{66486A6A-DBC7-4C7B-AE68-675CB28D397D}" type="presOf" srcId="{2A381D84-1F46-4FBF-BDCE-DE81217172AD}" destId="{CD55BD26-271C-4075-A83E-53D2568FBA93}" srcOrd="0" destOrd="5" presId="urn:microsoft.com/office/officeart/2005/8/layout/list1"/>
    <dgm:cxn modelId="{D02E2270-46F5-442C-B2E0-0E09D27EEF3F}" type="presOf" srcId="{055B9B74-7964-4080-B6D3-4C0C672DC101}" destId="{CD55BD26-271C-4075-A83E-53D2568FBA93}" srcOrd="0" destOrd="0" presId="urn:microsoft.com/office/officeart/2005/8/layout/list1"/>
    <dgm:cxn modelId="{97F3C479-98D1-411F-AC41-BC0503068BAC}" type="presOf" srcId="{19EFB793-540B-42D5-AF01-623F02D46D7E}" destId="{4A8661A1-A628-4A73-9BF0-0540A1AAC78F}" srcOrd="1" destOrd="0" presId="urn:microsoft.com/office/officeart/2005/8/layout/list1"/>
    <dgm:cxn modelId="{B251B180-B101-4D2F-8814-657E9DB35EA8}" srcId="{9576E893-64BF-443E-BC88-5918A1EC6850}" destId="{B161B7F3-FDB7-4B9F-A7AF-B5BC632B7FFC}" srcOrd="0" destOrd="0" parTransId="{CACC1D7E-4E5A-4714-A650-AA64DA915B22}" sibTransId="{8BE3AD28-CA9F-4499-ABA4-558453513D0B}"/>
    <dgm:cxn modelId="{4046A78E-1343-47B8-8188-344A90DCFD6B}" srcId="{2A381D84-1F46-4FBF-BDCE-DE81217172AD}" destId="{5F418998-CEA1-4F69-94EC-58E36861C0CF}" srcOrd="0" destOrd="0" parTransId="{72394DEF-32A2-4D09-8B76-3CA9E5A76EB3}" sibTransId="{EB1BA267-70DF-433A-9642-9E6A93EA08DC}"/>
    <dgm:cxn modelId="{99B23597-98D9-4521-AB48-68CBCF345495}" type="presOf" srcId="{CA733D51-74C2-49E5-9E6C-806E2D81C352}" destId="{CD55BD26-271C-4075-A83E-53D2568FBA93}" srcOrd="0" destOrd="1" presId="urn:microsoft.com/office/officeart/2005/8/layout/list1"/>
    <dgm:cxn modelId="{4E66BBA1-CDFC-4576-9FCF-E4556E02874D}" type="presOf" srcId="{26ADA978-070B-4358-A24F-90C88F52D405}" destId="{CD55BD26-271C-4075-A83E-53D2568FBA93}" srcOrd="0" destOrd="2" presId="urn:microsoft.com/office/officeart/2005/8/layout/list1"/>
    <dgm:cxn modelId="{D13DFFC0-4BD2-482F-9E9F-8AF841FA4AFA}" type="presOf" srcId="{9576E893-64BF-443E-BC88-5918A1EC6850}" destId="{EF15BC1F-C7D1-4800-B602-B93FD2BE5028}" srcOrd="0" destOrd="0" presId="urn:microsoft.com/office/officeart/2005/8/layout/list1"/>
    <dgm:cxn modelId="{17B652C2-EDB5-4FB0-9776-FF3B25FB6161}" srcId="{19EFB793-540B-42D5-AF01-623F02D46D7E}" destId="{2A381D84-1F46-4FBF-BDCE-DE81217172AD}" srcOrd="2" destOrd="0" parTransId="{A976C931-C212-49FA-BF9A-3B43A3539A20}" sibTransId="{D8A1696E-BE68-4DC5-8C4D-46E820BFDC8E}"/>
    <dgm:cxn modelId="{D75C59CB-C968-46B6-AE05-AD79036FD84C}" srcId="{055B9B74-7964-4080-B6D3-4C0C672DC101}" destId="{CA733D51-74C2-49E5-9E6C-806E2D81C352}" srcOrd="0" destOrd="0" parTransId="{8A8E40FD-5C1F-428B-BA2C-3DEE757082B1}" sibTransId="{CACBD803-3047-4A84-BEA1-628EF7498331}"/>
    <dgm:cxn modelId="{AD5B97D5-8E5D-4D97-B93E-E668C3B04512}" srcId="{19EFB793-540B-42D5-AF01-623F02D46D7E}" destId="{055B9B74-7964-4080-B6D3-4C0C672DC101}" srcOrd="0" destOrd="0" parTransId="{87F7CBB0-5AF0-45CC-9CA1-491A788B555C}" sibTransId="{9DDD7CB0-D804-485F-9FEA-24988BA49C8C}"/>
    <dgm:cxn modelId="{9428A7EE-DC38-4AD3-9D6B-1B5FC2AA3DB8}" type="presOf" srcId="{5F418998-CEA1-4F69-94EC-58E36861C0CF}" destId="{CD55BD26-271C-4075-A83E-53D2568FBA93}" srcOrd="0" destOrd="6" presId="urn:microsoft.com/office/officeart/2005/8/layout/list1"/>
    <dgm:cxn modelId="{5EACB9FD-C2F4-4F09-B241-5A07D7627EA6}" srcId="{9576E893-64BF-443E-BC88-5918A1EC6850}" destId="{19EFB793-540B-42D5-AF01-623F02D46D7E}" srcOrd="1" destOrd="0" parTransId="{CA0EA20A-72D3-4030-8679-D551849DAAB4}" sibTransId="{D36B4AEA-8369-4413-8643-5530AC21A4DE}"/>
    <dgm:cxn modelId="{F7BDF29D-74B2-49C8-B733-8F15300F2BDA}" type="presParOf" srcId="{EF15BC1F-C7D1-4800-B602-B93FD2BE5028}" destId="{595E1363-FC6C-420F-90B6-EF5BF6495B26}" srcOrd="0" destOrd="0" presId="urn:microsoft.com/office/officeart/2005/8/layout/list1"/>
    <dgm:cxn modelId="{26C3DF26-A96E-4E53-A597-75C68C945C0C}" type="presParOf" srcId="{595E1363-FC6C-420F-90B6-EF5BF6495B26}" destId="{3F9AA3A6-D0CA-404C-8241-9C6C9F051A97}" srcOrd="0" destOrd="0" presId="urn:microsoft.com/office/officeart/2005/8/layout/list1"/>
    <dgm:cxn modelId="{CE4BB2A8-4C61-4EC0-AAAB-B45B897841FB}" type="presParOf" srcId="{595E1363-FC6C-420F-90B6-EF5BF6495B26}" destId="{1BF82DCB-E4D2-4704-B840-122D16D5F41A}" srcOrd="1" destOrd="0" presId="urn:microsoft.com/office/officeart/2005/8/layout/list1"/>
    <dgm:cxn modelId="{3FDB1137-5591-44D5-AD94-620E24BFC755}" type="presParOf" srcId="{EF15BC1F-C7D1-4800-B602-B93FD2BE5028}" destId="{813EABE5-F2B0-4D67-8365-137633DA7E71}" srcOrd="1" destOrd="0" presId="urn:microsoft.com/office/officeart/2005/8/layout/list1"/>
    <dgm:cxn modelId="{B40156D6-9CA7-4201-B17C-C2BD704DB526}" type="presParOf" srcId="{EF15BC1F-C7D1-4800-B602-B93FD2BE5028}" destId="{B3292A6E-76CF-45C3-9E68-DCD7106DEE4F}" srcOrd="2" destOrd="0" presId="urn:microsoft.com/office/officeart/2005/8/layout/list1"/>
    <dgm:cxn modelId="{5779FAAC-D7FA-417B-B872-0B17B1CA5757}" type="presParOf" srcId="{EF15BC1F-C7D1-4800-B602-B93FD2BE5028}" destId="{1162487F-5643-4199-96A3-CDB634B9BD4A}" srcOrd="3" destOrd="0" presId="urn:microsoft.com/office/officeart/2005/8/layout/list1"/>
    <dgm:cxn modelId="{1EE05F56-C737-4395-84A9-3CDAAF0E5B1C}" type="presParOf" srcId="{EF15BC1F-C7D1-4800-B602-B93FD2BE5028}" destId="{5EF890F1-9CF4-472C-90C1-4AB474E09455}" srcOrd="4" destOrd="0" presId="urn:microsoft.com/office/officeart/2005/8/layout/list1"/>
    <dgm:cxn modelId="{58BF7456-DC6D-4CB4-8AF5-AA19D0EF6201}" type="presParOf" srcId="{5EF890F1-9CF4-472C-90C1-4AB474E09455}" destId="{6E8A46B6-A981-40D7-A2AC-0D0533FD2EDE}" srcOrd="0" destOrd="0" presId="urn:microsoft.com/office/officeart/2005/8/layout/list1"/>
    <dgm:cxn modelId="{5D713428-30F3-40E7-A275-A875C1F559FE}" type="presParOf" srcId="{5EF890F1-9CF4-472C-90C1-4AB474E09455}" destId="{4A8661A1-A628-4A73-9BF0-0540A1AAC78F}" srcOrd="1" destOrd="0" presId="urn:microsoft.com/office/officeart/2005/8/layout/list1"/>
    <dgm:cxn modelId="{D4B4026F-BE11-4EA4-9FE4-440EDB2E8F68}" type="presParOf" srcId="{EF15BC1F-C7D1-4800-B602-B93FD2BE5028}" destId="{FF0FBAFE-AAF3-4392-B8CC-178D2693A9A1}" srcOrd="5" destOrd="0" presId="urn:microsoft.com/office/officeart/2005/8/layout/list1"/>
    <dgm:cxn modelId="{DDBB6FDF-6341-4273-AEFF-45AC24FC11EB}" type="presParOf" srcId="{EF15BC1F-C7D1-4800-B602-B93FD2BE5028}" destId="{CD55BD26-271C-4075-A83E-53D2568FBA93}"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158BE9-5B8E-467E-A341-3C675C52C8A2}" type="doc">
      <dgm:prSet loTypeId="urn:microsoft.com/office/officeart/2005/8/layout/orgChart1" loCatId="hierarchy" qsTypeId="urn:microsoft.com/office/officeart/2005/8/quickstyle/3d3#3" qsCatId="3D" csTypeId="urn:microsoft.com/office/officeart/2005/8/colors/colorful1#2" csCatId="colorful" phldr="1"/>
      <dgm:spPr/>
      <dgm:t>
        <a:bodyPr/>
        <a:lstStyle/>
        <a:p>
          <a:endParaRPr lang="en-GB"/>
        </a:p>
      </dgm:t>
    </dgm:pt>
    <dgm:pt modelId="{7A8EAD54-5814-4289-8951-F1B7D294CDAD}">
      <dgm:prSet/>
      <dgm:spPr/>
      <dgm:t>
        <a:bodyPr/>
        <a:lstStyle/>
        <a:p>
          <a:pPr rtl="0"/>
          <a:r>
            <a:rPr lang="en-GB" dirty="0"/>
            <a:t>Equity Valuation Dividends</a:t>
          </a:r>
        </a:p>
      </dgm:t>
    </dgm:pt>
    <dgm:pt modelId="{86E2D2A0-83D0-4BB8-B05D-79A42AC18D15}" type="parTrans" cxnId="{44D51841-BEA8-4400-BC13-AFB730CAC9E3}">
      <dgm:prSet/>
      <dgm:spPr/>
      <dgm:t>
        <a:bodyPr/>
        <a:lstStyle/>
        <a:p>
          <a:endParaRPr lang="en-GB"/>
        </a:p>
      </dgm:t>
    </dgm:pt>
    <dgm:pt modelId="{0E321437-7548-4C2B-82A8-5863F42FDFEF}" type="sibTrans" cxnId="{44D51841-BEA8-4400-BC13-AFB730CAC9E3}">
      <dgm:prSet/>
      <dgm:spPr/>
      <dgm:t>
        <a:bodyPr/>
        <a:lstStyle/>
        <a:p>
          <a:endParaRPr lang="en-GB"/>
        </a:p>
      </dgm:t>
    </dgm:pt>
    <dgm:pt modelId="{3274025A-F4DA-4B44-A24F-196958DAFC3D}">
      <dgm:prSet/>
      <dgm:spPr/>
      <dgm:t>
        <a:bodyPr/>
        <a:lstStyle/>
        <a:p>
          <a:pPr rtl="0"/>
          <a:r>
            <a:rPr lang="en-GB" dirty="0"/>
            <a:t>Firm Valuation</a:t>
          </a:r>
        </a:p>
      </dgm:t>
    </dgm:pt>
    <dgm:pt modelId="{C566CC5C-CA80-41AD-AFAB-99DC03AC56E5}" type="parTrans" cxnId="{C0429035-FDA3-4CB3-901F-12848197B70B}">
      <dgm:prSet/>
      <dgm:spPr/>
      <dgm:t>
        <a:bodyPr/>
        <a:lstStyle/>
        <a:p>
          <a:endParaRPr lang="en-GB"/>
        </a:p>
      </dgm:t>
    </dgm:pt>
    <dgm:pt modelId="{FEAF69A2-5BA1-438D-A81C-5D6C4F8C0D08}" type="sibTrans" cxnId="{C0429035-FDA3-4CB3-901F-12848197B70B}">
      <dgm:prSet/>
      <dgm:spPr/>
      <dgm:t>
        <a:bodyPr/>
        <a:lstStyle/>
        <a:p>
          <a:endParaRPr lang="en-GB"/>
        </a:p>
      </dgm:t>
    </dgm:pt>
    <dgm:pt modelId="{F8571093-9D3D-4E39-82C6-1117169C68A3}">
      <dgm:prSet/>
      <dgm:spPr/>
      <dgm:t>
        <a:bodyPr/>
        <a:lstStyle/>
        <a:p>
          <a:pPr rtl="0"/>
          <a:r>
            <a:rPr lang="en-GB" dirty="0"/>
            <a:t>FCFF</a:t>
          </a:r>
        </a:p>
      </dgm:t>
    </dgm:pt>
    <dgm:pt modelId="{B0E075A4-33B1-4D4E-B37C-081526B24BA5}" type="parTrans" cxnId="{CF3B67E4-6A94-43BD-A159-749DF7096EC1}">
      <dgm:prSet/>
      <dgm:spPr/>
      <dgm:t>
        <a:bodyPr/>
        <a:lstStyle/>
        <a:p>
          <a:endParaRPr lang="en-GB"/>
        </a:p>
      </dgm:t>
    </dgm:pt>
    <dgm:pt modelId="{0D2D76D0-8CF6-4AE1-B6DE-933D0E6DEE2A}" type="sibTrans" cxnId="{CF3B67E4-6A94-43BD-A159-749DF7096EC1}">
      <dgm:prSet/>
      <dgm:spPr/>
      <dgm:t>
        <a:bodyPr/>
        <a:lstStyle/>
        <a:p>
          <a:endParaRPr lang="en-GB"/>
        </a:p>
      </dgm:t>
    </dgm:pt>
    <dgm:pt modelId="{06E2CE0F-8FDE-45B1-B36E-9CA8B246E2C6}">
      <dgm:prSet/>
      <dgm:spPr/>
      <dgm:t>
        <a:bodyPr/>
        <a:lstStyle/>
        <a:p>
          <a:pPr rtl="0"/>
          <a:r>
            <a:rPr lang="en-GB" dirty="0"/>
            <a:t>WACC</a:t>
          </a:r>
        </a:p>
      </dgm:t>
    </dgm:pt>
    <dgm:pt modelId="{91CD8D0B-6ACF-44B4-AB77-4613E5BAC5AF}" type="parTrans" cxnId="{A402CA09-8B70-4A13-972D-091F8DC440B1}">
      <dgm:prSet/>
      <dgm:spPr/>
      <dgm:t>
        <a:bodyPr/>
        <a:lstStyle/>
        <a:p>
          <a:endParaRPr lang="en-GB"/>
        </a:p>
      </dgm:t>
    </dgm:pt>
    <dgm:pt modelId="{346D2CBD-CA3D-493A-99D3-354D62084A39}" type="sibTrans" cxnId="{A402CA09-8B70-4A13-972D-091F8DC440B1}">
      <dgm:prSet/>
      <dgm:spPr/>
      <dgm:t>
        <a:bodyPr/>
        <a:lstStyle/>
        <a:p>
          <a:endParaRPr lang="en-GB"/>
        </a:p>
      </dgm:t>
    </dgm:pt>
    <dgm:pt modelId="{1F274FCB-5998-4624-8D8A-A63FCBA7DFA4}">
      <dgm:prSet/>
      <dgm:spPr/>
      <dgm:t>
        <a:bodyPr/>
        <a:lstStyle/>
        <a:p>
          <a:pPr rtl="0"/>
          <a:r>
            <a:rPr lang="en-GB" dirty="0"/>
            <a:t>Cost of Equity</a:t>
          </a:r>
        </a:p>
      </dgm:t>
    </dgm:pt>
    <dgm:pt modelId="{82995668-1E60-4A95-8485-97A040CD64DA}">
      <dgm:prSet/>
      <dgm:spPr/>
      <dgm:t>
        <a:bodyPr/>
        <a:lstStyle/>
        <a:p>
          <a:pPr rtl="0"/>
          <a:r>
            <a:rPr lang="en-GB" dirty="0"/>
            <a:t>FCFE</a:t>
          </a:r>
        </a:p>
      </dgm:t>
    </dgm:pt>
    <dgm:pt modelId="{660014AE-A3C8-4A52-96EC-2B42D9557163}">
      <dgm:prSet/>
      <dgm:spPr/>
      <dgm:t>
        <a:bodyPr/>
        <a:lstStyle/>
        <a:p>
          <a:pPr rtl="0"/>
          <a:r>
            <a:rPr lang="en-GB" dirty="0"/>
            <a:t>Equity Valuation Cash Flows to Equity</a:t>
          </a:r>
        </a:p>
      </dgm:t>
    </dgm:pt>
    <dgm:pt modelId="{1A9ACB67-A0E4-46EE-AA8A-043BBE5689B3}" type="sibTrans" cxnId="{41B2EE31-CD53-4063-B37A-C0F4C724CBAE}">
      <dgm:prSet/>
      <dgm:spPr/>
      <dgm:t>
        <a:bodyPr/>
        <a:lstStyle/>
        <a:p>
          <a:endParaRPr lang="en-GB"/>
        </a:p>
      </dgm:t>
    </dgm:pt>
    <dgm:pt modelId="{10F01520-CB1C-45D1-AA9E-3144576BD665}" type="parTrans" cxnId="{41B2EE31-CD53-4063-B37A-C0F4C724CBAE}">
      <dgm:prSet/>
      <dgm:spPr/>
      <dgm:t>
        <a:bodyPr/>
        <a:lstStyle/>
        <a:p>
          <a:endParaRPr lang="en-GB"/>
        </a:p>
      </dgm:t>
    </dgm:pt>
    <dgm:pt modelId="{A805CB9D-0A36-4558-97C7-218ADFD8EB2B}" type="sibTrans" cxnId="{2B0C198F-D814-4177-87B1-2DFDD3BCEFBD}">
      <dgm:prSet/>
      <dgm:spPr/>
      <dgm:t>
        <a:bodyPr/>
        <a:lstStyle/>
        <a:p>
          <a:endParaRPr lang="en-GB"/>
        </a:p>
      </dgm:t>
    </dgm:pt>
    <dgm:pt modelId="{A6293F79-1CAB-43B0-86AF-47472117FE72}" type="parTrans" cxnId="{2B0C198F-D814-4177-87B1-2DFDD3BCEFBD}">
      <dgm:prSet/>
      <dgm:spPr/>
      <dgm:t>
        <a:bodyPr/>
        <a:lstStyle/>
        <a:p>
          <a:endParaRPr lang="en-GB"/>
        </a:p>
      </dgm:t>
    </dgm:pt>
    <dgm:pt modelId="{8D8FA94D-DDDA-4002-B025-991963DA191F}" type="sibTrans" cxnId="{0162BD3E-AE8A-4D77-AA33-B938C3370501}">
      <dgm:prSet/>
      <dgm:spPr/>
      <dgm:t>
        <a:bodyPr/>
        <a:lstStyle/>
        <a:p>
          <a:endParaRPr lang="en-GB"/>
        </a:p>
      </dgm:t>
    </dgm:pt>
    <dgm:pt modelId="{2E1D9B9C-B4C7-4A0C-842B-1819DFD14363}" type="parTrans" cxnId="{0162BD3E-AE8A-4D77-AA33-B938C3370501}">
      <dgm:prSet/>
      <dgm:spPr/>
      <dgm:t>
        <a:bodyPr/>
        <a:lstStyle/>
        <a:p>
          <a:endParaRPr lang="en-GB"/>
        </a:p>
      </dgm:t>
    </dgm:pt>
    <dgm:pt modelId="{43C0493A-1A02-4B25-8CD8-893A9A56931D}">
      <dgm:prSet/>
      <dgm:spPr/>
      <dgm:t>
        <a:bodyPr/>
        <a:lstStyle/>
        <a:p>
          <a:pPr rtl="0"/>
          <a:r>
            <a:rPr lang="en-GB" dirty="0"/>
            <a:t>Cost of Equity</a:t>
          </a:r>
        </a:p>
      </dgm:t>
    </dgm:pt>
    <dgm:pt modelId="{CE5342A4-7188-44E6-A256-8DEA8895B82B}">
      <dgm:prSet/>
      <dgm:spPr/>
      <dgm:t>
        <a:bodyPr/>
        <a:lstStyle/>
        <a:p>
          <a:pPr rtl="0"/>
          <a:r>
            <a:rPr lang="en-GB" dirty="0"/>
            <a:t>Dividends</a:t>
          </a:r>
        </a:p>
      </dgm:t>
    </dgm:pt>
    <dgm:pt modelId="{34E7EE35-4BF2-4536-8733-46E6A35E26CD}" type="sibTrans" cxnId="{36651EEC-71E9-46CB-A950-3A2B977C8BF2}">
      <dgm:prSet/>
      <dgm:spPr/>
      <dgm:t>
        <a:bodyPr/>
        <a:lstStyle/>
        <a:p>
          <a:endParaRPr lang="en-GB"/>
        </a:p>
      </dgm:t>
    </dgm:pt>
    <dgm:pt modelId="{456A6B5A-2E90-4E1C-BBF9-E44DEF6FF18E}" type="parTrans" cxnId="{36651EEC-71E9-46CB-A950-3A2B977C8BF2}">
      <dgm:prSet/>
      <dgm:spPr/>
      <dgm:t>
        <a:bodyPr/>
        <a:lstStyle/>
        <a:p>
          <a:endParaRPr lang="en-GB"/>
        </a:p>
      </dgm:t>
    </dgm:pt>
    <dgm:pt modelId="{CEB0FC27-17A3-4250-B8FD-DD35E12C961D}" type="sibTrans" cxnId="{72B25E1E-84CF-4E77-BFC9-D30429F03F4C}">
      <dgm:prSet/>
      <dgm:spPr/>
      <dgm:t>
        <a:bodyPr/>
        <a:lstStyle/>
        <a:p>
          <a:endParaRPr lang="en-GB"/>
        </a:p>
      </dgm:t>
    </dgm:pt>
    <dgm:pt modelId="{80E7A140-8483-451E-8755-6E533E153249}" type="parTrans" cxnId="{72B25E1E-84CF-4E77-BFC9-D30429F03F4C}">
      <dgm:prSet/>
      <dgm:spPr/>
      <dgm:t>
        <a:bodyPr/>
        <a:lstStyle/>
        <a:p>
          <a:endParaRPr lang="en-GB"/>
        </a:p>
      </dgm:t>
    </dgm:pt>
    <dgm:pt modelId="{97C9A6EC-60DD-4ED4-BD7A-4DE50E87C41F}">
      <dgm:prSet/>
      <dgm:spPr/>
      <dgm:t>
        <a:bodyPr/>
        <a:lstStyle/>
        <a:p>
          <a:pPr rtl="0"/>
          <a:r>
            <a:rPr lang="en-GB" dirty="0"/>
            <a:t>Valuation Approaches</a:t>
          </a:r>
        </a:p>
      </dgm:t>
    </dgm:pt>
    <dgm:pt modelId="{52F4850F-990B-4CD1-A24D-EF204807300C}" type="sibTrans" cxnId="{22689696-F167-4868-902E-527D6C4EA68C}">
      <dgm:prSet/>
      <dgm:spPr/>
      <dgm:t>
        <a:bodyPr/>
        <a:lstStyle/>
        <a:p>
          <a:endParaRPr lang="en-GB"/>
        </a:p>
      </dgm:t>
    </dgm:pt>
    <dgm:pt modelId="{B3F05ADB-E29B-43F8-A312-11B5CD3CC973}" type="parTrans" cxnId="{22689696-F167-4868-902E-527D6C4EA68C}">
      <dgm:prSet/>
      <dgm:spPr/>
      <dgm:t>
        <a:bodyPr/>
        <a:lstStyle/>
        <a:p>
          <a:endParaRPr lang="en-GB"/>
        </a:p>
      </dgm:t>
    </dgm:pt>
    <dgm:pt modelId="{62FDC937-2362-4432-B723-9A5DDB95D9AE}" type="pres">
      <dgm:prSet presAssocID="{3D158BE9-5B8E-467E-A341-3C675C52C8A2}" presName="hierChild1" presStyleCnt="0">
        <dgm:presLayoutVars>
          <dgm:orgChart val="1"/>
          <dgm:chPref val="1"/>
          <dgm:dir/>
          <dgm:animOne val="branch"/>
          <dgm:animLvl val="lvl"/>
          <dgm:resizeHandles/>
        </dgm:presLayoutVars>
      </dgm:prSet>
      <dgm:spPr/>
    </dgm:pt>
    <dgm:pt modelId="{5F65DE91-0BF2-4854-A96A-7D4D5BC0D488}" type="pres">
      <dgm:prSet presAssocID="{97C9A6EC-60DD-4ED4-BD7A-4DE50E87C41F}" presName="hierRoot1" presStyleCnt="0">
        <dgm:presLayoutVars>
          <dgm:hierBranch val="init"/>
        </dgm:presLayoutVars>
      </dgm:prSet>
      <dgm:spPr/>
    </dgm:pt>
    <dgm:pt modelId="{38A1F9FB-DFD2-420F-9195-069A488E77FA}" type="pres">
      <dgm:prSet presAssocID="{97C9A6EC-60DD-4ED4-BD7A-4DE50E87C41F}" presName="rootComposite1" presStyleCnt="0"/>
      <dgm:spPr/>
    </dgm:pt>
    <dgm:pt modelId="{5E865D3D-16CA-4491-98E3-134492F2B65B}" type="pres">
      <dgm:prSet presAssocID="{97C9A6EC-60DD-4ED4-BD7A-4DE50E87C41F}" presName="rootText1" presStyleLbl="node0" presStyleIdx="0" presStyleCnt="1">
        <dgm:presLayoutVars>
          <dgm:chPref val="3"/>
        </dgm:presLayoutVars>
      </dgm:prSet>
      <dgm:spPr/>
    </dgm:pt>
    <dgm:pt modelId="{3690648A-A4A7-427F-A1AD-B2C730A498EA}" type="pres">
      <dgm:prSet presAssocID="{97C9A6EC-60DD-4ED4-BD7A-4DE50E87C41F}" presName="rootConnector1" presStyleLbl="node1" presStyleIdx="0" presStyleCnt="0"/>
      <dgm:spPr/>
    </dgm:pt>
    <dgm:pt modelId="{6D6EE133-0B77-4075-B486-47581A0BBB88}" type="pres">
      <dgm:prSet presAssocID="{97C9A6EC-60DD-4ED4-BD7A-4DE50E87C41F}" presName="hierChild2" presStyleCnt="0"/>
      <dgm:spPr/>
    </dgm:pt>
    <dgm:pt modelId="{33ACD4FB-6740-4D89-B1AF-3256D92E857B}" type="pres">
      <dgm:prSet presAssocID="{86E2D2A0-83D0-4BB8-B05D-79A42AC18D15}" presName="Name37" presStyleLbl="parChTrans1D2" presStyleIdx="0" presStyleCnt="3"/>
      <dgm:spPr/>
    </dgm:pt>
    <dgm:pt modelId="{D95954B2-A995-4105-AA03-605DB299C327}" type="pres">
      <dgm:prSet presAssocID="{7A8EAD54-5814-4289-8951-F1B7D294CDAD}" presName="hierRoot2" presStyleCnt="0">
        <dgm:presLayoutVars>
          <dgm:hierBranch val="init"/>
        </dgm:presLayoutVars>
      </dgm:prSet>
      <dgm:spPr/>
    </dgm:pt>
    <dgm:pt modelId="{9A94EFB0-54D2-45EE-BD88-9EE7CAFA479D}" type="pres">
      <dgm:prSet presAssocID="{7A8EAD54-5814-4289-8951-F1B7D294CDAD}" presName="rootComposite" presStyleCnt="0"/>
      <dgm:spPr/>
    </dgm:pt>
    <dgm:pt modelId="{45D3551F-C84F-4BE4-9265-B9280C5EF475}" type="pres">
      <dgm:prSet presAssocID="{7A8EAD54-5814-4289-8951-F1B7D294CDAD}" presName="rootText" presStyleLbl="node2" presStyleIdx="0" presStyleCnt="3">
        <dgm:presLayoutVars>
          <dgm:chPref val="3"/>
        </dgm:presLayoutVars>
      </dgm:prSet>
      <dgm:spPr/>
    </dgm:pt>
    <dgm:pt modelId="{3C6D10CF-83FF-44B3-A36E-1CDE14EF777E}" type="pres">
      <dgm:prSet presAssocID="{7A8EAD54-5814-4289-8951-F1B7D294CDAD}" presName="rootConnector" presStyleLbl="node2" presStyleIdx="0" presStyleCnt="3"/>
      <dgm:spPr/>
    </dgm:pt>
    <dgm:pt modelId="{B7CB6613-A6D4-410B-A3E1-448AFCEF68E5}" type="pres">
      <dgm:prSet presAssocID="{7A8EAD54-5814-4289-8951-F1B7D294CDAD}" presName="hierChild4" presStyleCnt="0"/>
      <dgm:spPr/>
    </dgm:pt>
    <dgm:pt modelId="{F9707840-EED6-41C1-9201-40C04F6CEFE3}" type="pres">
      <dgm:prSet presAssocID="{80E7A140-8483-451E-8755-6E533E153249}" presName="Name37" presStyleLbl="parChTrans1D3" presStyleIdx="0" presStyleCnt="6"/>
      <dgm:spPr/>
    </dgm:pt>
    <dgm:pt modelId="{112B5CCF-1D00-4C14-86B8-124615273860}" type="pres">
      <dgm:prSet presAssocID="{CE5342A4-7188-44E6-A256-8DEA8895B82B}" presName="hierRoot2" presStyleCnt="0">
        <dgm:presLayoutVars>
          <dgm:hierBranch val="init"/>
        </dgm:presLayoutVars>
      </dgm:prSet>
      <dgm:spPr/>
    </dgm:pt>
    <dgm:pt modelId="{0F287E3D-B806-4A8D-B4B2-200665A40CB7}" type="pres">
      <dgm:prSet presAssocID="{CE5342A4-7188-44E6-A256-8DEA8895B82B}" presName="rootComposite" presStyleCnt="0"/>
      <dgm:spPr/>
    </dgm:pt>
    <dgm:pt modelId="{26069CEE-1295-4413-9A90-AA0EB536620A}" type="pres">
      <dgm:prSet presAssocID="{CE5342A4-7188-44E6-A256-8DEA8895B82B}" presName="rootText" presStyleLbl="node3" presStyleIdx="0" presStyleCnt="6">
        <dgm:presLayoutVars>
          <dgm:chPref val="3"/>
        </dgm:presLayoutVars>
      </dgm:prSet>
      <dgm:spPr/>
    </dgm:pt>
    <dgm:pt modelId="{8D97D54F-C94C-4803-8C42-0BCBC2B5C49A}" type="pres">
      <dgm:prSet presAssocID="{CE5342A4-7188-44E6-A256-8DEA8895B82B}" presName="rootConnector" presStyleLbl="node3" presStyleIdx="0" presStyleCnt="6"/>
      <dgm:spPr/>
    </dgm:pt>
    <dgm:pt modelId="{0DEB1408-7666-48F9-A4DC-147ACEC1F3E3}" type="pres">
      <dgm:prSet presAssocID="{CE5342A4-7188-44E6-A256-8DEA8895B82B}" presName="hierChild4" presStyleCnt="0"/>
      <dgm:spPr/>
    </dgm:pt>
    <dgm:pt modelId="{1F7606B4-D543-4C56-A7E1-3CCD41670AC1}" type="pres">
      <dgm:prSet presAssocID="{CE5342A4-7188-44E6-A256-8DEA8895B82B}" presName="hierChild5" presStyleCnt="0"/>
      <dgm:spPr/>
    </dgm:pt>
    <dgm:pt modelId="{37AF96A3-9856-4DF9-8F0D-C68A577610F6}" type="pres">
      <dgm:prSet presAssocID="{456A6B5A-2E90-4E1C-BBF9-E44DEF6FF18E}" presName="Name37" presStyleLbl="parChTrans1D3" presStyleIdx="1" presStyleCnt="6"/>
      <dgm:spPr/>
    </dgm:pt>
    <dgm:pt modelId="{5D568EC6-31E3-4DEE-B020-E81ED479C369}" type="pres">
      <dgm:prSet presAssocID="{43C0493A-1A02-4B25-8CD8-893A9A56931D}" presName="hierRoot2" presStyleCnt="0">
        <dgm:presLayoutVars>
          <dgm:hierBranch val="init"/>
        </dgm:presLayoutVars>
      </dgm:prSet>
      <dgm:spPr/>
    </dgm:pt>
    <dgm:pt modelId="{A8C96A79-EAC1-409B-9BE8-C4A8BC78C23B}" type="pres">
      <dgm:prSet presAssocID="{43C0493A-1A02-4B25-8CD8-893A9A56931D}" presName="rootComposite" presStyleCnt="0"/>
      <dgm:spPr/>
    </dgm:pt>
    <dgm:pt modelId="{B3C5DC49-C0C7-4D47-A882-A6A18FCD14A5}" type="pres">
      <dgm:prSet presAssocID="{43C0493A-1A02-4B25-8CD8-893A9A56931D}" presName="rootText" presStyleLbl="node3" presStyleIdx="1" presStyleCnt="6">
        <dgm:presLayoutVars>
          <dgm:chPref val="3"/>
        </dgm:presLayoutVars>
      </dgm:prSet>
      <dgm:spPr/>
    </dgm:pt>
    <dgm:pt modelId="{DACBCF41-B12B-4FE6-A2AF-20875E5CC6A0}" type="pres">
      <dgm:prSet presAssocID="{43C0493A-1A02-4B25-8CD8-893A9A56931D}" presName="rootConnector" presStyleLbl="node3" presStyleIdx="1" presStyleCnt="6"/>
      <dgm:spPr/>
    </dgm:pt>
    <dgm:pt modelId="{B78A4142-5D4C-4E2B-B7F0-D5CCB966BEF8}" type="pres">
      <dgm:prSet presAssocID="{43C0493A-1A02-4B25-8CD8-893A9A56931D}" presName="hierChild4" presStyleCnt="0"/>
      <dgm:spPr/>
    </dgm:pt>
    <dgm:pt modelId="{08287589-BF31-484D-B8C7-AC3A2EB3A3A2}" type="pres">
      <dgm:prSet presAssocID="{43C0493A-1A02-4B25-8CD8-893A9A56931D}" presName="hierChild5" presStyleCnt="0"/>
      <dgm:spPr/>
    </dgm:pt>
    <dgm:pt modelId="{FD67F388-FD2C-4E78-8643-CB43BB9D4464}" type="pres">
      <dgm:prSet presAssocID="{7A8EAD54-5814-4289-8951-F1B7D294CDAD}" presName="hierChild5" presStyleCnt="0"/>
      <dgm:spPr/>
    </dgm:pt>
    <dgm:pt modelId="{339D149E-B1BE-49A9-8A7F-846684DA7836}" type="pres">
      <dgm:prSet presAssocID="{10F01520-CB1C-45D1-AA9E-3144576BD665}" presName="Name37" presStyleLbl="parChTrans1D2" presStyleIdx="1" presStyleCnt="3"/>
      <dgm:spPr/>
    </dgm:pt>
    <dgm:pt modelId="{F5528EC0-502D-46A9-855E-33D0CAB137F0}" type="pres">
      <dgm:prSet presAssocID="{660014AE-A3C8-4A52-96EC-2B42D9557163}" presName="hierRoot2" presStyleCnt="0">
        <dgm:presLayoutVars>
          <dgm:hierBranch val="init"/>
        </dgm:presLayoutVars>
      </dgm:prSet>
      <dgm:spPr/>
    </dgm:pt>
    <dgm:pt modelId="{47344810-4C6D-4FC1-A5EA-88D5DF7DD281}" type="pres">
      <dgm:prSet presAssocID="{660014AE-A3C8-4A52-96EC-2B42D9557163}" presName="rootComposite" presStyleCnt="0"/>
      <dgm:spPr/>
    </dgm:pt>
    <dgm:pt modelId="{4757FABE-7AD4-4A49-A1DE-26A64CFE6DC9}" type="pres">
      <dgm:prSet presAssocID="{660014AE-A3C8-4A52-96EC-2B42D9557163}" presName="rootText" presStyleLbl="node2" presStyleIdx="1" presStyleCnt="3">
        <dgm:presLayoutVars>
          <dgm:chPref val="3"/>
        </dgm:presLayoutVars>
      </dgm:prSet>
      <dgm:spPr/>
    </dgm:pt>
    <dgm:pt modelId="{9763CA8F-B6DD-4FB9-A271-8DA92C411218}" type="pres">
      <dgm:prSet presAssocID="{660014AE-A3C8-4A52-96EC-2B42D9557163}" presName="rootConnector" presStyleLbl="node2" presStyleIdx="1" presStyleCnt="3"/>
      <dgm:spPr/>
    </dgm:pt>
    <dgm:pt modelId="{6F14F44A-B33C-49D5-BD77-646C00205E6A}" type="pres">
      <dgm:prSet presAssocID="{660014AE-A3C8-4A52-96EC-2B42D9557163}" presName="hierChild4" presStyleCnt="0"/>
      <dgm:spPr/>
    </dgm:pt>
    <dgm:pt modelId="{FD9AC9C9-C032-41B1-B63C-F04C215D5BD8}" type="pres">
      <dgm:prSet presAssocID="{2E1D9B9C-B4C7-4A0C-842B-1819DFD14363}" presName="Name37" presStyleLbl="parChTrans1D3" presStyleIdx="2" presStyleCnt="6"/>
      <dgm:spPr/>
    </dgm:pt>
    <dgm:pt modelId="{8159B8D1-6E82-4B63-A206-DA264F95C4DA}" type="pres">
      <dgm:prSet presAssocID="{82995668-1E60-4A95-8485-97A040CD64DA}" presName="hierRoot2" presStyleCnt="0">
        <dgm:presLayoutVars>
          <dgm:hierBranch val="init"/>
        </dgm:presLayoutVars>
      </dgm:prSet>
      <dgm:spPr/>
    </dgm:pt>
    <dgm:pt modelId="{600D47F3-4D9E-42F9-BC7B-778A696BB2BC}" type="pres">
      <dgm:prSet presAssocID="{82995668-1E60-4A95-8485-97A040CD64DA}" presName="rootComposite" presStyleCnt="0"/>
      <dgm:spPr/>
    </dgm:pt>
    <dgm:pt modelId="{3B880701-1A79-4472-962A-11B512DBFE29}" type="pres">
      <dgm:prSet presAssocID="{82995668-1E60-4A95-8485-97A040CD64DA}" presName="rootText" presStyleLbl="node3" presStyleIdx="2" presStyleCnt="6">
        <dgm:presLayoutVars>
          <dgm:chPref val="3"/>
        </dgm:presLayoutVars>
      </dgm:prSet>
      <dgm:spPr/>
    </dgm:pt>
    <dgm:pt modelId="{C9FFFF04-53DB-41DE-8991-602094B60624}" type="pres">
      <dgm:prSet presAssocID="{82995668-1E60-4A95-8485-97A040CD64DA}" presName="rootConnector" presStyleLbl="node3" presStyleIdx="2" presStyleCnt="6"/>
      <dgm:spPr/>
    </dgm:pt>
    <dgm:pt modelId="{8D20C4D5-1190-4BA7-8634-46AE7A6FA3B7}" type="pres">
      <dgm:prSet presAssocID="{82995668-1E60-4A95-8485-97A040CD64DA}" presName="hierChild4" presStyleCnt="0"/>
      <dgm:spPr/>
    </dgm:pt>
    <dgm:pt modelId="{888D0150-AC17-4930-8BFA-38B81613B705}" type="pres">
      <dgm:prSet presAssocID="{82995668-1E60-4A95-8485-97A040CD64DA}" presName="hierChild5" presStyleCnt="0"/>
      <dgm:spPr/>
    </dgm:pt>
    <dgm:pt modelId="{375AAAF9-992E-4878-AE28-8CE935DB9EA0}" type="pres">
      <dgm:prSet presAssocID="{A6293F79-1CAB-43B0-86AF-47472117FE72}" presName="Name37" presStyleLbl="parChTrans1D3" presStyleIdx="3" presStyleCnt="6"/>
      <dgm:spPr/>
    </dgm:pt>
    <dgm:pt modelId="{6552873E-1E82-4CB0-BDC2-55DBEF6373DB}" type="pres">
      <dgm:prSet presAssocID="{1F274FCB-5998-4624-8D8A-A63FCBA7DFA4}" presName="hierRoot2" presStyleCnt="0">
        <dgm:presLayoutVars>
          <dgm:hierBranch val="init"/>
        </dgm:presLayoutVars>
      </dgm:prSet>
      <dgm:spPr/>
    </dgm:pt>
    <dgm:pt modelId="{BB4467B7-20FF-46FE-BA74-587B99BF45E0}" type="pres">
      <dgm:prSet presAssocID="{1F274FCB-5998-4624-8D8A-A63FCBA7DFA4}" presName="rootComposite" presStyleCnt="0"/>
      <dgm:spPr/>
    </dgm:pt>
    <dgm:pt modelId="{68B7C65B-E19F-4F01-9B65-80CE85176B55}" type="pres">
      <dgm:prSet presAssocID="{1F274FCB-5998-4624-8D8A-A63FCBA7DFA4}" presName="rootText" presStyleLbl="node3" presStyleIdx="3" presStyleCnt="6">
        <dgm:presLayoutVars>
          <dgm:chPref val="3"/>
        </dgm:presLayoutVars>
      </dgm:prSet>
      <dgm:spPr/>
    </dgm:pt>
    <dgm:pt modelId="{D98E0307-E539-42A9-8973-931FAAE564DE}" type="pres">
      <dgm:prSet presAssocID="{1F274FCB-5998-4624-8D8A-A63FCBA7DFA4}" presName="rootConnector" presStyleLbl="node3" presStyleIdx="3" presStyleCnt="6"/>
      <dgm:spPr/>
    </dgm:pt>
    <dgm:pt modelId="{BD656499-BFF4-4812-B0A2-3C993C5FACAE}" type="pres">
      <dgm:prSet presAssocID="{1F274FCB-5998-4624-8D8A-A63FCBA7DFA4}" presName="hierChild4" presStyleCnt="0"/>
      <dgm:spPr/>
    </dgm:pt>
    <dgm:pt modelId="{E49CB28E-0E93-4FAE-AD82-08F49F53628C}" type="pres">
      <dgm:prSet presAssocID="{1F274FCB-5998-4624-8D8A-A63FCBA7DFA4}" presName="hierChild5" presStyleCnt="0"/>
      <dgm:spPr/>
    </dgm:pt>
    <dgm:pt modelId="{95DA6877-36B8-4EA5-9D9D-29C6FEBA2CF0}" type="pres">
      <dgm:prSet presAssocID="{660014AE-A3C8-4A52-96EC-2B42D9557163}" presName="hierChild5" presStyleCnt="0"/>
      <dgm:spPr/>
    </dgm:pt>
    <dgm:pt modelId="{98DBA25E-61EB-4F5C-A02E-EA485EB4736A}" type="pres">
      <dgm:prSet presAssocID="{C566CC5C-CA80-41AD-AFAB-99DC03AC56E5}" presName="Name37" presStyleLbl="parChTrans1D2" presStyleIdx="2" presStyleCnt="3"/>
      <dgm:spPr/>
    </dgm:pt>
    <dgm:pt modelId="{2E9BC1A2-211B-4578-9A30-63A58426892C}" type="pres">
      <dgm:prSet presAssocID="{3274025A-F4DA-4B44-A24F-196958DAFC3D}" presName="hierRoot2" presStyleCnt="0">
        <dgm:presLayoutVars>
          <dgm:hierBranch val="init"/>
        </dgm:presLayoutVars>
      </dgm:prSet>
      <dgm:spPr/>
    </dgm:pt>
    <dgm:pt modelId="{DD0C8747-50AA-4722-A57D-56D0C58A0196}" type="pres">
      <dgm:prSet presAssocID="{3274025A-F4DA-4B44-A24F-196958DAFC3D}" presName="rootComposite" presStyleCnt="0"/>
      <dgm:spPr/>
    </dgm:pt>
    <dgm:pt modelId="{0A3FA993-44B4-4C44-A898-40D27CE5D60E}" type="pres">
      <dgm:prSet presAssocID="{3274025A-F4DA-4B44-A24F-196958DAFC3D}" presName="rootText" presStyleLbl="node2" presStyleIdx="2" presStyleCnt="3">
        <dgm:presLayoutVars>
          <dgm:chPref val="3"/>
        </dgm:presLayoutVars>
      </dgm:prSet>
      <dgm:spPr/>
    </dgm:pt>
    <dgm:pt modelId="{682AC4ED-E64F-461A-A92E-84CA61AD4EFB}" type="pres">
      <dgm:prSet presAssocID="{3274025A-F4DA-4B44-A24F-196958DAFC3D}" presName="rootConnector" presStyleLbl="node2" presStyleIdx="2" presStyleCnt="3"/>
      <dgm:spPr/>
    </dgm:pt>
    <dgm:pt modelId="{F9CB0706-4555-4618-86C4-BB84DAF8C818}" type="pres">
      <dgm:prSet presAssocID="{3274025A-F4DA-4B44-A24F-196958DAFC3D}" presName="hierChild4" presStyleCnt="0"/>
      <dgm:spPr/>
    </dgm:pt>
    <dgm:pt modelId="{184352B4-FFA9-4845-AA9B-09C5657D8BD4}" type="pres">
      <dgm:prSet presAssocID="{B0E075A4-33B1-4D4E-B37C-081526B24BA5}" presName="Name37" presStyleLbl="parChTrans1D3" presStyleIdx="4" presStyleCnt="6"/>
      <dgm:spPr/>
    </dgm:pt>
    <dgm:pt modelId="{9EF18858-8A28-4770-A9C8-A524DC5DCAD4}" type="pres">
      <dgm:prSet presAssocID="{F8571093-9D3D-4E39-82C6-1117169C68A3}" presName="hierRoot2" presStyleCnt="0">
        <dgm:presLayoutVars>
          <dgm:hierBranch val="init"/>
        </dgm:presLayoutVars>
      </dgm:prSet>
      <dgm:spPr/>
    </dgm:pt>
    <dgm:pt modelId="{1C326459-0209-4523-982D-EA9A03A711CE}" type="pres">
      <dgm:prSet presAssocID="{F8571093-9D3D-4E39-82C6-1117169C68A3}" presName="rootComposite" presStyleCnt="0"/>
      <dgm:spPr/>
    </dgm:pt>
    <dgm:pt modelId="{F936887F-7C89-42BE-A6BB-8B945F1563BA}" type="pres">
      <dgm:prSet presAssocID="{F8571093-9D3D-4E39-82C6-1117169C68A3}" presName="rootText" presStyleLbl="node3" presStyleIdx="4" presStyleCnt="6">
        <dgm:presLayoutVars>
          <dgm:chPref val="3"/>
        </dgm:presLayoutVars>
      </dgm:prSet>
      <dgm:spPr/>
    </dgm:pt>
    <dgm:pt modelId="{B732EB8B-97D7-4986-A891-0F1F2326BFDE}" type="pres">
      <dgm:prSet presAssocID="{F8571093-9D3D-4E39-82C6-1117169C68A3}" presName="rootConnector" presStyleLbl="node3" presStyleIdx="4" presStyleCnt="6"/>
      <dgm:spPr/>
    </dgm:pt>
    <dgm:pt modelId="{ED4BF76D-A49B-44D2-AF3F-3F827F655946}" type="pres">
      <dgm:prSet presAssocID="{F8571093-9D3D-4E39-82C6-1117169C68A3}" presName="hierChild4" presStyleCnt="0"/>
      <dgm:spPr/>
    </dgm:pt>
    <dgm:pt modelId="{179F2768-61C9-4173-B932-96E2C8FBF177}" type="pres">
      <dgm:prSet presAssocID="{F8571093-9D3D-4E39-82C6-1117169C68A3}" presName="hierChild5" presStyleCnt="0"/>
      <dgm:spPr/>
    </dgm:pt>
    <dgm:pt modelId="{E3703944-F59F-409A-921F-39E1ED70EAAE}" type="pres">
      <dgm:prSet presAssocID="{91CD8D0B-6ACF-44B4-AB77-4613E5BAC5AF}" presName="Name37" presStyleLbl="parChTrans1D3" presStyleIdx="5" presStyleCnt="6"/>
      <dgm:spPr/>
    </dgm:pt>
    <dgm:pt modelId="{21D94768-635C-4D32-9C3D-13528749370F}" type="pres">
      <dgm:prSet presAssocID="{06E2CE0F-8FDE-45B1-B36E-9CA8B246E2C6}" presName="hierRoot2" presStyleCnt="0">
        <dgm:presLayoutVars>
          <dgm:hierBranch val="init"/>
        </dgm:presLayoutVars>
      </dgm:prSet>
      <dgm:spPr/>
    </dgm:pt>
    <dgm:pt modelId="{F74E76C7-9154-40E0-BB30-23F055C93E25}" type="pres">
      <dgm:prSet presAssocID="{06E2CE0F-8FDE-45B1-B36E-9CA8B246E2C6}" presName="rootComposite" presStyleCnt="0"/>
      <dgm:spPr/>
    </dgm:pt>
    <dgm:pt modelId="{D9828A7B-3C65-49B8-AAAA-37332D843CA9}" type="pres">
      <dgm:prSet presAssocID="{06E2CE0F-8FDE-45B1-B36E-9CA8B246E2C6}" presName="rootText" presStyleLbl="node3" presStyleIdx="5" presStyleCnt="6">
        <dgm:presLayoutVars>
          <dgm:chPref val="3"/>
        </dgm:presLayoutVars>
      </dgm:prSet>
      <dgm:spPr/>
    </dgm:pt>
    <dgm:pt modelId="{6134890C-6C73-4E6F-A9DE-01A6399A8FEA}" type="pres">
      <dgm:prSet presAssocID="{06E2CE0F-8FDE-45B1-B36E-9CA8B246E2C6}" presName="rootConnector" presStyleLbl="node3" presStyleIdx="5" presStyleCnt="6"/>
      <dgm:spPr/>
    </dgm:pt>
    <dgm:pt modelId="{AD83101A-8151-49D7-86D7-B617E194F76D}" type="pres">
      <dgm:prSet presAssocID="{06E2CE0F-8FDE-45B1-B36E-9CA8B246E2C6}" presName="hierChild4" presStyleCnt="0"/>
      <dgm:spPr/>
    </dgm:pt>
    <dgm:pt modelId="{B424E36C-0935-4F47-8B6B-7A7373340124}" type="pres">
      <dgm:prSet presAssocID="{06E2CE0F-8FDE-45B1-B36E-9CA8B246E2C6}" presName="hierChild5" presStyleCnt="0"/>
      <dgm:spPr/>
    </dgm:pt>
    <dgm:pt modelId="{0A65195A-CD19-4AF2-96B3-88EF090543F2}" type="pres">
      <dgm:prSet presAssocID="{3274025A-F4DA-4B44-A24F-196958DAFC3D}" presName="hierChild5" presStyleCnt="0"/>
      <dgm:spPr/>
    </dgm:pt>
    <dgm:pt modelId="{A7149243-1BD0-496B-B3DD-E953C638E510}" type="pres">
      <dgm:prSet presAssocID="{97C9A6EC-60DD-4ED4-BD7A-4DE50E87C41F}" presName="hierChild3" presStyleCnt="0"/>
      <dgm:spPr/>
    </dgm:pt>
  </dgm:ptLst>
  <dgm:cxnLst>
    <dgm:cxn modelId="{86EB0800-1A38-4A0D-BD21-FEE0A7C42239}" type="presOf" srcId="{3274025A-F4DA-4B44-A24F-196958DAFC3D}" destId="{0A3FA993-44B4-4C44-A898-40D27CE5D60E}" srcOrd="0" destOrd="0" presId="urn:microsoft.com/office/officeart/2005/8/layout/orgChart1"/>
    <dgm:cxn modelId="{6A8DB809-4570-4B53-BA67-2A8E6CB20160}" type="presOf" srcId="{1F274FCB-5998-4624-8D8A-A63FCBA7DFA4}" destId="{68B7C65B-E19F-4F01-9B65-80CE85176B55}" srcOrd="0" destOrd="0" presId="urn:microsoft.com/office/officeart/2005/8/layout/orgChart1"/>
    <dgm:cxn modelId="{A402CA09-8B70-4A13-972D-091F8DC440B1}" srcId="{3274025A-F4DA-4B44-A24F-196958DAFC3D}" destId="{06E2CE0F-8FDE-45B1-B36E-9CA8B246E2C6}" srcOrd="1" destOrd="0" parTransId="{91CD8D0B-6ACF-44B4-AB77-4613E5BAC5AF}" sibTransId="{346D2CBD-CA3D-493A-99D3-354D62084A39}"/>
    <dgm:cxn modelId="{72B25E1E-84CF-4E77-BFC9-D30429F03F4C}" srcId="{7A8EAD54-5814-4289-8951-F1B7D294CDAD}" destId="{CE5342A4-7188-44E6-A256-8DEA8895B82B}" srcOrd="0" destOrd="0" parTransId="{80E7A140-8483-451E-8755-6E533E153249}" sibTransId="{CEB0FC27-17A3-4250-B8FD-DD35E12C961D}"/>
    <dgm:cxn modelId="{382A211F-494E-4512-AEE6-B37CF1F131F4}" type="presOf" srcId="{3D158BE9-5B8E-467E-A341-3C675C52C8A2}" destId="{62FDC937-2362-4432-B723-9A5DDB95D9AE}" srcOrd="0" destOrd="0" presId="urn:microsoft.com/office/officeart/2005/8/layout/orgChart1"/>
    <dgm:cxn modelId="{0D73E425-AC85-47A4-9936-A181F0E9AC10}" type="presOf" srcId="{86E2D2A0-83D0-4BB8-B05D-79A42AC18D15}" destId="{33ACD4FB-6740-4D89-B1AF-3256D92E857B}" srcOrd="0" destOrd="0" presId="urn:microsoft.com/office/officeart/2005/8/layout/orgChart1"/>
    <dgm:cxn modelId="{7522CF30-8ED7-4FF9-83BF-DC51AB2FA797}" type="presOf" srcId="{82995668-1E60-4A95-8485-97A040CD64DA}" destId="{3B880701-1A79-4472-962A-11B512DBFE29}" srcOrd="0" destOrd="0" presId="urn:microsoft.com/office/officeart/2005/8/layout/orgChart1"/>
    <dgm:cxn modelId="{41B2EE31-CD53-4063-B37A-C0F4C724CBAE}" srcId="{97C9A6EC-60DD-4ED4-BD7A-4DE50E87C41F}" destId="{660014AE-A3C8-4A52-96EC-2B42D9557163}" srcOrd="1" destOrd="0" parTransId="{10F01520-CB1C-45D1-AA9E-3144576BD665}" sibTransId="{1A9ACB67-A0E4-46EE-AA8A-043BBE5689B3}"/>
    <dgm:cxn modelId="{C0429035-FDA3-4CB3-901F-12848197B70B}" srcId="{97C9A6EC-60DD-4ED4-BD7A-4DE50E87C41F}" destId="{3274025A-F4DA-4B44-A24F-196958DAFC3D}" srcOrd="2" destOrd="0" parTransId="{C566CC5C-CA80-41AD-AFAB-99DC03AC56E5}" sibTransId="{FEAF69A2-5BA1-438D-A81C-5D6C4F8C0D08}"/>
    <dgm:cxn modelId="{4769733A-692C-4B4A-B8F6-40F43F937512}" type="presOf" srcId="{F8571093-9D3D-4E39-82C6-1117169C68A3}" destId="{B732EB8B-97D7-4986-A891-0F1F2326BFDE}" srcOrd="1" destOrd="0" presId="urn:microsoft.com/office/officeart/2005/8/layout/orgChart1"/>
    <dgm:cxn modelId="{0162BD3E-AE8A-4D77-AA33-B938C3370501}" srcId="{660014AE-A3C8-4A52-96EC-2B42D9557163}" destId="{82995668-1E60-4A95-8485-97A040CD64DA}" srcOrd="0" destOrd="0" parTransId="{2E1D9B9C-B4C7-4A0C-842B-1819DFD14363}" sibTransId="{8D8FA94D-DDDA-4002-B025-991963DA191F}"/>
    <dgm:cxn modelId="{44D51841-BEA8-4400-BC13-AFB730CAC9E3}" srcId="{97C9A6EC-60DD-4ED4-BD7A-4DE50E87C41F}" destId="{7A8EAD54-5814-4289-8951-F1B7D294CDAD}" srcOrd="0" destOrd="0" parTransId="{86E2D2A0-83D0-4BB8-B05D-79A42AC18D15}" sibTransId="{0E321437-7548-4C2B-82A8-5863F42FDFEF}"/>
    <dgm:cxn modelId="{9EEBCF4B-9F4D-403E-85DA-0819419B68C6}" type="presOf" srcId="{97C9A6EC-60DD-4ED4-BD7A-4DE50E87C41F}" destId="{5E865D3D-16CA-4491-98E3-134492F2B65B}" srcOrd="0" destOrd="0" presId="urn:microsoft.com/office/officeart/2005/8/layout/orgChart1"/>
    <dgm:cxn modelId="{CC7E674F-05AF-4224-8942-0970CD29A598}" type="presOf" srcId="{CE5342A4-7188-44E6-A256-8DEA8895B82B}" destId="{8D97D54F-C94C-4803-8C42-0BCBC2B5C49A}" srcOrd="1" destOrd="0" presId="urn:microsoft.com/office/officeart/2005/8/layout/orgChart1"/>
    <dgm:cxn modelId="{A6EE2E72-E3EF-484D-9E2C-A90FA7E0135D}" type="presOf" srcId="{7A8EAD54-5814-4289-8951-F1B7D294CDAD}" destId="{3C6D10CF-83FF-44B3-A36E-1CDE14EF777E}" srcOrd="1" destOrd="0" presId="urn:microsoft.com/office/officeart/2005/8/layout/orgChart1"/>
    <dgm:cxn modelId="{5DC14054-9775-4583-8DBE-49B6B045B95E}" type="presOf" srcId="{43C0493A-1A02-4B25-8CD8-893A9A56931D}" destId="{B3C5DC49-C0C7-4D47-A882-A6A18FCD14A5}" srcOrd="0" destOrd="0" presId="urn:microsoft.com/office/officeart/2005/8/layout/orgChart1"/>
    <dgm:cxn modelId="{87859459-743E-4097-8136-B3FC990E730C}" type="presOf" srcId="{C566CC5C-CA80-41AD-AFAB-99DC03AC56E5}" destId="{98DBA25E-61EB-4F5C-A02E-EA485EB4736A}" srcOrd="0" destOrd="0" presId="urn:microsoft.com/office/officeart/2005/8/layout/orgChart1"/>
    <dgm:cxn modelId="{2B0C198F-D814-4177-87B1-2DFDD3BCEFBD}" srcId="{660014AE-A3C8-4A52-96EC-2B42D9557163}" destId="{1F274FCB-5998-4624-8D8A-A63FCBA7DFA4}" srcOrd="1" destOrd="0" parTransId="{A6293F79-1CAB-43B0-86AF-47472117FE72}" sibTransId="{A805CB9D-0A36-4558-97C7-218ADFD8EB2B}"/>
    <dgm:cxn modelId="{F2203C90-E3DE-4396-917E-115D1A30F903}" type="presOf" srcId="{F8571093-9D3D-4E39-82C6-1117169C68A3}" destId="{F936887F-7C89-42BE-A6BB-8B945F1563BA}" srcOrd="0" destOrd="0" presId="urn:microsoft.com/office/officeart/2005/8/layout/orgChart1"/>
    <dgm:cxn modelId="{22689696-F167-4868-902E-527D6C4EA68C}" srcId="{3D158BE9-5B8E-467E-A341-3C675C52C8A2}" destId="{97C9A6EC-60DD-4ED4-BD7A-4DE50E87C41F}" srcOrd="0" destOrd="0" parTransId="{B3F05ADB-E29B-43F8-A312-11B5CD3CC973}" sibTransId="{52F4850F-990B-4CD1-A24D-EF204807300C}"/>
    <dgm:cxn modelId="{6D7A599A-34E8-406A-A4C4-33511AD5D303}" type="presOf" srcId="{06E2CE0F-8FDE-45B1-B36E-9CA8B246E2C6}" destId="{6134890C-6C73-4E6F-A9DE-01A6399A8FEA}" srcOrd="1" destOrd="0" presId="urn:microsoft.com/office/officeart/2005/8/layout/orgChart1"/>
    <dgm:cxn modelId="{605B0E9E-94D3-413F-B8DC-FEA936778BF7}" type="presOf" srcId="{82995668-1E60-4A95-8485-97A040CD64DA}" destId="{C9FFFF04-53DB-41DE-8991-602094B60624}" srcOrd="1" destOrd="0" presId="urn:microsoft.com/office/officeart/2005/8/layout/orgChart1"/>
    <dgm:cxn modelId="{C68500A6-8AF8-4E88-8156-F2C20AC8B29A}" type="presOf" srcId="{B0E075A4-33B1-4D4E-B37C-081526B24BA5}" destId="{184352B4-FFA9-4845-AA9B-09C5657D8BD4}" srcOrd="0" destOrd="0" presId="urn:microsoft.com/office/officeart/2005/8/layout/orgChart1"/>
    <dgm:cxn modelId="{B02837AA-6D59-4930-8CF0-53264CABE6B7}" type="presOf" srcId="{06E2CE0F-8FDE-45B1-B36E-9CA8B246E2C6}" destId="{D9828A7B-3C65-49B8-AAAA-37332D843CA9}" srcOrd="0" destOrd="0" presId="urn:microsoft.com/office/officeart/2005/8/layout/orgChart1"/>
    <dgm:cxn modelId="{0280CAAD-E9C7-4602-97A9-915671C1A7C1}" type="presOf" srcId="{660014AE-A3C8-4A52-96EC-2B42D9557163}" destId="{9763CA8F-B6DD-4FB9-A271-8DA92C411218}" srcOrd="1" destOrd="0" presId="urn:microsoft.com/office/officeart/2005/8/layout/orgChart1"/>
    <dgm:cxn modelId="{3845F9B2-394E-4883-B15F-E38C2A4056EB}" type="presOf" srcId="{91CD8D0B-6ACF-44B4-AB77-4613E5BAC5AF}" destId="{E3703944-F59F-409A-921F-39E1ED70EAAE}" srcOrd="0" destOrd="0" presId="urn:microsoft.com/office/officeart/2005/8/layout/orgChart1"/>
    <dgm:cxn modelId="{0A72EAB8-FAED-4167-9504-F0EB384D72BF}" type="presOf" srcId="{3274025A-F4DA-4B44-A24F-196958DAFC3D}" destId="{682AC4ED-E64F-461A-A92E-84CA61AD4EFB}" srcOrd="1" destOrd="0" presId="urn:microsoft.com/office/officeart/2005/8/layout/orgChart1"/>
    <dgm:cxn modelId="{4B07D2C9-EA52-4093-B30E-93892288E0AA}" type="presOf" srcId="{A6293F79-1CAB-43B0-86AF-47472117FE72}" destId="{375AAAF9-992E-4878-AE28-8CE935DB9EA0}" srcOrd="0" destOrd="0" presId="urn:microsoft.com/office/officeart/2005/8/layout/orgChart1"/>
    <dgm:cxn modelId="{7B59DDC9-89F8-4A99-88B6-00065C971544}" type="presOf" srcId="{1F274FCB-5998-4624-8D8A-A63FCBA7DFA4}" destId="{D98E0307-E539-42A9-8973-931FAAE564DE}" srcOrd="1" destOrd="0" presId="urn:microsoft.com/office/officeart/2005/8/layout/orgChart1"/>
    <dgm:cxn modelId="{83BC37CC-22F3-43FA-A915-09F893F25C1E}" type="presOf" srcId="{456A6B5A-2E90-4E1C-BBF9-E44DEF6FF18E}" destId="{37AF96A3-9856-4DF9-8F0D-C68A577610F6}" srcOrd="0" destOrd="0" presId="urn:microsoft.com/office/officeart/2005/8/layout/orgChart1"/>
    <dgm:cxn modelId="{F15C19D0-C2F3-4F5A-8BD9-B94043B799AC}" type="presOf" srcId="{80E7A140-8483-451E-8755-6E533E153249}" destId="{F9707840-EED6-41C1-9201-40C04F6CEFE3}" srcOrd="0" destOrd="0" presId="urn:microsoft.com/office/officeart/2005/8/layout/orgChart1"/>
    <dgm:cxn modelId="{35E76FD3-4757-4525-BB52-BD2FD8B390B3}" type="presOf" srcId="{660014AE-A3C8-4A52-96EC-2B42D9557163}" destId="{4757FABE-7AD4-4A49-A1DE-26A64CFE6DC9}" srcOrd="0" destOrd="0" presId="urn:microsoft.com/office/officeart/2005/8/layout/orgChart1"/>
    <dgm:cxn modelId="{48C05FD9-F185-4D9F-B6DB-AA4F4E16378C}" type="presOf" srcId="{7A8EAD54-5814-4289-8951-F1B7D294CDAD}" destId="{45D3551F-C84F-4BE4-9265-B9280C5EF475}" srcOrd="0" destOrd="0" presId="urn:microsoft.com/office/officeart/2005/8/layout/orgChart1"/>
    <dgm:cxn modelId="{E5B39FD9-F842-49E0-AECC-A905F95551F5}" type="presOf" srcId="{97C9A6EC-60DD-4ED4-BD7A-4DE50E87C41F}" destId="{3690648A-A4A7-427F-A1AD-B2C730A498EA}" srcOrd="1" destOrd="0" presId="urn:microsoft.com/office/officeart/2005/8/layout/orgChart1"/>
    <dgm:cxn modelId="{353015DA-E341-4A8F-9BF2-82B0C10C6185}" type="presOf" srcId="{43C0493A-1A02-4B25-8CD8-893A9A56931D}" destId="{DACBCF41-B12B-4FE6-A2AF-20875E5CC6A0}" srcOrd="1" destOrd="0" presId="urn:microsoft.com/office/officeart/2005/8/layout/orgChart1"/>
    <dgm:cxn modelId="{549DDBDE-E132-473C-83ED-74FF95040C15}" type="presOf" srcId="{10F01520-CB1C-45D1-AA9E-3144576BD665}" destId="{339D149E-B1BE-49A9-8A7F-846684DA7836}" srcOrd="0" destOrd="0" presId="urn:microsoft.com/office/officeart/2005/8/layout/orgChart1"/>
    <dgm:cxn modelId="{CF3B67E4-6A94-43BD-A159-749DF7096EC1}" srcId="{3274025A-F4DA-4B44-A24F-196958DAFC3D}" destId="{F8571093-9D3D-4E39-82C6-1117169C68A3}" srcOrd="0" destOrd="0" parTransId="{B0E075A4-33B1-4D4E-B37C-081526B24BA5}" sibTransId="{0D2D76D0-8CF6-4AE1-B6DE-933D0E6DEE2A}"/>
    <dgm:cxn modelId="{AEB401EA-EA69-4B76-A6D3-E4D5CD5B788F}" type="presOf" srcId="{2E1D9B9C-B4C7-4A0C-842B-1819DFD14363}" destId="{FD9AC9C9-C032-41B1-B63C-F04C215D5BD8}" srcOrd="0" destOrd="0" presId="urn:microsoft.com/office/officeart/2005/8/layout/orgChart1"/>
    <dgm:cxn modelId="{36651EEC-71E9-46CB-A950-3A2B977C8BF2}" srcId="{7A8EAD54-5814-4289-8951-F1B7D294CDAD}" destId="{43C0493A-1A02-4B25-8CD8-893A9A56931D}" srcOrd="1" destOrd="0" parTransId="{456A6B5A-2E90-4E1C-BBF9-E44DEF6FF18E}" sibTransId="{34E7EE35-4BF2-4536-8733-46E6A35E26CD}"/>
    <dgm:cxn modelId="{9B91E1F6-5B65-47C0-9691-253EA330E540}" type="presOf" srcId="{CE5342A4-7188-44E6-A256-8DEA8895B82B}" destId="{26069CEE-1295-4413-9A90-AA0EB536620A}" srcOrd="0" destOrd="0" presId="urn:microsoft.com/office/officeart/2005/8/layout/orgChart1"/>
    <dgm:cxn modelId="{865FCF90-60E1-44B5-A371-9BFE2B7F8D7A}" type="presParOf" srcId="{62FDC937-2362-4432-B723-9A5DDB95D9AE}" destId="{5F65DE91-0BF2-4854-A96A-7D4D5BC0D488}" srcOrd="0" destOrd="0" presId="urn:microsoft.com/office/officeart/2005/8/layout/orgChart1"/>
    <dgm:cxn modelId="{D8B577ED-B6B5-4EE2-93F6-98A7DFD1DADC}" type="presParOf" srcId="{5F65DE91-0BF2-4854-A96A-7D4D5BC0D488}" destId="{38A1F9FB-DFD2-420F-9195-069A488E77FA}" srcOrd="0" destOrd="0" presId="urn:microsoft.com/office/officeart/2005/8/layout/orgChart1"/>
    <dgm:cxn modelId="{08C24BBF-8561-4892-ACD4-C0D446825F98}" type="presParOf" srcId="{38A1F9FB-DFD2-420F-9195-069A488E77FA}" destId="{5E865D3D-16CA-4491-98E3-134492F2B65B}" srcOrd="0" destOrd="0" presId="urn:microsoft.com/office/officeart/2005/8/layout/orgChart1"/>
    <dgm:cxn modelId="{20BE6972-72BC-45D5-BF5F-13B1E88744B7}" type="presParOf" srcId="{38A1F9FB-DFD2-420F-9195-069A488E77FA}" destId="{3690648A-A4A7-427F-A1AD-B2C730A498EA}" srcOrd="1" destOrd="0" presId="urn:microsoft.com/office/officeart/2005/8/layout/orgChart1"/>
    <dgm:cxn modelId="{BE778A4C-2602-4347-8002-94CD25ECD781}" type="presParOf" srcId="{5F65DE91-0BF2-4854-A96A-7D4D5BC0D488}" destId="{6D6EE133-0B77-4075-B486-47581A0BBB88}" srcOrd="1" destOrd="0" presId="urn:microsoft.com/office/officeart/2005/8/layout/orgChart1"/>
    <dgm:cxn modelId="{059C8E59-5595-4D42-804D-55FD0E5EFB7E}" type="presParOf" srcId="{6D6EE133-0B77-4075-B486-47581A0BBB88}" destId="{33ACD4FB-6740-4D89-B1AF-3256D92E857B}" srcOrd="0" destOrd="0" presId="urn:microsoft.com/office/officeart/2005/8/layout/orgChart1"/>
    <dgm:cxn modelId="{B024FCE7-C0DD-4DF2-8BF3-2B69002FC01F}" type="presParOf" srcId="{6D6EE133-0B77-4075-B486-47581A0BBB88}" destId="{D95954B2-A995-4105-AA03-605DB299C327}" srcOrd="1" destOrd="0" presId="urn:microsoft.com/office/officeart/2005/8/layout/orgChart1"/>
    <dgm:cxn modelId="{19CC743C-F9FB-4503-8DE1-2E67E542B13D}" type="presParOf" srcId="{D95954B2-A995-4105-AA03-605DB299C327}" destId="{9A94EFB0-54D2-45EE-BD88-9EE7CAFA479D}" srcOrd="0" destOrd="0" presId="urn:microsoft.com/office/officeart/2005/8/layout/orgChart1"/>
    <dgm:cxn modelId="{67BD41BD-E15A-44AC-BBE3-2DAAAA05F766}" type="presParOf" srcId="{9A94EFB0-54D2-45EE-BD88-9EE7CAFA479D}" destId="{45D3551F-C84F-4BE4-9265-B9280C5EF475}" srcOrd="0" destOrd="0" presId="urn:microsoft.com/office/officeart/2005/8/layout/orgChart1"/>
    <dgm:cxn modelId="{A12F9958-DB2B-45FB-9AF6-EF75FA5E20A0}" type="presParOf" srcId="{9A94EFB0-54D2-45EE-BD88-9EE7CAFA479D}" destId="{3C6D10CF-83FF-44B3-A36E-1CDE14EF777E}" srcOrd="1" destOrd="0" presId="urn:microsoft.com/office/officeart/2005/8/layout/orgChart1"/>
    <dgm:cxn modelId="{06DB089C-CD15-4944-A6FE-B80B9788004B}" type="presParOf" srcId="{D95954B2-A995-4105-AA03-605DB299C327}" destId="{B7CB6613-A6D4-410B-A3E1-448AFCEF68E5}" srcOrd="1" destOrd="0" presId="urn:microsoft.com/office/officeart/2005/8/layout/orgChart1"/>
    <dgm:cxn modelId="{397B8249-09CA-4E4D-A713-AA21B8FD1080}" type="presParOf" srcId="{B7CB6613-A6D4-410B-A3E1-448AFCEF68E5}" destId="{F9707840-EED6-41C1-9201-40C04F6CEFE3}" srcOrd="0" destOrd="0" presId="urn:microsoft.com/office/officeart/2005/8/layout/orgChart1"/>
    <dgm:cxn modelId="{2B31EDAE-2880-454A-8C81-B4528D72964B}" type="presParOf" srcId="{B7CB6613-A6D4-410B-A3E1-448AFCEF68E5}" destId="{112B5CCF-1D00-4C14-86B8-124615273860}" srcOrd="1" destOrd="0" presId="urn:microsoft.com/office/officeart/2005/8/layout/orgChart1"/>
    <dgm:cxn modelId="{43F53BF0-D87B-435A-B14A-9EC2B3A2EB89}" type="presParOf" srcId="{112B5CCF-1D00-4C14-86B8-124615273860}" destId="{0F287E3D-B806-4A8D-B4B2-200665A40CB7}" srcOrd="0" destOrd="0" presId="urn:microsoft.com/office/officeart/2005/8/layout/orgChart1"/>
    <dgm:cxn modelId="{D5C53881-69E3-496C-8CDB-825678A3A4B8}" type="presParOf" srcId="{0F287E3D-B806-4A8D-B4B2-200665A40CB7}" destId="{26069CEE-1295-4413-9A90-AA0EB536620A}" srcOrd="0" destOrd="0" presId="urn:microsoft.com/office/officeart/2005/8/layout/orgChart1"/>
    <dgm:cxn modelId="{2E4A5271-35F4-486F-B200-62517D23D822}" type="presParOf" srcId="{0F287E3D-B806-4A8D-B4B2-200665A40CB7}" destId="{8D97D54F-C94C-4803-8C42-0BCBC2B5C49A}" srcOrd="1" destOrd="0" presId="urn:microsoft.com/office/officeart/2005/8/layout/orgChart1"/>
    <dgm:cxn modelId="{AE37430F-AA40-4BCA-9FEC-300A320C22BF}" type="presParOf" srcId="{112B5CCF-1D00-4C14-86B8-124615273860}" destId="{0DEB1408-7666-48F9-A4DC-147ACEC1F3E3}" srcOrd="1" destOrd="0" presId="urn:microsoft.com/office/officeart/2005/8/layout/orgChart1"/>
    <dgm:cxn modelId="{522BF6E7-88F1-4621-AD6F-1D9E0D417E96}" type="presParOf" srcId="{112B5CCF-1D00-4C14-86B8-124615273860}" destId="{1F7606B4-D543-4C56-A7E1-3CCD41670AC1}" srcOrd="2" destOrd="0" presId="urn:microsoft.com/office/officeart/2005/8/layout/orgChart1"/>
    <dgm:cxn modelId="{4CDE3DF5-846D-45B0-A258-AB9B1AED7E6B}" type="presParOf" srcId="{B7CB6613-A6D4-410B-A3E1-448AFCEF68E5}" destId="{37AF96A3-9856-4DF9-8F0D-C68A577610F6}" srcOrd="2" destOrd="0" presId="urn:microsoft.com/office/officeart/2005/8/layout/orgChart1"/>
    <dgm:cxn modelId="{A73AA5CA-A5C6-4F1B-A9B5-6CAE46370D2F}" type="presParOf" srcId="{B7CB6613-A6D4-410B-A3E1-448AFCEF68E5}" destId="{5D568EC6-31E3-4DEE-B020-E81ED479C369}" srcOrd="3" destOrd="0" presId="urn:microsoft.com/office/officeart/2005/8/layout/orgChart1"/>
    <dgm:cxn modelId="{FE16B0E5-9185-4AB7-B73B-5828458859C2}" type="presParOf" srcId="{5D568EC6-31E3-4DEE-B020-E81ED479C369}" destId="{A8C96A79-EAC1-409B-9BE8-C4A8BC78C23B}" srcOrd="0" destOrd="0" presId="urn:microsoft.com/office/officeart/2005/8/layout/orgChart1"/>
    <dgm:cxn modelId="{E1EBF895-7273-42B5-B989-016C86D497B2}" type="presParOf" srcId="{A8C96A79-EAC1-409B-9BE8-C4A8BC78C23B}" destId="{B3C5DC49-C0C7-4D47-A882-A6A18FCD14A5}" srcOrd="0" destOrd="0" presId="urn:microsoft.com/office/officeart/2005/8/layout/orgChart1"/>
    <dgm:cxn modelId="{B6447C65-0CDD-4BF5-B1A0-F735B4656C3A}" type="presParOf" srcId="{A8C96A79-EAC1-409B-9BE8-C4A8BC78C23B}" destId="{DACBCF41-B12B-4FE6-A2AF-20875E5CC6A0}" srcOrd="1" destOrd="0" presId="urn:microsoft.com/office/officeart/2005/8/layout/orgChart1"/>
    <dgm:cxn modelId="{87CA9BFD-339E-4862-89EE-A615C464C599}" type="presParOf" srcId="{5D568EC6-31E3-4DEE-B020-E81ED479C369}" destId="{B78A4142-5D4C-4E2B-B7F0-D5CCB966BEF8}" srcOrd="1" destOrd="0" presId="urn:microsoft.com/office/officeart/2005/8/layout/orgChart1"/>
    <dgm:cxn modelId="{EC74D261-C4F1-449F-8AAF-FA320BB2F4A0}" type="presParOf" srcId="{5D568EC6-31E3-4DEE-B020-E81ED479C369}" destId="{08287589-BF31-484D-B8C7-AC3A2EB3A3A2}" srcOrd="2" destOrd="0" presId="urn:microsoft.com/office/officeart/2005/8/layout/orgChart1"/>
    <dgm:cxn modelId="{0F9A25E0-5264-4F29-8EA9-0BC9D0354322}" type="presParOf" srcId="{D95954B2-A995-4105-AA03-605DB299C327}" destId="{FD67F388-FD2C-4E78-8643-CB43BB9D4464}" srcOrd="2" destOrd="0" presId="urn:microsoft.com/office/officeart/2005/8/layout/orgChart1"/>
    <dgm:cxn modelId="{B0FFBB88-52C1-415F-8259-6D1ADF60D065}" type="presParOf" srcId="{6D6EE133-0B77-4075-B486-47581A0BBB88}" destId="{339D149E-B1BE-49A9-8A7F-846684DA7836}" srcOrd="2" destOrd="0" presId="urn:microsoft.com/office/officeart/2005/8/layout/orgChart1"/>
    <dgm:cxn modelId="{0E0EEFA4-6F7C-48AA-A830-EE49E81F89D4}" type="presParOf" srcId="{6D6EE133-0B77-4075-B486-47581A0BBB88}" destId="{F5528EC0-502D-46A9-855E-33D0CAB137F0}" srcOrd="3" destOrd="0" presId="urn:microsoft.com/office/officeart/2005/8/layout/orgChart1"/>
    <dgm:cxn modelId="{9DAA5206-93EB-470E-8B6C-83F007B0D071}" type="presParOf" srcId="{F5528EC0-502D-46A9-855E-33D0CAB137F0}" destId="{47344810-4C6D-4FC1-A5EA-88D5DF7DD281}" srcOrd="0" destOrd="0" presId="urn:microsoft.com/office/officeart/2005/8/layout/orgChart1"/>
    <dgm:cxn modelId="{34DD5D10-065F-4360-B33C-73D454A9448A}" type="presParOf" srcId="{47344810-4C6D-4FC1-A5EA-88D5DF7DD281}" destId="{4757FABE-7AD4-4A49-A1DE-26A64CFE6DC9}" srcOrd="0" destOrd="0" presId="urn:microsoft.com/office/officeart/2005/8/layout/orgChart1"/>
    <dgm:cxn modelId="{032AC6DC-6FF0-433A-9A5F-73881C30E7FD}" type="presParOf" srcId="{47344810-4C6D-4FC1-A5EA-88D5DF7DD281}" destId="{9763CA8F-B6DD-4FB9-A271-8DA92C411218}" srcOrd="1" destOrd="0" presId="urn:microsoft.com/office/officeart/2005/8/layout/orgChart1"/>
    <dgm:cxn modelId="{ECDB62FE-BDFE-4126-A13B-C6CE8DF4463B}" type="presParOf" srcId="{F5528EC0-502D-46A9-855E-33D0CAB137F0}" destId="{6F14F44A-B33C-49D5-BD77-646C00205E6A}" srcOrd="1" destOrd="0" presId="urn:microsoft.com/office/officeart/2005/8/layout/orgChart1"/>
    <dgm:cxn modelId="{0E4428C5-5E6D-4AFC-BDEF-29638A16E5B7}" type="presParOf" srcId="{6F14F44A-B33C-49D5-BD77-646C00205E6A}" destId="{FD9AC9C9-C032-41B1-B63C-F04C215D5BD8}" srcOrd="0" destOrd="0" presId="urn:microsoft.com/office/officeart/2005/8/layout/orgChart1"/>
    <dgm:cxn modelId="{0C8D8162-1958-40F1-84D4-B9FCCC11754B}" type="presParOf" srcId="{6F14F44A-B33C-49D5-BD77-646C00205E6A}" destId="{8159B8D1-6E82-4B63-A206-DA264F95C4DA}" srcOrd="1" destOrd="0" presId="urn:microsoft.com/office/officeart/2005/8/layout/orgChart1"/>
    <dgm:cxn modelId="{6BB29A68-90B8-48D0-896B-B5D42752D840}" type="presParOf" srcId="{8159B8D1-6E82-4B63-A206-DA264F95C4DA}" destId="{600D47F3-4D9E-42F9-BC7B-778A696BB2BC}" srcOrd="0" destOrd="0" presId="urn:microsoft.com/office/officeart/2005/8/layout/orgChart1"/>
    <dgm:cxn modelId="{81CEEBEA-26B7-47FD-B00A-6D775BFE56F5}" type="presParOf" srcId="{600D47F3-4D9E-42F9-BC7B-778A696BB2BC}" destId="{3B880701-1A79-4472-962A-11B512DBFE29}" srcOrd="0" destOrd="0" presId="urn:microsoft.com/office/officeart/2005/8/layout/orgChart1"/>
    <dgm:cxn modelId="{050DCA35-FC7C-4220-A1B5-C9A6E5D8A4D6}" type="presParOf" srcId="{600D47F3-4D9E-42F9-BC7B-778A696BB2BC}" destId="{C9FFFF04-53DB-41DE-8991-602094B60624}" srcOrd="1" destOrd="0" presId="urn:microsoft.com/office/officeart/2005/8/layout/orgChart1"/>
    <dgm:cxn modelId="{4A3AEDB1-91D8-4359-8FD7-C66093B37947}" type="presParOf" srcId="{8159B8D1-6E82-4B63-A206-DA264F95C4DA}" destId="{8D20C4D5-1190-4BA7-8634-46AE7A6FA3B7}" srcOrd="1" destOrd="0" presId="urn:microsoft.com/office/officeart/2005/8/layout/orgChart1"/>
    <dgm:cxn modelId="{99CBFB87-9367-4202-96D3-42EE6619207E}" type="presParOf" srcId="{8159B8D1-6E82-4B63-A206-DA264F95C4DA}" destId="{888D0150-AC17-4930-8BFA-38B81613B705}" srcOrd="2" destOrd="0" presId="urn:microsoft.com/office/officeart/2005/8/layout/orgChart1"/>
    <dgm:cxn modelId="{C879D29B-2A7E-4728-9779-0A768416B577}" type="presParOf" srcId="{6F14F44A-B33C-49D5-BD77-646C00205E6A}" destId="{375AAAF9-992E-4878-AE28-8CE935DB9EA0}" srcOrd="2" destOrd="0" presId="urn:microsoft.com/office/officeart/2005/8/layout/orgChart1"/>
    <dgm:cxn modelId="{7EC04460-AA32-44A0-BD70-A466D3F13899}" type="presParOf" srcId="{6F14F44A-B33C-49D5-BD77-646C00205E6A}" destId="{6552873E-1E82-4CB0-BDC2-55DBEF6373DB}" srcOrd="3" destOrd="0" presId="urn:microsoft.com/office/officeart/2005/8/layout/orgChart1"/>
    <dgm:cxn modelId="{3BD31EF1-A954-4571-8F66-DDEDD2567952}" type="presParOf" srcId="{6552873E-1E82-4CB0-BDC2-55DBEF6373DB}" destId="{BB4467B7-20FF-46FE-BA74-587B99BF45E0}" srcOrd="0" destOrd="0" presId="urn:microsoft.com/office/officeart/2005/8/layout/orgChart1"/>
    <dgm:cxn modelId="{99B849EB-4700-4032-AF96-B47EEA49EC74}" type="presParOf" srcId="{BB4467B7-20FF-46FE-BA74-587B99BF45E0}" destId="{68B7C65B-E19F-4F01-9B65-80CE85176B55}" srcOrd="0" destOrd="0" presId="urn:microsoft.com/office/officeart/2005/8/layout/orgChart1"/>
    <dgm:cxn modelId="{74D4FDFB-031E-4C92-8125-2A04865F999D}" type="presParOf" srcId="{BB4467B7-20FF-46FE-BA74-587B99BF45E0}" destId="{D98E0307-E539-42A9-8973-931FAAE564DE}" srcOrd="1" destOrd="0" presId="urn:microsoft.com/office/officeart/2005/8/layout/orgChart1"/>
    <dgm:cxn modelId="{97CB17CD-D959-4D62-8AEE-59C749C1EBE5}" type="presParOf" srcId="{6552873E-1E82-4CB0-BDC2-55DBEF6373DB}" destId="{BD656499-BFF4-4812-B0A2-3C993C5FACAE}" srcOrd="1" destOrd="0" presId="urn:microsoft.com/office/officeart/2005/8/layout/orgChart1"/>
    <dgm:cxn modelId="{19A30579-1903-458C-9A31-F9D2E4B495D5}" type="presParOf" srcId="{6552873E-1E82-4CB0-BDC2-55DBEF6373DB}" destId="{E49CB28E-0E93-4FAE-AD82-08F49F53628C}" srcOrd="2" destOrd="0" presId="urn:microsoft.com/office/officeart/2005/8/layout/orgChart1"/>
    <dgm:cxn modelId="{A868CFEF-8BA6-4674-946F-3E30A3413A03}" type="presParOf" srcId="{F5528EC0-502D-46A9-855E-33D0CAB137F0}" destId="{95DA6877-36B8-4EA5-9D9D-29C6FEBA2CF0}" srcOrd="2" destOrd="0" presId="urn:microsoft.com/office/officeart/2005/8/layout/orgChart1"/>
    <dgm:cxn modelId="{8B60D5EE-6EA7-4A7C-8E14-E721517C3640}" type="presParOf" srcId="{6D6EE133-0B77-4075-B486-47581A0BBB88}" destId="{98DBA25E-61EB-4F5C-A02E-EA485EB4736A}" srcOrd="4" destOrd="0" presId="urn:microsoft.com/office/officeart/2005/8/layout/orgChart1"/>
    <dgm:cxn modelId="{B3D18DEE-42A4-42DC-8B09-BCA299870931}" type="presParOf" srcId="{6D6EE133-0B77-4075-B486-47581A0BBB88}" destId="{2E9BC1A2-211B-4578-9A30-63A58426892C}" srcOrd="5" destOrd="0" presId="urn:microsoft.com/office/officeart/2005/8/layout/orgChart1"/>
    <dgm:cxn modelId="{545C7971-6570-434C-8EAC-AA15BB14C6C7}" type="presParOf" srcId="{2E9BC1A2-211B-4578-9A30-63A58426892C}" destId="{DD0C8747-50AA-4722-A57D-56D0C58A0196}" srcOrd="0" destOrd="0" presId="urn:microsoft.com/office/officeart/2005/8/layout/orgChart1"/>
    <dgm:cxn modelId="{F90C78A7-0901-4004-A78B-45CC7279CB34}" type="presParOf" srcId="{DD0C8747-50AA-4722-A57D-56D0C58A0196}" destId="{0A3FA993-44B4-4C44-A898-40D27CE5D60E}" srcOrd="0" destOrd="0" presId="urn:microsoft.com/office/officeart/2005/8/layout/orgChart1"/>
    <dgm:cxn modelId="{1409B458-A320-4B2F-AD53-CAE546EA1E89}" type="presParOf" srcId="{DD0C8747-50AA-4722-A57D-56D0C58A0196}" destId="{682AC4ED-E64F-461A-A92E-84CA61AD4EFB}" srcOrd="1" destOrd="0" presId="urn:microsoft.com/office/officeart/2005/8/layout/orgChart1"/>
    <dgm:cxn modelId="{AF8E675B-872E-4BF7-9AAE-035B25091D8F}" type="presParOf" srcId="{2E9BC1A2-211B-4578-9A30-63A58426892C}" destId="{F9CB0706-4555-4618-86C4-BB84DAF8C818}" srcOrd="1" destOrd="0" presId="urn:microsoft.com/office/officeart/2005/8/layout/orgChart1"/>
    <dgm:cxn modelId="{C1C01746-AADC-4304-91E4-068C0AB252E9}" type="presParOf" srcId="{F9CB0706-4555-4618-86C4-BB84DAF8C818}" destId="{184352B4-FFA9-4845-AA9B-09C5657D8BD4}" srcOrd="0" destOrd="0" presId="urn:microsoft.com/office/officeart/2005/8/layout/orgChart1"/>
    <dgm:cxn modelId="{807A4C7B-6157-4132-82B7-B949B7F5D18D}" type="presParOf" srcId="{F9CB0706-4555-4618-86C4-BB84DAF8C818}" destId="{9EF18858-8A28-4770-A9C8-A524DC5DCAD4}" srcOrd="1" destOrd="0" presId="urn:microsoft.com/office/officeart/2005/8/layout/orgChart1"/>
    <dgm:cxn modelId="{6F97261B-0A96-48B8-B8C1-C01022250217}" type="presParOf" srcId="{9EF18858-8A28-4770-A9C8-A524DC5DCAD4}" destId="{1C326459-0209-4523-982D-EA9A03A711CE}" srcOrd="0" destOrd="0" presId="urn:microsoft.com/office/officeart/2005/8/layout/orgChart1"/>
    <dgm:cxn modelId="{5E9FDA4D-9405-40DD-83AF-8ABDF2026B7E}" type="presParOf" srcId="{1C326459-0209-4523-982D-EA9A03A711CE}" destId="{F936887F-7C89-42BE-A6BB-8B945F1563BA}" srcOrd="0" destOrd="0" presId="urn:microsoft.com/office/officeart/2005/8/layout/orgChart1"/>
    <dgm:cxn modelId="{6527A0D7-56C1-4E59-8C3F-AB25A382DD03}" type="presParOf" srcId="{1C326459-0209-4523-982D-EA9A03A711CE}" destId="{B732EB8B-97D7-4986-A891-0F1F2326BFDE}" srcOrd="1" destOrd="0" presId="urn:microsoft.com/office/officeart/2005/8/layout/orgChart1"/>
    <dgm:cxn modelId="{5A1DDF0E-AEBF-4FE4-B5E2-56CC972B4DDA}" type="presParOf" srcId="{9EF18858-8A28-4770-A9C8-A524DC5DCAD4}" destId="{ED4BF76D-A49B-44D2-AF3F-3F827F655946}" srcOrd="1" destOrd="0" presId="urn:microsoft.com/office/officeart/2005/8/layout/orgChart1"/>
    <dgm:cxn modelId="{4E3087B6-1717-4A15-B91A-E967C435B312}" type="presParOf" srcId="{9EF18858-8A28-4770-A9C8-A524DC5DCAD4}" destId="{179F2768-61C9-4173-B932-96E2C8FBF177}" srcOrd="2" destOrd="0" presId="urn:microsoft.com/office/officeart/2005/8/layout/orgChart1"/>
    <dgm:cxn modelId="{6BEC242E-F2B6-4933-A40F-BDFB99341D29}" type="presParOf" srcId="{F9CB0706-4555-4618-86C4-BB84DAF8C818}" destId="{E3703944-F59F-409A-921F-39E1ED70EAAE}" srcOrd="2" destOrd="0" presId="urn:microsoft.com/office/officeart/2005/8/layout/orgChart1"/>
    <dgm:cxn modelId="{8269A673-D9A0-4042-8434-B2D2FF30706E}" type="presParOf" srcId="{F9CB0706-4555-4618-86C4-BB84DAF8C818}" destId="{21D94768-635C-4D32-9C3D-13528749370F}" srcOrd="3" destOrd="0" presId="urn:microsoft.com/office/officeart/2005/8/layout/orgChart1"/>
    <dgm:cxn modelId="{46AF7A2D-C133-4736-898C-E6868FF7B99B}" type="presParOf" srcId="{21D94768-635C-4D32-9C3D-13528749370F}" destId="{F74E76C7-9154-40E0-BB30-23F055C93E25}" srcOrd="0" destOrd="0" presId="urn:microsoft.com/office/officeart/2005/8/layout/orgChart1"/>
    <dgm:cxn modelId="{9CA1505E-819B-4066-95F5-7268DF5648FE}" type="presParOf" srcId="{F74E76C7-9154-40E0-BB30-23F055C93E25}" destId="{D9828A7B-3C65-49B8-AAAA-37332D843CA9}" srcOrd="0" destOrd="0" presId="urn:microsoft.com/office/officeart/2005/8/layout/orgChart1"/>
    <dgm:cxn modelId="{750055DF-9860-4355-B313-CC9C955791BF}" type="presParOf" srcId="{F74E76C7-9154-40E0-BB30-23F055C93E25}" destId="{6134890C-6C73-4E6F-A9DE-01A6399A8FEA}" srcOrd="1" destOrd="0" presId="urn:microsoft.com/office/officeart/2005/8/layout/orgChart1"/>
    <dgm:cxn modelId="{387D4B23-FC79-4F14-B0DB-9D9432A7ABE1}" type="presParOf" srcId="{21D94768-635C-4D32-9C3D-13528749370F}" destId="{AD83101A-8151-49D7-86D7-B617E194F76D}" srcOrd="1" destOrd="0" presId="urn:microsoft.com/office/officeart/2005/8/layout/orgChart1"/>
    <dgm:cxn modelId="{BF3ECC94-C08D-47A0-BFCF-AD33441FACAC}" type="presParOf" srcId="{21D94768-635C-4D32-9C3D-13528749370F}" destId="{B424E36C-0935-4F47-8B6B-7A7373340124}" srcOrd="2" destOrd="0" presId="urn:microsoft.com/office/officeart/2005/8/layout/orgChart1"/>
    <dgm:cxn modelId="{07B890CD-C823-4805-B28C-A52C9115C502}" type="presParOf" srcId="{2E9BC1A2-211B-4578-9A30-63A58426892C}" destId="{0A65195A-CD19-4AF2-96B3-88EF090543F2}" srcOrd="2" destOrd="0" presId="urn:microsoft.com/office/officeart/2005/8/layout/orgChart1"/>
    <dgm:cxn modelId="{D11933AB-D738-499E-B288-981151782DAA}" type="presParOf" srcId="{5F65DE91-0BF2-4854-A96A-7D4D5BC0D488}" destId="{A7149243-1BD0-496B-B3DD-E953C638E510}"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FE75F55-EDDC-45AB-AB0B-72E873278BBE}" type="doc">
      <dgm:prSet loTypeId="urn:diagrams.loki3.com/BracketList" loCatId="list" qsTypeId="urn:microsoft.com/office/officeart/2005/8/quickstyle/3d3#4" qsCatId="3D" csTypeId="urn:microsoft.com/office/officeart/2005/8/colors/colorful1#1" csCatId="colorful" phldr="1"/>
      <dgm:spPr/>
      <dgm:t>
        <a:bodyPr/>
        <a:lstStyle/>
        <a:p>
          <a:endParaRPr lang="en-GB"/>
        </a:p>
      </dgm:t>
    </dgm:pt>
    <dgm:pt modelId="{EC3C6234-5EAB-41DF-A544-378DAD8F0B20}">
      <dgm:prSet custT="1"/>
      <dgm:spPr/>
      <dgm:t>
        <a:bodyPr/>
        <a:lstStyle/>
        <a:p>
          <a:pPr algn="r" rtl="0"/>
          <a:r>
            <a:rPr lang="en-GB" sz="2800" dirty="0"/>
            <a:t>DCF Input I: </a:t>
          </a:r>
        </a:p>
        <a:p>
          <a:pPr algn="ctr" rtl="0"/>
          <a:r>
            <a:rPr lang="en-GB" sz="2800" dirty="0"/>
            <a:t>Cash Flow</a:t>
          </a:r>
        </a:p>
      </dgm:t>
    </dgm:pt>
    <dgm:pt modelId="{ED7E63F3-BECC-41BC-B6C4-95BFA51C499B}" type="parTrans" cxnId="{DD873CBB-21BE-439A-828D-288ABAE56741}">
      <dgm:prSet/>
      <dgm:spPr/>
      <dgm:t>
        <a:bodyPr/>
        <a:lstStyle/>
        <a:p>
          <a:endParaRPr lang="en-US" sz="1400"/>
        </a:p>
      </dgm:t>
    </dgm:pt>
    <dgm:pt modelId="{C15E1024-EC5A-4CEF-B57B-130B77D7902A}" type="sibTrans" cxnId="{DD873CBB-21BE-439A-828D-288ABAE56741}">
      <dgm:prSet custT="1"/>
      <dgm:spPr/>
      <dgm:t>
        <a:bodyPr/>
        <a:lstStyle/>
        <a:p>
          <a:endParaRPr lang="en-US" sz="200"/>
        </a:p>
      </dgm:t>
    </dgm:pt>
    <dgm:pt modelId="{710D564A-0E23-4369-809B-3B1B9F3DCC54}">
      <dgm:prSet custT="1"/>
      <dgm:spPr/>
      <dgm:t>
        <a:bodyPr/>
        <a:lstStyle/>
        <a:p>
          <a:pPr algn="r" rtl="0"/>
          <a:r>
            <a:rPr lang="en-GB" sz="2800" dirty="0"/>
            <a:t>DCF Input II:</a:t>
          </a:r>
        </a:p>
        <a:p>
          <a:pPr algn="ctr" rtl="0"/>
          <a:r>
            <a:rPr lang="en-GB" sz="2800" dirty="0"/>
            <a:t> Growth</a:t>
          </a:r>
        </a:p>
      </dgm:t>
    </dgm:pt>
    <dgm:pt modelId="{A226CDC9-C5D9-4B34-8EFB-B7FA4A91824F}" type="parTrans" cxnId="{B76C6F3C-C8DF-4994-BA38-F211F81A007A}">
      <dgm:prSet/>
      <dgm:spPr/>
      <dgm:t>
        <a:bodyPr/>
        <a:lstStyle/>
        <a:p>
          <a:endParaRPr lang="en-GB"/>
        </a:p>
      </dgm:t>
    </dgm:pt>
    <dgm:pt modelId="{2F957021-57C1-40FE-81E7-69397B2B1CD4}" type="sibTrans" cxnId="{B76C6F3C-C8DF-4994-BA38-F211F81A007A}">
      <dgm:prSet/>
      <dgm:spPr/>
      <dgm:t>
        <a:bodyPr/>
        <a:lstStyle/>
        <a:p>
          <a:endParaRPr lang="en-GB"/>
        </a:p>
      </dgm:t>
    </dgm:pt>
    <dgm:pt modelId="{6F3A5BC1-D269-4E26-BE98-D575DE53307A}">
      <dgm:prSet custT="1"/>
      <dgm:spPr/>
      <dgm:t>
        <a:bodyPr/>
        <a:lstStyle/>
        <a:p>
          <a:pPr rtl="0"/>
          <a:r>
            <a:rPr lang="en-GB" sz="2800"/>
            <a:t>From Earnings to Cash flows</a:t>
          </a:r>
          <a:endParaRPr lang="en-GB" sz="2800" dirty="0"/>
        </a:p>
      </dgm:t>
    </dgm:pt>
    <dgm:pt modelId="{4A7575FB-E159-46BE-BEF5-309A5B629BA8}" type="parTrans" cxnId="{AD86DD99-442F-4584-B0E1-9D3EF0F99BB3}">
      <dgm:prSet/>
      <dgm:spPr/>
      <dgm:t>
        <a:bodyPr/>
        <a:lstStyle/>
        <a:p>
          <a:endParaRPr lang="en-GB"/>
        </a:p>
      </dgm:t>
    </dgm:pt>
    <dgm:pt modelId="{216EA87D-0F32-4854-8D48-F0852BF54C4F}" type="sibTrans" cxnId="{AD86DD99-442F-4584-B0E1-9D3EF0F99BB3}">
      <dgm:prSet/>
      <dgm:spPr/>
      <dgm:t>
        <a:bodyPr/>
        <a:lstStyle/>
        <a:p>
          <a:endParaRPr lang="en-GB"/>
        </a:p>
      </dgm:t>
    </dgm:pt>
    <dgm:pt modelId="{F0E20416-375E-4C67-B275-6A968D5D9A80}">
      <dgm:prSet custT="1"/>
      <dgm:spPr/>
      <dgm:t>
        <a:bodyPr/>
        <a:lstStyle/>
        <a:p>
          <a:pPr rtl="0"/>
          <a:r>
            <a:rPr lang="en-GB" sz="2800"/>
            <a:t>Earnings Adjustments</a:t>
          </a:r>
          <a:endParaRPr lang="en-GB" sz="2800" dirty="0"/>
        </a:p>
      </dgm:t>
    </dgm:pt>
    <dgm:pt modelId="{DCDCD70C-68F3-49A2-8675-14F4E141D79D}" type="parTrans" cxnId="{E49052C5-436A-4C21-9F27-7D5A4EF99F2C}">
      <dgm:prSet/>
      <dgm:spPr/>
      <dgm:t>
        <a:bodyPr/>
        <a:lstStyle/>
        <a:p>
          <a:endParaRPr lang="en-GB"/>
        </a:p>
      </dgm:t>
    </dgm:pt>
    <dgm:pt modelId="{7317D7F7-3B00-42BC-B0FC-9B69DD639892}" type="sibTrans" cxnId="{E49052C5-436A-4C21-9F27-7D5A4EF99F2C}">
      <dgm:prSet/>
      <dgm:spPr/>
      <dgm:t>
        <a:bodyPr/>
        <a:lstStyle/>
        <a:p>
          <a:endParaRPr lang="en-GB"/>
        </a:p>
      </dgm:t>
    </dgm:pt>
    <dgm:pt modelId="{55F12672-0832-4474-83D4-12A98D2BE72E}">
      <dgm:prSet custT="1"/>
      <dgm:spPr/>
      <dgm:t>
        <a:bodyPr/>
        <a:lstStyle/>
        <a:p>
          <a:pPr rtl="0"/>
          <a:r>
            <a:rPr lang="en-GB" sz="2800"/>
            <a:t>Re-Investment</a:t>
          </a:r>
          <a:endParaRPr lang="en-GB" sz="2800" dirty="0"/>
        </a:p>
      </dgm:t>
    </dgm:pt>
    <dgm:pt modelId="{B8483A6C-6BBB-4AB7-87FC-BF5F42E930DC}" type="parTrans" cxnId="{3468FB03-F3EA-457E-B47A-28A8D5F4996C}">
      <dgm:prSet/>
      <dgm:spPr/>
      <dgm:t>
        <a:bodyPr/>
        <a:lstStyle/>
        <a:p>
          <a:endParaRPr lang="en-GB"/>
        </a:p>
      </dgm:t>
    </dgm:pt>
    <dgm:pt modelId="{8C6D7236-6DCA-431A-976F-28ED2F2029B4}" type="sibTrans" cxnId="{3468FB03-F3EA-457E-B47A-28A8D5F4996C}">
      <dgm:prSet/>
      <dgm:spPr/>
      <dgm:t>
        <a:bodyPr/>
        <a:lstStyle/>
        <a:p>
          <a:endParaRPr lang="en-GB"/>
        </a:p>
      </dgm:t>
    </dgm:pt>
    <dgm:pt modelId="{90C6C01B-6484-4D8F-97E8-7C449815F65D}">
      <dgm:prSet custT="1"/>
      <dgm:spPr/>
      <dgm:t>
        <a:bodyPr/>
        <a:lstStyle/>
        <a:p>
          <a:pPr algn="r" rtl="0"/>
          <a:r>
            <a:rPr lang="en-GB" sz="2800" dirty="0"/>
            <a:t>DCF Input III: </a:t>
          </a:r>
        </a:p>
        <a:p>
          <a:pPr algn="ctr" rtl="0"/>
          <a:r>
            <a:rPr lang="en-GB" sz="2800" dirty="0"/>
            <a:t>Discount Rate</a:t>
          </a:r>
        </a:p>
      </dgm:t>
    </dgm:pt>
    <dgm:pt modelId="{DC4EB6C6-15D6-4827-9512-5FBD060D61CB}" type="parTrans" cxnId="{AD0B6A86-4934-4240-906A-CA5B69EC71D6}">
      <dgm:prSet/>
      <dgm:spPr/>
      <dgm:t>
        <a:bodyPr/>
        <a:lstStyle/>
        <a:p>
          <a:endParaRPr lang="en-GB"/>
        </a:p>
      </dgm:t>
    </dgm:pt>
    <dgm:pt modelId="{33E7EB7F-6980-47E2-96BB-522129860693}" type="sibTrans" cxnId="{AD0B6A86-4934-4240-906A-CA5B69EC71D6}">
      <dgm:prSet/>
      <dgm:spPr/>
      <dgm:t>
        <a:bodyPr/>
        <a:lstStyle/>
        <a:p>
          <a:endParaRPr lang="en-GB"/>
        </a:p>
      </dgm:t>
    </dgm:pt>
    <dgm:pt modelId="{2C7EE29A-5BBC-483E-8624-2621F140DF41}">
      <dgm:prSet custT="1"/>
      <dgm:spPr/>
      <dgm:t>
        <a:bodyPr/>
        <a:lstStyle/>
        <a:p>
          <a:pPr rtl="0"/>
          <a:r>
            <a:rPr lang="en-GB" sz="2800" dirty="0"/>
            <a:t>How fast do you expect CF to grow</a:t>
          </a:r>
        </a:p>
      </dgm:t>
    </dgm:pt>
    <dgm:pt modelId="{B2C4820A-0566-4037-B7CD-5020C9EDBE58}" type="parTrans" cxnId="{D2EF83F2-D54F-4C2B-AB0E-C1081CBB2C54}">
      <dgm:prSet/>
      <dgm:spPr/>
      <dgm:t>
        <a:bodyPr/>
        <a:lstStyle/>
        <a:p>
          <a:endParaRPr lang="en-GB"/>
        </a:p>
      </dgm:t>
    </dgm:pt>
    <dgm:pt modelId="{F0D8B7BA-E846-44F0-B220-79C1D17E872E}" type="sibTrans" cxnId="{D2EF83F2-D54F-4C2B-AB0E-C1081CBB2C54}">
      <dgm:prSet/>
      <dgm:spPr/>
      <dgm:t>
        <a:bodyPr/>
        <a:lstStyle/>
        <a:p>
          <a:endParaRPr lang="en-GB"/>
        </a:p>
      </dgm:t>
    </dgm:pt>
    <dgm:pt modelId="{C9304520-72AF-49E8-ACE9-58E8021858DC}">
      <dgm:prSet custT="1"/>
      <dgm:spPr/>
      <dgm:t>
        <a:bodyPr/>
        <a:lstStyle/>
        <a:p>
          <a:pPr rtl="0"/>
          <a:r>
            <a:rPr lang="en-GB" sz="2800"/>
            <a:t>For how long?</a:t>
          </a:r>
          <a:endParaRPr lang="en-GB" sz="2800" dirty="0"/>
        </a:p>
      </dgm:t>
    </dgm:pt>
    <dgm:pt modelId="{6C4CEBE6-5701-4A79-8D1B-4E0D52CEE843}" type="parTrans" cxnId="{09ED4C88-F1E7-4D5B-8C83-63937CB31286}">
      <dgm:prSet/>
      <dgm:spPr/>
      <dgm:t>
        <a:bodyPr/>
        <a:lstStyle/>
        <a:p>
          <a:endParaRPr lang="en-GB"/>
        </a:p>
      </dgm:t>
    </dgm:pt>
    <dgm:pt modelId="{89BBD3B6-7CFD-4ED3-B9E6-8A31614C00D9}" type="sibTrans" cxnId="{09ED4C88-F1E7-4D5B-8C83-63937CB31286}">
      <dgm:prSet/>
      <dgm:spPr/>
      <dgm:t>
        <a:bodyPr/>
        <a:lstStyle/>
        <a:p>
          <a:endParaRPr lang="en-GB"/>
        </a:p>
      </dgm:t>
    </dgm:pt>
    <dgm:pt modelId="{58A526AC-018C-4B79-B4CC-33A40F135610}">
      <dgm:prSet custT="1"/>
      <dgm:spPr/>
      <dgm:t>
        <a:bodyPr/>
        <a:lstStyle/>
        <a:p>
          <a:pPr rtl="0"/>
          <a:r>
            <a:rPr lang="en-GB" sz="2800"/>
            <a:t>How many stages?</a:t>
          </a:r>
          <a:endParaRPr lang="en-GB" sz="2800" dirty="0"/>
        </a:p>
      </dgm:t>
    </dgm:pt>
    <dgm:pt modelId="{5B7D03EA-A8D1-4F92-B4E2-16DFA40FEA3D}" type="parTrans" cxnId="{AEA62057-1DE3-4B3E-B779-ED4EB88DA62B}">
      <dgm:prSet/>
      <dgm:spPr/>
      <dgm:t>
        <a:bodyPr/>
        <a:lstStyle/>
        <a:p>
          <a:endParaRPr lang="en-GB"/>
        </a:p>
      </dgm:t>
    </dgm:pt>
    <dgm:pt modelId="{CF79CA49-70F3-4232-9748-C5EEFC349A2B}" type="sibTrans" cxnId="{AEA62057-1DE3-4B3E-B779-ED4EB88DA62B}">
      <dgm:prSet/>
      <dgm:spPr/>
      <dgm:t>
        <a:bodyPr/>
        <a:lstStyle/>
        <a:p>
          <a:endParaRPr lang="en-GB"/>
        </a:p>
      </dgm:t>
    </dgm:pt>
    <dgm:pt modelId="{AAD147F7-89F3-4687-AAC4-71F9891B5AB7}">
      <dgm:prSet custT="1"/>
      <dgm:spPr/>
      <dgm:t>
        <a:bodyPr/>
        <a:lstStyle/>
        <a:p>
          <a:pPr algn="just" rtl="0"/>
          <a:r>
            <a:rPr lang="en-US" sz="2800" dirty="0"/>
            <a:t>What rate reflects risk?</a:t>
          </a:r>
          <a:endParaRPr lang="en-GB" sz="2800" dirty="0"/>
        </a:p>
      </dgm:t>
    </dgm:pt>
    <dgm:pt modelId="{173451D0-42FE-44D5-AC64-B7D5C4089AA5}" type="parTrans" cxnId="{CD85B144-A605-4646-82DB-13EEAAD24AF0}">
      <dgm:prSet/>
      <dgm:spPr/>
      <dgm:t>
        <a:bodyPr/>
        <a:lstStyle/>
        <a:p>
          <a:endParaRPr lang="en-GB"/>
        </a:p>
      </dgm:t>
    </dgm:pt>
    <dgm:pt modelId="{42FA7C40-9491-435A-9E02-7D0618B4C9F4}" type="sibTrans" cxnId="{CD85B144-A605-4646-82DB-13EEAAD24AF0}">
      <dgm:prSet/>
      <dgm:spPr/>
      <dgm:t>
        <a:bodyPr/>
        <a:lstStyle/>
        <a:p>
          <a:endParaRPr lang="en-GB"/>
        </a:p>
      </dgm:t>
    </dgm:pt>
    <dgm:pt modelId="{1158003D-547E-47C0-867A-217661833CF8}">
      <dgm:prSet custT="1"/>
      <dgm:spPr/>
      <dgm:t>
        <a:bodyPr/>
        <a:lstStyle/>
        <a:p>
          <a:pPr algn="just" rtl="0"/>
          <a:r>
            <a:rPr lang="en-GB" sz="2800" dirty="0"/>
            <a:t>Equity or firm?</a:t>
          </a:r>
        </a:p>
      </dgm:t>
    </dgm:pt>
    <dgm:pt modelId="{6680930F-7CD8-4907-8E45-5EFFF2244775}" type="parTrans" cxnId="{04899C55-C841-4C0C-B167-C10A82B06179}">
      <dgm:prSet/>
      <dgm:spPr/>
      <dgm:t>
        <a:bodyPr/>
        <a:lstStyle/>
        <a:p>
          <a:endParaRPr lang="en-GB"/>
        </a:p>
      </dgm:t>
    </dgm:pt>
    <dgm:pt modelId="{AC724EDD-45DB-4149-9437-E3B8313908A5}" type="sibTrans" cxnId="{04899C55-C841-4C0C-B167-C10A82B06179}">
      <dgm:prSet/>
      <dgm:spPr/>
      <dgm:t>
        <a:bodyPr/>
        <a:lstStyle/>
        <a:p>
          <a:endParaRPr lang="en-GB"/>
        </a:p>
      </dgm:t>
    </dgm:pt>
    <dgm:pt modelId="{00A01AAB-68E9-4DEF-BCCB-C20DDD8BC65B}">
      <dgm:prSet custT="1"/>
      <dgm:spPr/>
      <dgm:t>
        <a:bodyPr/>
        <a:lstStyle/>
        <a:p>
          <a:pPr algn="just" rtl="0"/>
          <a:r>
            <a:rPr lang="en-GB" sz="2800" dirty="0"/>
            <a:t>Adjustments (inflation, risk)</a:t>
          </a:r>
        </a:p>
      </dgm:t>
    </dgm:pt>
    <dgm:pt modelId="{7495A6AD-818A-4DA9-84D3-FEC03C77744B}" type="parTrans" cxnId="{369D1B5C-E61E-4CC9-BCEA-5EE35B6E0C9F}">
      <dgm:prSet/>
      <dgm:spPr/>
      <dgm:t>
        <a:bodyPr/>
        <a:lstStyle/>
        <a:p>
          <a:endParaRPr lang="en-GB"/>
        </a:p>
      </dgm:t>
    </dgm:pt>
    <dgm:pt modelId="{89FDD832-BB22-472B-AA3E-C25BA8D55804}" type="sibTrans" cxnId="{369D1B5C-E61E-4CC9-BCEA-5EE35B6E0C9F}">
      <dgm:prSet/>
      <dgm:spPr/>
      <dgm:t>
        <a:bodyPr/>
        <a:lstStyle/>
        <a:p>
          <a:endParaRPr lang="en-GB"/>
        </a:p>
      </dgm:t>
    </dgm:pt>
    <dgm:pt modelId="{8C7976F8-0854-42E6-8AAC-191308687878}">
      <dgm:prSet custT="1"/>
      <dgm:spPr/>
      <dgm:t>
        <a:bodyPr/>
        <a:lstStyle/>
        <a:p>
          <a:pPr algn="just" rtl="0"/>
          <a:r>
            <a:rPr lang="en-GB" sz="2800" dirty="0"/>
            <a:t>dr can vary over time</a:t>
          </a:r>
        </a:p>
      </dgm:t>
    </dgm:pt>
    <dgm:pt modelId="{F82AFC35-FC05-4B4F-A7C9-E2ACA1E327AF}" type="parTrans" cxnId="{2B64DEBA-D1F2-4B60-835C-66B7C0FE5AF3}">
      <dgm:prSet/>
      <dgm:spPr/>
      <dgm:t>
        <a:bodyPr/>
        <a:lstStyle/>
        <a:p>
          <a:endParaRPr lang="en-GB"/>
        </a:p>
      </dgm:t>
    </dgm:pt>
    <dgm:pt modelId="{A5D8D954-D492-40B2-B0AA-B97E37A6E90D}" type="sibTrans" cxnId="{2B64DEBA-D1F2-4B60-835C-66B7C0FE5AF3}">
      <dgm:prSet/>
      <dgm:spPr/>
      <dgm:t>
        <a:bodyPr/>
        <a:lstStyle/>
        <a:p>
          <a:endParaRPr lang="en-GB"/>
        </a:p>
      </dgm:t>
    </dgm:pt>
    <dgm:pt modelId="{D98A5A11-9942-4990-A941-A60AEE1BDC80}" type="pres">
      <dgm:prSet presAssocID="{3FE75F55-EDDC-45AB-AB0B-72E873278BBE}" presName="Name0" presStyleCnt="0">
        <dgm:presLayoutVars>
          <dgm:dir/>
          <dgm:animLvl val="lvl"/>
          <dgm:resizeHandles val="exact"/>
        </dgm:presLayoutVars>
      </dgm:prSet>
      <dgm:spPr/>
    </dgm:pt>
    <dgm:pt modelId="{47C931B8-48DD-42C4-931E-AC2E306FE435}" type="pres">
      <dgm:prSet presAssocID="{EC3C6234-5EAB-41DF-A544-378DAD8F0B20}" presName="linNode" presStyleCnt="0"/>
      <dgm:spPr/>
    </dgm:pt>
    <dgm:pt modelId="{54DD51FF-83EE-4E3C-8E3C-F402F2EB5509}" type="pres">
      <dgm:prSet presAssocID="{EC3C6234-5EAB-41DF-A544-378DAD8F0B20}" presName="parTx" presStyleLbl="revTx" presStyleIdx="0" presStyleCnt="3">
        <dgm:presLayoutVars>
          <dgm:chMax val="1"/>
          <dgm:bulletEnabled val="1"/>
        </dgm:presLayoutVars>
      </dgm:prSet>
      <dgm:spPr/>
    </dgm:pt>
    <dgm:pt modelId="{F6A0D81E-191C-4A02-B990-F849E4C68825}" type="pres">
      <dgm:prSet presAssocID="{EC3C6234-5EAB-41DF-A544-378DAD8F0B20}" presName="bracket" presStyleLbl="parChTrans1D1" presStyleIdx="0" presStyleCnt="3"/>
      <dgm:spPr/>
    </dgm:pt>
    <dgm:pt modelId="{D5F9211C-1D3A-4EE9-8C0B-6BE8B4128A68}" type="pres">
      <dgm:prSet presAssocID="{EC3C6234-5EAB-41DF-A544-378DAD8F0B20}" presName="spH" presStyleCnt="0"/>
      <dgm:spPr/>
    </dgm:pt>
    <dgm:pt modelId="{4D71A39B-6DF1-4FCD-88F0-98401CB51C7D}" type="pres">
      <dgm:prSet presAssocID="{EC3C6234-5EAB-41DF-A544-378DAD8F0B20}" presName="desTx" presStyleLbl="node1" presStyleIdx="0" presStyleCnt="3">
        <dgm:presLayoutVars>
          <dgm:bulletEnabled val="1"/>
        </dgm:presLayoutVars>
      </dgm:prSet>
      <dgm:spPr/>
    </dgm:pt>
    <dgm:pt modelId="{56D2C85E-949F-4510-99E3-5D2C452A7870}" type="pres">
      <dgm:prSet presAssocID="{C15E1024-EC5A-4CEF-B57B-130B77D7902A}" presName="spV" presStyleCnt="0"/>
      <dgm:spPr/>
    </dgm:pt>
    <dgm:pt modelId="{0049FC2D-DCE3-4E35-A199-B75EF13A194E}" type="pres">
      <dgm:prSet presAssocID="{710D564A-0E23-4369-809B-3B1B9F3DCC54}" presName="linNode" presStyleCnt="0"/>
      <dgm:spPr/>
    </dgm:pt>
    <dgm:pt modelId="{35DD4545-1939-4C74-9DE7-2560C0B22AF4}" type="pres">
      <dgm:prSet presAssocID="{710D564A-0E23-4369-809B-3B1B9F3DCC54}" presName="parTx" presStyleLbl="revTx" presStyleIdx="1" presStyleCnt="3">
        <dgm:presLayoutVars>
          <dgm:chMax val="1"/>
          <dgm:bulletEnabled val="1"/>
        </dgm:presLayoutVars>
      </dgm:prSet>
      <dgm:spPr/>
    </dgm:pt>
    <dgm:pt modelId="{247C77D1-0978-4F59-8DFC-D61B9E774A22}" type="pres">
      <dgm:prSet presAssocID="{710D564A-0E23-4369-809B-3B1B9F3DCC54}" presName="bracket" presStyleLbl="parChTrans1D1" presStyleIdx="1" presStyleCnt="3"/>
      <dgm:spPr/>
    </dgm:pt>
    <dgm:pt modelId="{FF7FE2B4-88C2-4CBF-A9D3-9D56221A12AF}" type="pres">
      <dgm:prSet presAssocID="{710D564A-0E23-4369-809B-3B1B9F3DCC54}" presName="spH" presStyleCnt="0"/>
      <dgm:spPr/>
    </dgm:pt>
    <dgm:pt modelId="{A6735F09-E23E-418A-8DCE-C64578502936}" type="pres">
      <dgm:prSet presAssocID="{710D564A-0E23-4369-809B-3B1B9F3DCC54}" presName="desTx" presStyleLbl="node1" presStyleIdx="1" presStyleCnt="3">
        <dgm:presLayoutVars>
          <dgm:bulletEnabled val="1"/>
        </dgm:presLayoutVars>
      </dgm:prSet>
      <dgm:spPr/>
    </dgm:pt>
    <dgm:pt modelId="{38F087A1-1F5E-465C-9C75-AAAE7AB63FC7}" type="pres">
      <dgm:prSet presAssocID="{2F957021-57C1-40FE-81E7-69397B2B1CD4}" presName="spV" presStyleCnt="0"/>
      <dgm:spPr/>
    </dgm:pt>
    <dgm:pt modelId="{EB9572D5-28B6-44AC-B55A-D022DB1B9E71}" type="pres">
      <dgm:prSet presAssocID="{90C6C01B-6484-4D8F-97E8-7C449815F65D}" presName="linNode" presStyleCnt="0"/>
      <dgm:spPr/>
    </dgm:pt>
    <dgm:pt modelId="{742B64F6-490C-46C0-B944-79F38B424822}" type="pres">
      <dgm:prSet presAssocID="{90C6C01B-6484-4D8F-97E8-7C449815F65D}" presName="parTx" presStyleLbl="revTx" presStyleIdx="2" presStyleCnt="3">
        <dgm:presLayoutVars>
          <dgm:chMax val="1"/>
          <dgm:bulletEnabled val="1"/>
        </dgm:presLayoutVars>
      </dgm:prSet>
      <dgm:spPr/>
    </dgm:pt>
    <dgm:pt modelId="{62FF817B-9802-4299-B01E-CD02FD9F8F68}" type="pres">
      <dgm:prSet presAssocID="{90C6C01B-6484-4D8F-97E8-7C449815F65D}" presName="bracket" presStyleLbl="parChTrans1D1" presStyleIdx="2" presStyleCnt="3"/>
      <dgm:spPr/>
    </dgm:pt>
    <dgm:pt modelId="{D8119259-8575-4E55-A50A-C383BA1F8172}" type="pres">
      <dgm:prSet presAssocID="{90C6C01B-6484-4D8F-97E8-7C449815F65D}" presName="spH" presStyleCnt="0"/>
      <dgm:spPr/>
    </dgm:pt>
    <dgm:pt modelId="{09C02A45-D89D-4D30-9D92-A2E4BDEF4C67}" type="pres">
      <dgm:prSet presAssocID="{90C6C01B-6484-4D8F-97E8-7C449815F65D}" presName="desTx" presStyleLbl="node1" presStyleIdx="2" presStyleCnt="3">
        <dgm:presLayoutVars>
          <dgm:bulletEnabled val="1"/>
        </dgm:presLayoutVars>
      </dgm:prSet>
      <dgm:spPr/>
    </dgm:pt>
  </dgm:ptLst>
  <dgm:cxnLst>
    <dgm:cxn modelId="{7A109B00-B5F7-4768-A025-40BDC5700AAF}" type="presOf" srcId="{90C6C01B-6484-4D8F-97E8-7C449815F65D}" destId="{742B64F6-490C-46C0-B944-79F38B424822}" srcOrd="0" destOrd="0" presId="urn:diagrams.loki3.com/BracketList"/>
    <dgm:cxn modelId="{3468FB03-F3EA-457E-B47A-28A8D5F4996C}" srcId="{EC3C6234-5EAB-41DF-A544-378DAD8F0B20}" destId="{55F12672-0832-4474-83D4-12A98D2BE72E}" srcOrd="2" destOrd="0" parTransId="{B8483A6C-6BBB-4AB7-87FC-BF5F42E930DC}" sibTransId="{8C6D7236-6DCA-431A-976F-28ED2F2029B4}"/>
    <dgm:cxn modelId="{51EC8410-2CCA-4E33-87FB-2F77FA08D8DF}" type="presOf" srcId="{EC3C6234-5EAB-41DF-A544-378DAD8F0B20}" destId="{54DD51FF-83EE-4E3C-8E3C-F402F2EB5509}" srcOrd="0" destOrd="0" presId="urn:diagrams.loki3.com/BracketList"/>
    <dgm:cxn modelId="{BDDA3316-DFA4-4C78-8009-9CECAD4D0AAB}" type="presOf" srcId="{8C7976F8-0854-42E6-8AAC-191308687878}" destId="{09C02A45-D89D-4D30-9D92-A2E4BDEF4C67}" srcOrd="0" destOrd="3" presId="urn:diagrams.loki3.com/BracketList"/>
    <dgm:cxn modelId="{B76C6F3C-C8DF-4994-BA38-F211F81A007A}" srcId="{3FE75F55-EDDC-45AB-AB0B-72E873278BBE}" destId="{710D564A-0E23-4369-809B-3B1B9F3DCC54}" srcOrd="1" destOrd="0" parTransId="{A226CDC9-C5D9-4B34-8EFB-B7FA4A91824F}" sibTransId="{2F957021-57C1-40FE-81E7-69397B2B1CD4}"/>
    <dgm:cxn modelId="{369D1B5C-E61E-4CC9-BCEA-5EE35B6E0C9F}" srcId="{90C6C01B-6484-4D8F-97E8-7C449815F65D}" destId="{00A01AAB-68E9-4DEF-BCCB-C20DDD8BC65B}" srcOrd="2" destOrd="0" parTransId="{7495A6AD-818A-4DA9-84D3-FEC03C77744B}" sibTransId="{89FDD832-BB22-472B-AA3E-C25BA8D55804}"/>
    <dgm:cxn modelId="{CD85B144-A605-4646-82DB-13EEAAD24AF0}" srcId="{90C6C01B-6484-4D8F-97E8-7C449815F65D}" destId="{AAD147F7-89F3-4687-AAC4-71F9891B5AB7}" srcOrd="0" destOrd="0" parTransId="{173451D0-42FE-44D5-AC64-B7D5C4089AA5}" sibTransId="{42FA7C40-9491-435A-9E02-7D0618B4C9F4}"/>
    <dgm:cxn modelId="{77077D67-C66E-46C4-A9A7-802CEB149BAE}" type="presOf" srcId="{1158003D-547E-47C0-867A-217661833CF8}" destId="{09C02A45-D89D-4D30-9D92-A2E4BDEF4C67}" srcOrd="0" destOrd="1" presId="urn:diagrams.loki3.com/BracketList"/>
    <dgm:cxn modelId="{22DB0650-20DD-4C6A-8279-F080354C71AE}" type="presOf" srcId="{C9304520-72AF-49E8-ACE9-58E8021858DC}" destId="{A6735F09-E23E-418A-8DCE-C64578502936}" srcOrd="0" destOrd="1" presId="urn:diagrams.loki3.com/BracketList"/>
    <dgm:cxn modelId="{3FE26A51-9F95-4980-A203-6B2F6D76BA2D}" type="presOf" srcId="{58A526AC-018C-4B79-B4CC-33A40F135610}" destId="{A6735F09-E23E-418A-8DCE-C64578502936}" srcOrd="0" destOrd="2" presId="urn:diagrams.loki3.com/BracketList"/>
    <dgm:cxn modelId="{1A56A554-D500-4F6A-889F-DE5B2878B5DA}" type="presOf" srcId="{3FE75F55-EDDC-45AB-AB0B-72E873278BBE}" destId="{D98A5A11-9942-4990-A941-A60AEE1BDC80}" srcOrd="0" destOrd="0" presId="urn:diagrams.loki3.com/BracketList"/>
    <dgm:cxn modelId="{04899C55-C841-4C0C-B167-C10A82B06179}" srcId="{90C6C01B-6484-4D8F-97E8-7C449815F65D}" destId="{1158003D-547E-47C0-867A-217661833CF8}" srcOrd="1" destOrd="0" parTransId="{6680930F-7CD8-4907-8E45-5EFFF2244775}" sibTransId="{AC724EDD-45DB-4149-9437-E3B8313908A5}"/>
    <dgm:cxn modelId="{AEA62057-1DE3-4B3E-B779-ED4EB88DA62B}" srcId="{710D564A-0E23-4369-809B-3B1B9F3DCC54}" destId="{58A526AC-018C-4B79-B4CC-33A40F135610}" srcOrd="2" destOrd="0" parTransId="{5B7D03EA-A8D1-4F92-B4E2-16DFA40FEA3D}" sibTransId="{CF79CA49-70F3-4232-9748-C5EEFC349A2B}"/>
    <dgm:cxn modelId="{AD0B6A86-4934-4240-906A-CA5B69EC71D6}" srcId="{3FE75F55-EDDC-45AB-AB0B-72E873278BBE}" destId="{90C6C01B-6484-4D8F-97E8-7C449815F65D}" srcOrd="2" destOrd="0" parTransId="{DC4EB6C6-15D6-4827-9512-5FBD060D61CB}" sibTransId="{33E7EB7F-6980-47E2-96BB-522129860693}"/>
    <dgm:cxn modelId="{09ED4C88-F1E7-4D5B-8C83-63937CB31286}" srcId="{710D564A-0E23-4369-809B-3B1B9F3DCC54}" destId="{C9304520-72AF-49E8-ACE9-58E8021858DC}" srcOrd="1" destOrd="0" parTransId="{6C4CEBE6-5701-4A79-8D1B-4E0D52CEE843}" sibTransId="{89BBD3B6-7CFD-4ED3-B9E6-8A31614C00D9}"/>
    <dgm:cxn modelId="{B0FA938A-0D20-4157-9C77-B16D2D53EC6B}" type="presOf" srcId="{2C7EE29A-5BBC-483E-8624-2621F140DF41}" destId="{A6735F09-E23E-418A-8DCE-C64578502936}" srcOrd="0" destOrd="0" presId="urn:diagrams.loki3.com/BracketList"/>
    <dgm:cxn modelId="{AD86DD99-442F-4584-B0E1-9D3EF0F99BB3}" srcId="{EC3C6234-5EAB-41DF-A544-378DAD8F0B20}" destId="{6F3A5BC1-D269-4E26-BE98-D575DE53307A}" srcOrd="0" destOrd="0" parTransId="{4A7575FB-E159-46BE-BEF5-309A5B629BA8}" sibTransId="{216EA87D-0F32-4854-8D48-F0852BF54C4F}"/>
    <dgm:cxn modelId="{7B463A9B-D37B-4F2C-A2F3-16A092080BD3}" type="presOf" srcId="{710D564A-0E23-4369-809B-3B1B9F3DCC54}" destId="{35DD4545-1939-4C74-9DE7-2560C0B22AF4}" srcOrd="0" destOrd="0" presId="urn:diagrams.loki3.com/BracketList"/>
    <dgm:cxn modelId="{2B64DEBA-D1F2-4B60-835C-66B7C0FE5AF3}" srcId="{90C6C01B-6484-4D8F-97E8-7C449815F65D}" destId="{8C7976F8-0854-42E6-8AAC-191308687878}" srcOrd="3" destOrd="0" parTransId="{F82AFC35-FC05-4B4F-A7C9-E2ACA1E327AF}" sibTransId="{A5D8D954-D492-40B2-B0AA-B97E37A6E90D}"/>
    <dgm:cxn modelId="{DD873CBB-21BE-439A-828D-288ABAE56741}" srcId="{3FE75F55-EDDC-45AB-AB0B-72E873278BBE}" destId="{EC3C6234-5EAB-41DF-A544-378DAD8F0B20}" srcOrd="0" destOrd="0" parTransId="{ED7E63F3-BECC-41BC-B6C4-95BFA51C499B}" sibTransId="{C15E1024-EC5A-4CEF-B57B-130B77D7902A}"/>
    <dgm:cxn modelId="{8C22C3BD-B72E-496F-B057-66D5BAE06E43}" type="presOf" srcId="{00A01AAB-68E9-4DEF-BCCB-C20DDD8BC65B}" destId="{09C02A45-D89D-4D30-9D92-A2E4BDEF4C67}" srcOrd="0" destOrd="2" presId="urn:diagrams.loki3.com/BracketList"/>
    <dgm:cxn modelId="{E49052C5-436A-4C21-9F27-7D5A4EF99F2C}" srcId="{EC3C6234-5EAB-41DF-A544-378DAD8F0B20}" destId="{F0E20416-375E-4C67-B275-6A968D5D9A80}" srcOrd="1" destOrd="0" parTransId="{DCDCD70C-68F3-49A2-8675-14F4E141D79D}" sibTransId="{7317D7F7-3B00-42BC-B0FC-9B69DD639892}"/>
    <dgm:cxn modelId="{B2EB17D4-32CE-4B01-A06B-09A526BB0804}" type="presOf" srcId="{6F3A5BC1-D269-4E26-BE98-D575DE53307A}" destId="{4D71A39B-6DF1-4FCD-88F0-98401CB51C7D}" srcOrd="0" destOrd="0" presId="urn:diagrams.loki3.com/BracketList"/>
    <dgm:cxn modelId="{4D42E3D7-2204-4DFF-9958-B0D134817996}" type="presOf" srcId="{AAD147F7-89F3-4687-AAC4-71F9891B5AB7}" destId="{09C02A45-D89D-4D30-9D92-A2E4BDEF4C67}" srcOrd="0" destOrd="0" presId="urn:diagrams.loki3.com/BracketList"/>
    <dgm:cxn modelId="{5E75A0EB-D1C4-4AAF-9996-A5C1B6840CA3}" type="presOf" srcId="{F0E20416-375E-4C67-B275-6A968D5D9A80}" destId="{4D71A39B-6DF1-4FCD-88F0-98401CB51C7D}" srcOrd="0" destOrd="1" presId="urn:diagrams.loki3.com/BracketList"/>
    <dgm:cxn modelId="{D2EF83F2-D54F-4C2B-AB0E-C1081CBB2C54}" srcId="{710D564A-0E23-4369-809B-3B1B9F3DCC54}" destId="{2C7EE29A-5BBC-483E-8624-2621F140DF41}" srcOrd="0" destOrd="0" parTransId="{B2C4820A-0566-4037-B7CD-5020C9EDBE58}" sibTransId="{F0D8B7BA-E846-44F0-B220-79C1D17E872E}"/>
    <dgm:cxn modelId="{1DBF2DF7-C17E-464B-AA42-669FCAC147BB}" type="presOf" srcId="{55F12672-0832-4474-83D4-12A98D2BE72E}" destId="{4D71A39B-6DF1-4FCD-88F0-98401CB51C7D}" srcOrd="0" destOrd="2" presId="urn:diagrams.loki3.com/BracketList"/>
    <dgm:cxn modelId="{6967A8BF-D814-4A1F-AB44-306128CBEEC3}" type="presParOf" srcId="{D98A5A11-9942-4990-A941-A60AEE1BDC80}" destId="{47C931B8-48DD-42C4-931E-AC2E306FE435}" srcOrd="0" destOrd="0" presId="urn:diagrams.loki3.com/BracketList"/>
    <dgm:cxn modelId="{77E2B153-0F5D-4880-B972-2833EEDE0C15}" type="presParOf" srcId="{47C931B8-48DD-42C4-931E-AC2E306FE435}" destId="{54DD51FF-83EE-4E3C-8E3C-F402F2EB5509}" srcOrd="0" destOrd="0" presId="urn:diagrams.loki3.com/BracketList"/>
    <dgm:cxn modelId="{2E92EB64-CF43-44CD-9DDE-B5E97D93BA75}" type="presParOf" srcId="{47C931B8-48DD-42C4-931E-AC2E306FE435}" destId="{F6A0D81E-191C-4A02-B990-F849E4C68825}" srcOrd="1" destOrd="0" presId="urn:diagrams.loki3.com/BracketList"/>
    <dgm:cxn modelId="{53E79EA1-6591-44F7-B49F-936B6DBCA995}" type="presParOf" srcId="{47C931B8-48DD-42C4-931E-AC2E306FE435}" destId="{D5F9211C-1D3A-4EE9-8C0B-6BE8B4128A68}" srcOrd="2" destOrd="0" presId="urn:diagrams.loki3.com/BracketList"/>
    <dgm:cxn modelId="{56C436DA-1907-4BE0-BE72-6D911DE5534E}" type="presParOf" srcId="{47C931B8-48DD-42C4-931E-AC2E306FE435}" destId="{4D71A39B-6DF1-4FCD-88F0-98401CB51C7D}" srcOrd="3" destOrd="0" presId="urn:diagrams.loki3.com/BracketList"/>
    <dgm:cxn modelId="{9B1FAC39-175E-4729-8E3D-165DBB0488A3}" type="presParOf" srcId="{D98A5A11-9942-4990-A941-A60AEE1BDC80}" destId="{56D2C85E-949F-4510-99E3-5D2C452A7870}" srcOrd="1" destOrd="0" presId="urn:diagrams.loki3.com/BracketList"/>
    <dgm:cxn modelId="{736C3FAA-AAC2-43FF-AEB1-5CB558E1344F}" type="presParOf" srcId="{D98A5A11-9942-4990-A941-A60AEE1BDC80}" destId="{0049FC2D-DCE3-4E35-A199-B75EF13A194E}" srcOrd="2" destOrd="0" presId="urn:diagrams.loki3.com/BracketList"/>
    <dgm:cxn modelId="{1E085D6A-6BC5-415B-A16D-03DA2A61886A}" type="presParOf" srcId="{0049FC2D-DCE3-4E35-A199-B75EF13A194E}" destId="{35DD4545-1939-4C74-9DE7-2560C0B22AF4}" srcOrd="0" destOrd="0" presId="urn:diagrams.loki3.com/BracketList"/>
    <dgm:cxn modelId="{517C4B25-4DA6-402F-A262-3610FBA9F389}" type="presParOf" srcId="{0049FC2D-DCE3-4E35-A199-B75EF13A194E}" destId="{247C77D1-0978-4F59-8DFC-D61B9E774A22}" srcOrd="1" destOrd="0" presId="urn:diagrams.loki3.com/BracketList"/>
    <dgm:cxn modelId="{E32619E4-FD2C-4918-8EDD-4CE0CCBDC5E4}" type="presParOf" srcId="{0049FC2D-DCE3-4E35-A199-B75EF13A194E}" destId="{FF7FE2B4-88C2-4CBF-A9D3-9D56221A12AF}" srcOrd="2" destOrd="0" presId="urn:diagrams.loki3.com/BracketList"/>
    <dgm:cxn modelId="{A9DA7E53-0FA7-405A-817A-3ECD946D61F8}" type="presParOf" srcId="{0049FC2D-DCE3-4E35-A199-B75EF13A194E}" destId="{A6735F09-E23E-418A-8DCE-C64578502936}" srcOrd="3" destOrd="0" presId="urn:diagrams.loki3.com/BracketList"/>
    <dgm:cxn modelId="{E0163CCF-3E83-42B7-BBCB-21996C27C8FF}" type="presParOf" srcId="{D98A5A11-9942-4990-A941-A60AEE1BDC80}" destId="{38F087A1-1F5E-465C-9C75-AAAE7AB63FC7}" srcOrd="3" destOrd="0" presId="urn:diagrams.loki3.com/BracketList"/>
    <dgm:cxn modelId="{2A1284D0-17B2-442C-9410-6B82200874D1}" type="presParOf" srcId="{D98A5A11-9942-4990-A941-A60AEE1BDC80}" destId="{EB9572D5-28B6-44AC-B55A-D022DB1B9E71}" srcOrd="4" destOrd="0" presId="urn:diagrams.loki3.com/BracketList"/>
    <dgm:cxn modelId="{82559E0B-74C4-43E6-9A6D-E04AB0DFA622}" type="presParOf" srcId="{EB9572D5-28B6-44AC-B55A-D022DB1B9E71}" destId="{742B64F6-490C-46C0-B944-79F38B424822}" srcOrd="0" destOrd="0" presId="urn:diagrams.loki3.com/BracketList"/>
    <dgm:cxn modelId="{18C372D5-793C-4D29-B5F9-BF1A07A0D5FB}" type="presParOf" srcId="{EB9572D5-28B6-44AC-B55A-D022DB1B9E71}" destId="{62FF817B-9802-4299-B01E-CD02FD9F8F68}" srcOrd="1" destOrd="0" presId="urn:diagrams.loki3.com/BracketList"/>
    <dgm:cxn modelId="{C885DB9D-429E-43AE-82C4-BC144B4A90FD}" type="presParOf" srcId="{EB9572D5-28B6-44AC-B55A-D022DB1B9E71}" destId="{D8119259-8575-4E55-A50A-C383BA1F8172}" srcOrd="2" destOrd="0" presId="urn:diagrams.loki3.com/BracketList"/>
    <dgm:cxn modelId="{711F5994-C753-43AE-A070-5FF40373E68D}" type="presParOf" srcId="{EB9572D5-28B6-44AC-B55A-D022DB1B9E71}" destId="{09C02A45-D89D-4D30-9D92-A2E4BDEF4C67}" srcOrd="3" destOrd="0" presId="urn:diagrams.loki3.com/Bracke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AFB604C-5F8B-4DCD-965C-6E4731A1E2BB}" type="doc">
      <dgm:prSet loTypeId="urn:microsoft.com/office/officeart/2005/8/layout/vList2" loCatId="list" qsTypeId="urn:microsoft.com/office/officeart/2005/8/quickstyle/simple1#1" qsCatId="simple" csTypeId="urn:microsoft.com/office/officeart/2005/8/colors/accent1_2#2" csCatId="accent1" phldr="1"/>
      <dgm:spPr/>
      <dgm:t>
        <a:bodyPr/>
        <a:lstStyle/>
        <a:p>
          <a:endParaRPr lang="en-GB"/>
        </a:p>
      </dgm:t>
    </dgm:pt>
    <dgm:pt modelId="{2F63BB2D-0CA9-4DCE-91BE-28120DE9E8F5}">
      <dgm:prSet phldrT="[Text]"/>
      <dgm:spPr/>
      <dgm:t>
        <a:bodyPr/>
        <a:lstStyle/>
        <a:p>
          <a:r>
            <a:rPr lang="en-GB" dirty="0"/>
            <a:t>Part I: Discounted Cash Flows</a:t>
          </a:r>
        </a:p>
      </dgm:t>
    </dgm:pt>
    <dgm:pt modelId="{5B2C50BE-C8BA-49D3-A39C-72E612B85C87}" type="parTrans" cxnId="{25497D6B-822B-44F5-B2BF-89E7C9043F9C}">
      <dgm:prSet/>
      <dgm:spPr/>
      <dgm:t>
        <a:bodyPr/>
        <a:lstStyle/>
        <a:p>
          <a:endParaRPr lang="en-GB"/>
        </a:p>
      </dgm:t>
    </dgm:pt>
    <dgm:pt modelId="{E179A157-34D2-4B3A-A3B8-8384274052E1}" type="sibTrans" cxnId="{25497D6B-822B-44F5-B2BF-89E7C9043F9C}">
      <dgm:prSet/>
      <dgm:spPr/>
      <dgm:t>
        <a:bodyPr/>
        <a:lstStyle/>
        <a:p>
          <a:endParaRPr lang="en-GB"/>
        </a:p>
      </dgm:t>
    </dgm:pt>
    <dgm:pt modelId="{6128A397-30A3-408D-9AB6-A6A8241FD50F}">
      <dgm:prSet phldrT="[Text]"/>
      <dgm:spPr/>
      <dgm:t>
        <a:bodyPr/>
        <a:lstStyle/>
        <a:p>
          <a:r>
            <a:rPr lang="en-GB" sz="2700" dirty="0"/>
            <a:t>Discount Rates</a:t>
          </a:r>
        </a:p>
      </dgm:t>
    </dgm:pt>
    <dgm:pt modelId="{EABD65A0-E1E0-4287-8F2F-06A89869E5D3}" type="parTrans" cxnId="{21608A2A-30A1-404B-999A-25BE35F2F7CA}">
      <dgm:prSet/>
      <dgm:spPr/>
      <dgm:t>
        <a:bodyPr/>
        <a:lstStyle/>
        <a:p>
          <a:endParaRPr lang="en-GB"/>
        </a:p>
      </dgm:t>
    </dgm:pt>
    <dgm:pt modelId="{64326824-91A8-48AB-8389-E22FD8A82BE6}" type="sibTrans" cxnId="{21608A2A-30A1-404B-999A-25BE35F2F7CA}">
      <dgm:prSet/>
      <dgm:spPr/>
      <dgm:t>
        <a:bodyPr/>
        <a:lstStyle/>
        <a:p>
          <a:endParaRPr lang="en-GB"/>
        </a:p>
      </dgm:t>
    </dgm:pt>
    <dgm:pt modelId="{23867491-FBE3-4E6F-8426-68FFAF3AEFD8}">
      <dgm:prSet phldrT="[Text]" custT="1"/>
      <dgm:spPr/>
      <dgm:t>
        <a:bodyPr/>
        <a:lstStyle/>
        <a:p>
          <a:r>
            <a:rPr lang="en-GB" sz="2400" dirty="0"/>
            <a:t>Risk Parameters (Beta/Determinants)</a:t>
          </a:r>
        </a:p>
      </dgm:t>
    </dgm:pt>
    <dgm:pt modelId="{2A09278D-6ED6-4BC7-A048-F1D44ADDCC98}" type="parTrans" cxnId="{EDF72097-E01F-42EF-87E9-0EF2EA9A64D3}">
      <dgm:prSet/>
      <dgm:spPr/>
      <dgm:t>
        <a:bodyPr/>
        <a:lstStyle/>
        <a:p>
          <a:endParaRPr lang="en-GB"/>
        </a:p>
      </dgm:t>
    </dgm:pt>
    <dgm:pt modelId="{9BB9A35A-4A7F-4365-B77C-EE87F30C2B03}" type="sibTrans" cxnId="{EDF72097-E01F-42EF-87E9-0EF2EA9A64D3}">
      <dgm:prSet/>
      <dgm:spPr/>
      <dgm:t>
        <a:bodyPr/>
        <a:lstStyle/>
        <a:p>
          <a:endParaRPr lang="en-GB"/>
        </a:p>
      </dgm:t>
    </dgm:pt>
    <dgm:pt modelId="{2A5D1E3D-2AD5-4F2D-B43A-16F810A90CAA}">
      <dgm:prSet phldrT="[Text]"/>
      <dgm:spPr/>
      <dgm:t>
        <a:bodyPr/>
        <a:lstStyle/>
        <a:p>
          <a:r>
            <a:rPr lang="en-GB" dirty="0"/>
            <a:t>Part II: Relative Valuation</a:t>
          </a:r>
        </a:p>
      </dgm:t>
    </dgm:pt>
    <dgm:pt modelId="{FAB137A1-DD70-4F4C-A6CF-F2A771B6DC16}" type="parTrans" cxnId="{E834A336-19FC-4CCB-99EA-7F596724E3FD}">
      <dgm:prSet/>
      <dgm:spPr/>
      <dgm:t>
        <a:bodyPr/>
        <a:lstStyle/>
        <a:p>
          <a:endParaRPr lang="en-GB"/>
        </a:p>
      </dgm:t>
    </dgm:pt>
    <dgm:pt modelId="{131F2169-C93F-4C79-9055-86348E7F20E3}" type="sibTrans" cxnId="{E834A336-19FC-4CCB-99EA-7F596724E3FD}">
      <dgm:prSet/>
      <dgm:spPr/>
      <dgm:t>
        <a:bodyPr/>
        <a:lstStyle/>
        <a:p>
          <a:endParaRPr lang="en-GB"/>
        </a:p>
      </dgm:t>
    </dgm:pt>
    <dgm:pt modelId="{ABECBC16-F75C-4DD1-857E-17C25D15FAD2}">
      <dgm:prSet phldrT="[Text]"/>
      <dgm:spPr/>
      <dgm:t>
        <a:bodyPr/>
        <a:lstStyle/>
        <a:p>
          <a:r>
            <a:rPr lang="en-GB" dirty="0"/>
            <a:t>Part III: Real Options</a:t>
          </a:r>
        </a:p>
      </dgm:t>
    </dgm:pt>
    <dgm:pt modelId="{D9853084-373C-4AF3-AF30-31FA3A8F7235}" type="parTrans" cxnId="{93BE8ECC-FA60-4771-A2E3-286B9BDCD0DA}">
      <dgm:prSet/>
      <dgm:spPr/>
      <dgm:t>
        <a:bodyPr/>
        <a:lstStyle/>
        <a:p>
          <a:endParaRPr lang="en-GB"/>
        </a:p>
      </dgm:t>
    </dgm:pt>
    <dgm:pt modelId="{E0EF519A-729E-4224-891B-67E29D5C6CA0}" type="sibTrans" cxnId="{93BE8ECC-FA60-4771-A2E3-286B9BDCD0DA}">
      <dgm:prSet/>
      <dgm:spPr/>
      <dgm:t>
        <a:bodyPr/>
        <a:lstStyle/>
        <a:p>
          <a:endParaRPr lang="en-GB"/>
        </a:p>
      </dgm:t>
    </dgm:pt>
    <dgm:pt modelId="{D7CA1D32-F1EA-4380-AF12-28142634331E}">
      <dgm:prSet phldrT="[Text]" custT="1"/>
      <dgm:spPr/>
      <dgm:t>
        <a:bodyPr/>
        <a:lstStyle/>
        <a:p>
          <a:r>
            <a:rPr lang="en-GB" sz="2400" dirty="0"/>
            <a:t>WACC (Cost of Debt, Weights, Tax</a:t>
          </a:r>
          <a:r>
            <a:rPr lang="en-GB" sz="2700" dirty="0"/>
            <a:t>)</a:t>
          </a:r>
        </a:p>
      </dgm:t>
    </dgm:pt>
    <dgm:pt modelId="{225B1792-BC5E-4458-8AE4-5859207DE26C}" type="parTrans" cxnId="{80CDA175-1AE4-4D1C-8710-82C02C02B15B}">
      <dgm:prSet/>
      <dgm:spPr/>
      <dgm:t>
        <a:bodyPr/>
        <a:lstStyle/>
        <a:p>
          <a:endParaRPr lang="en-GB"/>
        </a:p>
      </dgm:t>
    </dgm:pt>
    <dgm:pt modelId="{6C6EBF29-523D-4C7B-BB2A-D1D4B0E4D4B3}" type="sibTrans" cxnId="{80CDA175-1AE4-4D1C-8710-82C02C02B15B}">
      <dgm:prSet/>
      <dgm:spPr/>
      <dgm:t>
        <a:bodyPr/>
        <a:lstStyle/>
        <a:p>
          <a:endParaRPr lang="en-GB"/>
        </a:p>
      </dgm:t>
    </dgm:pt>
    <dgm:pt modelId="{F87ED799-619F-420E-9358-7B063B918472}">
      <dgm:prSet phldrT="[Text]"/>
      <dgm:spPr/>
      <dgm:t>
        <a:bodyPr/>
        <a:lstStyle/>
        <a:p>
          <a:r>
            <a:rPr lang="en-GB" sz="2700" dirty="0"/>
            <a:t>Future Cash Flows (Earnings, CF, Growth)</a:t>
          </a:r>
        </a:p>
      </dgm:t>
    </dgm:pt>
    <dgm:pt modelId="{4542D77B-1A5D-4A5E-8199-AAF62BEF1261}" type="parTrans" cxnId="{622DECD7-4A75-4CE1-B326-E062EF4A78F5}">
      <dgm:prSet/>
      <dgm:spPr/>
      <dgm:t>
        <a:bodyPr/>
        <a:lstStyle/>
        <a:p>
          <a:endParaRPr lang="en-GB"/>
        </a:p>
      </dgm:t>
    </dgm:pt>
    <dgm:pt modelId="{6961FDE6-260B-4C66-8942-CA521022A26D}" type="sibTrans" cxnId="{622DECD7-4A75-4CE1-B326-E062EF4A78F5}">
      <dgm:prSet/>
      <dgm:spPr/>
      <dgm:t>
        <a:bodyPr/>
        <a:lstStyle/>
        <a:p>
          <a:endParaRPr lang="en-GB"/>
        </a:p>
      </dgm:t>
    </dgm:pt>
    <dgm:pt modelId="{95628CB6-2FE7-411C-8BEE-0C553BC710AE}">
      <dgm:prSet phldrT="[Text]"/>
      <dgm:spPr/>
      <dgm:t>
        <a:bodyPr/>
        <a:lstStyle/>
        <a:p>
          <a:r>
            <a:rPr lang="en-GB" sz="2700" dirty="0"/>
            <a:t>Valuation Examples</a:t>
          </a:r>
        </a:p>
      </dgm:t>
    </dgm:pt>
    <dgm:pt modelId="{AA58057F-A342-49CE-B762-3B6DA5394851}" type="parTrans" cxnId="{8BDD29E8-F9DA-4215-A748-EE926D8F8321}">
      <dgm:prSet/>
      <dgm:spPr/>
      <dgm:t>
        <a:bodyPr/>
        <a:lstStyle/>
        <a:p>
          <a:endParaRPr lang="en-GB"/>
        </a:p>
      </dgm:t>
    </dgm:pt>
    <dgm:pt modelId="{8958A85B-023A-486A-A5B0-4EAC4870E896}" type="sibTrans" cxnId="{8BDD29E8-F9DA-4215-A748-EE926D8F8321}">
      <dgm:prSet/>
      <dgm:spPr/>
      <dgm:t>
        <a:bodyPr/>
        <a:lstStyle/>
        <a:p>
          <a:endParaRPr lang="en-GB"/>
        </a:p>
      </dgm:t>
    </dgm:pt>
    <dgm:pt modelId="{B44C0A6A-DCD1-4FA6-BAC4-C2A7EE670EBB}">
      <dgm:prSet phldrT="[Text]" custT="1"/>
      <dgm:spPr/>
      <dgm:t>
        <a:bodyPr/>
        <a:lstStyle/>
        <a:p>
          <a:r>
            <a:rPr lang="en-GB" sz="2400" dirty="0"/>
            <a:t>(Risk Free Rates and Risk Premiums)</a:t>
          </a:r>
        </a:p>
      </dgm:t>
    </dgm:pt>
    <dgm:pt modelId="{AEF86382-7382-40FB-948A-769050C070A9}" type="parTrans" cxnId="{9EF796FD-B6CE-438E-A217-A0CF2F667615}">
      <dgm:prSet/>
      <dgm:spPr/>
      <dgm:t>
        <a:bodyPr/>
        <a:lstStyle/>
        <a:p>
          <a:endParaRPr lang="en-GB"/>
        </a:p>
      </dgm:t>
    </dgm:pt>
    <dgm:pt modelId="{533A653E-A754-46A3-AA8B-183A670CDFDD}" type="sibTrans" cxnId="{9EF796FD-B6CE-438E-A217-A0CF2F667615}">
      <dgm:prSet/>
      <dgm:spPr/>
      <dgm:t>
        <a:bodyPr/>
        <a:lstStyle/>
        <a:p>
          <a:endParaRPr lang="en-GB"/>
        </a:p>
      </dgm:t>
    </dgm:pt>
    <dgm:pt modelId="{7E14D5FF-6083-4327-BC07-EFBCB1301C14}" type="pres">
      <dgm:prSet presAssocID="{4AFB604C-5F8B-4DCD-965C-6E4731A1E2BB}" presName="linear" presStyleCnt="0">
        <dgm:presLayoutVars>
          <dgm:animLvl val="lvl"/>
          <dgm:resizeHandles val="exact"/>
        </dgm:presLayoutVars>
      </dgm:prSet>
      <dgm:spPr/>
    </dgm:pt>
    <dgm:pt modelId="{E7E42009-7DC1-46D7-8FDA-92A7CB4B47A0}" type="pres">
      <dgm:prSet presAssocID="{2F63BB2D-0CA9-4DCE-91BE-28120DE9E8F5}" presName="parentText" presStyleLbl="node1" presStyleIdx="0" presStyleCnt="3">
        <dgm:presLayoutVars>
          <dgm:chMax val="0"/>
          <dgm:bulletEnabled val="1"/>
        </dgm:presLayoutVars>
      </dgm:prSet>
      <dgm:spPr/>
    </dgm:pt>
    <dgm:pt modelId="{201D962D-4121-4498-84C4-5284157F574F}" type="pres">
      <dgm:prSet presAssocID="{2F63BB2D-0CA9-4DCE-91BE-28120DE9E8F5}" presName="childText" presStyleLbl="revTx" presStyleIdx="0" presStyleCnt="1">
        <dgm:presLayoutVars>
          <dgm:bulletEnabled val="1"/>
        </dgm:presLayoutVars>
      </dgm:prSet>
      <dgm:spPr/>
    </dgm:pt>
    <dgm:pt modelId="{9E06FE03-3790-40A2-9B5C-6A3565832511}" type="pres">
      <dgm:prSet presAssocID="{2A5D1E3D-2AD5-4F2D-B43A-16F810A90CAA}" presName="parentText" presStyleLbl="node1" presStyleIdx="1" presStyleCnt="3">
        <dgm:presLayoutVars>
          <dgm:chMax val="0"/>
          <dgm:bulletEnabled val="1"/>
        </dgm:presLayoutVars>
      </dgm:prSet>
      <dgm:spPr/>
    </dgm:pt>
    <dgm:pt modelId="{D41C08C9-C865-4916-ABB5-126AFF48637A}" type="pres">
      <dgm:prSet presAssocID="{131F2169-C93F-4C79-9055-86348E7F20E3}" presName="spacer" presStyleCnt="0"/>
      <dgm:spPr/>
    </dgm:pt>
    <dgm:pt modelId="{AE4DB4B3-A41D-438B-9D3F-C937CD069A97}" type="pres">
      <dgm:prSet presAssocID="{ABECBC16-F75C-4DD1-857E-17C25D15FAD2}" presName="parentText" presStyleLbl="node1" presStyleIdx="2" presStyleCnt="3">
        <dgm:presLayoutVars>
          <dgm:chMax val="0"/>
          <dgm:bulletEnabled val="1"/>
        </dgm:presLayoutVars>
      </dgm:prSet>
      <dgm:spPr/>
    </dgm:pt>
  </dgm:ptLst>
  <dgm:cxnLst>
    <dgm:cxn modelId="{21608A2A-30A1-404B-999A-25BE35F2F7CA}" srcId="{2F63BB2D-0CA9-4DCE-91BE-28120DE9E8F5}" destId="{6128A397-30A3-408D-9AB6-A6A8241FD50F}" srcOrd="0" destOrd="0" parTransId="{EABD65A0-E1E0-4287-8F2F-06A89869E5D3}" sibTransId="{64326824-91A8-48AB-8389-E22FD8A82BE6}"/>
    <dgm:cxn modelId="{E834A336-19FC-4CCB-99EA-7F596724E3FD}" srcId="{4AFB604C-5F8B-4DCD-965C-6E4731A1E2BB}" destId="{2A5D1E3D-2AD5-4F2D-B43A-16F810A90CAA}" srcOrd="1" destOrd="0" parTransId="{FAB137A1-DD70-4F4C-A6CF-F2A771B6DC16}" sibTransId="{131F2169-C93F-4C79-9055-86348E7F20E3}"/>
    <dgm:cxn modelId="{25497D6B-822B-44F5-B2BF-89E7C9043F9C}" srcId="{4AFB604C-5F8B-4DCD-965C-6E4731A1E2BB}" destId="{2F63BB2D-0CA9-4DCE-91BE-28120DE9E8F5}" srcOrd="0" destOrd="0" parTransId="{5B2C50BE-C8BA-49D3-A39C-72E612B85C87}" sibTransId="{E179A157-34D2-4B3A-A3B8-8384274052E1}"/>
    <dgm:cxn modelId="{BFBECB6B-63CF-4F00-AA4C-57ED62C4F80F}" type="presOf" srcId="{95628CB6-2FE7-411C-8BEE-0C553BC710AE}" destId="{201D962D-4121-4498-84C4-5284157F574F}" srcOrd="0" destOrd="5" presId="urn:microsoft.com/office/officeart/2005/8/layout/vList2"/>
    <dgm:cxn modelId="{61A2896F-FA62-417C-BDD1-A8EFAB315304}" type="presOf" srcId="{2A5D1E3D-2AD5-4F2D-B43A-16F810A90CAA}" destId="{9E06FE03-3790-40A2-9B5C-6A3565832511}" srcOrd="0" destOrd="0" presId="urn:microsoft.com/office/officeart/2005/8/layout/vList2"/>
    <dgm:cxn modelId="{AABCFC4F-A39F-490D-BC38-97ABF7A40B18}" type="presOf" srcId="{D7CA1D32-F1EA-4380-AF12-28142634331E}" destId="{201D962D-4121-4498-84C4-5284157F574F}" srcOrd="0" destOrd="3" presId="urn:microsoft.com/office/officeart/2005/8/layout/vList2"/>
    <dgm:cxn modelId="{80CDA175-1AE4-4D1C-8710-82C02C02B15B}" srcId="{6128A397-30A3-408D-9AB6-A6A8241FD50F}" destId="{D7CA1D32-F1EA-4380-AF12-28142634331E}" srcOrd="2" destOrd="0" parTransId="{225B1792-BC5E-4458-8AE4-5859207DE26C}" sibTransId="{6C6EBF29-523D-4C7B-BB2A-D1D4B0E4D4B3}"/>
    <dgm:cxn modelId="{96487F85-43FC-4CDC-87CF-42A9A6F9D9EC}" type="presOf" srcId="{2F63BB2D-0CA9-4DCE-91BE-28120DE9E8F5}" destId="{E7E42009-7DC1-46D7-8FDA-92A7CB4B47A0}" srcOrd="0" destOrd="0" presId="urn:microsoft.com/office/officeart/2005/8/layout/vList2"/>
    <dgm:cxn modelId="{EA4B188F-568C-4604-AB3E-B6CC5E47A625}" type="presOf" srcId="{B44C0A6A-DCD1-4FA6-BAC4-C2A7EE670EBB}" destId="{201D962D-4121-4498-84C4-5284157F574F}" srcOrd="0" destOrd="1" presId="urn:microsoft.com/office/officeart/2005/8/layout/vList2"/>
    <dgm:cxn modelId="{EDF72097-E01F-42EF-87E9-0EF2EA9A64D3}" srcId="{6128A397-30A3-408D-9AB6-A6A8241FD50F}" destId="{23867491-FBE3-4E6F-8426-68FFAF3AEFD8}" srcOrd="1" destOrd="0" parTransId="{2A09278D-6ED6-4BC7-A048-F1D44ADDCC98}" sibTransId="{9BB9A35A-4A7F-4365-B77C-EE87F30C2B03}"/>
    <dgm:cxn modelId="{FB27F4A2-9C56-435F-B203-FA0F1C3F27BE}" type="presOf" srcId="{23867491-FBE3-4E6F-8426-68FFAF3AEFD8}" destId="{201D962D-4121-4498-84C4-5284157F574F}" srcOrd="0" destOrd="2" presId="urn:microsoft.com/office/officeart/2005/8/layout/vList2"/>
    <dgm:cxn modelId="{883DBFB6-4F75-428B-B21E-79744E1357EA}" type="presOf" srcId="{ABECBC16-F75C-4DD1-857E-17C25D15FAD2}" destId="{AE4DB4B3-A41D-438B-9D3F-C937CD069A97}" srcOrd="0" destOrd="0" presId="urn:microsoft.com/office/officeart/2005/8/layout/vList2"/>
    <dgm:cxn modelId="{91E615C9-EE17-42CD-A0AD-46CE4372D98F}" type="presOf" srcId="{6128A397-30A3-408D-9AB6-A6A8241FD50F}" destId="{201D962D-4121-4498-84C4-5284157F574F}" srcOrd="0" destOrd="0" presId="urn:microsoft.com/office/officeart/2005/8/layout/vList2"/>
    <dgm:cxn modelId="{C15259CB-31B9-47BF-A170-A3075FC37A18}" type="presOf" srcId="{4AFB604C-5F8B-4DCD-965C-6E4731A1E2BB}" destId="{7E14D5FF-6083-4327-BC07-EFBCB1301C14}" srcOrd="0" destOrd="0" presId="urn:microsoft.com/office/officeart/2005/8/layout/vList2"/>
    <dgm:cxn modelId="{93BE8ECC-FA60-4771-A2E3-286B9BDCD0DA}" srcId="{4AFB604C-5F8B-4DCD-965C-6E4731A1E2BB}" destId="{ABECBC16-F75C-4DD1-857E-17C25D15FAD2}" srcOrd="2" destOrd="0" parTransId="{D9853084-373C-4AF3-AF30-31FA3A8F7235}" sibTransId="{E0EF519A-729E-4224-891B-67E29D5C6CA0}"/>
    <dgm:cxn modelId="{622DECD7-4A75-4CE1-B326-E062EF4A78F5}" srcId="{2F63BB2D-0CA9-4DCE-91BE-28120DE9E8F5}" destId="{F87ED799-619F-420E-9358-7B063B918472}" srcOrd="1" destOrd="0" parTransId="{4542D77B-1A5D-4A5E-8199-AAF62BEF1261}" sibTransId="{6961FDE6-260B-4C66-8942-CA521022A26D}"/>
    <dgm:cxn modelId="{8BDD29E8-F9DA-4215-A748-EE926D8F8321}" srcId="{2F63BB2D-0CA9-4DCE-91BE-28120DE9E8F5}" destId="{95628CB6-2FE7-411C-8BEE-0C553BC710AE}" srcOrd="2" destOrd="0" parTransId="{AA58057F-A342-49CE-B762-3B6DA5394851}" sibTransId="{8958A85B-023A-486A-A5B0-4EAC4870E896}"/>
    <dgm:cxn modelId="{1B3BAEEB-5C0F-42CD-AF3D-7ECEC02F1735}" type="presOf" srcId="{F87ED799-619F-420E-9358-7B063B918472}" destId="{201D962D-4121-4498-84C4-5284157F574F}" srcOrd="0" destOrd="4" presId="urn:microsoft.com/office/officeart/2005/8/layout/vList2"/>
    <dgm:cxn modelId="{9EF796FD-B6CE-438E-A217-A0CF2F667615}" srcId="{6128A397-30A3-408D-9AB6-A6A8241FD50F}" destId="{B44C0A6A-DCD1-4FA6-BAC4-C2A7EE670EBB}" srcOrd="0" destOrd="0" parTransId="{AEF86382-7382-40FB-948A-769050C070A9}" sibTransId="{533A653E-A754-46A3-AA8B-183A670CDFDD}"/>
    <dgm:cxn modelId="{C096DCD0-7037-4588-BD62-FE2BA845010D}" type="presParOf" srcId="{7E14D5FF-6083-4327-BC07-EFBCB1301C14}" destId="{E7E42009-7DC1-46D7-8FDA-92A7CB4B47A0}" srcOrd="0" destOrd="0" presId="urn:microsoft.com/office/officeart/2005/8/layout/vList2"/>
    <dgm:cxn modelId="{5105BFD8-3DB0-4669-8CCD-FB4AAE2C347B}" type="presParOf" srcId="{7E14D5FF-6083-4327-BC07-EFBCB1301C14}" destId="{201D962D-4121-4498-84C4-5284157F574F}" srcOrd="1" destOrd="0" presId="urn:microsoft.com/office/officeart/2005/8/layout/vList2"/>
    <dgm:cxn modelId="{E2F4C9E9-CCA3-4992-B0BD-521E0C3F52D9}" type="presParOf" srcId="{7E14D5FF-6083-4327-BC07-EFBCB1301C14}" destId="{9E06FE03-3790-40A2-9B5C-6A3565832511}" srcOrd="2" destOrd="0" presId="urn:microsoft.com/office/officeart/2005/8/layout/vList2"/>
    <dgm:cxn modelId="{4C758BBE-0160-4262-9FCD-0C198E0821C3}" type="presParOf" srcId="{7E14D5FF-6083-4327-BC07-EFBCB1301C14}" destId="{D41C08C9-C865-4916-ABB5-126AFF48637A}" srcOrd="3" destOrd="0" presId="urn:microsoft.com/office/officeart/2005/8/layout/vList2"/>
    <dgm:cxn modelId="{9EAE013E-D31E-4A98-BC17-40E971C155C3}" type="presParOf" srcId="{7E14D5FF-6083-4327-BC07-EFBCB1301C14}" destId="{AE4DB4B3-A41D-438B-9D3F-C937CD069A97}"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12E941C-FACF-4868-8A73-B1435212B829}" type="doc">
      <dgm:prSet loTypeId="urn:microsoft.com/office/officeart/2005/8/layout/default#3" loCatId="list" qsTypeId="urn:microsoft.com/office/officeart/2005/8/quickstyle/3d3#5" qsCatId="3D" csTypeId="urn:microsoft.com/office/officeart/2005/8/colors/accent0_3#2" csCatId="mainScheme" phldr="1"/>
      <dgm:spPr/>
      <dgm:t>
        <a:bodyPr/>
        <a:lstStyle/>
        <a:p>
          <a:endParaRPr lang="en-GB"/>
        </a:p>
      </dgm:t>
    </dgm:pt>
    <dgm:pt modelId="{E096724F-7E40-4AC7-972D-A00A00E50856}">
      <dgm:prSet phldrT="[Text]"/>
      <dgm:spPr/>
      <dgm:t>
        <a:bodyPr/>
        <a:lstStyle/>
        <a:p>
          <a:r>
            <a:rPr lang="en-US" b="1" dirty="0"/>
            <a:t>The discount rate of a project should be the expected return on a financial asset of comparable risk.</a:t>
          </a:r>
          <a:endParaRPr lang="en-GB" dirty="0"/>
        </a:p>
      </dgm:t>
    </dgm:pt>
    <dgm:pt modelId="{3F990BEB-4224-4AFF-9992-E07AB99B0D08}" type="parTrans" cxnId="{088AE72C-661B-4D4B-8600-048C9272EE68}">
      <dgm:prSet/>
      <dgm:spPr/>
      <dgm:t>
        <a:bodyPr/>
        <a:lstStyle/>
        <a:p>
          <a:endParaRPr lang="en-GB"/>
        </a:p>
      </dgm:t>
    </dgm:pt>
    <dgm:pt modelId="{E27EA5A4-7184-4196-B7B4-7E781522C826}" type="sibTrans" cxnId="{088AE72C-661B-4D4B-8600-048C9272EE68}">
      <dgm:prSet/>
      <dgm:spPr/>
      <dgm:t>
        <a:bodyPr/>
        <a:lstStyle/>
        <a:p>
          <a:endParaRPr lang="en-GB"/>
        </a:p>
      </dgm:t>
    </dgm:pt>
    <dgm:pt modelId="{62B69B41-9001-4C21-874A-F27D72AAE00B}" type="pres">
      <dgm:prSet presAssocID="{212E941C-FACF-4868-8A73-B1435212B829}" presName="diagram" presStyleCnt="0">
        <dgm:presLayoutVars>
          <dgm:dir/>
          <dgm:resizeHandles val="exact"/>
        </dgm:presLayoutVars>
      </dgm:prSet>
      <dgm:spPr/>
    </dgm:pt>
    <dgm:pt modelId="{61DDCF8F-4F91-48A4-B081-A36F6A55A061}" type="pres">
      <dgm:prSet presAssocID="{E096724F-7E40-4AC7-972D-A00A00E50856}" presName="node" presStyleLbl="node1" presStyleIdx="0" presStyleCnt="1">
        <dgm:presLayoutVars>
          <dgm:bulletEnabled val="1"/>
        </dgm:presLayoutVars>
      </dgm:prSet>
      <dgm:spPr/>
    </dgm:pt>
  </dgm:ptLst>
  <dgm:cxnLst>
    <dgm:cxn modelId="{31A15D1D-5B39-4F49-81C9-CCADABD09812}" type="presOf" srcId="{E096724F-7E40-4AC7-972D-A00A00E50856}" destId="{61DDCF8F-4F91-48A4-B081-A36F6A55A061}" srcOrd="0" destOrd="0" presId="urn:microsoft.com/office/officeart/2005/8/layout/default#3"/>
    <dgm:cxn modelId="{088AE72C-661B-4D4B-8600-048C9272EE68}" srcId="{212E941C-FACF-4868-8A73-B1435212B829}" destId="{E096724F-7E40-4AC7-972D-A00A00E50856}" srcOrd="0" destOrd="0" parTransId="{3F990BEB-4224-4AFF-9992-E07AB99B0D08}" sibTransId="{E27EA5A4-7184-4196-B7B4-7E781522C826}"/>
    <dgm:cxn modelId="{A27B2632-4330-47A5-817F-CDCE8C7C5318}" type="presOf" srcId="{212E941C-FACF-4868-8A73-B1435212B829}" destId="{62B69B41-9001-4C21-874A-F27D72AAE00B}" srcOrd="0" destOrd="0" presId="urn:microsoft.com/office/officeart/2005/8/layout/default#3"/>
    <dgm:cxn modelId="{97458C80-5A92-40E7-837E-E7B3A716942F}" type="presParOf" srcId="{62B69B41-9001-4C21-874A-F27D72AAE00B}" destId="{61DDCF8F-4F91-48A4-B081-A36F6A55A061}" srcOrd="0" destOrd="0" presId="urn:microsoft.com/office/officeart/2005/8/layout/defaul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D1B6578-FD78-4F66-BA0D-67829412F0A1}" type="doc">
      <dgm:prSet loTypeId="urn:microsoft.com/office/officeart/2005/8/layout/equation2" loCatId="process" qsTypeId="urn:microsoft.com/office/officeart/2005/8/quickstyle/3d2#3" qsCatId="3D" csTypeId="urn:microsoft.com/office/officeart/2005/8/colors/colorful2#1" csCatId="colorful" phldr="1"/>
      <dgm:spPr/>
    </dgm:pt>
    <dgm:pt modelId="{6A9105C4-42CF-4159-BB94-1BF5A2558A1A}">
      <dgm:prSet phldrT="[Text]" custT="1"/>
      <dgm:spPr/>
      <dgm:t>
        <a:bodyPr/>
        <a:lstStyle/>
        <a:p>
          <a:r>
            <a:rPr lang="en-GB" sz="3200" dirty="0"/>
            <a:t>Systematic </a:t>
          </a:r>
        </a:p>
        <a:p>
          <a:r>
            <a:rPr lang="en-GB" sz="3200" dirty="0"/>
            <a:t>Risk</a:t>
          </a:r>
        </a:p>
      </dgm:t>
    </dgm:pt>
    <dgm:pt modelId="{412B7154-860E-4016-B01D-398242ECB22C}" type="parTrans" cxnId="{623DFCEA-98A3-475C-9DB6-B58ACAEFF052}">
      <dgm:prSet/>
      <dgm:spPr/>
      <dgm:t>
        <a:bodyPr/>
        <a:lstStyle/>
        <a:p>
          <a:endParaRPr lang="en-GB" sz="3600"/>
        </a:p>
      </dgm:t>
    </dgm:pt>
    <dgm:pt modelId="{99E31D44-0F29-4844-AFD9-FEAEAC8FDDCE}" type="sibTrans" cxnId="{623DFCEA-98A3-475C-9DB6-B58ACAEFF052}">
      <dgm:prSet custT="1"/>
      <dgm:spPr/>
      <dgm:t>
        <a:bodyPr/>
        <a:lstStyle/>
        <a:p>
          <a:endParaRPr lang="en-GB" sz="2400"/>
        </a:p>
      </dgm:t>
    </dgm:pt>
    <dgm:pt modelId="{4CEDDC92-D64A-46D0-A2F7-98A5292DFEA7}">
      <dgm:prSet phldrT="[Text]" custT="1"/>
      <dgm:spPr/>
      <dgm:t>
        <a:bodyPr/>
        <a:lstStyle/>
        <a:p>
          <a:r>
            <a:rPr lang="en-GB" sz="3200" dirty="0"/>
            <a:t>Unsystematic Risk</a:t>
          </a:r>
        </a:p>
      </dgm:t>
    </dgm:pt>
    <dgm:pt modelId="{6BF375DC-13EA-4FA0-A93E-00DEC8E2760B}" type="parTrans" cxnId="{D065E17E-BE5A-4840-A9D5-9EA63ADDD222}">
      <dgm:prSet/>
      <dgm:spPr/>
      <dgm:t>
        <a:bodyPr/>
        <a:lstStyle/>
        <a:p>
          <a:endParaRPr lang="en-GB" sz="3600"/>
        </a:p>
      </dgm:t>
    </dgm:pt>
    <dgm:pt modelId="{16297A0C-BEF1-4BBF-9D52-7B38DAE6538D}" type="sibTrans" cxnId="{D065E17E-BE5A-4840-A9D5-9EA63ADDD222}">
      <dgm:prSet custT="1"/>
      <dgm:spPr/>
      <dgm:t>
        <a:bodyPr/>
        <a:lstStyle/>
        <a:p>
          <a:endParaRPr lang="en-GB" sz="2400"/>
        </a:p>
      </dgm:t>
    </dgm:pt>
    <dgm:pt modelId="{99333607-4473-4D63-99FF-D2F910CF99F9}">
      <dgm:prSet phldrT="[Text]" custT="1"/>
      <dgm:spPr/>
      <dgm:t>
        <a:bodyPr/>
        <a:lstStyle/>
        <a:p>
          <a:r>
            <a:rPr lang="en-GB" sz="3200" dirty="0"/>
            <a:t>Total Risk</a:t>
          </a:r>
        </a:p>
      </dgm:t>
    </dgm:pt>
    <dgm:pt modelId="{BA37A383-1822-4E13-B04F-19C1C40275B9}" type="parTrans" cxnId="{76B32299-3E86-49EE-95BC-266C07A35B62}">
      <dgm:prSet/>
      <dgm:spPr/>
      <dgm:t>
        <a:bodyPr/>
        <a:lstStyle/>
        <a:p>
          <a:endParaRPr lang="en-GB" sz="3600"/>
        </a:p>
      </dgm:t>
    </dgm:pt>
    <dgm:pt modelId="{DF3A1C66-3D24-4E8C-BEA6-C3732F824199}" type="sibTrans" cxnId="{76B32299-3E86-49EE-95BC-266C07A35B62}">
      <dgm:prSet/>
      <dgm:spPr/>
      <dgm:t>
        <a:bodyPr/>
        <a:lstStyle/>
        <a:p>
          <a:endParaRPr lang="en-GB" sz="3600"/>
        </a:p>
      </dgm:t>
    </dgm:pt>
    <dgm:pt modelId="{A143CDA0-7B83-49F8-8B59-3BF7241D5545}" type="pres">
      <dgm:prSet presAssocID="{AD1B6578-FD78-4F66-BA0D-67829412F0A1}" presName="Name0" presStyleCnt="0">
        <dgm:presLayoutVars>
          <dgm:dir/>
          <dgm:resizeHandles val="exact"/>
        </dgm:presLayoutVars>
      </dgm:prSet>
      <dgm:spPr/>
    </dgm:pt>
    <dgm:pt modelId="{085C1243-3109-4C3A-B211-BB99A17891F8}" type="pres">
      <dgm:prSet presAssocID="{AD1B6578-FD78-4F66-BA0D-67829412F0A1}" presName="vNodes" presStyleCnt="0"/>
      <dgm:spPr/>
    </dgm:pt>
    <dgm:pt modelId="{44596D5F-34A2-4291-84FA-9A842DD43F13}" type="pres">
      <dgm:prSet presAssocID="{6A9105C4-42CF-4159-BB94-1BF5A2558A1A}" presName="node" presStyleLbl="node1" presStyleIdx="0" presStyleCnt="3" custScaleX="252429">
        <dgm:presLayoutVars>
          <dgm:bulletEnabled val="1"/>
        </dgm:presLayoutVars>
      </dgm:prSet>
      <dgm:spPr/>
    </dgm:pt>
    <dgm:pt modelId="{ECDA9342-83F4-4651-9769-CC1E25B689CA}" type="pres">
      <dgm:prSet presAssocID="{99E31D44-0F29-4844-AFD9-FEAEAC8FDDCE}" presName="spacerT" presStyleCnt="0"/>
      <dgm:spPr/>
    </dgm:pt>
    <dgm:pt modelId="{9E4BEC3E-70C8-45D6-9E8F-5F6148C12E3F}" type="pres">
      <dgm:prSet presAssocID="{99E31D44-0F29-4844-AFD9-FEAEAC8FDDCE}" presName="sibTrans" presStyleLbl="sibTrans2D1" presStyleIdx="0" presStyleCnt="2"/>
      <dgm:spPr/>
    </dgm:pt>
    <dgm:pt modelId="{DDE2C89C-1055-4AEA-A746-13B9ECEEAAED}" type="pres">
      <dgm:prSet presAssocID="{99E31D44-0F29-4844-AFD9-FEAEAC8FDDCE}" presName="spacerB" presStyleCnt="0"/>
      <dgm:spPr/>
    </dgm:pt>
    <dgm:pt modelId="{0F961CA6-3A1E-4015-9844-608001FEF7F7}" type="pres">
      <dgm:prSet presAssocID="{4CEDDC92-D64A-46D0-A2F7-98A5292DFEA7}" presName="node" presStyleLbl="node1" presStyleIdx="1" presStyleCnt="3" custScaleX="300179">
        <dgm:presLayoutVars>
          <dgm:bulletEnabled val="1"/>
        </dgm:presLayoutVars>
      </dgm:prSet>
      <dgm:spPr/>
    </dgm:pt>
    <dgm:pt modelId="{A6B01E56-A91C-4D72-88FF-C7C7EE07CAC7}" type="pres">
      <dgm:prSet presAssocID="{AD1B6578-FD78-4F66-BA0D-67829412F0A1}" presName="sibTransLast" presStyleLbl="sibTrans2D1" presStyleIdx="1" presStyleCnt="2"/>
      <dgm:spPr/>
    </dgm:pt>
    <dgm:pt modelId="{EB1902B9-06EB-4CEA-9CE6-9B4625C20536}" type="pres">
      <dgm:prSet presAssocID="{AD1B6578-FD78-4F66-BA0D-67829412F0A1}" presName="connectorText" presStyleLbl="sibTrans2D1" presStyleIdx="1" presStyleCnt="2"/>
      <dgm:spPr/>
    </dgm:pt>
    <dgm:pt modelId="{62ABD5DC-2EFF-4F0E-8C83-557501ECC231}" type="pres">
      <dgm:prSet presAssocID="{AD1B6578-FD78-4F66-BA0D-67829412F0A1}" presName="lastNode" presStyleLbl="node1" presStyleIdx="2" presStyleCnt="3">
        <dgm:presLayoutVars>
          <dgm:bulletEnabled val="1"/>
        </dgm:presLayoutVars>
      </dgm:prSet>
      <dgm:spPr/>
    </dgm:pt>
  </dgm:ptLst>
  <dgm:cxnLst>
    <dgm:cxn modelId="{3B8FCD24-BB8B-45B4-A8B9-67CBE12D6A72}" type="presOf" srcId="{16297A0C-BEF1-4BBF-9D52-7B38DAE6538D}" destId="{EB1902B9-06EB-4CEA-9CE6-9B4625C20536}" srcOrd="1" destOrd="0" presId="urn:microsoft.com/office/officeart/2005/8/layout/equation2"/>
    <dgm:cxn modelId="{81D0654B-7714-42D7-B9BD-54C68E6024E5}" type="presOf" srcId="{99333607-4473-4D63-99FF-D2F910CF99F9}" destId="{62ABD5DC-2EFF-4F0E-8C83-557501ECC231}" srcOrd="0" destOrd="0" presId="urn:microsoft.com/office/officeart/2005/8/layout/equation2"/>
    <dgm:cxn modelId="{3853DC4B-DAB1-4F6B-A822-BADBD13912CA}" type="presOf" srcId="{16297A0C-BEF1-4BBF-9D52-7B38DAE6538D}" destId="{A6B01E56-A91C-4D72-88FF-C7C7EE07CAC7}" srcOrd="0" destOrd="0" presId="urn:microsoft.com/office/officeart/2005/8/layout/equation2"/>
    <dgm:cxn modelId="{87405D52-5206-45B9-A050-5E6BB9AA2A47}" type="presOf" srcId="{AD1B6578-FD78-4F66-BA0D-67829412F0A1}" destId="{A143CDA0-7B83-49F8-8B59-3BF7241D5545}" srcOrd="0" destOrd="0" presId="urn:microsoft.com/office/officeart/2005/8/layout/equation2"/>
    <dgm:cxn modelId="{D065E17E-BE5A-4840-A9D5-9EA63ADDD222}" srcId="{AD1B6578-FD78-4F66-BA0D-67829412F0A1}" destId="{4CEDDC92-D64A-46D0-A2F7-98A5292DFEA7}" srcOrd="1" destOrd="0" parTransId="{6BF375DC-13EA-4FA0-A93E-00DEC8E2760B}" sibTransId="{16297A0C-BEF1-4BBF-9D52-7B38DAE6538D}"/>
    <dgm:cxn modelId="{4CC6E787-FBF4-4ACC-BA0A-7DCA278324D4}" type="presOf" srcId="{6A9105C4-42CF-4159-BB94-1BF5A2558A1A}" destId="{44596D5F-34A2-4291-84FA-9A842DD43F13}" srcOrd="0" destOrd="0" presId="urn:microsoft.com/office/officeart/2005/8/layout/equation2"/>
    <dgm:cxn modelId="{76B32299-3E86-49EE-95BC-266C07A35B62}" srcId="{AD1B6578-FD78-4F66-BA0D-67829412F0A1}" destId="{99333607-4473-4D63-99FF-D2F910CF99F9}" srcOrd="2" destOrd="0" parTransId="{BA37A383-1822-4E13-B04F-19C1C40275B9}" sibTransId="{DF3A1C66-3D24-4E8C-BEA6-C3732F824199}"/>
    <dgm:cxn modelId="{D083C09D-0527-4A4C-94A0-4ABF26C579AD}" type="presOf" srcId="{4CEDDC92-D64A-46D0-A2F7-98A5292DFEA7}" destId="{0F961CA6-3A1E-4015-9844-608001FEF7F7}" srcOrd="0" destOrd="0" presId="urn:microsoft.com/office/officeart/2005/8/layout/equation2"/>
    <dgm:cxn modelId="{3C0996C8-3F1B-4E23-A232-38176200C6BE}" type="presOf" srcId="{99E31D44-0F29-4844-AFD9-FEAEAC8FDDCE}" destId="{9E4BEC3E-70C8-45D6-9E8F-5F6148C12E3F}" srcOrd="0" destOrd="0" presId="urn:microsoft.com/office/officeart/2005/8/layout/equation2"/>
    <dgm:cxn modelId="{623DFCEA-98A3-475C-9DB6-B58ACAEFF052}" srcId="{AD1B6578-FD78-4F66-BA0D-67829412F0A1}" destId="{6A9105C4-42CF-4159-BB94-1BF5A2558A1A}" srcOrd="0" destOrd="0" parTransId="{412B7154-860E-4016-B01D-398242ECB22C}" sibTransId="{99E31D44-0F29-4844-AFD9-FEAEAC8FDDCE}"/>
    <dgm:cxn modelId="{749A14BB-C53B-4FB5-A04F-41252A3C5FE6}" type="presParOf" srcId="{A143CDA0-7B83-49F8-8B59-3BF7241D5545}" destId="{085C1243-3109-4C3A-B211-BB99A17891F8}" srcOrd="0" destOrd="0" presId="urn:microsoft.com/office/officeart/2005/8/layout/equation2"/>
    <dgm:cxn modelId="{1FBFAC9A-F8AB-4D6A-8D0D-D195D5F782E5}" type="presParOf" srcId="{085C1243-3109-4C3A-B211-BB99A17891F8}" destId="{44596D5F-34A2-4291-84FA-9A842DD43F13}" srcOrd="0" destOrd="0" presId="urn:microsoft.com/office/officeart/2005/8/layout/equation2"/>
    <dgm:cxn modelId="{749C97EF-3C17-422A-9471-F87C9A1A6396}" type="presParOf" srcId="{085C1243-3109-4C3A-B211-BB99A17891F8}" destId="{ECDA9342-83F4-4651-9769-CC1E25B689CA}" srcOrd="1" destOrd="0" presId="urn:microsoft.com/office/officeart/2005/8/layout/equation2"/>
    <dgm:cxn modelId="{D63CA2A1-7C05-4459-9C59-03CDF61086AB}" type="presParOf" srcId="{085C1243-3109-4C3A-B211-BB99A17891F8}" destId="{9E4BEC3E-70C8-45D6-9E8F-5F6148C12E3F}" srcOrd="2" destOrd="0" presId="urn:microsoft.com/office/officeart/2005/8/layout/equation2"/>
    <dgm:cxn modelId="{5B11117D-72BC-4360-A8F9-F5B04371C1C3}" type="presParOf" srcId="{085C1243-3109-4C3A-B211-BB99A17891F8}" destId="{DDE2C89C-1055-4AEA-A746-13B9ECEEAAED}" srcOrd="3" destOrd="0" presId="urn:microsoft.com/office/officeart/2005/8/layout/equation2"/>
    <dgm:cxn modelId="{B6662B17-1DEE-439E-92F4-7566B657B996}" type="presParOf" srcId="{085C1243-3109-4C3A-B211-BB99A17891F8}" destId="{0F961CA6-3A1E-4015-9844-608001FEF7F7}" srcOrd="4" destOrd="0" presId="urn:microsoft.com/office/officeart/2005/8/layout/equation2"/>
    <dgm:cxn modelId="{EA395F27-EB93-46A8-813C-A28A738CF59F}" type="presParOf" srcId="{A143CDA0-7B83-49F8-8B59-3BF7241D5545}" destId="{A6B01E56-A91C-4D72-88FF-C7C7EE07CAC7}" srcOrd="1" destOrd="0" presId="urn:microsoft.com/office/officeart/2005/8/layout/equation2"/>
    <dgm:cxn modelId="{1D5ACD5F-52B4-4832-B4F7-72AA723B06C8}" type="presParOf" srcId="{A6B01E56-A91C-4D72-88FF-C7C7EE07CAC7}" destId="{EB1902B9-06EB-4CEA-9CE6-9B4625C20536}" srcOrd="0" destOrd="0" presId="urn:microsoft.com/office/officeart/2005/8/layout/equation2"/>
    <dgm:cxn modelId="{DA36ABD0-EDF8-4658-8C44-8EAE732C2944}" type="presParOf" srcId="{A143CDA0-7B83-49F8-8B59-3BF7241D5545}" destId="{62ABD5DC-2EFF-4F0E-8C83-557501ECC231}" srcOrd="2" destOrd="0" presId="urn:microsoft.com/office/officeart/2005/8/layout/equati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ADF9E55-3109-47F6-92B3-BC3FA6B3C613}" type="doc">
      <dgm:prSet loTypeId="urn:microsoft.com/office/officeart/2005/8/layout/list1" loCatId="list" qsTypeId="urn:microsoft.com/office/officeart/2005/8/quickstyle/simple1#3" qsCatId="simple" csTypeId="urn:microsoft.com/office/officeart/2005/8/colors/accent1_2#4" csCatId="accent1"/>
      <dgm:spPr/>
      <dgm:t>
        <a:bodyPr/>
        <a:lstStyle/>
        <a:p>
          <a:endParaRPr lang="en-GB"/>
        </a:p>
      </dgm:t>
    </dgm:pt>
    <dgm:pt modelId="{C0008913-1742-41B1-BC55-CA60F1B7BA29}">
      <dgm:prSet/>
      <dgm:spPr/>
      <dgm:t>
        <a:bodyPr/>
        <a:lstStyle/>
        <a:p>
          <a:pPr rtl="0"/>
          <a:r>
            <a:rPr lang="en-US" dirty="0"/>
            <a:t>Risk and Return</a:t>
          </a:r>
          <a:endParaRPr lang="en-GB" dirty="0"/>
        </a:p>
      </dgm:t>
    </dgm:pt>
    <dgm:pt modelId="{A1B1E763-463B-4657-AD79-E20D3F230619}" type="parTrans" cxnId="{B3A06BDC-0141-4615-B65F-FD4FDBBC36A5}">
      <dgm:prSet/>
      <dgm:spPr/>
      <dgm:t>
        <a:bodyPr/>
        <a:lstStyle/>
        <a:p>
          <a:endParaRPr lang="en-GB"/>
        </a:p>
      </dgm:t>
    </dgm:pt>
    <dgm:pt modelId="{0E5084ED-9CEC-4626-AE20-0F40415DA257}" type="sibTrans" cxnId="{B3A06BDC-0141-4615-B65F-FD4FDBBC36A5}">
      <dgm:prSet/>
      <dgm:spPr/>
      <dgm:t>
        <a:bodyPr/>
        <a:lstStyle/>
        <a:p>
          <a:endParaRPr lang="en-GB"/>
        </a:p>
      </dgm:t>
    </dgm:pt>
    <dgm:pt modelId="{77E5C7B7-D655-4216-8B8D-4AA3ED86A3C9}">
      <dgm:prSet/>
      <dgm:spPr/>
      <dgm:t>
        <a:bodyPr/>
        <a:lstStyle/>
        <a:p>
          <a:pPr rtl="0"/>
          <a:r>
            <a:rPr lang="en-US" dirty="0"/>
            <a:t>The cost of equity should be </a:t>
          </a:r>
          <a:r>
            <a:rPr lang="en-US" u="sng" dirty="0"/>
            <a:t>higher for riskier investments</a:t>
          </a:r>
          <a:r>
            <a:rPr lang="en-US" dirty="0"/>
            <a:t> and lower for safer investments</a:t>
          </a:r>
          <a:endParaRPr lang="en-GB" dirty="0"/>
        </a:p>
      </dgm:t>
    </dgm:pt>
    <dgm:pt modelId="{FFF4ABE7-870B-4779-A8F1-28E33FC76A3D}" type="parTrans" cxnId="{E242AF58-6A5B-4D4D-BBC1-D5B4EBFA59AE}">
      <dgm:prSet/>
      <dgm:spPr/>
      <dgm:t>
        <a:bodyPr/>
        <a:lstStyle/>
        <a:p>
          <a:endParaRPr lang="en-GB"/>
        </a:p>
      </dgm:t>
    </dgm:pt>
    <dgm:pt modelId="{7512226F-6D10-4733-9412-5EE77D11FC98}" type="sibTrans" cxnId="{E242AF58-6A5B-4D4D-BBC1-D5B4EBFA59AE}">
      <dgm:prSet/>
      <dgm:spPr/>
      <dgm:t>
        <a:bodyPr/>
        <a:lstStyle/>
        <a:p>
          <a:endParaRPr lang="en-GB"/>
        </a:p>
      </dgm:t>
    </dgm:pt>
    <dgm:pt modelId="{121EF476-9A6C-44B9-9298-4985F92CBE15}">
      <dgm:prSet/>
      <dgm:spPr/>
      <dgm:t>
        <a:bodyPr/>
        <a:lstStyle/>
        <a:p>
          <a:pPr rtl="0"/>
          <a:r>
            <a:rPr lang="en-US" dirty="0"/>
            <a:t>Risk and Discount Rate</a:t>
          </a:r>
          <a:endParaRPr lang="en-GB" dirty="0"/>
        </a:p>
      </dgm:t>
    </dgm:pt>
    <dgm:pt modelId="{FED09C2D-723A-468F-A2F9-FF013A9A11CE}" type="parTrans" cxnId="{33770B51-2DA5-4FAC-BD32-C2939CDD9DB4}">
      <dgm:prSet/>
      <dgm:spPr/>
      <dgm:t>
        <a:bodyPr/>
        <a:lstStyle/>
        <a:p>
          <a:endParaRPr lang="en-GB"/>
        </a:p>
      </dgm:t>
    </dgm:pt>
    <dgm:pt modelId="{5F3DB63B-B112-49F9-9D0A-599A1D4F65C2}" type="sibTrans" cxnId="{33770B51-2DA5-4FAC-BD32-C2939CDD9DB4}">
      <dgm:prSet/>
      <dgm:spPr/>
      <dgm:t>
        <a:bodyPr/>
        <a:lstStyle/>
        <a:p>
          <a:endParaRPr lang="en-GB"/>
        </a:p>
      </dgm:t>
    </dgm:pt>
    <dgm:pt modelId="{81128FA7-2ED6-47E2-985B-B4D4E769631E}">
      <dgm:prSet/>
      <dgm:spPr/>
      <dgm:t>
        <a:bodyPr/>
        <a:lstStyle/>
        <a:p>
          <a:pPr rtl="0"/>
          <a:r>
            <a:rPr lang="en-US" dirty="0"/>
            <a:t>While risk is usually defined in terms of the variance of actual returns around an expected return, risk and return models in finance assume that the risk that should be rewarded (and thus built into the discount rate) in valuation should be the risk perceived by the </a:t>
          </a:r>
          <a:r>
            <a:rPr lang="en-US" u="sng" dirty="0"/>
            <a:t>marginal investor</a:t>
          </a:r>
          <a:r>
            <a:rPr lang="en-US" dirty="0"/>
            <a:t> in the investment</a:t>
          </a:r>
          <a:endParaRPr lang="en-GB" dirty="0"/>
        </a:p>
      </dgm:t>
    </dgm:pt>
    <dgm:pt modelId="{78C80FBF-506D-496E-850B-5D4E41A93CD5}" type="parTrans" cxnId="{B99396A1-2453-404A-A83B-273305BC5651}">
      <dgm:prSet/>
      <dgm:spPr/>
      <dgm:t>
        <a:bodyPr/>
        <a:lstStyle/>
        <a:p>
          <a:endParaRPr lang="en-GB"/>
        </a:p>
      </dgm:t>
    </dgm:pt>
    <dgm:pt modelId="{7F9B2D17-E188-4FFA-B006-A834AB44A10F}" type="sibTrans" cxnId="{B99396A1-2453-404A-A83B-273305BC5651}">
      <dgm:prSet/>
      <dgm:spPr/>
      <dgm:t>
        <a:bodyPr/>
        <a:lstStyle/>
        <a:p>
          <a:endParaRPr lang="en-GB"/>
        </a:p>
      </dgm:t>
    </dgm:pt>
    <dgm:pt modelId="{93D2E90B-4F21-4CFE-B2A3-4AEFFCE79343}">
      <dgm:prSet/>
      <dgm:spPr/>
      <dgm:t>
        <a:bodyPr/>
        <a:lstStyle/>
        <a:p>
          <a:pPr rtl="0"/>
          <a:r>
            <a:rPr lang="en-US" dirty="0"/>
            <a:t>Type of Risk</a:t>
          </a:r>
          <a:endParaRPr lang="en-GB" dirty="0"/>
        </a:p>
      </dgm:t>
    </dgm:pt>
    <dgm:pt modelId="{0CF9D440-044C-434A-8572-926800D38DCB}" type="parTrans" cxnId="{27CAACB6-CB79-488B-A32A-6CCE81A141D4}">
      <dgm:prSet/>
      <dgm:spPr/>
      <dgm:t>
        <a:bodyPr/>
        <a:lstStyle/>
        <a:p>
          <a:endParaRPr lang="en-GB"/>
        </a:p>
      </dgm:t>
    </dgm:pt>
    <dgm:pt modelId="{5C27C4D1-71FE-4547-A9CB-BBF8CC415746}" type="sibTrans" cxnId="{27CAACB6-CB79-488B-A32A-6CCE81A141D4}">
      <dgm:prSet/>
      <dgm:spPr/>
      <dgm:t>
        <a:bodyPr/>
        <a:lstStyle/>
        <a:p>
          <a:endParaRPr lang="en-GB"/>
        </a:p>
      </dgm:t>
    </dgm:pt>
    <dgm:pt modelId="{8E94B476-F098-4C05-9FE3-FAF0254B60BB}">
      <dgm:prSet/>
      <dgm:spPr/>
      <dgm:t>
        <a:bodyPr/>
        <a:lstStyle/>
        <a:p>
          <a:pPr rtl="0"/>
          <a:r>
            <a:rPr lang="en-US" dirty="0"/>
            <a:t>Most risk and return models in finance also assume that the marginal investor is </a:t>
          </a:r>
          <a:r>
            <a:rPr lang="en-US" u="sng" dirty="0"/>
            <a:t>well diversified</a:t>
          </a:r>
          <a:r>
            <a:rPr lang="en-US" dirty="0"/>
            <a:t>, and that the only risk that he or she perceives in an investment is risk that cannot be diversified away (</a:t>
          </a:r>
          <a:r>
            <a:rPr lang="en-US" dirty="0" err="1"/>
            <a:t>i.e</a:t>
          </a:r>
          <a:r>
            <a:rPr lang="en-US" dirty="0"/>
            <a:t>, market or non-diversifiable risk)</a:t>
          </a:r>
          <a:endParaRPr lang="en-GB" dirty="0"/>
        </a:p>
      </dgm:t>
    </dgm:pt>
    <dgm:pt modelId="{9751AF79-3C69-43D3-9AD2-F4F72AB8C4D8}" type="parTrans" cxnId="{822670EE-1C9A-4713-868C-618D400FE7D4}">
      <dgm:prSet/>
      <dgm:spPr/>
      <dgm:t>
        <a:bodyPr/>
        <a:lstStyle/>
        <a:p>
          <a:endParaRPr lang="en-GB"/>
        </a:p>
      </dgm:t>
    </dgm:pt>
    <dgm:pt modelId="{844D2204-4169-4A99-947F-34C41A5933D0}" type="sibTrans" cxnId="{822670EE-1C9A-4713-868C-618D400FE7D4}">
      <dgm:prSet/>
      <dgm:spPr/>
      <dgm:t>
        <a:bodyPr/>
        <a:lstStyle/>
        <a:p>
          <a:endParaRPr lang="en-GB"/>
        </a:p>
      </dgm:t>
    </dgm:pt>
    <dgm:pt modelId="{9FBBD8BB-7F59-424D-89E8-7658962BA1B1}" type="pres">
      <dgm:prSet presAssocID="{EADF9E55-3109-47F6-92B3-BC3FA6B3C613}" presName="linear" presStyleCnt="0">
        <dgm:presLayoutVars>
          <dgm:dir/>
          <dgm:animLvl val="lvl"/>
          <dgm:resizeHandles val="exact"/>
        </dgm:presLayoutVars>
      </dgm:prSet>
      <dgm:spPr/>
    </dgm:pt>
    <dgm:pt modelId="{756E5854-D1EB-4D2E-9B0E-622A214D7942}" type="pres">
      <dgm:prSet presAssocID="{C0008913-1742-41B1-BC55-CA60F1B7BA29}" presName="parentLin" presStyleCnt="0"/>
      <dgm:spPr/>
    </dgm:pt>
    <dgm:pt modelId="{48D826F6-CE15-4E22-A517-7C4AA1C0FED6}" type="pres">
      <dgm:prSet presAssocID="{C0008913-1742-41B1-BC55-CA60F1B7BA29}" presName="parentLeftMargin" presStyleLbl="node1" presStyleIdx="0" presStyleCnt="3"/>
      <dgm:spPr/>
    </dgm:pt>
    <dgm:pt modelId="{0EB5D736-EE59-4953-A85D-BD38B31AD65F}" type="pres">
      <dgm:prSet presAssocID="{C0008913-1742-41B1-BC55-CA60F1B7BA29}" presName="parentText" presStyleLbl="node1" presStyleIdx="0" presStyleCnt="3">
        <dgm:presLayoutVars>
          <dgm:chMax val="0"/>
          <dgm:bulletEnabled val="1"/>
        </dgm:presLayoutVars>
      </dgm:prSet>
      <dgm:spPr/>
    </dgm:pt>
    <dgm:pt modelId="{FBC883E6-96B8-4CB5-8724-BA3BEC4FEA60}" type="pres">
      <dgm:prSet presAssocID="{C0008913-1742-41B1-BC55-CA60F1B7BA29}" presName="negativeSpace" presStyleCnt="0"/>
      <dgm:spPr/>
    </dgm:pt>
    <dgm:pt modelId="{EBD7FE09-864C-4067-BD07-D7EE8F6E0625}" type="pres">
      <dgm:prSet presAssocID="{C0008913-1742-41B1-BC55-CA60F1B7BA29}" presName="childText" presStyleLbl="conFgAcc1" presStyleIdx="0" presStyleCnt="3">
        <dgm:presLayoutVars>
          <dgm:bulletEnabled val="1"/>
        </dgm:presLayoutVars>
      </dgm:prSet>
      <dgm:spPr/>
    </dgm:pt>
    <dgm:pt modelId="{DCA6B047-DDAF-478A-8AA6-A7F4C190374D}" type="pres">
      <dgm:prSet presAssocID="{0E5084ED-9CEC-4626-AE20-0F40415DA257}" presName="spaceBetweenRectangles" presStyleCnt="0"/>
      <dgm:spPr/>
    </dgm:pt>
    <dgm:pt modelId="{15151931-938D-4BAE-AEE9-3F5625711349}" type="pres">
      <dgm:prSet presAssocID="{121EF476-9A6C-44B9-9298-4985F92CBE15}" presName="parentLin" presStyleCnt="0"/>
      <dgm:spPr/>
    </dgm:pt>
    <dgm:pt modelId="{4ED63700-74B6-43DC-B283-E006A99E2EB7}" type="pres">
      <dgm:prSet presAssocID="{121EF476-9A6C-44B9-9298-4985F92CBE15}" presName="parentLeftMargin" presStyleLbl="node1" presStyleIdx="0" presStyleCnt="3"/>
      <dgm:spPr/>
    </dgm:pt>
    <dgm:pt modelId="{469DF0E1-CBF6-4E38-AC52-D4F840167E13}" type="pres">
      <dgm:prSet presAssocID="{121EF476-9A6C-44B9-9298-4985F92CBE15}" presName="parentText" presStyleLbl="node1" presStyleIdx="1" presStyleCnt="3">
        <dgm:presLayoutVars>
          <dgm:chMax val="0"/>
          <dgm:bulletEnabled val="1"/>
        </dgm:presLayoutVars>
      </dgm:prSet>
      <dgm:spPr/>
    </dgm:pt>
    <dgm:pt modelId="{60F9A8B3-9504-4B67-90A5-4F49CEDE654D}" type="pres">
      <dgm:prSet presAssocID="{121EF476-9A6C-44B9-9298-4985F92CBE15}" presName="negativeSpace" presStyleCnt="0"/>
      <dgm:spPr/>
    </dgm:pt>
    <dgm:pt modelId="{7641B8F5-8981-402B-8FE4-5B0F422E6E53}" type="pres">
      <dgm:prSet presAssocID="{121EF476-9A6C-44B9-9298-4985F92CBE15}" presName="childText" presStyleLbl="conFgAcc1" presStyleIdx="1" presStyleCnt="3">
        <dgm:presLayoutVars>
          <dgm:bulletEnabled val="1"/>
        </dgm:presLayoutVars>
      </dgm:prSet>
      <dgm:spPr/>
    </dgm:pt>
    <dgm:pt modelId="{84993096-BFD5-48D1-8807-DDC74DC68276}" type="pres">
      <dgm:prSet presAssocID="{5F3DB63B-B112-49F9-9D0A-599A1D4F65C2}" presName="spaceBetweenRectangles" presStyleCnt="0"/>
      <dgm:spPr/>
    </dgm:pt>
    <dgm:pt modelId="{13ED007F-5E7C-44EF-90F7-8E2D1C24F691}" type="pres">
      <dgm:prSet presAssocID="{93D2E90B-4F21-4CFE-B2A3-4AEFFCE79343}" presName="parentLin" presStyleCnt="0"/>
      <dgm:spPr/>
    </dgm:pt>
    <dgm:pt modelId="{0C415BE0-983E-47F3-BC15-D4C7A6335644}" type="pres">
      <dgm:prSet presAssocID="{93D2E90B-4F21-4CFE-B2A3-4AEFFCE79343}" presName="parentLeftMargin" presStyleLbl="node1" presStyleIdx="1" presStyleCnt="3"/>
      <dgm:spPr/>
    </dgm:pt>
    <dgm:pt modelId="{440C09DC-0CAA-4A0E-9FD6-C52AD85C16D7}" type="pres">
      <dgm:prSet presAssocID="{93D2E90B-4F21-4CFE-B2A3-4AEFFCE79343}" presName="parentText" presStyleLbl="node1" presStyleIdx="2" presStyleCnt="3">
        <dgm:presLayoutVars>
          <dgm:chMax val="0"/>
          <dgm:bulletEnabled val="1"/>
        </dgm:presLayoutVars>
      </dgm:prSet>
      <dgm:spPr/>
    </dgm:pt>
    <dgm:pt modelId="{61FB319A-ED42-4075-B88B-A66303EA0031}" type="pres">
      <dgm:prSet presAssocID="{93D2E90B-4F21-4CFE-B2A3-4AEFFCE79343}" presName="negativeSpace" presStyleCnt="0"/>
      <dgm:spPr/>
    </dgm:pt>
    <dgm:pt modelId="{77CA58AE-F2B8-4F85-BAE2-F4D6FA6AEC0C}" type="pres">
      <dgm:prSet presAssocID="{93D2E90B-4F21-4CFE-B2A3-4AEFFCE79343}" presName="childText" presStyleLbl="conFgAcc1" presStyleIdx="2" presStyleCnt="3">
        <dgm:presLayoutVars>
          <dgm:bulletEnabled val="1"/>
        </dgm:presLayoutVars>
      </dgm:prSet>
      <dgm:spPr/>
    </dgm:pt>
  </dgm:ptLst>
  <dgm:cxnLst>
    <dgm:cxn modelId="{98B0DB1C-2478-46DB-A804-8094F3691279}" type="presOf" srcId="{121EF476-9A6C-44B9-9298-4985F92CBE15}" destId="{469DF0E1-CBF6-4E38-AC52-D4F840167E13}" srcOrd="1" destOrd="0" presId="urn:microsoft.com/office/officeart/2005/8/layout/list1"/>
    <dgm:cxn modelId="{33770B51-2DA5-4FAC-BD32-C2939CDD9DB4}" srcId="{EADF9E55-3109-47F6-92B3-BC3FA6B3C613}" destId="{121EF476-9A6C-44B9-9298-4985F92CBE15}" srcOrd="1" destOrd="0" parTransId="{FED09C2D-723A-468F-A2F9-FF013A9A11CE}" sibTransId="{5F3DB63B-B112-49F9-9D0A-599A1D4F65C2}"/>
    <dgm:cxn modelId="{58470B58-1B11-46F0-B114-DB6817D19F80}" type="presOf" srcId="{C0008913-1742-41B1-BC55-CA60F1B7BA29}" destId="{0EB5D736-EE59-4953-A85D-BD38B31AD65F}" srcOrd="1" destOrd="0" presId="urn:microsoft.com/office/officeart/2005/8/layout/list1"/>
    <dgm:cxn modelId="{E242AF58-6A5B-4D4D-BBC1-D5B4EBFA59AE}" srcId="{C0008913-1742-41B1-BC55-CA60F1B7BA29}" destId="{77E5C7B7-D655-4216-8B8D-4AA3ED86A3C9}" srcOrd="0" destOrd="0" parTransId="{FFF4ABE7-870B-4779-A8F1-28E33FC76A3D}" sibTransId="{7512226F-6D10-4733-9412-5EE77D11FC98}"/>
    <dgm:cxn modelId="{6BF86C7A-F13F-4C31-B0AA-30DDAA62916E}" type="presOf" srcId="{121EF476-9A6C-44B9-9298-4985F92CBE15}" destId="{4ED63700-74B6-43DC-B283-E006A99E2EB7}" srcOrd="0" destOrd="0" presId="urn:microsoft.com/office/officeart/2005/8/layout/list1"/>
    <dgm:cxn modelId="{120D9A5A-1C11-4C5D-8713-804D1F3FBBA5}" type="presOf" srcId="{81128FA7-2ED6-47E2-985B-B4D4E769631E}" destId="{7641B8F5-8981-402B-8FE4-5B0F422E6E53}" srcOrd="0" destOrd="0" presId="urn:microsoft.com/office/officeart/2005/8/layout/list1"/>
    <dgm:cxn modelId="{DBB3007E-90C5-4380-87CC-40B8028E9D76}" type="presOf" srcId="{77E5C7B7-D655-4216-8B8D-4AA3ED86A3C9}" destId="{EBD7FE09-864C-4067-BD07-D7EE8F6E0625}" srcOrd="0" destOrd="0" presId="urn:microsoft.com/office/officeart/2005/8/layout/list1"/>
    <dgm:cxn modelId="{A0D7079E-E44C-4122-8B59-AF49B04BF6E0}" type="presOf" srcId="{93D2E90B-4F21-4CFE-B2A3-4AEFFCE79343}" destId="{0C415BE0-983E-47F3-BC15-D4C7A6335644}" srcOrd="0" destOrd="0" presId="urn:microsoft.com/office/officeart/2005/8/layout/list1"/>
    <dgm:cxn modelId="{60C3F09E-36D4-4559-89C8-0AB1FE9246AB}" type="presOf" srcId="{EADF9E55-3109-47F6-92B3-BC3FA6B3C613}" destId="{9FBBD8BB-7F59-424D-89E8-7658962BA1B1}" srcOrd="0" destOrd="0" presId="urn:microsoft.com/office/officeart/2005/8/layout/list1"/>
    <dgm:cxn modelId="{B99396A1-2453-404A-A83B-273305BC5651}" srcId="{121EF476-9A6C-44B9-9298-4985F92CBE15}" destId="{81128FA7-2ED6-47E2-985B-B4D4E769631E}" srcOrd="0" destOrd="0" parTransId="{78C80FBF-506D-496E-850B-5D4E41A93CD5}" sibTransId="{7F9B2D17-E188-4FFA-B006-A834AB44A10F}"/>
    <dgm:cxn modelId="{27CAACB6-CB79-488B-A32A-6CCE81A141D4}" srcId="{EADF9E55-3109-47F6-92B3-BC3FA6B3C613}" destId="{93D2E90B-4F21-4CFE-B2A3-4AEFFCE79343}" srcOrd="2" destOrd="0" parTransId="{0CF9D440-044C-434A-8572-926800D38DCB}" sibTransId="{5C27C4D1-71FE-4547-A9CB-BBF8CC415746}"/>
    <dgm:cxn modelId="{B3A06BDC-0141-4615-B65F-FD4FDBBC36A5}" srcId="{EADF9E55-3109-47F6-92B3-BC3FA6B3C613}" destId="{C0008913-1742-41B1-BC55-CA60F1B7BA29}" srcOrd="0" destOrd="0" parTransId="{A1B1E763-463B-4657-AD79-E20D3F230619}" sibTransId="{0E5084ED-9CEC-4626-AE20-0F40415DA257}"/>
    <dgm:cxn modelId="{8FB61BE0-235D-4A28-87D9-92986B4C96FE}" type="presOf" srcId="{93D2E90B-4F21-4CFE-B2A3-4AEFFCE79343}" destId="{440C09DC-0CAA-4A0E-9FD6-C52AD85C16D7}" srcOrd="1" destOrd="0" presId="urn:microsoft.com/office/officeart/2005/8/layout/list1"/>
    <dgm:cxn modelId="{822670EE-1C9A-4713-868C-618D400FE7D4}" srcId="{93D2E90B-4F21-4CFE-B2A3-4AEFFCE79343}" destId="{8E94B476-F098-4C05-9FE3-FAF0254B60BB}" srcOrd="0" destOrd="0" parTransId="{9751AF79-3C69-43D3-9AD2-F4F72AB8C4D8}" sibTransId="{844D2204-4169-4A99-947F-34C41A5933D0}"/>
    <dgm:cxn modelId="{8155CFF7-FDF7-40EE-8922-78E8B6AA77C6}" type="presOf" srcId="{C0008913-1742-41B1-BC55-CA60F1B7BA29}" destId="{48D826F6-CE15-4E22-A517-7C4AA1C0FED6}" srcOrd="0" destOrd="0" presId="urn:microsoft.com/office/officeart/2005/8/layout/list1"/>
    <dgm:cxn modelId="{48BCF3FA-6158-49B0-925C-761FE145215F}" type="presOf" srcId="{8E94B476-F098-4C05-9FE3-FAF0254B60BB}" destId="{77CA58AE-F2B8-4F85-BAE2-F4D6FA6AEC0C}" srcOrd="0" destOrd="0" presId="urn:microsoft.com/office/officeart/2005/8/layout/list1"/>
    <dgm:cxn modelId="{0300D789-C2F6-4CAD-8CA0-20B488814B10}" type="presParOf" srcId="{9FBBD8BB-7F59-424D-89E8-7658962BA1B1}" destId="{756E5854-D1EB-4D2E-9B0E-622A214D7942}" srcOrd="0" destOrd="0" presId="urn:microsoft.com/office/officeart/2005/8/layout/list1"/>
    <dgm:cxn modelId="{A2E383CA-BF95-459C-B87A-EB7436805B75}" type="presParOf" srcId="{756E5854-D1EB-4D2E-9B0E-622A214D7942}" destId="{48D826F6-CE15-4E22-A517-7C4AA1C0FED6}" srcOrd="0" destOrd="0" presId="urn:microsoft.com/office/officeart/2005/8/layout/list1"/>
    <dgm:cxn modelId="{CF55604A-9120-4DC6-A407-AAE4084C1BF5}" type="presParOf" srcId="{756E5854-D1EB-4D2E-9B0E-622A214D7942}" destId="{0EB5D736-EE59-4953-A85D-BD38B31AD65F}" srcOrd="1" destOrd="0" presId="urn:microsoft.com/office/officeart/2005/8/layout/list1"/>
    <dgm:cxn modelId="{50C2A9DF-7983-44BB-A400-5DA0B63886B7}" type="presParOf" srcId="{9FBBD8BB-7F59-424D-89E8-7658962BA1B1}" destId="{FBC883E6-96B8-4CB5-8724-BA3BEC4FEA60}" srcOrd="1" destOrd="0" presId="urn:microsoft.com/office/officeart/2005/8/layout/list1"/>
    <dgm:cxn modelId="{D81E00A3-DB08-41B1-9E9B-7FB173E9C4AA}" type="presParOf" srcId="{9FBBD8BB-7F59-424D-89E8-7658962BA1B1}" destId="{EBD7FE09-864C-4067-BD07-D7EE8F6E0625}" srcOrd="2" destOrd="0" presId="urn:microsoft.com/office/officeart/2005/8/layout/list1"/>
    <dgm:cxn modelId="{A01D6084-2211-4D23-8A33-21FF3D9EF863}" type="presParOf" srcId="{9FBBD8BB-7F59-424D-89E8-7658962BA1B1}" destId="{DCA6B047-DDAF-478A-8AA6-A7F4C190374D}" srcOrd="3" destOrd="0" presId="urn:microsoft.com/office/officeart/2005/8/layout/list1"/>
    <dgm:cxn modelId="{481BD583-319B-43F4-B316-5598A7440D28}" type="presParOf" srcId="{9FBBD8BB-7F59-424D-89E8-7658962BA1B1}" destId="{15151931-938D-4BAE-AEE9-3F5625711349}" srcOrd="4" destOrd="0" presId="urn:microsoft.com/office/officeart/2005/8/layout/list1"/>
    <dgm:cxn modelId="{14B4BC1C-BEBA-4D84-89D0-58664C80C1CA}" type="presParOf" srcId="{15151931-938D-4BAE-AEE9-3F5625711349}" destId="{4ED63700-74B6-43DC-B283-E006A99E2EB7}" srcOrd="0" destOrd="0" presId="urn:microsoft.com/office/officeart/2005/8/layout/list1"/>
    <dgm:cxn modelId="{E21247D4-BDE3-43DE-B200-E32ABF068F7A}" type="presParOf" srcId="{15151931-938D-4BAE-AEE9-3F5625711349}" destId="{469DF0E1-CBF6-4E38-AC52-D4F840167E13}" srcOrd="1" destOrd="0" presId="urn:microsoft.com/office/officeart/2005/8/layout/list1"/>
    <dgm:cxn modelId="{D87BBE85-F73A-475D-8E20-6113ADA67099}" type="presParOf" srcId="{9FBBD8BB-7F59-424D-89E8-7658962BA1B1}" destId="{60F9A8B3-9504-4B67-90A5-4F49CEDE654D}" srcOrd="5" destOrd="0" presId="urn:microsoft.com/office/officeart/2005/8/layout/list1"/>
    <dgm:cxn modelId="{2A46C2C3-51D0-48B5-9232-2CA0A7A1715A}" type="presParOf" srcId="{9FBBD8BB-7F59-424D-89E8-7658962BA1B1}" destId="{7641B8F5-8981-402B-8FE4-5B0F422E6E53}" srcOrd="6" destOrd="0" presId="urn:microsoft.com/office/officeart/2005/8/layout/list1"/>
    <dgm:cxn modelId="{516CCA11-FDF8-4FB0-80B8-B45A00AFE72D}" type="presParOf" srcId="{9FBBD8BB-7F59-424D-89E8-7658962BA1B1}" destId="{84993096-BFD5-48D1-8807-DDC74DC68276}" srcOrd="7" destOrd="0" presId="urn:microsoft.com/office/officeart/2005/8/layout/list1"/>
    <dgm:cxn modelId="{3E9B9696-AD48-4A8B-8B91-15861B4F79D5}" type="presParOf" srcId="{9FBBD8BB-7F59-424D-89E8-7658962BA1B1}" destId="{13ED007F-5E7C-44EF-90F7-8E2D1C24F691}" srcOrd="8" destOrd="0" presId="urn:microsoft.com/office/officeart/2005/8/layout/list1"/>
    <dgm:cxn modelId="{5B118F06-5FB8-4881-99BB-59646C5027F1}" type="presParOf" srcId="{13ED007F-5E7C-44EF-90F7-8E2D1C24F691}" destId="{0C415BE0-983E-47F3-BC15-D4C7A6335644}" srcOrd="0" destOrd="0" presId="urn:microsoft.com/office/officeart/2005/8/layout/list1"/>
    <dgm:cxn modelId="{36A80251-6181-4053-A0BC-4C335B6C0C78}" type="presParOf" srcId="{13ED007F-5E7C-44EF-90F7-8E2D1C24F691}" destId="{440C09DC-0CAA-4A0E-9FD6-C52AD85C16D7}" srcOrd="1" destOrd="0" presId="urn:microsoft.com/office/officeart/2005/8/layout/list1"/>
    <dgm:cxn modelId="{93C565C1-2D74-4123-8DBD-DD66D5D976C9}" type="presParOf" srcId="{9FBBD8BB-7F59-424D-89E8-7658962BA1B1}" destId="{61FB319A-ED42-4075-B88B-A66303EA0031}" srcOrd="9" destOrd="0" presId="urn:microsoft.com/office/officeart/2005/8/layout/list1"/>
    <dgm:cxn modelId="{2754CE75-FABF-4641-B76E-5C4E0D4679CB}" type="presParOf" srcId="{9FBBD8BB-7F59-424D-89E8-7658962BA1B1}" destId="{77CA58AE-F2B8-4F85-BAE2-F4D6FA6AEC0C}"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4CCE3F8-3DF8-4E60-9034-581721ADCE44}" type="doc">
      <dgm:prSet loTypeId="urn:microsoft.com/office/officeart/2005/8/layout/hierarchy2" loCatId="hierarchy" qsTypeId="urn:microsoft.com/office/officeart/2005/8/quickstyle/3d2#2" qsCatId="3D" csTypeId="urn:microsoft.com/office/officeart/2005/8/colors/colorful1#3" csCatId="colorful" phldr="1"/>
      <dgm:spPr/>
      <dgm:t>
        <a:bodyPr/>
        <a:lstStyle/>
        <a:p>
          <a:endParaRPr lang="en-GB"/>
        </a:p>
      </dgm:t>
    </dgm:pt>
    <dgm:pt modelId="{A4673D2C-B7BB-4150-9710-70F910A6F52B}">
      <dgm:prSet phldrT="[Text]" custT="1"/>
      <dgm:spPr/>
      <dgm:t>
        <a:bodyPr/>
        <a:lstStyle/>
        <a:p>
          <a:r>
            <a:rPr lang="en-GB" sz="2800" dirty="0"/>
            <a:t>How Firms Borrow Capital</a:t>
          </a:r>
        </a:p>
      </dgm:t>
    </dgm:pt>
    <dgm:pt modelId="{8A0DAB93-08DC-457D-80A7-3F898AA6088E}" type="parTrans" cxnId="{693E5C40-B401-4C39-BBA5-287B6039073F}">
      <dgm:prSet/>
      <dgm:spPr/>
      <dgm:t>
        <a:bodyPr/>
        <a:lstStyle/>
        <a:p>
          <a:endParaRPr lang="en-GB" sz="1600"/>
        </a:p>
      </dgm:t>
    </dgm:pt>
    <dgm:pt modelId="{E8CD9780-D6E4-4A6E-89C2-354092B48362}" type="sibTrans" cxnId="{693E5C40-B401-4C39-BBA5-287B6039073F}">
      <dgm:prSet/>
      <dgm:spPr/>
      <dgm:t>
        <a:bodyPr/>
        <a:lstStyle/>
        <a:p>
          <a:endParaRPr lang="en-GB" sz="1600"/>
        </a:p>
      </dgm:t>
    </dgm:pt>
    <dgm:pt modelId="{69510B76-C602-4623-A5D8-0179A407488C}">
      <dgm:prSet phldrT="[Text]" custT="1"/>
      <dgm:spPr/>
      <dgm:t>
        <a:bodyPr/>
        <a:lstStyle/>
        <a:p>
          <a:r>
            <a:rPr lang="en-GB" sz="2800" dirty="0"/>
            <a:t>Equity</a:t>
          </a:r>
        </a:p>
      </dgm:t>
    </dgm:pt>
    <dgm:pt modelId="{F193A1CC-21DC-4E57-ADF2-2B06E6CFCE19}" type="parTrans" cxnId="{40801D25-692F-4537-9E79-1979B67206CF}">
      <dgm:prSet custT="1"/>
      <dgm:spPr/>
      <dgm:t>
        <a:bodyPr/>
        <a:lstStyle/>
        <a:p>
          <a:endParaRPr lang="en-GB" sz="400"/>
        </a:p>
      </dgm:t>
    </dgm:pt>
    <dgm:pt modelId="{43F6EC63-14A2-4217-9985-DCAA31D0ED1B}" type="sibTrans" cxnId="{40801D25-692F-4537-9E79-1979B67206CF}">
      <dgm:prSet/>
      <dgm:spPr/>
      <dgm:t>
        <a:bodyPr/>
        <a:lstStyle/>
        <a:p>
          <a:endParaRPr lang="en-GB" sz="1600"/>
        </a:p>
      </dgm:t>
    </dgm:pt>
    <dgm:pt modelId="{E2A49503-201B-4113-8B20-2CB28F4561E9}">
      <dgm:prSet phldrT="[Text]" custT="1"/>
      <dgm:spPr/>
      <dgm:t>
        <a:bodyPr/>
        <a:lstStyle/>
        <a:p>
          <a:r>
            <a:rPr lang="en-GB" sz="2800" dirty="0"/>
            <a:t>Debt</a:t>
          </a:r>
        </a:p>
      </dgm:t>
    </dgm:pt>
    <dgm:pt modelId="{2D840794-74C9-43E5-8349-E94BA9FB654D}" type="parTrans" cxnId="{0AB71A9E-4279-4458-90C6-2A6608847B04}">
      <dgm:prSet custT="1"/>
      <dgm:spPr/>
      <dgm:t>
        <a:bodyPr/>
        <a:lstStyle/>
        <a:p>
          <a:endParaRPr lang="en-GB" sz="400"/>
        </a:p>
      </dgm:t>
    </dgm:pt>
    <dgm:pt modelId="{696C3DA8-348D-4A2F-8F9B-14DAFE3DDF5B}" type="sibTrans" cxnId="{0AB71A9E-4279-4458-90C6-2A6608847B04}">
      <dgm:prSet/>
      <dgm:spPr/>
      <dgm:t>
        <a:bodyPr/>
        <a:lstStyle/>
        <a:p>
          <a:endParaRPr lang="en-GB" sz="1600"/>
        </a:p>
      </dgm:t>
    </dgm:pt>
    <dgm:pt modelId="{87EEA368-BDD1-40CF-B4DC-22522852B909}">
      <dgm:prSet phldrT="[Text]" custT="1"/>
      <dgm:spPr/>
      <dgm:t>
        <a:bodyPr/>
        <a:lstStyle/>
        <a:p>
          <a:r>
            <a:rPr lang="en-GB" sz="2800" dirty="0"/>
            <a:t>Bank Borrowing</a:t>
          </a:r>
        </a:p>
      </dgm:t>
    </dgm:pt>
    <dgm:pt modelId="{DDF5C395-1E97-4C6F-9643-FB99F5F9436A}" type="parTrans" cxnId="{20F1033E-87F4-4302-8403-F9169A8CB99C}">
      <dgm:prSet custT="1"/>
      <dgm:spPr/>
      <dgm:t>
        <a:bodyPr/>
        <a:lstStyle/>
        <a:p>
          <a:endParaRPr lang="en-GB" sz="400"/>
        </a:p>
      </dgm:t>
    </dgm:pt>
    <dgm:pt modelId="{B4535FCE-4D74-47A0-93A8-CFC739A9178A}" type="sibTrans" cxnId="{20F1033E-87F4-4302-8403-F9169A8CB99C}">
      <dgm:prSet/>
      <dgm:spPr/>
      <dgm:t>
        <a:bodyPr/>
        <a:lstStyle/>
        <a:p>
          <a:endParaRPr lang="en-GB" sz="1600"/>
        </a:p>
      </dgm:t>
    </dgm:pt>
    <dgm:pt modelId="{9C8D3B03-E8D9-45C0-813D-532996902984}">
      <dgm:prSet phldrT="[Text]" custT="1"/>
      <dgm:spPr/>
      <dgm:t>
        <a:bodyPr/>
        <a:lstStyle/>
        <a:p>
          <a:r>
            <a:rPr lang="en-GB" sz="2800" dirty="0"/>
            <a:t>Ordinary</a:t>
          </a:r>
          <a:endParaRPr lang="en-GB" sz="2800" baseline="-25000" dirty="0"/>
        </a:p>
      </dgm:t>
    </dgm:pt>
    <dgm:pt modelId="{F39F25F7-87BA-49AA-B290-5EFC36FD544B}" type="sibTrans" cxnId="{E48E7197-2729-43AF-A8C4-029C64C8E90A}">
      <dgm:prSet/>
      <dgm:spPr/>
      <dgm:t>
        <a:bodyPr/>
        <a:lstStyle/>
        <a:p>
          <a:endParaRPr lang="en-GB" sz="1600"/>
        </a:p>
      </dgm:t>
    </dgm:pt>
    <dgm:pt modelId="{2C1FF27E-1E72-4FA2-8773-99861C6BE5F0}" type="parTrans" cxnId="{E48E7197-2729-43AF-A8C4-029C64C8E90A}">
      <dgm:prSet custT="1"/>
      <dgm:spPr/>
      <dgm:t>
        <a:bodyPr/>
        <a:lstStyle/>
        <a:p>
          <a:endParaRPr lang="en-GB" sz="400"/>
        </a:p>
      </dgm:t>
    </dgm:pt>
    <dgm:pt modelId="{258C1000-1990-4A5C-8559-8D4B66A02AC3}">
      <dgm:prSet custT="1"/>
      <dgm:spPr/>
      <dgm:t>
        <a:bodyPr/>
        <a:lstStyle/>
        <a:p>
          <a:r>
            <a:rPr lang="en-GB" sz="2800" dirty="0"/>
            <a:t>Bonds</a:t>
          </a:r>
        </a:p>
      </dgm:t>
    </dgm:pt>
    <dgm:pt modelId="{463DF634-B1DC-455C-BA06-0B2BC37AF83B}" type="parTrans" cxnId="{44441EB9-859A-458E-BD3F-88156E2B0156}">
      <dgm:prSet custT="1"/>
      <dgm:spPr/>
      <dgm:t>
        <a:bodyPr/>
        <a:lstStyle/>
        <a:p>
          <a:endParaRPr lang="en-GB" sz="400"/>
        </a:p>
      </dgm:t>
    </dgm:pt>
    <dgm:pt modelId="{3C098FEA-99AA-48F8-88C7-39A260C3E18D}" type="sibTrans" cxnId="{44441EB9-859A-458E-BD3F-88156E2B0156}">
      <dgm:prSet/>
      <dgm:spPr/>
      <dgm:t>
        <a:bodyPr/>
        <a:lstStyle/>
        <a:p>
          <a:endParaRPr lang="en-GB" sz="1600"/>
        </a:p>
      </dgm:t>
    </dgm:pt>
    <dgm:pt modelId="{836B5D85-81D9-4A7C-B91B-2D1C68A5D2BC}">
      <dgm:prSet custT="1"/>
      <dgm:spPr/>
      <dgm:t>
        <a:bodyPr/>
        <a:lstStyle/>
        <a:p>
          <a:r>
            <a:rPr lang="en-GB" sz="2800" dirty="0"/>
            <a:t>Debentures</a:t>
          </a:r>
        </a:p>
      </dgm:t>
    </dgm:pt>
    <dgm:pt modelId="{55373026-312A-430F-A619-F9EB9DE30D11}" type="parTrans" cxnId="{CA9A3906-E74F-4C22-B2A8-90C418B4CAC7}">
      <dgm:prSet custT="1"/>
      <dgm:spPr/>
      <dgm:t>
        <a:bodyPr/>
        <a:lstStyle/>
        <a:p>
          <a:endParaRPr lang="en-GB" sz="400"/>
        </a:p>
      </dgm:t>
    </dgm:pt>
    <dgm:pt modelId="{F6BA98DE-E6E7-4657-9B2C-7E8922CD06EA}" type="sibTrans" cxnId="{CA9A3906-E74F-4C22-B2A8-90C418B4CAC7}">
      <dgm:prSet/>
      <dgm:spPr/>
      <dgm:t>
        <a:bodyPr/>
        <a:lstStyle/>
        <a:p>
          <a:endParaRPr lang="en-GB" sz="1600"/>
        </a:p>
      </dgm:t>
    </dgm:pt>
    <dgm:pt modelId="{24D02AFE-4D34-4822-BB5A-7516CE2F4743}">
      <dgm:prSet custT="1"/>
      <dgm:spPr/>
      <dgm:t>
        <a:bodyPr/>
        <a:lstStyle/>
        <a:p>
          <a:r>
            <a:rPr lang="en-GB" sz="2800" dirty="0"/>
            <a:t>Coupon</a:t>
          </a:r>
        </a:p>
      </dgm:t>
    </dgm:pt>
    <dgm:pt modelId="{FC153DB3-85D3-4515-ACF7-09E6671DE1C1}" type="parTrans" cxnId="{6E2920BC-749A-43F3-8D7A-D94820E97F69}">
      <dgm:prSet custT="1"/>
      <dgm:spPr/>
      <dgm:t>
        <a:bodyPr/>
        <a:lstStyle/>
        <a:p>
          <a:endParaRPr lang="en-GB" sz="400"/>
        </a:p>
      </dgm:t>
    </dgm:pt>
    <dgm:pt modelId="{CD7AB6C9-0DB5-4626-905B-647BF062DABE}" type="sibTrans" cxnId="{6E2920BC-749A-43F3-8D7A-D94820E97F69}">
      <dgm:prSet/>
      <dgm:spPr/>
      <dgm:t>
        <a:bodyPr/>
        <a:lstStyle/>
        <a:p>
          <a:endParaRPr lang="en-GB" sz="1600"/>
        </a:p>
      </dgm:t>
    </dgm:pt>
    <dgm:pt modelId="{8C98E916-1477-461C-AADF-23A34D193A58}">
      <dgm:prSet custT="1"/>
      <dgm:spPr/>
      <dgm:t>
        <a:bodyPr/>
        <a:lstStyle/>
        <a:p>
          <a:r>
            <a:rPr lang="en-GB" sz="2800" dirty="0"/>
            <a:t>Discounted</a:t>
          </a:r>
        </a:p>
      </dgm:t>
    </dgm:pt>
    <dgm:pt modelId="{FA031812-1FBB-48BC-B175-D3F45BA68235}" type="parTrans" cxnId="{364A9C5B-8DA8-4A9B-939C-7FEAD8A60723}">
      <dgm:prSet custT="1"/>
      <dgm:spPr/>
      <dgm:t>
        <a:bodyPr/>
        <a:lstStyle/>
        <a:p>
          <a:endParaRPr lang="en-GB" sz="400"/>
        </a:p>
      </dgm:t>
    </dgm:pt>
    <dgm:pt modelId="{795ECA66-1712-4CF8-844B-5017CCF23B72}" type="sibTrans" cxnId="{364A9C5B-8DA8-4A9B-939C-7FEAD8A60723}">
      <dgm:prSet/>
      <dgm:spPr/>
      <dgm:t>
        <a:bodyPr/>
        <a:lstStyle/>
        <a:p>
          <a:endParaRPr lang="en-GB" sz="1600"/>
        </a:p>
      </dgm:t>
    </dgm:pt>
    <dgm:pt modelId="{E34DD8AF-6096-4215-8F12-8A7FA418EE1F}">
      <dgm:prSet/>
      <dgm:spPr/>
      <dgm:t>
        <a:bodyPr/>
        <a:lstStyle/>
        <a:p>
          <a:r>
            <a:rPr lang="en-GB" dirty="0"/>
            <a:t>Hybrid Borrowing</a:t>
          </a:r>
        </a:p>
      </dgm:t>
    </dgm:pt>
    <dgm:pt modelId="{D24F4F29-F621-4864-BF37-C7D0F6C90AF6}" type="parTrans" cxnId="{2B19381C-DD68-46A9-9761-E30066374A2B}">
      <dgm:prSet/>
      <dgm:spPr/>
      <dgm:t>
        <a:bodyPr/>
        <a:lstStyle/>
        <a:p>
          <a:endParaRPr lang="en-GB"/>
        </a:p>
      </dgm:t>
    </dgm:pt>
    <dgm:pt modelId="{45C3A696-E108-47F9-976E-CCCCBA2FAA70}" type="sibTrans" cxnId="{2B19381C-DD68-46A9-9761-E30066374A2B}">
      <dgm:prSet/>
      <dgm:spPr/>
      <dgm:t>
        <a:bodyPr/>
        <a:lstStyle/>
        <a:p>
          <a:endParaRPr lang="en-GB"/>
        </a:p>
      </dgm:t>
    </dgm:pt>
    <dgm:pt modelId="{CC402602-6CBC-4EE7-AED0-13FD050E6D61}">
      <dgm:prSet/>
      <dgm:spPr/>
      <dgm:t>
        <a:bodyPr/>
        <a:lstStyle/>
        <a:p>
          <a:r>
            <a:rPr lang="en-GB" dirty="0"/>
            <a:t>Preferred/</a:t>
          </a:r>
        </a:p>
        <a:p>
          <a:r>
            <a:rPr lang="en-GB" dirty="0"/>
            <a:t>Debenture Stock/ Hybrid Bonds</a:t>
          </a:r>
        </a:p>
      </dgm:t>
    </dgm:pt>
    <dgm:pt modelId="{50ECDE87-A0CA-4FE5-965E-253150C99875}" type="parTrans" cxnId="{22B4C866-D5F2-4E1B-9D7E-1EBEA26AACDC}">
      <dgm:prSet/>
      <dgm:spPr/>
      <dgm:t>
        <a:bodyPr/>
        <a:lstStyle/>
        <a:p>
          <a:endParaRPr lang="en-GB"/>
        </a:p>
      </dgm:t>
    </dgm:pt>
    <dgm:pt modelId="{334047B4-DEEC-473D-BF7B-CF00942D8231}" type="sibTrans" cxnId="{22B4C866-D5F2-4E1B-9D7E-1EBEA26AACDC}">
      <dgm:prSet/>
      <dgm:spPr/>
      <dgm:t>
        <a:bodyPr/>
        <a:lstStyle/>
        <a:p>
          <a:endParaRPr lang="en-GB"/>
        </a:p>
      </dgm:t>
    </dgm:pt>
    <dgm:pt modelId="{91A17FD2-11F6-4766-9E14-E8AB2A47722B}" type="pres">
      <dgm:prSet presAssocID="{D4CCE3F8-3DF8-4E60-9034-581721ADCE44}" presName="diagram" presStyleCnt="0">
        <dgm:presLayoutVars>
          <dgm:chPref val="1"/>
          <dgm:dir/>
          <dgm:animOne val="branch"/>
          <dgm:animLvl val="lvl"/>
          <dgm:resizeHandles val="exact"/>
        </dgm:presLayoutVars>
      </dgm:prSet>
      <dgm:spPr/>
    </dgm:pt>
    <dgm:pt modelId="{94516B4E-DA3C-43A5-86DF-C234693593C5}" type="pres">
      <dgm:prSet presAssocID="{A4673D2C-B7BB-4150-9710-70F910A6F52B}" presName="root1" presStyleCnt="0"/>
      <dgm:spPr/>
    </dgm:pt>
    <dgm:pt modelId="{7362559F-5824-434D-AEC9-B24D34B234FC}" type="pres">
      <dgm:prSet presAssocID="{A4673D2C-B7BB-4150-9710-70F910A6F52B}" presName="LevelOneTextNode" presStyleLbl="node0" presStyleIdx="0" presStyleCnt="1" custScaleX="432783" custScaleY="1475889">
        <dgm:presLayoutVars>
          <dgm:chPref val="3"/>
        </dgm:presLayoutVars>
      </dgm:prSet>
      <dgm:spPr/>
    </dgm:pt>
    <dgm:pt modelId="{04A4DAF6-75ED-49C3-B8E7-35110015C8DB}" type="pres">
      <dgm:prSet presAssocID="{A4673D2C-B7BB-4150-9710-70F910A6F52B}" presName="level2hierChild" presStyleCnt="0"/>
      <dgm:spPr/>
    </dgm:pt>
    <dgm:pt modelId="{187CD1C7-8DDD-4F7F-A6FC-37E99A8C4366}" type="pres">
      <dgm:prSet presAssocID="{F193A1CC-21DC-4E57-ADF2-2B06E6CFCE19}" presName="conn2-1" presStyleLbl="parChTrans1D2" presStyleIdx="0" presStyleCnt="3"/>
      <dgm:spPr/>
    </dgm:pt>
    <dgm:pt modelId="{112E6B00-C951-450B-8933-4A80496B546B}" type="pres">
      <dgm:prSet presAssocID="{F193A1CC-21DC-4E57-ADF2-2B06E6CFCE19}" presName="connTx" presStyleLbl="parChTrans1D2" presStyleIdx="0" presStyleCnt="3"/>
      <dgm:spPr/>
    </dgm:pt>
    <dgm:pt modelId="{9FE12E9C-7E6C-404F-A8DA-544DC86C8ACD}" type="pres">
      <dgm:prSet presAssocID="{69510B76-C602-4623-A5D8-0179A407488C}" presName="root2" presStyleCnt="0"/>
      <dgm:spPr/>
    </dgm:pt>
    <dgm:pt modelId="{B4CA60BB-F88A-4BA6-B2C7-48B410C65C92}" type="pres">
      <dgm:prSet presAssocID="{69510B76-C602-4623-A5D8-0179A407488C}" presName="LevelTwoTextNode" presStyleLbl="node2" presStyleIdx="0" presStyleCnt="3" custScaleX="432783" custScaleY="481197" custLinFactNeighborX="816" custLinFactNeighborY="-94907">
        <dgm:presLayoutVars>
          <dgm:chPref val="3"/>
        </dgm:presLayoutVars>
      </dgm:prSet>
      <dgm:spPr/>
    </dgm:pt>
    <dgm:pt modelId="{EB94A764-A96C-4FF1-9B98-42B35C9F0631}" type="pres">
      <dgm:prSet presAssocID="{69510B76-C602-4623-A5D8-0179A407488C}" presName="level3hierChild" presStyleCnt="0"/>
      <dgm:spPr/>
    </dgm:pt>
    <dgm:pt modelId="{4F4D4059-A739-4AD4-8D06-8CCA55F7F1DD}" type="pres">
      <dgm:prSet presAssocID="{2C1FF27E-1E72-4FA2-8773-99861C6BE5F0}" presName="conn2-1" presStyleLbl="parChTrans1D3" presStyleIdx="0" presStyleCnt="4"/>
      <dgm:spPr/>
    </dgm:pt>
    <dgm:pt modelId="{5152587E-F07A-411D-A665-AD13F27D6291}" type="pres">
      <dgm:prSet presAssocID="{2C1FF27E-1E72-4FA2-8773-99861C6BE5F0}" presName="connTx" presStyleLbl="parChTrans1D3" presStyleIdx="0" presStyleCnt="4"/>
      <dgm:spPr/>
    </dgm:pt>
    <dgm:pt modelId="{469D1082-880E-4AE1-922A-4A63CDD5AA79}" type="pres">
      <dgm:prSet presAssocID="{9C8D3B03-E8D9-45C0-813D-532996902984}" presName="root2" presStyleCnt="0"/>
      <dgm:spPr/>
    </dgm:pt>
    <dgm:pt modelId="{DA377B6A-DB48-4971-93DA-53F185F41243}" type="pres">
      <dgm:prSet presAssocID="{9C8D3B03-E8D9-45C0-813D-532996902984}" presName="LevelTwoTextNode" presStyleLbl="node3" presStyleIdx="0" presStyleCnt="4" custScaleX="972732" custScaleY="481197" custLinFactY="-27348" custLinFactNeighborY="-100000">
        <dgm:presLayoutVars>
          <dgm:chPref val="3"/>
        </dgm:presLayoutVars>
      </dgm:prSet>
      <dgm:spPr/>
    </dgm:pt>
    <dgm:pt modelId="{68233AE3-B481-4114-A9A8-3419E99A696F}" type="pres">
      <dgm:prSet presAssocID="{9C8D3B03-E8D9-45C0-813D-532996902984}" presName="level3hierChild" presStyleCnt="0"/>
      <dgm:spPr/>
    </dgm:pt>
    <dgm:pt modelId="{8C415F13-688D-4E03-BEED-BB953162DAB2}" type="pres">
      <dgm:prSet presAssocID="{D24F4F29-F621-4864-BF37-C7D0F6C90AF6}" presName="conn2-1" presStyleLbl="parChTrans1D2" presStyleIdx="1" presStyleCnt="3"/>
      <dgm:spPr/>
    </dgm:pt>
    <dgm:pt modelId="{B4DA0406-4E59-4757-BB91-6FA77AD2D043}" type="pres">
      <dgm:prSet presAssocID="{D24F4F29-F621-4864-BF37-C7D0F6C90AF6}" presName="connTx" presStyleLbl="parChTrans1D2" presStyleIdx="1" presStyleCnt="3"/>
      <dgm:spPr/>
    </dgm:pt>
    <dgm:pt modelId="{89EC0D5C-6C90-49B9-954C-409B2BFE3122}" type="pres">
      <dgm:prSet presAssocID="{E34DD8AF-6096-4215-8F12-8A7FA418EE1F}" presName="root2" presStyleCnt="0"/>
      <dgm:spPr/>
    </dgm:pt>
    <dgm:pt modelId="{1289FFD6-26B2-4CC2-8AA0-45222722674E}" type="pres">
      <dgm:prSet presAssocID="{E34DD8AF-6096-4215-8F12-8A7FA418EE1F}" presName="LevelTwoTextNode" presStyleLbl="node2" presStyleIdx="1" presStyleCnt="3" custScaleX="430495" custScaleY="485309">
        <dgm:presLayoutVars>
          <dgm:chPref val="3"/>
        </dgm:presLayoutVars>
      </dgm:prSet>
      <dgm:spPr/>
    </dgm:pt>
    <dgm:pt modelId="{525BA95D-1640-43D1-9482-DCEDF5244962}" type="pres">
      <dgm:prSet presAssocID="{E34DD8AF-6096-4215-8F12-8A7FA418EE1F}" presName="level3hierChild" presStyleCnt="0"/>
      <dgm:spPr/>
    </dgm:pt>
    <dgm:pt modelId="{78535EAF-F1CC-4758-8FBF-C85C32742476}" type="pres">
      <dgm:prSet presAssocID="{50ECDE87-A0CA-4FE5-965E-253150C99875}" presName="conn2-1" presStyleLbl="parChTrans1D3" presStyleIdx="1" presStyleCnt="4"/>
      <dgm:spPr/>
    </dgm:pt>
    <dgm:pt modelId="{D835FF6B-F4CD-4782-BAD3-89387101AB3E}" type="pres">
      <dgm:prSet presAssocID="{50ECDE87-A0CA-4FE5-965E-253150C99875}" presName="connTx" presStyleLbl="parChTrans1D3" presStyleIdx="1" presStyleCnt="4"/>
      <dgm:spPr/>
    </dgm:pt>
    <dgm:pt modelId="{B2BCBE93-8A6D-4664-AAB1-F49A410B7F81}" type="pres">
      <dgm:prSet presAssocID="{CC402602-6CBC-4EE7-AED0-13FD050E6D61}" presName="root2" presStyleCnt="0"/>
      <dgm:spPr/>
    </dgm:pt>
    <dgm:pt modelId="{4C57A27C-6392-4CB4-8523-2A1E66A795F4}" type="pres">
      <dgm:prSet presAssocID="{CC402602-6CBC-4EE7-AED0-13FD050E6D61}" presName="LevelTwoTextNode" presStyleLbl="node3" presStyleIdx="1" presStyleCnt="4" custScaleX="972732" custScaleY="642483" custLinFactNeighborY="-22116">
        <dgm:presLayoutVars>
          <dgm:chPref val="3"/>
        </dgm:presLayoutVars>
      </dgm:prSet>
      <dgm:spPr/>
    </dgm:pt>
    <dgm:pt modelId="{18A5FFAA-7F83-451E-A363-D6D023193F91}" type="pres">
      <dgm:prSet presAssocID="{CC402602-6CBC-4EE7-AED0-13FD050E6D61}" presName="level3hierChild" presStyleCnt="0"/>
      <dgm:spPr/>
    </dgm:pt>
    <dgm:pt modelId="{8E061A3E-B2B1-4A90-837F-57B67B4389F6}" type="pres">
      <dgm:prSet presAssocID="{2D840794-74C9-43E5-8349-E94BA9FB654D}" presName="conn2-1" presStyleLbl="parChTrans1D2" presStyleIdx="2" presStyleCnt="3"/>
      <dgm:spPr/>
    </dgm:pt>
    <dgm:pt modelId="{4D10BCFB-CC66-4B51-8A50-C56FFAA6E45F}" type="pres">
      <dgm:prSet presAssocID="{2D840794-74C9-43E5-8349-E94BA9FB654D}" presName="connTx" presStyleLbl="parChTrans1D2" presStyleIdx="2" presStyleCnt="3"/>
      <dgm:spPr/>
    </dgm:pt>
    <dgm:pt modelId="{44364F7C-55EC-45FE-8D11-3D844110FF2A}" type="pres">
      <dgm:prSet presAssocID="{E2A49503-201B-4113-8B20-2CB28F4561E9}" presName="root2" presStyleCnt="0"/>
      <dgm:spPr/>
    </dgm:pt>
    <dgm:pt modelId="{52E85208-5491-4452-A86A-529B54797BEF}" type="pres">
      <dgm:prSet presAssocID="{E2A49503-201B-4113-8B20-2CB28F4561E9}" presName="LevelTwoTextNode" presStyleLbl="node2" presStyleIdx="2" presStyleCnt="3" custScaleX="432783" custScaleY="481197" custLinFactY="90620" custLinFactNeighborX="816" custLinFactNeighborY="100000">
        <dgm:presLayoutVars>
          <dgm:chPref val="3"/>
        </dgm:presLayoutVars>
      </dgm:prSet>
      <dgm:spPr/>
    </dgm:pt>
    <dgm:pt modelId="{07D86783-E540-4E4B-BDE1-3F174A5B459D}" type="pres">
      <dgm:prSet presAssocID="{E2A49503-201B-4113-8B20-2CB28F4561E9}" presName="level3hierChild" presStyleCnt="0"/>
      <dgm:spPr/>
    </dgm:pt>
    <dgm:pt modelId="{C3C9C45C-A032-406F-A98E-D80D3FAD6442}" type="pres">
      <dgm:prSet presAssocID="{DDF5C395-1E97-4C6F-9643-FB99F5F9436A}" presName="conn2-1" presStyleLbl="parChTrans1D3" presStyleIdx="2" presStyleCnt="4"/>
      <dgm:spPr/>
    </dgm:pt>
    <dgm:pt modelId="{6A3982AE-7D57-4C2F-B22A-BE2AA996F681}" type="pres">
      <dgm:prSet presAssocID="{DDF5C395-1E97-4C6F-9643-FB99F5F9436A}" presName="connTx" presStyleLbl="parChTrans1D3" presStyleIdx="2" presStyleCnt="4"/>
      <dgm:spPr/>
    </dgm:pt>
    <dgm:pt modelId="{9D256F2D-6021-435D-9856-2341DABCAEB8}" type="pres">
      <dgm:prSet presAssocID="{87EEA368-BDD1-40CF-B4DC-22522852B909}" presName="root2" presStyleCnt="0"/>
      <dgm:spPr/>
    </dgm:pt>
    <dgm:pt modelId="{99082148-5EC8-4053-8DDF-81D29F100DD1}" type="pres">
      <dgm:prSet presAssocID="{87EEA368-BDD1-40CF-B4DC-22522852B909}" presName="LevelTwoTextNode" presStyleLbl="node3" presStyleIdx="2" presStyleCnt="4" custScaleX="466813" custScaleY="481197" custLinFactY="45691" custLinFactNeighborY="100000">
        <dgm:presLayoutVars>
          <dgm:chPref val="3"/>
        </dgm:presLayoutVars>
      </dgm:prSet>
      <dgm:spPr/>
    </dgm:pt>
    <dgm:pt modelId="{5E18F8FB-F8B9-45EE-A3B5-AC4993AB5578}" type="pres">
      <dgm:prSet presAssocID="{87EEA368-BDD1-40CF-B4DC-22522852B909}" presName="level3hierChild" presStyleCnt="0"/>
      <dgm:spPr/>
    </dgm:pt>
    <dgm:pt modelId="{9EC9125D-BEC0-408B-A2E0-88BAB74D08ED}" type="pres">
      <dgm:prSet presAssocID="{463DF634-B1DC-455C-BA06-0B2BC37AF83B}" presName="conn2-1" presStyleLbl="parChTrans1D3" presStyleIdx="3" presStyleCnt="4"/>
      <dgm:spPr/>
    </dgm:pt>
    <dgm:pt modelId="{5FF7CFB6-C6C3-42DC-B0FB-A2DD025C9CE1}" type="pres">
      <dgm:prSet presAssocID="{463DF634-B1DC-455C-BA06-0B2BC37AF83B}" presName="connTx" presStyleLbl="parChTrans1D3" presStyleIdx="3" presStyleCnt="4"/>
      <dgm:spPr/>
    </dgm:pt>
    <dgm:pt modelId="{261DE227-E49D-40AC-BC05-6E304AC66A4C}" type="pres">
      <dgm:prSet presAssocID="{258C1000-1990-4A5C-8559-8D4B66A02AC3}" presName="root2" presStyleCnt="0"/>
      <dgm:spPr/>
    </dgm:pt>
    <dgm:pt modelId="{0CEBBC17-0B7C-4515-93A2-33F253CA5872}" type="pres">
      <dgm:prSet presAssocID="{258C1000-1990-4A5C-8559-8D4B66A02AC3}" presName="LevelTwoTextNode" presStyleLbl="node3" presStyleIdx="3" presStyleCnt="4" custScaleX="466813" custScaleY="481197" custLinFactY="90620" custLinFactNeighborY="100000">
        <dgm:presLayoutVars>
          <dgm:chPref val="3"/>
        </dgm:presLayoutVars>
      </dgm:prSet>
      <dgm:spPr/>
    </dgm:pt>
    <dgm:pt modelId="{2C6161C6-AD79-498B-B61F-703B6D3E870D}" type="pres">
      <dgm:prSet presAssocID="{258C1000-1990-4A5C-8559-8D4B66A02AC3}" presName="level3hierChild" presStyleCnt="0"/>
      <dgm:spPr/>
    </dgm:pt>
    <dgm:pt modelId="{2C0B9F90-AEF3-4CC4-8CD9-19978DDC2AB4}" type="pres">
      <dgm:prSet presAssocID="{55373026-312A-430F-A619-F9EB9DE30D11}" presName="conn2-1" presStyleLbl="parChTrans1D4" presStyleIdx="0" presStyleCnt="3"/>
      <dgm:spPr/>
    </dgm:pt>
    <dgm:pt modelId="{9F5A22A2-391A-4EE8-A69B-1BE48A431941}" type="pres">
      <dgm:prSet presAssocID="{55373026-312A-430F-A619-F9EB9DE30D11}" presName="connTx" presStyleLbl="parChTrans1D4" presStyleIdx="0" presStyleCnt="3"/>
      <dgm:spPr/>
    </dgm:pt>
    <dgm:pt modelId="{7E491B32-299D-4226-906D-D220CF9108D3}" type="pres">
      <dgm:prSet presAssocID="{836B5D85-81D9-4A7C-B91B-2D1C68A5D2BC}" presName="root2" presStyleCnt="0"/>
      <dgm:spPr/>
    </dgm:pt>
    <dgm:pt modelId="{47DD54B3-8EDC-4F7F-B8BC-47D6A844AA3E}" type="pres">
      <dgm:prSet presAssocID="{836B5D85-81D9-4A7C-B91B-2D1C68A5D2BC}" presName="LevelTwoTextNode" presStyleLbl="node4" presStyleIdx="0" presStyleCnt="3" custScaleX="558680" custScaleY="339102" custLinFactNeighborX="1099" custLinFactNeighborY="-84140">
        <dgm:presLayoutVars>
          <dgm:chPref val="3"/>
        </dgm:presLayoutVars>
      </dgm:prSet>
      <dgm:spPr/>
    </dgm:pt>
    <dgm:pt modelId="{FED05DAC-D013-456C-8328-7A22BC318138}" type="pres">
      <dgm:prSet presAssocID="{836B5D85-81D9-4A7C-B91B-2D1C68A5D2BC}" presName="level3hierChild" presStyleCnt="0"/>
      <dgm:spPr/>
    </dgm:pt>
    <dgm:pt modelId="{F21886D5-9417-4E71-B16A-126542F72D8D}" type="pres">
      <dgm:prSet presAssocID="{FC153DB3-85D3-4515-ACF7-09E6671DE1C1}" presName="conn2-1" presStyleLbl="parChTrans1D4" presStyleIdx="1" presStyleCnt="3"/>
      <dgm:spPr/>
    </dgm:pt>
    <dgm:pt modelId="{7BAFAB7B-A26C-4E3B-9E7D-E729B5FB4A67}" type="pres">
      <dgm:prSet presAssocID="{FC153DB3-85D3-4515-ACF7-09E6671DE1C1}" presName="connTx" presStyleLbl="parChTrans1D4" presStyleIdx="1" presStyleCnt="3"/>
      <dgm:spPr/>
    </dgm:pt>
    <dgm:pt modelId="{8A7BD845-744E-4B7C-92B7-9D21B963F93A}" type="pres">
      <dgm:prSet presAssocID="{24D02AFE-4D34-4822-BB5A-7516CE2F4743}" presName="root2" presStyleCnt="0"/>
      <dgm:spPr/>
    </dgm:pt>
    <dgm:pt modelId="{88C38144-7D08-4BBD-9F07-4E7503666AD0}" type="pres">
      <dgm:prSet presAssocID="{24D02AFE-4D34-4822-BB5A-7516CE2F4743}" presName="LevelTwoTextNode" presStyleLbl="node4" presStyleIdx="1" presStyleCnt="3" custScaleX="558680" custScaleY="339102" custLinFactNeighborX="1099" custLinFactNeighborY="-48752">
        <dgm:presLayoutVars>
          <dgm:chPref val="3"/>
        </dgm:presLayoutVars>
      </dgm:prSet>
      <dgm:spPr/>
    </dgm:pt>
    <dgm:pt modelId="{C6922DB4-7363-4FD9-9038-2131B518882E}" type="pres">
      <dgm:prSet presAssocID="{24D02AFE-4D34-4822-BB5A-7516CE2F4743}" presName="level3hierChild" presStyleCnt="0"/>
      <dgm:spPr/>
    </dgm:pt>
    <dgm:pt modelId="{AF745CCB-415B-4280-BD56-BEF9976D940B}" type="pres">
      <dgm:prSet presAssocID="{FA031812-1FBB-48BC-B175-D3F45BA68235}" presName="conn2-1" presStyleLbl="parChTrans1D4" presStyleIdx="2" presStyleCnt="3"/>
      <dgm:spPr/>
    </dgm:pt>
    <dgm:pt modelId="{3E2D8272-2566-4C2D-9B52-6BEF2DF02658}" type="pres">
      <dgm:prSet presAssocID="{FA031812-1FBB-48BC-B175-D3F45BA68235}" presName="connTx" presStyleLbl="parChTrans1D4" presStyleIdx="2" presStyleCnt="3"/>
      <dgm:spPr/>
    </dgm:pt>
    <dgm:pt modelId="{FC3D402B-94E9-437B-9678-F65D9C68467B}" type="pres">
      <dgm:prSet presAssocID="{8C98E916-1477-461C-AADF-23A34D193A58}" presName="root2" presStyleCnt="0"/>
      <dgm:spPr/>
    </dgm:pt>
    <dgm:pt modelId="{F3CD5E34-B902-4DAF-9393-C3568FFFBC8D}" type="pres">
      <dgm:prSet presAssocID="{8C98E916-1477-461C-AADF-23A34D193A58}" presName="LevelTwoTextNode" presStyleLbl="node4" presStyleIdx="2" presStyleCnt="3" custScaleX="558680" custScaleY="339102" custLinFactX="15316" custLinFactNeighborX="100000" custLinFactNeighborY="1948">
        <dgm:presLayoutVars>
          <dgm:chPref val="3"/>
        </dgm:presLayoutVars>
      </dgm:prSet>
      <dgm:spPr/>
    </dgm:pt>
    <dgm:pt modelId="{B942DD27-F591-4330-9594-D03C5C65E650}" type="pres">
      <dgm:prSet presAssocID="{8C98E916-1477-461C-AADF-23A34D193A58}" presName="level3hierChild" presStyleCnt="0"/>
      <dgm:spPr/>
    </dgm:pt>
  </dgm:ptLst>
  <dgm:cxnLst>
    <dgm:cxn modelId="{CA9A3906-E74F-4C22-B2A8-90C418B4CAC7}" srcId="{258C1000-1990-4A5C-8559-8D4B66A02AC3}" destId="{836B5D85-81D9-4A7C-B91B-2D1C68A5D2BC}" srcOrd="0" destOrd="0" parTransId="{55373026-312A-430F-A619-F9EB9DE30D11}" sibTransId="{F6BA98DE-E6E7-4657-9B2C-7E8922CD06EA}"/>
    <dgm:cxn modelId="{FA7DFC09-F4EC-467F-AF99-A903F893BF62}" type="presOf" srcId="{E2A49503-201B-4113-8B20-2CB28F4561E9}" destId="{52E85208-5491-4452-A86A-529B54797BEF}" srcOrd="0" destOrd="0" presId="urn:microsoft.com/office/officeart/2005/8/layout/hierarchy2"/>
    <dgm:cxn modelId="{0CBBD714-BDC2-4872-BBE9-49AC0332DEAC}" type="presOf" srcId="{D4CCE3F8-3DF8-4E60-9034-581721ADCE44}" destId="{91A17FD2-11F6-4766-9E14-E8AB2A47722B}" srcOrd="0" destOrd="0" presId="urn:microsoft.com/office/officeart/2005/8/layout/hierarchy2"/>
    <dgm:cxn modelId="{2B19381C-DD68-46A9-9761-E30066374A2B}" srcId="{A4673D2C-B7BB-4150-9710-70F910A6F52B}" destId="{E34DD8AF-6096-4215-8F12-8A7FA418EE1F}" srcOrd="1" destOrd="0" parTransId="{D24F4F29-F621-4864-BF37-C7D0F6C90AF6}" sibTransId="{45C3A696-E108-47F9-976E-CCCCBA2FAA70}"/>
    <dgm:cxn modelId="{B77EE01D-87C0-46FA-B55D-D0E79F5882C1}" type="presOf" srcId="{87EEA368-BDD1-40CF-B4DC-22522852B909}" destId="{99082148-5EC8-4053-8DDF-81D29F100DD1}" srcOrd="0" destOrd="0" presId="urn:microsoft.com/office/officeart/2005/8/layout/hierarchy2"/>
    <dgm:cxn modelId="{40801D25-692F-4537-9E79-1979B67206CF}" srcId="{A4673D2C-B7BB-4150-9710-70F910A6F52B}" destId="{69510B76-C602-4623-A5D8-0179A407488C}" srcOrd="0" destOrd="0" parTransId="{F193A1CC-21DC-4E57-ADF2-2B06E6CFCE19}" sibTransId="{43F6EC63-14A2-4217-9985-DCAA31D0ED1B}"/>
    <dgm:cxn modelId="{65887029-91C0-4D82-8278-6189AC414437}" type="presOf" srcId="{50ECDE87-A0CA-4FE5-965E-253150C99875}" destId="{78535EAF-F1CC-4758-8FBF-C85C32742476}" srcOrd="0" destOrd="0" presId="urn:microsoft.com/office/officeart/2005/8/layout/hierarchy2"/>
    <dgm:cxn modelId="{E7795730-146D-4C44-86E8-D41D9DBC8E53}" type="presOf" srcId="{A4673D2C-B7BB-4150-9710-70F910A6F52B}" destId="{7362559F-5824-434D-AEC9-B24D34B234FC}" srcOrd="0" destOrd="0" presId="urn:microsoft.com/office/officeart/2005/8/layout/hierarchy2"/>
    <dgm:cxn modelId="{3F523138-BF6A-4096-B2AA-C7013B354176}" type="presOf" srcId="{FA031812-1FBB-48BC-B175-D3F45BA68235}" destId="{3E2D8272-2566-4C2D-9B52-6BEF2DF02658}" srcOrd="1" destOrd="0" presId="urn:microsoft.com/office/officeart/2005/8/layout/hierarchy2"/>
    <dgm:cxn modelId="{582D2539-36AC-423E-B0CE-4DC41A2E9970}" type="presOf" srcId="{2C1FF27E-1E72-4FA2-8773-99861C6BE5F0}" destId="{5152587E-F07A-411D-A665-AD13F27D6291}" srcOrd="1" destOrd="0" presId="urn:microsoft.com/office/officeart/2005/8/layout/hierarchy2"/>
    <dgm:cxn modelId="{20F1033E-87F4-4302-8403-F9169A8CB99C}" srcId="{E2A49503-201B-4113-8B20-2CB28F4561E9}" destId="{87EEA368-BDD1-40CF-B4DC-22522852B909}" srcOrd="0" destOrd="0" parTransId="{DDF5C395-1E97-4C6F-9643-FB99F5F9436A}" sibTransId="{B4535FCE-4D74-47A0-93A8-CFC739A9178A}"/>
    <dgm:cxn modelId="{693E5C40-B401-4C39-BBA5-287B6039073F}" srcId="{D4CCE3F8-3DF8-4E60-9034-581721ADCE44}" destId="{A4673D2C-B7BB-4150-9710-70F910A6F52B}" srcOrd="0" destOrd="0" parTransId="{8A0DAB93-08DC-457D-80A7-3F898AA6088E}" sibTransId="{E8CD9780-D6E4-4A6E-89C2-354092B48362}"/>
    <dgm:cxn modelId="{364A9C5B-8DA8-4A9B-939C-7FEAD8A60723}" srcId="{258C1000-1990-4A5C-8559-8D4B66A02AC3}" destId="{8C98E916-1477-461C-AADF-23A34D193A58}" srcOrd="2" destOrd="0" parTransId="{FA031812-1FBB-48BC-B175-D3F45BA68235}" sibTransId="{795ECA66-1712-4CF8-844B-5017CCF23B72}"/>
    <dgm:cxn modelId="{D54F8F42-77D0-4C8C-BE41-AE2DFC37876A}" type="presOf" srcId="{55373026-312A-430F-A619-F9EB9DE30D11}" destId="{9F5A22A2-391A-4EE8-A69B-1BE48A431941}" srcOrd="1" destOrd="0" presId="urn:microsoft.com/office/officeart/2005/8/layout/hierarchy2"/>
    <dgm:cxn modelId="{44BF0C63-AD79-4B4C-9335-88F9D1A0B693}" type="presOf" srcId="{55373026-312A-430F-A619-F9EB9DE30D11}" destId="{2C0B9F90-AEF3-4CC4-8CD9-19978DDC2AB4}" srcOrd="0" destOrd="0" presId="urn:microsoft.com/office/officeart/2005/8/layout/hierarchy2"/>
    <dgm:cxn modelId="{27B7FF43-CFDC-4E53-A446-3FA6DF7CD738}" type="presOf" srcId="{836B5D85-81D9-4A7C-B91B-2D1C68A5D2BC}" destId="{47DD54B3-8EDC-4F7F-B8BC-47D6A844AA3E}" srcOrd="0" destOrd="0" presId="urn:microsoft.com/office/officeart/2005/8/layout/hierarchy2"/>
    <dgm:cxn modelId="{22B4C866-D5F2-4E1B-9D7E-1EBEA26AACDC}" srcId="{E34DD8AF-6096-4215-8F12-8A7FA418EE1F}" destId="{CC402602-6CBC-4EE7-AED0-13FD050E6D61}" srcOrd="0" destOrd="0" parTransId="{50ECDE87-A0CA-4FE5-965E-253150C99875}" sibTransId="{334047B4-DEEC-473D-BF7B-CF00942D8231}"/>
    <dgm:cxn modelId="{8EB9956E-5600-4343-BDA9-11040C9A4386}" type="presOf" srcId="{463DF634-B1DC-455C-BA06-0B2BC37AF83B}" destId="{9EC9125D-BEC0-408B-A2E0-88BAB74D08ED}" srcOrd="0" destOrd="0" presId="urn:microsoft.com/office/officeart/2005/8/layout/hierarchy2"/>
    <dgm:cxn modelId="{115FDA70-4BEB-43DE-922F-2E2C14727819}" type="presOf" srcId="{D24F4F29-F621-4864-BF37-C7D0F6C90AF6}" destId="{8C415F13-688D-4E03-BEED-BB953162DAB2}" srcOrd="0" destOrd="0" presId="urn:microsoft.com/office/officeart/2005/8/layout/hierarchy2"/>
    <dgm:cxn modelId="{B6732772-E246-4479-9050-1C7A3036D579}" type="presOf" srcId="{CC402602-6CBC-4EE7-AED0-13FD050E6D61}" destId="{4C57A27C-6392-4CB4-8523-2A1E66A795F4}" srcOrd="0" destOrd="0" presId="urn:microsoft.com/office/officeart/2005/8/layout/hierarchy2"/>
    <dgm:cxn modelId="{25430F75-399B-461A-8BF1-67F69B785908}" type="presOf" srcId="{F193A1CC-21DC-4E57-ADF2-2B06E6CFCE19}" destId="{187CD1C7-8DDD-4F7F-A6FC-37E99A8C4366}" srcOrd="0" destOrd="0" presId="urn:microsoft.com/office/officeart/2005/8/layout/hierarchy2"/>
    <dgm:cxn modelId="{76F46877-D55F-421E-A82C-0598A8B4D570}" type="presOf" srcId="{69510B76-C602-4623-A5D8-0179A407488C}" destId="{B4CA60BB-F88A-4BA6-B2C7-48B410C65C92}" srcOrd="0" destOrd="0" presId="urn:microsoft.com/office/officeart/2005/8/layout/hierarchy2"/>
    <dgm:cxn modelId="{43099185-BF84-4ADB-A080-6A4DCDA17EAB}" type="presOf" srcId="{9C8D3B03-E8D9-45C0-813D-532996902984}" destId="{DA377B6A-DB48-4971-93DA-53F185F41243}" srcOrd="0" destOrd="0" presId="urn:microsoft.com/office/officeart/2005/8/layout/hierarchy2"/>
    <dgm:cxn modelId="{52D61791-6ACC-4D41-88D3-356D8054AE03}" type="presOf" srcId="{FC153DB3-85D3-4515-ACF7-09E6671DE1C1}" destId="{7BAFAB7B-A26C-4E3B-9E7D-E729B5FB4A67}" srcOrd="1" destOrd="0" presId="urn:microsoft.com/office/officeart/2005/8/layout/hierarchy2"/>
    <dgm:cxn modelId="{4D304E93-C9C8-4A26-BAF6-95D1303748D8}" type="presOf" srcId="{F193A1CC-21DC-4E57-ADF2-2B06E6CFCE19}" destId="{112E6B00-C951-450B-8933-4A80496B546B}" srcOrd="1" destOrd="0" presId="urn:microsoft.com/office/officeart/2005/8/layout/hierarchy2"/>
    <dgm:cxn modelId="{F99E9796-02F8-4630-9C05-D7852BB92CF7}" type="presOf" srcId="{50ECDE87-A0CA-4FE5-965E-253150C99875}" destId="{D835FF6B-F4CD-4782-BAD3-89387101AB3E}" srcOrd="1" destOrd="0" presId="urn:microsoft.com/office/officeart/2005/8/layout/hierarchy2"/>
    <dgm:cxn modelId="{E48E7197-2729-43AF-A8C4-029C64C8E90A}" srcId="{69510B76-C602-4623-A5D8-0179A407488C}" destId="{9C8D3B03-E8D9-45C0-813D-532996902984}" srcOrd="0" destOrd="0" parTransId="{2C1FF27E-1E72-4FA2-8773-99861C6BE5F0}" sibTransId="{F39F25F7-87BA-49AA-B290-5EFC36FD544B}"/>
    <dgm:cxn modelId="{0AB71A9E-4279-4458-90C6-2A6608847B04}" srcId="{A4673D2C-B7BB-4150-9710-70F910A6F52B}" destId="{E2A49503-201B-4113-8B20-2CB28F4561E9}" srcOrd="2" destOrd="0" parTransId="{2D840794-74C9-43E5-8349-E94BA9FB654D}" sibTransId="{696C3DA8-348D-4A2F-8F9B-14DAFE3DDF5B}"/>
    <dgm:cxn modelId="{0DE43DA1-0CD4-4021-B1BA-F75FE289AC08}" type="presOf" srcId="{FA031812-1FBB-48BC-B175-D3F45BA68235}" destId="{AF745CCB-415B-4280-BD56-BEF9976D940B}" srcOrd="0" destOrd="0" presId="urn:microsoft.com/office/officeart/2005/8/layout/hierarchy2"/>
    <dgm:cxn modelId="{6978E3B3-283A-4608-A0A3-BE88269BEF60}" type="presOf" srcId="{2C1FF27E-1E72-4FA2-8773-99861C6BE5F0}" destId="{4F4D4059-A739-4AD4-8D06-8CCA55F7F1DD}" srcOrd="0" destOrd="0" presId="urn:microsoft.com/office/officeart/2005/8/layout/hierarchy2"/>
    <dgm:cxn modelId="{672A5FB7-3574-4122-9624-DC79D6889BB2}" type="presOf" srcId="{D24F4F29-F621-4864-BF37-C7D0F6C90AF6}" destId="{B4DA0406-4E59-4757-BB91-6FA77AD2D043}" srcOrd="1" destOrd="0" presId="urn:microsoft.com/office/officeart/2005/8/layout/hierarchy2"/>
    <dgm:cxn modelId="{A74CA9B7-A926-483B-A2F6-6B2404D96E53}" type="presOf" srcId="{24D02AFE-4D34-4822-BB5A-7516CE2F4743}" destId="{88C38144-7D08-4BBD-9F07-4E7503666AD0}" srcOrd="0" destOrd="0" presId="urn:microsoft.com/office/officeart/2005/8/layout/hierarchy2"/>
    <dgm:cxn modelId="{44441EB9-859A-458E-BD3F-88156E2B0156}" srcId="{E2A49503-201B-4113-8B20-2CB28F4561E9}" destId="{258C1000-1990-4A5C-8559-8D4B66A02AC3}" srcOrd="1" destOrd="0" parTransId="{463DF634-B1DC-455C-BA06-0B2BC37AF83B}" sibTransId="{3C098FEA-99AA-48F8-88C7-39A260C3E18D}"/>
    <dgm:cxn modelId="{6E2920BC-749A-43F3-8D7A-D94820E97F69}" srcId="{258C1000-1990-4A5C-8559-8D4B66A02AC3}" destId="{24D02AFE-4D34-4822-BB5A-7516CE2F4743}" srcOrd="1" destOrd="0" parTransId="{FC153DB3-85D3-4515-ACF7-09E6671DE1C1}" sibTransId="{CD7AB6C9-0DB5-4626-905B-647BF062DABE}"/>
    <dgm:cxn modelId="{6875A4C1-CEAF-49F8-8741-0D35530C1B3D}" type="presOf" srcId="{FC153DB3-85D3-4515-ACF7-09E6671DE1C1}" destId="{F21886D5-9417-4E71-B16A-126542F72D8D}" srcOrd="0" destOrd="0" presId="urn:microsoft.com/office/officeart/2005/8/layout/hierarchy2"/>
    <dgm:cxn modelId="{DA3D48C2-DCB2-44E8-9F16-359CF2BDC0A4}" type="presOf" srcId="{E34DD8AF-6096-4215-8F12-8A7FA418EE1F}" destId="{1289FFD6-26B2-4CC2-8AA0-45222722674E}" srcOrd="0" destOrd="0" presId="urn:microsoft.com/office/officeart/2005/8/layout/hierarchy2"/>
    <dgm:cxn modelId="{1CF795C4-194B-4D2C-B26B-3EA6B6F3AC02}" type="presOf" srcId="{8C98E916-1477-461C-AADF-23A34D193A58}" destId="{F3CD5E34-B902-4DAF-9393-C3568FFFBC8D}" srcOrd="0" destOrd="0" presId="urn:microsoft.com/office/officeart/2005/8/layout/hierarchy2"/>
    <dgm:cxn modelId="{E8E9B8C9-2669-4FB3-89BE-D2E708B8272D}" type="presOf" srcId="{258C1000-1990-4A5C-8559-8D4B66A02AC3}" destId="{0CEBBC17-0B7C-4515-93A2-33F253CA5872}" srcOrd="0" destOrd="0" presId="urn:microsoft.com/office/officeart/2005/8/layout/hierarchy2"/>
    <dgm:cxn modelId="{E9C06ECF-F119-40B7-AAD5-99E69D499023}" type="presOf" srcId="{2D840794-74C9-43E5-8349-E94BA9FB654D}" destId="{4D10BCFB-CC66-4B51-8A50-C56FFAA6E45F}" srcOrd="1" destOrd="0" presId="urn:microsoft.com/office/officeart/2005/8/layout/hierarchy2"/>
    <dgm:cxn modelId="{C51E27E5-7A8D-41D0-A0F0-F53CD93DED15}" type="presOf" srcId="{DDF5C395-1E97-4C6F-9643-FB99F5F9436A}" destId="{6A3982AE-7D57-4C2F-B22A-BE2AA996F681}" srcOrd="1" destOrd="0" presId="urn:microsoft.com/office/officeart/2005/8/layout/hierarchy2"/>
    <dgm:cxn modelId="{ED5EAFEA-0956-425D-A859-928537EA3287}" type="presOf" srcId="{DDF5C395-1E97-4C6F-9643-FB99F5F9436A}" destId="{C3C9C45C-A032-406F-A98E-D80D3FAD6442}" srcOrd="0" destOrd="0" presId="urn:microsoft.com/office/officeart/2005/8/layout/hierarchy2"/>
    <dgm:cxn modelId="{535390EC-4828-4E15-8E9D-185863A8F914}" type="presOf" srcId="{2D840794-74C9-43E5-8349-E94BA9FB654D}" destId="{8E061A3E-B2B1-4A90-837F-57B67B4389F6}" srcOrd="0" destOrd="0" presId="urn:microsoft.com/office/officeart/2005/8/layout/hierarchy2"/>
    <dgm:cxn modelId="{A1FCBCED-4394-4054-837A-307E626294D8}" type="presOf" srcId="{463DF634-B1DC-455C-BA06-0B2BC37AF83B}" destId="{5FF7CFB6-C6C3-42DC-B0FB-A2DD025C9CE1}" srcOrd="1" destOrd="0" presId="urn:microsoft.com/office/officeart/2005/8/layout/hierarchy2"/>
    <dgm:cxn modelId="{C1C5BB61-C0D2-4134-A39D-74DA6B0C895A}" type="presParOf" srcId="{91A17FD2-11F6-4766-9E14-E8AB2A47722B}" destId="{94516B4E-DA3C-43A5-86DF-C234693593C5}" srcOrd="0" destOrd="0" presId="urn:microsoft.com/office/officeart/2005/8/layout/hierarchy2"/>
    <dgm:cxn modelId="{5154F731-2199-4D1D-8EF9-DCABBD9960E6}" type="presParOf" srcId="{94516B4E-DA3C-43A5-86DF-C234693593C5}" destId="{7362559F-5824-434D-AEC9-B24D34B234FC}" srcOrd="0" destOrd="0" presId="urn:microsoft.com/office/officeart/2005/8/layout/hierarchy2"/>
    <dgm:cxn modelId="{1F5EB3D2-BF39-4232-A9DC-02BA355E4960}" type="presParOf" srcId="{94516B4E-DA3C-43A5-86DF-C234693593C5}" destId="{04A4DAF6-75ED-49C3-B8E7-35110015C8DB}" srcOrd="1" destOrd="0" presId="urn:microsoft.com/office/officeart/2005/8/layout/hierarchy2"/>
    <dgm:cxn modelId="{0C613542-B81D-4E25-8E97-929AF9369DE9}" type="presParOf" srcId="{04A4DAF6-75ED-49C3-B8E7-35110015C8DB}" destId="{187CD1C7-8DDD-4F7F-A6FC-37E99A8C4366}" srcOrd="0" destOrd="0" presId="urn:microsoft.com/office/officeart/2005/8/layout/hierarchy2"/>
    <dgm:cxn modelId="{D2EEF3AE-0E1E-43A7-BF85-051EE442C59B}" type="presParOf" srcId="{187CD1C7-8DDD-4F7F-A6FC-37E99A8C4366}" destId="{112E6B00-C951-450B-8933-4A80496B546B}" srcOrd="0" destOrd="0" presId="urn:microsoft.com/office/officeart/2005/8/layout/hierarchy2"/>
    <dgm:cxn modelId="{9CF88764-CC13-485B-BB67-757D6E38D3D0}" type="presParOf" srcId="{04A4DAF6-75ED-49C3-B8E7-35110015C8DB}" destId="{9FE12E9C-7E6C-404F-A8DA-544DC86C8ACD}" srcOrd="1" destOrd="0" presId="urn:microsoft.com/office/officeart/2005/8/layout/hierarchy2"/>
    <dgm:cxn modelId="{6CE2DCD6-D124-4499-91FC-51135CCFFA2B}" type="presParOf" srcId="{9FE12E9C-7E6C-404F-A8DA-544DC86C8ACD}" destId="{B4CA60BB-F88A-4BA6-B2C7-48B410C65C92}" srcOrd="0" destOrd="0" presId="urn:microsoft.com/office/officeart/2005/8/layout/hierarchy2"/>
    <dgm:cxn modelId="{FB7D4465-A769-4EC2-80C0-80F259200634}" type="presParOf" srcId="{9FE12E9C-7E6C-404F-A8DA-544DC86C8ACD}" destId="{EB94A764-A96C-4FF1-9B98-42B35C9F0631}" srcOrd="1" destOrd="0" presId="urn:microsoft.com/office/officeart/2005/8/layout/hierarchy2"/>
    <dgm:cxn modelId="{8AF64E5F-8EC5-4DD7-B902-AB2266B2B7ED}" type="presParOf" srcId="{EB94A764-A96C-4FF1-9B98-42B35C9F0631}" destId="{4F4D4059-A739-4AD4-8D06-8CCA55F7F1DD}" srcOrd="0" destOrd="0" presId="urn:microsoft.com/office/officeart/2005/8/layout/hierarchy2"/>
    <dgm:cxn modelId="{0F3768DF-702A-440F-96E9-C9FFC3606441}" type="presParOf" srcId="{4F4D4059-A739-4AD4-8D06-8CCA55F7F1DD}" destId="{5152587E-F07A-411D-A665-AD13F27D6291}" srcOrd="0" destOrd="0" presId="urn:microsoft.com/office/officeart/2005/8/layout/hierarchy2"/>
    <dgm:cxn modelId="{0A3144EA-F73F-4ECA-A2D2-49EDF2DF169D}" type="presParOf" srcId="{EB94A764-A96C-4FF1-9B98-42B35C9F0631}" destId="{469D1082-880E-4AE1-922A-4A63CDD5AA79}" srcOrd="1" destOrd="0" presId="urn:microsoft.com/office/officeart/2005/8/layout/hierarchy2"/>
    <dgm:cxn modelId="{A4E0F59A-AF91-430A-9B69-B47A104AA9A0}" type="presParOf" srcId="{469D1082-880E-4AE1-922A-4A63CDD5AA79}" destId="{DA377B6A-DB48-4971-93DA-53F185F41243}" srcOrd="0" destOrd="0" presId="urn:microsoft.com/office/officeart/2005/8/layout/hierarchy2"/>
    <dgm:cxn modelId="{DB37B193-FF74-4AA7-A13B-55BE44B541DB}" type="presParOf" srcId="{469D1082-880E-4AE1-922A-4A63CDD5AA79}" destId="{68233AE3-B481-4114-A9A8-3419E99A696F}" srcOrd="1" destOrd="0" presId="urn:microsoft.com/office/officeart/2005/8/layout/hierarchy2"/>
    <dgm:cxn modelId="{D6469E3E-A6F5-48C6-8049-626C72C73610}" type="presParOf" srcId="{04A4DAF6-75ED-49C3-B8E7-35110015C8DB}" destId="{8C415F13-688D-4E03-BEED-BB953162DAB2}" srcOrd="2" destOrd="0" presId="urn:microsoft.com/office/officeart/2005/8/layout/hierarchy2"/>
    <dgm:cxn modelId="{75F0C2A7-BBF1-49E2-B01D-29189A05AA39}" type="presParOf" srcId="{8C415F13-688D-4E03-BEED-BB953162DAB2}" destId="{B4DA0406-4E59-4757-BB91-6FA77AD2D043}" srcOrd="0" destOrd="0" presId="urn:microsoft.com/office/officeart/2005/8/layout/hierarchy2"/>
    <dgm:cxn modelId="{DE5C0BDF-5E4F-44BA-AE9A-479A6D360663}" type="presParOf" srcId="{04A4DAF6-75ED-49C3-B8E7-35110015C8DB}" destId="{89EC0D5C-6C90-49B9-954C-409B2BFE3122}" srcOrd="3" destOrd="0" presId="urn:microsoft.com/office/officeart/2005/8/layout/hierarchy2"/>
    <dgm:cxn modelId="{54209E43-7F12-4658-BE09-6AF3E22A1B1C}" type="presParOf" srcId="{89EC0D5C-6C90-49B9-954C-409B2BFE3122}" destId="{1289FFD6-26B2-4CC2-8AA0-45222722674E}" srcOrd="0" destOrd="0" presId="urn:microsoft.com/office/officeart/2005/8/layout/hierarchy2"/>
    <dgm:cxn modelId="{B062D372-11C8-424F-BBBD-25BF0E0B8E1B}" type="presParOf" srcId="{89EC0D5C-6C90-49B9-954C-409B2BFE3122}" destId="{525BA95D-1640-43D1-9482-DCEDF5244962}" srcOrd="1" destOrd="0" presId="urn:microsoft.com/office/officeart/2005/8/layout/hierarchy2"/>
    <dgm:cxn modelId="{FBF4C5F7-E451-4A4D-A4A3-BCC0A0FC7D04}" type="presParOf" srcId="{525BA95D-1640-43D1-9482-DCEDF5244962}" destId="{78535EAF-F1CC-4758-8FBF-C85C32742476}" srcOrd="0" destOrd="0" presId="urn:microsoft.com/office/officeart/2005/8/layout/hierarchy2"/>
    <dgm:cxn modelId="{37D66362-2062-4270-9FDF-0870A032A2E4}" type="presParOf" srcId="{78535EAF-F1CC-4758-8FBF-C85C32742476}" destId="{D835FF6B-F4CD-4782-BAD3-89387101AB3E}" srcOrd="0" destOrd="0" presId="urn:microsoft.com/office/officeart/2005/8/layout/hierarchy2"/>
    <dgm:cxn modelId="{9A18F258-0495-48EE-AD78-E548D21C3555}" type="presParOf" srcId="{525BA95D-1640-43D1-9482-DCEDF5244962}" destId="{B2BCBE93-8A6D-4664-AAB1-F49A410B7F81}" srcOrd="1" destOrd="0" presId="urn:microsoft.com/office/officeart/2005/8/layout/hierarchy2"/>
    <dgm:cxn modelId="{AADACC3B-F100-487A-A1D9-F4449204D785}" type="presParOf" srcId="{B2BCBE93-8A6D-4664-AAB1-F49A410B7F81}" destId="{4C57A27C-6392-4CB4-8523-2A1E66A795F4}" srcOrd="0" destOrd="0" presId="urn:microsoft.com/office/officeart/2005/8/layout/hierarchy2"/>
    <dgm:cxn modelId="{E08AD612-611C-4779-B2CC-AFB05BD79F61}" type="presParOf" srcId="{B2BCBE93-8A6D-4664-AAB1-F49A410B7F81}" destId="{18A5FFAA-7F83-451E-A363-D6D023193F91}" srcOrd="1" destOrd="0" presId="urn:microsoft.com/office/officeart/2005/8/layout/hierarchy2"/>
    <dgm:cxn modelId="{D651CC45-EBBC-4220-B818-90404D4CA9FD}" type="presParOf" srcId="{04A4DAF6-75ED-49C3-B8E7-35110015C8DB}" destId="{8E061A3E-B2B1-4A90-837F-57B67B4389F6}" srcOrd="4" destOrd="0" presId="urn:microsoft.com/office/officeart/2005/8/layout/hierarchy2"/>
    <dgm:cxn modelId="{3E38518D-AF1E-4FC5-B83C-6B87BC1A5FF5}" type="presParOf" srcId="{8E061A3E-B2B1-4A90-837F-57B67B4389F6}" destId="{4D10BCFB-CC66-4B51-8A50-C56FFAA6E45F}" srcOrd="0" destOrd="0" presId="urn:microsoft.com/office/officeart/2005/8/layout/hierarchy2"/>
    <dgm:cxn modelId="{C63885CF-2943-40CB-ACB9-BC3203B9FAC0}" type="presParOf" srcId="{04A4DAF6-75ED-49C3-B8E7-35110015C8DB}" destId="{44364F7C-55EC-45FE-8D11-3D844110FF2A}" srcOrd="5" destOrd="0" presId="urn:microsoft.com/office/officeart/2005/8/layout/hierarchy2"/>
    <dgm:cxn modelId="{B1992DAC-36C1-4AE4-A7EA-AAD22D93AF0E}" type="presParOf" srcId="{44364F7C-55EC-45FE-8D11-3D844110FF2A}" destId="{52E85208-5491-4452-A86A-529B54797BEF}" srcOrd="0" destOrd="0" presId="urn:microsoft.com/office/officeart/2005/8/layout/hierarchy2"/>
    <dgm:cxn modelId="{11E70D2B-84ED-45CC-9322-28077135EA28}" type="presParOf" srcId="{44364F7C-55EC-45FE-8D11-3D844110FF2A}" destId="{07D86783-E540-4E4B-BDE1-3F174A5B459D}" srcOrd="1" destOrd="0" presId="urn:microsoft.com/office/officeart/2005/8/layout/hierarchy2"/>
    <dgm:cxn modelId="{5CD3F13F-BABA-444E-85F8-C5787EFCA0AE}" type="presParOf" srcId="{07D86783-E540-4E4B-BDE1-3F174A5B459D}" destId="{C3C9C45C-A032-406F-A98E-D80D3FAD6442}" srcOrd="0" destOrd="0" presId="urn:microsoft.com/office/officeart/2005/8/layout/hierarchy2"/>
    <dgm:cxn modelId="{BE2E9CAF-744D-416D-9324-93BFA0DFEA7A}" type="presParOf" srcId="{C3C9C45C-A032-406F-A98E-D80D3FAD6442}" destId="{6A3982AE-7D57-4C2F-B22A-BE2AA996F681}" srcOrd="0" destOrd="0" presId="urn:microsoft.com/office/officeart/2005/8/layout/hierarchy2"/>
    <dgm:cxn modelId="{F898544E-3818-400E-9FC1-D0CC4528D2DF}" type="presParOf" srcId="{07D86783-E540-4E4B-BDE1-3F174A5B459D}" destId="{9D256F2D-6021-435D-9856-2341DABCAEB8}" srcOrd="1" destOrd="0" presId="urn:microsoft.com/office/officeart/2005/8/layout/hierarchy2"/>
    <dgm:cxn modelId="{5D2FA227-4F66-4EB8-B721-525694BA478A}" type="presParOf" srcId="{9D256F2D-6021-435D-9856-2341DABCAEB8}" destId="{99082148-5EC8-4053-8DDF-81D29F100DD1}" srcOrd="0" destOrd="0" presId="urn:microsoft.com/office/officeart/2005/8/layout/hierarchy2"/>
    <dgm:cxn modelId="{B5550877-88AB-45BF-9185-6C97173A378B}" type="presParOf" srcId="{9D256F2D-6021-435D-9856-2341DABCAEB8}" destId="{5E18F8FB-F8B9-45EE-A3B5-AC4993AB5578}" srcOrd="1" destOrd="0" presId="urn:microsoft.com/office/officeart/2005/8/layout/hierarchy2"/>
    <dgm:cxn modelId="{6036A962-1B0C-4109-AE66-E95BACF48940}" type="presParOf" srcId="{07D86783-E540-4E4B-BDE1-3F174A5B459D}" destId="{9EC9125D-BEC0-408B-A2E0-88BAB74D08ED}" srcOrd="2" destOrd="0" presId="urn:microsoft.com/office/officeart/2005/8/layout/hierarchy2"/>
    <dgm:cxn modelId="{66653738-E53F-473D-B9E9-FD77DAB7854D}" type="presParOf" srcId="{9EC9125D-BEC0-408B-A2E0-88BAB74D08ED}" destId="{5FF7CFB6-C6C3-42DC-B0FB-A2DD025C9CE1}" srcOrd="0" destOrd="0" presId="urn:microsoft.com/office/officeart/2005/8/layout/hierarchy2"/>
    <dgm:cxn modelId="{AB41AD8A-1BFE-4A17-9C65-4A76F3747230}" type="presParOf" srcId="{07D86783-E540-4E4B-BDE1-3F174A5B459D}" destId="{261DE227-E49D-40AC-BC05-6E304AC66A4C}" srcOrd="3" destOrd="0" presId="urn:microsoft.com/office/officeart/2005/8/layout/hierarchy2"/>
    <dgm:cxn modelId="{F8573A32-42BF-4830-9811-80960C813569}" type="presParOf" srcId="{261DE227-E49D-40AC-BC05-6E304AC66A4C}" destId="{0CEBBC17-0B7C-4515-93A2-33F253CA5872}" srcOrd="0" destOrd="0" presId="urn:microsoft.com/office/officeart/2005/8/layout/hierarchy2"/>
    <dgm:cxn modelId="{C6EDB31C-B20D-473A-8960-6C51151C4125}" type="presParOf" srcId="{261DE227-E49D-40AC-BC05-6E304AC66A4C}" destId="{2C6161C6-AD79-498B-B61F-703B6D3E870D}" srcOrd="1" destOrd="0" presId="urn:microsoft.com/office/officeart/2005/8/layout/hierarchy2"/>
    <dgm:cxn modelId="{0E2935BC-4360-409F-B2FE-9509F59A36DB}" type="presParOf" srcId="{2C6161C6-AD79-498B-B61F-703B6D3E870D}" destId="{2C0B9F90-AEF3-4CC4-8CD9-19978DDC2AB4}" srcOrd="0" destOrd="0" presId="urn:microsoft.com/office/officeart/2005/8/layout/hierarchy2"/>
    <dgm:cxn modelId="{24F47627-EE6C-464A-8DF3-ECE954A8B912}" type="presParOf" srcId="{2C0B9F90-AEF3-4CC4-8CD9-19978DDC2AB4}" destId="{9F5A22A2-391A-4EE8-A69B-1BE48A431941}" srcOrd="0" destOrd="0" presId="urn:microsoft.com/office/officeart/2005/8/layout/hierarchy2"/>
    <dgm:cxn modelId="{CDCAF8A7-8867-4CC9-A4CF-B492D3E53B60}" type="presParOf" srcId="{2C6161C6-AD79-498B-B61F-703B6D3E870D}" destId="{7E491B32-299D-4226-906D-D220CF9108D3}" srcOrd="1" destOrd="0" presId="urn:microsoft.com/office/officeart/2005/8/layout/hierarchy2"/>
    <dgm:cxn modelId="{4F1293D7-0D5C-4A7E-8A72-DADCE485357C}" type="presParOf" srcId="{7E491B32-299D-4226-906D-D220CF9108D3}" destId="{47DD54B3-8EDC-4F7F-B8BC-47D6A844AA3E}" srcOrd="0" destOrd="0" presId="urn:microsoft.com/office/officeart/2005/8/layout/hierarchy2"/>
    <dgm:cxn modelId="{FF9740AC-DBCB-47C0-9FE0-3F07CB29E8D7}" type="presParOf" srcId="{7E491B32-299D-4226-906D-D220CF9108D3}" destId="{FED05DAC-D013-456C-8328-7A22BC318138}" srcOrd="1" destOrd="0" presId="urn:microsoft.com/office/officeart/2005/8/layout/hierarchy2"/>
    <dgm:cxn modelId="{7332DC66-821D-430B-93C1-88CE2BD0E18B}" type="presParOf" srcId="{2C6161C6-AD79-498B-B61F-703B6D3E870D}" destId="{F21886D5-9417-4E71-B16A-126542F72D8D}" srcOrd="2" destOrd="0" presId="urn:microsoft.com/office/officeart/2005/8/layout/hierarchy2"/>
    <dgm:cxn modelId="{9C03FDD9-11D9-4061-9130-8F3B9789BB26}" type="presParOf" srcId="{F21886D5-9417-4E71-B16A-126542F72D8D}" destId="{7BAFAB7B-A26C-4E3B-9E7D-E729B5FB4A67}" srcOrd="0" destOrd="0" presId="urn:microsoft.com/office/officeart/2005/8/layout/hierarchy2"/>
    <dgm:cxn modelId="{E3AC8B41-6F33-4BDC-811E-52472C916DA4}" type="presParOf" srcId="{2C6161C6-AD79-498B-B61F-703B6D3E870D}" destId="{8A7BD845-744E-4B7C-92B7-9D21B963F93A}" srcOrd="3" destOrd="0" presId="urn:microsoft.com/office/officeart/2005/8/layout/hierarchy2"/>
    <dgm:cxn modelId="{DD1BF6BA-B241-4D79-B7F3-F5DA21674413}" type="presParOf" srcId="{8A7BD845-744E-4B7C-92B7-9D21B963F93A}" destId="{88C38144-7D08-4BBD-9F07-4E7503666AD0}" srcOrd="0" destOrd="0" presId="urn:microsoft.com/office/officeart/2005/8/layout/hierarchy2"/>
    <dgm:cxn modelId="{D6F594A7-2B72-4E64-AAD2-58384EFB085E}" type="presParOf" srcId="{8A7BD845-744E-4B7C-92B7-9D21B963F93A}" destId="{C6922DB4-7363-4FD9-9038-2131B518882E}" srcOrd="1" destOrd="0" presId="urn:microsoft.com/office/officeart/2005/8/layout/hierarchy2"/>
    <dgm:cxn modelId="{C74AF5E1-3C19-4B99-9480-220A6427903E}" type="presParOf" srcId="{2C6161C6-AD79-498B-B61F-703B6D3E870D}" destId="{AF745CCB-415B-4280-BD56-BEF9976D940B}" srcOrd="4" destOrd="0" presId="urn:microsoft.com/office/officeart/2005/8/layout/hierarchy2"/>
    <dgm:cxn modelId="{5F20A6B0-0D7D-4010-A08C-9E8BA2C1790F}" type="presParOf" srcId="{AF745CCB-415B-4280-BD56-BEF9976D940B}" destId="{3E2D8272-2566-4C2D-9B52-6BEF2DF02658}" srcOrd="0" destOrd="0" presId="urn:microsoft.com/office/officeart/2005/8/layout/hierarchy2"/>
    <dgm:cxn modelId="{441ACBFC-62FC-4B25-8CED-FB3ABEBB99B0}" type="presParOf" srcId="{2C6161C6-AD79-498B-B61F-703B6D3E870D}" destId="{FC3D402B-94E9-437B-9678-F65D9C68467B}" srcOrd="5" destOrd="0" presId="urn:microsoft.com/office/officeart/2005/8/layout/hierarchy2"/>
    <dgm:cxn modelId="{0D9E822B-3AAE-42B6-A79D-67C7562C87AF}" type="presParOf" srcId="{FC3D402B-94E9-437B-9678-F65D9C68467B}" destId="{F3CD5E34-B902-4DAF-9393-C3568FFFBC8D}" srcOrd="0" destOrd="0" presId="urn:microsoft.com/office/officeart/2005/8/layout/hierarchy2"/>
    <dgm:cxn modelId="{2C28FA3D-3381-42EC-8726-6895AA318F6B}" type="presParOf" srcId="{FC3D402B-94E9-437B-9678-F65D9C68467B}" destId="{B942DD27-F591-4330-9594-D03C5C65E650}"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5ABE6282-1A09-4334-8573-288758E0DEC6}" type="doc">
      <dgm:prSet loTypeId="urn:microsoft.com/office/officeart/2005/8/layout/hierarchy1" loCatId="hierarchy" qsTypeId="urn:microsoft.com/office/officeart/2005/8/quickstyle/simple1#2" qsCatId="simple" csTypeId="urn:microsoft.com/office/officeart/2005/8/colors/accent1_2#3" csCatId="accent1" phldr="1"/>
      <dgm:spPr/>
      <dgm:t>
        <a:bodyPr/>
        <a:lstStyle/>
        <a:p>
          <a:endParaRPr lang="en-GB"/>
        </a:p>
      </dgm:t>
    </dgm:pt>
    <dgm:pt modelId="{E2EBA58F-B92C-4A61-8D50-F48246B04D2C}">
      <dgm:prSet phldrT="[Text]" custT="1"/>
      <dgm:spPr/>
      <dgm:t>
        <a:bodyPr/>
        <a:lstStyle/>
        <a:p>
          <a:r>
            <a:rPr lang="en-GB" sz="2800" dirty="0"/>
            <a:t>Ordinary Shares</a:t>
          </a:r>
        </a:p>
      </dgm:t>
    </dgm:pt>
    <dgm:pt modelId="{44B523A5-FBDC-4469-AC50-D206E51F8E90}" type="parTrans" cxnId="{0AFB61EB-7AC6-4F03-BFA1-3828913C3375}">
      <dgm:prSet/>
      <dgm:spPr/>
      <dgm:t>
        <a:bodyPr/>
        <a:lstStyle/>
        <a:p>
          <a:endParaRPr lang="en-GB" sz="2000"/>
        </a:p>
      </dgm:t>
    </dgm:pt>
    <dgm:pt modelId="{10604731-E1AF-4C51-B790-47601A4AC1E9}" type="sibTrans" cxnId="{0AFB61EB-7AC6-4F03-BFA1-3828913C3375}">
      <dgm:prSet/>
      <dgm:spPr/>
      <dgm:t>
        <a:bodyPr/>
        <a:lstStyle/>
        <a:p>
          <a:endParaRPr lang="en-GB" sz="2000"/>
        </a:p>
      </dgm:t>
    </dgm:pt>
    <dgm:pt modelId="{DC4D2D6B-0699-4DC9-AF20-7F2C282631D9}">
      <dgm:prSet custT="1"/>
      <dgm:spPr/>
      <dgm:t>
        <a:bodyPr/>
        <a:lstStyle/>
        <a:p>
          <a:r>
            <a:rPr lang="en-GB" sz="2800" dirty="0"/>
            <a:t>CAPM</a:t>
          </a:r>
        </a:p>
      </dgm:t>
    </dgm:pt>
    <dgm:pt modelId="{F768DD8F-15DE-4FEE-A878-826B4566999B}" type="parTrans" cxnId="{DE4DAD6D-08D3-4DEE-9211-28ABC8DED5D9}">
      <dgm:prSet/>
      <dgm:spPr/>
      <dgm:t>
        <a:bodyPr/>
        <a:lstStyle/>
        <a:p>
          <a:endParaRPr lang="en-GB" sz="2000"/>
        </a:p>
      </dgm:t>
    </dgm:pt>
    <dgm:pt modelId="{14D712C8-4689-487C-A86E-89238DD44209}" type="sibTrans" cxnId="{DE4DAD6D-08D3-4DEE-9211-28ABC8DED5D9}">
      <dgm:prSet/>
      <dgm:spPr/>
      <dgm:t>
        <a:bodyPr/>
        <a:lstStyle/>
        <a:p>
          <a:endParaRPr lang="en-GB" sz="2000"/>
        </a:p>
      </dgm:t>
    </dgm:pt>
    <dgm:pt modelId="{F80EFBC7-6FAD-4A57-BE99-7203004DC146}">
      <dgm:prSet custT="1"/>
      <dgm:spPr/>
      <dgm:t>
        <a:bodyPr/>
        <a:lstStyle/>
        <a:p>
          <a:r>
            <a:rPr lang="en-GB" sz="2800" dirty="0"/>
            <a:t>Dividend</a:t>
          </a:r>
        </a:p>
        <a:p>
          <a:r>
            <a:rPr lang="en-GB" sz="2800" dirty="0"/>
            <a:t>Growth</a:t>
          </a:r>
        </a:p>
      </dgm:t>
    </dgm:pt>
    <dgm:pt modelId="{49D462DA-3EA4-4F93-9041-97E7D921F196}">
      <dgm:prSet custT="1"/>
      <dgm:spPr/>
      <dgm:t>
        <a:bodyPr/>
        <a:lstStyle/>
        <a:p>
          <a:r>
            <a:rPr lang="en-GB" sz="2800" dirty="0"/>
            <a:t>Constant Dividend</a:t>
          </a:r>
        </a:p>
      </dgm:t>
    </dgm:pt>
    <dgm:pt modelId="{83CA6A8E-797D-483D-8697-087A878D6890}">
      <dgm:prSet phldrT="[Text]" custT="1"/>
      <dgm:spPr/>
      <dgm:t>
        <a:bodyPr/>
        <a:lstStyle/>
        <a:p>
          <a:r>
            <a:rPr lang="en-GB" sz="2800" dirty="0"/>
            <a:t>Implied </a:t>
          </a:r>
        </a:p>
      </dgm:t>
    </dgm:pt>
    <dgm:pt modelId="{3867E038-0CC5-4159-8D8E-735A9924DB8D}" type="sibTrans" cxnId="{3849BD68-15F4-4BF3-9C81-D50BE3A48DC2}">
      <dgm:prSet/>
      <dgm:spPr/>
      <dgm:t>
        <a:bodyPr/>
        <a:lstStyle/>
        <a:p>
          <a:endParaRPr lang="en-GB" sz="2000"/>
        </a:p>
      </dgm:t>
    </dgm:pt>
    <dgm:pt modelId="{DBED2BDA-0484-4BB3-A115-BE8DAFF5F58F}" type="parTrans" cxnId="{3849BD68-15F4-4BF3-9C81-D50BE3A48DC2}">
      <dgm:prSet/>
      <dgm:spPr/>
      <dgm:t>
        <a:bodyPr/>
        <a:lstStyle/>
        <a:p>
          <a:endParaRPr lang="en-GB" sz="2000"/>
        </a:p>
      </dgm:t>
    </dgm:pt>
    <dgm:pt modelId="{689C1ADD-E1DD-4FA8-BCC8-DCF2124491B1}" type="sibTrans" cxnId="{DBFEBBC4-EDE4-48D5-A90A-67FED57C0106}">
      <dgm:prSet/>
      <dgm:spPr/>
      <dgm:t>
        <a:bodyPr/>
        <a:lstStyle/>
        <a:p>
          <a:endParaRPr lang="en-GB" sz="2000"/>
        </a:p>
      </dgm:t>
    </dgm:pt>
    <dgm:pt modelId="{F0936C15-57A2-4B8A-92AC-FB80BCFB6D0B}" type="parTrans" cxnId="{DBFEBBC4-EDE4-48D5-A90A-67FED57C0106}">
      <dgm:prSet/>
      <dgm:spPr/>
      <dgm:t>
        <a:bodyPr/>
        <a:lstStyle/>
        <a:p>
          <a:endParaRPr lang="en-GB" sz="2000"/>
        </a:p>
      </dgm:t>
    </dgm:pt>
    <dgm:pt modelId="{57B0E6D3-1721-45AE-8438-B0B6691D59B9}" type="sibTrans" cxnId="{393092C8-BAAC-42B4-A327-680D22778156}">
      <dgm:prSet/>
      <dgm:spPr/>
      <dgm:t>
        <a:bodyPr/>
        <a:lstStyle/>
        <a:p>
          <a:endParaRPr lang="en-GB" sz="2000"/>
        </a:p>
      </dgm:t>
    </dgm:pt>
    <dgm:pt modelId="{1C07AAFA-3FCB-4402-BF86-1FB7846FB0B3}" type="parTrans" cxnId="{393092C8-BAAC-42B4-A327-680D22778156}">
      <dgm:prSet/>
      <dgm:spPr/>
      <dgm:t>
        <a:bodyPr/>
        <a:lstStyle/>
        <a:p>
          <a:endParaRPr lang="en-GB" sz="2000"/>
        </a:p>
      </dgm:t>
    </dgm:pt>
    <dgm:pt modelId="{12BD254C-93D2-4374-BEEE-DB0F70A94A0F}" type="pres">
      <dgm:prSet presAssocID="{5ABE6282-1A09-4334-8573-288758E0DEC6}" presName="hierChild1" presStyleCnt="0">
        <dgm:presLayoutVars>
          <dgm:chPref val="1"/>
          <dgm:dir/>
          <dgm:animOne val="branch"/>
          <dgm:animLvl val="lvl"/>
          <dgm:resizeHandles/>
        </dgm:presLayoutVars>
      </dgm:prSet>
      <dgm:spPr/>
    </dgm:pt>
    <dgm:pt modelId="{DC6AE829-A764-4F59-803F-0D4C995CDF12}" type="pres">
      <dgm:prSet presAssocID="{E2EBA58F-B92C-4A61-8D50-F48246B04D2C}" presName="hierRoot1" presStyleCnt="0"/>
      <dgm:spPr/>
    </dgm:pt>
    <dgm:pt modelId="{AFB0C3E6-B3FA-4581-BC94-5615988EA313}" type="pres">
      <dgm:prSet presAssocID="{E2EBA58F-B92C-4A61-8D50-F48246B04D2C}" presName="composite" presStyleCnt="0"/>
      <dgm:spPr/>
    </dgm:pt>
    <dgm:pt modelId="{EE5EB0BF-0C83-4601-8DEC-E7E29EFA1631}" type="pres">
      <dgm:prSet presAssocID="{E2EBA58F-B92C-4A61-8D50-F48246B04D2C}" presName="background" presStyleLbl="node0" presStyleIdx="0" presStyleCnt="1"/>
      <dgm:spPr/>
    </dgm:pt>
    <dgm:pt modelId="{7854AE86-6BBE-4C24-8A55-BE8E0396B292}" type="pres">
      <dgm:prSet presAssocID="{E2EBA58F-B92C-4A61-8D50-F48246B04D2C}" presName="text" presStyleLbl="fgAcc0" presStyleIdx="0" presStyleCnt="1" custScaleX="205457" custScaleY="127664">
        <dgm:presLayoutVars>
          <dgm:chPref val="3"/>
        </dgm:presLayoutVars>
      </dgm:prSet>
      <dgm:spPr/>
    </dgm:pt>
    <dgm:pt modelId="{77E310FC-7E01-4B82-B0B7-9223FAC41A69}" type="pres">
      <dgm:prSet presAssocID="{E2EBA58F-B92C-4A61-8D50-F48246B04D2C}" presName="hierChild2" presStyleCnt="0"/>
      <dgm:spPr/>
    </dgm:pt>
    <dgm:pt modelId="{73F23EBA-C349-48CC-8345-37CA90B3A471}" type="pres">
      <dgm:prSet presAssocID="{F768DD8F-15DE-4FEE-A878-826B4566999B}" presName="Name10" presStyleLbl="parChTrans1D2" presStyleIdx="0" presStyleCnt="2"/>
      <dgm:spPr/>
    </dgm:pt>
    <dgm:pt modelId="{C6351452-B134-457F-B251-4A1034D6A885}" type="pres">
      <dgm:prSet presAssocID="{DC4D2D6B-0699-4DC9-AF20-7F2C282631D9}" presName="hierRoot2" presStyleCnt="0"/>
      <dgm:spPr/>
    </dgm:pt>
    <dgm:pt modelId="{94272D07-F973-4984-8983-E478DBEE4442}" type="pres">
      <dgm:prSet presAssocID="{DC4D2D6B-0699-4DC9-AF20-7F2C282631D9}" presName="composite2" presStyleCnt="0"/>
      <dgm:spPr/>
    </dgm:pt>
    <dgm:pt modelId="{892F2D49-A60E-431E-BCCA-4916CDD7B358}" type="pres">
      <dgm:prSet presAssocID="{DC4D2D6B-0699-4DC9-AF20-7F2C282631D9}" presName="background2" presStyleLbl="node2" presStyleIdx="0" presStyleCnt="2"/>
      <dgm:spPr/>
    </dgm:pt>
    <dgm:pt modelId="{9EB4076D-0FFF-4B08-9500-31262360EC48}" type="pres">
      <dgm:prSet presAssocID="{DC4D2D6B-0699-4DC9-AF20-7F2C282631D9}" presName="text2" presStyleLbl="fgAcc2" presStyleIdx="0" presStyleCnt="2" custScaleX="179956" custLinFactNeighborX="-59944">
        <dgm:presLayoutVars>
          <dgm:chPref val="3"/>
        </dgm:presLayoutVars>
      </dgm:prSet>
      <dgm:spPr/>
    </dgm:pt>
    <dgm:pt modelId="{C17FC658-3B9E-408D-8C5F-A66EA282E7C5}" type="pres">
      <dgm:prSet presAssocID="{DC4D2D6B-0699-4DC9-AF20-7F2C282631D9}" presName="hierChild3" presStyleCnt="0"/>
      <dgm:spPr/>
    </dgm:pt>
    <dgm:pt modelId="{C1734A9C-09E3-4573-ADA0-D0413E2C81A0}" type="pres">
      <dgm:prSet presAssocID="{DBED2BDA-0484-4BB3-A115-BE8DAFF5F58F}" presName="Name10" presStyleLbl="parChTrans1D2" presStyleIdx="1" presStyleCnt="2"/>
      <dgm:spPr/>
    </dgm:pt>
    <dgm:pt modelId="{13C4F69F-18C4-4FCE-89BF-C5E8770EFD64}" type="pres">
      <dgm:prSet presAssocID="{83CA6A8E-797D-483D-8697-087A878D6890}" presName="hierRoot2" presStyleCnt="0"/>
      <dgm:spPr/>
    </dgm:pt>
    <dgm:pt modelId="{300B41FE-93AB-49CB-9AA1-91A0EE409B47}" type="pres">
      <dgm:prSet presAssocID="{83CA6A8E-797D-483D-8697-087A878D6890}" presName="composite2" presStyleCnt="0"/>
      <dgm:spPr/>
    </dgm:pt>
    <dgm:pt modelId="{281B4646-C4EA-41C7-82D7-E6081C3E9C73}" type="pres">
      <dgm:prSet presAssocID="{83CA6A8E-797D-483D-8697-087A878D6890}" presName="background2" presStyleLbl="node2" presStyleIdx="1" presStyleCnt="2"/>
      <dgm:spPr/>
    </dgm:pt>
    <dgm:pt modelId="{3325FD72-BD32-4907-A9D3-7CDB70732A9E}" type="pres">
      <dgm:prSet presAssocID="{83CA6A8E-797D-483D-8697-087A878D6890}" presName="text2" presStyleLbl="fgAcc2" presStyleIdx="1" presStyleCnt="2" custScaleX="179956" custLinFactNeighborX="96356">
        <dgm:presLayoutVars>
          <dgm:chPref val="3"/>
        </dgm:presLayoutVars>
      </dgm:prSet>
      <dgm:spPr/>
    </dgm:pt>
    <dgm:pt modelId="{4BD230D0-A85F-48BC-82C9-919D6D272890}" type="pres">
      <dgm:prSet presAssocID="{83CA6A8E-797D-483D-8697-087A878D6890}" presName="hierChild3" presStyleCnt="0"/>
      <dgm:spPr/>
    </dgm:pt>
    <dgm:pt modelId="{A5BFAFD9-4B35-43CB-94D7-1EF9505FBA29}" type="pres">
      <dgm:prSet presAssocID="{1C07AAFA-3FCB-4402-BF86-1FB7846FB0B3}" presName="Name17" presStyleLbl="parChTrans1D3" presStyleIdx="0" presStyleCnt="2"/>
      <dgm:spPr/>
    </dgm:pt>
    <dgm:pt modelId="{6B61EFAE-BD5E-4094-B5F3-F4C7C22E9E13}" type="pres">
      <dgm:prSet presAssocID="{49D462DA-3EA4-4F93-9041-97E7D921F196}" presName="hierRoot3" presStyleCnt="0"/>
      <dgm:spPr/>
    </dgm:pt>
    <dgm:pt modelId="{1B822D1C-1DCA-4135-BB77-96A24A52A7BD}" type="pres">
      <dgm:prSet presAssocID="{49D462DA-3EA4-4F93-9041-97E7D921F196}" presName="composite3" presStyleCnt="0"/>
      <dgm:spPr/>
    </dgm:pt>
    <dgm:pt modelId="{86BE53EE-8E46-415B-9D46-D1AA03A74B11}" type="pres">
      <dgm:prSet presAssocID="{49D462DA-3EA4-4F93-9041-97E7D921F196}" presName="background3" presStyleLbl="node3" presStyleIdx="0" presStyleCnt="2"/>
      <dgm:spPr/>
    </dgm:pt>
    <dgm:pt modelId="{3B11A78A-C849-49BA-B77E-4F860A71FCAB}" type="pres">
      <dgm:prSet presAssocID="{49D462DA-3EA4-4F93-9041-97E7D921F196}" presName="text3" presStyleLbl="fgAcc3" presStyleIdx="0" presStyleCnt="2" custScaleX="205774" custScaleY="153113" custLinFactNeighborX="79891">
        <dgm:presLayoutVars>
          <dgm:chPref val="3"/>
        </dgm:presLayoutVars>
      </dgm:prSet>
      <dgm:spPr/>
    </dgm:pt>
    <dgm:pt modelId="{17127A11-90BE-4353-8438-C8B9527E58DE}" type="pres">
      <dgm:prSet presAssocID="{49D462DA-3EA4-4F93-9041-97E7D921F196}" presName="hierChild4" presStyleCnt="0"/>
      <dgm:spPr/>
    </dgm:pt>
    <dgm:pt modelId="{351335FB-C1B8-45AF-8729-43ADAA0D9DC8}" type="pres">
      <dgm:prSet presAssocID="{F0936C15-57A2-4B8A-92AC-FB80BCFB6D0B}" presName="Name17" presStyleLbl="parChTrans1D3" presStyleIdx="1" presStyleCnt="2"/>
      <dgm:spPr/>
    </dgm:pt>
    <dgm:pt modelId="{FB8863C3-C620-4B24-859D-A6D68A26DA10}" type="pres">
      <dgm:prSet presAssocID="{F80EFBC7-6FAD-4A57-BE99-7203004DC146}" presName="hierRoot3" presStyleCnt="0"/>
      <dgm:spPr/>
    </dgm:pt>
    <dgm:pt modelId="{C7F86254-DDCA-43AB-8727-D720E3DA54D1}" type="pres">
      <dgm:prSet presAssocID="{F80EFBC7-6FAD-4A57-BE99-7203004DC146}" presName="composite3" presStyleCnt="0"/>
      <dgm:spPr/>
    </dgm:pt>
    <dgm:pt modelId="{024D86EC-EF4F-4165-9723-CBDFC945A5F1}" type="pres">
      <dgm:prSet presAssocID="{F80EFBC7-6FAD-4A57-BE99-7203004DC146}" presName="background3" presStyleLbl="node3" presStyleIdx="1" presStyleCnt="2"/>
      <dgm:spPr/>
    </dgm:pt>
    <dgm:pt modelId="{98C95F12-1755-4BBC-BC82-8D6927396F5F}" type="pres">
      <dgm:prSet presAssocID="{F80EFBC7-6FAD-4A57-BE99-7203004DC146}" presName="text3" presStyleLbl="fgAcc3" presStyleIdx="1" presStyleCnt="2" custScaleX="205774" custScaleY="153113" custLinFactNeighborX="79891">
        <dgm:presLayoutVars>
          <dgm:chPref val="3"/>
        </dgm:presLayoutVars>
      </dgm:prSet>
      <dgm:spPr/>
    </dgm:pt>
    <dgm:pt modelId="{A6F8BC9F-4EC4-45AC-96D7-C378D31F3433}" type="pres">
      <dgm:prSet presAssocID="{F80EFBC7-6FAD-4A57-BE99-7203004DC146}" presName="hierChild4" presStyleCnt="0"/>
      <dgm:spPr/>
    </dgm:pt>
  </dgm:ptLst>
  <dgm:cxnLst>
    <dgm:cxn modelId="{9B091F2D-3EF1-440F-B52A-9086FAA0E20E}" type="presOf" srcId="{F768DD8F-15DE-4FEE-A878-826B4566999B}" destId="{73F23EBA-C349-48CC-8345-37CA90B3A471}" srcOrd="0" destOrd="0" presId="urn:microsoft.com/office/officeart/2005/8/layout/hierarchy1"/>
    <dgm:cxn modelId="{1E4C403E-B322-4A12-9463-1721E10F4BD7}" type="presOf" srcId="{5ABE6282-1A09-4334-8573-288758E0DEC6}" destId="{12BD254C-93D2-4374-BEEE-DB0F70A94A0F}" srcOrd="0" destOrd="0" presId="urn:microsoft.com/office/officeart/2005/8/layout/hierarchy1"/>
    <dgm:cxn modelId="{3849BD68-15F4-4BF3-9C81-D50BE3A48DC2}" srcId="{E2EBA58F-B92C-4A61-8D50-F48246B04D2C}" destId="{83CA6A8E-797D-483D-8697-087A878D6890}" srcOrd="1" destOrd="0" parTransId="{DBED2BDA-0484-4BB3-A115-BE8DAFF5F58F}" sibTransId="{3867E038-0CC5-4159-8D8E-735A9924DB8D}"/>
    <dgm:cxn modelId="{DE4DAD6D-08D3-4DEE-9211-28ABC8DED5D9}" srcId="{E2EBA58F-B92C-4A61-8D50-F48246B04D2C}" destId="{DC4D2D6B-0699-4DC9-AF20-7F2C282631D9}" srcOrd="0" destOrd="0" parTransId="{F768DD8F-15DE-4FEE-A878-826B4566999B}" sibTransId="{14D712C8-4689-487C-A86E-89238DD44209}"/>
    <dgm:cxn modelId="{C60AC779-25B1-4073-AC5A-B2C79B19118A}" type="presOf" srcId="{83CA6A8E-797D-483D-8697-087A878D6890}" destId="{3325FD72-BD32-4907-A9D3-7CDB70732A9E}" srcOrd="0" destOrd="0" presId="urn:microsoft.com/office/officeart/2005/8/layout/hierarchy1"/>
    <dgm:cxn modelId="{8633A380-62BE-485F-9ECD-5D2F3AF528FF}" type="presOf" srcId="{1C07AAFA-3FCB-4402-BF86-1FB7846FB0B3}" destId="{A5BFAFD9-4B35-43CB-94D7-1EF9505FBA29}" srcOrd="0" destOrd="0" presId="urn:microsoft.com/office/officeart/2005/8/layout/hierarchy1"/>
    <dgm:cxn modelId="{9A1D3A95-BBA4-40F2-AAFF-8501CB433825}" type="presOf" srcId="{DBED2BDA-0484-4BB3-A115-BE8DAFF5F58F}" destId="{C1734A9C-09E3-4573-ADA0-D0413E2C81A0}" srcOrd="0" destOrd="0" presId="urn:microsoft.com/office/officeart/2005/8/layout/hierarchy1"/>
    <dgm:cxn modelId="{DBFEBBC4-EDE4-48D5-A90A-67FED57C0106}" srcId="{83CA6A8E-797D-483D-8697-087A878D6890}" destId="{F80EFBC7-6FAD-4A57-BE99-7203004DC146}" srcOrd="1" destOrd="0" parTransId="{F0936C15-57A2-4B8A-92AC-FB80BCFB6D0B}" sibTransId="{689C1ADD-E1DD-4FA8-BCC8-DCF2124491B1}"/>
    <dgm:cxn modelId="{393092C8-BAAC-42B4-A327-680D22778156}" srcId="{83CA6A8E-797D-483D-8697-087A878D6890}" destId="{49D462DA-3EA4-4F93-9041-97E7D921F196}" srcOrd="0" destOrd="0" parTransId="{1C07AAFA-3FCB-4402-BF86-1FB7846FB0B3}" sibTransId="{57B0E6D3-1721-45AE-8438-B0B6691D59B9}"/>
    <dgm:cxn modelId="{90C192D6-0F92-4FE5-B37F-B7F85EAEE176}" type="presOf" srcId="{49D462DA-3EA4-4F93-9041-97E7D921F196}" destId="{3B11A78A-C849-49BA-B77E-4F860A71FCAB}" srcOrd="0" destOrd="0" presId="urn:microsoft.com/office/officeart/2005/8/layout/hierarchy1"/>
    <dgm:cxn modelId="{251BAEE4-838F-4543-8227-4E9AB81E3B0E}" type="presOf" srcId="{E2EBA58F-B92C-4A61-8D50-F48246B04D2C}" destId="{7854AE86-6BBE-4C24-8A55-BE8E0396B292}" srcOrd="0" destOrd="0" presId="urn:microsoft.com/office/officeart/2005/8/layout/hierarchy1"/>
    <dgm:cxn modelId="{9BE554EA-D2AA-4900-BCB4-8475542EB77F}" type="presOf" srcId="{DC4D2D6B-0699-4DC9-AF20-7F2C282631D9}" destId="{9EB4076D-0FFF-4B08-9500-31262360EC48}" srcOrd="0" destOrd="0" presId="urn:microsoft.com/office/officeart/2005/8/layout/hierarchy1"/>
    <dgm:cxn modelId="{0AFB61EB-7AC6-4F03-BFA1-3828913C3375}" srcId="{5ABE6282-1A09-4334-8573-288758E0DEC6}" destId="{E2EBA58F-B92C-4A61-8D50-F48246B04D2C}" srcOrd="0" destOrd="0" parTransId="{44B523A5-FBDC-4469-AC50-D206E51F8E90}" sibTransId="{10604731-E1AF-4C51-B790-47601A4AC1E9}"/>
    <dgm:cxn modelId="{3A6818EC-1A93-455E-B737-F6EDB45B37F1}" type="presOf" srcId="{F0936C15-57A2-4B8A-92AC-FB80BCFB6D0B}" destId="{351335FB-C1B8-45AF-8729-43ADAA0D9DC8}" srcOrd="0" destOrd="0" presId="urn:microsoft.com/office/officeart/2005/8/layout/hierarchy1"/>
    <dgm:cxn modelId="{9CD767F7-35EC-4979-AB0A-6CAD88CC4D59}" type="presOf" srcId="{F80EFBC7-6FAD-4A57-BE99-7203004DC146}" destId="{98C95F12-1755-4BBC-BC82-8D6927396F5F}" srcOrd="0" destOrd="0" presId="urn:microsoft.com/office/officeart/2005/8/layout/hierarchy1"/>
    <dgm:cxn modelId="{F30671F5-1A4F-4979-8BE1-A7EDB462C63A}" type="presParOf" srcId="{12BD254C-93D2-4374-BEEE-DB0F70A94A0F}" destId="{DC6AE829-A764-4F59-803F-0D4C995CDF12}" srcOrd="0" destOrd="0" presId="urn:microsoft.com/office/officeart/2005/8/layout/hierarchy1"/>
    <dgm:cxn modelId="{2EE231F0-D098-42BC-8AB5-424E67A2696B}" type="presParOf" srcId="{DC6AE829-A764-4F59-803F-0D4C995CDF12}" destId="{AFB0C3E6-B3FA-4581-BC94-5615988EA313}" srcOrd="0" destOrd="0" presId="urn:microsoft.com/office/officeart/2005/8/layout/hierarchy1"/>
    <dgm:cxn modelId="{0F1B79C6-D0DC-4A59-9294-38847D55B573}" type="presParOf" srcId="{AFB0C3E6-B3FA-4581-BC94-5615988EA313}" destId="{EE5EB0BF-0C83-4601-8DEC-E7E29EFA1631}" srcOrd="0" destOrd="0" presId="urn:microsoft.com/office/officeart/2005/8/layout/hierarchy1"/>
    <dgm:cxn modelId="{68EF4B08-1874-4761-A68A-882AC81A64C8}" type="presParOf" srcId="{AFB0C3E6-B3FA-4581-BC94-5615988EA313}" destId="{7854AE86-6BBE-4C24-8A55-BE8E0396B292}" srcOrd="1" destOrd="0" presId="urn:microsoft.com/office/officeart/2005/8/layout/hierarchy1"/>
    <dgm:cxn modelId="{9DB35F04-CC77-4A90-B453-6E04A7498140}" type="presParOf" srcId="{DC6AE829-A764-4F59-803F-0D4C995CDF12}" destId="{77E310FC-7E01-4B82-B0B7-9223FAC41A69}" srcOrd="1" destOrd="0" presId="urn:microsoft.com/office/officeart/2005/8/layout/hierarchy1"/>
    <dgm:cxn modelId="{911F6934-954C-4A57-BA1C-FE66FA35567F}" type="presParOf" srcId="{77E310FC-7E01-4B82-B0B7-9223FAC41A69}" destId="{73F23EBA-C349-48CC-8345-37CA90B3A471}" srcOrd="0" destOrd="0" presId="urn:microsoft.com/office/officeart/2005/8/layout/hierarchy1"/>
    <dgm:cxn modelId="{0191422C-F249-4E7C-9B81-EB33983B438A}" type="presParOf" srcId="{77E310FC-7E01-4B82-B0B7-9223FAC41A69}" destId="{C6351452-B134-457F-B251-4A1034D6A885}" srcOrd="1" destOrd="0" presId="urn:microsoft.com/office/officeart/2005/8/layout/hierarchy1"/>
    <dgm:cxn modelId="{1D4078F7-873E-4555-8D79-1F7C912CD14F}" type="presParOf" srcId="{C6351452-B134-457F-B251-4A1034D6A885}" destId="{94272D07-F973-4984-8983-E478DBEE4442}" srcOrd="0" destOrd="0" presId="urn:microsoft.com/office/officeart/2005/8/layout/hierarchy1"/>
    <dgm:cxn modelId="{94A587DB-61D0-47C6-B61B-6EF58258D082}" type="presParOf" srcId="{94272D07-F973-4984-8983-E478DBEE4442}" destId="{892F2D49-A60E-431E-BCCA-4916CDD7B358}" srcOrd="0" destOrd="0" presId="urn:microsoft.com/office/officeart/2005/8/layout/hierarchy1"/>
    <dgm:cxn modelId="{E4A4CFAB-6133-4A4B-B329-FECB37015AD2}" type="presParOf" srcId="{94272D07-F973-4984-8983-E478DBEE4442}" destId="{9EB4076D-0FFF-4B08-9500-31262360EC48}" srcOrd="1" destOrd="0" presId="urn:microsoft.com/office/officeart/2005/8/layout/hierarchy1"/>
    <dgm:cxn modelId="{29C2C80B-296B-4334-962F-87B162EF039A}" type="presParOf" srcId="{C6351452-B134-457F-B251-4A1034D6A885}" destId="{C17FC658-3B9E-408D-8C5F-A66EA282E7C5}" srcOrd="1" destOrd="0" presId="urn:microsoft.com/office/officeart/2005/8/layout/hierarchy1"/>
    <dgm:cxn modelId="{BA3F96D1-5530-4EA8-9232-FC5346BC9F51}" type="presParOf" srcId="{77E310FC-7E01-4B82-B0B7-9223FAC41A69}" destId="{C1734A9C-09E3-4573-ADA0-D0413E2C81A0}" srcOrd="2" destOrd="0" presId="urn:microsoft.com/office/officeart/2005/8/layout/hierarchy1"/>
    <dgm:cxn modelId="{2D5982B0-13DC-49CA-BAB8-4CE6B581E132}" type="presParOf" srcId="{77E310FC-7E01-4B82-B0B7-9223FAC41A69}" destId="{13C4F69F-18C4-4FCE-89BF-C5E8770EFD64}" srcOrd="3" destOrd="0" presId="urn:microsoft.com/office/officeart/2005/8/layout/hierarchy1"/>
    <dgm:cxn modelId="{ADBF60F3-9DEC-497E-9E8A-83DEC5F5C188}" type="presParOf" srcId="{13C4F69F-18C4-4FCE-89BF-C5E8770EFD64}" destId="{300B41FE-93AB-49CB-9AA1-91A0EE409B47}" srcOrd="0" destOrd="0" presId="urn:microsoft.com/office/officeart/2005/8/layout/hierarchy1"/>
    <dgm:cxn modelId="{C8FE2F6C-FE61-4F0B-B636-D3E024F8A17C}" type="presParOf" srcId="{300B41FE-93AB-49CB-9AA1-91A0EE409B47}" destId="{281B4646-C4EA-41C7-82D7-E6081C3E9C73}" srcOrd="0" destOrd="0" presId="urn:microsoft.com/office/officeart/2005/8/layout/hierarchy1"/>
    <dgm:cxn modelId="{F76152F6-9455-4589-A763-8408F4F1CA74}" type="presParOf" srcId="{300B41FE-93AB-49CB-9AA1-91A0EE409B47}" destId="{3325FD72-BD32-4907-A9D3-7CDB70732A9E}" srcOrd="1" destOrd="0" presId="urn:microsoft.com/office/officeart/2005/8/layout/hierarchy1"/>
    <dgm:cxn modelId="{8EF14D71-73FC-4584-87F5-8DBB94FD1D85}" type="presParOf" srcId="{13C4F69F-18C4-4FCE-89BF-C5E8770EFD64}" destId="{4BD230D0-A85F-48BC-82C9-919D6D272890}" srcOrd="1" destOrd="0" presId="urn:microsoft.com/office/officeart/2005/8/layout/hierarchy1"/>
    <dgm:cxn modelId="{A77B78ED-5DDA-4000-A05E-CC0AC7AC3DC3}" type="presParOf" srcId="{4BD230D0-A85F-48BC-82C9-919D6D272890}" destId="{A5BFAFD9-4B35-43CB-94D7-1EF9505FBA29}" srcOrd="0" destOrd="0" presId="urn:microsoft.com/office/officeart/2005/8/layout/hierarchy1"/>
    <dgm:cxn modelId="{DB9A2579-0E91-4AA7-9A25-422152672B64}" type="presParOf" srcId="{4BD230D0-A85F-48BC-82C9-919D6D272890}" destId="{6B61EFAE-BD5E-4094-B5F3-F4C7C22E9E13}" srcOrd="1" destOrd="0" presId="urn:microsoft.com/office/officeart/2005/8/layout/hierarchy1"/>
    <dgm:cxn modelId="{DBF2086D-7DF8-4751-9A5D-4F42664FA653}" type="presParOf" srcId="{6B61EFAE-BD5E-4094-B5F3-F4C7C22E9E13}" destId="{1B822D1C-1DCA-4135-BB77-96A24A52A7BD}" srcOrd="0" destOrd="0" presId="urn:microsoft.com/office/officeart/2005/8/layout/hierarchy1"/>
    <dgm:cxn modelId="{E84BEEE9-EC40-4C5D-950A-9B3BBB870FA0}" type="presParOf" srcId="{1B822D1C-1DCA-4135-BB77-96A24A52A7BD}" destId="{86BE53EE-8E46-415B-9D46-D1AA03A74B11}" srcOrd="0" destOrd="0" presId="urn:microsoft.com/office/officeart/2005/8/layout/hierarchy1"/>
    <dgm:cxn modelId="{8942C046-F8A6-40C7-964A-CCD6B7E55458}" type="presParOf" srcId="{1B822D1C-1DCA-4135-BB77-96A24A52A7BD}" destId="{3B11A78A-C849-49BA-B77E-4F860A71FCAB}" srcOrd="1" destOrd="0" presId="urn:microsoft.com/office/officeart/2005/8/layout/hierarchy1"/>
    <dgm:cxn modelId="{11751D72-8343-459D-9487-62C8EF5823BE}" type="presParOf" srcId="{6B61EFAE-BD5E-4094-B5F3-F4C7C22E9E13}" destId="{17127A11-90BE-4353-8438-C8B9527E58DE}" srcOrd="1" destOrd="0" presId="urn:microsoft.com/office/officeart/2005/8/layout/hierarchy1"/>
    <dgm:cxn modelId="{46631CCF-E146-4EFB-8056-B542C1F658A4}" type="presParOf" srcId="{4BD230D0-A85F-48BC-82C9-919D6D272890}" destId="{351335FB-C1B8-45AF-8729-43ADAA0D9DC8}" srcOrd="2" destOrd="0" presId="urn:microsoft.com/office/officeart/2005/8/layout/hierarchy1"/>
    <dgm:cxn modelId="{1EBDFD30-420D-49C9-80F4-AED4ECB86FA3}" type="presParOf" srcId="{4BD230D0-A85F-48BC-82C9-919D6D272890}" destId="{FB8863C3-C620-4B24-859D-A6D68A26DA10}" srcOrd="3" destOrd="0" presId="urn:microsoft.com/office/officeart/2005/8/layout/hierarchy1"/>
    <dgm:cxn modelId="{3543B92F-94F9-4FED-966F-B4D50B8D6D9C}" type="presParOf" srcId="{FB8863C3-C620-4B24-859D-A6D68A26DA10}" destId="{C7F86254-DDCA-43AB-8727-D720E3DA54D1}" srcOrd="0" destOrd="0" presId="urn:microsoft.com/office/officeart/2005/8/layout/hierarchy1"/>
    <dgm:cxn modelId="{EC210357-A591-488D-B2A0-5DD5CDDAEDF1}" type="presParOf" srcId="{C7F86254-DDCA-43AB-8727-D720E3DA54D1}" destId="{024D86EC-EF4F-4165-9723-CBDFC945A5F1}" srcOrd="0" destOrd="0" presId="urn:microsoft.com/office/officeart/2005/8/layout/hierarchy1"/>
    <dgm:cxn modelId="{9182B474-2AED-42C1-A3D8-021A65AA0482}" type="presParOf" srcId="{C7F86254-DDCA-43AB-8727-D720E3DA54D1}" destId="{98C95F12-1755-4BBC-BC82-8D6927396F5F}" srcOrd="1" destOrd="0" presId="urn:microsoft.com/office/officeart/2005/8/layout/hierarchy1"/>
    <dgm:cxn modelId="{C834CC93-69D6-4EFF-8DE9-226768E1FDBC}" type="presParOf" srcId="{FB8863C3-C620-4B24-859D-A6D68A26DA10}" destId="{A6F8BC9F-4EC4-45AC-96D7-C378D31F3433}"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AC341D9-FBB9-4C06-B23F-71F5E03DEB65}" type="doc">
      <dgm:prSet loTypeId="urn:microsoft.com/office/officeart/2005/8/layout/list1" loCatId="list" qsTypeId="urn:microsoft.com/office/officeart/2005/8/quickstyle/simple1#4" qsCatId="simple" csTypeId="urn:microsoft.com/office/officeart/2005/8/colors/accent1_2#5" csCatId="accent1" phldr="1"/>
      <dgm:spPr/>
      <dgm:t>
        <a:bodyPr/>
        <a:lstStyle/>
        <a:p>
          <a:endParaRPr lang="en-GB"/>
        </a:p>
      </dgm:t>
    </dgm:pt>
    <dgm:pt modelId="{6D82749E-2BE2-4C0E-8C08-9A6C9BCAB3BA}">
      <dgm:prSet phldrT="[Text]"/>
      <dgm:spPr/>
      <dgm:t>
        <a:bodyPr/>
        <a:lstStyle/>
        <a:p>
          <a:r>
            <a:rPr lang="en-GB" dirty="0"/>
            <a:t>A Risk Free Rate in $</a:t>
          </a:r>
        </a:p>
      </dgm:t>
    </dgm:pt>
    <dgm:pt modelId="{DF9679E4-52E2-4788-A36B-DE6A97230329}" type="parTrans" cxnId="{CFE77D1B-DC81-4666-9604-583DCF22794A}">
      <dgm:prSet/>
      <dgm:spPr/>
      <dgm:t>
        <a:bodyPr/>
        <a:lstStyle/>
        <a:p>
          <a:endParaRPr lang="en-GB"/>
        </a:p>
      </dgm:t>
    </dgm:pt>
    <dgm:pt modelId="{66B78FFC-8A91-40E0-BD80-17D522935965}" type="sibTrans" cxnId="{CFE77D1B-DC81-4666-9604-583DCF22794A}">
      <dgm:prSet/>
      <dgm:spPr/>
      <dgm:t>
        <a:bodyPr/>
        <a:lstStyle/>
        <a:p>
          <a:endParaRPr lang="en-GB"/>
        </a:p>
      </dgm:t>
    </dgm:pt>
    <dgm:pt modelId="{A5CED847-3F9F-4113-98ED-1E5DD22FFB0E}">
      <dgm:prSet phldrT="[Text]"/>
      <dgm:spPr/>
      <dgm:t>
        <a:bodyPr/>
        <a:lstStyle/>
        <a:p>
          <a:r>
            <a:rPr lang="en-GB" dirty="0"/>
            <a:t>A Risk Free Rate in </a:t>
          </a:r>
          <a:r>
            <a:rPr lang="en-GB" dirty="0">
              <a:latin typeface="Times New Roman"/>
              <a:cs typeface="Times New Roman"/>
            </a:rPr>
            <a:t>€</a:t>
          </a:r>
          <a:endParaRPr lang="en-GB" dirty="0"/>
        </a:p>
      </dgm:t>
    </dgm:pt>
    <dgm:pt modelId="{F8578BB3-3109-4BD7-85E9-FEC087D39487}" type="parTrans" cxnId="{D9B1F1EB-0388-4854-B45A-C302404D15B8}">
      <dgm:prSet/>
      <dgm:spPr/>
      <dgm:t>
        <a:bodyPr/>
        <a:lstStyle/>
        <a:p>
          <a:endParaRPr lang="en-GB"/>
        </a:p>
      </dgm:t>
    </dgm:pt>
    <dgm:pt modelId="{E407015E-4F42-4950-9912-EC06BBAE10F1}" type="sibTrans" cxnId="{D9B1F1EB-0388-4854-B45A-C302404D15B8}">
      <dgm:prSet/>
      <dgm:spPr/>
      <dgm:t>
        <a:bodyPr/>
        <a:lstStyle/>
        <a:p>
          <a:endParaRPr lang="en-GB"/>
        </a:p>
      </dgm:t>
    </dgm:pt>
    <dgm:pt modelId="{EF9A20D7-BAC8-4293-9DBF-A71B1CC882BD}">
      <dgm:prSet phldrT="[Text]"/>
      <dgm:spPr/>
      <dgm:t>
        <a:bodyPr/>
        <a:lstStyle/>
        <a:p>
          <a:r>
            <a:rPr lang="en-GB" dirty="0"/>
            <a:t>A Risk Free Rate in Local Currency for a Local Company</a:t>
          </a:r>
        </a:p>
      </dgm:t>
    </dgm:pt>
    <dgm:pt modelId="{9A35F76E-46F7-4C44-8FBC-E1F6F3D5E8FD}" type="parTrans" cxnId="{4AD02198-9A28-43D9-994B-68F754CF3D44}">
      <dgm:prSet/>
      <dgm:spPr/>
      <dgm:t>
        <a:bodyPr/>
        <a:lstStyle/>
        <a:p>
          <a:endParaRPr lang="en-GB"/>
        </a:p>
      </dgm:t>
    </dgm:pt>
    <dgm:pt modelId="{E065CF9E-2355-4CB9-9A32-1BE019D04B9F}" type="sibTrans" cxnId="{4AD02198-9A28-43D9-994B-68F754CF3D44}">
      <dgm:prSet/>
      <dgm:spPr/>
      <dgm:t>
        <a:bodyPr/>
        <a:lstStyle/>
        <a:p>
          <a:endParaRPr lang="en-GB"/>
        </a:p>
      </dgm:t>
    </dgm:pt>
    <dgm:pt modelId="{6654E28F-60E3-41D2-80F6-4C3AF3EE50BB}">
      <dgm:prSet phldrT="[Text]"/>
      <dgm:spPr/>
      <dgm:t>
        <a:bodyPr/>
        <a:lstStyle/>
        <a:p>
          <a:r>
            <a:rPr lang="en-GB" dirty="0"/>
            <a:t>A Risk Free Rate in Local Currency for an International Company</a:t>
          </a:r>
        </a:p>
      </dgm:t>
    </dgm:pt>
    <dgm:pt modelId="{71DF6D56-21AE-4A6B-933F-CF2461CF5682}" type="parTrans" cxnId="{CB51D747-9412-40E2-815D-B3FAD31DF8BC}">
      <dgm:prSet/>
      <dgm:spPr/>
      <dgm:t>
        <a:bodyPr/>
        <a:lstStyle/>
        <a:p>
          <a:endParaRPr lang="en-GB"/>
        </a:p>
      </dgm:t>
    </dgm:pt>
    <dgm:pt modelId="{37C29C0B-88AC-4447-B8CF-0B5B93429478}" type="sibTrans" cxnId="{CB51D747-9412-40E2-815D-B3FAD31DF8BC}">
      <dgm:prSet/>
      <dgm:spPr/>
      <dgm:t>
        <a:bodyPr/>
        <a:lstStyle/>
        <a:p>
          <a:endParaRPr lang="en-GB"/>
        </a:p>
      </dgm:t>
    </dgm:pt>
    <dgm:pt modelId="{451F502A-279C-46AD-9F65-7D0875A49DBD}">
      <dgm:prSet phldrT="[Text]"/>
      <dgm:spPr/>
      <dgm:t>
        <a:bodyPr/>
        <a:lstStyle/>
        <a:p>
          <a:r>
            <a:rPr lang="en-GB" dirty="0"/>
            <a:t>Suitable for American Companies with CF in $</a:t>
          </a:r>
        </a:p>
      </dgm:t>
    </dgm:pt>
    <dgm:pt modelId="{42B2FB46-6E5A-432A-B765-F829BB3465FE}" type="parTrans" cxnId="{6A2629FE-3F5A-48DC-B331-9AA1A7F5E7E5}">
      <dgm:prSet/>
      <dgm:spPr/>
      <dgm:t>
        <a:bodyPr/>
        <a:lstStyle/>
        <a:p>
          <a:endParaRPr lang="en-GB"/>
        </a:p>
      </dgm:t>
    </dgm:pt>
    <dgm:pt modelId="{B737B11B-0733-4E21-80C3-B3B6D29C41D6}" type="sibTrans" cxnId="{6A2629FE-3F5A-48DC-B331-9AA1A7F5E7E5}">
      <dgm:prSet/>
      <dgm:spPr/>
      <dgm:t>
        <a:bodyPr/>
        <a:lstStyle/>
        <a:p>
          <a:endParaRPr lang="en-GB"/>
        </a:p>
      </dgm:t>
    </dgm:pt>
    <dgm:pt modelId="{2C2399B7-49DE-4C53-8540-CEEE2E18A5C5}">
      <dgm:prSet phldrT="[Text]"/>
      <dgm:spPr/>
      <dgm:t>
        <a:bodyPr/>
        <a:lstStyle/>
        <a:p>
          <a:r>
            <a:rPr lang="en-GB" dirty="0"/>
            <a:t>Suitable for European Companies with CF in </a:t>
          </a:r>
          <a:r>
            <a:rPr lang="en-GB" dirty="0">
              <a:latin typeface="Times New Roman"/>
              <a:cs typeface="Times New Roman"/>
            </a:rPr>
            <a:t>€</a:t>
          </a:r>
          <a:endParaRPr lang="en-GB" dirty="0"/>
        </a:p>
      </dgm:t>
    </dgm:pt>
    <dgm:pt modelId="{5CDF13B0-F159-4619-9169-A957FFCDEC06}" type="parTrans" cxnId="{697695F4-0FA9-49FA-A3AE-3D8ADFAB6232}">
      <dgm:prSet/>
      <dgm:spPr/>
      <dgm:t>
        <a:bodyPr/>
        <a:lstStyle/>
        <a:p>
          <a:endParaRPr lang="en-GB"/>
        </a:p>
      </dgm:t>
    </dgm:pt>
    <dgm:pt modelId="{E7BAB6C7-A616-4C4E-99CD-025B459E3542}" type="sibTrans" cxnId="{697695F4-0FA9-49FA-A3AE-3D8ADFAB6232}">
      <dgm:prSet/>
      <dgm:spPr/>
      <dgm:t>
        <a:bodyPr/>
        <a:lstStyle/>
        <a:p>
          <a:endParaRPr lang="en-GB"/>
        </a:p>
      </dgm:t>
    </dgm:pt>
    <dgm:pt modelId="{EE7413F3-7562-4F16-BAFD-A5A924B3E82D}">
      <dgm:prSet phldrT="[Text]"/>
      <dgm:spPr/>
      <dgm:t>
        <a:bodyPr/>
        <a:lstStyle/>
        <a:p>
          <a:r>
            <a:rPr lang="en-GB" dirty="0"/>
            <a:t>Suitable when no risk free entities can be found</a:t>
          </a:r>
        </a:p>
      </dgm:t>
    </dgm:pt>
    <dgm:pt modelId="{3EE55ED2-6B81-46EF-BF5C-F8D2AFEB0C77}" type="parTrans" cxnId="{027DDDAB-3977-475C-BFAF-F9F1EE3F94EF}">
      <dgm:prSet/>
      <dgm:spPr/>
      <dgm:t>
        <a:bodyPr/>
        <a:lstStyle/>
        <a:p>
          <a:endParaRPr lang="en-GB"/>
        </a:p>
      </dgm:t>
    </dgm:pt>
    <dgm:pt modelId="{ECD66D44-D03A-46DA-B9C8-95C99E0F41E1}" type="sibTrans" cxnId="{027DDDAB-3977-475C-BFAF-F9F1EE3F94EF}">
      <dgm:prSet/>
      <dgm:spPr/>
      <dgm:t>
        <a:bodyPr/>
        <a:lstStyle/>
        <a:p>
          <a:endParaRPr lang="en-GB"/>
        </a:p>
      </dgm:t>
    </dgm:pt>
    <dgm:pt modelId="{795B6A7F-4E3C-4985-9008-A86C59E87EC4}">
      <dgm:prSet phldrT="[Text]"/>
      <dgm:spPr/>
      <dgm:t>
        <a:bodyPr/>
        <a:lstStyle/>
        <a:p>
          <a:r>
            <a:rPr lang="en-GB" dirty="0"/>
            <a:t>Suitable for companies in emerging markets that have international exposure. Cash Flows might be in $ or </a:t>
          </a:r>
          <a:r>
            <a:rPr lang="en-GB" dirty="0">
              <a:latin typeface="Times New Roman"/>
              <a:cs typeface="Times New Roman"/>
            </a:rPr>
            <a:t>€</a:t>
          </a:r>
          <a:endParaRPr lang="en-GB" dirty="0"/>
        </a:p>
      </dgm:t>
    </dgm:pt>
    <dgm:pt modelId="{7DC46C10-9A2A-4E1F-9B39-8B954C0D20F8}" type="parTrans" cxnId="{999AA745-C6BC-410A-8035-CCA48F03E1A1}">
      <dgm:prSet/>
      <dgm:spPr/>
      <dgm:t>
        <a:bodyPr/>
        <a:lstStyle/>
        <a:p>
          <a:endParaRPr lang="en-GB"/>
        </a:p>
      </dgm:t>
    </dgm:pt>
    <dgm:pt modelId="{6A28C62D-BDF6-4E52-9B21-9745768C8096}" type="sibTrans" cxnId="{999AA745-C6BC-410A-8035-CCA48F03E1A1}">
      <dgm:prSet/>
      <dgm:spPr/>
      <dgm:t>
        <a:bodyPr/>
        <a:lstStyle/>
        <a:p>
          <a:endParaRPr lang="en-GB"/>
        </a:p>
      </dgm:t>
    </dgm:pt>
    <dgm:pt modelId="{33594E89-A556-4714-8795-61D225B6676E}" type="pres">
      <dgm:prSet presAssocID="{EAC341D9-FBB9-4C06-B23F-71F5E03DEB65}" presName="linear" presStyleCnt="0">
        <dgm:presLayoutVars>
          <dgm:dir/>
          <dgm:animLvl val="lvl"/>
          <dgm:resizeHandles val="exact"/>
        </dgm:presLayoutVars>
      </dgm:prSet>
      <dgm:spPr/>
    </dgm:pt>
    <dgm:pt modelId="{95CDCC1B-3FE3-40D8-B3AB-96AB23AB6156}" type="pres">
      <dgm:prSet presAssocID="{6D82749E-2BE2-4C0E-8C08-9A6C9BCAB3BA}" presName="parentLin" presStyleCnt="0"/>
      <dgm:spPr/>
    </dgm:pt>
    <dgm:pt modelId="{6507914C-712B-45EA-B1E1-66DB82F265A2}" type="pres">
      <dgm:prSet presAssocID="{6D82749E-2BE2-4C0E-8C08-9A6C9BCAB3BA}" presName="parentLeftMargin" presStyleLbl="node1" presStyleIdx="0" presStyleCnt="4"/>
      <dgm:spPr/>
    </dgm:pt>
    <dgm:pt modelId="{2DD21828-4D1D-4A96-BAB9-2E8988C2D4D1}" type="pres">
      <dgm:prSet presAssocID="{6D82749E-2BE2-4C0E-8C08-9A6C9BCAB3BA}" presName="parentText" presStyleLbl="node1" presStyleIdx="0" presStyleCnt="4">
        <dgm:presLayoutVars>
          <dgm:chMax val="0"/>
          <dgm:bulletEnabled val="1"/>
        </dgm:presLayoutVars>
      </dgm:prSet>
      <dgm:spPr/>
    </dgm:pt>
    <dgm:pt modelId="{59173B17-A5E2-4D0A-816E-8E85A5F68370}" type="pres">
      <dgm:prSet presAssocID="{6D82749E-2BE2-4C0E-8C08-9A6C9BCAB3BA}" presName="negativeSpace" presStyleCnt="0"/>
      <dgm:spPr/>
    </dgm:pt>
    <dgm:pt modelId="{D68E0F5B-8C97-4424-8508-C48E8849EEAC}" type="pres">
      <dgm:prSet presAssocID="{6D82749E-2BE2-4C0E-8C08-9A6C9BCAB3BA}" presName="childText" presStyleLbl="conFgAcc1" presStyleIdx="0" presStyleCnt="4">
        <dgm:presLayoutVars>
          <dgm:bulletEnabled val="1"/>
        </dgm:presLayoutVars>
      </dgm:prSet>
      <dgm:spPr/>
    </dgm:pt>
    <dgm:pt modelId="{BBEAEC55-7968-45C8-9E87-8082506863DD}" type="pres">
      <dgm:prSet presAssocID="{66B78FFC-8A91-40E0-BD80-17D522935965}" presName="spaceBetweenRectangles" presStyleCnt="0"/>
      <dgm:spPr/>
    </dgm:pt>
    <dgm:pt modelId="{98A369FB-B95D-429A-B42B-349B1360B9C5}" type="pres">
      <dgm:prSet presAssocID="{A5CED847-3F9F-4113-98ED-1E5DD22FFB0E}" presName="parentLin" presStyleCnt="0"/>
      <dgm:spPr/>
    </dgm:pt>
    <dgm:pt modelId="{BF06270A-2B8C-439A-B2BD-36F0FCF0C577}" type="pres">
      <dgm:prSet presAssocID="{A5CED847-3F9F-4113-98ED-1E5DD22FFB0E}" presName="parentLeftMargin" presStyleLbl="node1" presStyleIdx="0" presStyleCnt="4"/>
      <dgm:spPr/>
    </dgm:pt>
    <dgm:pt modelId="{1E49D3AD-0961-4FA5-B291-E4374562303E}" type="pres">
      <dgm:prSet presAssocID="{A5CED847-3F9F-4113-98ED-1E5DD22FFB0E}" presName="parentText" presStyleLbl="node1" presStyleIdx="1" presStyleCnt="4">
        <dgm:presLayoutVars>
          <dgm:chMax val="0"/>
          <dgm:bulletEnabled val="1"/>
        </dgm:presLayoutVars>
      </dgm:prSet>
      <dgm:spPr/>
    </dgm:pt>
    <dgm:pt modelId="{6DF33F01-4480-4551-B48A-CC0288312C62}" type="pres">
      <dgm:prSet presAssocID="{A5CED847-3F9F-4113-98ED-1E5DD22FFB0E}" presName="negativeSpace" presStyleCnt="0"/>
      <dgm:spPr/>
    </dgm:pt>
    <dgm:pt modelId="{1A62D2C6-75FF-47DF-A921-566645CC59A0}" type="pres">
      <dgm:prSet presAssocID="{A5CED847-3F9F-4113-98ED-1E5DD22FFB0E}" presName="childText" presStyleLbl="conFgAcc1" presStyleIdx="1" presStyleCnt="4">
        <dgm:presLayoutVars>
          <dgm:bulletEnabled val="1"/>
        </dgm:presLayoutVars>
      </dgm:prSet>
      <dgm:spPr/>
    </dgm:pt>
    <dgm:pt modelId="{CDB2B20E-F5DC-4880-BB8C-8D877BCBCB4F}" type="pres">
      <dgm:prSet presAssocID="{E407015E-4F42-4950-9912-EC06BBAE10F1}" presName="spaceBetweenRectangles" presStyleCnt="0"/>
      <dgm:spPr/>
    </dgm:pt>
    <dgm:pt modelId="{692E7D8C-80C3-40C6-95AF-50EECE0BF395}" type="pres">
      <dgm:prSet presAssocID="{EF9A20D7-BAC8-4293-9DBF-A71B1CC882BD}" presName="parentLin" presStyleCnt="0"/>
      <dgm:spPr/>
    </dgm:pt>
    <dgm:pt modelId="{0E4920D5-A8DE-484D-9DAC-BA9E636A4FBE}" type="pres">
      <dgm:prSet presAssocID="{EF9A20D7-BAC8-4293-9DBF-A71B1CC882BD}" presName="parentLeftMargin" presStyleLbl="node1" presStyleIdx="1" presStyleCnt="4"/>
      <dgm:spPr/>
    </dgm:pt>
    <dgm:pt modelId="{95EAB765-303F-4516-9AF4-3649DB912638}" type="pres">
      <dgm:prSet presAssocID="{EF9A20D7-BAC8-4293-9DBF-A71B1CC882BD}" presName="parentText" presStyleLbl="node1" presStyleIdx="2" presStyleCnt="4">
        <dgm:presLayoutVars>
          <dgm:chMax val="0"/>
          <dgm:bulletEnabled val="1"/>
        </dgm:presLayoutVars>
      </dgm:prSet>
      <dgm:spPr/>
    </dgm:pt>
    <dgm:pt modelId="{21915ADD-D1A9-4BD9-8472-48CFABC49DD3}" type="pres">
      <dgm:prSet presAssocID="{EF9A20D7-BAC8-4293-9DBF-A71B1CC882BD}" presName="negativeSpace" presStyleCnt="0"/>
      <dgm:spPr/>
    </dgm:pt>
    <dgm:pt modelId="{35476150-C0E1-4D5A-B3D0-B9BC7A0A01A8}" type="pres">
      <dgm:prSet presAssocID="{EF9A20D7-BAC8-4293-9DBF-A71B1CC882BD}" presName="childText" presStyleLbl="conFgAcc1" presStyleIdx="2" presStyleCnt="4">
        <dgm:presLayoutVars>
          <dgm:bulletEnabled val="1"/>
        </dgm:presLayoutVars>
      </dgm:prSet>
      <dgm:spPr/>
    </dgm:pt>
    <dgm:pt modelId="{F99BB98C-D712-480A-BED7-608C4E5C6786}" type="pres">
      <dgm:prSet presAssocID="{E065CF9E-2355-4CB9-9A32-1BE019D04B9F}" presName="spaceBetweenRectangles" presStyleCnt="0"/>
      <dgm:spPr/>
    </dgm:pt>
    <dgm:pt modelId="{4C99B331-4D79-480D-99A1-6FC95D6889F9}" type="pres">
      <dgm:prSet presAssocID="{6654E28F-60E3-41D2-80F6-4C3AF3EE50BB}" presName="parentLin" presStyleCnt="0"/>
      <dgm:spPr/>
    </dgm:pt>
    <dgm:pt modelId="{7D915D6D-362E-4A70-8EF8-FD615CAE3DDF}" type="pres">
      <dgm:prSet presAssocID="{6654E28F-60E3-41D2-80F6-4C3AF3EE50BB}" presName="parentLeftMargin" presStyleLbl="node1" presStyleIdx="2" presStyleCnt="4"/>
      <dgm:spPr/>
    </dgm:pt>
    <dgm:pt modelId="{0FE58E89-C5F3-4641-A80D-4FA46403298C}" type="pres">
      <dgm:prSet presAssocID="{6654E28F-60E3-41D2-80F6-4C3AF3EE50BB}" presName="parentText" presStyleLbl="node1" presStyleIdx="3" presStyleCnt="4">
        <dgm:presLayoutVars>
          <dgm:chMax val="0"/>
          <dgm:bulletEnabled val="1"/>
        </dgm:presLayoutVars>
      </dgm:prSet>
      <dgm:spPr/>
    </dgm:pt>
    <dgm:pt modelId="{B822D42A-D839-4DA4-B92E-C3F1D62B5837}" type="pres">
      <dgm:prSet presAssocID="{6654E28F-60E3-41D2-80F6-4C3AF3EE50BB}" presName="negativeSpace" presStyleCnt="0"/>
      <dgm:spPr/>
    </dgm:pt>
    <dgm:pt modelId="{00320BF7-AB90-4096-8DF3-FAD1779AF818}" type="pres">
      <dgm:prSet presAssocID="{6654E28F-60E3-41D2-80F6-4C3AF3EE50BB}" presName="childText" presStyleLbl="conFgAcc1" presStyleIdx="3" presStyleCnt="4">
        <dgm:presLayoutVars>
          <dgm:bulletEnabled val="1"/>
        </dgm:presLayoutVars>
      </dgm:prSet>
      <dgm:spPr/>
    </dgm:pt>
  </dgm:ptLst>
  <dgm:cxnLst>
    <dgm:cxn modelId="{5A1A9618-5203-437A-8CA9-8AD91B5EFAAF}" type="presOf" srcId="{EE7413F3-7562-4F16-BAFD-A5A924B3E82D}" destId="{35476150-C0E1-4D5A-B3D0-B9BC7A0A01A8}" srcOrd="0" destOrd="0" presId="urn:microsoft.com/office/officeart/2005/8/layout/list1"/>
    <dgm:cxn modelId="{CFE77D1B-DC81-4666-9604-583DCF22794A}" srcId="{EAC341D9-FBB9-4C06-B23F-71F5E03DEB65}" destId="{6D82749E-2BE2-4C0E-8C08-9A6C9BCAB3BA}" srcOrd="0" destOrd="0" parTransId="{DF9679E4-52E2-4788-A36B-DE6A97230329}" sibTransId="{66B78FFC-8A91-40E0-BD80-17D522935965}"/>
    <dgm:cxn modelId="{CB68A921-2218-4F17-B81B-ECEFF99B5756}" type="presOf" srcId="{EF9A20D7-BAC8-4293-9DBF-A71B1CC882BD}" destId="{95EAB765-303F-4516-9AF4-3649DB912638}" srcOrd="1" destOrd="0" presId="urn:microsoft.com/office/officeart/2005/8/layout/list1"/>
    <dgm:cxn modelId="{A8B4882C-D3A0-4262-87C7-20D7C3A62BF6}" type="presOf" srcId="{A5CED847-3F9F-4113-98ED-1E5DD22FFB0E}" destId="{BF06270A-2B8C-439A-B2BD-36F0FCF0C577}" srcOrd="0" destOrd="0" presId="urn:microsoft.com/office/officeart/2005/8/layout/list1"/>
    <dgm:cxn modelId="{2FFD545E-F0FF-4524-B232-5E415CDF39F7}" type="presOf" srcId="{6D82749E-2BE2-4C0E-8C08-9A6C9BCAB3BA}" destId="{2DD21828-4D1D-4A96-BAB9-2E8988C2D4D1}" srcOrd="1" destOrd="0" presId="urn:microsoft.com/office/officeart/2005/8/layout/list1"/>
    <dgm:cxn modelId="{B5C52642-ED5C-4B85-8230-84E5FDA4385F}" type="presOf" srcId="{2C2399B7-49DE-4C53-8540-CEEE2E18A5C5}" destId="{1A62D2C6-75FF-47DF-A921-566645CC59A0}" srcOrd="0" destOrd="0" presId="urn:microsoft.com/office/officeart/2005/8/layout/list1"/>
    <dgm:cxn modelId="{999AA745-C6BC-410A-8035-CCA48F03E1A1}" srcId="{6654E28F-60E3-41D2-80F6-4C3AF3EE50BB}" destId="{795B6A7F-4E3C-4985-9008-A86C59E87EC4}" srcOrd="0" destOrd="0" parTransId="{7DC46C10-9A2A-4E1F-9B39-8B954C0D20F8}" sibTransId="{6A28C62D-BDF6-4E52-9B21-9745768C8096}"/>
    <dgm:cxn modelId="{CB51D747-9412-40E2-815D-B3FAD31DF8BC}" srcId="{EAC341D9-FBB9-4C06-B23F-71F5E03DEB65}" destId="{6654E28F-60E3-41D2-80F6-4C3AF3EE50BB}" srcOrd="3" destOrd="0" parTransId="{71DF6D56-21AE-4A6B-933F-CF2461CF5682}" sibTransId="{37C29C0B-88AC-4447-B8CF-0B5B93429478}"/>
    <dgm:cxn modelId="{EF824774-CD82-498D-9CAE-40AD9A7772DA}" type="presOf" srcId="{6654E28F-60E3-41D2-80F6-4C3AF3EE50BB}" destId="{0FE58E89-C5F3-4641-A80D-4FA46403298C}" srcOrd="1" destOrd="0" presId="urn:microsoft.com/office/officeart/2005/8/layout/list1"/>
    <dgm:cxn modelId="{E56E847C-222F-48FF-BF42-D9C6CC014655}" type="presOf" srcId="{6654E28F-60E3-41D2-80F6-4C3AF3EE50BB}" destId="{7D915D6D-362E-4A70-8EF8-FD615CAE3DDF}" srcOrd="0" destOrd="0" presId="urn:microsoft.com/office/officeart/2005/8/layout/list1"/>
    <dgm:cxn modelId="{C5E24991-ADA8-4630-83A9-689278E8E4FA}" type="presOf" srcId="{795B6A7F-4E3C-4985-9008-A86C59E87EC4}" destId="{00320BF7-AB90-4096-8DF3-FAD1779AF818}" srcOrd="0" destOrd="0" presId="urn:microsoft.com/office/officeart/2005/8/layout/list1"/>
    <dgm:cxn modelId="{4AD02198-9A28-43D9-994B-68F754CF3D44}" srcId="{EAC341D9-FBB9-4C06-B23F-71F5E03DEB65}" destId="{EF9A20D7-BAC8-4293-9DBF-A71B1CC882BD}" srcOrd="2" destOrd="0" parTransId="{9A35F76E-46F7-4C44-8FBC-E1F6F3D5E8FD}" sibTransId="{E065CF9E-2355-4CB9-9A32-1BE019D04B9F}"/>
    <dgm:cxn modelId="{027DDDAB-3977-475C-BFAF-F9F1EE3F94EF}" srcId="{EF9A20D7-BAC8-4293-9DBF-A71B1CC882BD}" destId="{EE7413F3-7562-4F16-BAFD-A5A924B3E82D}" srcOrd="0" destOrd="0" parTransId="{3EE55ED2-6B81-46EF-BF5C-F8D2AFEB0C77}" sibTransId="{ECD66D44-D03A-46DA-B9C8-95C99E0F41E1}"/>
    <dgm:cxn modelId="{56EAFDB8-C4D8-476A-9ACA-D93881F1D9C4}" type="presOf" srcId="{A5CED847-3F9F-4113-98ED-1E5DD22FFB0E}" destId="{1E49D3AD-0961-4FA5-B291-E4374562303E}" srcOrd="1" destOrd="0" presId="urn:microsoft.com/office/officeart/2005/8/layout/list1"/>
    <dgm:cxn modelId="{BF9AADBE-E967-49A0-9D8A-85424AAE7D81}" type="presOf" srcId="{451F502A-279C-46AD-9F65-7D0875A49DBD}" destId="{D68E0F5B-8C97-4424-8508-C48E8849EEAC}" srcOrd="0" destOrd="0" presId="urn:microsoft.com/office/officeart/2005/8/layout/list1"/>
    <dgm:cxn modelId="{A5FF84C9-CCC0-4C7A-9F00-9839C06F917C}" type="presOf" srcId="{6D82749E-2BE2-4C0E-8C08-9A6C9BCAB3BA}" destId="{6507914C-712B-45EA-B1E1-66DB82F265A2}" srcOrd="0" destOrd="0" presId="urn:microsoft.com/office/officeart/2005/8/layout/list1"/>
    <dgm:cxn modelId="{66DC24DF-F67B-4A6F-94DE-2DC0F9CBB28B}" type="presOf" srcId="{EF9A20D7-BAC8-4293-9DBF-A71B1CC882BD}" destId="{0E4920D5-A8DE-484D-9DAC-BA9E636A4FBE}" srcOrd="0" destOrd="0" presId="urn:microsoft.com/office/officeart/2005/8/layout/list1"/>
    <dgm:cxn modelId="{934C51E0-D0EF-4526-92F7-253B5CC46F41}" type="presOf" srcId="{EAC341D9-FBB9-4C06-B23F-71F5E03DEB65}" destId="{33594E89-A556-4714-8795-61D225B6676E}" srcOrd="0" destOrd="0" presId="urn:microsoft.com/office/officeart/2005/8/layout/list1"/>
    <dgm:cxn modelId="{D9B1F1EB-0388-4854-B45A-C302404D15B8}" srcId="{EAC341D9-FBB9-4C06-B23F-71F5E03DEB65}" destId="{A5CED847-3F9F-4113-98ED-1E5DD22FFB0E}" srcOrd="1" destOrd="0" parTransId="{F8578BB3-3109-4BD7-85E9-FEC087D39487}" sibTransId="{E407015E-4F42-4950-9912-EC06BBAE10F1}"/>
    <dgm:cxn modelId="{697695F4-0FA9-49FA-A3AE-3D8ADFAB6232}" srcId="{A5CED847-3F9F-4113-98ED-1E5DD22FFB0E}" destId="{2C2399B7-49DE-4C53-8540-CEEE2E18A5C5}" srcOrd="0" destOrd="0" parTransId="{5CDF13B0-F159-4619-9169-A957FFCDEC06}" sibTransId="{E7BAB6C7-A616-4C4E-99CD-025B459E3542}"/>
    <dgm:cxn modelId="{6A2629FE-3F5A-48DC-B331-9AA1A7F5E7E5}" srcId="{6D82749E-2BE2-4C0E-8C08-9A6C9BCAB3BA}" destId="{451F502A-279C-46AD-9F65-7D0875A49DBD}" srcOrd="0" destOrd="0" parTransId="{42B2FB46-6E5A-432A-B765-F829BB3465FE}" sibTransId="{B737B11B-0733-4E21-80C3-B3B6D29C41D6}"/>
    <dgm:cxn modelId="{C2A8F334-9392-4F82-BC93-FBB9F2763ECB}" type="presParOf" srcId="{33594E89-A556-4714-8795-61D225B6676E}" destId="{95CDCC1B-3FE3-40D8-B3AB-96AB23AB6156}" srcOrd="0" destOrd="0" presId="urn:microsoft.com/office/officeart/2005/8/layout/list1"/>
    <dgm:cxn modelId="{6D26A758-80DA-4F30-98E3-624D6F7A0EB9}" type="presParOf" srcId="{95CDCC1B-3FE3-40D8-B3AB-96AB23AB6156}" destId="{6507914C-712B-45EA-B1E1-66DB82F265A2}" srcOrd="0" destOrd="0" presId="urn:microsoft.com/office/officeart/2005/8/layout/list1"/>
    <dgm:cxn modelId="{B7097665-B41C-45D9-8DC6-37F580CFCD9A}" type="presParOf" srcId="{95CDCC1B-3FE3-40D8-B3AB-96AB23AB6156}" destId="{2DD21828-4D1D-4A96-BAB9-2E8988C2D4D1}" srcOrd="1" destOrd="0" presId="urn:microsoft.com/office/officeart/2005/8/layout/list1"/>
    <dgm:cxn modelId="{C84F6A8C-E848-4588-8506-B1CE57E2761D}" type="presParOf" srcId="{33594E89-A556-4714-8795-61D225B6676E}" destId="{59173B17-A5E2-4D0A-816E-8E85A5F68370}" srcOrd="1" destOrd="0" presId="urn:microsoft.com/office/officeart/2005/8/layout/list1"/>
    <dgm:cxn modelId="{08590001-9769-470E-95B4-6F690F5328D1}" type="presParOf" srcId="{33594E89-A556-4714-8795-61D225B6676E}" destId="{D68E0F5B-8C97-4424-8508-C48E8849EEAC}" srcOrd="2" destOrd="0" presId="urn:microsoft.com/office/officeart/2005/8/layout/list1"/>
    <dgm:cxn modelId="{E0928B9E-ADE0-4083-95A3-1F4840B10DC8}" type="presParOf" srcId="{33594E89-A556-4714-8795-61D225B6676E}" destId="{BBEAEC55-7968-45C8-9E87-8082506863DD}" srcOrd="3" destOrd="0" presId="urn:microsoft.com/office/officeart/2005/8/layout/list1"/>
    <dgm:cxn modelId="{EE5F4202-7DC2-41AE-AEFD-3376C7C7FC52}" type="presParOf" srcId="{33594E89-A556-4714-8795-61D225B6676E}" destId="{98A369FB-B95D-429A-B42B-349B1360B9C5}" srcOrd="4" destOrd="0" presId="urn:microsoft.com/office/officeart/2005/8/layout/list1"/>
    <dgm:cxn modelId="{07602CDF-7669-4E8C-8731-34B24F0F767A}" type="presParOf" srcId="{98A369FB-B95D-429A-B42B-349B1360B9C5}" destId="{BF06270A-2B8C-439A-B2BD-36F0FCF0C577}" srcOrd="0" destOrd="0" presId="urn:microsoft.com/office/officeart/2005/8/layout/list1"/>
    <dgm:cxn modelId="{D0142CD9-6271-4F9C-A170-22349C5FC4FC}" type="presParOf" srcId="{98A369FB-B95D-429A-B42B-349B1360B9C5}" destId="{1E49D3AD-0961-4FA5-B291-E4374562303E}" srcOrd="1" destOrd="0" presId="urn:microsoft.com/office/officeart/2005/8/layout/list1"/>
    <dgm:cxn modelId="{896A96E5-4DDC-4D10-A307-BBFB3E269D00}" type="presParOf" srcId="{33594E89-A556-4714-8795-61D225B6676E}" destId="{6DF33F01-4480-4551-B48A-CC0288312C62}" srcOrd="5" destOrd="0" presId="urn:microsoft.com/office/officeart/2005/8/layout/list1"/>
    <dgm:cxn modelId="{E5A27538-F76E-4E22-96D9-7D8A3EA49208}" type="presParOf" srcId="{33594E89-A556-4714-8795-61D225B6676E}" destId="{1A62D2C6-75FF-47DF-A921-566645CC59A0}" srcOrd="6" destOrd="0" presId="urn:microsoft.com/office/officeart/2005/8/layout/list1"/>
    <dgm:cxn modelId="{89ECC832-1758-409F-93C0-793E926E0544}" type="presParOf" srcId="{33594E89-A556-4714-8795-61D225B6676E}" destId="{CDB2B20E-F5DC-4880-BB8C-8D877BCBCB4F}" srcOrd="7" destOrd="0" presId="urn:microsoft.com/office/officeart/2005/8/layout/list1"/>
    <dgm:cxn modelId="{C49E1FF1-F144-4BFF-BE03-AEA8D4BBD0A1}" type="presParOf" srcId="{33594E89-A556-4714-8795-61D225B6676E}" destId="{692E7D8C-80C3-40C6-95AF-50EECE0BF395}" srcOrd="8" destOrd="0" presId="urn:microsoft.com/office/officeart/2005/8/layout/list1"/>
    <dgm:cxn modelId="{147AB571-63A0-4042-AE3B-637511FC444B}" type="presParOf" srcId="{692E7D8C-80C3-40C6-95AF-50EECE0BF395}" destId="{0E4920D5-A8DE-484D-9DAC-BA9E636A4FBE}" srcOrd="0" destOrd="0" presId="urn:microsoft.com/office/officeart/2005/8/layout/list1"/>
    <dgm:cxn modelId="{75980AF6-76E9-4B85-B148-3A98B8DE7AA3}" type="presParOf" srcId="{692E7D8C-80C3-40C6-95AF-50EECE0BF395}" destId="{95EAB765-303F-4516-9AF4-3649DB912638}" srcOrd="1" destOrd="0" presId="urn:microsoft.com/office/officeart/2005/8/layout/list1"/>
    <dgm:cxn modelId="{3483C5E5-7E14-4DCB-8916-01242D707AB5}" type="presParOf" srcId="{33594E89-A556-4714-8795-61D225B6676E}" destId="{21915ADD-D1A9-4BD9-8472-48CFABC49DD3}" srcOrd="9" destOrd="0" presId="urn:microsoft.com/office/officeart/2005/8/layout/list1"/>
    <dgm:cxn modelId="{D945536A-2CA5-434D-B026-07F6A6727C79}" type="presParOf" srcId="{33594E89-A556-4714-8795-61D225B6676E}" destId="{35476150-C0E1-4D5A-B3D0-B9BC7A0A01A8}" srcOrd="10" destOrd="0" presId="urn:microsoft.com/office/officeart/2005/8/layout/list1"/>
    <dgm:cxn modelId="{53094368-0BDB-45EF-9439-117ED2802234}" type="presParOf" srcId="{33594E89-A556-4714-8795-61D225B6676E}" destId="{F99BB98C-D712-480A-BED7-608C4E5C6786}" srcOrd="11" destOrd="0" presId="urn:microsoft.com/office/officeart/2005/8/layout/list1"/>
    <dgm:cxn modelId="{399E9ED3-AAD3-4191-B93E-738C557F7359}" type="presParOf" srcId="{33594E89-A556-4714-8795-61D225B6676E}" destId="{4C99B331-4D79-480D-99A1-6FC95D6889F9}" srcOrd="12" destOrd="0" presId="urn:microsoft.com/office/officeart/2005/8/layout/list1"/>
    <dgm:cxn modelId="{27385CB5-A8EB-4679-8D46-C5CB0BD9BC87}" type="presParOf" srcId="{4C99B331-4D79-480D-99A1-6FC95D6889F9}" destId="{7D915D6D-362E-4A70-8EF8-FD615CAE3DDF}" srcOrd="0" destOrd="0" presId="urn:microsoft.com/office/officeart/2005/8/layout/list1"/>
    <dgm:cxn modelId="{AB249A4C-9C00-483C-A433-E78AA0C3EF7E}" type="presParOf" srcId="{4C99B331-4D79-480D-99A1-6FC95D6889F9}" destId="{0FE58E89-C5F3-4641-A80D-4FA46403298C}" srcOrd="1" destOrd="0" presId="urn:microsoft.com/office/officeart/2005/8/layout/list1"/>
    <dgm:cxn modelId="{C4B1F372-7262-489F-B5AF-5B2B5B8F6098}" type="presParOf" srcId="{33594E89-A556-4714-8795-61D225B6676E}" destId="{B822D42A-D839-4DA4-B92E-C3F1D62B5837}" srcOrd="13" destOrd="0" presId="urn:microsoft.com/office/officeart/2005/8/layout/list1"/>
    <dgm:cxn modelId="{79AA674D-356D-45D2-8425-92C015E87195}" type="presParOf" srcId="{33594E89-A556-4714-8795-61D225B6676E}" destId="{00320BF7-AB90-4096-8DF3-FAD1779AF818}"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5E34B635-0B0F-456B-BBFB-52FF5A564C41}" type="doc">
      <dgm:prSet loTypeId="urn:microsoft.com/office/officeart/2008/layout/HorizontalMultiLevelHierarchy" loCatId="hierarchy" qsTypeId="urn:microsoft.com/office/officeart/2005/8/quickstyle/simple1#5" qsCatId="simple" csTypeId="urn:microsoft.com/office/officeart/2005/8/colors/colorful1#4" csCatId="colorful" phldr="1"/>
      <dgm:spPr/>
      <dgm:t>
        <a:bodyPr/>
        <a:lstStyle/>
        <a:p>
          <a:endParaRPr lang="en-US"/>
        </a:p>
      </dgm:t>
    </dgm:pt>
    <dgm:pt modelId="{34358C3E-249D-4755-8821-508024642932}">
      <dgm:prSet custT="1"/>
      <dgm:spPr/>
      <dgm:t>
        <a:bodyPr vert="vert"/>
        <a:lstStyle/>
        <a:p>
          <a:pPr rtl="0"/>
          <a:r>
            <a:rPr lang="en-GB" sz="2400" dirty="0"/>
            <a:t>The </a:t>
          </a:r>
        </a:p>
        <a:p>
          <a:pPr rtl="0"/>
          <a:r>
            <a:rPr lang="en-GB" sz="2400" b="1" u="sng" dirty="0">
              <a:solidFill>
                <a:schemeClr val="tx1"/>
              </a:solidFill>
            </a:rPr>
            <a:t>premium</a:t>
          </a:r>
          <a:r>
            <a:rPr lang="en-GB" sz="2400" dirty="0"/>
            <a:t> investors require from the </a:t>
          </a:r>
        </a:p>
        <a:p>
          <a:pPr rtl="0"/>
          <a:r>
            <a:rPr lang="en-GB" sz="2400" b="1" u="sng" dirty="0">
              <a:solidFill>
                <a:schemeClr val="tx1"/>
              </a:solidFill>
            </a:rPr>
            <a:t>market</a:t>
          </a:r>
          <a:r>
            <a:rPr lang="en-GB" sz="2400" dirty="0"/>
            <a:t> </a:t>
          </a:r>
        </a:p>
        <a:p>
          <a:pPr rtl="0"/>
          <a:r>
            <a:rPr lang="en-GB" sz="2400" dirty="0"/>
            <a:t>(as a whole) </a:t>
          </a:r>
        </a:p>
        <a:p>
          <a:pPr rtl="0"/>
          <a:r>
            <a:rPr lang="en-GB" sz="2400" b="1" u="sng" dirty="0">
              <a:solidFill>
                <a:schemeClr val="tx1"/>
              </a:solidFill>
            </a:rPr>
            <a:t>for average riskiness </a:t>
          </a:r>
        </a:p>
        <a:p>
          <a:pPr rtl="0"/>
          <a:r>
            <a:rPr lang="en-GB" sz="2400" dirty="0"/>
            <a:t>(over the risk free rate)</a:t>
          </a:r>
          <a:endParaRPr lang="en-US" sz="2400" dirty="0"/>
        </a:p>
      </dgm:t>
    </dgm:pt>
    <dgm:pt modelId="{547A8A06-2268-44CD-9B5B-E86614F22DBE}" type="parTrans" cxnId="{A7711509-890C-4E51-B7C3-9419C1FE5DD5}">
      <dgm:prSet/>
      <dgm:spPr/>
      <dgm:t>
        <a:bodyPr/>
        <a:lstStyle/>
        <a:p>
          <a:endParaRPr lang="en-US"/>
        </a:p>
      </dgm:t>
    </dgm:pt>
    <dgm:pt modelId="{104CECA6-1041-4D82-A601-208576687959}" type="sibTrans" cxnId="{A7711509-890C-4E51-B7C3-9419C1FE5DD5}">
      <dgm:prSet/>
      <dgm:spPr/>
      <dgm:t>
        <a:bodyPr/>
        <a:lstStyle/>
        <a:p>
          <a:endParaRPr lang="en-US"/>
        </a:p>
      </dgm:t>
    </dgm:pt>
    <dgm:pt modelId="{F1328A67-9B99-4962-84F0-EDD54FA84197}">
      <dgm:prSet custT="1"/>
      <dgm:spPr/>
      <dgm:t>
        <a:bodyPr/>
        <a:lstStyle/>
        <a:p>
          <a:pPr rtl="0"/>
          <a:r>
            <a:rPr lang="en-GB" sz="2400" dirty="0"/>
            <a:t>A. Historical</a:t>
          </a:r>
        </a:p>
        <a:p>
          <a:pPr rtl="0"/>
          <a:r>
            <a:rPr lang="en-GB" sz="2400" dirty="0"/>
            <a:t>(</a:t>
          </a:r>
          <a:r>
            <a:rPr lang="en-GB" sz="2400" dirty="0">
              <a:solidFill>
                <a:srgbClr val="FFFF00"/>
              </a:solidFill>
            </a:rPr>
            <a:t>Backward</a:t>
          </a:r>
          <a:r>
            <a:rPr lang="en-GB" sz="2400" dirty="0"/>
            <a:t>)</a:t>
          </a:r>
          <a:endParaRPr lang="en-US" sz="2400" dirty="0"/>
        </a:p>
      </dgm:t>
    </dgm:pt>
    <dgm:pt modelId="{94F2D7DA-8422-4F82-8505-EF4D401E0305}" type="parTrans" cxnId="{0F977ABF-8389-416F-9F4E-0E774D67B37E}">
      <dgm:prSet/>
      <dgm:spPr/>
      <dgm:t>
        <a:bodyPr/>
        <a:lstStyle/>
        <a:p>
          <a:endParaRPr lang="en-US"/>
        </a:p>
      </dgm:t>
    </dgm:pt>
    <dgm:pt modelId="{6054C2DA-07FB-45F0-B25B-B5885D753E35}" type="sibTrans" cxnId="{0F977ABF-8389-416F-9F4E-0E774D67B37E}">
      <dgm:prSet/>
      <dgm:spPr/>
      <dgm:t>
        <a:bodyPr/>
        <a:lstStyle/>
        <a:p>
          <a:endParaRPr lang="en-US"/>
        </a:p>
      </dgm:t>
    </dgm:pt>
    <dgm:pt modelId="{EB5CC9C2-B174-4C54-9862-54E80E42DE02}">
      <dgm:prSet/>
      <dgm:spPr/>
      <dgm:t>
        <a:bodyPr/>
        <a:lstStyle/>
        <a:p>
          <a:pPr rtl="0"/>
          <a:r>
            <a:rPr lang="en-GB" dirty="0"/>
            <a:t>Compute the average difference between past (realized) market return and past risk free rates </a:t>
          </a:r>
          <a:endParaRPr lang="en-US" dirty="0"/>
        </a:p>
      </dgm:t>
    </dgm:pt>
    <dgm:pt modelId="{4FC877AA-9FBB-420D-B4FE-86B791896EC4}" type="parTrans" cxnId="{D977951C-D9A0-4D24-96D8-F06331A30140}">
      <dgm:prSet/>
      <dgm:spPr/>
      <dgm:t>
        <a:bodyPr/>
        <a:lstStyle/>
        <a:p>
          <a:endParaRPr lang="en-US"/>
        </a:p>
      </dgm:t>
    </dgm:pt>
    <dgm:pt modelId="{895B9D4E-AB72-4F3A-B9AC-2F1B05738CA5}" type="sibTrans" cxnId="{D977951C-D9A0-4D24-96D8-F06331A30140}">
      <dgm:prSet/>
      <dgm:spPr/>
      <dgm:t>
        <a:bodyPr/>
        <a:lstStyle/>
        <a:p>
          <a:endParaRPr lang="en-US"/>
        </a:p>
      </dgm:t>
    </dgm:pt>
    <dgm:pt modelId="{6BCBDDAB-31F0-4DC1-B8C2-4CE8A8E59AF5}">
      <dgm:prSet custT="1"/>
      <dgm:spPr/>
      <dgm:t>
        <a:bodyPr/>
        <a:lstStyle/>
        <a:p>
          <a:pPr rtl="0"/>
          <a:r>
            <a:rPr lang="en-GB" sz="2400" dirty="0"/>
            <a:t>B. </a:t>
          </a:r>
        </a:p>
        <a:p>
          <a:pPr rtl="0"/>
          <a:r>
            <a:rPr lang="en-GB" sz="2400" dirty="0"/>
            <a:t>Implied</a:t>
          </a:r>
        </a:p>
        <a:p>
          <a:pPr rtl="0"/>
          <a:r>
            <a:rPr lang="en-GB" sz="2400" dirty="0"/>
            <a:t>(</a:t>
          </a:r>
          <a:r>
            <a:rPr lang="en-GB" sz="2400" dirty="0">
              <a:solidFill>
                <a:srgbClr val="FFFF00"/>
              </a:solidFill>
            </a:rPr>
            <a:t>Forward</a:t>
          </a:r>
          <a:r>
            <a:rPr lang="en-GB" sz="2400" dirty="0"/>
            <a:t>)</a:t>
          </a:r>
          <a:endParaRPr lang="en-US" sz="2400" dirty="0"/>
        </a:p>
      </dgm:t>
    </dgm:pt>
    <dgm:pt modelId="{E2D9C964-090E-4B27-8CCF-CD27F8B125AA}" type="parTrans" cxnId="{EFA79C15-2527-4B1A-BE75-BD7CC942B072}">
      <dgm:prSet/>
      <dgm:spPr/>
      <dgm:t>
        <a:bodyPr/>
        <a:lstStyle/>
        <a:p>
          <a:endParaRPr lang="en-US"/>
        </a:p>
      </dgm:t>
    </dgm:pt>
    <dgm:pt modelId="{55BF137D-3B33-46DE-A223-5C74D576D437}" type="sibTrans" cxnId="{EFA79C15-2527-4B1A-BE75-BD7CC942B072}">
      <dgm:prSet/>
      <dgm:spPr/>
      <dgm:t>
        <a:bodyPr/>
        <a:lstStyle/>
        <a:p>
          <a:endParaRPr lang="en-US"/>
        </a:p>
      </dgm:t>
    </dgm:pt>
    <dgm:pt modelId="{CCDCE5B2-235C-4ED3-917F-479126A68C30}">
      <dgm:prSet/>
      <dgm:spPr/>
      <dgm:t>
        <a:bodyPr/>
        <a:lstStyle/>
        <a:p>
          <a:pPr rtl="0"/>
          <a:r>
            <a:rPr lang="en-GB" dirty="0"/>
            <a:t>Estimate the discount rate that makes the present value of an index cash flows equal to the index now</a:t>
          </a:r>
          <a:endParaRPr lang="en-US" dirty="0"/>
        </a:p>
      </dgm:t>
    </dgm:pt>
    <dgm:pt modelId="{2DF9E88F-74F9-46A5-8603-00117CE9B379}" type="parTrans" cxnId="{813F29CC-0906-4888-8D7D-BD5EF8C811F7}">
      <dgm:prSet/>
      <dgm:spPr/>
      <dgm:t>
        <a:bodyPr/>
        <a:lstStyle/>
        <a:p>
          <a:endParaRPr lang="en-US"/>
        </a:p>
      </dgm:t>
    </dgm:pt>
    <dgm:pt modelId="{668725E4-495D-430C-974C-E309F9DB513E}" type="sibTrans" cxnId="{813F29CC-0906-4888-8D7D-BD5EF8C811F7}">
      <dgm:prSet/>
      <dgm:spPr/>
      <dgm:t>
        <a:bodyPr/>
        <a:lstStyle/>
        <a:p>
          <a:endParaRPr lang="en-US"/>
        </a:p>
      </dgm:t>
    </dgm:pt>
    <dgm:pt modelId="{D0B67963-5BB0-4AD2-A69C-D1BB9E0AEF1D}">
      <dgm:prSet custT="1"/>
      <dgm:spPr/>
      <dgm:t>
        <a:bodyPr/>
        <a:lstStyle/>
        <a:p>
          <a:pPr rtl="0"/>
          <a:r>
            <a:rPr lang="en-GB" sz="2400" dirty="0"/>
            <a:t>C. </a:t>
          </a:r>
        </a:p>
        <a:p>
          <a:pPr rtl="0"/>
          <a:r>
            <a:rPr lang="en-GB" sz="2400" dirty="0"/>
            <a:t>Average Implied</a:t>
          </a:r>
        </a:p>
        <a:p>
          <a:pPr rtl="0"/>
          <a:r>
            <a:rPr lang="en-GB" sz="2400" dirty="0"/>
            <a:t>(</a:t>
          </a:r>
          <a:r>
            <a:rPr lang="en-GB" sz="2400" dirty="0">
              <a:solidFill>
                <a:srgbClr val="FFFF00"/>
              </a:solidFill>
            </a:rPr>
            <a:t>Both</a:t>
          </a:r>
          <a:r>
            <a:rPr lang="en-GB" sz="2400" dirty="0"/>
            <a:t>)</a:t>
          </a:r>
          <a:endParaRPr lang="en-US" sz="2400" dirty="0"/>
        </a:p>
      </dgm:t>
    </dgm:pt>
    <dgm:pt modelId="{FDC12647-0BDE-43CF-87B1-AD5EA669DC46}" type="parTrans" cxnId="{951B4284-CADE-4253-9047-6D7D52F15BBD}">
      <dgm:prSet/>
      <dgm:spPr/>
      <dgm:t>
        <a:bodyPr/>
        <a:lstStyle/>
        <a:p>
          <a:endParaRPr lang="en-US"/>
        </a:p>
      </dgm:t>
    </dgm:pt>
    <dgm:pt modelId="{F4C96037-0BB9-4D50-BA92-9D1B4E5038E2}" type="sibTrans" cxnId="{951B4284-CADE-4253-9047-6D7D52F15BBD}">
      <dgm:prSet/>
      <dgm:spPr/>
      <dgm:t>
        <a:bodyPr/>
        <a:lstStyle/>
        <a:p>
          <a:endParaRPr lang="en-US"/>
        </a:p>
      </dgm:t>
    </dgm:pt>
    <dgm:pt modelId="{3F9E6227-4F40-4D9E-88CB-4E53AE55BF0A}">
      <dgm:prSet/>
      <dgm:spPr/>
      <dgm:t>
        <a:bodyPr/>
        <a:lstStyle/>
        <a:p>
          <a:pPr rtl="0"/>
          <a:r>
            <a:rPr lang="en-GB" dirty="0"/>
            <a:t>Compute the average implied market risk premium over a period of time</a:t>
          </a:r>
          <a:endParaRPr lang="en-US" dirty="0"/>
        </a:p>
      </dgm:t>
    </dgm:pt>
    <dgm:pt modelId="{E71225B3-355A-4048-9B21-D6EE1FE2BE46}" type="parTrans" cxnId="{01ACED7E-33C8-4EC4-83FB-121A880339FE}">
      <dgm:prSet/>
      <dgm:spPr/>
      <dgm:t>
        <a:bodyPr/>
        <a:lstStyle/>
        <a:p>
          <a:endParaRPr lang="en-US"/>
        </a:p>
      </dgm:t>
    </dgm:pt>
    <dgm:pt modelId="{EF4C9D3E-4565-4401-BBD6-4384817396D1}" type="sibTrans" cxnId="{01ACED7E-33C8-4EC4-83FB-121A880339FE}">
      <dgm:prSet/>
      <dgm:spPr/>
      <dgm:t>
        <a:bodyPr/>
        <a:lstStyle/>
        <a:p>
          <a:endParaRPr lang="en-US"/>
        </a:p>
      </dgm:t>
    </dgm:pt>
    <dgm:pt modelId="{880CDDE6-479B-44A9-8410-2DD7DB67F59D}" type="pres">
      <dgm:prSet presAssocID="{5E34B635-0B0F-456B-BBFB-52FF5A564C41}" presName="Name0" presStyleCnt="0">
        <dgm:presLayoutVars>
          <dgm:chPref val="1"/>
          <dgm:dir/>
          <dgm:animOne val="branch"/>
          <dgm:animLvl val="lvl"/>
          <dgm:resizeHandles val="exact"/>
        </dgm:presLayoutVars>
      </dgm:prSet>
      <dgm:spPr/>
    </dgm:pt>
    <dgm:pt modelId="{5A15D59F-73B7-48D9-9C97-9A7D7F5DEB5A}" type="pres">
      <dgm:prSet presAssocID="{34358C3E-249D-4755-8821-508024642932}" presName="root1" presStyleCnt="0"/>
      <dgm:spPr/>
    </dgm:pt>
    <dgm:pt modelId="{E5A96139-00CD-40F8-B1AC-5B33F571731C}" type="pres">
      <dgm:prSet presAssocID="{34358C3E-249D-4755-8821-508024642932}" presName="LevelOneTextNode" presStyleLbl="node0" presStyleIdx="0" presStyleCnt="1" custScaleX="356885" custScaleY="136026" custLinFactX="-59941" custLinFactNeighborX="-100000">
        <dgm:presLayoutVars>
          <dgm:chPref val="3"/>
        </dgm:presLayoutVars>
      </dgm:prSet>
      <dgm:spPr/>
    </dgm:pt>
    <dgm:pt modelId="{80FE4A4D-9672-4EC9-838C-675446336A64}" type="pres">
      <dgm:prSet presAssocID="{34358C3E-249D-4755-8821-508024642932}" presName="level2hierChild" presStyleCnt="0"/>
      <dgm:spPr/>
    </dgm:pt>
    <dgm:pt modelId="{8B52D5E5-F6AB-4805-A3EC-3DFA4FEEFA98}" type="pres">
      <dgm:prSet presAssocID="{94F2D7DA-8422-4F82-8505-EF4D401E0305}" presName="conn2-1" presStyleLbl="parChTrans1D2" presStyleIdx="0" presStyleCnt="3"/>
      <dgm:spPr/>
    </dgm:pt>
    <dgm:pt modelId="{00C8C24E-9242-448A-B33A-322FB1AC8E4B}" type="pres">
      <dgm:prSet presAssocID="{94F2D7DA-8422-4F82-8505-EF4D401E0305}" presName="connTx" presStyleLbl="parChTrans1D2" presStyleIdx="0" presStyleCnt="3"/>
      <dgm:spPr/>
    </dgm:pt>
    <dgm:pt modelId="{94F677AA-944E-4F43-9BD8-340E5F49093B}" type="pres">
      <dgm:prSet presAssocID="{F1328A67-9B99-4962-84F0-EDD54FA84197}" presName="root2" presStyleCnt="0"/>
      <dgm:spPr/>
    </dgm:pt>
    <dgm:pt modelId="{50B6CC0D-4951-4D67-9B2E-D0D10AC227EA}" type="pres">
      <dgm:prSet presAssocID="{F1328A67-9B99-4962-84F0-EDD54FA84197}" presName="LevelTwoTextNode" presStyleLbl="node2" presStyleIdx="0" presStyleCnt="3" custScaleX="76096" custScaleY="240568" custLinFactNeighborX="2056">
        <dgm:presLayoutVars>
          <dgm:chPref val="3"/>
        </dgm:presLayoutVars>
      </dgm:prSet>
      <dgm:spPr/>
    </dgm:pt>
    <dgm:pt modelId="{05635AEB-FB12-4427-A7F2-28CF2F088702}" type="pres">
      <dgm:prSet presAssocID="{F1328A67-9B99-4962-84F0-EDD54FA84197}" presName="level3hierChild" presStyleCnt="0"/>
      <dgm:spPr/>
    </dgm:pt>
    <dgm:pt modelId="{14D73916-0E45-4FC8-8D0E-E33A5085B550}" type="pres">
      <dgm:prSet presAssocID="{4FC877AA-9FBB-420D-B4FE-86B791896EC4}" presName="conn2-1" presStyleLbl="parChTrans1D3" presStyleIdx="0" presStyleCnt="3"/>
      <dgm:spPr/>
    </dgm:pt>
    <dgm:pt modelId="{3F94542C-F39F-4798-8520-F0795B899BF5}" type="pres">
      <dgm:prSet presAssocID="{4FC877AA-9FBB-420D-B4FE-86B791896EC4}" presName="connTx" presStyleLbl="parChTrans1D3" presStyleIdx="0" presStyleCnt="3"/>
      <dgm:spPr/>
    </dgm:pt>
    <dgm:pt modelId="{A870F16C-BB2A-4B22-BE92-E842F3FA11B1}" type="pres">
      <dgm:prSet presAssocID="{EB5CC9C2-B174-4C54-9862-54E80E42DE02}" presName="root2" presStyleCnt="0"/>
      <dgm:spPr/>
    </dgm:pt>
    <dgm:pt modelId="{984D9DE8-076E-47B7-A816-E5F4D976E903}" type="pres">
      <dgm:prSet presAssocID="{EB5CC9C2-B174-4C54-9862-54E80E42DE02}" presName="LevelTwoTextNode" presStyleLbl="node3" presStyleIdx="0" presStyleCnt="3" custScaleX="167362" custScaleY="215332">
        <dgm:presLayoutVars>
          <dgm:chPref val="3"/>
        </dgm:presLayoutVars>
      </dgm:prSet>
      <dgm:spPr/>
    </dgm:pt>
    <dgm:pt modelId="{5BAE0518-3A3F-4DF5-A0D2-A23FB1B020E5}" type="pres">
      <dgm:prSet presAssocID="{EB5CC9C2-B174-4C54-9862-54E80E42DE02}" presName="level3hierChild" presStyleCnt="0"/>
      <dgm:spPr/>
    </dgm:pt>
    <dgm:pt modelId="{CA804FD4-5F1C-49F3-AEF7-F19AAE44C2BD}" type="pres">
      <dgm:prSet presAssocID="{E2D9C964-090E-4B27-8CCF-CD27F8B125AA}" presName="conn2-1" presStyleLbl="parChTrans1D2" presStyleIdx="1" presStyleCnt="3"/>
      <dgm:spPr/>
    </dgm:pt>
    <dgm:pt modelId="{4C068DD1-ACEA-465D-8F82-78F3FDF41A62}" type="pres">
      <dgm:prSet presAssocID="{E2D9C964-090E-4B27-8CCF-CD27F8B125AA}" presName="connTx" presStyleLbl="parChTrans1D2" presStyleIdx="1" presStyleCnt="3"/>
      <dgm:spPr/>
    </dgm:pt>
    <dgm:pt modelId="{2583B520-E175-467C-97CA-150843B6667B}" type="pres">
      <dgm:prSet presAssocID="{6BCBDDAB-31F0-4DC1-B8C2-4CE8A8E59AF5}" presName="root2" presStyleCnt="0"/>
      <dgm:spPr/>
    </dgm:pt>
    <dgm:pt modelId="{76AB562E-2E7D-46F7-AE18-E7DDD7C6E33A}" type="pres">
      <dgm:prSet presAssocID="{6BCBDDAB-31F0-4DC1-B8C2-4CE8A8E59AF5}" presName="LevelTwoTextNode" presStyleLbl="node2" presStyleIdx="1" presStyleCnt="3" custScaleX="76096" custScaleY="240568" custLinFactNeighborX="2056">
        <dgm:presLayoutVars>
          <dgm:chPref val="3"/>
        </dgm:presLayoutVars>
      </dgm:prSet>
      <dgm:spPr/>
    </dgm:pt>
    <dgm:pt modelId="{33C5050D-A314-4D8F-8898-6512DA600F7F}" type="pres">
      <dgm:prSet presAssocID="{6BCBDDAB-31F0-4DC1-B8C2-4CE8A8E59AF5}" presName="level3hierChild" presStyleCnt="0"/>
      <dgm:spPr/>
    </dgm:pt>
    <dgm:pt modelId="{7FB8B313-5683-425F-864C-1F02489C4686}" type="pres">
      <dgm:prSet presAssocID="{2DF9E88F-74F9-46A5-8603-00117CE9B379}" presName="conn2-1" presStyleLbl="parChTrans1D3" presStyleIdx="1" presStyleCnt="3"/>
      <dgm:spPr/>
    </dgm:pt>
    <dgm:pt modelId="{B3C8D1B7-8138-47A3-947C-547B28EF555C}" type="pres">
      <dgm:prSet presAssocID="{2DF9E88F-74F9-46A5-8603-00117CE9B379}" presName="connTx" presStyleLbl="parChTrans1D3" presStyleIdx="1" presStyleCnt="3"/>
      <dgm:spPr/>
    </dgm:pt>
    <dgm:pt modelId="{0CA003F5-70D6-4AB2-9584-68DA3EA47EC7}" type="pres">
      <dgm:prSet presAssocID="{CCDCE5B2-235C-4ED3-917F-479126A68C30}" presName="root2" presStyleCnt="0"/>
      <dgm:spPr/>
    </dgm:pt>
    <dgm:pt modelId="{97042472-85D2-4735-878E-95F74CE9DF20}" type="pres">
      <dgm:prSet presAssocID="{CCDCE5B2-235C-4ED3-917F-479126A68C30}" presName="LevelTwoTextNode" presStyleLbl="node3" presStyleIdx="1" presStyleCnt="3" custScaleX="167362" custScaleY="215332">
        <dgm:presLayoutVars>
          <dgm:chPref val="3"/>
        </dgm:presLayoutVars>
      </dgm:prSet>
      <dgm:spPr/>
    </dgm:pt>
    <dgm:pt modelId="{EF10E305-BDC4-4992-B965-80368FD6A420}" type="pres">
      <dgm:prSet presAssocID="{CCDCE5B2-235C-4ED3-917F-479126A68C30}" presName="level3hierChild" presStyleCnt="0"/>
      <dgm:spPr/>
    </dgm:pt>
    <dgm:pt modelId="{B9E93869-B6C9-401D-B26C-F80FCEF8D956}" type="pres">
      <dgm:prSet presAssocID="{FDC12647-0BDE-43CF-87B1-AD5EA669DC46}" presName="conn2-1" presStyleLbl="parChTrans1D2" presStyleIdx="2" presStyleCnt="3"/>
      <dgm:spPr/>
    </dgm:pt>
    <dgm:pt modelId="{7C746715-8985-42F9-9EAF-CE80472993EA}" type="pres">
      <dgm:prSet presAssocID="{FDC12647-0BDE-43CF-87B1-AD5EA669DC46}" presName="connTx" presStyleLbl="parChTrans1D2" presStyleIdx="2" presStyleCnt="3"/>
      <dgm:spPr/>
    </dgm:pt>
    <dgm:pt modelId="{5A64473D-34B4-4E72-87DA-14B0C275EE54}" type="pres">
      <dgm:prSet presAssocID="{D0B67963-5BB0-4AD2-A69C-D1BB9E0AEF1D}" presName="root2" presStyleCnt="0"/>
      <dgm:spPr/>
    </dgm:pt>
    <dgm:pt modelId="{C9E529F9-62A5-4339-93D1-E2A5AE400766}" type="pres">
      <dgm:prSet presAssocID="{D0B67963-5BB0-4AD2-A69C-D1BB9E0AEF1D}" presName="LevelTwoTextNode" presStyleLbl="node2" presStyleIdx="2" presStyleCnt="3" custScaleX="76096" custScaleY="240568" custLinFactNeighborX="2056">
        <dgm:presLayoutVars>
          <dgm:chPref val="3"/>
        </dgm:presLayoutVars>
      </dgm:prSet>
      <dgm:spPr/>
    </dgm:pt>
    <dgm:pt modelId="{051782D9-FC85-476A-BDB4-D6EA783DB402}" type="pres">
      <dgm:prSet presAssocID="{D0B67963-5BB0-4AD2-A69C-D1BB9E0AEF1D}" presName="level3hierChild" presStyleCnt="0"/>
      <dgm:spPr/>
    </dgm:pt>
    <dgm:pt modelId="{27587953-64C9-4EEF-A743-F10C5410250C}" type="pres">
      <dgm:prSet presAssocID="{E71225B3-355A-4048-9B21-D6EE1FE2BE46}" presName="conn2-1" presStyleLbl="parChTrans1D3" presStyleIdx="2" presStyleCnt="3"/>
      <dgm:spPr/>
    </dgm:pt>
    <dgm:pt modelId="{7F6A9583-731E-4AF5-8E0A-EF77DB914C49}" type="pres">
      <dgm:prSet presAssocID="{E71225B3-355A-4048-9B21-D6EE1FE2BE46}" presName="connTx" presStyleLbl="parChTrans1D3" presStyleIdx="2" presStyleCnt="3"/>
      <dgm:spPr/>
    </dgm:pt>
    <dgm:pt modelId="{D2BE92D3-8260-45FE-AA81-DBF4DF12E810}" type="pres">
      <dgm:prSet presAssocID="{3F9E6227-4F40-4D9E-88CB-4E53AE55BF0A}" presName="root2" presStyleCnt="0"/>
      <dgm:spPr/>
    </dgm:pt>
    <dgm:pt modelId="{B4A180E9-018F-437F-B8E2-101F56DD60BA}" type="pres">
      <dgm:prSet presAssocID="{3F9E6227-4F40-4D9E-88CB-4E53AE55BF0A}" presName="LevelTwoTextNode" presStyleLbl="node3" presStyleIdx="2" presStyleCnt="3" custScaleX="167362" custScaleY="215332">
        <dgm:presLayoutVars>
          <dgm:chPref val="3"/>
        </dgm:presLayoutVars>
      </dgm:prSet>
      <dgm:spPr/>
    </dgm:pt>
    <dgm:pt modelId="{B33B0E76-9534-4F9F-88DC-4C7859D4AF58}" type="pres">
      <dgm:prSet presAssocID="{3F9E6227-4F40-4D9E-88CB-4E53AE55BF0A}" presName="level3hierChild" presStyleCnt="0"/>
      <dgm:spPr/>
    </dgm:pt>
  </dgm:ptLst>
  <dgm:cxnLst>
    <dgm:cxn modelId="{9F9A0A04-C222-4636-A7D2-5654C9F42850}" type="presOf" srcId="{4FC877AA-9FBB-420D-B4FE-86B791896EC4}" destId="{14D73916-0E45-4FC8-8D0E-E33A5085B550}" srcOrd="0" destOrd="0" presId="urn:microsoft.com/office/officeart/2008/layout/HorizontalMultiLevelHierarchy"/>
    <dgm:cxn modelId="{A7711509-890C-4E51-B7C3-9419C1FE5DD5}" srcId="{5E34B635-0B0F-456B-BBFB-52FF5A564C41}" destId="{34358C3E-249D-4755-8821-508024642932}" srcOrd="0" destOrd="0" parTransId="{547A8A06-2268-44CD-9B5B-E86614F22DBE}" sibTransId="{104CECA6-1041-4D82-A601-208576687959}"/>
    <dgm:cxn modelId="{E822E50C-FFF7-49F2-A2E6-1C11513EDD92}" type="presOf" srcId="{FDC12647-0BDE-43CF-87B1-AD5EA669DC46}" destId="{7C746715-8985-42F9-9EAF-CE80472993EA}" srcOrd="1" destOrd="0" presId="urn:microsoft.com/office/officeart/2008/layout/HorizontalMultiLevelHierarchy"/>
    <dgm:cxn modelId="{EFA79C15-2527-4B1A-BE75-BD7CC942B072}" srcId="{34358C3E-249D-4755-8821-508024642932}" destId="{6BCBDDAB-31F0-4DC1-B8C2-4CE8A8E59AF5}" srcOrd="1" destOrd="0" parTransId="{E2D9C964-090E-4B27-8CCF-CD27F8B125AA}" sibTransId="{55BF137D-3B33-46DE-A223-5C74D576D437}"/>
    <dgm:cxn modelId="{D977951C-D9A0-4D24-96D8-F06331A30140}" srcId="{F1328A67-9B99-4962-84F0-EDD54FA84197}" destId="{EB5CC9C2-B174-4C54-9862-54E80E42DE02}" srcOrd="0" destOrd="0" parTransId="{4FC877AA-9FBB-420D-B4FE-86B791896EC4}" sibTransId="{895B9D4E-AB72-4F3A-B9AC-2F1B05738CA5}"/>
    <dgm:cxn modelId="{6D965031-7F94-47E0-8332-6C0BC57BC708}" type="presOf" srcId="{94F2D7DA-8422-4F82-8505-EF4D401E0305}" destId="{8B52D5E5-F6AB-4805-A3EC-3DFA4FEEFA98}" srcOrd="0" destOrd="0" presId="urn:microsoft.com/office/officeart/2008/layout/HorizontalMultiLevelHierarchy"/>
    <dgm:cxn modelId="{924DD833-D08B-4022-B70C-0D66016D9132}" type="presOf" srcId="{2DF9E88F-74F9-46A5-8603-00117CE9B379}" destId="{B3C8D1B7-8138-47A3-947C-547B28EF555C}" srcOrd="1" destOrd="0" presId="urn:microsoft.com/office/officeart/2008/layout/HorizontalMultiLevelHierarchy"/>
    <dgm:cxn modelId="{8ACA6D5F-6749-44E0-8BD1-CDCC534761D7}" type="presOf" srcId="{94F2D7DA-8422-4F82-8505-EF4D401E0305}" destId="{00C8C24E-9242-448A-B33A-322FB1AC8E4B}" srcOrd="1" destOrd="0" presId="urn:microsoft.com/office/officeart/2008/layout/HorizontalMultiLevelHierarchy"/>
    <dgm:cxn modelId="{E39F7265-490E-4757-AEDD-BA5090EF0325}" type="presOf" srcId="{2DF9E88F-74F9-46A5-8603-00117CE9B379}" destId="{7FB8B313-5683-425F-864C-1F02489C4686}" srcOrd="0" destOrd="0" presId="urn:microsoft.com/office/officeart/2008/layout/HorizontalMultiLevelHierarchy"/>
    <dgm:cxn modelId="{BECC8E67-B883-43E7-BEA3-CBD33B3570E6}" type="presOf" srcId="{FDC12647-0BDE-43CF-87B1-AD5EA669DC46}" destId="{B9E93869-B6C9-401D-B26C-F80FCEF8D956}" srcOrd="0" destOrd="0" presId="urn:microsoft.com/office/officeart/2008/layout/HorizontalMultiLevelHierarchy"/>
    <dgm:cxn modelId="{65809D6D-C47A-4631-8E53-7A3FAF3A2A04}" type="presOf" srcId="{F1328A67-9B99-4962-84F0-EDD54FA84197}" destId="{50B6CC0D-4951-4D67-9B2E-D0D10AC227EA}" srcOrd="0" destOrd="0" presId="urn:microsoft.com/office/officeart/2008/layout/HorizontalMultiLevelHierarchy"/>
    <dgm:cxn modelId="{4FD3EC72-CDFB-4855-BC36-2489EED78271}" type="presOf" srcId="{E2D9C964-090E-4B27-8CCF-CD27F8B125AA}" destId="{4C068DD1-ACEA-465D-8F82-78F3FDF41A62}" srcOrd="1" destOrd="0" presId="urn:microsoft.com/office/officeart/2008/layout/HorizontalMultiLevelHierarchy"/>
    <dgm:cxn modelId="{FCE8FA58-AB21-463C-89FD-CFBDEB8994AE}" type="presOf" srcId="{5E34B635-0B0F-456B-BBFB-52FF5A564C41}" destId="{880CDDE6-479B-44A9-8410-2DD7DB67F59D}" srcOrd="0" destOrd="0" presId="urn:microsoft.com/office/officeart/2008/layout/HorizontalMultiLevelHierarchy"/>
    <dgm:cxn modelId="{01ACED7E-33C8-4EC4-83FB-121A880339FE}" srcId="{D0B67963-5BB0-4AD2-A69C-D1BB9E0AEF1D}" destId="{3F9E6227-4F40-4D9E-88CB-4E53AE55BF0A}" srcOrd="0" destOrd="0" parTransId="{E71225B3-355A-4048-9B21-D6EE1FE2BE46}" sibTransId="{EF4C9D3E-4565-4401-BBD6-4384817396D1}"/>
    <dgm:cxn modelId="{9501A780-3D2A-45A3-94F8-B327B61A91BE}" type="presOf" srcId="{D0B67963-5BB0-4AD2-A69C-D1BB9E0AEF1D}" destId="{C9E529F9-62A5-4339-93D1-E2A5AE400766}" srcOrd="0" destOrd="0" presId="urn:microsoft.com/office/officeart/2008/layout/HorizontalMultiLevelHierarchy"/>
    <dgm:cxn modelId="{951B4284-CADE-4253-9047-6D7D52F15BBD}" srcId="{34358C3E-249D-4755-8821-508024642932}" destId="{D0B67963-5BB0-4AD2-A69C-D1BB9E0AEF1D}" srcOrd="2" destOrd="0" parTransId="{FDC12647-0BDE-43CF-87B1-AD5EA669DC46}" sibTransId="{F4C96037-0BB9-4D50-BA92-9D1B4E5038E2}"/>
    <dgm:cxn modelId="{B6956785-F2ED-41FA-9F42-DD54F4336170}" type="presOf" srcId="{6BCBDDAB-31F0-4DC1-B8C2-4CE8A8E59AF5}" destId="{76AB562E-2E7D-46F7-AE18-E7DDD7C6E33A}" srcOrd="0" destOrd="0" presId="urn:microsoft.com/office/officeart/2008/layout/HorizontalMultiLevelHierarchy"/>
    <dgm:cxn modelId="{17644BB3-6E31-4CB9-8712-81C379A86E10}" type="presOf" srcId="{4FC877AA-9FBB-420D-B4FE-86B791896EC4}" destId="{3F94542C-F39F-4798-8520-F0795B899BF5}" srcOrd="1" destOrd="0" presId="urn:microsoft.com/office/officeart/2008/layout/HorizontalMultiLevelHierarchy"/>
    <dgm:cxn modelId="{864BADB7-E36D-450B-A03C-40476D8BBFEF}" type="presOf" srcId="{3F9E6227-4F40-4D9E-88CB-4E53AE55BF0A}" destId="{B4A180E9-018F-437F-B8E2-101F56DD60BA}" srcOrd="0" destOrd="0" presId="urn:microsoft.com/office/officeart/2008/layout/HorizontalMultiLevelHierarchy"/>
    <dgm:cxn modelId="{0F977ABF-8389-416F-9F4E-0E774D67B37E}" srcId="{34358C3E-249D-4755-8821-508024642932}" destId="{F1328A67-9B99-4962-84F0-EDD54FA84197}" srcOrd="0" destOrd="0" parTransId="{94F2D7DA-8422-4F82-8505-EF4D401E0305}" sibTransId="{6054C2DA-07FB-45F0-B25B-B5885D753E35}"/>
    <dgm:cxn modelId="{1A26A8C5-A0E3-46C7-AFD1-A9EC37DC975C}" type="presOf" srcId="{E71225B3-355A-4048-9B21-D6EE1FE2BE46}" destId="{7F6A9583-731E-4AF5-8E0A-EF77DB914C49}" srcOrd="1" destOrd="0" presId="urn:microsoft.com/office/officeart/2008/layout/HorizontalMultiLevelHierarchy"/>
    <dgm:cxn modelId="{8471D0CB-D169-4C45-A2C4-A4F741C15FD6}" type="presOf" srcId="{E2D9C964-090E-4B27-8CCF-CD27F8B125AA}" destId="{CA804FD4-5F1C-49F3-AEF7-F19AAE44C2BD}" srcOrd="0" destOrd="0" presId="urn:microsoft.com/office/officeart/2008/layout/HorizontalMultiLevelHierarchy"/>
    <dgm:cxn modelId="{813F29CC-0906-4888-8D7D-BD5EF8C811F7}" srcId="{6BCBDDAB-31F0-4DC1-B8C2-4CE8A8E59AF5}" destId="{CCDCE5B2-235C-4ED3-917F-479126A68C30}" srcOrd="0" destOrd="0" parTransId="{2DF9E88F-74F9-46A5-8603-00117CE9B379}" sibTransId="{668725E4-495D-430C-974C-E309F9DB513E}"/>
    <dgm:cxn modelId="{EE8AE6DD-F261-40D8-875A-923EEDE8C256}" type="presOf" srcId="{34358C3E-249D-4755-8821-508024642932}" destId="{E5A96139-00CD-40F8-B1AC-5B33F571731C}" srcOrd="0" destOrd="0" presId="urn:microsoft.com/office/officeart/2008/layout/HorizontalMultiLevelHierarchy"/>
    <dgm:cxn modelId="{FDA0E9E2-0D30-42F8-B42E-65E65820CFDF}" type="presOf" srcId="{E71225B3-355A-4048-9B21-D6EE1FE2BE46}" destId="{27587953-64C9-4EEF-A743-F10C5410250C}" srcOrd="0" destOrd="0" presId="urn:microsoft.com/office/officeart/2008/layout/HorizontalMultiLevelHierarchy"/>
    <dgm:cxn modelId="{1340F5F3-00DC-4881-B399-FB4145A5318F}" type="presOf" srcId="{CCDCE5B2-235C-4ED3-917F-479126A68C30}" destId="{97042472-85D2-4735-878E-95F74CE9DF20}" srcOrd="0" destOrd="0" presId="urn:microsoft.com/office/officeart/2008/layout/HorizontalMultiLevelHierarchy"/>
    <dgm:cxn modelId="{2A0F8CF7-E2D2-49A5-A776-41B959DE5022}" type="presOf" srcId="{EB5CC9C2-B174-4C54-9862-54E80E42DE02}" destId="{984D9DE8-076E-47B7-A816-E5F4D976E903}" srcOrd="0" destOrd="0" presId="urn:microsoft.com/office/officeart/2008/layout/HorizontalMultiLevelHierarchy"/>
    <dgm:cxn modelId="{34021CFA-C808-459B-8683-C69738DBD685}" type="presParOf" srcId="{880CDDE6-479B-44A9-8410-2DD7DB67F59D}" destId="{5A15D59F-73B7-48D9-9C97-9A7D7F5DEB5A}" srcOrd="0" destOrd="0" presId="urn:microsoft.com/office/officeart/2008/layout/HorizontalMultiLevelHierarchy"/>
    <dgm:cxn modelId="{C759092E-1054-48BA-8385-D1499C2C2B53}" type="presParOf" srcId="{5A15D59F-73B7-48D9-9C97-9A7D7F5DEB5A}" destId="{E5A96139-00CD-40F8-B1AC-5B33F571731C}" srcOrd="0" destOrd="0" presId="urn:microsoft.com/office/officeart/2008/layout/HorizontalMultiLevelHierarchy"/>
    <dgm:cxn modelId="{2CE7B8CA-E2C8-4026-86B6-3979FADA08F1}" type="presParOf" srcId="{5A15D59F-73B7-48D9-9C97-9A7D7F5DEB5A}" destId="{80FE4A4D-9672-4EC9-838C-675446336A64}" srcOrd="1" destOrd="0" presId="urn:microsoft.com/office/officeart/2008/layout/HorizontalMultiLevelHierarchy"/>
    <dgm:cxn modelId="{385782AE-F60F-4A17-B7FF-1E426E29F819}" type="presParOf" srcId="{80FE4A4D-9672-4EC9-838C-675446336A64}" destId="{8B52D5E5-F6AB-4805-A3EC-3DFA4FEEFA98}" srcOrd="0" destOrd="0" presId="urn:microsoft.com/office/officeart/2008/layout/HorizontalMultiLevelHierarchy"/>
    <dgm:cxn modelId="{03FC9874-8FB0-4D9E-BC61-3C33C9D2006A}" type="presParOf" srcId="{8B52D5E5-F6AB-4805-A3EC-3DFA4FEEFA98}" destId="{00C8C24E-9242-448A-B33A-322FB1AC8E4B}" srcOrd="0" destOrd="0" presId="urn:microsoft.com/office/officeart/2008/layout/HorizontalMultiLevelHierarchy"/>
    <dgm:cxn modelId="{6E69AE50-FC6C-4108-89BE-E5D26F9D52CA}" type="presParOf" srcId="{80FE4A4D-9672-4EC9-838C-675446336A64}" destId="{94F677AA-944E-4F43-9BD8-340E5F49093B}" srcOrd="1" destOrd="0" presId="urn:microsoft.com/office/officeart/2008/layout/HorizontalMultiLevelHierarchy"/>
    <dgm:cxn modelId="{8A1361AB-E5E6-4511-B70F-3A036B69301F}" type="presParOf" srcId="{94F677AA-944E-4F43-9BD8-340E5F49093B}" destId="{50B6CC0D-4951-4D67-9B2E-D0D10AC227EA}" srcOrd="0" destOrd="0" presId="urn:microsoft.com/office/officeart/2008/layout/HorizontalMultiLevelHierarchy"/>
    <dgm:cxn modelId="{789E7075-74C4-430E-BD2F-6069B020FC60}" type="presParOf" srcId="{94F677AA-944E-4F43-9BD8-340E5F49093B}" destId="{05635AEB-FB12-4427-A7F2-28CF2F088702}" srcOrd="1" destOrd="0" presId="urn:microsoft.com/office/officeart/2008/layout/HorizontalMultiLevelHierarchy"/>
    <dgm:cxn modelId="{53BED8AD-23E6-49A5-AA07-45837FE0D7D2}" type="presParOf" srcId="{05635AEB-FB12-4427-A7F2-28CF2F088702}" destId="{14D73916-0E45-4FC8-8D0E-E33A5085B550}" srcOrd="0" destOrd="0" presId="urn:microsoft.com/office/officeart/2008/layout/HorizontalMultiLevelHierarchy"/>
    <dgm:cxn modelId="{D78585B2-5EAF-415F-935D-863CE9B6DE35}" type="presParOf" srcId="{14D73916-0E45-4FC8-8D0E-E33A5085B550}" destId="{3F94542C-F39F-4798-8520-F0795B899BF5}" srcOrd="0" destOrd="0" presId="urn:microsoft.com/office/officeart/2008/layout/HorizontalMultiLevelHierarchy"/>
    <dgm:cxn modelId="{53CCB5E4-6D67-4597-A918-DCBCC2609B59}" type="presParOf" srcId="{05635AEB-FB12-4427-A7F2-28CF2F088702}" destId="{A870F16C-BB2A-4B22-BE92-E842F3FA11B1}" srcOrd="1" destOrd="0" presId="urn:microsoft.com/office/officeart/2008/layout/HorizontalMultiLevelHierarchy"/>
    <dgm:cxn modelId="{7A4C542C-CE6B-4521-84CE-001BB6382B5F}" type="presParOf" srcId="{A870F16C-BB2A-4B22-BE92-E842F3FA11B1}" destId="{984D9DE8-076E-47B7-A816-E5F4D976E903}" srcOrd="0" destOrd="0" presId="urn:microsoft.com/office/officeart/2008/layout/HorizontalMultiLevelHierarchy"/>
    <dgm:cxn modelId="{0438473C-7B0B-4E2E-81DA-EC2DEA1AC664}" type="presParOf" srcId="{A870F16C-BB2A-4B22-BE92-E842F3FA11B1}" destId="{5BAE0518-3A3F-4DF5-A0D2-A23FB1B020E5}" srcOrd="1" destOrd="0" presId="urn:microsoft.com/office/officeart/2008/layout/HorizontalMultiLevelHierarchy"/>
    <dgm:cxn modelId="{EE01210D-3651-44B0-9836-EBE0E7FE88F4}" type="presParOf" srcId="{80FE4A4D-9672-4EC9-838C-675446336A64}" destId="{CA804FD4-5F1C-49F3-AEF7-F19AAE44C2BD}" srcOrd="2" destOrd="0" presId="urn:microsoft.com/office/officeart/2008/layout/HorizontalMultiLevelHierarchy"/>
    <dgm:cxn modelId="{C306C2E8-4006-4AAA-B483-F3647A199018}" type="presParOf" srcId="{CA804FD4-5F1C-49F3-AEF7-F19AAE44C2BD}" destId="{4C068DD1-ACEA-465D-8F82-78F3FDF41A62}" srcOrd="0" destOrd="0" presId="urn:microsoft.com/office/officeart/2008/layout/HorizontalMultiLevelHierarchy"/>
    <dgm:cxn modelId="{11EA2CF7-703C-4C75-9492-D2FDD979EE24}" type="presParOf" srcId="{80FE4A4D-9672-4EC9-838C-675446336A64}" destId="{2583B520-E175-467C-97CA-150843B6667B}" srcOrd="3" destOrd="0" presId="urn:microsoft.com/office/officeart/2008/layout/HorizontalMultiLevelHierarchy"/>
    <dgm:cxn modelId="{B1095AD8-AA66-4577-B54C-CFD1994CEFD7}" type="presParOf" srcId="{2583B520-E175-467C-97CA-150843B6667B}" destId="{76AB562E-2E7D-46F7-AE18-E7DDD7C6E33A}" srcOrd="0" destOrd="0" presId="urn:microsoft.com/office/officeart/2008/layout/HorizontalMultiLevelHierarchy"/>
    <dgm:cxn modelId="{25EE9E56-3FDE-4194-AA08-CD3A8D6ADC77}" type="presParOf" srcId="{2583B520-E175-467C-97CA-150843B6667B}" destId="{33C5050D-A314-4D8F-8898-6512DA600F7F}" srcOrd="1" destOrd="0" presId="urn:microsoft.com/office/officeart/2008/layout/HorizontalMultiLevelHierarchy"/>
    <dgm:cxn modelId="{0715BE1E-D185-4A93-9F86-9CEB72ADC483}" type="presParOf" srcId="{33C5050D-A314-4D8F-8898-6512DA600F7F}" destId="{7FB8B313-5683-425F-864C-1F02489C4686}" srcOrd="0" destOrd="0" presId="urn:microsoft.com/office/officeart/2008/layout/HorizontalMultiLevelHierarchy"/>
    <dgm:cxn modelId="{29615683-E0B7-4858-B8EE-030836FE556C}" type="presParOf" srcId="{7FB8B313-5683-425F-864C-1F02489C4686}" destId="{B3C8D1B7-8138-47A3-947C-547B28EF555C}" srcOrd="0" destOrd="0" presId="urn:microsoft.com/office/officeart/2008/layout/HorizontalMultiLevelHierarchy"/>
    <dgm:cxn modelId="{03687EC1-F59C-4F2A-9E24-525E00653A9C}" type="presParOf" srcId="{33C5050D-A314-4D8F-8898-6512DA600F7F}" destId="{0CA003F5-70D6-4AB2-9584-68DA3EA47EC7}" srcOrd="1" destOrd="0" presId="urn:microsoft.com/office/officeart/2008/layout/HorizontalMultiLevelHierarchy"/>
    <dgm:cxn modelId="{0283F5E8-818C-455D-AF5B-656E5077D67A}" type="presParOf" srcId="{0CA003F5-70D6-4AB2-9584-68DA3EA47EC7}" destId="{97042472-85D2-4735-878E-95F74CE9DF20}" srcOrd="0" destOrd="0" presId="urn:microsoft.com/office/officeart/2008/layout/HorizontalMultiLevelHierarchy"/>
    <dgm:cxn modelId="{92CC40B6-B089-4D09-8849-5ED7D0E57724}" type="presParOf" srcId="{0CA003F5-70D6-4AB2-9584-68DA3EA47EC7}" destId="{EF10E305-BDC4-4992-B965-80368FD6A420}" srcOrd="1" destOrd="0" presId="urn:microsoft.com/office/officeart/2008/layout/HorizontalMultiLevelHierarchy"/>
    <dgm:cxn modelId="{D99711B6-B120-44D8-8BD4-BB206995F8B9}" type="presParOf" srcId="{80FE4A4D-9672-4EC9-838C-675446336A64}" destId="{B9E93869-B6C9-401D-B26C-F80FCEF8D956}" srcOrd="4" destOrd="0" presId="urn:microsoft.com/office/officeart/2008/layout/HorizontalMultiLevelHierarchy"/>
    <dgm:cxn modelId="{2B8FE9EF-ADAF-46CD-8175-D90CD4D920FD}" type="presParOf" srcId="{B9E93869-B6C9-401D-B26C-F80FCEF8D956}" destId="{7C746715-8985-42F9-9EAF-CE80472993EA}" srcOrd="0" destOrd="0" presId="urn:microsoft.com/office/officeart/2008/layout/HorizontalMultiLevelHierarchy"/>
    <dgm:cxn modelId="{E32B7A2A-3CBA-4775-BCB9-8091175FB432}" type="presParOf" srcId="{80FE4A4D-9672-4EC9-838C-675446336A64}" destId="{5A64473D-34B4-4E72-87DA-14B0C275EE54}" srcOrd="5" destOrd="0" presId="urn:microsoft.com/office/officeart/2008/layout/HorizontalMultiLevelHierarchy"/>
    <dgm:cxn modelId="{6E73B2DE-9B37-4FCD-BF96-E10E00CEAD1B}" type="presParOf" srcId="{5A64473D-34B4-4E72-87DA-14B0C275EE54}" destId="{C9E529F9-62A5-4339-93D1-E2A5AE400766}" srcOrd="0" destOrd="0" presId="urn:microsoft.com/office/officeart/2008/layout/HorizontalMultiLevelHierarchy"/>
    <dgm:cxn modelId="{F3B15A5F-A86C-4C44-AF76-4DB2A4D851CE}" type="presParOf" srcId="{5A64473D-34B4-4E72-87DA-14B0C275EE54}" destId="{051782D9-FC85-476A-BDB4-D6EA783DB402}" srcOrd="1" destOrd="0" presId="urn:microsoft.com/office/officeart/2008/layout/HorizontalMultiLevelHierarchy"/>
    <dgm:cxn modelId="{B759B420-F54D-4D61-B67D-0AE62A6E9EC3}" type="presParOf" srcId="{051782D9-FC85-476A-BDB4-D6EA783DB402}" destId="{27587953-64C9-4EEF-A743-F10C5410250C}" srcOrd="0" destOrd="0" presId="urn:microsoft.com/office/officeart/2008/layout/HorizontalMultiLevelHierarchy"/>
    <dgm:cxn modelId="{37C3B839-DA0D-4140-907C-016D5AF44F10}" type="presParOf" srcId="{27587953-64C9-4EEF-A743-F10C5410250C}" destId="{7F6A9583-731E-4AF5-8E0A-EF77DB914C49}" srcOrd="0" destOrd="0" presId="urn:microsoft.com/office/officeart/2008/layout/HorizontalMultiLevelHierarchy"/>
    <dgm:cxn modelId="{AE4FA3F9-FAF5-45EF-9CF9-57810F39E1B3}" type="presParOf" srcId="{051782D9-FC85-476A-BDB4-D6EA783DB402}" destId="{D2BE92D3-8260-45FE-AA81-DBF4DF12E810}" srcOrd="1" destOrd="0" presId="urn:microsoft.com/office/officeart/2008/layout/HorizontalMultiLevelHierarchy"/>
    <dgm:cxn modelId="{8A3E57FD-B5DE-4CBC-A60C-1FED75F62443}" type="presParOf" srcId="{D2BE92D3-8260-45FE-AA81-DBF4DF12E810}" destId="{B4A180E9-018F-437F-B8E2-101F56DD60BA}" srcOrd="0" destOrd="0" presId="urn:microsoft.com/office/officeart/2008/layout/HorizontalMultiLevelHierarchy"/>
    <dgm:cxn modelId="{215CA911-9386-4767-A1EC-A1D96240656D}" type="presParOf" srcId="{D2BE92D3-8260-45FE-AA81-DBF4DF12E810}" destId="{B33B0E76-9534-4F9F-88DC-4C7859D4AF58}"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2F56B53A-F250-4D71-9322-4FF9F80586B5}" type="doc">
      <dgm:prSet loTypeId="urn:microsoft.com/office/officeart/2005/8/layout/hList1" loCatId="list" qsTypeId="urn:microsoft.com/office/officeart/2005/8/quickstyle/3d2#4" qsCatId="3D" csTypeId="urn:microsoft.com/office/officeart/2005/8/colors/accent1_2#6" csCatId="accent1" phldr="1"/>
      <dgm:spPr/>
      <dgm:t>
        <a:bodyPr/>
        <a:lstStyle/>
        <a:p>
          <a:endParaRPr lang="en-GB"/>
        </a:p>
      </dgm:t>
    </dgm:pt>
    <dgm:pt modelId="{A2D7859B-8A2A-4535-AE5F-284EF2209248}">
      <dgm:prSet/>
      <dgm:spPr/>
      <dgm:t>
        <a:bodyPr/>
        <a:lstStyle/>
        <a:p>
          <a:pPr rtl="0"/>
          <a:r>
            <a:rPr lang="en-US" i="1" u="sng" dirty="0"/>
            <a:t>Historical Risk Premium</a:t>
          </a:r>
          <a:r>
            <a:rPr lang="en-US" dirty="0"/>
            <a:t>: </a:t>
          </a:r>
        </a:p>
      </dgm:t>
    </dgm:pt>
    <dgm:pt modelId="{E47F7423-C700-4595-B53F-2FC1F7E0260E}" type="parTrans" cxnId="{FDBCA816-D7A1-4FDE-AD82-67F633333977}">
      <dgm:prSet/>
      <dgm:spPr/>
      <dgm:t>
        <a:bodyPr/>
        <a:lstStyle/>
        <a:p>
          <a:endParaRPr lang="en-GB"/>
        </a:p>
      </dgm:t>
    </dgm:pt>
    <dgm:pt modelId="{F13939C6-AFAE-4B1B-A6E9-9893943CC82E}" type="sibTrans" cxnId="{FDBCA816-D7A1-4FDE-AD82-67F633333977}">
      <dgm:prSet/>
      <dgm:spPr/>
      <dgm:t>
        <a:bodyPr/>
        <a:lstStyle/>
        <a:p>
          <a:endParaRPr lang="en-GB"/>
        </a:p>
      </dgm:t>
    </dgm:pt>
    <dgm:pt modelId="{2DD0941A-1341-4B2A-89E4-84A4929F864A}">
      <dgm:prSet/>
      <dgm:spPr/>
      <dgm:t>
        <a:bodyPr/>
        <a:lstStyle/>
        <a:p>
          <a:pPr rtl="0"/>
          <a:r>
            <a:rPr lang="en-US" dirty="0"/>
            <a:t>You are assuming that premiums will revert back to a historical norm and that</a:t>
          </a:r>
          <a:endParaRPr lang="en-GB" dirty="0"/>
        </a:p>
      </dgm:t>
    </dgm:pt>
    <dgm:pt modelId="{E54808F3-33EC-495C-A22A-0BB498B121FB}" type="parTrans" cxnId="{7369ED8D-8DD5-40ED-A88B-5A6C4C67649E}">
      <dgm:prSet/>
      <dgm:spPr/>
      <dgm:t>
        <a:bodyPr/>
        <a:lstStyle/>
        <a:p>
          <a:endParaRPr lang="en-GB"/>
        </a:p>
      </dgm:t>
    </dgm:pt>
    <dgm:pt modelId="{3B5F4864-388D-4249-B5AD-B9F319E2B851}" type="sibTrans" cxnId="{7369ED8D-8DD5-40ED-A88B-5A6C4C67649E}">
      <dgm:prSet/>
      <dgm:spPr/>
      <dgm:t>
        <a:bodyPr/>
        <a:lstStyle/>
        <a:p>
          <a:endParaRPr lang="en-GB"/>
        </a:p>
      </dgm:t>
    </dgm:pt>
    <dgm:pt modelId="{66527941-4AA6-4846-AFF4-578C952870C8}">
      <dgm:prSet/>
      <dgm:spPr/>
      <dgm:t>
        <a:bodyPr/>
        <a:lstStyle/>
        <a:p>
          <a:pPr rtl="0"/>
          <a:r>
            <a:rPr lang="en-US" i="1" u="sng" dirty="0"/>
            <a:t>Current Implied Equity Risk premium</a:t>
          </a:r>
          <a:r>
            <a:rPr lang="en-US" dirty="0"/>
            <a:t>: </a:t>
          </a:r>
        </a:p>
      </dgm:t>
    </dgm:pt>
    <dgm:pt modelId="{66DCA186-FECC-48EC-80BE-93FA1EDF72D1}" type="parTrans" cxnId="{05872228-585B-4FA2-9170-10F1B624A5AC}">
      <dgm:prSet/>
      <dgm:spPr/>
      <dgm:t>
        <a:bodyPr/>
        <a:lstStyle/>
        <a:p>
          <a:endParaRPr lang="en-GB"/>
        </a:p>
      </dgm:t>
    </dgm:pt>
    <dgm:pt modelId="{ACF95725-5DC7-44AC-9152-2182BF5B0593}" type="sibTrans" cxnId="{05872228-585B-4FA2-9170-10F1B624A5AC}">
      <dgm:prSet/>
      <dgm:spPr/>
      <dgm:t>
        <a:bodyPr/>
        <a:lstStyle/>
        <a:p>
          <a:endParaRPr lang="en-GB"/>
        </a:p>
      </dgm:t>
    </dgm:pt>
    <dgm:pt modelId="{83831E7B-799D-4EA4-B3B6-FEAB3B2F50E1}">
      <dgm:prSet/>
      <dgm:spPr/>
      <dgm:t>
        <a:bodyPr/>
        <a:lstStyle/>
        <a:p>
          <a:pPr rtl="0"/>
          <a:r>
            <a:rPr lang="en-US" dirty="0"/>
            <a:t>You are assuming that the market is correct in the aggregate but makes mistakes on individual stocks. </a:t>
          </a:r>
          <a:endParaRPr lang="en-GB" dirty="0"/>
        </a:p>
      </dgm:t>
    </dgm:pt>
    <dgm:pt modelId="{932240C8-BC31-4348-A8A9-4F3A2D65AF3D}" type="parTrans" cxnId="{C7818C95-3BB3-48B7-9D1D-3D5EAFC55048}">
      <dgm:prSet/>
      <dgm:spPr/>
      <dgm:t>
        <a:bodyPr/>
        <a:lstStyle/>
        <a:p>
          <a:endParaRPr lang="en-GB"/>
        </a:p>
      </dgm:t>
    </dgm:pt>
    <dgm:pt modelId="{F8475EE5-6135-47EB-B655-CC785B4013D8}" type="sibTrans" cxnId="{C7818C95-3BB3-48B7-9D1D-3D5EAFC55048}">
      <dgm:prSet/>
      <dgm:spPr/>
      <dgm:t>
        <a:bodyPr/>
        <a:lstStyle/>
        <a:p>
          <a:endParaRPr lang="en-GB"/>
        </a:p>
      </dgm:t>
    </dgm:pt>
    <dgm:pt modelId="{0A93159F-8D24-43FB-815A-8A97FA0756D6}">
      <dgm:prSet/>
      <dgm:spPr/>
      <dgm:t>
        <a:bodyPr/>
        <a:lstStyle/>
        <a:p>
          <a:pPr rtl="0"/>
          <a:r>
            <a:rPr lang="en-US" i="1" u="sng" dirty="0"/>
            <a:t>Average Implied Equity Risk premium</a:t>
          </a:r>
          <a:r>
            <a:rPr lang="en-US" dirty="0"/>
            <a:t>: </a:t>
          </a:r>
        </a:p>
      </dgm:t>
    </dgm:pt>
    <dgm:pt modelId="{C516D8AE-EC6E-4A91-90AC-0394B57212E1}" type="parTrans" cxnId="{6922437E-808C-4C2F-89FF-B3DBBA5DEF3D}">
      <dgm:prSet/>
      <dgm:spPr/>
      <dgm:t>
        <a:bodyPr/>
        <a:lstStyle/>
        <a:p>
          <a:endParaRPr lang="en-GB"/>
        </a:p>
      </dgm:t>
    </dgm:pt>
    <dgm:pt modelId="{0841D252-B9A6-4A83-A2B3-7C398E9BD84D}" type="sibTrans" cxnId="{6922437E-808C-4C2F-89FF-B3DBBA5DEF3D}">
      <dgm:prSet/>
      <dgm:spPr/>
      <dgm:t>
        <a:bodyPr/>
        <a:lstStyle/>
        <a:p>
          <a:endParaRPr lang="en-GB"/>
        </a:p>
      </dgm:t>
    </dgm:pt>
    <dgm:pt modelId="{08959B57-9DEB-4CCB-AACA-58B9A56D5E6A}">
      <dgm:prSet/>
      <dgm:spPr/>
      <dgm:t>
        <a:bodyPr/>
        <a:lstStyle/>
        <a:p>
          <a:pPr rtl="0"/>
          <a:r>
            <a:rPr lang="en-US" dirty="0"/>
            <a:t>The average implied equity risk premium between 1960-2003 in the United States is about 4%. </a:t>
          </a:r>
          <a:endParaRPr lang="en-GB" dirty="0"/>
        </a:p>
      </dgm:t>
    </dgm:pt>
    <dgm:pt modelId="{71C1E53D-1B8E-4EBF-AD22-CBB910FC0209}" type="parTrans" cxnId="{72245DA4-FE46-4264-8DAB-432FC9E18498}">
      <dgm:prSet/>
      <dgm:spPr/>
      <dgm:t>
        <a:bodyPr/>
        <a:lstStyle/>
        <a:p>
          <a:endParaRPr lang="en-GB"/>
        </a:p>
      </dgm:t>
    </dgm:pt>
    <dgm:pt modelId="{86D7CE52-7CD4-4048-98F3-BA803B039D63}" type="sibTrans" cxnId="{72245DA4-FE46-4264-8DAB-432FC9E18498}">
      <dgm:prSet/>
      <dgm:spPr/>
      <dgm:t>
        <a:bodyPr/>
        <a:lstStyle/>
        <a:p>
          <a:endParaRPr lang="en-GB"/>
        </a:p>
      </dgm:t>
    </dgm:pt>
    <dgm:pt modelId="{2C57EFE2-C02B-47B2-BF76-A2C189947198}">
      <dgm:prSet/>
      <dgm:spPr/>
      <dgm:t>
        <a:bodyPr/>
        <a:lstStyle/>
        <a:p>
          <a:pPr rtl="0"/>
          <a:r>
            <a:rPr lang="en-US" dirty="0"/>
            <a:t>You are also more likely to find stocks to be overvalued than undervalued (Why?)</a:t>
          </a:r>
          <a:endParaRPr lang="en-GB" dirty="0"/>
        </a:p>
      </dgm:t>
    </dgm:pt>
    <dgm:pt modelId="{791B7D1F-C788-4AD2-8A3A-76F6C2860E52}" type="parTrans" cxnId="{AAF41D29-DDB1-409C-AA45-58D31DE95EE8}">
      <dgm:prSet/>
      <dgm:spPr/>
      <dgm:t>
        <a:bodyPr/>
        <a:lstStyle/>
        <a:p>
          <a:endParaRPr lang="en-GB"/>
        </a:p>
      </dgm:t>
    </dgm:pt>
    <dgm:pt modelId="{00E35D62-AF1F-4AEA-AA86-453A36691494}" type="sibTrans" cxnId="{AAF41D29-DDB1-409C-AA45-58D31DE95EE8}">
      <dgm:prSet/>
      <dgm:spPr/>
      <dgm:t>
        <a:bodyPr/>
        <a:lstStyle/>
        <a:p>
          <a:endParaRPr lang="en-GB"/>
        </a:p>
      </dgm:t>
    </dgm:pt>
    <dgm:pt modelId="{954F4873-3AF8-4EEE-B598-5A41D277CB5C}">
      <dgm:prSet/>
      <dgm:spPr/>
      <dgm:t>
        <a:bodyPr/>
        <a:lstStyle/>
        <a:p>
          <a:pPr rtl="0"/>
          <a:r>
            <a:rPr lang="en-US" dirty="0"/>
            <a:t>The time period that you are using is the right norm. </a:t>
          </a:r>
          <a:endParaRPr lang="en-GB" dirty="0"/>
        </a:p>
      </dgm:t>
    </dgm:pt>
    <dgm:pt modelId="{32212D56-1E60-46CF-9241-7E92B4F89F1D}" type="parTrans" cxnId="{246203CC-8F85-453C-AA11-1AD8CBF1013E}">
      <dgm:prSet/>
      <dgm:spPr/>
      <dgm:t>
        <a:bodyPr/>
        <a:lstStyle/>
        <a:p>
          <a:endParaRPr lang="en-GB"/>
        </a:p>
      </dgm:t>
    </dgm:pt>
    <dgm:pt modelId="{5EF439B2-3C7F-4A9F-AEBA-DB44EF5BA8F2}" type="sibTrans" cxnId="{246203CC-8F85-453C-AA11-1AD8CBF1013E}">
      <dgm:prSet/>
      <dgm:spPr/>
      <dgm:t>
        <a:bodyPr/>
        <a:lstStyle/>
        <a:p>
          <a:endParaRPr lang="en-GB"/>
        </a:p>
      </dgm:t>
    </dgm:pt>
    <dgm:pt modelId="{8C000713-8F7B-4830-892E-A3BFCE131E14}">
      <dgm:prSet/>
      <dgm:spPr/>
      <dgm:t>
        <a:bodyPr/>
        <a:lstStyle/>
        <a:p>
          <a:pPr rtl="0"/>
          <a:r>
            <a:rPr lang="en-US" dirty="0"/>
            <a:t>If you are required to be market neutral, this is the premium  you should use. </a:t>
          </a:r>
          <a:endParaRPr lang="en-GB" dirty="0"/>
        </a:p>
      </dgm:t>
    </dgm:pt>
    <dgm:pt modelId="{E9C306F5-B9B6-4A98-92B7-3DC26C5A9574}" type="parTrans" cxnId="{0AEE4784-46BB-4300-AFF1-A8B6B340495C}">
      <dgm:prSet/>
      <dgm:spPr/>
      <dgm:t>
        <a:bodyPr/>
        <a:lstStyle/>
        <a:p>
          <a:endParaRPr lang="en-GB"/>
        </a:p>
      </dgm:t>
    </dgm:pt>
    <dgm:pt modelId="{99E59E9D-6A27-4EB6-A5FF-A1CFD5179D20}" type="sibTrans" cxnId="{0AEE4784-46BB-4300-AFF1-A8B6B340495C}">
      <dgm:prSet/>
      <dgm:spPr/>
      <dgm:t>
        <a:bodyPr/>
        <a:lstStyle/>
        <a:p>
          <a:endParaRPr lang="en-GB"/>
        </a:p>
      </dgm:t>
    </dgm:pt>
    <dgm:pt modelId="{D1202539-55D0-4B27-B175-BAC941A3610D}">
      <dgm:prSet/>
      <dgm:spPr/>
      <dgm:t>
        <a:bodyPr/>
        <a:lstStyle/>
        <a:p>
          <a:pPr rtl="0"/>
          <a:r>
            <a:rPr lang="en-US" dirty="0"/>
            <a:t>You are assuming that the market is correct on average but not necessarily at a point in time.</a:t>
          </a:r>
          <a:endParaRPr lang="en-GB" dirty="0"/>
        </a:p>
      </dgm:t>
    </dgm:pt>
    <dgm:pt modelId="{12E983FE-D00D-4238-8586-17B5A1D5DD55}" type="parTrans" cxnId="{22FBA22E-F648-4658-AD3E-E7F478BB2561}">
      <dgm:prSet/>
      <dgm:spPr/>
      <dgm:t>
        <a:bodyPr/>
        <a:lstStyle/>
        <a:p>
          <a:endParaRPr lang="en-GB"/>
        </a:p>
      </dgm:t>
    </dgm:pt>
    <dgm:pt modelId="{A04640A5-DD8E-445D-AA98-3C776DB144ED}" type="sibTrans" cxnId="{22FBA22E-F648-4658-AD3E-E7F478BB2561}">
      <dgm:prSet/>
      <dgm:spPr/>
      <dgm:t>
        <a:bodyPr/>
        <a:lstStyle/>
        <a:p>
          <a:endParaRPr lang="en-GB"/>
        </a:p>
      </dgm:t>
    </dgm:pt>
    <dgm:pt modelId="{A981A844-EE95-403F-B98F-93AE1F931C4F}" type="pres">
      <dgm:prSet presAssocID="{2F56B53A-F250-4D71-9322-4FF9F80586B5}" presName="Name0" presStyleCnt="0">
        <dgm:presLayoutVars>
          <dgm:dir/>
          <dgm:animLvl val="lvl"/>
          <dgm:resizeHandles val="exact"/>
        </dgm:presLayoutVars>
      </dgm:prSet>
      <dgm:spPr/>
    </dgm:pt>
    <dgm:pt modelId="{1720864B-B487-4D82-B66D-32C5D420B99D}" type="pres">
      <dgm:prSet presAssocID="{A2D7859B-8A2A-4535-AE5F-284EF2209248}" presName="composite" presStyleCnt="0"/>
      <dgm:spPr/>
    </dgm:pt>
    <dgm:pt modelId="{07F4906A-7A8C-46BE-941A-F5369BA72F96}" type="pres">
      <dgm:prSet presAssocID="{A2D7859B-8A2A-4535-AE5F-284EF2209248}" presName="parTx" presStyleLbl="alignNode1" presStyleIdx="0" presStyleCnt="3">
        <dgm:presLayoutVars>
          <dgm:chMax val="0"/>
          <dgm:chPref val="0"/>
          <dgm:bulletEnabled val="1"/>
        </dgm:presLayoutVars>
      </dgm:prSet>
      <dgm:spPr/>
    </dgm:pt>
    <dgm:pt modelId="{2EDA30D3-9EA8-4464-9ACE-DEA5B4824A6D}" type="pres">
      <dgm:prSet presAssocID="{A2D7859B-8A2A-4535-AE5F-284EF2209248}" presName="desTx" presStyleLbl="alignAccFollowNode1" presStyleIdx="0" presStyleCnt="3">
        <dgm:presLayoutVars>
          <dgm:bulletEnabled val="1"/>
        </dgm:presLayoutVars>
      </dgm:prSet>
      <dgm:spPr/>
    </dgm:pt>
    <dgm:pt modelId="{2811D84B-DF00-43DD-BF4F-CFC7E16DBEC8}" type="pres">
      <dgm:prSet presAssocID="{F13939C6-AFAE-4B1B-A6E9-9893943CC82E}" presName="space" presStyleCnt="0"/>
      <dgm:spPr/>
    </dgm:pt>
    <dgm:pt modelId="{7CCB2CCE-744C-44C5-84E7-7F17C4F68FCD}" type="pres">
      <dgm:prSet presAssocID="{66527941-4AA6-4846-AFF4-578C952870C8}" presName="composite" presStyleCnt="0"/>
      <dgm:spPr/>
    </dgm:pt>
    <dgm:pt modelId="{7B1D7BC9-0B4E-4B92-81BC-435C0E0F1959}" type="pres">
      <dgm:prSet presAssocID="{66527941-4AA6-4846-AFF4-578C952870C8}" presName="parTx" presStyleLbl="alignNode1" presStyleIdx="1" presStyleCnt="3">
        <dgm:presLayoutVars>
          <dgm:chMax val="0"/>
          <dgm:chPref val="0"/>
          <dgm:bulletEnabled val="1"/>
        </dgm:presLayoutVars>
      </dgm:prSet>
      <dgm:spPr/>
    </dgm:pt>
    <dgm:pt modelId="{7203EEFB-7FE0-44C7-AC86-72D882B6A9D6}" type="pres">
      <dgm:prSet presAssocID="{66527941-4AA6-4846-AFF4-578C952870C8}" presName="desTx" presStyleLbl="alignAccFollowNode1" presStyleIdx="1" presStyleCnt="3">
        <dgm:presLayoutVars>
          <dgm:bulletEnabled val="1"/>
        </dgm:presLayoutVars>
      </dgm:prSet>
      <dgm:spPr/>
    </dgm:pt>
    <dgm:pt modelId="{70EDCD30-6A0F-4218-BE6C-A892F4B0B134}" type="pres">
      <dgm:prSet presAssocID="{ACF95725-5DC7-44AC-9152-2182BF5B0593}" presName="space" presStyleCnt="0"/>
      <dgm:spPr/>
    </dgm:pt>
    <dgm:pt modelId="{4E43DAFE-2BE1-442C-99E7-2AAE56F8CAD3}" type="pres">
      <dgm:prSet presAssocID="{0A93159F-8D24-43FB-815A-8A97FA0756D6}" presName="composite" presStyleCnt="0"/>
      <dgm:spPr/>
    </dgm:pt>
    <dgm:pt modelId="{BF61626B-3FFB-4999-B015-25B41ED51D8E}" type="pres">
      <dgm:prSet presAssocID="{0A93159F-8D24-43FB-815A-8A97FA0756D6}" presName="parTx" presStyleLbl="alignNode1" presStyleIdx="2" presStyleCnt="3">
        <dgm:presLayoutVars>
          <dgm:chMax val="0"/>
          <dgm:chPref val="0"/>
          <dgm:bulletEnabled val="1"/>
        </dgm:presLayoutVars>
      </dgm:prSet>
      <dgm:spPr/>
    </dgm:pt>
    <dgm:pt modelId="{CBF00831-1A3F-4749-8C5C-CB98A8ABB13B}" type="pres">
      <dgm:prSet presAssocID="{0A93159F-8D24-43FB-815A-8A97FA0756D6}" presName="desTx" presStyleLbl="alignAccFollowNode1" presStyleIdx="2" presStyleCnt="3">
        <dgm:presLayoutVars>
          <dgm:bulletEnabled val="1"/>
        </dgm:presLayoutVars>
      </dgm:prSet>
      <dgm:spPr/>
    </dgm:pt>
  </dgm:ptLst>
  <dgm:cxnLst>
    <dgm:cxn modelId="{6363C815-B7F1-48A8-8543-69CCC0D758D0}" type="presOf" srcId="{954F4873-3AF8-4EEE-B598-5A41D277CB5C}" destId="{2EDA30D3-9EA8-4464-9ACE-DEA5B4824A6D}" srcOrd="0" destOrd="1" presId="urn:microsoft.com/office/officeart/2005/8/layout/hList1"/>
    <dgm:cxn modelId="{FDBCA816-D7A1-4FDE-AD82-67F633333977}" srcId="{2F56B53A-F250-4D71-9322-4FF9F80586B5}" destId="{A2D7859B-8A2A-4535-AE5F-284EF2209248}" srcOrd="0" destOrd="0" parTransId="{E47F7423-C700-4595-B53F-2FC1F7E0260E}" sibTransId="{F13939C6-AFAE-4B1B-A6E9-9893943CC82E}"/>
    <dgm:cxn modelId="{C0A0EA1B-930B-408C-8F4C-F2B9DDE1F5B5}" type="presOf" srcId="{83831E7B-799D-4EA4-B3B6-FEAB3B2F50E1}" destId="{7203EEFB-7FE0-44C7-AC86-72D882B6A9D6}" srcOrd="0" destOrd="0" presId="urn:microsoft.com/office/officeart/2005/8/layout/hList1"/>
    <dgm:cxn modelId="{05872228-585B-4FA2-9170-10F1B624A5AC}" srcId="{2F56B53A-F250-4D71-9322-4FF9F80586B5}" destId="{66527941-4AA6-4846-AFF4-578C952870C8}" srcOrd="1" destOrd="0" parTransId="{66DCA186-FECC-48EC-80BE-93FA1EDF72D1}" sibTransId="{ACF95725-5DC7-44AC-9152-2182BF5B0593}"/>
    <dgm:cxn modelId="{AAF41D29-DDB1-409C-AA45-58D31DE95EE8}" srcId="{A2D7859B-8A2A-4535-AE5F-284EF2209248}" destId="{2C57EFE2-C02B-47B2-BF76-A2C189947198}" srcOrd="2" destOrd="0" parTransId="{791B7D1F-C788-4AD2-8A3A-76F6C2860E52}" sibTransId="{00E35D62-AF1F-4AEA-AA86-453A36691494}"/>
    <dgm:cxn modelId="{22FBA22E-F648-4658-AD3E-E7F478BB2561}" srcId="{0A93159F-8D24-43FB-815A-8A97FA0756D6}" destId="{D1202539-55D0-4B27-B175-BAC941A3610D}" srcOrd="1" destOrd="0" parTransId="{12E983FE-D00D-4238-8586-17B5A1D5DD55}" sibTransId="{A04640A5-DD8E-445D-AA98-3C776DB144ED}"/>
    <dgm:cxn modelId="{3283AB3F-61E5-486A-819D-3A73B88DCDBD}" type="presOf" srcId="{2F56B53A-F250-4D71-9322-4FF9F80586B5}" destId="{A981A844-EE95-403F-B98F-93AE1F931C4F}" srcOrd="0" destOrd="0" presId="urn:microsoft.com/office/officeart/2005/8/layout/hList1"/>
    <dgm:cxn modelId="{84920B74-7A48-4746-B3CF-BC6D2BCF1EF7}" type="presOf" srcId="{0A93159F-8D24-43FB-815A-8A97FA0756D6}" destId="{BF61626B-3FFB-4999-B015-25B41ED51D8E}" srcOrd="0" destOrd="0" presId="urn:microsoft.com/office/officeart/2005/8/layout/hList1"/>
    <dgm:cxn modelId="{6922437E-808C-4C2F-89FF-B3DBBA5DEF3D}" srcId="{2F56B53A-F250-4D71-9322-4FF9F80586B5}" destId="{0A93159F-8D24-43FB-815A-8A97FA0756D6}" srcOrd="2" destOrd="0" parTransId="{C516D8AE-EC6E-4A91-90AC-0394B57212E1}" sibTransId="{0841D252-B9A6-4A83-A2B3-7C398E9BD84D}"/>
    <dgm:cxn modelId="{8EA8E17E-1794-468B-93B5-CB7AFC24E248}" type="presOf" srcId="{66527941-4AA6-4846-AFF4-578C952870C8}" destId="{7B1D7BC9-0B4E-4B92-81BC-435C0E0F1959}" srcOrd="0" destOrd="0" presId="urn:microsoft.com/office/officeart/2005/8/layout/hList1"/>
    <dgm:cxn modelId="{0AEE4784-46BB-4300-AFF1-A8B6B340495C}" srcId="{66527941-4AA6-4846-AFF4-578C952870C8}" destId="{8C000713-8F7B-4830-892E-A3BFCE131E14}" srcOrd="1" destOrd="0" parTransId="{E9C306F5-B9B6-4A98-92B7-3DC26C5A9574}" sibTransId="{99E59E9D-6A27-4EB6-A5FF-A1CFD5179D20}"/>
    <dgm:cxn modelId="{7369ED8D-8DD5-40ED-A88B-5A6C4C67649E}" srcId="{A2D7859B-8A2A-4535-AE5F-284EF2209248}" destId="{2DD0941A-1341-4B2A-89E4-84A4929F864A}" srcOrd="0" destOrd="0" parTransId="{E54808F3-33EC-495C-A22A-0BB498B121FB}" sibTransId="{3B5F4864-388D-4249-B5AD-B9F319E2B851}"/>
    <dgm:cxn modelId="{7CE74690-B9FD-4B08-A4F9-E72BFA69EE1C}" type="presOf" srcId="{D1202539-55D0-4B27-B175-BAC941A3610D}" destId="{CBF00831-1A3F-4749-8C5C-CB98A8ABB13B}" srcOrd="0" destOrd="1" presId="urn:microsoft.com/office/officeart/2005/8/layout/hList1"/>
    <dgm:cxn modelId="{C7818C95-3BB3-48B7-9D1D-3D5EAFC55048}" srcId="{66527941-4AA6-4846-AFF4-578C952870C8}" destId="{83831E7B-799D-4EA4-B3B6-FEAB3B2F50E1}" srcOrd="0" destOrd="0" parTransId="{932240C8-BC31-4348-A8A9-4F3A2D65AF3D}" sibTransId="{F8475EE5-6135-47EB-B655-CC785B4013D8}"/>
    <dgm:cxn modelId="{DD6F279B-07BC-435A-B6C3-5B455741FDE1}" type="presOf" srcId="{2DD0941A-1341-4B2A-89E4-84A4929F864A}" destId="{2EDA30D3-9EA8-4464-9ACE-DEA5B4824A6D}" srcOrd="0" destOrd="0" presId="urn:microsoft.com/office/officeart/2005/8/layout/hList1"/>
    <dgm:cxn modelId="{72245DA4-FE46-4264-8DAB-432FC9E18498}" srcId="{0A93159F-8D24-43FB-815A-8A97FA0756D6}" destId="{08959B57-9DEB-4CCB-AACA-58B9A56D5E6A}" srcOrd="0" destOrd="0" parTransId="{71C1E53D-1B8E-4EBF-AD22-CBB910FC0209}" sibTransId="{86D7CE52-7CD4-4048-98F3-BA803B039D63}"/>
    <dgm:cxn modelId="{DD317CA7-5E44-4DFC-87BA-41869DE5FCBE}" type="presOf" srcId="{08959B57-9DEB-4CCB-AACA-58B9A56D5E6A}" destId="{CBF00831-1A3F-4749-8C5C-CB98A8ABB13B}" srcOrd="0" destOrd="0" presId="urn:microsoft.com/office/officeart/2005/8/layout/hList1"/>
    <dgm:cxn modelId="{D396E2B9-2CFB-4049-9254-39AE3A2C4B56}" type="presOf" srcId="{2C57EFE2-C02B-47B2-BF76-A2C189947198}" destId="{2EDA30D3-9EA8-4464-9ACE-DEA5B4824A6D}" srcOrd="0" destOrd="2" presId="urn:microsoft.com/office/officeart/2005/8/layout/hList1"/>
    <dgm:cxn modelId="{246203CC-8F85-453C-AA11-1AD8CBF1013E}" srcId="{A2D7859B-8A2A-4535-AE5F-284EF2209248}" destId="{954F4873-3AF8-4EEE-B598-5A41D277CB5C}" srcOrd="1" destOrd="0" parTransId="{32212D56-1E60-46CF-9241-7E92B4F89F1D}" sibTransId="{5EF439B2-3C7F-4A9F-AEBA-DB44EF5BA8F2}"/>
    <dgm:cxn modelId="{B20CCEE4-27B1-4C5D-AB5E-8E00917BDD3E}" type="presOf" srcId="{A2D7859B-8A2A-4535-AE5F-284EF2209248}" destId="{07F4906A-7A8C-46BE-941A-F5369BA72F96}" srcOrd="0" destOrd="0" presId="urn:microsoft.com/office/officeart/2005/8/layout/hList1"/>
    <dgm:cxn modelId="{95E100E9-2E3E-4025-961A-06669D5A6A42}" type="presOf" srcId="{8C000713-8F7B-4830-892E-A3BFCE131E14}" destId="{7203EEFB-7FE0-44C7-AC86-72D882B6A9D6}" srcOrd="0" destOrd="1" presId="urn:microsoft.com/office/officeart/2005/8/layout/hList1"/>
    <dgm:cxn modelId="{E01A5A8F-9DC2-4DAC-99FD-D50262D41F0F}" type="presParOf" srcId="{A981A844-EE95-403F-B98F-93AE1F931C4F}" destId="{1720864B-B487-4D82-B66D-32C5D420B99D}" srcOrd="0" destOrd="0" presId="urn:microsoft.com/office/officeart/2005/8/layout/hList1"/>
    <dgm:cxn modelId="{38B7D88C-AC09-4E1A-9B40-525EE418739C}" type="presParOf" srcId="{1720864B-B487-4D82-B66D-32C5D420B99D}" destId="{07F4906A-7A8C-46BE-941A-F5369BA72F96}" srcOrd="0" destOrd="0" presId="urn:microsoft.com/office/officeart/2005/8/layout/hList1"/>
    <dgm:cxn modelId="{87BC4773-CCAB-4500-A914-8AEF87E932B5}" type="presParOf" srcId="{1720864B-B487-4D82-B66D-32C5D420B99D}" destId="{2EDA30D3-9EA8-4464-9ACE-DEA5B4824A6D}" srcOrd="1" destOrd="0" presId="urn:microsoft.com/office/officeart/2005/8/layout/hList1"/>
    <dgm:cxn modelId="{6E529305-8F03-432B-BDA2-5F680E662666}" type="presParOf" srcId="{A981A844-EE95-403F-B98F-93AE1F931C4F}" destId="{2811D84B-DF00-43DD-BF4F-CFC7E16DBEC8}" srcOrd="1" destOrd="0" presId="urn:microsoft.com/office/officeart/2005/8/layout/hList1"/>
    <dgm:cxn modelId="{E75AB096-7AB2-4DCC-B90F-66C10FF2AD1D}" type="presParOf" srcId="{A981A844-EE95-403F-B98F-93AE1F931C4F}" destId="{7CCB2CCE-744C-44C5-84E7-7F17C4F68FCD}" srcOrd="2" destOrd="0" presId="urn:microsoft.com/office/officeart/2005/8/layout/hList1"/>
    <dgm:cxn modelId="{F02E9467-3213-4686-AFD7-54B771C77E18}" type="presParOf" srcId="{7CCB2CCE-744C-44C5-84E7-7F17C4F68FCD}" destId="{7B1D7BC9-0B4E-4B92-81BC-435C0E0F1959}" srcOrd="0" destOrd="0" presId="urn:microsoft.com/office/officeart/2005/8/layout/hList1"/>
    <dgm:cxn modelId="{1AF4AB5B-0625-4A5D-BD6D-B7E1A7EB4343}" type="presParOf" srcId="{7CCB2CCE-744C-44C5-84E7-7F17C4F68FCD}" destId="{7203EEFB-7FE0-44C7-AC86-72D882B6A9D6}" srcOrd="1" destOrd="0" presId="urn:microsoft.com/office/officeart/2005/8/layout/hList1"/>
    <dgm:cxn modelId="{4AB89223-5909-4D9E-ACA8-18117FBD0EF7}" type="presParOf" srcId="{A981A844-EE95-403F-B98F-93AE1F931C4F}" destId="{70EDCD30-6A0F-4218-BE6C-A892F4B0B134}" srcOrd="3" destOrd="0" presId="urn:microsoft.com/office/officeart/2005/8/layout/hList1"/>
    <dgm:cxn modelId="{D63D9B23-CF39-4333-932D-58C48498AA84}" type="presParOf" srcId="{A981A844-EE95-403F-B98F-93AE1F931C4F}" destId="{4E43DAFE-2BE1-442C-99E7-2AAE56F8CAD3}" srcOrd="4" destOrd="0" presId="urn:microsoft.com/office/officeart/2005/8/layout/hList1"/>
    <dgm:cxn modelId="{C402889D-F2BC-429D-BD75-2CB41F7D7433}" type="presParOf" srcId="{4E43DAFE-2BE1-442C-99E7-2AAE56F8CAD3}" destId="{BF61626B-3FFB-4999-B015-25B41ED51D8E}" srcOrd="0" destOrd="0" presId="urn:microsoft.com/office/officeart/2005/8/layout/hList1"/>
    <dgm:cxn modelId="{5E4A041D-F8A7-4CB3-B367-3A37512DA7C2}" type="presParOf" srcId="{4E43DAFE-2BE1-442C-99E7-2AAE56F8CAD3}" destId="{CBF00831-1A3F-4749-8C5C-CB98A8ABB13B}"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05D9B25-29D1-4EB0-A2B1-31B6F306AFD4}" type="doc">
      <dgm:prSet loTypeId="urn:microsoft.com/office/officeart/2005/8/layout/list1" loCatId="list" qsTypeId="urn:microsoft.com/office/officeart/2005/8/quickstyle/simple1#6" qsCatId="simple" csTypeId="urn:microsoft.com/office/officeart/2005/8/colors/accent1_2#7" csCatId="accent1"/>
      <dgm:spPr/>
      <dgm:t>
        <a:bodyPr/>
        <a:lstStyle/>
        <a:p>
          <a:endParaRPr lang="en-US"/>
        </a:p>
      </dgm:t>
    </dgm:pt>
    <dgm:pt modelId="{17CBB7BA-012D-42A0-8A06-6CEA70D685E1}">
      <dgm:prSet/>
      <dgm:spPr/>
      <dgm:t>
        <a:bodyPr/>
        <a:lstStyle/>
        <a:p>
          <a:pPr rtl="0"/>
          <a:r>
            <a:rPr lang="en-GB"/>
            <a:t>Mature</a:t>
          </a:r>
          <a:endParaRPr lang="en-US"/>
        </a:p>
      </dgm:t>
    </dgm:pt>
    <dgm:pt modelId="{C7135C64-2C38-4EA3-B8B5-7BFE33E8399A}" type="parTrans" cxnId="{B2304FF6-F4D0-41E9-9F46-88E38296B056}">
      <dgm:prSet/>
      <dgm:spPr/>
      <dgm:t>
        <a:bodyPr/>
        <a:lstStyle/>
        <a:p>
          <a:endParaRPr lang="en-US"/>
        </a:p>
      </dgm:t>
    </dgm:pt>
    <dgm:pt modelId="{16A9AB32-E57E-442E-BC78-F0C7C27C1003}" type="sibTrans" cxnId="{B2304FF6-F4D0-41E9-9F46-88E38296B056}">
      <dgm:prSet/>
      <dgm:spPr/>
      <dgm:t>
        <a:bodyPr/>
        <a:lstStyle/>
        <a:p>
          <a:endParaRPr lang="en-US"/>
        </a:p>
      </dgm:t>
    </dgm:pt>
    <dgm:pt modelId="{1A3F67DB-65D6-479E-A63B-E3C900441E21}">
      <dgm:prSet/>
      <dgm:spPr/>
      <dgm:t>
        <a:bodyPr/>
        <a:lstStyle/>
        <a:p>
          <a:pPr rtl="0"/>
          <a:r>
            <a:rPr lang="en-GB"/>
            <a:t>Historical Risk Premia are around 4% to 5%</a:t>
          </a:r>
          <a:endParaRPr lang="en-US"/>
        </a:p>
      </dgm:t>
    </dgm:pt>
    <dgm:pt modelId="{39086B54-55CC-4B3C-AD30-32513C0A3EA3}" type="parTrans" cxnId="{84AEC26A-6C69-4A43-BC42-3D3C763C953F}">
      <dgm:prSet/>
      <dgm:spPr/>
      <dgm:t>
        <a:bodyPr/>
        <a:lstStyle/>
        <a:p>
          <a:endParaRPr lang="en-US"/>
        </a:p>
      </dgm:t>
    </dgm:pt>
    <dgm:pt modelId="{74B71EA0-9B5C-4D2D-B511-68DE228103CA}" type="sibTrans" cxnId="{84AEC26A-6C69-4A43-BC42-3D3C763C953F}">
      <dgm:prSet/>
      <dgm:spPr/>
      <dgm:t>
        <a:bodyPr/>
        <a:lstStyle/>
        <a:p>
          <a:endParaRPr lang="en-US"/>
        </a:p>
      </dgm:t>
    </dgm:pt>
    <dgm:pt modelId="{450465ED-53F9-4CB8-B103-5CCF522D77E2}">
      <dgm:prSet/>
      <dgm:spPr/>
      <dgm:t>
        <a:bodyPr/>
        <a:lstStyle/>
        <a:p>
          <a:pPr rtl="0"/>
          <a:r>
            <a:rPr lang="en-GB"/>
            <a:t>Emerging</a:t>
          </a:r>
          <a:endParaRPr lang="en-US"/>
        </a:p>
      </dgm:t>
    </dgm:pt>
    <dgm:pt modelId="{3A134B5D-E936-46BD-85B3-B46F5272691B}" type="parTrans" cxnId="{2F4BAE3A-8276-4E5A-A4AD-8B2EF3DE6D61}">
      <dgm:prSet/>
      <dgm:spPr/>
      <dgm:t>
        <a:bodyPr/>
        <a:lstStyle/>
        <a:p>
          <a:endParaRPr lang="en-US"/>
        </a:p>
      </dgm:t>
    </dgm:pt>
    <dgm:pt modelId="{CF24E8CB-115C-4468-AC1D-49E4786D9B53}" type="sibTrans" cxnId="{2F4BAE3A-8276-4E5A-A4AD-8B2EF3DE6D61}">
      <dgm:prSet/>
      <dgm:spPr/>
      <dgm:t>
        <a:bodyPr/>
        <a:lstStyle/>
        <a:p>
          <a:endParaRPr lang="en-US"/>
        </a:p>
      </dgm:t>
    </dgm:pt>
    <dgm:pt modelId="{DB240828-CF36-48C9-89DC-809F7F51F537}">
      <dgm:prSet/>
      <dgm:spPr/>
      <dgm:t>
        <a:bodyPr/>
        <a:lstStyle/>
        <a:p>
          <a:pPr rtl="0"/>
          <a:r>
            <a:rPr lang="en-GB"/>
            <a:t>Wide variation</a:t>
          </a:r>
          <a:endParaRPr lang="en-US"/>
        </a:p>
      </dgm:t>
    </dgm:pt>
    <dgm:pt modelId="{9E2CC738-119B-4824-AAE2-0CBDA2A28536}" type="parTrans" cxnId="{83B2DB8C-9AEF-4165-9B15-559612DA8E49}">
      <dgm:prSet/>
      <dgm:spPr/>
      <dgm:t>
        <a:bodyPr/>
        <a:lstStyle/>
        <a:p>
          <a:endParaRPr lang="en-US"/>
        </a:p>
      </dgm:t>
    </dgm:pt>
    <dgm:pt modelId="{1F9654EA-FD47-46AA-8509-9CE5BA9044BF}" type="sibTrans" cxnId="{83B2DB8C-9AEF-4165-9B15-559612DA8E49}">
      <dgm:prSet/>
      <dgm:spPr/>
      <dgm:t>
        <a:bodyPr/>
        <a:lstStyle/>
        <a:p>
          <a:endParaRPr lang="en-US"/>
        </a:p>
      </dgm:t>
    </dgm:pt>
    <dgm:pt modelId="{861BF70F-548D-413F-9B8A-CCBB92BE2B1F}">
      <dgm:prSet/>
      <dgm:spPr/>
      <dgm:t>
        <a:bodyPr/>
        <a:lstStyle/>
        <a:p>
          <a:pPr rtl="0"/>
          <a:r>
            <a:rPr lang="en-GB"/>
            <a:t>Should we consider other factors?</a:t>
          </a:r>
          <a:endParaRPr lang="en-US"/>
        </a:p>
      </dgm:t>
    </dgm:pt>
    <dgm:pt modelId="{93FB6BA6-854A-4FCA-8B05-B8EBDFA3B7C4}" type="parTrans" cxnId="{8521BA2C-51D0-4524-9B30-7873011DD708}">
      <dgm:prSet/>
      <dgm:spPr/>
      <dgm:t>
        <a:bodyPr/>
        <a:lstStyle/>
        <a:p>
          <a:endParaRPr lang="en-US"/>
        </a:p>
      </dgm:t>
    </dgm:pt>
    <dgm:pt modelId="{AA838CE9-551D-4CC7-9FF5-4C8EBEA44F57}" type="sibTrans" cxnId="{8521BA2C-51D0-4524-9B30-7873011DD708}">
      <dgm:prSet/>
      <dgm:spPr/>
      <dgm:t>
        <a:bodyPr/>
        <a:lstStyle/>
        <a:p>
          <a:endParaRPr lang="en-US"/>
        </a:p>
      </dgm:t>
    </dgm:pt>
    <dgm:pt modelId="{C97D81E6-E65B-4573-8AD3-046F301D72D3}" type="pres">
      <dgm:prSet presAssocID="{F05D9B25-29D1-4EB0-A2B1-31B6F306AFD4}" presName="linear" presStyleCnt="0">
        <dgm:presLayoutVars>
          <dgm:dir/>
          <dgm:animLvl val="lvl"/>
          <dgm:resizeHandles val="exact"/>
        </dgm:presLayoutVars>
      </dgm:prSet>
      <dgm:spPr/>
    </dgm:pt>
    <dgm:pt modelId="{E72A491F-59DC-4D59-8511-32B90B08DF8A}" type="pres">
      <dgm:prSet presAssocID="{17CBB7BA-012D-42A0-8A06-6CEA70D685E1}" presName="parentLin" presStyleCnt="0"/>
      <dgm:spPr/>
    </dgm:pt>
    <dgm:pt modelId="{19E2C9BA-8DE4-4D33-A6AD-F2CF96E7BB5D}" type="pres">
      <dgm:prSet presAssocID="{17CBB7BA-012D-42A0-8A06-6CEA70D685E1}" presName="parentLeftMargin" presStyleLbl="node1" presStyleIdx="0" presStyleCnt="2"/>
      <dgm:spPr/>
    </dgm:pt>
    <dgm:pt modelId="{F3696EFD-218C-476F-B563-ED76F96691FD}" type="pres">
      <dgm:prSet presAssocID="{17CBB7BA-012D-42A0-8A06-6CEA70D685E1}" presName="parentText" presStyleLbl="node1" presStyleIdx="0" presStyleCnt="2">
        <dgm:presLayoutVars>
          <dgm:chMax val="0"/>
          <dgm:bulletEnabled val="1"/>
        </dgm:presLayoutVars>
      </dgm:prSet>
      <dgm:spPr/>
    </dgm:pt>
    <dgm:pt modelId="{E6464FBA-B17D-4C59-95FD-94C82D6593F6}" type="pres">
      <dgm:prSet presAssocID="{17CBB7BA-012D-42A0-8A06-6CEA70D685E1}" presName="negativeSpace" presStyleCnt="0"/>
      <dgm:spPr/>
    </dgm:pt>
    <dgm:pt modelId="{955FA64D-9586-48F1-BA99-2A88B8A73B08}" type="pres">
      <dgm:prSet presAssocID="{17CBB7BA-012D-42A0-8A06-6CEA70D685E1}" presName="childText" presStyleLbl="conFgAcc1" presStyleIdx="0" presStyleCnt="2">
        <dgm:presLayoutVars>
          <dgm:bulletEnabled val="1"/>
        </dgm:presLayoutVars>
      </dgm:prSet>
      <dgm:spPr/>
    </dgm:pt>
    <dgm:pt modelId="{7F5DCAC2-A367-4C81-80C1-09C8B2093BC6}" type="pres">
      <dgm:prSet presAssocID="{16A9AB32-E57E-442E-BC78-F0C7C27C1003}" presName="spaceBetweenRectangles" presStyleCnt="0"/>
      <dgm:spPr/>
    </dgm:pt>
    <dgm:pt modelId="{9EA06DBF-DDA3-4558-B49B-BBEA6D4E50D3}" type="pres">
      <dgm:prSet presAssocID="{450465ED-53F9-4CB8-B103-5CCF522D77E2}" presName="parentLin" presStyleCnt="0"/>
      <dgm:spPr/>
    </dgm:pt>
    <dgm:pt modelId="{47ACA482-E6B2-4CDC-89AF-77FE8246226C}" type="pres">
      <dgm:prSet presAssocID="{450465ED-53F9-4CB8-B103-5CCF522D77E2}" presName="parentLeftMargin" presStyleLbl="node1" presStyleIdx="0" presStyleCnt="2"/>
      <dgm:spPr/>
    </dgm:pt>
    <dgm:pt modelId="{CCA0EA83-3BBB-4676-86C4-F4EA7BB1A544}" type="pres">
      <dgm:prSet presAssocID="{450465ED-53F9-4CB8-B103-5CCF522D77E2}" presName="parentText" presStyleLbl="node1" presStyleIdx="1" presStyleCnt="2">
        <dgm:presLayoutVars>
          <dgm:chMax val="0"/>
          <dgm:bulletEnabled val="1"/>
        </dgm:presLayoutVars>
      </dgm:prSet>
      <dgm:spPr/>
    </dgm:pt>
    <dgm:pt modelId="{7A6FBEDC-EB9B-4172-8B7F-1BFD0BA955DB}" type="pres">
      <dgm:prSet presAssocID="{450465ED-53F9-4CB8-B103-5CCF522D77E2}" presName="negativeSpace" presStyleCnt="0"/>
      <dgm:spPr/>
    </dgm:pt>
    <dgm:pt modelId="{EBE3EA99-E752-401C-B39F-1E4F112DF4C4}" type="pres">
      <dgm:prSet presAssocID="{450465ED-53F9-4CB8-B103-5CCF522D77E2}" presName="childText" presStyleLbl="conFgAcc1" presStyleIdx="1" presStyleCnt="2">
        <dgm:presLayoutVars>
          <dgm:bulletEnabled val="1"/>
        </dgm:presLayoutVars>
      </dgm:prSet>
      <dgm:spPr/>
    </dgm:pt>
  </dgm:ptLst>
  <dgm:cxnLst>
    <dgm:cxn modelId="{558FFD05-FF6E-4ACE-AE67-5C7AEB5E402C}" type="presOf" srcId="{1A3F67DB-65D6-479E-A63B-E3C900441E21}" destId="{955FA64D-9586-48F1-BA99-2A88B8A73B08}" srcOrd="0" destOrd="0" presId="urn:microsoft.com/office/officeart/2005/8/layout/list1"/>
    <dgm:cxn modelId="{EFC2272C-7C4F-41EF-AE83-4611723DDEDC}" type="presOf" srcId="{861BF70F-548D-413F-9B8A-CCBB92BE2B1F}" destId="{EBE3EA99-E752-401C-B39F-1E4F112DF4C4}" srcOrd="0" destOrd="1" presId="urn:microsoft.com/office/officeart/2005/8/layout/list1"/>
    <dgm:cxn modelId="{8521BA2C-51D0-4524-9B30-7873011DD708}" srcId="{450465ED-53F9-4CB8-B103-5CCF522D77E2}" destId="{861BF70F-548D-413F-9B8A-CCBB92BE2B1F}" srcOrd="1" destOrd="0" parTransId="{93FB6BA6-854A-4FCA-8B05-B8EBDFA3B7C4}" sibTransId="{AA838CE9-551D-4CC7-9FF5-4C8EBEA44F57}"/>
    <dgm:cxn modelId="{3D646234-105C-4481-BA66-D1D6918FBA92}" type="presOf" srcId="{450465ED-53F9-4CB8-B103-5CCF522D77E2}" destId="{CCA0EA83-3BBB-4676-86C4-F4EA7BB1A544}" srcOrd="1" destOrd="0" presId="urn:microsoft.com/office/officeart/2005/8/layout/list1"/>
    <dgm:cxn modelId="{B7365635-BF5E-4A36-89FE-1F3A4C5E7AEF}" type="presOf" srcId="{DB240828-CF36-48C9-89DC-809F7F51F537}" destId="{EBE3EA99-E752-401C-B39F-1E4F112DF4C4}" srcOrd="0" destOrd="0" presId="urn:microsoft.com/office/officeart/2005/8/layout/list1"/>
    <dgm:cxn modelId="{2F4BAE3A-8276-4E5A-A4AD-8B2EF3DE6D61}" srcId="{F05D9B25-29D1-4EB0-A2B1-31B6F306AFD4}" destId="{450465ED-53F9-4CB8-B103-5CCF522D77E2}" srcOrd="1" destOrd="0" parTransId="{3A134B5D-E936-46BD-85B3-B46F5272691B}" sibTransId="{CF24E8CB-115C-4468-AC1D-49E4786D9B53}"/>
    <dgm:cxn modelId="{84AEC26A-6C69-4A43-BC42-3D3C763C953F}" srcId="{17CBB7BA-012D-42A0-8A06-6CEA70D685E1}" destId="{1A3F67DB-65D6-479E-A63B-E3C900441E21}" srcOrd="0" destOrd="0" parTransId="{39086B54-55CC-4B3C-AD30-32513C0A3EA3}" sibTransId="{74B71EA0-9B5C-4D2D-B511-68DE228103CA}"/>
    <dgm:cxn modelId="{83B2DB8C-9AEF-4165-9B15-559612DA8E49}" srcId="{450465ED-53F9-4CB8-B103-5CCF522D77E2}" destId="{DB240828-CF36-48C9-89DC-809F7F51F537}" srcOrd="0" destOrd="0" parTransId="{9E2CC738-119B-4824-AAE2-0CBDA2A28536}" sibTransId="{1F9654EA-FD47-46AA-8509-9CE5BA9044BF}"/>
    <dgm:cxn modelId="{2AB8ECB0-132B-4385-A667-0ACE4D2EAF9B}" type="presOf" srcId="{17CBB7BA-012D-42A0-8A06-6CEA70D685E1}" destId="{19E2C9BA-8DE4-4D33-A6AD-F2CF96E7BB5D}" srcOrd="0" destOrd="0" presId="urn:microsoft.com/office/officeart/2005/8/layout/list1"/>
    <dgm:cxn modelId="{18F4F1B8-6183-4723-A05E-BCF904B75C6D}" type="presOf" srcId="{F05D9B25-29D1-4EB0-A2B1-31B6F306AFD4}" destId="{C97D81E6-E65B-4573-8AD3-046F301D72D3}" srcOrd="0" destOrd="0" presId="urn:microsoft.com/office/officeart/2005/8/layout/list1"/>
    <dgm:cxn modelId="{2FF8B1C1-884E-4AF8-982C-2E29989869A8}" type="presOf" srcId="{450465ED-53F9-4CB8-B103-5CCF522D77E2}" destId="{47ACA482-E6B2-4CDC-89AF-77FE8246226C}" srcOrd="0" destOrd="0" presId="urn:microsoft.com/office/officeart/2005/8/layout/list1"/>
    <dgm:cxn modelId="{11125BE6-0253-407C-B694-1FAB5E46DD90}" type="presOf" srcId="{17CBB7BA-012D-42A0-8A06-6CEA70D685E1}" destId="{F3696EFD-218C-476F-B563-ED76F96691FD}" srcOrd="1" destOrd="0" presId="urn:microsoft.com/office/officeart/2005/8/layout/list1"/>
    <dgm:cxn modelId="{B2304FF6-F4D0-41E9-9F46-88E38296B056}" srcId="{F05D9B25-29D1-4EB0-A2B1-31B6F306AFD4}" destId="{17CBB7BA-012D-42A0-8A06-6CEA70D685E1}" srcOrd="0" destOrd="0" parTransId="{C7135C64-2C38-4EA3-B8B5-7BFE33E8399A}" sibTransId="{16A9AB32-E57E-442E-BC78-F0C7C27C1003}"/>
    <dgm:cxn modelId="{BE76C23D-96C5-42CB-9650-72B9A3CFCCA5}" type="presParOf" srcId="{C97D81E6-E65B-4573-8AD3-046F301D72D3}" destId="{E72A491F-59DC-4D59-8511-32B90B08DF8A}" srcOrd="0" destOrd="0" presId="urn:microsoft.com/office/officeart/2005/8/layout/list1"/>
    <dgm:cxn modelId="{693F12B7-FB70-4030-9991-0E2963875EFD}" type="presParOf" srcId="{E72A491F-59DC-4D59-8511-32B90B08DF8A}" destId="{19E2C9BA-8DE4-4D33-A6AD-F2CF96E7BB5D}" srcOrd="0" destOrd="0" presId="urn:microsoft.com/office/officeart/2005/8/layout/list1"/>
    <dgm:cxn modelId="{FE80A8ED-C908-4CCB-9555-8CAD18AC6229}" type="presParOf" srcId="{E72A491F-59DC-4D59-8511-32B90B08DF8A}" destId="{F3696EFD-218C-476F-B563-ED76F96691FD}" srcOrd="1" destOrd="0" presId="urn:microsoft.com/office/officeart/2005/8/layout/list1"/>
    <dgm:cxn modelId="{A06A8AB6-A2E4-4BC8-9C8B-2D511265C06B}" type="presParOf" srcId="{C97D81E6-E65B-4573-8AD3-046F301D72D3}" destId="{E6464FBA-B17D-4C59-95FD-94C82D6593F6}" srcOrd="1" destOrd="0" presId="urn:microsoft.com/office/officeart/2005/8/layout/list1"/>
    <dgm:cxn modelId="{B01943AF-378E-4016-AFB8-70A9FE74E1D2}" type="presParOf" srcId="{C97D81E6-E65B-4573-8AD3-046F301D72D3}" destId="{955FA64D-9586-48F1-BA99-2A88B8A73B08}" srcOrd="2" destOrd="0" presId="urn:microsoft.com/office/officeart/2005/8/layout/list1"/>
    <dgm:cxn modelId="{4A841366-35CA-4B16-9DAA-3605C7CD5766}" type="presParOf" srcId="{C97D81E6-E65B-4573-8AD3-046F301D72D3}" destId="{7F5DCAC2-A367-4C81-80C1-09C8B2093BC6}" srcOrd="3" destOrd="0" presId="urn:microsoft.com/office/officeart/2005/8/layout/list1"/>
    <dgm:cxn modelId="{F43A4592-FED9-47AA-ACAA-F5CEDBF4B0D5}" type="presParOf" srcId="{C97D81E6-E65B-4573-8AD3-046F301D72D3}" destId="{9EA06DBF-DDA3-4558-B49B-BBEA6D4E50D3}" srcOrd="4" destOrd="0" presId="urn:microsoft.com/office/officeart/2005/8/layout/list1"/>
    <dgm:cxn modelId="{5056155C-74F0-4EA2-BCCF-03790AED0F09}" type="presParOf" srcId="{9EA06DBF-DDA3-4558-B49B-BBEA6D4E50D3}" destId="{47ACA482-E6B2-4CDC-89AF-77FE8246226C}" srcOrd="0" destOrd="0" presId="urn:microsoft.com/office/officeart/2005/8/layout/list1"/>
    <dgm:cxn modelId="{7806A238-C139-40F7-843F-62B29965675E}" type="presParOf" srcId="{9EA06DBF-DDA3-4558-B49B-BBEA6D4E50D3}" destId="{CCA0EA83-3BBB-4676-86C4-F4EA7BB1A544}" srcOrd="1" destOrd="0" presId="urn:microsoft.com/office/officeart/2005/8/layout/list1"/>
    <dgm:cxn modelId="{FA3DE12C-92C3-4412-8A02-396DDFD5B404}" type="presParOf" srcId="{C97D81E6-E65B-4573-8AD3-046F301D72D3}" destId="{7A6FBEDC-EB9B-4172-8B7F-1BFD0BA955DB}" srcOrd="5" destOrd="0" presId="urn:microsoft.com/office/officeart/2005/8/layout/list1"/>
    <dgm:cxn modelId="{5D70500F-EC1E-46DA-A4A9-34294AB1821A}" type="presParOf" srcId="{C97D81E6-E65B-4573-8AD3-046F301D72D3}" destId="{EBE3EA99-E752-401C-B39F-1E4F112DF4C4}"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FC7381BA-070F-477F-A80B-4C6E6F2E4AF3}" type="doc">
      <dgm:prSet loTypeId="urn:microsoft.com/office/officeart/2005/8/layout/equation2" loCatId="process" qsTypeId="urn:microsoft.com/office/officeart/2005/8/quickstyle/3d3#6" qsCatId="3D" csTypeId="urn:microsoft.com/office/officeart/2005/8/colors/colorful1#5" csCatId="colorful" phldr="1"/>
      <dgm:spPr/>
    </dgm:pt>
    <dgm:pt modelId="{4403E6D8-1BEE-45DC-B83B-02300EF2614C}">
      <dgm:prSet phldrT="[Text]"/>
      <dgm:spPr/>
      <dgm:t>
        <a:bodyPr/>
        <a:lstStyle/>
        <a:p>
          <a:r>
            <a:rPr lang="en-GB" dirty="0"/>
            <a:t>Base  Risk Premium (RP)</a:t>
          </a:r>
        </a:p>
      </dgm:t>
    </dgm:pt>
    <dgm:pt modelId="{27B5C37D-2546-41BD-B36A-1F4F70D641F3}" type="parTrans" cxnId="{1517A0D6-F43C-4429-A88C-2BABBCDF19A2}">
      <dgm:prSet/>
      <dgm:spPr/>
      <dgm:t>
        <a:bodyPr/>
        <a:lstStyle/>
        <a:p>
          <a:endParaRPr lang="en-GB"/>
        </a:p>
      </dgm:t>
    </dgm:pt>
    <dgm:pt modelId="{C00943B1-195C-45DE-A49F-6BA52F42DA75}" type="sibTrans" cxnId="{1517A0D6-F43C-4429-A88C-2BABBCDF19A2}">
      <dgm:prSet/>
      <dgm:spPr/>
      <dgm:t>
        <a:bodyPr/>
        <a:lstStyle/>
        <a:p>
          <a:endParaRPr lang="en-GB"/>
        </a:p>
      </dgm:t>
    </dgm:pt>
    <dgm:pt modelId="{2C9A0091-4673-4506-B59F-24FF508DD9F1}">
      <dgm:prSet phldrT="[Text]"/>
      <dgm:spPr/>
      <dgm:t>
        <a:bodyPr/>
        <a:lstStyle/>
        <a:p>
          <a:r>
            <a:rPr lang="en-GB" dirty="0"/>
            <a:t>Country Risk Premium (CRP)</a:t>
          </a:r>
        </a:p>
      </dgm:t>
    </dgm:pt>
    <dgm:pt modelId="{165B2E40-9DDE-4ACF-B2BF-48DB061F6834}" type="parTrans" cxnId="{5567E692-F4A7-4F27-9F94-AAB45068CE39}">
      <dgm:prSet/>
      <dgm:spPr/>
      <dgm:t>
        <a:bodyPr/>
        <a:lstStyle/>
        <a:p>
          <a:endParaRPr lang="en-GB"/>
        </a:p>
      </dgm:t>
    </dgm:pt>
    <dgm:pt modelId="{F07E36A6-1855-4F0D-B3CF-EF69BE3E905E}" type="sibTrans" cxnId="{5567E692-F4A7-4F27-9F94-AAB45068CE39}">
      <dgm:prSet/>
      <dgm:spPr/>
      <dgm:t>
        <a:bodyPr/>
        <a:lstStyle/>
        <a:p>
          <a:endParaRPr lang="en-GB"/>
        </a:p>
      </dgm:t>
    </dgm:pt>
    <dgm:pt modelId="{9EFC8239-961E-466D-8559-98FB5E0D0FBA}">
      <dgm:prSet phldrT="[Text]"/>
      <dgm:spPr/>
      <dgm:t>
        <a:bodyPr/>
        <a:lstStyle/>
        <a:p>
          <a:r>
            <a:rPr lang="en-GB" dirty="0"/>
            <a:t>Total Market  Equity Risk Premium</a:t>
          </a:r>
        </a:p>
        <a:p>
          <a:r>
            <a:rPr lang="en-GB" dirty="0"/>
            <a:t>(ERP)</a:t>
          </a:r>
        </a:p>
      </dgm:t>
    </dgm:pt>
    <dgm:pt modelId="{485E18AA-5EC4-4E0A-8AEA-7F03F1C09B50}" type="parTrans" cxnId="{A3A5083E-0F64-4679-AB7E-795130F450C7}">
      <dgm:prSet/>
      <dgm:spPr/>
      <dgm:t>
        <a:bodyPr/>
        <a:lstStyle/>
        <a:p>
          <a:endParaRPr lang="en-GB"/>
        </a:p>
      </dgm:t>
    </dgm:pt>
    <dgm:pt modelId="{B13FA57A-6C6A-4E08-B561-57154A1F7C74}" type="sibTrans" cxnId="{A3A5083E-0F64-4679-AB7E-795130F450C7}">
      <dgm:prSet/>
      <dgm:spPr/>
      <dgm:t>
        <a:bodyPr/>
        <a:lstStyle/>
        <a:p>
          <a:endParaRPr lang="en-GB"/>
        </a:p>
      </dgm:t>
    </dgm:pt>
    <dgm:pt modelId="{6B8756EF-7611-4E13-8F79-67ECF18E949F}" type="pres">
      <dgm:prSet presAssocID="{FC7381BA-070F-477F-A80B-4C6E6F2E4AF3}" presName="Name0" presStyleCnt="0">
        <dgm:presLayoutVars>
          <dgm:dir/>
          <dgm:resizeHandles val="exact"/>
        </dgm:presLayoutVars>
      </dgm:prSet>
      <dgm:spPr/>
    </dgm:pt>
    <dgm:pt modelId="{950BCFC6-80D6-421A-84F8-F6781107F269}" type="pres">
      <dgm:prSet presAssocID="{FC7381BA-070F-477F-A80B-4C6E6F2E4AF3}" presName="vNodes" presStyleCnt="0"/>
      <dgm:spPr/>
    </dgm:pt>
    <dgm:pt modelId="{6F63F612-D9D3-40CE-ACA7-605045D9873B}" type="pres">
      <dgm:prSet presAssocID="{4403E6D8-1BEE-45DC-B83B-02300EF2614C}" presName="node" presStyleLbl="node1" presStyleIdx="0" presStyleCnt="3" custScaleX="404132" custLinFactNeighborX="-23264">
        <dgm:presLayoutVars>
          <dgm:bulletEnabled val="1"/>
        </dgm:presLayoutVars>
      </dgm:prSet>
      <dgm:spPr/>
    </dgm:pt>
    <dgm:pt modelId="{26DE4DF8-5DAC-45DF-B354-94355FEE88C2}" type="pres">
      <dgm:prSet presAssocID="{C00943B1-195C-45DE-A49F-6BA52F42DA75}" presName="spacerT" presStyleCnt="0"/>
      <dgm:spPr/>
    </dgm:pt>
    <dgm:pt modelId="{5D8D044F-D501-4985-AFBB-DF53E18D15DB}" type="pres">
      <dgm:prSet presAssocID="{C00943B1-195C-45DE-A49F-6BA52F42DA75}" presName="sibTrans" presStyleLbl="sibTrans2D1" presStyleIdx="0" presStyleCnt="2" custLinFactNeighborX="-52844"/>
      <dgm:spPr/>
    </dgm:pt>
    <dgm:pt modelId="{649435BB-2EB9-4ACA-A7A8-5B4082DE8687}" type="pres">
      <dgm:prSet presAssocID="{C00943B1-195C-45DE-A49F-6BA52F42DA75}" presName="spacerB" presStyleCnt="0"/>
      <dgm:spPr/>
    </dgm:pt>
    <dgm:pt modelId="{11905AAC-4AE5-4B58-8A8B-0A03EB0ED25A}" type="pres">
      <dgm:prSet presAssocID="{2C9A0091-4673-4506-B59F-24FF508DD9F1}" presName="node" presStyleLbl="node1" presStyleIdx="1" presStyleCnt="3" custScaleX="404132" custLinFactNeighborX="-23264">
        <dgm:presLayoutVars>
          <dgm:bulletEnabled val="1"/>
        </dgm:presLayoutVars>
      </dgm:prSet>
      <dgm:spPr/>
    </dgm:pt>
    <dgm:pt modelId="{952E7EEB-6E16-4FD6-802A-D3A12B6241ED}" type="pres">
      <dgm:prSet presAssocID="{FC7381BA-070F-477F-A80B-4C6E6F2E4AF3}" presName="sibTransLast" presStyleLbl="sibTrans2D1" presStyleIdx="1" presStyleCnt="2" custScaleX="309307" custLinFactX="-26531" custLinFactNeighborX="-100000"/>
      <dgm:spPr/>
    </dgm:pt>
    <dgm:pt modelId="{571DDF43-0367-4ED7-A098-E44A451077FF}" type="pres">
      <dgm:prSet presAssocID="{FC7381BA-070F-477F-A80B-4C6E6F2E4AF3}" presName="connectorText" presStyleLbl="sibTrans2D1" presStyleIdx="1" presStyleCnt="2"/>
      <dgm:spPr/>
    </dgm:pt>
    <dgm:pt modelId="{C21302AD-C638-43BD-BA14-AD6FFB86E8EE}" type="pres">
      <dgm:prSet presAssocID="{FC7381BA-070F-477F-A80B-4C6E6F2E4AF3}" presName="lastNode" presStyleLbl="node1" presStyleIdx="2" presStyleCnt="3" custScaleY="137311">
        <dgm:presLayoutVars>
          <dgm:bulletEnabled val="1"/>
        </dgm:presLayoutVars>
      </dgm:prSet>
      <dgm:spPr/>
    </dgm:pt>
  </dgm:ptLst>
  <dgm:cxnLst>
    <dgm:cxn modelId="{1162DF19-6E88-4E02-A5C1-B65666956BF1}" type="presOf" srcId="{F07E36A6-1855-4F0D-B3CF-EF69BE3E905E}" destId="{952E7EEB-6E16-4FD6-802A-D3A12B6241ED}" srcOrd="0" destOrd="0" presId="urn:microsoft.com/office/officeart/2005/8/layout/equation2"/>
    <dgm:cxn modelId="{13C7491E-8FF5-487E-A7B9-6789579B9D62}" type="presOf" srcId="{4403E6D8-1BEE-45DC-B83B-02300EF2614C}" destId="{6F63F612-D9D3-40CE-ACA7-605045D9873B}" srcOrd="0" destOrd="0" presId="urn:microsoft.com/office/officeart/2005/8/layout/equation2"/>
    <dgm:cxn modelId="{DDB46130-C728-43C3-856E-17049CE119E6}" type="presOf" srcId="{FC7381BA-070F-477F-A80B-4C6E6F2E4AF3}" destId="{6B8756EF-7611-4E13-8F79-67ECF18E949F}" srcOrd="0" destOrd="0" presId="urn:microsoft.com/office/officeart/2005/8/layout/equation2"/>
    <dgm:cxn modelId="{1D320734-9AE5-4BAA-9FC7-E1CF797B49B9}" type="presOf" srcId="{2C9A0091-4673-4506-B59F-24FF508DD9F1}" destId="{11905AAC-4AE5-4B58-8A8B-0A03EB0ED25A}" srcOrd="0" destOrd="0" presId="urn:microsoft.com/office/officeart/2005/8/layout/equation2"/>
    <dgm:cxn modelId="{A3A5083E-0F64-4679-AB7E-795130F450C7}" srcId="{FC7381BA-070F-477F-A80B-4C6E6F2E4AF3}" destId="{9EFC8239-961E-466D-8559-98FB5E0D0FBA}" srcOrd="2" destOrd="0" parTransId="{485E18AA-5EC4-4E0A-8AEA-7F03F1C09B50}" sibTransId="{B13FA57A-6C6A-4E08-B561-57154A1F7C74}"/>
    <dgm:cxn modelId="{5567E692-F4A7-4F27-9F94-AAB45068CE39}" srcId="{FC7381BA-070F-477F-A80B-4C6E6F2E4AF3}" destId="{2C9A0091-4673-4506-B59F-24FF508DD9F1}" srcOrd="1" destOrd="0" parTransId="{165B2E40-9DDE-4ACF-B2BF-48DB061F6834}" sibTransId="{F07E36A6-1855-4F0D-B3CF-EF69BE3E905E}"/>
    <dgm:cxn modelId="{C813ACBE-7965-4D52-81AE-40A181523B3D}" type="presOf" srcId="{F07E36A6-1855-4F0D-B3CF-EF69BE3E905E}" destId="{571DDF43-0367-4ED7-A098-E44A451077FF}" srcOrd="1" destOrd="0" presId="urn:microsoft.com/office/officeart/2005/8/layout/equation2"/>
    <dgm:cxn modelId="{F579F0CC-96BC-4D4E-ADAA-8407A12A9B5B}" type="presOf" srcId="{9EFC8239-961E-466D-8559-98FB5E0D0FBA}" destId="{C21302AD-C638-43BD-BA14-AD6FFB86E8EE}" srcOrd="0" destOrd="0" presId="urn:microsoft.com/office/officeart/2005/8/layout/equation2"/>
    <dgm:cxn modelId="{1517A0D6-F43C-4429-A88C-2BABBCDF19A2}" srcId="{FC7381BA-070F-477F-A80B-4C6E6F2E4AF3}" destId="{4403E6D8-1BEE-45DC-B83B-02300EF2614C}" srcOrd="0" destOrd="0" parTransId="{27B5C37D-2546-41BD-B36A-1F4F70D641F3}" sibTransId="{C00943B1-195C-45DE-A49F-6BA52F42DA75}"/>
    <dgm:cxn modelId="{F2A79FED-061C-409D-947E-7E2D2C20FEC9}" type="presOf" srcId="{C00943B1-195C-45DE-A49F-6BA52F42DA75}" destId="{5D8D044F-D501-4985-AFBB-DF53E18D15DB}" srcOrd="0" destOrd="0" presId="urn:microsoft.com/office/officeart/2005/8/layout/equation2"/>
    <dgm:cxn modelId="{7D5353EA-0162-4B01-9C98-206C08E080C3}" type="presParOf" srcId="{6B8756EF-7611-4E13-8F79-67ECF18E949F}" destId="{950BCFC6-80D6-421A-84F8-F6781107F269}" srcOrd="0" destOrd="0" presId="urn:microsoft.com/office/officeart/2005/8/layout/equation2"/>
    <dgm:cxn modelId="{09920E1B-30E8-4F02-9310-C9894516C239}" type="presParOf" srcId="{950BCFC6-80D6-421A-84F8-F6781107F269}" destId="{6F63F612-D9D3-40CE-ACA7-605045D9873B}" srcOrd="0" destOrd="0" presId="urn:microsoft.com/office/officeart/2005/8/layout/equation2"/>
    <dgm:cxn modelId="{F79FC809-584A-40F5-AE79-5B83B51E9F90}" type="presParOf" srcId="{950BCFC6-80D6-421A-84F8-F6781107F269}" destId="{26DE4DF8-5DAC-45DF-B354-94355FEE88C2}" srcOrd="1" destOrd="0" presId="urn:microsoft.com/office/officeart/2005/8/layout/equation2"/>
    <dgm:cxn modelId="{F5C59DDE-6D7D-46A2-B117-07B902C218D0}" type="presParOf" srcId="{950BCFC6-80D6-421A-84F8-F6781107F269}" destId="{5D8D044F-D501-4985-AFBB-DF53E18D15DB}" srcOrd="2" destOrd="0" presId="urn:microsoft.com/office/officeart/2005/8/layout/equation2"/>
    <dgm:cxn modelId="{AA12D898-7FBE-4A71-9534-A7DBB5CA8C1D}" type="presParOf" srcId="{950BCFC6-80D6-421A-84F8-F6781107F269}" destId="{649435BB-2EB9-4ACA-A7A8-5B4082DE8687}" srcOrd="3" destOrd="0" presId="urn:microsoft.com/office/officeart/2005/8/layout/equation2"/>
    <dgm:cxn modelId="{DDD3678F-C328-411C-9A73-E67DB50CFB18}" type="presParOf" srcId="{950BCFC6-80D6-421A-84F8-F6781107F269}" destId="{11905AAC-4AE5-4B58-8A8B-0A03EB0ED25A}" srcOrd="4" destOrd="0" presId="urn:microsoft.com/office/officeart/2005/8/layout/equation2"/>
    <dgm:cxn modelId="{8BF4A520-B728-48C7-AC7C-B1370B2FAECA}" type="presParOf" srcId="{6B8756EF-7611-4E13-8F79-67ECF18E949F}" destId="{952E7EEB-6E16-4FD6-802A-D3A12B6241ED}" srcOrd="1" destOrd="0" presId="urn:microsoft.com/office/officeart/2005/8/layout/equation2"/>
    <dgm:cxn modelId="{1CCE7469-F336-4DA3-82A2-BAB936D8A308}" type="presParOf" srcId="{952E7EEB-6E16-4FD6-802A-D3A12B6241ED}" destId="{571DDF43-0367-4ED7-A098-E44A451077FF}" srcOrd="0" destOrd="0" presId="urn:microsoft.com/office/officeart/2005/8/layout/equation2"/>
    <dgm:cxn modelId="{D35DCCEC-CBB1-4092-AD60-87C18F3F8543}" type="presParOf" srcId="{6B8756EF-7611-4E13-8F79-67ECF18E949F}" destId="{C21302AD-C638-43BD-BA14-AD6FFB86E8EE}" srcOrd="2" destOrd="0" presId="urn:microsoft.com/office/officeart/2005/8/layout/equati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7F45E3EB-4174-4270-872C-B19A89E5FA95}" type="doc">
      <dgm:prSet loTypeId="urn:microsoft.com/office/officeart/2005/8/layout/list1" loCatId="list" qsTypeId="urn:microsoft.com/office/officeart/2005/8/quickstyle/simple1#7" qsCatId="simple" csTypeId="urn:microsoft.com/office/officeart/2005/8/colors/accent1_2#8" csCatId="accent1" phldr="1"/>
      <dgm:spPr/>
      <dgm:t>
        <a:bodyPr/>
        <a:lstStyle/>
        <a:p>
          <a:endParaRPr lang="en-GB"/>
        </a:p>
      </dgm:t>
    </dgm:pt>
    <dgm:pt modelId="{FDF1C6C5-D12F-4167-87CB-7A6177E4CDEA}">
      <dgm:prSet/>
      <dgm:spPr/>
      <dgm:t>
        <a:bodyPr/>
        <a:lstStyle/>
        <a:p>
          <a:pPr rtl="0"/>
          <a:r>
            <a:rPr lang="en-US" u="sng" dirty="0"/>
            <a:t>Source of revenues</a:t>
          </a:r>
          <a:r>
            <a:rPr lang="en-US" dirty="0"/>
            <a:t>: </a:t>
          </a:r>
        </a:p>
      </dgm:t>
    </dgm:pt>
    <dgm:pt modelId="{BDF655F2-E826-4122-8DEF-267DBDDF5D3C}" type="parTrans" cxnId="{CA8B36F8-464B-4E02-94F6-31B56993A6E1}">
      <dgm:prSet/>
      <dgm:spPr/>
      <dgm:t>
        <a:bodyPr/>
        <a:lstStyle/>
        <a:p>
          <a:endParaRPr lang="en-GB"/>
        </a:p>
      </dgm:t>
    </dgm:pt>
    <dgm:pt modelId="{643B942F-390B-489D-95AF-2825417A1FD0}" type="sibTrans" cxnId="{CA8B36F8-464B-4E02-94F6-31B56993A6E1}">
      <dgm:prSet/>
      <dgm:spPr/>
      <dgm:t>
        <a:bodyPr/>
        <a:lstStyle/>
        <a:p>
          <a:endParaRPr lang="en-GB"/>
        </a:p>
      </dgm:t>
    </dgm:pt>
    <dgm:pt modelId="{4C774971-0B41-44BF-BE67-DB47BE7B3AAB}">
      <dgm:prSet/>
      <dgm:spPr/>
      <dgm:t>
        <a:bodyPr/>
        <a:lstStyle/>
        <a:p>
          <a:pPr rtl="0"/>
          <a:r>
            <a:rPr lang="en-US" dirty="0" err="1"/>
            <a:t>Acompany</a:t>
          </a:r>
          <a:r>
            <a:rPr lang="en-US" dirty="0"/>
            <a:t> should be more exposed to risk in a country if it generates more of its revenues from that country.  A Brazilian firm that generates the bulk of its revenues in Brazil should be more exposed to country risk than one that generates  a smaller percent of its business within Brazil.</a:t>
          </a:r>
          <a:endParaRPr lang="en-GB" dirty="0"/>
        </a:p>
      </dgm:t>
    </dgm:pt>
    <dgm:pt modelId="{69E294A4-899F-4FCF-9477-7FAA135DC58B}" type="parTrans" cxnId="{B1B20184-1BBA-4A6E-8C36-1EDC339932EC}">
      <dgm:prSet/>
      <dgm:spPr/>
      <dgm:t>
        <a:bodyPr/>
        <a:lstStyle/>
        <a:p>
          <a:endParaRPr lang="en-GB"/>
        </a:p>
      </dgm:t>
    </dgm:pt>
    <dgm:pt modelId="{4803A8E4-2DB7-4951-A26D-B8A4FE026F11}" type="sibTrans" cxnId="{B1B20184-1BBA-4A6E-8C36-1EDC339932EC}">
      <dgm:prSet/>
      <dgm:spPr/>
      <dgm:t>
        <a:bodyPr/>
        <a:lstStyle/>
        <a:p>
          <a:endParaRPr lang="en-GB"/>
        </a:p>
      </dgm:t>
    </dgm:pt>
    <dgm:pt modelId="{F8768E5B-BA95-4E22-A9FB-CE1EF2E870FF}">
      <dgm:prSet/>
      <dgm:spPr/>
      <dgm:t>
        <a:bodyPr/>
        <a:lstStyle/>
        <a:p>
          <a:pPr rtl="0"/>
          <a:r>
            <a:rPr lang="en-US" u="sng" dirty="0"/>
            <a:t>Manufacturing facilities</a:t>
          </a:r>
          <a:r>
            <a:rPr lang="en-US" dirty="0"/>
            <a:t>: </a:t>
          </a:r>
        </a:p>
      </dgm:t>
    </dgm:pt>
    <dgm:pt modelId="{F9F22509-1984-41A6-A0D3-0E8FC1B5370B}" type="parTrans" cxnId="{936F3EDD-1EAA-4951-B2A3-30C222DFB35D}">
      <dgm:prSet/>
      <dgm:spPr/>
      <dgm:t>
        <a:bodyPr/>
        <a:lstStyle/>
        <a:p>
          <a:endParaRPr lang="en-GB"/>
        </a:p>
      </dgm:t>
    </dgm:pt>
    <dgm:pt modelId="{4FAC9DCB-106F-44D1-8004-637510C36C4E}" type="sibTrans" cxnId="{936F3EDD-1EAA-4951-B2A3-30C222DFB35D}">
      <dgm:prSet/>
      <dgm:spPr/>
      <dgm:t>
        <a:bodyPr/>
        <a:lstStyle/>
        <a:p>
          <a:endParaRPr lang="en-GB"/>
        </a:p>
      </dgm:t>
    </dgm:pt>
    <dgm:pt modelId="{235793BD-1C47-40DC-9927-ED4820721676}">
      <dgm:prSet/>
      <dgm:spPr/>
      <dgm:t>
        <a:bodyPr/>
        <a:lstStyle/>
        <a:p>
          <a:pPr rtl="0"/>
          <a:r>
            <a:rPr lang="en-US" dirty="0"/>
            <a:t>Other things remaining equal, a firm that has all of its production facilities in Brazil should be more exposed to country risk than one which has production facilities spread over multiple countries. The problem will be accented for companies that cannot move their production facilities (mining and petroleum companies, for instance).</a:t>
          </a:r>
          <a:endParaRPr lang="en-GB" dirty="0"/>
        </a:p>
      </dgm:t>
    </dgm:pt>
    <dgm:pt modelId="{44321B42-DB7F-4DAE-B308-45E758E7809A}" type="parTrans" cxnId="{B6BAF776-1BAC-461E-B1C6-4CED552E170A}">
      <dgm:prSet/>
      <dgm:spPr/>
      <dgm:t>
        <a:bodyPr/>
        <a:lstStyle/>
        <a:p>
          <a:endParaRPr lang="en-GB"/>
        </a:p>
      </dgm:t>
    </dgm:pt>
    <dgm:pt modelId="{65B7F01E-5FB0-432F-91DC-E5BB8D2040EE}" type="sibTrans" cxnId="{B6BAF776-1BAC-461E-B1C6-4CED552E170A}">
      <dgm:prSet/>
      <dgm:spPr/>
      <dgm:t>
        <a:bodyPr/>
        <a:lstStyle/>
        <a:p>
          <a:endParaRPr lang="en-GB"/>
        </a:p>
      </dgm:t>
    </dgm:pt>
    <dgm:pt modelId="{81388AE7-AA55-4C59-A7DE-0F374A5E0AE7}">
      <dgm:prSet/>
      <dgm:spPr/>
      <dgm:t>
        <a:bodyPr/>
        <a:lstStyle/>
        <a:p>
          <a:pPr rtl="0"/>
          <a:r>
            <a:rPr lang="en-US" u="sng" dirty="0"/>
            <a:t>Use of risk management products</a:t>
          </a:r>
          <a:r>
            <a:rPr lang="en-US" dirty="0"/>
            <a:t>: </a:t>
          </a:r>
        </a:p>
      </dgm:t>
    </dgm:pt>
    <dgm:pt modelId="{9A621333-B324-4930-9B4F-DAC416CB5818}" type="parTrans" cxnId="{BC5D15ED-2294-4EF6-840A-70B001FF0422}">
      <dgm:prSet/>
      <dgm:spPr/>
      <dgm:t>
        <a:bodyPr/>
        <a:lstStyle/>
        <a:p>
          <a:endParaRPr lang="en-GB"/>
        </a:p>
      </dgm:t>
    </dgm:pt>
    <dgm:pt modelId="{DE403B32-39F5-4A6D-8892-7E51B0F80174}" type="sibTrans" cxnId="{BC5D15ED-2294-4EF6-840A-70B001FF0422}">
      <dgm:prSet/>
      <dgm:spPr/>
      <dgm:t>
        <a:bodyPr/>
        <a:lstStyle/>
        <a:p>
          <a:endParaRPr lang="en-GB"/>
        </a:p>
      </dgm:t>
    </dgm:pt>
    <dgm:pt modelId="{33339025-33C1-4A3E-9464-E24DB9E04FAB}">
      <dgm:prSet/>
      <dgm:spPr/>
      <dgm:t>
        <a:bodyPr/>
        <a:lstStyle/>
        <a:p>
          <a:pPr rtl="0"/>
          <a:r>
            <a:rPr lang="en-US" dirty="0"/>
            <a:t>Companies can use both options/futures markets and insurance to hedge some or a significant portion of country risk.</a:t>
          </a:r>
          <a:endParaRPr lang="en-GB" dirty="0"/>
        </a:p>
      </dgm:t>
    </dgm:pt>
    <dgm:pt modelId="{2021826A-7648-4DF3-A603-3357B82AB9C6}" type="parTrans" cxnId="{93E5FC81-8E9D-4F5B-A978-B804F169094D}">
      <dgm:prSet/>
      <dgm:spPr/>
      <dgm:t>
        <a:bodyPr/>
        <a:lstStyle/>
        <a:p>
          <a:endParaRPr lang="en-GB"/>
        </a:p>
      </dgm:t>
    </dgm:pt>
    <dgm:pt modelId="{1D520EA2-3220-4C2E-850A-5A8EBE71BB8B}" type="sibTrans" cxnId="{93E5FC81-8E9D-4F5B-A978-B804F169094D}">
      <dgm:prSet/>
      <dgm:spPr/>
      <dgm:t>
        <a:bodyPr/>
        <a:lstStyle/>
        <a:p>
          <a:endParaRPr lang="en-GB"/>
        </a:p>
      </dgm:t>
    </dgm:pt>
    <dgm:pt modelId="{9154220E-F78B-414D-8104-CEFEA9BB8ADB}" type="pres">
      <dgm:prSet presAssocID="{7F45E3EB-4174-4270-872C-B19A89E5FA95}" presName="linear" presStyleCnt="0">
        <dgm:presLayoutVars>
          <dgm:dir/>
          <dgm:animLvl val="lvl"/>
          <dgm:resizeHandles val="exact"/>
        </dgm:presLayoutVars>
      </dgm:prSet>
      <dgm:spPr/>
    </dgm:pt>
    <dgm:pt modelId="{6CB86C3C-BFB5-4962-B8F0-749F6A15589B}" type="pres">
      <dgm:prSet presAssocID="{FDF1C6C5-D12F-4167-87CB-7A6177E4CDEA}" presName="parentLin" presStyleCnt="0"/>
      <dgm:spPr/>
    </dgm:pt>
    <dgm:pt modelId="{B370F532-F3CE-438C-B30C-AB281F43903C}" type="pres">
      <dgm:prSet presAssocID="{FDF1C6C5-D12F-4167-87CB-7A6177E4CDEA}" presName="parentLeftMargin" presStyleLbl="node1" presStyleIdx="0" presStyleCnt="3"/>
      <dgm:spPr/>
    </dgm:pt>
    <dgm:pt modelId="{C1ADE584-7061-4263-8BBF-F48A691C1A09}" type="pres">
      <dgm:prSet presAssocID="{FDF1C6C5-D12F-4167-87CB-7A6177E4CDEA}" presName="parentText" presStyleLbl="node1" presStyleIdx="0" presStyleCnt="3">
        <dgm:presLayoutVars>
          <dgm:chMax val="0"/>
          <dgm:bulletEnabled val="1"/>
        </dgm:presLayoutVars>
      </dgm:prSet>
      <dgm:spPr/>
    </dgm:pt>
    <dgm:pt modelId="{ED46E520-A8B3-4B8C-BD62-1853FDD8DAEF}" type="pres">
      <dgm:prSet presAssocID="{FDF1C6C5-D12F-4167-87CB-7A6177E4CDEA}" presName="negativeSpace" presStyleCnt="0"/>
      <dgm:spPr/>
    </dgm:pt>
    <dgm:pt modelId="{5A3EBE57-1D05-4E25-AEF6-951BA6FD5862}" type="pres">
      <dgm:prSet presAssocID="{FDF1C6C5-D12F-4167-87CB-7A6177E4CDEA}" presName="childText" presStyleLbl="conFgAcc1" presStyleIdx="0" presStyleCnt="3">
        <dgm:presLayoutVars>
          <dgm:bulletEnabled val="1"/>
        </dgm:presLayoutVars>
      </dgm:prSet>
      <dgm:spPr/>
    </dgm:pt>
    <dgm:pt modelId="{4679749B-379D-4226-913E-94E7F6FE2B48}" type="pres">
      <dgm:prSet presAssocID="{643B942F-390B-489D-95AF-2825417A1FD0}" presName="spaceBetweenRectangles" presStyleCnt="0"/>
      <dgm:spPr/>
    </dgm:pt>
    <dgm:pt modelId="{F8310276-8631-4C2D-8DCC-A71797F3C294}" type="pres">
      <dgm:prSet presAssocID="{F8768E5B-BA95-4E22-A9FB-CE1EF2E870FF}" presName="parentLin" presStyleCnt="0"/>
      <dgm:spPr/>
    </dgm:pt>
    <dgm:pt modelId="{E0CEA2ED-8D0E-44D8-A6AE-30DC0DCC81D5}" type="pres">
      <dgm:prSet presAssocID="{F8768E5B-BA95-4E22-A9FB-CE1EF2E870FF}" presName="parentLeftMargin" presStyleLbl="node1" presStyleIdx="0" presStyleCnt="3"/>
      <dgm:spPr/>
    </dgm:pt>
    <dgm:pt modelId="{54C24626-3E01-40ED-9C5B-D2FC3B8E5688}" type="pres">
      <dgm:prSet presAssocID="{F8768E5B-BA95-4E22-A9FB-CE1EF2E870FF}" presName="parentText" presStyleLbl="node1" presStyleIdx="1" presStyleCnt="3">
        <dgm:presLayoutVars>
          <dgm:chMax val="0"/>
          <dgm:bulletEnabled val="1"/>
        </dgm:presLayoutVars>
      </dgm:prSet>
      <dgm:spPr/>
    </dgm:pt>
    <dgm:pt modelId="{487BD23E-C99D-4157-ABA8-29F2040203B8}" type="pres">
      <dgm:prSet presAssocID="{F8768E5B-BA95-4E22-A9FB-CE1EF2E870FF}" presName="negativeSpace" presStyleCnt="0"/>
      <dgm:spPr/>
    </dgm:pt>
    <dgm:pt modelId="{04A59514-F5E6-4A04-92FF-9A72C3466279}" type="pres">
      <dgm:prSet presAssocID="{F8768E5B-BA95-4E22-A9FB-CE1EF2E870FF}" presName="childText" presStyleLbl="conFgAcc1" presStyleIdx="1" presStyleCnt="3">
        <dgm:presLayoutVars>
          <dgm:bulletEnabled val="1"/>
        </dgm:presLayoutVars>
      </dgm:prSet>
      <dgm:spPr/>
    </dgm:pt>
    <dgm:pt modelId="{EA2D0E1E-E0C7-4E05-90EA-469176BEB327}" type="pres">
      <dgm:prSet presAssocID="{4FAC9DCB-106F-44D1-8004-637510C36C4E}" presName="spaceBetweenRectangles" presStyleCnt="0"/>
      <dgm:spPr/>
    </dgm:pt>
    <dgm:pt modelId="{345EB04A-DC8C-4526-9966-E8045A24E439}" type="pres">
      <dgm:prSet presAssocID="{81388AE7-AA55-4C59-A7DE-0F374A5E0AE7}" presName="parentLin" presStyleCnt="0"/>
      <dgm:spPr/>
    </dgm:pt>
    <dgm:pt modelId="{4E779A05-CC4D-4DB8-B15C-F9CDEA9AC3FD}" type="pres">
      <dgm:prSet presAssocID="{81388AE7-AA55-4C59-A7DE-0F374A5E0AE7}" presName="parentLeftMargin" presStyleLbl="node1" presStyleIdx="1" presStyleCnt="3"/>
      <dgm:spPr/>
    </dgm:pt>
    <dgm:pt modelId="{AB321ED6-59D6-42BF-8BD9-D2F3CE587FBE}" type="pres">
      <dgm:prSet presAssocID="{81388AE7-AA55-4C59-A7DE-0F374A5E0AE7}" presName="parentText" presStyleLbl="node1" presStyleIdx="2" presStyleCnt="3">
        <dgm:presLayoutVars>
          <dgm:chMax val="0"/>
          <dgm:bulletEnabled val="1"/>
        </dgm:presLayoutVars>
      </dgm:prSet>
      <dgm:spPr/>
    </dgm:pt>
    <dgm:pt modelId="{E05EB68D-0C2E-4624-A32B-1349ACC50FE1}" type="pres">
      <dgm:prSet presAssocID="{81388AE7-AA55-4C59-A7DE-0F374A5E0AE7}" presName="negativeSpace" presStyleCnt="0"/>
      <dgm:spPr/>
    </dgm:pt>
    <dgm:pt modelId="{6C3D9838-4898-4326-ADC0-6D652ADD2E2C}" type="pres">
      <dgm:prSet presAssocID="{81388AE7-AA55-4C59-A7DE-0F374A5E0AE7}" presName="childText" presStyleLbl="conFgAcc1" presStyleIdx="2" presStyleCnt="3">
        <dgm:presLayoutVars>
          <dgm:bulletEnabled val="1"/>
        </dgm:presLayoutVars>
      </dgm:prSet>
      <dgm:spPr/>
    </dgm:pt>
  </dgm:ptLst>
  <dgm:cxnLst>
    <dgm:cxn modelId="{CB93EA0F-6EB1-4A8F-8309-28E9867BDD70}" type="presOf" srcId="{F8768E5B-BA95-4E22-A9FB-CE1EF2E870FF}" destId="{E0CEA2ED-8D0E-44D8-A6AE-30DC0DCC81D5}" srcOrd="0" destOrd="0" presId="urn:microsoft.com/office/officeart/2005/8/layout/list1"/>
    <dgm:cxn modelId="{1E6BB018-FB8B-4B4C-806B-2C98A29F6A83}" type="presOf" srcId="{FDF1C6C5-D12F-4167-87CB-7A6177E4CDEA}" destId="{C1ADE584-7061-4263-8BBF-F48A691C1A09}" srcOrd="1" destOrd="0" presId="urn:microsoft.com/office/officeart/2005/8/layout/list1"/>
    <dgm:cxn modelId="{D59AF83A-127E-4D17-BF79-49EE1A62A83E}" type="presOf" srcId="{81388AE7-AA55-4C59-A7DE-0F374A5E0AE7}" destId="{AB321ED6-59D6-42BF-8BD9-D2F3CE587FBE}" srcOrd="1" destOrd="0" presId="urn:microsoft.com/office/officeart/2005/8/layout/list1"/>
    <dgm:cxn modelId="{FD34253E-D1D6-4542-BEEE-B13DDECEBBD0}" type="presOf" srcId="{81388AE7-AA55-4C59-A7DE-0F374A5E0AE7}" destId="{4E779A05-CC4D-4DB8-B15C-F9CDEA9AC3FD}" srcOrd="0" destOrd="0" presId="urn:microsoft.com/office/officeart/2005/8/layout/list1"/>
    <dgm:cxn modelId="{9332FA5F-F63B-4E69-BE75-30B0C571B4A0}" type="presOf" srcId="{4C774971-0B41-44BF-BE67-DB47BE7B3AAB}" destId="{5A3EBE57-1D05-4E25-AEF6-951BA6FD5862}" srcOrd="0" destOrd="0" presId="urn:microsoft.com/office/officeart/2005/8/layout/list1"/>
    <dgm:cxn modelId="{B6BAF776-1BAC-461E-B1C6-4CED552E170A}" srcId="{F8768E5B-BA95-4E22-A9FB-CE1EF2E870FF}" destId="{235793BD-1C47-40DC-9927-ED4820721676}" srcOrd="0" destOrd="0" parTransId="{44321B42-DB7F-4DAE-B308-45E758E7809A}" sibTransId="{65B7F01E-5FB0-432F-91DC-E5BB8D2040EE}"/>
    <dgm:cxn modelId="{DC592E77-BF3D-4920-8987-6BDDD8042C0F}" type="presOf" srcId="{235793BD-1C47-40DC-9927-ED4820721676}" destId="{04A59514-F5E6-4A04-92FF-9A72C3466279}" srcOrd="0" destOrd="0" presId="urn:microsoft.com/office/officeart/2005/8/layout/list1"/>
    <dgm:cxn modelId="{3F46D97F-08CC-453C-B6B3-7C37E9AF7821}" type="presOf" srcId="{F8768E5B-BA95-4E22-A9FB-CE1EF2E870FF}" destId="{54C24626-3E01-40ED-9C5B-D2FC3B8E5688}" srcOrd="1" destOrd="0" presId="urn:microsoft.com/office/officeart/2005/8/layout/list1"/>
    <dgm:cxn modelId="{93E5FC81-8E9D-4F5B-A978-B804F169094D}" srcId="{81388AE7-AA55-4C59-A7DE-0F374A5E0AE7}" destId="{33339025-33C1-4A3E-9464-E24DB9E04FAB}" srcOrd="0" destOrd="0" parTransId="{2021826A-7648-4DF3-A603-3357B82AB9C6}" sibTransId="{1D520EA2-3220-4C2E-850A-5A8EBE71BB8B}"/>
    <dgm:cxn modelId="{B1B20184-1BBA-4A6E-8C36-1EDC339932EC}" srcId="{FDF1C6C5-D12F-4167-87CB-7A6177E4CDEA}" destId="{4C774971-0B41-44BF-BE67-DB47BE7B3AAB}" srcOrd="0" destOrd="0" parTransId="{69E294A4-899F-4FCF-9477-7FAA135DC58B}" sibTransId="{4803A8E4-2DB7-4951-A26D-B8A4FE026F11}"/>
    <dgm:cxn modelId="{C1E74FCB-A699-444F-95E5-A9457842B45E}" type="presOf" srcId="{7F45E3EB-4174-4270-872C-B19A89E5FA95}" destId="{9154220E-F78B-414D-8104-CEFEA9BB8ADB}" srcOrd="0" destOrd="0" presId="urn:microsoft.com/office/officeart/2005/8/layout/list1"/>
    <dgm:cxn modelId="{076F2ED2-FCBF-4E96-93D1-AFD393A50F82}" type="presOf" srcId="{FDF1C6C5-D12F-4167-87CB-7A6177E4CDEA}" destId="{B370F532-F3CE-438C-B30C-AB281F43903C}" srcOrd="0" destOrd="0" presId="urn:microsoft.com/office/officeart/2005/8/layout/list1"/>
    <dgm:cxn modelId="{936F3EDD-1EAA-4951-B2A3-30C222DFB35D}" srcId="{7F45E3EB-4174-4270-872C-B19A89E5FA95}" destId="{F8768E5B-BA95-4E22-A9FB-CE1EF2E870FF}" srcOrd="1" destOrd="0" parTransId="{F9F22509-1984-41A6-A0D3-0E8FC1B5370B}" sibTransId="{4FAC9DCB-106F-44D1-8004-637510C36C4E}"/>
    <dgm:cxn modelId="{BC5D15ED-2294-4EF6-840A-70B001FF0422}" srcId="{7F45E3EB-4174-4270-872C-B19A89E5FA95}" destId="{81388AE7-AA55-4C59-A7DE-0F374A5E0AE7}" srcOrd="2" destOrd="0" parTransId="{9A621333-B324-4930-9B4F-DAC416CB5818}" sibTransId="{DE403B32-39F5-4A6D-8892-7E51B0F80174}"/>
    <dgm:cxn modelId="{66A6E9EF-B9A2-4283-BA7E-195EF6554802}" type="presOf" srcId="{33339025-33C1-4A3E-9464-E24DB9E04FAB}" destId="{6C3D9838-4898-4326-ADC0-6D652ADD2E2C}" srcOrd="0" destOrd="0" presId="urn:microsoft.com/office/officeart/2005/8/layout/list1"/>
    <dgm:cxn modelId="{CA8B36F8-464B-4E02-94F6-31B56993A6E1}" srcId="{7F45E3EB-4174-4270-872C-B19A89E5FA95}" destId="{FDF1C6C5-D12F-4167-87CB-7A6177E4CDEA}" srcOrd="0" destOrd="0" parTransId="{BDF655F2-E826-4122-8DEF-267DBDDF5D3C}" sibTransId="{643B942F-390B-489D-95AF-2825417A1FD0}"/>
    <dgm:cxn modelId="{2772B15F-EF33-435E-8603-9D7CB867C145}" type="presParOf" srcId="{9154220E-F78B-414D-8104-CEFEA9BB8ADB}" destId="{6CB86C3C-BFB5-4962-B8F0-749F6A15589B}" srcOrd="0" destOrd="0" presId="urn:microsoft.com/office/officeart/2005/8/layout/list1"/>
    <dgm:cxn modelId="{82735658-3BEB-4249-BD80-33A020081B9D}" type="presParOf" srcId="{6CB86C3C-BFB5-4962-B8F0-749F6A15589B}" destId="{B370F532-F3CE-438C-B30C-AB281F43903C}" srcOrd="0" destOrd="0" presId="urn:microsoft.com/office/officeart/2005/8/layout/list1"/>
    <dgm:cxn modelId="{D919A354-DEA0-4934-832D-B2D41CAF11B5}" type="presParOf" srcId="{6CB86C3C-BFB5-4962-B8F0-749F6A15589B}" destId="{C1ADE584-7061-4263-8BBF-F48A691C1A09}" srcOrd="1" destOrd="0" presId="urn:microsoft.com/office/officeart/2005/8/layout/list1"/>
    <dgm:cxn modelId="{E666291C-EA18-4846-9F07-8E94679F23A8}" type="presParOf" srcId="{9154220E-F78B-414D-8104-CEFEA9BB8ADB}" destId="{ED46E520-A8B3-4B8C-BD62-1853FDD8DAEF}" srcOrd="1" destOrd="0" presId="urn:microsoft.com/office/officeart/2005/8/layout/list1"/>
    <dgm:cxn modelId="{9E635D23-F034-4C82-AEDC-A3286A3AC272}" type="presParOf" srcId="{9154220E-F78B-414D-8104-CEFEA9BB8ADB}" destId="{5A3EBE57-1D05-4E25-AEF6-951BA6FD5862}" srcOrd="2" destOrd="0" presId="urn:microsoft.com/office/officeart/2005/8/layout/list1"/>
    <dgm:cxn modelId="{1DC3D327-7D10-4FF1-9DFF-2C4BCC18C28E}" type="presParOf" srcId="{9154220E-F78B-414D-8104-CEFEA9BB8ADB}" destId="{4679749B-379D-4226-913E-94E7F6FE2B48}" srcOrd="3" destOrd="0" presId="urn:microsoft.com/office/officeart/2005/8/layout/list1"/>
    <dgm:cxn modelId="{BEE2E55C-583D-4EE4-A864-2EAC38CFDEE0}" type="presParOf" srcId="{9154220E-F78B-414D-8104-CEFEA9BB8ADB}" destId="{F8310276-8631-4C2D-8DCC-A71797F3C294}" srcOrd="4" destOrd="0" presId="urn:microsoft.com/office/officeart/2005/8/layout/list1"/>
    <dgm:cxn modelId="{BF8D5A14-71D9-4FDD-BBE0-681E96C6C636}" type="presParOf" srcId="{F8310276-8631-4C2D-8DCC-A71797F3C294}" destId="{E0CEA2ED-8D0E-44D8-A6AE-30DC0DCC81D5}" srcOrd="0" destOrd="0" presId="urn:microsoft.com/office/officeart/2005/8/layout/list1"/>
    <dgm:cxn modelId="{BD78E0DF-8500-4883-AF18-15B067AF074C}" type="presParOf" srcId="{F8310276-8631-4C2D-8DCC-A71797F3C294}" destId="{54C24626-3E01-40ED-9C5B-D2FC3B8E5688}" srcOrd="1" destOrd="0" presId="urn:microsoft.com/office/officeart/2005/8/layout/list1"/>
    <dgm:cxn modelId="{0A88968F-541B-4F2C-BC31-8983539F1205}" type="presParOf" srcId="{9154220E-F78B-414D-8104-CEFEA9BB8ADB}" destId="{487BD23E-C99D-4157-ABA8-29F2040203B8}" srcOrd="5" destOrd="0" presId="urn:microsoft.com/office/officeart/2005/8/layout/list1"/>
    <dgm:cxn modelId="{48E0AA4B-74D9-489A-9B52-F8FE159BA4D4}" type="presParOf" srcId="{9154220E-F78B-414D-8104-CEFEA9BB8ADB}" destId="{04A59514-F5E6-4A04-92FF-9A72C3466279}" srcOrd="6" destOrd="0" presId="urn:microsoft.com/office/officeart/2005/8/layout/list1"/>
    <dgm:cxn modelId="{5710FD54-6E48-47E3-B4EE-66B3A19BB023}" type="presParOf" srcId="{9154220E-F78B-414D-8104-CEFEA9BB8ADB}" destId="{EA2D0E1E-E0C7-4E05-90EA-469176BEB327}" srcOrd="7" destOrd="0" presId="urn:microsoft.com/office/officeart/2005/8/layout/list1"/>
    <dgm:cxn modelId="{15954190-F7FA-4902-9441-98D548F758C7}" type="presParOf" srcId="{9154220E-F78B-414D-8104-CEFEA9BB8ADB}" destId="{345EB04A-DC8C-4526-9966-E8045A24E439}" srcOrd="8" destOrd="0" presId="urn:microsoft.com/office/officeart/2005/8/layout/list1"/>
    <dgm:cxn modelId="{56AA2FC7-76D3-412A-8E51-0312F495BE41}" type="presParOf" srcId="{345EB04A-DC8C-4526-9966-E8045A24E439}" destId="{4E779A05-CC4D-4DB8-B15C-F9CDEA9AC3FD}" srcOrd="0" destOrd="0" presId="urn:microsoft.com/office/officeart/2005/8/layout/list1"/>
    <dgm:cxn modelId="{FE0EED98-FFA3-45D6-BCF8-A8B46245308F}" type="presParOf" srcId="{345EB04A-DC8C-4526-9966-E8045A24E439}" destId="{AB321ED6-59D6-42BF-8BD9-D2F3CE587FBE}" srcOrd="1" destOrd="0" presId="urn:microsoft.com/office/officeart/2005/8/layout/list1"/>
    <dgm:cxn modelId="{BA538A49-3F16-4D7D-9547-AE6EADC2F578}" type="presParOf" srcId="{9154220E-F78B-414D-8104-CEFEA9BB8ADB}" destId="{E05EB68D-0C2E-4624-A32B-1349ACC50FE1}" srcOrd="9" destOrd="0" presId="urn:microsoft.com/office/officeart/2005/8/layout/list1"/>
    <dgm:cxn modelId="{D98A7B78-2C19-4EFC-95CE-DA33BEEAF5EC}" type="presParOf" srcId="{9154220E-F78B-414D-8104-CEFEA9BB8ADB}" destId="{6C3D9838-4898-4326-ADC0-6D652ADD2E2C}"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061368BC-6411-458A-95BD-CC440BDCEC8E}" type="doc">
      <dgm:prSet loTypeId="urn:microsoft.com/office/officeart/2005/8/layout/default" loCatId="list" qsTypeId="urn:microsoft.com/office/officeart/2005/8/quickstyle/3d3#2" qsCatId="3D" csTypeId="urn:microsoft.com/office/officeart/2005/8/colors/colorful1#6" csCatId="colorful" phldr="1"/>
      <dgm:spPr/>
      <dgm:t>
        <a:bodyPr/>
        <a:lstStyle/>
        <a:p>
          <a:endParaRPr lang="en-GB"/>
        </a:p>
      </dgm:t>
    </dgm:pt>
    <dgm:pt modelId="{B1693BB2-6287-4BBE-AA52-DABE026DDFD5}">
      <dgm:prSet/>
      <dgm:spPr/>
      <dgm:t>
        <a:bodyPr/>
        <a:lstStyle/>
        <a:p>
          <a:r>
            <a:rPr lang="en-GB"/>
            <a:t>Option I: (weighted) Average of MRPs</a:t>
          </a:r>
          <a:endParaRPr lang="fr-FR"/>
        </a:p>
      </dgm:t>
    </dgm:pt>
    <dgm:pt modelId="{7DE1055F-917C-4472-AF3D-E438AB0F4AB7}" type="parTrans" cxnId="{DF0B2DDD-67B2-4113-84E6-3126703C88E1}">
      <dgm:prSet/>
      <dgm:spPr/>
      <dgm:t>
        <a:bodyPr/>
        <a:lstStyle/>
        <a:p>
          <a:endParaRPr lang="en-GB"/>
        </a:p>
      </dgm:t>
    </dgm:pt>
    <dgm:pt modelId="{59A5FBA6-050D-4D85-A358-82C7C3FE8F3B}" type="sibTrans" cxnId="{DF0B2DDD-67B2-4113-84E6-3126703C88E1}">
      <dgm:prSet/>
      <dgm:spPr/>
      <dgm:t>
        <a:bodyPr/>
        <a:lstStyle/>
        <a:p>
          <a:endParaRPr lang="en-GB"/>
        </a:p>
      </dgm:t>
    </dgm:pt>
    <mc:AlternateContent xmlns:mc="http://schemas.openxmlformats.org/markup-compatibility/2006" xmlns:a14="http://schemas.microsoft.com/office/drawing/2010/main">
      <mc:Choice Requires="a14">
        <dgm:pt modelId="{D432E769-7E07-4CD2-8C00-7891F0D68E25}">
          <dgm:prSet/>
          <dgm:spPr/>
          <dgm:t>
            <a:bodyPr/>
            <a:lstStyle/>
            <a:p>
              <a:r>
                <a:rPr lang="en-GB"/>
                <a:t>Option II: </a:t>
              </a:r>
              <a14:m>
                <m:oMath xmlns:m="http://schemas.openxmlformats.org/officeDocument/2006/math">
                  <m:sSub>
                    <m:sSubPr>
                      <m:ctrlPr>
                        <a:rPr lang="fr-FR" b="0" i="1">
                          <a:latin typeface="Cambria Math" panose="02040503050406030204" pitchFamily="18" charset="0"/>
                        </a:rPr>
                      </m:ctrlPr>
                    </m:sSubPr>
                    <m:e>
                      <m:r>
                        <a:rPr lang="fr-FR" b="0" i="1">
                          <a:latin typeface="Cambria Math" panose="02040503050406030204" pitchFamily="18" charset="0"/>
                        </a:rPr>
                        <m:t>𝑅𝑃</m:t>
                      </m:r>
                    </m:e>
                    <m:sub>
                      <m:r>
                        <a:rPr lang="fr-FR" b="0" i="1">
                          <a:latin typeface="Cambria Math" panose="02040503050406030204" pitchFamily="18" charset="0"/>
                        </a:rPr>
                        <m:t>𝑚𝑎𝑡𝑢𝑟𝑒</m:t>
                      </m:r>
                    </m:sub>
                  </m:sSub>
                </m:oMath>
              </a14:m>
              <a:r>
                <a:rPr lang="en-GB"/>
                <a:t>+(weighted) Average of CRPs </a:t>
              </a:r>
              <a:endParaRPr lang="fr-FR"/>
            </a:p>
          </dgm:t>
        </dgm:pt>
      </mc:Choice>
      <mc:Fallback xmlns="">
        <dgm:pt modelId="{D432E769-7E07-4CD2-8C00-7891F0D68E25}">
          <dgm:prSet/>
          <dgm:spPr/>
          <dgm:t>
            <a:bodyPr/>
            <a:lstStyle/>
            <a:p>
              <a:r>
                <a:rPr lang="en-GB"/>
                <a:t>Option II: </a:t>
              </a:r>
              <a:r>
                <a:rPr lang="fr-FR" b="0" i="0"/>
                <a:t>〖𝑅𝑃〗_𝑚𝑎𝑡𝑢𝑟𝑒</a:t>
              </a:r>
              <a:r>
                <a:rPr lang="en-GB"/>
                <a:t>+(weighted) Average of CRPs </a:t>
              </a:r>
              <a:endParaRPr lang="fr-FR"/>
            </a:p>
          </dgm:t>
        </dgm:pt>
      </mc:Fallback>
    </mc:AlternateContent>
    <dgm:pt modelId="{BAFF4B3C-104E-4DBB-93B7-C206B83F09B7}" type="parTrans" cxnId="{0B3780F1-C705-4111-9220-B9ED18F4E817}">
      <dgm:prSet/>
      <dgm:spPr/>
      <dgm:t>
        <a:bodyPr/>
        <a:lstStyle/>
        <a:p>
          <a:endParaRPr lang="en-GB"/>
        </a:p>
      </dgm:t>
    </dgm:pt>
    <dgm:pt modelId="{77C9E899-AEE4-4BE1-A36B-B1820BD686CA}" type="sibTrans" cxnId="{0B3780F1-C705-4111-9220-B9ED18F4E817}">
      <dgm:prSet/>
      <dgm:spPr/>
      <dgm:t>
        <a:bodyPr/>
        <a:lstStyle/>
        <a:p>
          <a:endParaRPr lang="en-GB"/>
        </a:p>
      </dgm:t>
    </dgm:pt>
    <mc:AlternateContent xmlns:mc="http://schemas.openxmlformats.org/markup-compatibility/2006" xmlns:a14="http://schemas.microsoft.com/office/drawing/2010/main">
      <mc:Choice Requires="a14">
        <dgm:pt modelId="{AE00A922-4191-464F-A8F0-D0413A630003}">
          <dgm:prSet/>
          <dgm:spPr/>
          <dgm:t>
            <a:bodyPr/>
            <a:lstStyle/>
            <a:p>
              <a:r>
                <a:rPr lang="en-GB" dirty="0"/>
                <a:t>Option III: Assume beta captures all * </a:t>
              </a:r>
              <a14:m>
                <m:oMath xmlns:m="http://schemas.openxmlformats.org/officeDocument/2006/math">
                  <m:sSub>
                    <m:sSubPr>
                      <m:ctrlPr>
                        <a:rPr lang="fr-FR" i="1">
                          <a:latin typeface="Cambria Math" panose="02040503050406030204" pitchFamily="18" charset="0"/>
                        </a:rPr>
                      </m:ctrlPr>
                    </m:sSubPr>
                    <m:e>
                      <m:r>
                        <a:rPr lang="fr-FR" i="1">
                          <a:latin typeface="Cambria Math" panose="02040503050406030204" pitchFamily="18" charset="0"/>
                        </a:rPr>
                        <m:t>𝑀𝑅𝑃</m:t>
                      </m:r>
                    </m:e>
                    <m:sub>
                      <m:r>
                        <a:rPr lang="fr-FR" b="0" i="1">
                          <a:latin typeface="Cambria Math" panose="02040503050406030204" pitchFamily="18" charset="0"/>
                        </a:rPr>
                        <m:t>𝑚𝑎𝑟𝑘𝑒𝑡</m:t>
                      </m:r>
                    </m:sub>
                  </m:sSub>
                </m:oMath>
              </a14:m>
              <a:endParaRPr lang="fr-FR" dirty="0"/>
            </a:p>
          </dgm:t>
        </dgm:pt>
      </mc:Choice>
      <mc:Fallback xmlns="">
        <dgm:pt modelId="{AE00A922-4191-464F-A8F0-D0413A630003}">
          <dgm:prSet/>
          <dgm:spPr/>
          <dgm:t>
            <a:bodyPr/>
            <a:lstStyle/>
            <a:p>
              <a:r>
                <a:rPr lang="en-GB" dirty="0"/>
                <a:t>Option III: Assume beta captures all * </a:t>
              </a:r>
              <a:r>
                <a:rPr lang="fr-FR" i="0"/>
                <a:t>〖𝑀𝑅𝑃〗_</a:t>
              </a:r>
              <a:r>
                <a:rPr lang="fr-FR" b="0" i="0"/>
                <a:t>𝑚𝑎𝑟𝑘𝑒𝑡</a:t>
              </a:r>
              <a:endParaRPr lang="fr-FR" dirty="0"/>
            </a:p>
          </dgm:t>
        </dgm:pt>
      </mc:Fallback>
    </mc:AlternateContent>
    <dgm:pt modelId="{95000374-874C-453B-B369-34FFE39D028A}" type="parTrans" cxnId="{1D88CB28-551B-4BE8-90C9-00FBAC046A0B}">
      <dgm:prSet/>
      <dgm:spPr/>
      <dgm:t>
        <a:bodyPr/>
        <a:lstStyle/>
        <a:p>
          <a:endParaRPr lang="en-GB"/>
        </a:p>
      </dgm:t>
    </dgm:pt>
    <dgm:pt modelId="{98504D59-9D55-4495-99D1-8AB9966E8C60}" type="sibTrans" cxnId="{1D88CB28-551B-4BE8-90C9-00FBAC046A0B}">
      <dgm:prSet/>
      <dgm:spPr/>
      <dgm:t>
        <a:bodyPr/>
        <a:lstStyle/>
        <a:p>
          <a:endParaRPr lang="en-GB"/>
        </a:p>
      </dgm:t>
    </dgm:pt>
    <dgm:pt modelId="{4E439BAF-1DE3-453A-879F-0704CEBD59FA}">
      <dgm:prSet/>
      <dgm:spPr/>
      <dgm:t>
        <a:bodyPr/>
        <a:lstStyle/>
        <a:p>
          <a:r>
            <a:rPr lang="fr-FR" dirty="0"/>
            <a:t>Option IV: </a:t>
          </a:r>
          <a:r>
            <a:rPr lang="en-GB" noProof="0" dirty="0"/>
            <a:t>different</a:t>
          </a:r>
          <a:r>
            <a:rPr lang="fr-FR" dirty="0"/>
            <a:t> </a:t>
          </a:r>
          <a:r>
            <a:rPr lang="el-GR" dirty="0"/>
            <a:t>λ</a:t>
          </a:r>
          <a:r>
            <a:rPr lang="en-GB" dirty="0"/>
            <a:t> different CRPs (too complicated)</a:t>
          </a:r>
          <a:endParaRPr lang="fr-FR" dirty="0"/>
        </a:p>
      </dgm:t>
    </dgm:pt>
    <dgm:pt modelId="{D0A6F37E-F98C-4314-8703-097B5E3F64F5}" type="parTrans" cxnId="{FD4D1A77-CD0E-4BCA-B40D-D9873F698E52}">
      <dgm:prSet/>
      <dgm:spPr/>
      <dgm:t>
        <a:bodyPr/>
        <a:lstStyle/>
        <a:p>
          <a:endParaRPr lang="en-GB"/>
        </a:p>
      </dgm:t>
    </dgm:pt>
    <dgm:pt modelId="{A2F5CC2B-58F0-4FB0-99EC-45243C4B0FC9}" type="sibTrans" cxnId="{FD4D1A77-CD0E-4BCA-B40D-D9873F698E52}">
      <dgm:prSet/>
      <dgm:spPr/>
      <dgm:t>
        <a:bodyPr/>
        <a:lstStyle/>
        <a:p>
          <a:endParaRPr lang="en-GB"/>
        </a:p>
      </dgm:t>
    </dgm:pt>
    <dgm:pt modelId="{92D30EE5-8EDF-491D-B32D-712FAC96E13D}" type="pres">
      <dgm:prSet presAssocID="{061368BC-6411-458A-95BD-CC440BDCEC8E}" presName="diagram" presStyleCnt="0">
        <dgm:presLayoutVars>
          <dgm:dir/>
          <dgm:resizeHandles val="exact"/>
        </dgm:presLayoutVars>
      </dgm:prSet>
      <dgm:spPr/>
    </dgm:pt>
    <dgm:pt modelId="{16820BFC-83FB-4A99-8C03-71BCE56261CD}" type="pres">
      <dgm:prSet presAssocID="{B1693BB2-6287-4BBE-AA52-DABE026DDFD5}" presName="node" presStyleLbl="node1" presStyleIdx="0" presStyleCnt="4">
        <dgm:presLayoutVars>
          <dgm:bulletEnabled val="1"/>
        </dgm:presLayoutVars>
      </dgm:prSet>
      <dgm:spPr/>
    </dgm:pt>
    <dgm:pt modelId="{19B0E8AB-F521-4F71-A68A-466E1FD471D5}" type="pres">
      <dgm:prSet presAssocID="{59A5FBA6-050D-4D85-A358-82C7C3FE8F3B}" presName="sibTrans" presStyleCnt="0"/>
      <dgm:spPr/>
    </dgm:pt>
    <dgm:pt modelId="{3D36EF45-0648-40DB-8CBD-79D46A357B73}" type="pres">
      <dgm:prSet presAssocID="{D432E769-7E07-4CD2-8C00-7891F0D68E25}" presName="node" presStyleLbl="node1" presStyleIdx="1" presStyleCnt="4">
        <dgm:presLayoutVars>
          <dgm:bulletEnabled val="1"/>
        </dgm:presLayoutVars>
      </dgm:prSet>
      <dgm:spPr/>
    </dgm:pt>
    <dgm:pt modelId="{7AD649AE-5945-42D5-AABA-D07EA1C3D39C}" type="pres">
      <dgm:prSet presAssocID="{77C9E899-AEE4-4BE1-A36B-B1820BD686CA}" presName="sibTrans" presStyleCnt="0"/>
      <dgm:spPr/>
    </dgm:pt>
    <dgm:pt modelId="{74C44259-56A9-42C1-96CB-DC3F77AEB03D}" type="pres">
      <dgm:prSet presAssocID="{AE00A922-4191-464F-A8F0-D0413A630003}" presName="node" presStyleLbl="node1" presStyleIdx="2" presStyleCnt="4">
        <dgm:presLayoutVars>
          <dgm:bulletEnabled val="1"/>
        </dgm:presLayoutVars>
      </dgm:prSet>
      <dgm:spPr/>
    </dgm:pt>
    <dgm:pt modelId="{046BEADD-8603-4699-98B5-FBD98D2618C3}" type="pres">
      <dgm:prSet presAssocID="{98504D59-9D55-4495-99D1-8AB9966E8C60}" presName="sibTrans" presStyleCnt="0"/>
      <dgm:spPr/>
    </dgm:pt>
    <dgm:pt modelId="{F173AB14-4A0B-4DEF-B773-59926E35B565}" type="pres">
      <dgm:prSet presAssocID="{4E439BAF-1DE3-453A-879F-0704CEBD59FA}" presName="node" presStyleLbl="node1" presStyleIdx="3" presStyleCnt="4">
        <dgm:presLayoutVars>
          <dgm:bulletEnabled val="1"/>
        </dgm:presLayoutVars>
      </dgm:prSet>
      <dgm:spPr/>
    </dgm:pt>
  </dgm:ptLst>
  <dgm:cxnLst>
    <dgm:cxn modelId="{776B3A1F-00AF-4D44-B93C-12125D4ECE3C}" type="presOf" srcId="{AE00A922-4191-464F-A8F0-D0413A630003}" destId="{74C44259-56A9-42C1-96CB-DC3F77AEB03D}" srcOrd="0" destOrd="0" presId="urn:microsoft.com/office/officeart/2005/8/layout/default"/>
    <dgm:cxn modelId="{1D88CB28-551B-4BE8-90C9-00FBAC046A0B}" srcId="{061368BC-6411-458A-95BD-CC440BDCEC8E}" destId="{AE00A922-4191-464F-A8F0-D0413A630003}" srcOrd="2" destOrd="0" parTransId="{95000374-874C-453B-B369-34FFE39D028A}" sibTransId="{98504D59-9D55-4495-99D1-8AB9966E8C60}"/>
    <dgm:cxn modelId="{7A05AA3D-A9FE-463B-86FA-11A465B76CAE}" type="presOf" srcId="{4E439BAF-1DE3-453A-879F-0704CEBD59FA}" destId="{F173AB14-4A0B-4DEF-B773-59926E35B565}" srcOrd="0" destOrd="0" presId="urn:microsoft.com/office/officeart/2005/8/layout/default"/>
    <dgm:cxn modelId="{FD4D1A77-CD0E-4BCA-B40D-D9873F698E52}" srcId="{061368BC-6411-458A-95BD-CC440BDCEC8E}" destId="{4E439BAF-1DE3-453A-879F-0704CEBD59FA}" srcOrd="3" destOrd="0" parTransId="{D0A6F37E-F98C-4314-8703-097B5E3F64F5}" sibTransId="{A2F5CC2B-58F0-4FB0-99EC-45243C4B0FC9}"/>
    <dgm:cxn modelId="{28601691-39A6-414B-A120-304CE48B76BD}" type="presOf" srcId="{B1693BB2-6287-4BBE-AA52-DABE026DDFD5}" destId="{16820BFC-83FB-4A99-8C03-71BCE56261CD}" srcOrd="0" destOrd="0" presId="urn:microsoft.com/office/officeart/2005/8/layout/default"/>
    <dgm:cxn modelId="{583F3291-E73E-4197-BA4E-43FF084D65DB}" type="presOf" srcId="{061368BC-6411-458A-95BD-CC440BDCEC8E}" destId="{92D30EE5-8EDF-491D-B32D-712FAC96E13D}" srcOrd="0" destOrd="0" presId="urn:microsoft.com/office/officeart/2005/8/layout/default"/>
    <dgm:cxn modelId="{DF0B2DDD-67B2-4113-84E6-3126703C88E1}" srcId="{061368BC-6411-458A-95BD-CC440BDCEC8E}" destId="{B1693BB2-6287-4BBE-AA52-DABE026DDFD5}" srcOrd="0" destOrd="0" parTransId="{7DE1055F-917C-4472-AF3D-E438AB0F4AB7}" sibTransId="{59A5FBA6-050D-4D85-A358-82C7C3FE8F3B}"/>
    <dgm:cxn modelId="{3D2A91E4-6E54-4223-96EC-058A2F903D48}" type="presOf" srcId="{D432E769-7E07-4CD2-8C00-7891F0D68E25}" destId="{3D36EF45-0648-40DB-8CBD-79D46A357B73}" srcOrd="0" destOrd="0" presId="urn:microsoft.com/office/officeart/2005/8/layout/default"/>
    <dgm:cxn modelId="{0B3780F1-C705-4111-9220-B9ED18F4E817}" srcId="{061368BC-6411-458A-95BD-CC440BDCEC8E}" destId="{D432E769-7E07-4CD2-8C00-7891F0D68E25}" srcOrd="1" destOrd="0" parTransId="{BAFF4B3C-104E-4DBB-93B7-C206B83F09B7}" sibTransId="{77C9E899-AEE4-4BE1-A36B-B1820BD686CA}"/>
    <dgm:cxn modelId="{1989BB4F-C8F4-41D5-A2E6-05421C211287}" type="presParOf" srcId="{92D30EE5-8EDF-491D-B32D-712FAC96E13D}" destId="{16820BFC-83FB-4A99-8C03-71BCE56261CD}" srcOrd="0" destOrd="0" presId="urn:microsoft.com/office/officeart/2005/8/layout/default"/>
    <dgm:cxn modelId="{CACDA9F2-0D8E-4895-9E4A-CC106D6808EA}" type="presParOf" srcId="{92D30EE5-8EDF-491D-B32D-712FAC96E13D}" destId="{19B0E8AB-F521-4F71-A68A-466E1FD471D5}" srcOrd="1" destOrd="0" presId="urn:microsoft.com/office/officeart/2005/8/layout/default"/>
    <dgm:cxn modelId="{0359A3F9-9613-46C1-9442-47428F6E94C2}" type="presParOf" srcId="{92D30EE5-8EDF-491D-B32D-712FAC96E13D}" destId="{3D36EF45-0648-40DB-8CBD-79D46A357B73}" srcOrd="2" destOrd="0" presId="urn:microsoft.com/office/officeart/2005/8/layout/default"/>
    <dgm:cxn modelId="{10044A4D-D497-47AD-869F-5ABA8F81A9C0}" type="presParOf" srcId="{92D30EE5-8EDF-491D-B32D-712FAC96E13D}" destId="{7AD649AE-5945-42D5-AABA-D07EA1C3D39C}" srcOrd="3" destOrd="0" presId="urn:microsoft.com/office/officeart/2005/8/layout/default"/>
    <dgm:cxn modelId="{5E002D79-8E93-4C3C-B6DC-E231BD1876BD}" type="presParOf" srcId="{92D30EE5-8EDF-491D-B32D-712FAC96E13D}" destId="{74C44259-56A9-42C1-96CB-DC3F77AEB03D}" srcOrd="4" destOrd="0" presId="urn:microsoft.com/office/officeart/2005/8/layout/default"/>
    <dgm:cxn modelId="{2AA2187E-25E9-48C5-B375-04EF799E9542}" type="presParOf" srcId="{92D30EE5-8EDF-491D-B32D-712FAC96E13D}" destId="{046BEADD-8603-4699-98B5-FBD98D2618C3}" srcOrd="5" destOrd="0" presId="urn:microsoft.com/office/officeart/2005/8/layout/default"/>
    <dgm:cxn modelId="{BC656B9E-2E8A-4EFE-B6FA-2E5BB585721F}" type="presParOf" srcId="{92D30EE5-8EDF-491D-B32D-712FAC96E13D}" destId="{F173AB14-4A0B-4DEF-B773-59926E35B565}"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061368BC-6411-458A-95BD-CC440BDCEC8E}" type="doc">
      <dgm:prSet loTypeId="urn:microsoft.com/office/officeart/2005/8/layout/default" loCatId="list" qsTypeId="urn:microsoft.com/office/officeart/2005/8/quickstyle/3d3" qsCatId="3D" csTypeId="urn:microsoft.com/office/officeart/2005/8/colors/colorful1" csCatId="colorful" phldr="1"/>
      <dgm:spPr/>
      <dgm:t>
        <a:bodyPr/>
        <a:lstStyle/>
        <a:p>
          <a:endParaRPr lang="en-GB"/>
        </a:p>
      </dgm:t>
    </dgm:pt>
    <dgm:pt modelId="{B1693BB2-6287-4BBE-AA52-DABE026DDFD5}">
      <dgm:prSet/>
      <dgm:spPr/>
      <dgm:t>
        <a:bodyPr/>
        <a:lstStyle/>
        <a:p>
          <a:r>
            <a:rPr lang="en-GB"/>
            <a:t>Option I: (weighted) Average of MRPs</a:t>
          </a:r>
          <a:endParaRPr lang="fr-FR"/>
        </a:p>
      </dgm:t>
    </dgm:pt>
    <dgm:pt modelId="{7DE1055F-917C-4472-AF3D-E438AB0F4AB7}" type="parTrans" cxnId="{DF0B2DDD-67B2-4113-84E6-3126703C88E1}">
      <dgm:prSet/>
      <dgm:spPr/>
      <dgm:t>
        <a:bodyPr/>
        <a:lstStyle/>
        <a:p>
          <a:endParaRPr lang="en-GB"/>
        </a:p>
      </dgm:t>
    </dgm:pt>
    <dgm:pt modelId="{59A5FBA6-050D-4D85-A358-82C7C3FE8F3B}" type="sibTrans" cxnId="{DF0B2DDD-67B2-4113-84E6-3126703C88E1}">
      <dgm:prSet/>
      <dgm:spPr/>
      <dgm:t>
        <a:bodyPr/>
        <a:lstStyle/>
        <a:p>
          <a:endParaRPr lang="en-GB"/>
        </a:p>
      </dgm:t>
    </dgm:pt>
    <dgm:pt modelId="{D432E769-7E07-4CD2-8C00-7891F0D68E25}">
      <dgm:prSet/>
      <dgm:spPr>
        <a:blipFill>
          <a:blip xmlns:r="http://schemas.openxmlformats.org/officeDocument/2006/relationships" r:embed="rId1"/>
          <a:stretch>
            <a:fillRect/>
          </a:stretch>
        </a:blipFill>
      </dgm:spPr>
      <dgm:t>
        <a:bodyPr/>
        <a:lstStyle/>
        <a:p>
          <a:r>
            <a:rPr lang="en-GB">
              <a:noFill/>
            </a:rPr>
            <a:t> </a:t>
          </a:r>
        </a:p>
      </dgm:t>
    </dgm:pt>
    <dgm:pt modelId="{BAFF4B3C-104E-4DBB-93B7-C206B83F09B7}" type="parTrans" cxnId="{0B3780F1-C705-4111-9220-B9ED18F4E817}">
      <dgm:prSet/>
      <dgm:spPr/>
      <dgm:t>
        <a:bodyPr/>
        <a:lstStyle/>
        <a:p>
          <a:endParaRPr lang="en-GB"/>
        </a:p>
      </dgm:t>
    </dgm:pt>
    <dgm:pt modelId="{77C9E899-AEE4-4BE1-A36B-B1820BD686CA}" type="sibTrans" cxnId="{0B3780F1-C705-4111-9220-B9ED18F4E817}">
      <dgm:prSet/>
      <dgm:spPr/>
      <dgm:t>
        <a:bodyPr/>
        <a:lstStyle/>
        <a:p>
          <a:endParaRPr lang="en-GB"/>
        </a:p>
      </dgm:t>
    </dgm:pt>
    <dgm:pt modelId="{AE00A922-4191-464F-A8F0-D0413A630003}">
      <dgm:prSet/>
      <dgm:spPr>
        <a:blipFill>
          <a:blip xmlns:r="http://schemas.openxmlformats.org/officeDocument/2006/relationships" r:embed="rId2"/>
          <a:stretch>
            <a:fillRect/>
          </a:stretch>
        </a:blipFill>
      </dgm:spPr>
      <dgm:t>
        <a:bodyPr/>
        <a:lstStyle/>
        <a:p>
          <a:r>
            <a:rPr lang="en-GB">
              <a:noFill/>
            </a:rPr>
            <a:t> </a:t>
          </a:r>
        </a:p>
      </dgm:t>
    </dgm:pt>
    <dgm:pt modelId="{95000374-874C-453B-B369-34FFE39D028A}" type="parTrans" cxnId="{1D88CB28-551B-4BE8-90C9-00FBAC046A0B}">
      <dgm:prSet/>
      <dgm:spPr/>
      <dgm:t>
        <a:bodyPr/>
        <a:lstStyle/>
        <a:p>
          <a:endParaRPr lang="en-GB"/>
        </a:p>
      </dgm:t>
    </dgm:pt>
    <dgm:pt modelId="{98504D59-9D55-4495-99D1-8AB9966E8C60}" type="sibTrans" cxnId="{1D88CB28-551B-4BE8-90C9-00FBAC046A0B}">
      <dgm:prSet/>
      <dgm:spPr/>
      <dgm:t>
        <a:bodyPr/>
        <a:lstStyle/>
        <a:p>
          <a:endParaRPr lang="en-GB"/>
        </a:p>
      </dgm:t>
    </dgm:pt>
    <dgm:pt modelId="{4E439BAF-1DE3-453A-879F-0704CEBD59FA}">
      <dgm:prSet/>
      <dgm:spPr/>
      <dgm:t>
        <a:bodyPr/>
        <a:lstStyle/>
        <a:p>
          <a:r>
            <a:rPr lang="fr-FR" dirty="0"/>
            <a:t>Option IV: </a:t>
          </a:r>
          <a:r>
            <a:rPr lang="en-GB" noProof="0" dirty="0"/>
            <a:t>different</a:t>
          </a:r>
          <a:r>
            <a:rPr lang="fr-FR" dirty="0"/>
            <a:t> </a:t>
          </a:r>
          <a:r>
            <a:rPr lang="el-GR" dirty="0"/>
            <a:t>λ</a:t>
          </a:r>
          <a:r>
            <a:rPr lang="en-GB" dirty="0"/>
            <a:t> different CRPs (too complicated)</a:t>
          </a:r>
          <a:endParaRPr lang="fr-FR" dirty="0"/>
        </a:p>
      </dgm:t>
    </dgm:pt>
    <dgm:pt modelId="{D0A6F37E-F98C-4314-8703-097B5E3F64F5}" type="parTrans" cxnId="{FD4D1A77-CD0E-4BCA-B40D-D9873F698E52}">
      <dgm:prSet/>
      <dgm:spPr/>
      <dgm:t>
        <a:bodyPr/>
        <a:lstStyle/>
        <a:p>
          <a:endParaRPr lang="en-GB"/>
        </a:p>
      </dgm:t>
    </dgm:pt>
    <dgm:pt modelId="{A2F5CC2B-58F0-4FB0-99EC-45243C4B0FC9}" type="sibTrans" cxnId="{FD4D1A77-CD0E-4BCA-B40D-D9873F698E52}">
      <dgm:prSet/>
      <dgm:spPr/>
      <dgm:t>
        <a:bodyPr/>
        <a:lstStyle/>
        <a:p>
          <a:endParaRPr lang="en-GB"/>
        </a:p>
      </dgm:t>
    </dgm:pt>
    <dgm:pt modelId="{92D30EE5-8EDF-491D-B32D-712FAC96E13D}" type="pres">
      <dgm:prSet presAssocID="{061368BC-6411-458A-95BD-CC440BDCEC8E}" presName="diagram" presStyleCnt="0">
        <dgm:presLayoutVars>
          <dgm:dir/>
          <dgm:resizeHandles val="exact"/>
        </dgm:presLayoutVars>
      </dgm:prSet>
      <dgm:spPr/>
    </dgm:pt>
    <dgm:pt modelId="{16820BFC-83FB-4A99-8C03-71BCE56261CD}" type="pres">
      <dgm:prSet presAssocID="{B1693BB2-6287-4BBE-AA52-DABE026DDFD5}" presName="node" presStyleLbl="node1" presStyleIdx="0" presStyleCnt="4">
        <dgm:presLayoutVars>
          <dgm:bulletEnabled val="1"/>
        </dgm:presLayoutVars>
      </dgm:prSet>
      <dgm:spPr/>
    </dgm:pt>
    <dgm:pt modelId="{19B0E8AB-F521-4F71-A68A-466E1FD471D5}" type="pres">
      <dgm:prSet presAssocID="{59A5FBA6-050D-4D85-A358-82C7C3FE8F3B}" presName="sibTrans" presStyleCnt="0"/>
      <dgm:spPr/>
    </dgm:pt>
    <dgm:pt modelId="{3D36EF45-0648-40DB-8CBD-79D46A357B73}" type="pres">
      <dgm:prSet presAssocID="{D432E769-7E07-4CD2-8C00-7891F0D68E25}" presName="node" presStyleLbl="node1" presStyleIdx="1" presStyleCnt="4">
        <dgm:presLayoutVars>
          <dgm:bulletEnabled val="1"/>
        </dgm:presLayoutVars>
      </dgm:prSet>
      <dgm:spPr/>
    </dgm:pt>
    <dgm:pt modelId="{7AD649AE-5945-42D5-AABA-D07EA1C3D39C}" type="pres">
      <dgm:prSet presAssocID="{77C9E899-AEE4-4BE1-A36B-B1820BD686CA}" presName="sibTrans" presStyleCnt="0"/>
      <dgm:spPr/>
    </dgm:pt>
    <dgm:pt modelId="{74C44259-56A9-42C1-96CB-DC3F77AEB03D}" type="pres">
      <dgm:prSet presAssocID="{AE00A922-4191-464F-A8F0-D0413A630003}" presName="node" presStyleLbl="node1" presStyleIdx="2" presStyleCnt="4">
        <dgm:presLayoutVars>
          <dgm:bulletEnabled val="1"/>
        </dgm:presLayoutVars>
      </dgm:prSet>
      <dgm:spPr/>
    </dgm:pt>
    <dgm:pt modelId="{046BEADD-8603-4699-98B5-FBD98D2618C3}" type="pres">
      <dgm:prSet presAssocID="{98504D59-9D55-4495-99D1-8AB9966E8C60}" presName="sibTrans" presStyleCnt="0"/>
      <dgm:spPr/>
    </dgm:pt>
    <dgm:pt modelId="{F173AB14-4A0B-4DEF-B773-59926E35B565}" type="pres">
      <dgm:prSet presAssocID="{4E439BAF-1DE3-453A-879F-0704CEBD59FA}" presName="node" presStyleLbl="node1" presStyleIdx="3" presStyleCnt="4">
        <dgm:presLayoutVars>
          <dgm:bulletEnabled val="1"/>
        </dgm:presLayoutVars>
      </dgm:prSet>
      <dgm:spPr/>
    </dgm:pt>
  </dgm:ptLst>
  <dgm:cxnLst>
    <dgm:cxn modelId="{776B3A1F-00AF-4D44-B93C-12125D4ECE3C}" type="presOf" srcId="{AE00A922-4191-464F-A8F0-D0413A630003}" destId="{74C44259-56A9-42C1-96CB-DC3F77AEB03D}" srcOrd="0" destOrd="0" presId="urn:microsoft.com/office/officeart/2005/8/layout/default"/>
    <dgm:cxn modelId="{1D88CB28-551B-4BE8-90C9-00FBAC046A0B}" srcId="{061368BC-6411-458A-95BD-CC440BDCEC8E}" destId="{AE00A922-4191-464F-A8F0-D0413A630003}" srcOrd="2" destOrd="0" parTransId="{95000374-874C-453B-B369-34FFE39D028A}" sibTransId="{98504D59-9D55-4495-99D1-8AB9966E8C60}"/>
    <dgm:cxn modelId="{7A05AA3D-A9FE-463B-86FA-11A465B76CAE}" type="presOf" srcId="{4E439BAF-1DE3-453A-879F-0704CEBD59FA}" destId="{F173AB14-4A0B-4DEF-B773-59926E35B565}" srcOrd="0" destOrd="0" presId="urn:microsoft.com/office/officeart/2005/8/layout/default"/>
    <dgm:cxn modelId="{FD4D1A77-CD0E-4BCA-B40D-D9873F698E52}" srcId="{061368BC-6411-458A-95BD-CC440BDCEC8E}" destId="{4E439BAF-1DE3-453A-879F-0704CEBD59FA}" srcOrd="3" destOrd="0" parTransId="{D0A6F37E-F98C-4314-8703-097B5E3F64F5}" sibTransId="{A2F5CC2B-58F0-4FB0-99EC-45243C4B0FC9}"/>
    <dgm:cxn modelId="{28601691-39A6-414B-A120-304CE48B76BD}" type="presOf" srcId="{B1693BB2-6287-4BBE-AA52-DABE026DDFD5}" destId="{16820BFC-83FB-4A99-8C03-71BCE56261CD}" srcOrd="0" destOrd="0" presId="urn:microsoft.com/office/officeart/2005/8/layout/default"/>
    <dgm:cxn modelId="{583F3291-E73E-4197-BA4E-43FF084D65DB}" type="presOf" srcId="{061368BC-6411-458A-95BD-CC440BDCEC8E}" destId="{92D30EE5-8EDF-491D-B32D-712FAC96E13D}" srcOrd="0" destOrd="0" presId="urn:microsoft.com/office/officeart/2005/8/layout/default"/>
    <dgm:cxn modelId="{DF0B2DDD-67B2-4113-84E6-3126703C88E1}" srcId="{061368BC-6411-458A-95BD-CC440BDCEC8E}" destId="{B1693BB2-6287-4BBE-AA52-DABE026DDFD5}" srcOrd="0" destOrd="0" parTransId="{7DE1055F-917C-4472-AF3D-E438AB0F4AB7}" sibTransId="{59A5FBA6-050D-4D85-A358-82C7C3FE8F3B}"/>
    <dgm:cxn modelId="{3D2A91E4-6E54-4223-96EC-058A2F903D48}" type="presOf" srcId="{D432E769-7E07-4CD2-8C00-7891F0D68E25}" destId="{3D36EF45-0648-40DB-8CBD-79D46A357B73}" srcOrd="0" destOrd="0" presId="urn:microsoft.com/office/officeart/2005/8/layout/default"/>
    <dgm:cxn modelId="{0B3780F1-C705-4111-9220-B9ED18F4E817}" srcId="{061368BC-6411-458A-95BD-CC440BDCEC8E}" destId="{D432E769-7E07-4CD2-8C00-7891F0D68E25}" srcOrd="1" destOrd="0" parTransId="{BAFF4B3C-104E-4DBB-93B7-C206B83F09B7}" sibTransId="{77C9E899-AEE4-4BE1-A36B-B1820BD686CA}"/>
    <dgm:cxn modelId="{1989BB4F-C8F4-41D5-A2E6-05421C211287}" type="presParOf" srcId="{92D30EE5-8EDF-491D-B32D-712FAC96E13D}" destId="{16820BFC-83FB-4A99-8C03-71BCE56261CD}" srcOrd="0" destOrd="0" presId="urn:microsoft.com/office/officeart/2005/8/layout/default"/>
    <dgm:cxn modelId="{CACDA9F2-0D8E-4895-9E4A-CC106D6808EA}" type="presParOf" srcId="{92D30EE5-8EDF-491D-B32D-712FAC96E13D}" destId="{19B0E8AB-F521-4F71-A68A-466E1FD471D5}" srcOrd="1" destOrd="0" presId="urn:microsoft.com/office/officeart/2005/8/layout/default"/>
    <dgm:cxn modelId="{0359A3F9-9613-46C1-9442-47428F6E94C2}" type="presParOf" srcId="{92D30EE5-8EDF-491D-B32D-712FAC96E13D}" destId="{3D36EF45-0648-40DB-8CBD-79D46A357B73}" srcOrd="2" destOrd="0" presId="urn:microsoft.com/office/officeart/2005/8/layout/default"/>
    <dgm:cxn modelId="{10044A4D-D497-47AD-869F-5ABA8F81A9C0}" type="presParOf" srcId="{92D30EE5-8EDF-491D-B32D-712FAC96E13D}" destId="{7AD649AE-5945-42D5-AABA-D07EA1C3D39C}" srcOrd="3" destOrd="0" presId="urn:microsoft.com/office/officeart/2005/8/layout/default"/>
    <dgm:cxn modelId="{5E002D79-8E93-4C3C-B6DC-E231BD1876BD}" type="presParOf" srcId="{92D30EE5-8EDF-491D-B32D-712FAC96E13D}" destId="{74C44259-56A9-42C1-96CB-DC3F77AEB03D}" srcOrd="4" destOrd="0" presId="urn:microsoft.com/office/officeart/2005/8/layout/default"/>
    <dgm:cxn modelId="{2AA2187E-25E9-48C5-B375-04EF799E9542}" type="presParOf" srcId="{92D30EE5-8EDF-491D-B32D-712FAC96E13D}" destId="{046BEADD-8603-4699-98B5-FBD98D2618C3}" srcOrd="5" destOrd="0" presId="urn:microsoft.com/office/officeart/2005/8/layout/default"/>
    <dgm:cxn modelId="{BC656B9E-2E8A-4EFE-B6FA-2E5BB585721F}" type="presParOf" srcId="{92D30EE5-8EDF-491D-B32D-712FAC96E13D}" destId="{F173AB14-4A0B-4DEF-B773-59926E35B565}"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DE4F548F-5A6E-4A8B-ABAE-744888940442}" type="doc">
      <dgm:prSet loTypeId="urn:microsoft.com/office/officeart/2005/8/layout/orgChart1" loCatId="hierarchy" qsTypeId="urn:microsoft.com/office/officeart/2005/8/quickstyle/simple1#8" qsCatId="simple" csTypeId="urn:microsoft.com/office/officeart/2005/8/colors/colorful1#7" csCatId="colorful" phldr="1"/>
      <dgm:spPr/>
      <dgm:t>
        <a:bodyPr/>
        <a:lstStyle/>
        <a:p>
          <a:endParaRPr lang="en-GB"/>
        </a:p>
      </dgm:t>
    </dgm:pt>
    <dgm:pt modelId="{BEF9798E-EEDB-4D9E-8F9C-54C06F1C2414}">
      <dgm:prSet phldrT="[Text]"/>
      <dgm:spPr/>
      <dgm:t>
        <a:bodyPr/>
        <a:lstStyle/>
        <a:p>
          <a:r>
            <a:rPr lang="en-US" dirty="0"/>
            <a:t>Determinants of Betas</a:t>
          </a:r>
          <a:endParaRPr lang="en-GB" dirty="0"/>
        </a:p>
      </dgm:t>
    </dgm:pt>
    <dgm:pt modelId="{BEB6E2FC-7F4E-4BAD-9B71-E9E2EF66028C}" type="parTrans" cxnId="{9AB1856A-6F57-4950-9D1B-B78036BA6846}">
      <dgm:prSet/>
      <dgm:spPr/>
      <dgm:t>
        <a:bodyPr/>
        <a:lstStyle/>
        <a:p>
          <a:endParaRPr lang="en-GB"/>
        </a:p>
      </dgm:t>
    </dgm:pt>
    <dgm:pt modelId="{E2904A6D-0D73-4042-A957-2B65727D37B3}" type="sibTrans" cxnId="{9AB1856A-6F57-4950-9D1B-B78036BA6846}">
      <dgm:prSet/>
      <dgm:spPr/>
      <dgm:t>
        <a:bodyPr/>
        <a:lstStyle/>
        <a:p>
          <a:endParaRPr lang="en-GB"/>
        </a:p>
      </dgm:t>
    </dgm:pt>
    <dgm:pt modelId="{FD9D2C6E-4519-40F9-B427-3D16B67B826B}">
      <dgm:prSet phldrT="[Text]" custT="1"/>
      <dgm:spPr/>
      <dgm:t>
        <a:bodyPr/>
        <a:lstStyle/>
        <a:p>
          <a:r>
            <a:rPr lang="en-GB" sz="1600" dirty="0"/>
            <a:t>Beta of Firm</a:t>
          </a:r>
        </a:p>
      </dgm:t>
    </dgm:pt>
    <dgm:pt modelId="{52817590-DB5E-473C-A032-789D937A3195}" type="parTrans" cxnId="{2949F7D0-73D7-46D5-9C4F-48E80E69EE36}">
      <dgm:prSet/>
      <dgm:spPr/>
      <dgm:t>
        <a:bodyPr/>
        <a:lstStyle/>
        <a:p>
          <a:endParaRPr lang="en-GB"/>
        </a:p>
      </dgm:t>
    </dgm:pt>
    <dgm:pt modelId="{AA3F6F94-A77D-4EF6-A029-68D5B8CA9CB5}" type="sibTrans" cxnId="{2949F7D0-73D7-46D5-9C4F-48E80E69EE36}">
      <dgm:prSet/>
      <dgm:spPr/>
      <dgm:t>
        <a:bodyPr/>
        <a:lstStyle/>
        <a:p>
          <a:endParaRPr lang="en-GB"/>
        </a:p>
      </dgm:t>
    </dgm:pt>
    <dgm:pt modelId="{A2E0FB14-5ADC-4FB5-97D2-33F915270C0B}">
      <dgm:prSet phldrT="[Text]" custT="1"/>
      <dgm:spPr/>
      <dgm:t>
        <a:bodyPr/>
        <a:lstStyle/>
        <a:p>
          <a:r>
            <a:rPr lang="en-GB" sz="1600" dirty="0"/>
            <a:t>Financial Leverage:</a:t>
          </a:r>
        </a:p>
        <a:p>
          <a:r>
            <a:rPr lang="en-GB" sz="1200" dirty="0"/>
            <a:t>Other things remaining equal, the greater the proportion of capital that a firm raises from debt, the higher its equity beta will be</a:t>
          </a:r>
        </a:p>
      </dgm:t>
    </dgm:pt>
    <dgm:pt modelId="{6A7B684C-3F07-486F-8D2C-0613BCC4807C}" type="parTrans" cxnId="{60299BF2-D1BF-4476-B62F-20967345BC5F}">
      <dgm:prSet/>
      <dgm:spPr/>
      <dgm:t>
        <a:bodyPr/>
        <a:lstStyle/>
        <a:p>
          <a:endParaRPr lang="en-GB"/>
        </a:p>
      </dgm:t>
    </dgm:pt>
    <dgm:pt modelId="{2A214D90-9312-4021-881E-9939715E29C0}" type="sibTrans" cxnId="{60299BF2-D1BF-4476-B62F-20967345BC5F}">
      <dgm:prSet/>
      <dgm:spPr/>
      <dgm:t>
        <a:bodyPr/>
        <a:lstStyle/>
        <a:p>
          <a:endParaRPr lang="en-GB"/>
        </a:p>
      </dgm:t>
    </dgm:pt>
    <dgm:pt modelId="{BEF9D993-D7A5-4D38-A0FE-BFA36051608F}">
      <dgm:prSet phldrT="[Text]" custT="1"/>
      <dgm:spPr/>
      <dgm:t>
        <a:bodyPr/>
        <a:lstStyle/>
        <a:p>
          <a:r>
            <a:rPr lang="en-GB" sz="1400" dirty="0"/>
            <a:t>Implications:</a:t>
          </a:r>
        </a:p>
        <a:p>
          <a:r>
            <a:rPr lang="en-GB" sz="1200" dirty="0"/>
            <a:t>Highly levered firms should have higher betas than firms with less debt</a:t>
          </a:r>
        </a:p>
      </dgm:t>
    </dgm:pt>
    <dgm:pt modelId="{98648C1D-35CA-4F0D-BB71-4164B6F9997B}" type="parTrans" cxnId="{F9DC6C78-5CE8-4855-BE58-B54469555CDE}">
      <dgm:prSet/>
      <dgm:spPr/>
      <dgm:t>
        <a:bodyPr/>
        <a:lstStyle/>
        <a:p>
          <a:endParaRPr lang="en-GB"/>
        </a:p>
      </dgm:t>
    </dgm:pt>
    <dgm:pt modelId="{EA8D441D-5537-4ED4-B53D-1A915200E588}" type="sibTrans" cxnId="{F9DC6C78-5CE8-4855-BE58-B54469555CDE}">
      <dgm:prSet/>
      <dgm:spPr/>
      <dgm:t>
        <a:bodyPr/>
        <a:lstStyle/>
        <a:p>
          <a:endParaRPr lang="en-GB"/>
        </a:p>
      </dgm:t>
    </dgm:pt>
    <dgm:pt modelId="{F28DD229-E634-45BE-888E-9900D6400112}">
      <dgm:prSet phldrT="[Text]" custT="1"/>
      <dgm:spPr/>
      <dgm:t>
        <a:bodyPr/>
        <a:lstStyle/>
        <a:p>
          <a:r>
            <a:rPr lang="en-GB" sz="1400" dirty="0"/>
            <a:t>Nature of Product:</a:t>
          </a:r>
        </a:p>
        <a:p>
          <a:r>
            <a:rPr lang="en-GB" sz="1200" dirty="0"/>
            <a:t>Other things remaining equal, the more discretionary the product, the higher the beta</a:t>
          </a:r>
        </a:p>
      </dgm:t>
    </dgm:pt>
    <dgm:pt modelId="{1E851E51-7339-49E7-AAA4-A0ACD65957CD}" type="parTrans" cxnId="{52E453D3-8F20-4C1B-BE82-4B8CDA0AE7BF}">
      <dgm:prSet/>
      <dgm:spPr/>
      <dgm:t>
        <a:bodyPr/>
        <a:lstStyle/>
        <a:p>
          <a:endParaRPr lang="en-GB"/>
        </a:p>
      </dgm:t>
    </dgm:pt>
    <dgm:pt modelId="{DD0543C4-E535-4FEA-8675-81BBCDB4FE18}" type="sibTrans" cxnId="{52E453D3-8F20-4C1B-BE82-4B8CDA0AE7BF}">
      <dgm:prSet/>
      <dgm:spPr/>
      <dgm:t>
        <a:bodyPr/>
        <a:lstStyle/>
        <a:p>
          <a:endParaRPr lang="en-GB"/>
        </a:p>
      </dgm:t>
    </dgm:pt>
    <dgm:pt modelId="{ACE51FB2-F017-482A-B931-B821B14226B8}">
      <dgm:prSet phldrT="[Text]" custT="1"/>
      <dgm:spPr/>
      <dgm:t>
        <a:bodyPr/>
        <a:lstStyle/>
        <a:p>
          <a:r>
            <a:rPr lang="en-GB" sz="1400" dirty="0"/>
            <a:t>Implications:</a:t>
          </a:r>
        </a:p>
        <a:p>
          <a:r>
            <a:rPr lang="en-GB" sz="1200" dirty="0"/>
            <a:t>1. Cyclical companies should have higher betas</a:t>
          </a:r>
        </a:p>
        <a:p>
          <a:r>
            <a:rPr lang="en-GB" sz="1200" dirty="0"/>
            <a:t>2. Luxury goods firms should have higher betas</a:t>
          </a:r>
        </a:p>
        <a:p>
          <a:r>
            <a:rPr lang="en-GB" sz="1200" dirty="0"/>
            <a:t>3. High priced goods firms should have higher betas</a:t>
          </a:r>
        </a:p>
        <a:p>
          <a:r>
            <a:rPr lang="en-GB" sz="1200" dirty="0"/>
            <a:t>4. Growth firms should have higher betas.</a:t>
          </a:r>
        </a:p>
      </dgm:t>
    </dgm:pt>
    <dgm:pt modelId="{69A16AF2-FEC6-40B0-A5BD-7316B260035C}" type="parTrans" cxnId="{C90C28EE-D621-49F4-9B60-E9BD82C4D20D}">
      <dgm:prSet/>
      <dgm:spPr/>
      <dgm:t>
        <a:bodyPr/>
        <a:lstStyle/>
        <a:p>
          <a:endParaRPr lang="en-GB"/>
        </a:p>
      </dgm:t>
    </dgm:pt>
    <dgm:pt modelId="{3F8EBD90-6D7A-4492-9234-B0341587B8E4}" type="sibTrans" cxnId="{C90C28EE-D621-49F4-9B60-E9BD82C4D20D}">
      <dgm:prSet/>
      <dgm:spPr/>
      <dgm:t>
        <a:bodyPr/>
        <a:lstStyle/>
        <a:p>
          <a:endParaRPr lang="en-GB"/>
        </a:p>
      </dgm:t>
    </dgm:pt>
    <dgm:pt modelId="{C57917D1-301D-4910-A0A6-6A0190314CFB}">
      <dgm:prSet phldrT="[Text]" custT="1"/>
      <dgm:spPr/>
      <dgm:t>
        <a:bodyPr/>
        <a:lstStyle/>
        <a:p>
          <a:r>
            <a:rPr lang="en-GB" sz="1400" dirty="0"/>
            <a:t>Operating Leverage (Fixed Costs): </a:t>
          </a:r>
        </a:p>
        <a:p>
          <a:r>
            <a:rPr lang="en-GB" sz="1200" dirty="0"/>
            <a:t>Other things remaining equal, the greater the proportion of fixed costs, the higher the beta.</a:t>
          </a:r>
        </a:p>
      </dgm:t>
    </dgm:pt>
    <dgm:pt modelId="{BC21FB78-CA2A-4372-AFC3-680CDAC113D0}" type="parTrans" cxnId="{4E5C5CC0-EB24-4374-8F89-DD07886889B1}">
      <dgm:prSet/>
      <dgm:spPr/>
      <dgm:t>
        <a:bodyPr/>
        <a:lstStyle/>
        <a:p>
          <a:endParaRPr lang="en-GB"/>
        </a:p>
      </dgm:t>
    </dgm:pt>
    <dgm:pt modelId="{F5FD9E8D-EBBE-4C15-9F7C-FD6A65404D93}" type="sibTrans" cxnId="{4E5C5CC0-EB24-4374-8F89-DD07886889B1}">
      <dgm:prSet/>
      <dgm:spPr/>
      <dgm:t>
        <a:bodyPr/>
        <a:lstStyle/>
        <a:p>
          <a:endParaRPr lang="en-GB"/>
        </a:p>
      </dgm:t>
    </dgm:pt>
    <dgm:pt modelId="{AE016EE3-D3D9-49AC-8BC8-4F387859DA51}">
      <dgm:prSet phldrT="[Text]" custT="1"/>
      <dgm:spPr/>
      <dgm:t>
        <a:bodyPr/>
        <a:lstStyle/>
        <a:p>
          <a:r>
            <a:rPr lang="en-GB" sz="1400" dirty="0"/>
            <a:t>Implications: </a:t>
          </a:r>
        </a:p>
        <a:p>
          <a:r>
            <a:rPr lang="en-GB" sz="1050" dirty="0"/>
            <a:t>1. Firms with high infrastructure and fixed costs should have higher betas </a:t>
          </a:r>
        </a:p>
        <a:p>
          <a:r>
            <a:rPr lang="en-GB" sz="1050" dirty="0"/>
            <a:t>2. Smaller firms should have higher betas </a:t>
          </a:r>
        </a:p>
        <a:p>
          <a:r>
            <a:rPr lang="en-GB" sz="1050" dirty="0"/>
            <a:t>3. Young firms should have higher betas</a:t>
          </a:r>
        </a:p>
      </dgm:t>
    </dgm:pt>
    <dgm:pt modelId="{0A710D1E-8C28-45BF-B5E6-B54A02912D98}" type="parTrans" cxnId="{D6C8641C-ABAA-474D-91C9-F3A087F6DD53}">
      <dgm:prSet/>
      <dgm:spPr/>
      <dgm:t>
        <a:bodyPr/>
        <a:lstStyle/>
        <a:p>
          <a:endParaRPr lang="en-GB"/>
        </a:p>
      </dgm:t>
    </dgm:pt>
    <dgm:pt modelId="{0435BED7-3C62-43B1-82CD-E6F57EE45192}" type="sibTrans" cxnId="{D6C8641C-ABAA-474D-91C9-F3A087F6DD53}">
      <dgm:prSet/>
      <dgm:spPr/>
      <dgm:t>
        <a:bodyPr/>
        <a:lstStyle/>
        <a:p>
          <a:endParaRPr lang="en-GB"/>
        </a:p>
      </dgm:t>
    </dgm:pt>
    <dgm:pt modelId="{10BF04B7-B96C-451D-BD91-00F5E924E71D}" type="pres">
      <dgm:prSet presAssocID="{DE4F548F-5A6E-4A8B-ABAE-744888940442}" presName="hierChild1" presStyleCnt="0">
        <dgm:presLayoutVars>
          <dgm:orgChart val="1"/>
          <dgm:chPref val="1"/>
          <dgm:dir/>
          <dgm:animOne val="branch"/>
          <dgm:animLvl val="lvl"/>
          <dgm:resizeHandles/>
        </dgm:presLayoutVars>
      </dgm:prSet>
      <dgm:spPr/>
    </dgm:pt>
    <dgm:pt modelId="{34B55859-9645-48D9-8D6F-93920ABB1F61}" type="pres">
      <dgm:prSet presAssocID="{BEF9798E-EEDB-4D9E-8F9C-54C06F1C2414}" presName="hierRoot1" presStyleCnt="0">
        <dgm:presLayoutVars>
          <dgm:hierBranch val="init"/>
        </dgm:presLayoutVars>
      </dgm:prSet>
      <dgm:spPr/>
    </dgm:pt>
    <dgm:pt modelId="{5C2CA6A5-2337-454D-866A-839D372B06AA}" type="pres">
      <dgm:prSet presAssocID="{BEF9798E-EEDB-4D9E-8F9C-54C06F1C2414}" presName="rootComposite1" presStyleCnt="0"/>
      <dgm:spPr/>
    </dgm:pt>
    <dgm:pt modelId="{A91BA40B-9FA7-4752-86E5-6D3FCD5AABBD}" type="pres">
      <dgm:prSet presAssocID="{BEF9798E-EEDB-4D9E-8F9C-54C06F1C2414}" presName="rootText1" presStyleLbl="node0" presStyleIdx="0" presStyleCnt="1" custScaleX="306290" custLinFactNeighborX="-29156">
        <dgm:presLayoutVars>
          <dgm:chPref val="3"/>
        </dgm:presLayoutVars>
      </dgm:prSet>
      <dgm:spPr/>
    </dgm:pt>
    <dgm:pt modelId="{71BCD261-DCF5-4401-8611-A11CBCF69C4F}" type="pres">
      <dgm:prSet presAssocID="{BEF9798E-EEDB-4D9E-8F9C-54C06F1C2414}" presName="rootConnector1" presStyleLbl="node1" presStyleIdx="0" presStyleCnt="0"/>
      <dgm:spPr/>
    </dgm:pt>
    <dgm:pt modelId="{84275AF1-CC4C-4928-BA25-CC6C18185EB3}" type="pres">
      <dgm:prSet presAssocID="{BEF9798E-EEDB-4D9E-8F9C-54C06F1C2414}" presName="hierChild2" presStyleCnt="0"/>
      <dgm:spPr/>
    </dgm:pt>
    <dgm:pt modelId="{C8EDA803-6890-408B-8671-61BBE49ECA2C}" type="pres">
      <dgm:prSet presAssocID="{52817590-DB5E-473C-A032-789D937A3195}" presName="Name37" presStyleLbl="parChTrans1D2" presStyleIdx="0" presStyleCnt="2"/>
      <dgm:spPr/>
    </dgm:pt>
    <dgm:pt modelId="{8FBF2B24-0755-4776-9371-63B5123BBCFD}" type="pres">
      <dgm:prSet presAssocID="{FD9D2C6E-4519-40F9-B427-3D16B67B826B}" presName="hierRoot2" presStyleCnt="0">
        <dgm:presLayoutVars>
          <dgm:hierBranch val="init"/>
        </dgm:presLayoutVars>
      </dgm:prSet>
      <dgm:spPr/>
    </dgm:pt>
    <dgm:pt modelId="{7AB3A530-6A27-4443-8B49-0CE59558CA2E}" type="pres">
      <dgm:prSet presAssocID="{FD9D2C6E-4519-40F9-B427-3D16B67B826B}" presName="rootComposite" presStyleCnt="0"/>
      <dgm:spPr/>
    </dgm:pt>
    <dgm:pt modelId="{115B8CD2-39D7-4481-8DAE-F78FA0B6AE36}" type="pres">
      <dgm:prSet presAssocID="{FD9D2C6E-4519-40F9-B427-3D16B67B826B}" presName="rootText" presStyleLbl="node2" presStyleIdx="0" presStyleCnt="2" custScaleX="180024" custScaleY="129893" custLinFactNeighborX="-34150" custLinFactNeighborY="-14900">
        <dgm:presLayoutVars>
          <dgm:chPref val="3"/>
        </dgm:presLayoutVars>
      </dgm:prSet>
      <dgm:spPr/>
    </dgm:pt>
    <dgm:pt modelId="{A622C9FB-A145-4A9B-B2B6-33EA65FBFAF9}" type="pres">
      <dgm:prSet presAssocID="{FD9D2C6E-4519-40F9-B427-3D16B67B826B}" presName="rootConnector" presStyleLbl="node2" presStyleIdx="0" presStyleCnt="2"/>
      <dgm:spPr/>
    </dgm:pt>
    <dgm:pt modelId="{F2809E73-F523-4897-A174-D72EB5753931}" type="pres">
      <dgm:prSet presAssocID="{FD9D2C6E-4519-40F9-B427-3D16B67B826B}" presName="hierChild4" presStyleCnt="0"/>
      <dgm:spPr/>
    </dgm:pt>
    <dgm:pt modelId="{774C824A-F445-4D1F-8DFA-C4509BE77521}" type="pres">
      <dgm:prSet presAssocID="{1E851E51-7339-49E7-AAA4-A0ACD65957CD}" presName="Name37" presStyleLbl="parChTrans1D3" presStyleIdx="0" presStyleCnt="3"/>
      <dgm:spPr/>
    </dgm:pt>
    <dgm:pt modelId="{15DAEE93-6A2A-4E64-86D0-D82703C2A62F}" type="pres">
      <dgm:prSet presAssocID="{F28DD229-E634-45BE-888E-9900D6400112}" presName="hierRoot2" presStyleCnt="0">
        <dgm:presLayoutVars>
          <dgm:hierBranch val="init"/>
        </dgm:presLayoutVars>
      </dgm:prSet>
      <dgm:spPr/>
    </dgm:pt>
    <dgm:pt modelId="{844DBACD-FAF5-4552-8673-C191E2FA729E}" type="pres">
      <dgm:prSet presAssocID="{F28DD229-E634-45BE-888E-9900D6400112}" presName="rootComposite" presStyleCnt="0"/>
      <dgm:spPr/>
    </dgm:pt>
    <dgm:pt modelId="{978CF47B-4F71-4981-9E98-6FDCA522160E}" type="pres">
      <dgm:prSet presAssocID="{F28DD229-E634-45BE-888E-9900D6400112}" presName="rootText" presStyleLbl="node3" presStyleIdx="0" presStyleCnt="3" custScaleX="142854" custScaleY="201466">
        <dgm:presLayoutVars>
          <dgm:chPref val="3"/>
        </dgm:presLayoutVars>
      </dgm:prSet>
      <dgm:spPr/>
    </dgm:pt>
    <dgm:pt modelId="{393F7F10-238A-4EAC-BA26-A0FDD78B8607}" type="pres">
      <dgm:prSet presAssocID="{F28DD229-E634-45BE-888E-9900D6400112}" presName="rootConnector" presStyleLbl="node3" presStyleIdx="0" presStyleCnt="3"/>
      <dgm:spPr/>
    </dgm:pt>
    <dgm:pt modelId="{060F9DD2-70DB-4201-857E-6F2F891A4F34}" type="pres">
      <dgm:prSet presAssocID="{F28DD229-E634-45BE-888E-9900D6400112}" presName="hierChild4" presStyleCnt="0"/>
      <dgm:spPr/>
    </dgm:pt>
    <dgm:pt modelId="{9EE3A6FA-9F78-4843-B274-022B29295778}" type="pres">
      <dgm:prSet presAssocID="{69A16AF2-FEC6-40B0-A5BD-7316B260035C}" presName="Name37" presStyleLbl="parChTrans1D4" presStyleIdx="0" presStyleCnt="2"/>
      <dgm:spPr/>
    </dgm:pt>
    <dgm:pt modelId="{9BB05F59-D10C-4A10-BE7C-06AB6C44BE23}" type="pres">
      <dgm:prSet presAssocID="{ACE51FB2-F017-482A-B931-B821B14226B8}" presName="hierRoot2" presStyleCnt="0">
        <dgm:presLayoutVars>
          <dgm:hierBranch val="init"/>
        </dgm:presLayoutVars>
      </dgm:prSet>
      <dgm:spPr/>
    </dgm:pt>
    <dgm:pt modelId="{B9D75EAE-4BFC-463A-B6B8-5C85328A999E}" type="pres">
      <dgm:prSet presAssocID="{ACE51FB2-F017-482A-B931-B821B14226B8}" presName="rootComposite" presStyleCnt="0"/>
      <dgm:spPr/>
    </dgm:pt>
    <dgm:pt modelId="{C6DD601E-5205-48A2-9D17-99EDFC636998}" type="pres">
      <dgm:prSet presAssocID="{ACE51FB2-F017-482A-B931-B821B14226B8}" presName="rootText" presStyleLbl="node4" presStyleIdx="0" presStyleCnt="2" custScaleX="140775" custScaleY="216737" custLinFactNeighborX="-27600">
        <dgm:presLayoutVars>
          <dgm:chPref val="3"/>
        </dgm:presLayoutVars>
      </dgm:prSet>
      <dgm:spPr/>
    </dgm:pt>
    <dgm:pt modelId="{EB5905A4-ADEC-4F57-89E6-42BF13589206}" type="pres">
      <dgm:prSet presAssocID="{ACE51FB2-F017-482A-B931-B821B14226B8}" presName="rootConnector" presStyleLbl="node4" presStyleIdx="0" presStyleCnt="2"/>
      <dgm:spPr/>
    </dgm:pt>
    <dgm:pt modelId="{06E4BBC6-C13B-47EE-816B-9EC9D3B22FC1}" type="pres">
      <dgm:prSet presAssocID="{ACE51FB2-F017-482A-B931-B821B14226B8}" presName="hierChild4" presStyleCnt="0"/>
      <dgm:spPr/>
    </dgm:pt>
    <dgm:pt modelId="{E61E05C0-51F3-4192-A72F-23F0111805DA}" type="pres">
      <dgm:prSet presAssocID="{ACE51FB2-F017-482A-B931-B821B14226B8}" presName="hierChild5" presStyleCnt="0"/>
      <dgm:spPr/>
    </dgm:pt>
    <dgm:pt modelId="{B427DB22-8C83-431A-A6F0-BF95D48241F1}" type="pres">
      <dgm:prSet presAssocID="{F28DD229-E634-45BE-888E-9900D6400112}" presName="hierChild5" presStyleCnt="0"/>
      <dgm:spPr/>
    </dgm:pt>
    <dgm:pt modelId="{170154F4-5ABD-427F-B581-FD1AC238B504}" type="pres">
      <dgm:prSet presAssocID="{BC21FB78-CA2A-4372-AFC3-680CDAC113D0}" presName="Name37" presStyleLbl="parChTrans1D3" presStyleIdx="1" presStyleCnt="3"/>
      <dgm:spPr/>
    </dgm:pt>
    <dgm:pt modelId="{CD277656-2D8E-4D33-8ADD-2D2E5FC4FE09}" type="pres">
      <dgm:prSet presAssocID="{C57917D1-301D-4910-A0A6-6A0190314CFB}" presName="hierRoot2" presStyleCnt="0">
        <dgm:presLayoutVars>
          <dgm:hierBranch val="init"/>
        </dgm:presLayoutVars>
      </dgm:prSet>
      <dgm:spPr/>
    </dgm:pt>
    <dgm:pt modelId="{4AEF0603-75B5-41F8-9638-CB553626DA54}" type="pres">
      <dgm:prSet presAssocID="{C57917D1-301D-4910-A0A6-6A0190314CFB}" presName="rootComposite" presStyleCnt="0"/>
      <dgm:spPr/>
    </dgm:pt>
    <dgm:pt modelId="{267E2C0C-8E40-4AA7-B80B-BB9975D9E88B}" type="pres">
      <dgm:prSet presAssocID="{C57917D1-301D-4910-A0A6-6A0190314CFB}" presName="rootText" presStyleLbl="node3" presStyleIdx="1" presStyleCnt="3" custScaleX="142854" custScaleY="201466" custLinFactNeighborX="-17295">
        <dgm:presLayoutVars>
          <dgm:chPref val="3"/>
        </dgm:presLayoutVars>
      </dgm:prSet>
      <dgm:spPr/>
    </dgm:pt>
    <dgm:pt modelId="{A54E5C1C-3116-4F77-93E7-FB6B321AB804}" type="pres">
      <dgm:prSet presAssocID="{C57917D1-301D-4910-A0A6-6A0190314CFB}" presName="rootConnector" presStyleLbl="node3" presStyleIdx="1" presStyleCnt="3"/>
      <dgm:spPr/>
    </dgm:pt>
    <dgm:pt modelId="{B0E09F1F-1A51-4FFB-9E97-4F70BF1C5872}" type="pres">
      <dgm:prSet presAssocID="{C57917D1-301D-4910-A0A6-6A0190314CFB}" presName="hierChild4" presStyleCnt="0"/>
      <dgm:spPr/>
    </dgm:pt>
    <dgm:pt modelId="{3168EE9A-8B51-4BB2-BFD0-8AB154ED3C6D}" type="pres">
      <dgm:prSet presAssocID="{0A710D1E-8C28-45BF-B5E6-B54A02912D98}" presName="Name37" presStyleLbl="parChTrans1D4" presStyleIdx="1" presStyleCnt="2"/>
      <dgm:spPr/>
    </dgm:pt>
    <dgm:pt modelId="{F4F728CA-C6D1-4B4F-98F2-5F343F0DC30B}" type="pres">
      <dgm:prSet presAssocID="{AE016EE3-D3D9-49AC-8BC8-4F387859DA51}" presName="hierRoot2" presStyleCnt="0">
        <dgm:presLayoutVars>
          <dgm:hierBranch val="init"/>
        </dgm:presLayoutVars>
      </dgm:prSet>
      <dgm:spPr/>
    </dgm:pt>
    <dgm:pt modelId="{5C6D770A-0615-41C2-B3BB-32CF003DFE1B}" type="pres">
      <dgm:prSet presAssocID="{AE016EE3-D3D9-49AC-8BC8-4F387859DA51}" presName="rootComposite" presStyleCnt="0"/>
      <dgm:spPr/>
    </dgm:pt>
    <dgm:pt modelId="{8DDC9491-53A7-4591-A854-3D3E70A6E4B3}" type="pres">
      <dgm:prSet presAssocID="{AE016EE3-D3D9-49AC-8BC8-4F387859DA51}" presName="rootText" presStyleLbl="node4" presStyleIdx="1" presStyleCnt="2" custScaleX="140775" custScaleY="216737" custLinFactNeighborX="-27600">
        <dgm:presLayoutVars>
          <dgm:chPref val="3"/>
        </dgm:presLayoutVars>
      </dgm:prSet>
      <dgm:spPr/>
    </dgm:pt>
    <dgm:pt modelId="{E635F76A-F2CD-4A4C-8B46-A45836517E84}" type="pres">
      <dgm:prSet presAssocID="{AE016EE3-D3D9-49AC-8BC8-4F387859DA51}" presName="rootConnector" presStyleLbl="node4" presStyleIdx="1" presStyleCnt="2"/>
      <dgm:spPr/>
    </dgm:pt>
    <dgm:pt modelId="{1D32A383-EAF6-407F-9ED0-44AF2269E6D7}" type="pres">
      <dgm:prSet presAssocID="{AE016EE3-D3D9-49AC-8BC8-4F387859DA51}" presName="hierChild4" presStyleCnt="0"/>
      <dgm:spPr/>
    </dgm:pt>
    <dgm:pt modelId="{E8A53F13-D194-4C08-9AE9-FE2143DF3D23}" type="pres">
      <dgm:prSet presAssocID="{AE016EE3-D3D9-49AC-8BC8-4F387859DA51}" presName="hierChild5" presStyleCnt="0"/>
      <dgm:spPr/>
    </dgm:pt>
    <dgm:pt modelId="{A0165D11-00E9-4AF6-9DF4-902DBD995167}" type="pres">
      <dgm:prSet presAssocID="{C57917D1-301D-4910-A0A6-6A0190314CFB}" presName="hierChild5" presStyleCnt="0"/>
      <dgm:spPr/>
    </dgm:pt>
    <dgm:pt modelId="{97DC363E-C3D0-418A-9CA9-683EBA517EFE}" type="pres">
      <dgm:prSet presAssocID="{FD9D2C6E-4519-40F9-B427-3D16B67B826B}" presName="hierChild5" presStyleCnt="0"/>
      <dgm:spPr/>
    </dgm:pt>
    <dgm:pt modelId="{DAA81E2F-A215-4D1D-9607-F9D690F80662}" type="pres">
      <dgm:prSet presAssocID="{6A7B684C-3F07-486F-8D2C-0613BCC4807C}" presName="Name37" presStyleLbl="parChTrans1D2" presStyleIdx="1" presStyleCnt="2"/>
      <dgm:spPr/>
    </dgm:pt>
    <dgm:pt modelId="{FA702232-6663-4538-9F81-FD75A5B95DA7}" type="pres">
      <dgm:prSet presAssocID="{A2E0FB14-5ADC-4FB5-97D2-33F915270C0B}" presName="hierRoot2" presStyleCnt="0">
        <dgm:presLayoutVars>
          <dgm:hierBranch val="init"/>
        </dgm:presLayoutVars>
      </dgm:prSet>
      <dgm:spPr/>
    </dgm:pt>
    <dgm:pt modelId="{C2210F60-0250-4C38-BA7A-DD943F77E1D0}" type="pres">
      <dgm:prSet presAssocID="{A2E0FB14-5ADC-4FB5-97D2-33F915270C0B}" presName="rootComposite" presStyleCnt="0"/>
      <dgm:spPr/>
    </dgm:pt>
    <dgm:pt modelId="{2107D1E0-B1C2-4429-924B-11A8B5E9016D}" type="pres">
      <dgm:prSet presAssocID="{A2E0FB14-5ADC-4FB5-97D2-33F915270C0B}" presName="rootText" presStyleLbl="node2" presStyleIdx="1" presStyleCnt="2" custScaleX="200139" custScaleY="246797" custLinFactNeighborY="-14900">
        <dgm:presLayoutVars>
          <dgm:chPref val="3"/>
        </dgm:presLayoutVars>
      </dgm:prSet>
      <dgm:spPr/>
    </dgm:pt>
    <dgm:pt modelId="{DE7E709E-84CF-4F97-8240-C90EB274F54E}" type="pres">
      <dgm:prSet presAssocID="{A2E0FB14-5ADC-4FB5-97D2-33F915270C0B}" presName="rootConnector" presStyleLbl="node2" presStyleIdx="1" presStyleCnt="2"/>
      <dgm:spPr/>
    </dgm:pt>
    <dgm:pt modelId="{B0B73CDA-7810-485C-A4C3-C4BDFE7B0874}" type="pres">
      <dgm:prSet presAssocID="{A2E0FB14-5ADC-4FB5-97D2-33F915270C0B}" presName="hierChild4" presStyleCnt="0"/>
      <dgm:spPr/>
    </dgm:pt>
    <dgm:pt modelId="{1739DE88-FC44-44DB-87E7-C6C30DA29E25}" type="pres">
      <dgm:prSet presAssocID="{98648C1D-35CA-4F0D-BB71-4164B6F9997B}" presName="Name37" presStyleLbl="parChTrans1D3" presStyleIdx="2" presStyleCnt="3"/>
      <dgm:spPr/>
    </dgm:pt>
    <dgm:pt modelId="{05D190B2-9B66-4671-8A3B-0A09413E4E7C}" type="pres">
      <dgm:prSet presAssocID="{BEF9D993-D7A5-4D38-A0FE-BFA36051608F}" presName="hierRoot2" presStyleCnt="0">
        <dgm:presLayoutVars>
          <dgm:hierBranch val="init"/>
        </dgm:presLayoutVars>
      </dgm:prSet>
      <dgm:spPr/>
    </dgm:pt>
    <dgm:pt modelId="{D407B10A-7E79-482F-A1BF-ADE482080AA1}" type="pres">
      <dgm:prSet presAssocID="{BEF9D993-D7A5-4D38-A0FE-BFA36051608F}" presName="rootComposite" presStyleCnt="0"/>
      <dgm:spPr/>
    </dgm:pt>
    <dgm:pt modelId="{919A137D-B35F-4563-AD59-97D468B9F02F}" type="pres">
      <dgm:prSet presAssocID="{BEF9D993-D7A5-4D38-A0FE-BFA36051608F}" presName="rootText" presStyleLbl="node3" presStyleIdx="2" presStyleCnt="3" custScaleX="142854" custScaleY="201466" custLinFactNeighborX="52266">
        <dgm:presLayoutVars>
          <dgm:chPref val="3"/>
        </dgm:presLayoutVars>
      </dgm:prSet>
      <dgm:spPr/>
    </dgm:pt>
    <dgm:pt modelId="{AAF91245-0A36-4201-A2DD-619B8DA10FB8}" type="pres">
      <dgm:prSet presAssocID="{BEF9D993-D7A5-4D38-A0FE-BFA36051608F}" presName="rootConnector" presStyleLbl="node3" presStyleIdx="2" presStyleCnt="3"/>
      <dgm:spPr/>
    </dgm:pt>
    <dgm:pt modelId="{936EDE0D-752B-4C1E-BDEA-A2BDE6035009}" type="pres">
      <dgm:prSet presAssocID="{BEF9D993-D7A5-4D38-A0FE-BFA36051608F}" presName="hierChild4" presStyleCnt="0"/>
      <dgm:spPr/>
    </dgm:pt>
    <dgm:pt modelId="{C1D263F5-B7C3-43FF-9DFB-D41C3BDBE304}" type="pres">
      <dgm:prSet presAssocID="{BEF9D993-D7A5-4D38-A0FE-BFA36051608F}" presName="hierChild5" presStyleCnt="0"/>
      <dgm:spPr/>
    </dgm:pt>
    <dgm:pt modelId="{A1ED7AD5-217B-428A-8FBE-14168EB08D85}" type="pres">
      <dgm:prSet presAssocID="{A2E0FB14-5ADC-4FB5-97D2-33F915270C0B}" presName="hierChild5" presStyleCnt="0"/>
      <dgm:spPr/>
    </dgm:pt>
    <dgm:pt modelId="{4DBA8162-BE56-4248-BE0A-E93388149A6D}" type="pres">
      <dgm:prSet presAssocID="{BEF9798E-EEDB-4D9E-8F9C-54C06F1C2414}" presName="hierChild3" presStyleCnt="0"/>
      <dgm:spPr/>
    </dgm:pt>
  </dgm:ptLst>
  <dgm:cxnLst>
    <dgm:cxn modelId="{FBEFD103-0D43-42A7-80A0-82A89C7A7678}" type="presOf" srcId="{FD9D2C6E-4519-40F9-B427-3D16B67B826B}" destId="{115B8CD2-39D7-4481-8DAE-F78FA0B6AE36}" srcOrd="0" destOrd="0" presId="urn:microsoft.com/office/officeart/2005/8/layout/orgChart1"/>
    <dgm:cxn modelId="{D6C8641C-ABAA-474D-91C9-F3A087F6DD53}" srcId="{C57917D1-301D-4910-A0A6-6A0190314CFB}" destId="{AE016EE3-D3D9-49AC-8BC8-4F387859DA51}" srcOrd="0" destOrd="0" parTransId="{0A710D1E-8C28-45BF-B5E6-B54A02912D98}" sibTransId="{0435BED7-3C62-43B1-82CD-E6F57EE45192}"/>
    <dgm:cxn modelId="{6DCA1240-8936-48A7-AE04-8D5099B2C598}" type="presOf" srcId="{F28DD229-E634-45BE-888E-9900D6400112}" destId="{978CF47B-4F71-4981-9E98-6FDCA522160E}" srcOrd="0" destOrd="0" presId="urn:microsoft.com/office/officeart/2005/8/layout/orgChart1"/>
    <dgm:cxn modelId="{F9FC7740-FDC7-419C-B645-2B18C1F4C0EC}" type="presOf" srcId="{BEF9D993-D7A5-4D38-A0FE-BFA36051608F}" destId="{AAF91245-0A36-4201-A2DD-619B8DA10FB8}" srcOrd="1" destOrd="0" presId="urn:microsoft.com/office/officeart/2005/8/layout/orgChart1"/>
    <dgm:cxn modelId="{897BC942-181A-46CF-BD94-70C79444627E}" type="presOf" srcId="{69A16AF2-FEC6-40B0-A5BD-7316B260035C}" destId="{9EE3A6FA-9F78-4843-B274-022B29295778}" srcOrd="0" destOrd="0" presId="urn:microsoft.com/office/officeart/2005/8/layout/orgChart1"/>
    <dgm:cxn modelId="{5DD76366-5B85-4767-A637-C93450EA2C93}" type="presOf" srcId="{ACE51FB2-F017-482A-B931-B821B14226B8}" destId="{C6DD601E-5205-48A2-9D17-99EDFC636998}" srcOrd="0" destOrd="0" presId="urn:microsoft.com/office/officeart/2005/8/layout/orgChart1"/>
    <dgm:cxn modelId="{43C8EA48-41D3-4D78-96DB-8DDD8FFD8D3C}" type="presOf" srcId="{ACE51FB2-F017-482A-B931-B821B14226B8}" destId="{EB5905A4-ADEC-4F57-89E6-42BF13589206}" srcOrd="1" destOrd="0" presId="urn:microsoft.com/office/officeart/2005/8/layout/orgChart1"/>
    <dgm:cxn modelId="{9AB1856A-6F57-4950-9D1B-B78036BA6846}" srcId="{DE4F548F-5A6E-4A8B-ABAE-744888940442}" destId="{BEF9798E-EEDB-4D9E-8F9C-54C06F1C2414}" srcOrd="0" destOrd="0" parTransId="{BEB6E2FC-7F4E-4BAD-9B71-E9E2EF66028C}" sibTransId="{E2904A6D-0D73-4042-A957-2B65727D37B3}"/>
    <dgm:cxn modelId="{0B5D734F-679A-4ACE-8C67-23CB3438A942}" type="presOf" srcId="{A2E0FB14-5ADC-4FB5-97D2-33F915270C0B}" destId="{DE7E709E-84CF-4F97-8240-C90EB274F54E}" srcOrd="1" destOrd="0" presId="urn:microsoft.com/office/officeart/2005/8/layout/orgChart1"/>
    <dgm:cxn modelId="{F8AD0650-56CD-404B-9A0A-D3FE23886128}" type="presOf" srcId="{BEF9798E-EEDB-4D9E-8F9C-54C06F1C2414}" destId="{71BCD261-DCF5-4401-8611-A11CBCF69C4F}" srcOrd="1" destOrd="0" presId="urn:microsoft.com/office/officeart/2005/8/layout/orgChart1"/>
    <dgm:cxn modelId="{F4686770-F6B6-455B-8878-D31F527178A1}" type="presOf" srcId="{BC21FB78-CA2A-4372-AFC3-680CDAC113D0}" destId="{170154F4-5ABD-427F-B581-FD1AC238B504}" srcOrd="0" destOrd="0" presId="urn:microsoft.com/office/officeart/2005/8/layout/orgChart1"/>
    <dgm:cxn modelId="{F9DC6C78-5CE8-4855-BE58-B54469555CDE}" srcId="{A2E0FB14-5ADC-4FB5-97D2-33F915270C0B}" destId="{BEF9D993-D7A5-4D38-A0FE-BFA36051608F}" srcOrd="0" destOrd="0" parTransId="{98648C1D-35CA-4F0D-BB71-4164B6F9997B}" sibTransId="{EA8D441D-5537-4ED4-B53D-1A915200E588}"/>
    <dgm:cxn modelId="{5198895A-C4C4-48F4-B7CD-AA052BDB04E7}" type="presOf" srcId="{AE016EE3-D3D9-49AC-8BC8-4F387859DA51}" destId="{8DDC9491-53A7-4591-A854-3D3E70A6E4B3}" srcOrd="0" destOrd="0" presId="urn:microsoft.com/office/officeart/2005/8/layout/orgChart1"/>
    <dgm:cxn modelId="{7703BA85-406E-4C41-9B3C-B088734586EB}" type="presOf" srcId="{AE016EE3-D3D9-49AC-8BC8-4F387859DA51}" destId="{E635F76A-F2CD-4A4C-8B46-A45836517E84}" srcOrd="1" destOrd="0" presId="urn:microsoft.com/office/officeart/2005/8/layout/orgChart1"/>
    <dgm:cxn modelId="{B7C40287-742D-4B7C-A27D-EDCB147AE41A}" type="presOf" srcId="{BEF9D993-D7A5-4D38-A0FE-BFA36051608F}" destId="{919A137D-B35F-4563-AD59-97D468B9F02F}" srcOrd="0" destOrd="0" presId="urn:microsoft.com/office/officeart/2005/8/layout/orgChart1"/>
    <dgm:cxn modelId="{51C2F98E-6530-43F3-8863-DE1D3C018F5E}" type="presOf" srcId="{C57917D1-301D-4910-A0A6-6A0190314CFB}" destId="{A54E5C1C-3116-4F77-93E7-FB6B321AB804}" srcOrd="1" destOrd="0" presId="urn:microsoft.com/office/officeart/2005/8/layout/orgChart1"/>
    <dgm:cxn modelId="{4CA70E91-1384-43CD-93CB-9B6DB0F91202}" type="presOf" srcId="{C57917D1-301D-4910-A0A6-6A0190314CFB}" destId="{267E2C0C-8E40-4AA7-B80B-BB9975D9E88B}" srcOrd="0" destOrd="0" presId="urn:microsoft.com/office/officeart/2005/8/layout/orgChart1"/>
    <dgm:cxn modelId="{A09E909C-5C44-4CA0-BA23-13B2938C30C8}" type="presOf" srcId="{0A710D1E-8C28-45BF-B5E6-B54A02912D98}" destId="{3168EE9A-8B51-4BB2-BFD0-8AB154ED3C6D}" srcOrd="0" destOrd="0" presId="urn:microsoft.com/office/officeart/2005/8/layout/orgChart1"/>
    <dgm:cxn modelId="{72D7F1A2-7969-438B-8537-40FD8CD0DC36}" type="presOf" srcId="{BEF9798E-EEDB-4D9E-8F9C-54C06F1C2414}" destId="{A91BA40B-9FA7-4752-86E5-6D3FCD5AABBD}" srcOrd="0" destOrd="0" presId="urn:microsoft.com/office/officeart/2005/8/layout/orgChart1"/>
    <dgm:cxn modelId="{06302EA3-244A-483B-9518-17705FAF26E7}" type="presOf" srcId="{52817590-DB5E-473C-A032-789D937A3195}" destId="{C8EDA803-6890-408B-8671-61BBE49ECA2C}" srcOrd="0" destOrd="0" presId="urn:microsoft.com/office/officeart/2005/8/layout/orgChart1"/>
    <dgm:cxn modelId="{B205DAA5-4849-4DE2-93CB-87EE6E0A3F05}" type="presOf" srcId="{A2E0FB14-5ADC-4FB5-97D2-33F915270C0B}" destId="{2107D1E0-B1C2-4429-924B-11A8B5E9016D}" srcOrd="0" destOrd="0" presId="urn:microsoft.com/office/officeart/2005/8/layout/orgChart1"/>
    <dgm:cxn modelId="{AFE253AF-3038-4648-B4CD-F0F64F0F6B04}" type="presOf" srcId="{F28DD229-E634-45BE-888E-9900D6400112}" destId="{393F7F10-238A-4EAC-BA26-A0FDD78B8607}" srcOrd="1" destOrd="0" presId="urn:microsoft.com/office/officeart/2005/8/layout/orgChart1"/>
    <dgm:cxn modelId="{2EEB1AB4-41D7-4BB3-A640-60A7F493C113}" type="presOf" srcId="{FD9D2C6E-4519-40F9-B427-3D16B67B826B}" destId="{A622C9FB-A145-4A9B-B2B6-33EA65FBFAF9}" srcOrd="1" destOrd="0" presId="urn:microsoft.com/office/officeart/2005/8/layout/orgChart1"/>
    <dgm:cxn modelId="{4E5C5CC0-EB24-4374-8F89-DD07886889B1}" srcId="{FD9D2C6E-4519-40F9-B427-3D16B67B826B}" destId="{C57917D1-301D-4910-A0A6-6A0190314CFB}" srcOrd="1" destOrd="0" parTransId="{BC21FB78-CA2A-4372-AFC3-680CDAC113D0}" sibTransId="{F5FD9E8D-EBBE-4C15-9F7C-FD6A65404D93}"/>
    <dgm:cxn modelId="{7DD429C5-F7D9-46BA-8680-EC240B05BAE3}" type="presOf" srcId="{6A7B684C-3F07-486F-8D2C-0613BCC4807C}" destId="{DAA81E2F-A215-4D1D-9607-F9D690F80662}" srcOrd="0" destOrd="0" presId="urn:microsoft.com/office/officeart/2005/8/layout/orgChart1"/>
    <dgm:cxn modelId="{31D390C7-9704-476D-B4CB-8D14395B3BAA}" type="presOf" srcId="{98648C1D-35CA-4F0D-BB71-4164B6F9997B}" destId="{1739DE88-FC44-44DB-87E7-C6C30DA29E25}" srcOrd="0" destOrd="0" presId="urn:microsoft.com/office/officeart/2005/8/layout/orgChart1"/>
    <dgm:cxn modelId="{2949F7D0-73D7-46D5-9C4F-48E80E69EE36}" srcId="{BEF9798E-EEDB-4D9E-8F9C-54C06F1C2414}" destId="{FD9D2C6E-4519-40F9-B427-3D16B67B826B}" srcOrd="0" destOrd="0" parTransId="{52817590-DB5E-473C-A032-789D937A3195}" sibTransId="{AA3F6F94-A77D-4EF6-A029-68D5B8CA9CB5}"/>
    <dgm:cxn modelId="{52E453D3-8F20-4C1B-BE82-4B8CDA0AE7BF}" srcId="{FD9D2C6E-4519-40F9-B427-3D16B67B826B}" destId="{F28DD229-E634-45BE-888E-9900D6400112}" srcOrd="0" destOrd="0" parTransId="{1E851E51-7339-49E7-AAA4-A0ACD65957CD}" sibTransId="{DD0543C4-E535-4FEA-8675-81BBCDB4FE18}"/>
    <dgm:cxn modelId="{0919B7DC-28B7-4259-AF6D-8CA2FF1ACF13}" type="presOf" srcId="{DE4F548F-5A6E-4A8B-ABAE-744888940442}" destId="{10BF04B7-B96C-451D-BD91-00F5E924E71D}" srcOrd="0" destOrd="0" presId="urn:microsoft.com/office/officeart/2005/8/layout/orgChart1"/>
    <dgm:cxn modelId="{9A73BBDE-2631-4A15-AE00-8F0424D7759B}" type="presOf" srcId="{1E851E51-7339-49E7-AAA4-A0ACD65957CD}" destId="{774C824A-F445-4D1F-8DFA-C4509BE77521}" srcOrd="0" destOrd="0" presId="urn:microsoft.com/office/officeart/2005/8/layout/orgChart1"/>
    <dgm:cxn modelId="{C90C28EE-D621-49F4-9B60-E9BD82C4D20D}" srcId="{F28DD229-E634-45BE-888E-9900D6400112}" destId="{ACE51FB2-F017-482A-B931-B821B14226B8}" srcOrd="0" destOrd="0" parTransId="{69A16AF2-FEC6-40B0-A5BD-7316B260035C}" sibTransId="{3F8EBD90-6D7A-4492-9234-B0341587B8E4}"/>
    <dgm:cxn modelId="{60299BF2-D1BF-4476-B62F-20967345BC5F}" srcId="{BEF9798E-EEDB-4D9E-8F9C-54C06F1C2414}" destId="{A2E0FB14-5ADC-4FB5-97D2-33F915270C0B}" srcOrd="1" destOrd="0" parTransId="{6A7B684C-3F07-486F-8D2C-0613BCC4807C}" sibTransId="{2A214D90-9312-4021-881E-9939715E29C0}"/>
    <dgm:cxn modelId="{063362A3-459E-4F3E-AB82-72E02FC6FB79}" type="presParOf" srcId="{10BF04B7-B96C-451D-BD91-00F5E924E71D}" destId="{34B55859-9645-48D9-8D6F-93920ABB1F61}" srcOrd="0" destOrd="0" presId="urn:microsoft.com/office/officeart/2005/8/layout/orgChart1"/>
    <dgm:cxn modelId="{E92C31D9-A7E5-4190-8793-E0D1A39756B5}" type="presParOf" srcId="{34B55859-9645-48D9-8D6F-93920ABB1F61}" destId="{5C2CA6A5-2337-454D-866A-839D372B06AA}" srcOrd="0" destOrd="0" presId="urn:microsoft.com/office/officeart/2005/8/layout/orgChart1"/>
    <dgm:cxn modelId="{1CFB88E7-D3C8-45BE-8B31-6ADA0E793358}" type="presParOf" srcId="{5C2CA6A5-2337-454D-866A-839D372B06AA}" destId="{A91BA40B-9FA7-4752-86E5-6D3FCD5AABBD}" srcOrd="0" destOrd="0" presId="urn:microsoft.com/office/officeart/2005/8/layout/orgChart1"/>
    <dgm:cxn modelId="{45CB3BE6-729E-4146-B530-9DBA498663DB}" type="presParOf" srcId="{5C2CA6A5-2337-454D-866A-839D372B06AA}" destId="{71BCD261-DCF5-4401-8611-A11CBCF69C4F}" srcOrd="1" destOrd="0" presId="urn:microsoft.com/office/officeart/2005/8/layout/orgChart1"/>
    <dgm:cxn modelId="{F03F7648-6BF7-4F62-8496-832CA4A876DA}" type="presParOf" srcId="{34B55859-9645-48D9-8D6F-93920ABB1F61}" destId="{84275AF1-CC4C-4928-BA25-CC6C18185EB3}" srcOrd="1" destOrd="0" presId="urn:microsoft.com/office/officeart/2005/8/layout/orgChart1"/>
    <dgm:cxn modelId="{EF590592-CE24-4822-AE7A-E56E559F8869}" type="presParOf" srcId="{84275AF1-CC4C-4928-BA25-CC6C18185EB3}" destId="{C8EDA803-6890-408B-8671-61BBE49ECA2C}" srcOrd="0" destOrd="0" presId="urn:microsoft.com/office/officeart/2005/8/layout/orgChart1"/>
    <dgm:cxn modelId="{74C09A41-C598-40CA-A22A-E34EB67BC9B6}" type="presParOf" srcId="{84275AF1-CC4C-4928-BA25-CC6C18185EB3}" destId="{8FBF2B24-0755-4776-9371-63B5123BBCFD}" srcOrd="1" destOrd="0" presId="urn:microsoft.com/office/officeart/2005/8/layout/orgChart1"/>
    <dgm:cxn modelId="{977E1062-467C-4A15-B3ED-1F78DBE1DE0F}" type="presParOf" srcId="{8FBF2B24-0755-4776-9371-63B5123BBCFD}" destId="{7AB3A530-6A27-4443-8B49-0CE59558CA2E}" srcOrd="0" destOrd="0" presId="urn:microsoft.com/office/officeart/2005/8/layout/orgChart1"/>
    <dgm:cxn modelId="{0724D39F-75D6-4440-82AA-4A25A04A72B2}" type="presParOf" srcId="{7AB3A530-6A27-4443-8B49-0CE59558CA2E}" destId="{115B8CD2-39D7-4481-8DAE-F78FA0B6AE36}" srcOrd="0" destOrd="0" presId="urn:microsoft.com/office/officeart/2005/8/layout/orgChart1"/>
    <dgm:cxn modelId="{7DCCA040-2E8F-4B9A-877D-56527EEEF7F3}" type="presParOf" srcId="{7AB3A530-6A27-4443-8B49-0CE59558CA2E}" destId="{A622C9FB-A145-4A9B-B2B6-33EA65FBFAF9}" srcOrd="1" destOrd="0" presId="urn:microsoft.com/office/officeart/2005/8/layout/orgChart1"/>
    <dgm:cxn modelId="{49FA08EB-0687-4222-AFE8-79ECC16C35D4}" type="presParOf" srcId="{8FBF2B24-0755-4776-9371-63B5123BBCFD}" destId="{F2809E73-F523-4897-A174-D72EB5753931}" srcOrd="1" destOrd="0" presId="urn:microsoft.com/office/officeart/2005/8/layout/orgChart1"/>
    <dgm:cxn modelId="{D0A9271A-E6DE-4364-B482-37816EA64E02}" type="presParOf" srcId="{F2809E73-F523-4897-A174-D72EB5753931}" destId="{774C824A-F445-4D1F-8DFA-C4509BE77521}" srcOrd="0" destOrd="0" presId="urn:microsoft.com/office/officeart/2005/8/layout/orgChart1"/>
    <dgm:cxn modelId="{7556EE19-1ACF-4C0E-954E-298F490EE90D}" type="presParOf" srcId="{F2809E73-F523-4897-A174-D72EB5753931}" destId="{15DAEE93-6A2A-4E64-86D0-D82703C2A62F}" srcOrd="1" destOrd="0" presId="urn:microsoft.com/office/officeart/2005/8/layout/orgChart1"/>
    <dgm:cxn modelId="{148E1592-878E-443E-B672-BBB873D1E0BB}" type="presParOf" srcId="{15DAEE93-6A2A-4E64-86D0-D82703C2A62F}" destId="{844DBACD-FAF5-4552-8673-C191E2FA729E}" srcOrd="0" destOrd="0" presId="urn:microsoft.com/office/officeart/2005/8/layout/orgChart1"/>
    <dgm:cxn modelId="{504B8E90-4872-4120-BCB8-211540E8DDD3}" type="presParOf" srcId="{844DBACD-FAF5-4552-8673-C191E2FA729E}" destId="{978CF47B-4F71-4981-9E98-6FDCA522160E}" srcOrd="0" destOrd="0" presId="urn:microsoft.com/office/officeart/2005/8/layout/orgChart1"/>
    <dgm:cxn modelId="{CA3FC1D3-B2D9-493D-BDD2-F946CE1EAF25}" type="presParOf" srcId="{844DBACD-FAF5-4552-8673-C191E2FA729E}" destId="{393F7F10-238A-4EAC-BA26-A0FDD78B8607}" srcOrd="1" destOrd="0" presId="urn:microsoft.com/office/officeart/2005/8/layout/orgChart1"/>
    <dgm:cxn modelId="{2A90FC0C-CA73-4054-94FD-31A0D279AF4D}" type="presParOf" srcId="{15DAEE93-6A2A-4E64-86D0-D82703C2A62F}" destId="{060F9DD2-70DB-4201-857E-6F2F891A4F34}" srcOrd="1" destOrd="0" presId="urn:microsoft.com/office/officeart/2005/8/layout/orgChart1"/>
    <dgm:cxn modelId="{D798D321-F265-4217-A6B1-291BB0C107D7}" type="presParOf" srcId="{060F9DD2-70DB-4201-857E-6F2F891A4F34}" destId="{9EE3A6FA-9F78-4843-B274-022B29295778}" srcOrd="0" destOrd="0" presId="urn:microsoft.com/office/officeart/2005/8/layout/orgChart1"/>
    <dgm:cxn modelId="{5FDCF1A2-ECD6-48DD-BF92-9F6EADB2D474}" type="presParOf" srcId="{060F9DD2-70DB-4201-857E-6F2F891A4F34}" destId="{9BB05F59-D10C-4A10-BE7C-06AB6C44BE23}" srcOrd="1" destOrd="0" presId="urn:microsoft.com/office/officeart/2005/8/layout/orgChart1"/>
    <dgm:cxn modelId="{7A66F67B-8DEB-4D20-A723-BA1FC568B222}" type="presParOf" srcId="{9BB05F59-D10C-4A10-BE7C-06AB6C44BE23}" destId="{B9D75EAE-4BFC-463A-B6B8-5C85328A999E}" srcOrd="0" destOrd="0" presId="urn:microsoft.com/office/officeart/2005/8/layout/orgChart1"/>
    <dgm:cxn modelId="{F4D04585-BA33-4483-8BDB-660894B3B0EB}" type="presParOf" srcId="{B9D75EAE-4BFC-463A-B6B8-5C85328A999E}" destId="{C6DD601E-5205-48A2-9D17-99EDFC636998}" srcOrd="0" destOrd="0" presId="urn:microsoft.com/office/officeart/2005/8/layout/orgChart1"/>
    <dgm:cxn modelId="{56FF8ED2-97F7-4537-AFC0-A259682579B7}" type="presParOf" srcId="{B9D75EAE-4BFC-463A-B6B8-5C85328A999E}" destId="{EB5905A4-ADEC-4F57-89E6-42BF13589206}" srcOrd="1" destOrd="0" presId="urn:microsoft.com/office/officeart/2005/8/layout/orgChart1"/>
    <dgm:cxn modelId="{FADF97B0-1F8E-4B63-A86F-7695A5D1763A}" type="presParOf" srcId="{9BB05F59-D10C-4A10-BE7C-06AB6C44BE23}" destId="{06E4BBC6-C13B-47EE-816B-9EC9D3B22FC1}" srcOrd="1" destOrd="0" presId="urn:microsoft.com/office/officeart/2005/8/layout/orgChart1"/>
    <dgm:cxn modelId="{C06AE77B-0B79-4567-8D4B-5EA0731F00B1}" type="presParOf" srcId="{9BB05F59-D10C-4A10-BE7C-06AB6C44BE23}" destId="{E61E05C0-51F3-4192-A72F-23F0111805DA}" srcOrd="2" destOrd="0" presId="urn:microsoft.com/office/officeart/2005/8/layout/orgChart1"/>
    <dgm:cxn modelId="{F4FFC2FC-C859-4838-A9A0-8B2936CEE79D}" type="presParOf" srcId="{15DAEE93-6A2A-4E64-86D0-D82703C2A62F}" destId="{B427DB22-8C83-431A-A6F0-BF95D48241F1}" srcOrd="2" destOrd="0" presId="urn:microsoft.com/office/officeart/2005/8/layout/orgChart1"/>
    <dgm:cxn modelId="{ED2655EE-67E4-4B9D-BE10-D9B753ADACE0}" type="presParOf" srcId="{F2809E73-F523-4897-A174-D72EB5753931}" destId="{170154F4-5ABD-427F-B581-FD1AC238B504}" srcOrd="2" destOrd="0" presId="urn:microsoft.com/office/officeart/2005/8/layout/orgChart1"/>
    <dgm:cxn modelId="{C3C3618E-FA67-4DCC-8842-0C6B7935F369}" type="presParOf" srcId="{F2809E73-F523-4897-A174-D72EB5753931}" destId="{CD277656-2D8E-4D33-8ADD-2D2E5FC4FE09}" srcOrd="3" destOrd="0" presId="urn:microsoft.com/office/officeart/2005/8/layout/orgChart1"/>
    <dgm:cxn modelId="{F8CFCD94-80E5-41C0-ACD1-062310655979}" type="presParOf" srcId="{CD277656-2D8E-4D33-8ADD-2D2E5FC4FE09}" destId="{4AEF0603-75B5-41F8-9638-CB553626DA54}" srcOrd="0" destOrd="0" presId="urn:microsoft.com/office/officeart/2005/8/layout/orgChart1"/>
    <dgm:cxn modelId="{A76A1A42-2753-4354-9E0D-B5F8B91FAFD5}" type="presParOf" srcId="{4AEF0603-75B5-41F8-9638-CB553626DA54}" destId="{267E2C0C-8E40-4AA7-B80B-BB9975D9E88B}" srcOrd="0" destOrd="0" presId="urn:microsoft.com/office/officeart/2005/8/layout/orgChart1"/>
    <dgm:cxn modelId="{D1F4489D-9AC5-4175-9001-56D3531552EA}" type="presParOf" srcId="{4AEF0603-75B5-41F8-9638-CB553626DA54}" destId="{A54E5C1C-3116-4F77-93E7-FB6B321AB804}" srcOrd="1" destOrd="0" presId="urn:microsoft.com/office/officeart/2005/8/layout/orgChart1"/>
    <dgm:cxn modelId="{20D9D6C9-9A80-471C-AA73-E24EEFC5A08C}" type="presParOf" srcId="{CD277656-2D8E-4D33-8ADD-2D2E5FC4FE09}" destId="{B0E09F1F-1A51-4FFB-9E97-4F70BF1C5872}" srcOrd="1" destOrd="0" presId="urn:microsoft.com/office/officeart/2005/8/layout/orgChart1"/>
    <dgm:cxn modelId="{29934688-F915-4077-8328-22D6ADFC10B4}" type="presParOf" srcId="{B0E09F1F-1A51-4FFB-9E97-4F70BF1C5872}" destId="{3168EE9A-8B51-4BB2-BFD0-8AB154ED3C6D}" srcOrd="0" destOrd="0" presId="urn:microsoft.com/office/officeart/2005/8/layout/orgChart1"/>
    <dgm:cxn modelId="{0D691562-B1C3-4D52-BB65-11AC781A332B}" type="presParOf" srcId="{B0E09F1F-1A51-4FFB-9E97-4F70BF1C5872}" destId="{F4F728CA-C6D1-4B4F-98F2-5F343F0DC30B}" srcOrd="1" destOrd="0" presId="urn:microsoft.com/office/officeart/2005/8/layout/orgChart1"/>
    <dgm:cxn modelId="{5D9AD715-3EF2-4AC1-9B8F-2F5CB4126910}" type="presParOf" srcId="{F4F728CA-C6D1-4B4F-98F2-5F343F0DC30B}" destId="{5C6D770A-0615-41C2-B3BB-32CF003DFE1B}" srcOrd="0" destOrd="0" presId="urn:microsoft.com/office/officeart/2005/8/layout/orgChart1"/>
    <dgm:cxn modelId="{BA597DCD-CAE1-415B-91EC-443A50B77E51}" type="presParOf" srcId="{5C6D770A-0615-41C2-B3BB-32CF003DFE1B}" destId="{8DDC9491-53A7-4591-A854-3D3E70A6E4B3}" srcOrd="0" destOrd="0" presId="urn:microsoft.com/office/officeart/2005/8/layout/orgChart1"/>
    <dgm:cxn modelId="{24AE06F2-FDAF-4818-B5EC-051BCBA142A5}" type="presParOf" srcId="{5C6D770A-0615-41C2-B3BB-32CF003DFE1B}" destId="{E635F76A-F2CD-4A4C-8B46-A45836517E84}" srcOrd="1" destOrd="0" presId="urn:microsoft.com/office/officeart/2005/8/layout/orgChart1"/>
    <dgm:cxn modelId="{3A82E440-20A9-4C7E-8BE4-784E0F7ED68C}" type="presParOf" srcId="{F4F728CA-C6D1-4B4F-98F2-5F343F0DC30B}" destId="{1D32A383-EAF6-407F-9ED0-44AF2269E6D7}" srcOrd="1" destOrd="0" presId="urn:microsoft.com/office/officeart/2005/8/layout/orgChart1"/>
    <dgm:cxn modelId="{DCED637B-3F94-4A76-8F28-2D577CA07D03}" type="presParOf" srcId="{F4F728CA-C6D1-4B4F-98F2-5F343F0DC30B}" destId="{E8A53F13-D194-4C08-9AE9-FE2143DF3D23}" srcOrd="2" destOrd="0" presId="urn:microsoft.com/office/officeart/2005/8/layout/orgChart1"/>
    <dgm:cxn modelId="{BD57D0D6-05C6-42D2-B037-D165A7B7B662}" type="presParOf" srcId="{CD277656-2D8E-4D33-8ADD-2D2E5FC4FE09}" destId="{A0165D11-00E9-4AF6-9DF4-902DBD995167}" srcOrd="2" destOrd="0" presId="urn:microsoft.com/office/officeart/2005/8/layout/orgChart1"/>
    <dgm:cxn modelId="{78D4C9BE-A725-4ECA-AA36-14C0A3F5DA47}" type="presParOf" srcId="{8FBF2B24-0755-4776-9371-63B5123BBCFD}" destId="{97DC363E-C3D0-418A-9CA9-683EBA517EFE}" srcOrd="2" destOrd="0" presId="urn:microsoft.com/office/officeart/2005/8/layout/orgChart1"/>
    <dgm:cxn modelId="{2479475B-2E77-4DB4-9759-C6912D49A9AF}" type="presParOf" srcId="{84275AF1-CC4C-4928-BA25-CC6C18185EB3}" destId="{DAA81E2F-A215-4D1D-9607-F9D690F80662}" srcOrd="2" destOrd="0" presId="urn:microsoft.com/office/officeart/2005/8/layout/orgChart1"/>
    <dgm:cxn modelId="{AB00D946-BA44-4B3C-AD96-29E6608AFC64}" type="presParOf" srcId="{84275AF1-CC4C-4928-BA25-CC6C18185EB3}" destId="{FA702232-6663-4538-9F81-FD75A5B95DA7}" srcOrd="3" destOrd="0" presId="urn:microsoft.com/office/officeart/2005/8/layout/orgChart1"/>
    <dgm:cxn modelId="{BB72328D-E503-41A0-B265-87162799F60E}" type="presParOf" srcId="{FA702232-6663-4538-9F81-FD75A5B95DA7}" destId="{C2210F60-0250-4C38-BA7A-DD943F77E1D0}" srcOrd="0" destOrd="0" presId="urn:microsoft.com/office/officeart/2005/8/layout/orgChart1"/>
    <dgm:cxn modelId="{6A1A2B6C-0D34-4533-AF7C-DDDD4EA746C6}" type="presParOf" srcId="{C2210F60-0250-4C38-BA7A-DD943F77E1D0}" destId="{2107D1E0-B1C2-4429-924B-11A8B5E9016D}" srcOrd="0" destOrd="0" presId="urn:microsoft.com/office/officeart/2005/8/layout/orgChart1"/>
    <dgm:cxn modelId="{73CA5A9B-8E2D-4C66-8ACE-3E3D9E3B089B}" type="presParOf" srcId="{C2210F60-0250-4C38-BA7A-DD943F77E1D0}" destId="{DE7E709E-84CF-4F97-8240-C90EB274F54E}" srcOrd="1" destOrd="0" presId="urn:microsoft.com/office/officeart/2005/8/layout/orgChart1"/>
    <dgm:cxn modelId="{5D80A5CF-B204-4974-8443-B4AECE021F96}" type="presParOf" srcId="{FA702232-6663-4538-9F81-FD75A5B95DA7}" destId="{B0B73CDA-7810-485C-A4C3-C4BDFE7B0874}" srcOrd="1" destOrd="0" presId="urn:microsoft.com/office/officeart/2005/8/layout/orgChart1"/>
    <dgm:cxn modelId="{A19FC2CA-D919-431B-8053-EA5C26999A80}" type="presParOf" srcId="{B0B73CDA-7810-485C-A4C3-C4BDFE7B0874}" destId="{1739DE88-FC44-44DB-87E7-C6C30DA29E25}" srcOrd="0" destOrd="0" presId="urn:microsoft.com/office/officeart/2005/8/layout/orgChart1"/>
    <dgm:cxn modelId="{6110E64F-3283-4075-8CC0-AB46347B1942}" type="presParOf" srcId="{B0B73CDA-7810-485C-A4C3-C4BDFE7B0874}" destId="{05D190B2-9B66-4671-8A3B-0A09413E4E7C}" srcOrd="1" destOrd="0" presId="urn:microsoft.com/office/officeart/2005/8/layout/orgChart1"/>
    <dgm:cxn modelId="{7A446689-F8F1-462C-B72B-94A0F7569100}" type="presParOf" srcId="{05D190B2-9B66-4671-8A3B-0A09413E4E7C}" destId="{D407B10A-7E79-482F-A1BF-ADE482080AA1}" srcOrd="0" destOrd="0" presId="urn:microsoft.com/office/officeart/2005/8/layout/orgChart1"/>
    <dgm:cxn modelId="{2086690F-68B5-44A0-A931-C3233045479C}" type="presParOf" srcId="{D407B10A-7E79-482F-A1BF-ADE482080AA1}" destId="{919A137D-B35F-4563-AD59-97D468B9F02F}" srcOrd="0" destOrd="0" presId="urn:microsoft.com/office/officeart/2005/8/layout/orgChart1"/>
    <dgm:cxn modelId="{9152F728-D6A4-4EEB-934D-C29C8382EF54}" type="presParOf" srcId="{D407B10A-7E79-482F-A1BF-ADE482080AA1}" destId="{AAF91245-0A36-4201-A2DD-619B8DA10FB8}" srcOrd="1" destOrd="0" presId="urn:microsoft.com/office/officeart/2005/8/layout/orgChart1"/>
    <dgm:cxn modelId="{3387A2E5-8313-4C8A-B4C9-38C423C291B4}" type="presParOf" srcId="{05D190B2-9B66-4671-8A3B-0A09413E4E7C}" destId="{936EDE0D-752B-4C1E-BDEA-A2BDE6035009}" srcOrd="1" destOrd="0" presId="urn:microsoft.com/office/officeart/2005/8/layout/orgChart1"/>
    <dgm:cxn modelId="{63890DA6-93EF-43DC-9486-AB2CCC4377CC}" type="presParOf" srcId="{05D190B2-9B66-4671-8A3B-0A09413E4E7C}" destId="{C1D263F5-B7C3-43FF-9DFB-D41C3BDBE304}" srcOrd="2" destOrd="0" presId="urn:microsoft.com/office/officeart/2005/8/layout/orgChart1"/>
    <dgm:cxn modelId="{B0D52396-2313-4AC9-AAF0-3B2FD533A35A}" type="presParOf" srcId="{FA702232-6663-4538-9F81-FD75A5B95DA7}" destId="{A1ED7AD5-217B-428A-8FBE-14168EB08D85}" srcOrd="2" destOrd="0" presId="urn:microsoft.com/office/officeart/2005/8/layout/orgChart1"/>
    <dgm:cxn modelId="{CC448F17-BA6E-4EA5-A417-D937C0AD3D38}" type="presParOf" srcId="{34B55859-9645-48D9-8D6F-93920ABB1F61}" destId="{4DBA8162-BE56-4248-BE0A-E93388149A6D}"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304B396A-2E4E-4A23-B24E-F09308518294}" type="doc">
      <dgm:prSet loTypeId="urn:microsoft.com/office/officeart/2005/8/layout/process2" loCatId="process" qsTypeId="urn:microsoft.com/office/officeart/2005/8/quickstyle/simple5#1" qsCatId="simple" csTypeId="urn:microsoft.com/office/officeart/2005/8/colors/accent1_2#9" csCatId="accent1" phldr="1"/>
      <dgm:spPr/>
    </dgm:pt>
    <dgm:pt modelId="{1ADEB6EE-4AEB-4231-A9C4-B33D1257CE5D}">
      <dgm:prSet phldrT="[Text]" custT="1"/>
      <dgm:spPr/>
      <dgm:t>
        <a:bodyPr/>
        <a:lstStyle/>
        <a:p>
          <a:r>
            <a:rPr lang="en-GB" sz="2400" dirty="0"/>
            <a:t>Start with the pure beta of the business that the firm is in</a:t>
          </a:r>
        </a:p>
        <a:p>
          <a:r>
            <a:rPr lang="en-GB" sz="2400" dirty="0"/>
            <a:t>For the US: </a:t>
          </a:r>
          <a:r>
            <a:rPr lang="en-GB" sz="2400" dirty="0">
              <a:hlinkClick xmlns:r="http://schemas.openxmlformats.org/officeDocument/2006/relationships" r:id="rId1"/>
            </a:rPr>
            <a:t>https://pages.stern.nyu.edu/~adamodar/New_Home_Page/datafile/Betas.html</a:t>
          </a:r>
          <a:r>
            <a:rPr lang="en-GB" sz="2400" dirty="0"/>
            <a:t> </a:t>
          </a:r>
        </a:p>
      </dgm:t>
    </dgm:pt>
    <dgm:pt modelId="{14AB4C1A-BC24-4E12-87CF-99AD64496043}" type="parTrans" cxnId="{1E968781-A09E-487B-BE0C-8DDB9918D4B0}">
      <dgm:prSet/>
      <dgm:spPr/>
      <dgm:t>
        <a:bodyPr/>
        <a:lstStyle/>
        <a:p>
          <a:endParaRPr lang="en-GB" sz="2000"/>
        </a:p>
      </dgm:t>
    </dgm:pt>
    <dgm:pt modelId="{259DA21D-935E-4941-AFF7-333164C084F3}" type="sibTrans" cxnId="{1E968781-A09E-487B-BE0C-8DDB9918D4B0}">
      <dgm:prSet custT="1"/>
      <dgm:spPr/>
      <dgm:t>
        <a:bodyPr/>
        <a:lstStyle/>
        <a:p>
          <a:endParaRPr lang="en-GB" sz="2800"/>
        </a:p>
      </dgm:t>
    </dgm:pt>
    <dgm:pt modelId="{0C2D7ED5-61D6-47C2-9239-B580799916F3}">
      <dgm:prSet phldrT="[Text]" custT="1"/>
      <dgm:spPr/>
      <dgm:t>
        <a:bodyPr/>
        <a:lstStyle/>
        <a:p>
          <a:r>
            <a:rPr lang="en-GB" sz="2400" dirty="0"/>
            <a:t>Adjust the business beta for the operating leverage of the firm to arrive at the unlevered beta for the firm</a:t>
          </a:r>
        </a:p>
        <a:p>
          <a:r>
            <a:rPr lang="en-US" sz="2400" b="1" dirty="0">
              <a:solidFill>
                <a:schemeClr val="tx1">
                  <a:lumMod val="95000"/>
                  <a:lumOff val="5000"/>
                </a:schemeClr>
              </a:solidFill>
            </a:rPr>
            <a:t>Unlevered beta=</a:t>
          </a:r>
        </a:p>
        <a:p>
          <a:r>
            <a:rPr lang="en-US" sz="2400" b="1" dirty="0">
              <a:solidFill>
                <a:schemeClr val="tx1">
                  <a:lumMod val="95000"/>
                  <a:lumOff val="5000"/>
                </a:schemeClr>
              </a:solidFill>
            </a:rPr>
            <a:t>Pure business beta *(1 + (Fixed costs/ Variable costs))</a:t>
          </a:r>
          <a:endParaRPr lang="en-GB" sz="2400" dirty="0">
            <a:solidFill>
              <a:schemeClr val="tx1">
                <a:lumMod val="95000"/>
                <a:lumOff val="5000"/>
              </a:schemeClr>
            </a:solidFill>
          </a:endParaRPr>
        </a:p>
      </dgm:t>
    </dgm:pt>
    <dgm:pt modelId="{898E2FD6-2D57-4A35-8024-C67FA79C6A41}" type="parTrans" cxnId="{ED4BE3EF-8AB4-4C99-AD2E-1B5E8F94BF69}">
      <dgm:prSet/>
      <dgm:spPr/>
      <dgm:t>
        <a:bodyPr/>
        <a:lstStyle/>
        <a:p>
          <a:endParaRPr lang="en-GB" sz="2000"/>
        </a:p>
      </dgm:t>
    </dgm:pt>
    <dgm:pt modelId="{75D2AC14-0794-461A-9616-C377F95B1E54}" type="sibTrans" cxnId="{ED4BE3EF-8AB4-4C99-AD2E-1B5E8F94BF69}">
      <dgm:prSet custT="1"/>
      <dgm:spPr/>
      <dgm:t>
        <a:bodyPr/>
        <a:lstStyle/>
        <a:p>
          <a:endParaRPr lang="en-GB" sz="2800"/>
        </a:p>
      </dgm:t>
    </dgm:pt>
    <dgm:pt modelId="{FE757139-D08C-42E2-900B-473381DFB87E}">
      <dgm:prSet phldrT="[Text]" custT="1"/>
      <dgm:spPr/>
      <dgm:t>
        <a:bodyPr/>
        <a:lstStyle/>
        <a:p>
          <a:r>
            <a:rPr lang="en-GB" sz="2400" dirty="0"/>
            <a:t>Use the financial leverage of the firm to estimate the equity beta for the firm</a:t>
          </a:r>
        </a:p>
        <a:p>
          <a:r>
            <a:rPr lang="en-GB" sz="2400" b="1" dirty="0">
              <a:solidFill>
                <a:schemeClr val="tx1">
                  <a:lumMod val="95000"/>
                  <a:lumOff val="5000"/>
                </a:schemeClr>
              </a:solidFill>
            </a:rPr>
            <a:t>Levered Beta=Unlevered Beta(1+(1-T)*(D/E))</a:t>
          </a:r>
          <a:endParaRPr lang="en-GB" sz="2000" b="1" dirty="0">
            <a:solidFill>
              <a:schemeClr val="tx1">
                <a:lumMod val="95000"/>
                <a:lumOff val="5000"/>
              </a:schemeClr>
            </a:solidFill>
          </a:endParaRPr>
        </a:p>
      </dgm:t>
    </dgm:pt>
    <dgm:pt modelId="{674DC262-423F-4DAE-8320-A0B08467EADE}" type="parTrans" cxnId="{F50219C9-0FBA-4732-90D9-98F722EC2EF0}">
      <dgm:prSet/>
      <dgm:spPr/>
      <dgm:t>
        <a:bodyPr/>
        <a:lstStyle/>
        <a:p>
          <a:endParaRPr lang="en-GB" sz="2000"/>
        </a:p>
      </dgm:t>
    </dgm:pt>
    <dgm:pt modelId="{B7126A75-8F61-4509-AF05-BFC54C20F0B0}" type="sibTrans" cxnId="{F50219C9-0FBA-4732-90D9-98F722EC2EF0}">
      <dgm:prSet/>
      <dgm:spPr/>
      <dgm:t>
        <a:bodyPr/>
        <a:lstStyle/>
        <a:p>
          <a:endParaRPr lang="en-GB" sz="2000"/>
        </a:p>
      </dgm:t>
    </dgm:pt>
    <dgm:pt modelId="{990491A4-9565-4885-AE53-8109A5C771A3}" type="pres">
      <dgm:prSet presAssocID="{304B396A-2E4E-4A23-B24E-F09308518294}" presName="linearFlow" presStyleCnt="0">
        <dgm:presLayoutVars>
          <dgm:resizeHandles val="exact"/>
        </dgm:presLayoutVars>
      </dgm:prSet>
      <dgm:spPr/>
    </dgm:pt>
    <dgm:pt modelId="{93747CC0-0EAD-45F5-AF7F-19997AB2C7BC}" type="pres">
      <dgm:prSet presAssocID="{1ADEB6EE-4AEB-4231-A9C4-B33D1257CE5D}" presName="node" presStyleLbl="node1" presStyleIdx="0" presStyleCnt="3" custScaleX="367284" custScaleY="143206">
        <dgm:presLayoutVars>
          <dgm:bulletEnabled val="1"/>
        </dgm:presLayoutVars>
      </dgm:prSet>
      <dgm:spPr/>
    </dgm:pt>
    <dgm:pt modelId="{C5017CA7-A07E-4CBF-B1E4-50CC1F1FD08E}" type="pres">
      <dgm:prSet presAssocID="{259DA21D-935E-4941-AFF7-333164C084F3}" presName="sibTrans" presStyleLbl="sibTrans2D1" presStyleIdx="0" presStyleCnt="2"/>
      <dgm:spPr/>
    </dgm:pt>
    <dgm:pt modelId="{E1C80A4F-FD2A-4478-B1E6-217C4823483A}" type="pres">
      <dgm:prSet presAssocID="{259DA21D-935E-4941-AFF7-333164C084F3}" presName="connectorText" presStyleLbl="sibTrans2D1" presStyleIdx="0" presStyleCnt="2"/>
      <dgm:spPr/>
    </dgm:pt>
    <dgm:pt modelId="{B27D3E3F-4CE4-4801-AF96-01F5E6945687}" type="pres">
      <dgm:prSet presAssocID="{0C2D7ED5-61D6-47C2-9239-B580799916F3}" presName="node" presStyleLbl="node1" presStyleIdx="1" presStyleCnt="3" custScaleX="367284" custScaleY="138623">
        <dgm:presLayoutVars>
          <dgm:bulletEnabled val="1"/>
        </dgm:presLayoutVars>
      </dgm:prSet>
      <dgm:spPr/>
    </dgm:pt>
    <dgm:pt modelId="{A50E0E44-1A1E-45F5-BDF0-8669B245FAAD}" type="pres">
      <dgm:prSet presAssocID="{75D2AC14-0794-461A-9616-C377F95B1E54}" presName="sibTrans" presStyleLbl="sibTrans2D1" presStyleIdx="1" presStyleCnt="2"/>
      <dgm:spPr/>
    </dgm:pt>
    <dgm:pt modelId="{6A6837E1-B16C-427C-85C3-FAF0581ACA7D}" type="pres">
      <dgm:prSet presAssocID="{75D2AC14-0794-461A-9616-C377F95B1E54}" presName="connectorText" presStyleLbl="sibTrans2D1" presStyleIdx="1" presStyleCnt="2"/>
      <dgm:spPr/>
    </dgm:pt>
    <dgm:pt modelId="{CD55BBCB-A711-4D3A-AC1F-A9F38D6794F0}" type="pres">
      <dgm:prSet presAssocID="{FE757139-D08C-42E2-900B-473381DFB87E}" presName="node" presStyleLbl="node1" presStyleIdx="2" presStyleCnt="3" custScaleX="367284">
        <dgm:presLayoutVars>
          <dgm:bulletEnabled val="1"/>
        </dgm:presLayoutVars>
      </dgm:prSet>
      <dgm:spPr/>
    </dgm:pt>
  </dgm:ptLst>
  <dgm:cxnLst>
    <dgm:cxn modelId="{741F510D-4FC2-4AED-B5C7-495C8B9B34B5}" type="presOf" srcId="{75D2AC14-0794-461A-9616-C377F95B1E54}" destId="{6A6837E1-B16C-427C-85C3-FAF0581ACA7D}" srcOrd="1" destOrd="0" presId="urn:microsoft.com/office/officeart/2005/8/layout/process2"/>
    <dgm:cxn modelId="{BE86AD0F-90BD-41D7-9FDC-650D3D0EACD3}" type="presOf" srcId="{75D2AC14-0794-461A-9616-C377F95B1E54}" destId="{A50E0E44-1A1E-45F5-BDF0-8669B245FAAD}" srcOrd="0" destOrd="0" presId="urn:microsoft.com/office/officeart/2005/8/layout/process2"/>
    <dgm:cxn modelId="{6FDBDC38-C891-4FEB-9545-CE86068A8A91}" type="presOf" srcId="{0C2D7ED5-61D6-47C2-9239-B580799916F3}" destId="{B27D3E3F-4CE4-4801-AF96-01F5E6945687}" srcOrd="0" destOrd="0" presId="urn:microsoft.com/office/officeart/2005/8/layout/process2"/>
    <dgm:cxn modelId="{3E1A543E-8D69-4F6B-BDC2-DA449C1C15C2}" type="presOf" srcId="{304B396A-2E4E-4A23-B24E-F09308518294}" destId="{990491A4-9565-4885-AE53-8109A5C771A3}" srcOrd="0" destOrd="0" presId="urn:microsoft.com/office/officeart/2005/8/layout/process2"/>
    <dgm:cxn modelId="{850C635E-6807-403B-91A7-F6FF74FF0AAB}" type="presOf" srcId="{259DA21D-935E-4941-AFF7-333164C084F3}" destId="{C5017CA7-A07E-4CBF-B1E4-50CC1F1FD08E}" srcOrd="0" destOrd="0" presId="urn:microsoft.com/office/officeart/2005/8/layout/process2"/>
    <dgm:cxn modelId="{7EF84D72-6748-49CF-9240-F5BA5EF89F44}" type="presOf" srcId="{FE757139-D08C-42E2-900B-473381DFB87E}" destId="{CD55BBCB-A711-4D3A-AC1F-A9F38D6794F0}" srcOrd="0" destOrd="0" presId="urn:microsoft.com/office/officeart/2005/8/layout/process2"/>
    <dgm:cxn modelId="{1E968781-A09E-487B-BE0C-8DDB9918D4B0}" srcId="{304B396A-2E4E-4A23-B24E-F09308518294}" destId="{1ADEB6EE-4AEB-4231-A9C4-B33D1257CE5D}" srcOrd="0" destOrd="0" parTransId="{14AB4C1A-BC24-4E12-87CF-99AD64496043}" sibTransId="{259DA21D-935E-4941-AFF7-333164C084F3}"/>
    <dgm:cxn modelId="{663CE78D-D005-437C-9AC9-43D20B31E1AF}" type="presOf" srcId="{259DA21D-935E-4941-AFF7-333164C084F3}" destId="{E1C80A4F-FD2A-4478-B1E6-217C4823483A}" srcOrd="1" destOrd="0" presId="urn:microsoft.com/office/officeart/2005/8/layout/process2"/>
    <dgm:cxn modelId="{F50219C9-0FBA-4732-90D9-98F722EC2EF0}" srcId="{304B396A-2E4E-4A23-B24E-F09308518294}" destId="{FE757139-D08C-42E2-900B-473381DFB87E}" srcOrd="2" destOrd="0" parTransId="{674DC262-423F-4DAE-8320-A0B08467EADE}" sibTransId="{B7126A75-8F61-4509-AF05-BFC54C20F0B0}"/>
    <dgm:cxn modelId="{BA26E6EA-07AF-456A-BFEE-322E01EDD107}" type="presOf" srcId="{1ADEB6EE-4AEB-4231-A9C4-B33D1257CE5D}" destId="{93747CC0-0EAD-45F5-AF7F-19997AB2C7BC}" srcOrd="0" destOrd="0" presId="urn:microsoft.com/office/officeart/2005/8/layout/process2"/>
    <dgm:cxn modelId="{ED4BE3EF-8AB4-4C99-AD2E-1B5E8F94BF69}" srcId="{304B396A-2E4E-4A23-B24E-F09308518294}" destId="{0C2D7ED5-61D6-47C2-9239-B580799916F3}" srcOrd="1" destOrd="0" parTransId="{898E2FD6-2D57-4A35-8024-C67FA79C6A41}" sibTransId="{75D2AC14-0794-461A-9616-C377F95B1E54}"/>
    <dgm:cxn modelId="{C3CA2E64-A065-4846-AE04-062A188C42DB}" type="presParOf" srcId="{990491A4-9565-4885-AE53-8109A5C771A3}" destId="{93747CC0-0EAD-45F5-AF7F-19997AB2C7BC}" srcOrd="0" destOrd="0" presId="urn:microsoft.com/office/officeart/2005/8/layout/process2"/>
    <dgm:cxn modelId="{C093FE4D-DF9F-44C5-8522-EC4E604CE824}" type="presParOf" srcId="{990491A4-9565-4885-AE53-8109A5C771A3}" destId="{C5017CA7-A07E-4CBF-B1E4-50CC1F1FD08E}" srcOrd="1" destOrd="0" presId="urn:microsoft.com/office/officeart/2005/8/layout/process2"/>
    <dgm:cxn modelId="{3922FD52-CD84-4429-BDCE-22A15DA86ACA}" type="presParOf" srcId="{C5017CA7-A07E-4CBF-B1E4-50CC1F1FD08E}" destId="{E1C80A4F-FD2A-4478-B1E6-217C4823483A}" srcOrd="0" destOrd="0" presId="urn:microsoft.com/office/officeart/2005/8/layout/process2"/>
    <dgm:cxn modelId="{934E3A09-60B3-4F86-9E14-A10AF9FED8FA}" type="presParOf" srcId="{990491A4-9565-4885-AE53-8109A5C771A3}" destId="{B27D3E3F-4CE4-4801-AF96-01F5E6945687}" srcOrd="2" destOrd="0" presId="urn:microsoft.com/office/officeart/2005/8/layout/process2"/>
    <dgm:cxn modelId="{3BBEBFDE-79AC-4C1F-AE1F-4D78B134DDB9}" type="presParOf" srcId="{990491A4-9565-4885-AE53-8109A5C771A3}" destId="{A50E0E44-1A1E-45F5-BDF0-8669B245FAAD}" srcOrd="3" destOrd="0" presId="urn:microsoft.com/office/officeart/2005/8/layout/process2"/>
    <dgm:cxn modelId="{F8E3E2C2-C2DC-4FBF-9A8D-5F3062D48A5D}" type="presParOf" srcId="{A50E0E44-1A1E-45F5-BDF0-8669B245FAAD}" destId="{6A6837E1-B16C-427C-85C3-FAF0581ACA7D}" srcOrd="0" destOrd="0" presId="urn:microsoft.com/office/officeart/2005/8/layout/process2"/>
    <dgm:cxn modelId="{A0DC3ED7-7C86-438F-B6BD-32E5879BC644}" type="presParOf" srcId="{990491A4-9565-4885-AE53-8109A5C771A3}" destId="{CD55BBCB-A711-4D3A-AC1F-A9F38D6794F0}" srcOrd="4"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3DD2621D-5CCA-42A6-BF81-44871BF69AB9}" type="doc">
      <dgm:prSet loTypeId="urn:microsoft.com/office/officeart/2008/layout/HalfCircleOrganizationChart" loCatId="hierarchy" qsTypeId="urn:microsoft.com/office/officeart/2005/8/quickstyle/simple1#9" qsCatId="simple" csTypeId="urn:microsoft.com/office/officeart/2005/8/colors/accent1_2#10" csCatId="accent1" phldr="1"/>
      <dgm:spPr/>
      <dgm:t>
        <a:bodyPr/>
        <a:lstStyle/>
        <a:p>
          <a:endParaRPr lang="en-GB"/>
        </a:p>
      </dgm:t>
    </dgm:pt>
    <dgm:pt modelId="{7564BBAC-3343-4FCF-A31C-FF002505A148}">
      <dgm:prSet phldrT="[Text]"/>
      <dgm:spPr/>
      <dgm:t>
        <a:bodyPr/>
        <a:lstStyle/>
        <a:p>
          <a:r>
            <a:rPr lang="en-GB" dirty="0"/>
            <a:t>Consolidated Firm</a:t>
          </a:r>
        </a:p>
      </dgm:t>
    </dgm:pt>
    <dgm:pt modelId="{6FA13324-47F5-4A6A-8E44-B1AE2E65A924}" type="parTrans" cxnId="{815F36BC-A17B-4F66-A725-B5A65B269EF8}">
      <dgm:prSet/>
      <dgm:spPr/>
      <dgm:t>
        <a:bodyPr/>
        <a:lstStyle/>
        <a:p>
          <a:endParaRPr lang="en-GB"/>
        </a:p>
      </dgm:t>
    </dgm:pt>
    <dgm:pt modelId="{903CFFCB-0799-4176-88A7-861AFCD6BFE2}" type="sibTrans" cxnId="{815F36BC-A17B-4F66-A725-B5A65B269EF8}">
      <dgm:prSet/>
      <dgm:spPr/>
      <dgm:t>
        <a:bodyPr/>
        <a:lstStyle/>
        <a:p>
          <a:endParaRPr lang="en-GB"/>
        </a:p>
      </dgm:t>
    </dgm:pt>
    <dgm:pt modelId="{816495B5-2627-40BD-88CC-8BBA82BA2E84}">
      <dgm:prSet phldrT="[Text]"/>
      <dgm:spPr/>
      <dgm:t>
        <a:bodyPr/>
        <a:lstStyle/>
        <a:p>
          <a:r>
            <a:rPr lang="en-GB" dirty="0"/>
            <a:t>Sector A</a:t>
          </a:r>
        </a:p>
      </dgm:t>
    </dgm:pt>
    <dgm:pt modelId="{02E7866C-7EB3-4860-A491-034BF4D6D5E6}" type="parTrans" cxnId="{C97161AF-1DD2-4A0B-9B14-21FAFD42AC8E}">
      <dgm:prSet/>
      <dgm:spPr/>
      <dgm:t>
        <a:bodyPr/>
        <a:lstStyle/>
        <a:p>
          <a:endParaRPr lang="en-GB"/>
        </a:p>
      </dgm:t>
    </dgm:pt>
    <dgm:pt modelId="{53538026-0A32-4208-B924-1007211FBED1}" type="sibTrans" cxnId="{C97161AF-1DD2-4A0B-9B14-21FAFD42AC8E}">
      <dgm:prSet/>
      <dgm:spPr/>
      <dgm:t>
        <a:bodyPr/>
        <a:lstStyle/>
        <a:p>
          <a:endParaRPr lang="en-GB"/>
        </a:p>
      </dgm:t>
    </dgm:pt>
    <dgm:pt modelId="{B2F53FBB-0991-4FE5-9F02-7E42A8A741FB}">
      <dgm:prSet phldrT="[Text]"/>
      <dgm:spPr/>
      <dgm:t>
        <a:bodyPr/>
        <a:lstStyle/>
        <a:p>
          <a:r>
            <a:rPr lang="en-GB" dirty="0"/>
            <a:t>Sector B</a:t>
          </a:r>
        </a:p>
      </dgm:t>
    </dgm:pt>
    <dgm:pt modelId="{A1DB975B-AC96-4375-8BF1-1B41074C0BA5}" type="parTrans" cxnId="{9D2718B1-C935-40D8-BE18-BDFA33686D19}">
      <dgm:prSet/>
      <dgm:spPr/>
      <dgm:t>
        <a:bodyPr/>
        <a:lstStyle/>
        <a:p>
          <a:endParaRPr lang="en-GB"/>
        </a:p>
      </dgm:t>
    </dgm:pt>
    <dgm:pt modelId="{42A5F082-2ED5-4D2F-8D65-BB14733D672E}" type="sibTrans" cxnId="{9D2718B1-C935-40D8-BE18-BDFA33686D19}">
      <dgm:prSet/>
      <dgm:spPr/>
      <dgm:t>
        <a:bodyPr/>
        <a:lstStyle/>
        <a:p>
          <a:endParaRPr lang="en-GB"/>
        </a:p>
      </dgm:t>
    </dgm:pt>
    <dgm:pt modelId="{37F3488F-A77D-4F6E-B9E2-1A1A574AA2C3}">
      <dgm:prSet phldrT="[Text]"/>
      <dgm:spPr/>
      <dgm:t>
        <a:bodyPr/>
        <a:lstStyle/>
        <a:p>
          <a:r>
            <a:rPr lang="en-GB" dirty="0"/>
            <a:t>Sector C</a:t>
          </a:r>
        </a:p>
      </dgm:t>
    </dgm:pt>
    <dgm:pt modelId="{615A23AF-CC8F-487A-A2C5-F3E58028EF0D}" type="parTrans" cxnId="{FAD7F712-C4E0-4B73-9C4A-869846D91680}">
      <dgm:prSet/>
      <dgm:spPr/>
      <dgm:t>
        <a:bodyPr/>
        <a:lstStyle/>
        <a:p>
          <a:endParaRPr lang="en-GB"/>
        </a:p>
      </dgm:t>
    </dgm:pt>
    <dgm:pt modelId="{5A19BD66-066C-4023-928A-4E5658A4A941}" type="sibTrans" cxnId="{FAD7F712-C4E0-4B73-9C4A-869846D91680}">
      <dgm:prSet/>
      <dgm:spPr/>
      <dgm:t>
        <a:bodyPr/>
        <a:lstStyle/>
        <a:p>
          <a:endParaRPr lang="en-GB"/>
        </a:p>
      </dgm:t>
    </dgm:pt>
    <dgm:pt modelId="{DCDBD053-BC63-47EC-B90D-4E70177214C5}" type="pres">
      <dgm:prSet presAssocID="{3DD2621D-5CCA-42A6-BF81-44871BF69AB9}" presName="Name0" presStyleCnt="0">
        <dgm:presLayoutVars>
          <dgm:orgChart val="1"/>
          <dgm:chPref val="1"/>
          <dgm:dir/>
          <dgm:animOne val="branch"/>
          <dgm:animLvl val="lvl"/>
          <dgm:resizeHandles/>
        </dgm:presLayoutVars>
      </dgm:prSet>
      <dgm:spPr/>
    </dgm:pt>
    <dgm:pt modelId="{74346815-7685-4AC3-879A-539FAFC13338}" type="pres">
      <dgm:prSet presAssocID="{7564BBAC-3343-4FCF-A31C-FF002505A148}" presName="hierRoot1" presStyleCnt="0">
        <dgm:presLayoutVars>
          <dgm:hierBranch val="init"/>
        </dgm:presLayoutVars>
      </dgm:prSet>
      <dgm:spPr/>
    </dgm:pt>
    <dgm:pt modelId="{9CC206B0-CD0D-4E1F-8D0F-AF7E3C736CCB}" type="pres">
      <dgm:prSet presAssocID="{7564BBAC-3343-4FCF-A31C-FF002505A148}" presName="rootComposite1" presStyleCnt="0"/>
      <dgm:spPr/>
    </dgm:pt>
    <dgm:pt modelId="{30D68A95-48A2-425D-97B4-99D6CD31BDBD}" type="pres">
      <dgm:prSet presAssocID="{7564BBAC-3343-4FCF-A31C-FF002505A148}" presName="rootText1" presStyleLbl="alignAcc1" presStyleIdx="0" presStyleCnt="0" custScaleX="212492">
        <dgm:presLayoutVars>
          <dgm:chPref val="3"/>
        </dgm:presLayoutVars>
      </dgm:prSet>
      <dgm:spPr/>
    </dgm:pt>
    <dgm:pt modelId="{6813ABCB-9222-457B-B478-F7C3B050A036}" type="pres">
      <dgm:prSet presAssocID="{7564BBAC-3343-4FCF-A31C-FF002505A148}" presName="topArc1" presStyleLbl="parChTrans1D1" presStyleIdx="0" presStyleCnt="8"/>
      <dgm:spPr/>
    </dgm:pt>
    <dgm:pt modelId="{1561369E-7325-4D03-BF3F-D73E0418C391}" type="pres">
      <dgm:prSet presAssocID="{7564BBAC-3343-4FCF-A31C-FF002505A148}" presName="bottomArc1" presStyleLbl="parChTrans1D1" presStyleIdx="1" presStyleCnt="8"/>
      <dgm:spPr/>
    </dgm:pt>
    <dgm:pt modelId="{44411183-0406-4CC6-8F4F-8C3AFC44F27F}" type="pres">
      <dgm:prSet presAssocID="{7564BBAC-3343-4FCF-A31C-FF002505A148}" presName="topConnNode1" presStyleLbl="node1" presStyleIdx="0" presStyleCnt="0"/>
      <dgm:spPr/>
    </dgm:pt>
    <dgm:pt modelId="{4CFB3E6D-631E-4DB4-A738-3F7117703AF8}" type="pres">
      <dgm:prSet presAssocID="{7564BBAC-3343-4FCF-A31C-FF002505A148}" presName="hierChild2" presStyleCnt="0"/>
      <dgm:spPr/>
    </dgm:pt>
    <dgm:pt modelId="{23489686-1EB7-4549-AE0B-1E5C9EF6CB86}" type="pres">
      <dgm:prSet presAssocID="{02E7866C-7EB3-4860-A491-034BF4D6D5E6}" presName="Name28" presStyleLbl="parChTrans1D2" presStyleIdx="0" presStyleCnt="3"/>
      <dgm:spPr/>
    </dgm:pt>
    <dgm:pt modelId="{FB704C57-5437-49B7-A413-B52527F26F8F}" type="pres">
      <dgm:prSet presAssocID="{816495B5-2627-40BD-88CC-8BBA82BA2E84}" presName="hierRoot2" presStyleCnt="0">
        <dgm:presLayoutVars>
          <dgm:hierBranch val="init"/>
        </dgm:presLayoutVars>
      </dgm:prSet>
      <dgm:spPr/>
    </dgm:pt>
    <dgm:pt modelId="{7BC50611-AC6F-40B8-98D6-2E441CBBA20B}" type="pres">
      <dgm:prSet presAssocID="{816495B5-2627-40BD-88CC-8BBA82BA2E84}" presName="rootComposite2" presStyleCnt="0"/>
      <dgm:spPr/>
    </dgm:pt>
    <dgm:pt modelId="{7B471852-D855-4358-8D35-0F64824B181E}" type="pres">
      <dgm:prSet presAssocID="{816495B5-2627-40BD-88CC-8BBA82BA2E84}" presName="rootText2" presStyleLbl="alignAcc1" presStyleIdx="0" presStyleCnt="0" custLinFactNeighborX="-70073">
        <dgm:presLayoutVars>
          <dgm:chPref val="3"/>
        </dgm:presLayoutVars>
      </dgm:prSet>
      <dgm:spPr/>
    </dgm:pt>
    <dgm:pt modelId="{BE9C96A9-9897-48D6-8970-30D6F504B1C7}" type="pres">
      <dgm:prSet presAssocID="{816495B5-2627-40BD-88CC-8BBA82BA2E84}" presName="topArc2" presStyleLbl="parChTrans1D1" presStyleIdx="2" presStyleCnt="8"/>
      <dgm:spPr/>
    </dgm:pt>
    <dgm:pt modelId="{CA42F688-BEFB-49B2-9243-B85E160A401B}" type="pres">
      <dgm:prSet presAssocID="{816495B5-2627-40BD-88CC-8BBA82BA2E84}" presName="bottomArc2" presStyleLbl="parChTrans1D1" presStyleIdx="3" presStyleCnt="8"/>
      <dgm:spPr/>
    </dgm:pt>
    <dgm:pt modelId="{F51BBD11-C63D-4060-9226-E63E00D9F916}" type="pres">
      <dgm:prSet presAssocID="{816495B5-2627-40BD-88CC-8BBA82BA2E84}" presName="topConnNode2" presStyleLbl="node2" presStyleIdx="0" presStyleCnt="0"/>
      <dgm:spPr/>
    </dgm:pt>
    <dgm:pt modelId="{2A4AC999-D6B5-4FE2-B63A-B72C8C7DAA87}" type="pres">
      <dgm:prSet presAssocID="{816495B5-2627-40BD-88CC-8BBA82BA2E84}" presName="hierChild4" presStyleCnt="0"/>
      <dgm:spPr/>
    </dgm:pt>
    <dgm:pt modelId="{4D54C623-A2BF-4EA7-973B-3FDEB97E2054}" type="pres">
      <dgm:prSet presAssocID="{816495B5-2627-40BD-88CC-8BBA82BA2E84}" presName="hierChild5" presStyleCnt="0"/>
      <dgm:spPr/>
    </dgm:pt>
    <dgm:pt modelId="{D9C64D80-7110-4E95-BE83-4F5B905B0297}" type="pres">
      <dgm:prSet presAssocID="{A1DB975B-AC96-4375-8BF1-1B41074C0BA5}" presName="Name28" presStyleLbl="parChTrans1D2" presStyleIdx="1" presStyleCnt="3"/>
      <dgm:spPr/>
    </dgm:pt>
    <dgm:pt modelId="{D9410AB3-D387-4AD2-9F3D-89FD633553FC}" type="pres">
      <dgm:prSet presAssocID="{B2F53FBB-0991-4FE5-9F02-7E42A8A741FB}" presName="hierRoot2" presStyleCnt="0">
        <dgm:presLayoutVars>
          <dgm:hierBranch val="init"/>
        </dgm:presLayoutVars>
      </dgm:prSet>
      <dgm:spPr/>
    </dgm:pt>
    <dgm:pt modelId="{6DD7E77B-25CA-4EE1-A76D-FED0D96CD134}" type="pres">
      <dgm:prSet presAssocID="{B2F53FBB-0991-4FE5-9F02-7E42A8A741FB}" presName="rootComposite2" presStyleCnt="0"/>
      <dgm:spPr/>
    </dgm:pt>
    <dgm:pt modelId="{7513574B-CBA7-4BB8-A40D-291C68960949}" type="pres">
      <dgm:prSet presAssocID="{B2F53FBB-0991-4FE5-9F02-7E42A8A741FB}" presName="rootText2" presStyleLbl="alignAcc1" presStyleIdx="0" presStyleCnt="0">
        <dgm:presLayoutVars>
          <dgm:chPref val="3"/>
        </dgm:presLayoutVars>
      </dgm:prSet>
      <dgm:spPr/>
    </dgm:pt>
    <dgm:pt modelId="{C861C8DF-AF5B-4656-965F-CFF589B370D9}" type="pres">
      <dgm:prSet presAssocID="{B2F53FBB-0991-4FE5-9F02-7E42A8A741FB}" presName="topArc2" presStyleLbl="parChTrans1D1" presStyleIdx="4" presStyleCnt="8"/>
      <dgm:spPr/>
    </dgm:pt>
    <dgm:pt modelId="{D052BB1F-E72D-4382-A4DD-F4E712CDF864}" type="pres">
      <dgm:prSet presAssocID="{B2F53FBB-0991-4FE5-9F02-7E42A8A741FB}" presName="bottomArc2" presStyleLbl="parChTrans1D1" presStyleIdx="5" presStyleCnt="8"/>
      <dgm:spPr/>
    </dgm:pt>
    <dgm:pt modelId="{AE19A54A-51C1-4C44-BBBB-96740535BCAB}" type="pres">
      <dgm:prSet presAssocID="{B2F53FBB-0991-4FE5-9F02-7E42A8A741FB}" presName="topConnNode2" presStyleLbl="node2" presStyleIdx="0" presStyleCnt="0"/>
      <dgm:spPr/>
    </dgm:pt>
    <dgm:pt modelId="{433F408D-A68E-4ED3-A52F-C74F3CBF0DB5}" type="pres">
      <dgm:prSet presAssocID="{B2F53FBB-0991-4FE5-9F02-7E42A8A741FB}" presName="hierChild4" presStyleCnt="0"/>
      <dgm:spPr/>
    </dgm:pt>
    <dgm:pt modelId="{FE9DCD1A-5F8E-48BB-9691-4E15B362FD8E}" type="pres">
      <dgm:prSet presAssocID="{B2F53FBB-0991-4FE5-9F02-7E42A8A741FB}" presName="hierChild5" presStyleCnt="0"/>
      <dgm:spPr/>
    </dgm:pt>
    <dgm:pt modelId="{2B90E11E-1F35-401E-8699-7E36A2BADD41}" type="pres">
      <dgm:prSet presAssocID="{615A23AF-CC8F-487A-A2C5-F3E58028EF0D}" presName="Name28" presStyleLbl="parChTrans1D2" presStyleIdx="2" presStyleCnt="3"/>
      <dgm:spPr/>
    </dgm:pt>
    <dgm:pt modelId="{F9BC458E-31E3-4D6C-BE5F-D8F3C99D7147}" type="pres">
      <dgm:prSet presAssocID="{37F3488F-A77D-4F6E-B9E2-1A1A574AA2C3}" presName="hierRoot2" presStyleCnt="0">
        <dgm:presLayoutVars>
          <dgm:hierBranch val="init"/>
        </dgm:presLayoutVars>
      </dgm:prSet>
      <dgm:spPr/>
    </dgm:pt>
    <dgm:pt modelId="{93234977-2B54-4C11-B144-68A3BFCCDE2D}" type="pres">
      <dgm:prSet presAssocID="{37F3488F-A77D-4F6E-B9E2-1A1A574AA2C3}" presName="rootComposite2" presStyleCnt="0"/>
      <dgm:spPr/>
    </dgm:pt>
    <dgm:pt modelId="{163CA0BE-1147-4C9E-9C97-E13DB7AA3604}" type="pres">
      <dgm:prSet presAssocID="{37F3488F-A77D-4F6E-B9E2-1A1A574AA2C3}" presName="rootText2" presStyleLbl="alignAcc1" presStyleIdx="0" presStyleCnt="0" custLinFactNeighborX="59961">
        <dgm:presLayoutVars>
          <dgm:chPref val="3"/>
        </dgm:presLayoutVars>
      </dgm:prSet>
      <dgm:spPr/>
    </dgm:pt>
    <dgm:pt modelId="{A383B80F-386C-4296-97EC-538F362DE16F}" type="pres">
      <dgm:prSet presAssocID="{37F3488F-A77D-4F6E-B9E2-1A1A574AA2C3}" presName="topArc2" presStyleLbl="parChTrans1D1" presStyleIdx="6" presStyleCnt="8"/>
      <dgm:spPr/>
    </dgm:pt>
    <dgm:pt modelId="{FC18A303-BDCB-4AE4-83D6-B511785C0E14}" type="pres">
      <dgm:prSet presAssocID="{37F3488F-A77D-4F6E-B9E2-1A1A574AA2C3}" presName="bottomArc2" presStyleLbl="parChTrans1D1" presStyleIdx="7" presStyleCnt="8"/>
      <dgm:spPr/>
    </dgm:pt>
    <dgm:pt modelId="{6A80621A-4502-4108-A83F-A69C37234763}" type="pres">
      <dgm:prSet presAssocID="{37F3488F-A77D-4F6E-B9E2-1A1A574AA2C3}" presName="topConnNode2" presStyleLbl="node2" presStyleIdx="0" presStyleCnt="0"/>
      <dgm:spPr/>
    </dgm:pt>
    <dgm:pt modelId="{7C26EFCD-4712-4776-9A8F-E65B9D12EE01}" type="pres">
      <dgm:prSet presAssocID="{37F3488F-A77D-4F6E-B9E2-1A1A574AA2C3}" presName="hierChild4" presStyleCnt="0"/>
      <dgm:spPr/>
    </dgm:pt>
    <dgm:pt modelId="{5EC41235-1584-4840-8B7A-D9A7B32715FF}" type="pres">
      <dgm:prSet presAssocID="{37F3488F-A77D-4F6E-B9E2-1A1A574AA2C3}" presName="hierChild5" presStyleCnt="0"/>
      <dgm:spPr/>
    </dgm:pt>
    <dgm:pt modelId="{E086C891-CD9E-4478-B0D5-08375005B182}" type="pres">
      <dgm:prSet presAssocID="{7564BBAC-3343-4FCF-A31C-FF002505A148}" presName="hierChild3" presStyleCnt="0"/>
      <dgm:spPr/>
    </dgm:pt>
  </dgm:ptLst>
  <dgm:cxnLst>
    <dgm:cxn modelId="{23C5B400-C6FD-4EEE-9EAA-3BBCC9EF0EA1}" type="presOf" srcId="{3DD2621D-5CCA-42A6-BF81-44871BF69AB9}" destId="{DCDBD053-BC63-47EC-B90D-4E70177214C5}" srcOrd="0" destOrd="0" presId="urn:microsoft.com/office/officeart/2008/layout/HalfCircleOrganizationChart"/>
    <dgm:cxn modelId="{FAD7F712-C4E0-4B73-9C4A-869846D91680}" srcId="{7564BBAC-3343-4FCF-A31C-FF002505A148}" destId="{37F3488F-A77D-4F6E-B9E2-1A1A574AA2C3}" srcOrd="2" destOrd="0" parTransId="{615A23AF-CC8F-487A-A2C5-F3E58028EF0D}" sibTransId="{5A19BD66-066C-4023-928A-4E5658A4A941}"/>
    <dgm:cxn modelId="{3516981E-C242-48E6-AFC4-CC9EDB648CCB}" type="presOf" srcId="{7564BBAC-3343-4FCF-A31C-FF002505A148}" destId="{30D68A95-48A2-425D-97B4-99D6CD31BDBD}" srcOrd="0" destOrd="0" presId="urn:microsoft.com/office/officeart/2008/layout/HalfCircleOrganizationChart"/>
    <dgm:cxn modelId="{A2D2DB36-B9B6-440E-B574-4AD7D17DD8C4}" type="presOf" srcId="{02E7866C-7EB3-4860-A491-034BF4D6D5E6}" destId="{23489686-1EB7-4549-AE0B-1E5C9EF6CB86}" srcOrd="0" destOrd="0" presId="urn:microsoft.com/office/officeart/2008/layout/HalfCircleOrganizationChart"/>
    <dgm:cxn modelId="{BB2F4B4C-1199-4A6A-9ABA-3D63D73D5A40}" type="presOf" srcId="{37F3488F-A77D-4F6E-B9E2-1A1A574AA2C3}" destId="{6A80621A-4502-4108-A83F-A69C37234763}" srcOrd="1" destOrd="0" presId="urn:microsoft.com/office/officeart/2008/layout/HalfCircleOrganizationChart"/>
    <dgm:cxn modelId="{2F61CC6F-7A1D-460B-96DD-9775B764BBF7}" type="presOf" srcId="{816495B5-2627-40BD-88CC-8BBA82BA2E84}" destId="{F51BBD11-C63D-4060-9226-E63E00D9F916}" srcOrd="1" destOrd="0" presId="urn:microsoft.com/office/officeart/2008/layout/HalfCircleOrganizationChart"/>
    <dgm:cxn modelId="{347AD69D-47C0-4236-BF63-4C28F9016C6A}" type="presOf" srcId="{615A23AF-CC8F-487A-A2C5-F3E58028EF0D}" destId="{2B90E11E-1F35-401E-8699-7E36A2BADD41}" srcOrd="0" destOrd="0" presId="urn:microsoft.com/office/officeart/2008/layout/HalfCircleOrganizationChart"/>
    <dgm:cxn modelId="{081CFAAA-C6D8-49C0-B965-A510F8AB3657}" type="presOf" srcId="{A1DB975B-AC96-4375-8BF1-1B41074C0BA5}" destId="{D9C64D80-7110-4E95-BE83-4F5B905B0297}" srcOrd="0" destOrd="0" presId="urn:microsoft.com/office/officeart/2008/layout/HalfCircleOrganizationChart"/>
    <dgm:cxn modelId="{C97161AF-1DD2-4A0B-9B14-21FAFD42AC8E}" srcId="{7564BBAC-3343-4FCF-A31C-FF002505A148}" destId="{816495B5-2627-40BD-88CC-8BBA82BA2E84}" srcOrd="0" destOrd="0" parTransId="{02E7866C-7EB3-4860-A491-034BF4D6D5E6}" sibTransId="{53538026-0A32-4208-B924-1007211FBED1}"/>
    <dgm:cxn modelId="{9D2718B1-C935-40D8-BE18-BDFA33686D19}" srcId="{7564BBAC-3343-4FCF-A31C-FF002505A148}" destId="{B2F53FBB-0991-4FE5-9F02-7E42A8A741FB}" srcOrd="1" destOrd="0" parTransId="{A1DB975B-AC96-4375-8BF1-1B41074C0BA5}" sibTransId="{42A5F082-2ED5-4D2F-8D65-BB14733D672E}"/>
    <dgm:cxn modelId="{815F36BC-A17B-4F66-A725-B5A65B269EF8}" srcId="{3DD2621D-5CCA-42A6-BF81-44871BF69AB9}" destId="{7564BBAC-3343-4FCF-A31C-FF002505A148}" srcOrd="0" destOrd="0" parTransId="{6FA13324-47F5-4A6A-8E44-B1AE2E65A924}" sibTransId="{903CFFCB-0799-4176-88A7-861AFCD6BFE2}"/>
    <dgm:cxn modelId="{524FEBBD-11D6-493C-9AF4-0B05444BB0E1}" type="presOf" srcId="{B2F53FBB-0991-4FE5-9F02-7E42A8A741FB}" destId="{7513574B-CBA7-4BB8-A40D-291C68960949}" srcOrd="0" destOrd="0" presId="urn:microsoft.com/office/officeart/2008/layout/HalfCircleOrganizationChart"/>
    <dgm:cxn modelId="{F4E2DCD9-8717-4B7F-B84A-2A2C9F98156B}" type="presOf" srcId="{816495B5-2627-40BD-88CC-8BBA82BA2E84}" destId="{7B471852-D855-4358-8D35-0F64824B181E}" srcOrd="0" destOrd="0" presId="urn:microsoft.com/office/officeart/2008/layout/HalfCircleOrganizationChart"/>
    <dgm:cxn modelId="{D452EEEC-59DD-41F7-89C6-EF55F1851B70}" type="presOf" srcId="{7564BBAC-3343-4FCF-A31C-FF002505A148}" destId="{44411183-0406-4CC6-8F4F-8C3AFC44F27F}" srcOrd="1" destOrd="0" presId="urn:microsoft.com/office/officeart/2008/layout/HalfCircleOrganizationChart"/>
    <dgm:cxn modelId="{E3022BED-3AE2-4BA4-B638-710D1B2092DB}" type="presOf" srcId="{37F3488F-A77D-4F6E-B9E2-1A1A574AA2C3}" destId="{163CA0BE-1147-4C9E-9C97-E13DB7AA3604}" srcOrd="0" destOrd="0" presId="urn:microsoft.com/office/officeart/2008/layout/HalfCircleOrganizationChart"/>
    <dgm:cxn modelId="{FFDB3DEF-874E-49A7-B981-CDE561DE018B}" type="presOf" srcId="{B2F53FBB-0991-4FE5-9F02-7E42A8A741FB}" destId="{AE19A54A-51C1-4C44-BBBB-96740535BCAB}" srcOrd="1" destOrd="0" presId="urn:microsoft.com/office/officeart/2008/layout/HalfCircleOrganizationChart"/>
    <dgm:cxn modelId="{B083244C-CE92-4F0E-B834-ACF629505A72}" type="presParOf" srcId="{DCDBD053-BC63-47EC-B90D-4E70177214C5}" destId="{74346815-7685-4AC3-879A-539FAFC13338}" srcOrd="0" destOrd="0" presId="urn:microsoft.com/office/officeart/2008/layout/HalfCircleOrganizationChart"/>
    <dgm:cxn modelId="{F9741911-351C-4712-9A13-9D4B9CFB444B}" type="presParOf" srcId="{74346815-7685-4AC3-879A-539FAFC13338}" destId="{9CC206B0-CD0D-4E1F-8D0F-AF7E3C736CCB}" srcOrd="0" destOrd="0" presId="urn:microsoft.com/office/officeart/2008/layout/HalfCircleOrganizationChart"/>
    <dgm:cxn modelId="{A67BC9B3-032B-4B6D-AAEF-26B838D1C933}" type="presParOf" srcId="{9CC206B0-CD0D-4E1F-8D0F-AF7E3C736CCB}" destId="{30D68A95-48A2-425D-97B4-99D6CD31BDBD}" srcOrd="0" destOrd="0" presId="urn:microsoft.com/office/officeart/2008/layout/HalfCircleOrganizationChart"/>
    <dgm:cxn modelId="{5887DF9D-3B60-4E7B-952C-2159397E9483}" type="presParOf" srcId="{9CC206B0-CD0D-4E1F-8D0F-AF7E3C736CCB}" destId="{6813ABCB-9222-457B-B478-F7C3B050A036}" srcOrd="1" destOrd="0" presId="urn:microsoft.com/office/officeart/2008/layout/HalfCircleOrganizationChart"/>
    <dgm:cxn modelId="{67203D7C-2AEF-43B1-A98A-EA973ECA3389}" type="presParOf" srcId="{9CC206B0-CD0D-4E1F-8D0F-AF7E3C736CCB}" destId="{1561369E-7325-4D03-BF3F-D73E0418C391}" srcOrd="2" destOrd="0" presId="urn:microsoft.com/office/officeart/2008/layout/HalfCircleOrganizationChart"/>
    <dgm:cxn modelId="{CB8DE6F3-A2AC-4823-AEEE-378F72134020}" type="presParOf" srcId="{9CC206B0-CD0D-4E1F-8D0F-AF7E3C736CCB}" destId="{44411183-0406-4CC6-8F4F-8C3AFC44F27F}" srcOrd="3" destOrd="0" presId="urn:microsoft.com/office/officeart/2008/layout/HalfCircleOrganizationChart"/>
    <dgm:cxn modelId="{DD78EB8B-4742-496C-AD26-32546C94FF04}" type="presParOf" srcId="{74346815-7685-4AC3-879A-539FAFC13338}" destId="{4CFB3E6D-631E-4DB4-A738-3F7117703AF8}" srcOrd="1" destOrd="0" presId="urn:microsoft.com/office/officeart/2008/layout/HalfCircleOrganizationChart"/>
    <dgm:cxn modelId="{C948D0CB-AB8F-4C99-A777-856BF72D6DF1}" type="presParOf" srcId="{4CFB3E6D-631E-4DB4-A738-3F7117703AF8}" destId="{23489686-1EB7-4549-AE0B-1E5C9EF6CB86}" srcOrd="0" destOrd="0" presId="urn:microsoft.com/office/officeart/2008/layout/HalfCircleOrganizationChart"/>
    <dgm:cxn modelId="{43CC5782-A9D8-40E6-A495-DBECFAAF101B}" type="presParOf" srcId="{4CFB3E6D-631E-4DB4-A738-3F7117703AF8}" destId="{FB704C57-5437-49B7-A413-B52527F26F8F}" srcOrd="1" destOrd="0" presId="urn:microsoft.com/office/officeart/2008/layout/HalfCircleOrganizationChart"/>
    <dgm:cxn modelId="{B71C1BFF-1849-488C-858B-F45ACD6F9023}" type="presParOf" srcId="{FB704C57-5437-49B7-A413-B52527F26F8F}" destId="{7BC50611-AC6F-40B8-98D6-2E441CBBA20B}" srcOrd="0" destOrd="0" presId="urn:microsoft.com/office/officeart/2008/layout/HalfCircleOrganizationChart"/>
    <dgm:cxn modelId="{91D112FC-AB80-4E80-9C0F-2248E88CDCEC}" type="presParOf" srcId="{7BC50611-AC6F-40B8-98D6-2E441CBBA20B}" destId="{7B471852-D855-4358-8D35-0F64824B181E}" srcOrd="0" destOrd="0" presId="urn:microsoft.com/office/officeart/2008/layout/HalfCircleOrganizationChart"/>
    <dgm:cxn modelId="{7599EB7B-274F-4642-8FDB-A3096505D5E6}" type="presParOf" srcId="{7BC50611-AC6F-40B8-98D6-2E441CBBA20B}" destId="{BE9C96A9-9897-48D6-8970-30D6F504B1C7}" srcOrd="1" destOrd="0" presId="urn:microsoft.com/office/officeart/2008/layout/HalfCircleOrganizationChart"/>
    <dgm:cxn modelId="{31589AEA-F8F7-4ABE-AACD-71CC1B96FCD8}" type="presParOf" srcId="{7BC50611-AC6F-40B8-98D6-2E441CBBA20B}" destId="{CA42F688-BEFB-49B2-9243-B85E160A401B}" srcOrd="2" destOrd="0" presId="urn:microsoft.com/office/officeart/2008/layout/HalfCircleOrganizationChart"/>
    <dgm:cxn modelId="{0F6CC840-0C8B-4A90-A5EF-BAAEC0ACEA8E}" type="presParOf" srcId="{7BC50611-AC6F-40B8-98D6-2E441CBBA20B}" destId="{F51BBD11-C63D-4060-9226-E63E00D9F916}" srcOrd="3" destOrd="0" presId="urn:microsoft.com/office/officeart/2008/layout/HalfCircleOrganizationChart"/>
    <dgm:cxn modelId="{98615E28-1D98-4CE0-ABDD-6F5C720E7833}" type="presParOf" srcId="{FB704C57-5437-49B7-A413-B52527F26F8F}" destId="{2A4AC999-D6B5-4FE2-B63A-B72C8C7DAA87}" srcOrd="1" destOrd="0" presId="urn:microsoft.com/office/officeart/2008/layout/HalfCircleOrganizationChart"/>
    <dgm:cxn modelId="{F1E8E0D2-07D1-495E-B2DE-8E4137009187}" type="presParOf" srcId="{FB704C57-5437-49B7-A413-B52527F26F8F}" destId="{4D54C623-A2BF-4EA7-973B-3FDEB97E2054}" srcOrd="2" destOrd="0" presId="urn:microsoft.com/office/officeart/2008/layout/HalfCircleOrganizationChart"/>
    <dgm:cxn modelId="{DA74ADB8-3A41-4FEB-A99C-F848DA8CD9ED}" type="presParOf" srcId="{4CFB3E6D-631E-4DB4-A738-3F7117703AF8}" destId="{D9C64D80-7110-4E95-BE83-4F5B905B0297}" srcOrd="2" destOrd="0" presId="urn:microsoft.com/office/officeart/2008/layout/HalfCircleOrganizationChart"/>
    <dgm:cxn modelId="{C379B4EE-A78F-4817-B5E9-E74E04D8F34B}" type="presParOf" srcId="{4CFB3E6D-631E-4DB4-A738-3F7117703AF8}" destId="{D9410AB3-D387-4AD2-9F3D-89FD633553FC}" srcOrd="3" destOrd="0" presId="urn:microsoft.com/office/officeart/2008/layout/HalfCircleOrganizationChart"/>
    <dgm:cxn modelId="{D7D59F7C-2DE8-45B2-AE2B-EFE61DE27C31}" type="presParOf" srcId="{D9410AB3-D387-4AD2-9F3D-89FD633553FC}" destId="{6DD7E77B-25CA-4EE1-A76D-FED0D96CD134}" srcOrd="0" destOrd="0" presId="urn:microsoft.com/office/officeart/2008/layout/HalfCircleOrganizationChart"/>
    <dgm:cxn modelId="{ED7C5291-0366-4944-A21E-0C9A2BCFFB28}" type="presParOf" srcId="{6DD7E77B-25CA-4EE1-A76D-FED0D96CD134}" destId="{7513574B-CBA7-4BB8-A40D-291C68960949}" srcOrd="0" destOrd="0" presId="urn:microsoft.com/office/officeart/2008/layout/HalfCircleOrganizationChart"/>
    <dgm:cxn modelId="{029EFCB3-690D-44BC-A04B-FBADF6F51AA2}" type="presParOf" srcId="{6DD7E77B-25CA-4EE1-A76D-FED0D96CD134}" destId="{C861C8DF-AF5B-4656-965F-CFF589B370D9}" srcOrd="1" destOrd="0" presId="urn:microsoft.com/office/officeart/2008/layout/HalfCircleOrganizationChart"/>
    <dgm:cxn modelId="{FE45A041-4D56-4231-B933-FAB6B5700AA7}" type="presParOf" srcId="{6DD7E77B-25CA-4EE1-A76D-FED0D96CD134}" destId="{D052BB1F-E72D-4382-A4DD-F4E712CDF864}" srcOrd="2" destOrd="0" presId="urn:microsoft.com/office/officeart/2008/layout/HalfCircleOrganizationChart"/>
    <dgm:cxn modelId="{64F43F24-7BD1-45E6-82C3-3EF169FBC983}" type="presParOf" srcId="{6DD7E77B-25CA-4EE1-A76D-FED0D96CD134}" destId="{AE19A54A-51C1-4C44-BBBB-96740535BCAB}" srcOrd="3" destOrd="0" presId="urn:microsoft.com/office/officeart/2008/layout/HalfCircleOrganizationChart"/>
    <dgm:cxn modelId="{21884062-55AA-4A69-9C51-29FC5DF9EE0B}" type="presParOf" srcId="{D9410AB3-D387-4AD2-9F3D-89FD633553FC}" destId="{433F408D-A68E-4ED3-A52F-C74F3CBF0DB5}" srcOrd="1" destOrd="0" presId="urn:microsoft.com/office/officeart/2008/layout/HalfCircleOrganizationChart"/>
    <dgm:cxn modelId="{0F0DC139-817B-4D7C-B262-0D4BC36195B5}" type="presParOf" srcId="{D9410AB3-D387-4AD2-9F3D-89FD633553FC}" destId="{FE9DCD1A-5F8E-48BB-9691-4E15B362FD8E}" srcOrd="2" destOrd="0" presId="urn:microsoft.com/office/officeart/2008/layout/HalfCircleOrganizationChart"/>
    <dgm:cxn modelId="{E26F3B68-A67D-4945-8518-FBE81D859DD3}" type="presParOf" srcId="{4CFB3E6D-631E-4DB4-A738-3F7117703AF8}" destId="{2B90E11E-1F35-401E-8699-7E36A2BADD41}" srcOrd="4" destOrd="0" presId="urn:microsoft.com/office/officeart/2008/layout/HalfCircleOrganizationChart"/>
    <dgm:cxn modelId="{6B8D3926-F8A1-4060-8EC4-EFE609893E05}" type="presParOf" srcId="{4CFB3E6D-631E-4DB4-A738-3F7117703AF8}" destId="{F9BC458E-31E3-4D6C-BE5F-D8F3C99D7147}" srcOrd="5" destOrd="0" presId="urn:microsoft.com/office/officeart/2008/layout/HalfCircleOrganizationChart"/>
    <dgm:cxn modelId="{61ABC675-ABD0-45AB-92F1-F9F681326F50}" type="presParOf" srcId="{F9BC458E-31E3-4D6C-BE5F-D8F3C99D7147}" destId="{93234977-2B54-4C11-B144-68A3BFCCDE2D}" srcOrd="0" destOrd="0" presId="urn:microsoft.com/office/officeart/2008/layout/HalfCircleOrganizationChart"/>
    <dgm:cxn modelId="{B6A7EF41-D293-4987-B47D-97AB74BB6495}" type="presParOf" srcId="{93234977-2B54-4C11-B144-68A3BFCCDE2D}" destId="{163CA0BE-1147-4C9E-9C97-E13DB7AA3604}" srcOrd="0" destOrd="0" presId="urn:microsoft.com/office/officeart/2008/layout/HalfCircleOrganizationChart"/>
    <dgm:cxn modelId="{EB312798-F734-4177-804B-B5771F09F545}" type="presParOf" srcId="{93234977-2B54-4C11-B144-68A3BFCCDE2D}" destId="{A383B80F-386C-4296-97EC-538F362DE16F}" srcOrd="1" destOrd="0" presId="urn:microsoft.com/office/officeart/2008/layout/HalfCircleOrganizationChart"/>
    <dgm:cxn modelId="{559BAD35-4173-45BA-984D-9B0844C8815E}" type="presParOf" srcId="{93234977-2B54-4C11-B144-68A3BFCCDE2D}" destId="{FC18A303-BDCB-4AE4-83D6-B511785C0E14}" srcOrd="2" destOrd="0" presId="urn:microsoft.com/office/officeart/2008/layout/HalfCircleOrganizationChart"/>
    <dgm:cxn modelId="{6F5FFA66-0088-4427-9DED-5AEEDBE140B0}" type="presParOf" srcId="{93234977-2B54-4C11-B144-68A3BFCCDE2D}" destId="{6A80621A-4502-4108-A83F-A69C37234763}" srcOrd="3" destOrd="0" presId="urn:microsoft.com/office/officeart/2008/layout/HalfCircleOrganizationChart"/>
    <dgm:cxn modelId="{0832E3A6-6D12-4B59-B791-C6738FC45D1E}" type="presParOf" srcId="{F9BC458E-31E3-4D6C-BE5F-D8F3C99D7147}" destId="{7C26EFCD-4712-4776-9A8F-E65B9D12EE01}" srcOrd="1" destOrd="0" presId="urn:microsoft.com/office/officeart/2008/layout/HalfCircleOrganizationChart"/>
    <dgm:cxn modelId="{38A9CAFC-69C3-4DDD-B47F-03787DF125B8}" type="presParOf" srcId="{F9BC458E-31E3-4D6C-BE5F-D8F3C99D7147}" destId="{5EC41235-1584-4840-8B7A-D9A7B32715FF}" srcOrd="2" destOrd="0" presId="urn:microsoft.com/office/officeart/2008/layout/HalfCircleOrganizationChart"/>
    <dgm:cxn modelId="{1F8D990D-5213-4990-9659-E9BC41D80B68}" type="presParOf" srcId="{74346815-7685-4AC3-879A-539FAFC13338}" destId="{E086C891-CD9E-4478-B0D5-08375005B182}" srcOrd="2" destOrd="0" presId="urn:microsoft.com/office/officeart/2008/layout/HalfCircle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DF6F52BA-9C5F-4198-9615-CBBED3002C09}" type="doc">
      <dgm:prSet loTypeId="urn:microsoft.com/office/officeart/2005/8/layout/lProcess2" loCatId="list" qsTypeId="urn:microsoft.com/office/officeart/2005/8/quickstyle/3d1#1" qsCatId="3D" csTypeId="urn:microsoft.com/office/officeart/2005/8/colors/accent0_3#3" csCatId="mainScheme" phldr="1"/>
      <dgm:spPr/>
      <dgm:t>
        <a:bodyPr/>
        <a:lstStyle/>
        <a:p>
          <a:endParaRPr lang="en-GB"/>
        </a:p>
      </dgm:t>
    </dgm:pt>
    <mc:AlternateContent xmlns:mc="http://schemas.openxmlformats.org/markup-compatibility/2006" xmlns:a14="http://schemas.microsoft.com/office/drawing/2010/main">
      <mc:Choice Requires="a14">
        <dgm:pt modelId="{463AC69B-6D25-4C74-82F0-C3B0CD4193FD}">
          <dgm:prSet phldrT="[Text]" custT="1"/>
          <dgm:spPr/>
          <dgm:t>
            <a:bodyPr/>
            <a:lstStyle/>
            <a:p>
              <a:pPr/>
              <a14:m>
                <m:oMathPara xmlns:m="http://schemas.openxmlformats.org/officeDocument/2006/math">
                  <m:oMath>
                    <m:sSub>
                      <m:sSubPr>
                        <m:ctrlPr>
                          <a:rPr lang="el-GR" sz="3200" b="0" i="1" smtClean="0">
                            <a:latin typeface="Cambria Math" panose="02040503050406030204" pitchFamily="18" charset="0"/>
                          </a:rPr>
                        </m:ctrlPr>
                      </m:sSubPr>
                      <m:e>
                        <m:r>
                          <a:rPr lang="el-GR" sz="3200" b="0" i="1" smtClean="0">
                            <a:latin typeface="Cambria Math" panose="02040503050406030204" pitchFamily="18" charset="0"/>
                          </a:rPr>
                          <m:t>𝛽</m:t>
                        </m:r>
                      </m:e>
                      <m:sub>
                        <m:r>
                          <a:rPr lang="en-GB" sz="3200" b="0" i="1" smtClean="0">
                            <a:latin typeface="Cambria Math" panose="02040503050406030204" pitchFamily="18" charset="0"/>
                          </a:rPr>
                          <m:t>𝐴</m:t>
                        </m:r>
                      </m:sub>
                    </m:sSub>
                  </m:oMath>
                </m:oMathPara>
              </a14:m>
              <a:endParaRPr lang="en-GB" sz="3200" dirty="0"/>
            </a:p>
          </dgm:t>
        </dgm:pt>
      </mc:Choice>
      <mc:Fallback xmlns="">
        <dgm:pt modelId="{463AC69B-6D25-4C74-82F0-C3B0CD4193FD}">
          <dgm:prSet phldrT="[Text]" custT="1"/>
          <dgm:spPr/>
          <dgm:t>
            <a:bodyPr/>
            <a:lstStyle/>
            <a:p>
              <a:pPr/>
              <a:r>
                <a:rPr lang="el-GR" sz="3200" b="0" i="0" smtClean="0">
                  <a:latin typeface="Cambria Math" panose="02040503050406030204" pitchFamily="18" charset="0"/>
                </a:rPr>
                <a:t>𝛽</a:t>
              </a:r>
              <a:r>
                <a:rPr lang="en-GB" sz="3200" b="0" i="0" smtClean="0">
                  <a:latin typeface="Cambria Math" panose="02040503050406030204" pitchFamily="18" charset="0"/>
                </a:rPr>
                <a:t>_𝐴</a:t>
              </a:r>
              <a:endParaRPr lang="en-GB" sz="3200" dirty="0"/>
            </a:p>
          </dgm:t>
        </dgm:pt>
      </mc:Fallback>
    </mc:AlternateContent>
    <dgm:pt modelId="{1B192ABD-E08B-4C7D-94CE-A5C7C8CDA201}" type="parTrans" cxnId="{CC26F88B-48FD-4F6D-9B6B-A7EB7AC129A0}">
      <dgm:prSet/>
      <dgm:spPr/>
      <dgm:t>
        <a:bodyPr/>
        <a:lstStyle/>
        <a:p>
          <a:endParaRPr lang="en-GB" sz="2400"/>
        </a:p>
      </dgm:t>
    </dgm:pt>
    <dgm:pt modelId="{75DACDC2-438B-4A08-A418-2E85A9BB0C98}" type="sibTrans" cxnId="{CC26F88B-48FD-4F6D-9B6B-A7EB7AC129A0}">
      <dgm:prSet/>
      <dgm:spPr/>
      <dgm:t>
        <a:bodyPr/>
        <a:lstStyle/>
        <a:p>
          <a:endParaRPr lang="en-GB" sz="2400"/>
        </a:p>
      </dgm:t>
    </dgm:pt>
    <mc:AlternateContent xmlns:mc="http://schemas.openxmlformats.org/markup-compatibility/2006" xmlns:a14="http://schemas.microsoft.com/office/drawing/2010/main">
      <mc:Choice Requires="a14">
        <dgm:pt modelId="{C69D7BCB-1DCA-48C2-94CC-932BAF949413}">
          <dgm:prSet phldrT="[Text]" custT="1"/>
          <dgm:spPr/>
          <dgm:t>
            <a:bodyPr/>
            <a:lstStyle/>
            <a:p>
              <a:r>
                <a:rPr lang="en-GB" sz="1800" dirty="0"/>
                <a:t>Un-lever beta: </a:t>
              </a:r>
              <a14:m>
                <m:oMath xmlns:m="http://schemas.openxmlformats.org/officeDocument/2006/math">
                  <m:sSub>
                    <m:sSubPr>
                      <m:ctrlPr>
                        <a:rPr lang="el-GR" sz="1800" b="0" i="1" smtClean="0">
                          <a:latin typeface="Cambria Math" panose="02040503050406030204" pitchFamily="18" charset="0"/>
                        </a:rPr>
                      </m:ctrlPr>
                    </m:sSubPr>
                    <m:e>
                      <m:r>
                        <a:rPr lang="el-GR" sz="1800" b="0" i="1" smtClean="0">
                          <a:latin typeface="Cambria Math" panose="02040503050406030204" pitchFamily="18" charset="0"/>
                        </a:rPr>
                        <m:t>𝛽</m:t>
                      </m:r>
                    </m:e>
                    <m:sub>
                      <m:r>
                        <a:rPr lang="en-GB" sz="1800" b="0" i="1" smtClean="0">
                          <a:latin typeface="Cambria Math" panose="02040503050406030204" pitchFamily="18" charset="0"/>
                        </a:rPr>
                        <m:t>𝑢</m:t>
                      </m:r>
                      <m:r>
                        <a:rPr lang="en-GB" sz="1800" b="0" i="1" smtClean="0">
                          <a:latin typeface="Cambria Math" panose="02040503050406030204" pitchFamily="18" charset="0"/>
                        </a:rPr>
                        <m:t>,</m:t>
                      </m:r>
                      <m:r>
                        <a:rPr lang="en-GB" sz="1800" b="0" i="1" smtClean="0">
                          <a:latin typeface="Cambria Math" panose="02040503050406030204" pitchFamily="18" charset="0"/>
                        </a:rPr>
                        <m:t>𝐴</m:t>
                      </m:r>
                    </m:sub>
                  </m:sSub>
                </m:oMath>
              </a14:m>
              <a:endParaRPr lang="en-GB" sz="1800" dirty="0"/>
            </a:p>
          </dgm:t>
        </dgm:pt>
      </mc:Choice>
      <mc:Fallback xmlns="">
        <dgm:pt modelId="{C69D7BCB-1DCA-48C2-94CC-932BAF949413}">
          <dgm:prSet phldrT="[Text]" custT="1"/>
          <dgm:spPr/>
          <dgm:t>
            <a:bodyPr/>
            <a:lstStyle/>
            <a:p>
              <a:r>
                <a:rPr lang="en-GB" sz="1800" dirty="0" smtClean="0"/>
                <a:t>Un-lever beta: </a:t>
              </a:r>
              <a:r>
                <a:rPr lang="el-GR" sz="1800" b="0" i="0" smtClean="0">
                  <a:latin typeface="Cambria Math" panose="02040503050406030204" pitchFamily="18" charset="0"/>
                </a:rPr>
                <a:t>𝛽</a:t>
              </a:r>
              <a:r>
                <a:rPr lang="en-GB" sz="1800" b="0" i="0" smtClean="0">
                  <a:latin typeface="Cambria Math" panose="02040503050406030204" pitchFamily="18" charset="0"/>
                </a:rPr>
                <a:t>_(𝑢</a:t>
              </a:r>
              <a:r>
                <a:rPr lang="en-GB" sz="1800" b="0" i="0" smtClean="0">
                  <a:latin typeface="Cambria Math" panose="02040503050406030204" pitchFamily="18" charset="0"/>
                </a:rPr>
                <a:t>,𝐴</a:t>
              </a:r>
              <a:r>
                <a:rPr lang="en-GB" sz="1800" b="0" i="0" smtClean="0">
                  <a:latin typeface="Cambria Math" panose="02040503050406030204" pitchFamily="18" charset="0"/>
                </a:rPr>
                <a:t>)</a:t>
              </a:r>
              <a:endParaRPr lang="en-GB" sz="1800" dirty="0"/>
            </a:p>
          </dgm:t>
        </dgm:pt>
      </mc:Fallback>
    </mc:AlternateContent>
    <dgm:pt modelId="{BFAB60F7-43CE-4A50-BEA5-7A03F260D463}" type="parTrans" cxnId="{DBBBD0BF-6D11-4E6F-8F04-6A555035DA50}">
      <dgm:prSet/>
      <dgm:spPr/>
      <dgm:t>
        <a:bodyPr/>
        <a:lstStyle/>
        <a:p>
          <a:endParaRPr lang="en-GB" sz="2400"/>
        </a:p>
      </dgm:t>
    </dgm:pt>
    <dgm:pt modelId="{F1AF7185-0A0C-4748-8F35-F424A00D138C}" type="sibTrans" cxnId="{DBBBD0BF-6D11-4E6F-8F04-6A555035DA50}">
      <dgm:prSet/>
      <dgm:spPr/>
      <dgm:t>
        <a:bodyPr/>
        <a:lstStyle/>
        <a:p>
          <a:endParaRPr lang="en-GB" sz="2400"/>
        </a:p>
      </dgm:t>
    </dgm:pt>
    <mc:AlternateContent xmlns:mc="http://schemas.openxmlformats.org/markup-compatibility/2006" xmlns:a14="http://schemas.microsoft.com/office/drawing/2010/main">
      <mc:Choice Requires="a14">
        <dgm:pt modelId="{7256CDA2-524D-4F68-92EE-D54007548B3B}">
          <dgm:prSet phldrT="[Text]" custT="1"/>
          <dgm:spPr/>
          <dgm:t>
            <a:bodyPr/>
            <a:lstStyle/>
            <a:p>
              <a:pPr/>
              <a14:m>
                <m:oMathPara xmlns:m="http://schemas.openxmlformats.org/officeDocument/2006/math">
                  <m:oMath>
                    <m:sSub>
                      <m:sSubPr>
                        <m:ctrlPr>
                          <a:rPr lang="el-GR" sz="3200" b="0" i="1" smtClean="0">
                            <a:latin typeface="Cambria Math" panose="02040503050406030204" pitchFamily="18" charset="0"/>
                          </a:rPr>
                        </m:ctrlPr>
                      </m:sSubPr>
                      <m:e>
                        <m:r>
                          <a:rPr lang="el-GR" sz="3200" b="0" i="1" smtClean="0">
                            <a:latin typeface="Cambria Math" panose="02040503050406030204" pitchFamily="18" charset="0"/>
                          </a:rPr>
                          <m:t>𝛽</m:t>
                        </m:r>
                      </m:e>
                      <m:sub>
                        <m:r>
                          <a:rPr lang="en-GB" sz="3200" b="0" i="1" smtClean="0">
                            <a:latin typeface="Cambria Math" panose="02040503050406030204" pitchFamily="18" charset="0"/>
                          </a:rPr>
                          <m:t>𝐵</m:t>
                        </m:r>
                      </m:sub>
                    </m:sSub>
                  </m:oMath>
                </m:oMathPara>
              </a14:m>
              <a:endParaRPr lang="en-GB" sz="3200" dirty="0"/>
            </a:p>
          </dgm:t>
        </dgm:pt>
      </mc:Choice>
      <mc:Fallback xmlns="">
        <dgm:pt modelId="{7256CDA2-524D-4F68-92EE-D54007548B3B}">
          <dgm:prSet phldrT="[Text]" custT="1"/>
          <dgm:spPr/>
          <dgm:t>
            <a:bodyPr/>
            <a:lstStyle/>
            <a:p>
              <a:pPr/>
              <a:r>
                <a:rPr lang="el-GR" sz="3200" b="0" i="0" smtClean="0">
                  <a:latin typeface="Cambria Math" panose="02040503050406030204" pitchFamily="18" charset="0"/>
                </a:rPr>
                <a:t>𝛽</a:t>
              </a:r>
              <a:r>
                <a:rPr lang="en-GB" sz="3200" b="0" i="0" smtClean="0">
                  <a:latin typeface="Cambria Math" panose="02040503050406030204" pitchFamily="18" charset="0"/>
                </a:rPr>
                <a:t>_𝐵</a:t>
              </a:r>
              <a:endParaRPr lang="en-GB" sz="3200" dirty="0"/>
            </a:p>
          </dgm:t>
        </dgm:pt>
      </mc:Fallback>
    </mc:AlternateContent>
    <dgm:pt modelId="{4949456E-4B75-4691-AB95-FD3BA6A8E85F}" type="parTrans" cxnId="{99C5E777-FD43-4FD9-A4F6-79B8B673C8D4}">
      <dgm:prSet/>
      <dgm:spPr/>
      <dgm:t>
        <a:bodyPr/>
        <a:lstStyle/>
        <a:p>
          <a:endParaRPr lang="en-GB" sz="2400"/>
        </a:p>
      </dgm:t>
    </dgm:pt>
    <dgm:pt modelId="{E3DCB80E-A332-4ADA-B1EC-E87ABC4934B9}" type="sibTrans" cxnId="{99C5E777-FD43-4FD9-A4F6-79B8B673C8D4}">
      <dgm:prSet/>
      <dgm:spPr/>
      <dgm:t>
        <a:bodyPr/>
        <a:lstStyle/>
        <a:p>
          <a:endParaRPr lang="en-GB" sz="2400"/>
        </a:p>
      </dgm:t>
    </dgm:pt>
    <mc:AlternateContent xmlns:mc="http://schemas.openxmlformats.org/markup-compatibility/2006" xmlns:a14="http://schemas.microsoft.com/office/drawing/2010/main">
      <mc:Choice Requires="a14">
        <dgm:pt modelId="{0D1C84DB-3160-4108-B856-149EB9FF7757}">
          <dgm:prSet phldrT="[Text]" custT="1"/>
          <dgm:spPr/>
          <dgm:t>
            <a:bodyPr/>
            <a:lstStyle/>
            <a:p>
              <a:r>
                <a:rPr lang="en-GB" sz="1800" dirty="0"/>
                <a:t>Un-lever beta: </a:t>
              </a:r>
              <a14:m>
                <m:oMath xmlns:m="http://schemas.openxmlformats.org/officeDocument/2006/math">
                  <m:sSub>
                    <m:sSubPr>
                      <m:ctrlPr>
                        <a:rPr lang="el-GR" sz="1800" b="0" i="1" smtClean="0">
                          <a:latin typeface="Cambria Math" panose="02040503050406030204" pitchFamily="18" charset="0"/>
                        </a:rPr>
                      </m:ctrlPr>
                    </m:sSubPr>
                    <m:e>
                      <m:r>
                        <a:rPr lang="el-GR" sz="1800" b="0" i="1" smtClean="0">
                          <a:latin typeface="Cambria Math" panose="02040503050406030204" pitchFamily="18" charset="0"/>
                        </a:rPr>
                        <m:t>𝛽</m:t>
                      </m:r>
                    </m:e>
                    <m:sub>
                      <m:r>
                        <a:rPr lang="en-GB" sz="1800" b="0" i="1" smtClean="0">
                          <a:latin typeface="Cambria Math" panose="02040503050406030204" pitchFamily="18" charset="0"/>
                        </a:rPr>
                        <m:t>𝑢</m:t>
                      </m:r>
                      <m:r>
                        <a:rPr lang="en-GB" sz="1800" b="0" i="1" smtClean="0">
                          <a:latin typeface="Cambria Math" panose="02040503050406030204" pitchFamily="18" charset="0"/>
                        </a:rPr>
                        <m:t>,</m:t>
                      </m:r>
                      <m:r>
                        <a:rPr lang="en-GB" sz="1800" b="0" i="1" smtClean="0">
                          <a:latin typeface="Cambria Math" panose="02040503050406030204" pitchFamily="18" charset="0"/>
                        </a:rPr>
                        <m:t>𝐵</m:t>
                      </m:r>
                    </m:sub>
                  </m:sSub>
                </m:oMath>
              </a14:m>
              <a:endParaRPr lang="en-GB" sz="1800" dirty="0"/>
            </a:p>
          </dgm:t>
        </dgm:pt>
      </mc:Choice>
      <mc:Fallback xmlns="">
        <dgm:pt modelId="{0D1C84DB-3160-4108-B856-149EB9FF7757}">
          <dgm:prSet phldrT="[Text]" custT="1"/>
          <dgm:spPr/>
          <dgm:t>
            <a:bodyPr/>
            <a:lstStyle/>
            <a:p>
              <a:r>
                <a:rPr lang="en-GB" sz="1800" dirty="0" smtClean="0"/>
                <a:t>Un-lever beta: </a:t>
              </a:r>
              <a:r>
                <a:rPr lang="el-GR" sz="1800" b="0" i="0" smtClean="0">
                  <a:latin typeface="Cambria Math" panose="02040503050406030204" pitchFamily="18" charset="0"/>
                </a:rPr>
                <a:t>𝛽</a:t>
              </a:r>
              <a:r>
                <a:rPr lang="en-GB" sz="1800" b="0" i="0" smtClean="0">
                  <a:latin typeface="Cambria Math" panose="02040503050406030204" pitchFamily="18" charset="0"/>
                </a:rPr>
                <a:t>_(</a:t>
              </a:r>
              <a:r>
                <a:rPr lang="en-GB" sz="1800" b="0" i="0" smtClean="0">
                  <a:latin typeface="Cambria Math" panose="02040503050406030204" pitchFamily="18" charset="0"/>
                </a:rPr>
                <a:t>𝑢,</a:t>
              </a:r>
              <a:r>
                <a:rPr lang="en-GB" sz="1800" b="0" i="0" smtClean="0">
                  <a:latin typeface="Cambria Math" panose="02040503050406030204" pitchFamily="18" charset="0"/>
                </a:rPr>
                <a:t>𝐵)</a:t>
              </a:r>
              <a:endParaRPr lang="en-GB" sz="1800" dirty="0"/>
            </a:p>
          </dgm:t>
        </dgm:pt>
      </mc:Fallback>
    </mc:AlternateContent>
    <dgm:pt modelId="{1C30C717-AD25-4A86-AD5C-74D00D155478}" type="parTrans" cxnId="{AD10DB5A-9463-49B3-91EC-16CFB89D65C7}">
      <dgm:prSet/>
      <dgm:spPr/>
      <dgm:t>
        <a:bodyPr/>
        <a:lstStyle/>
        <a:p>
          <a:endParaRPr lang="en-GB" sz="2400"/>
        </a:p>
      </dgm:t>
    </dgm:pt>
    <dgm:pt modelId="{2CE771B3-6EB8-4DBC-BD17-8E0638B742CC}" type="sibTrans" cxnId="{AD10DB5A-9463-49B3-91EC-16CFB89D65C7}">
      <dgm:prSet/>
      <dgm:spPr/>
      <dgm:t>
        <a:bodyPr/>
        <a:lstStyle/>
        <a:p>
          <a:endParaRPr lang="en-GB" sz="2400"/>
        </a:p>
      </dgm:t>
    </dgm:pt>
    <mc:AlternateContent xmlns:mc="http://schemas.openxmlformats.org/markup-compatibility/2006" xmlns:a14="http://schemas.microsoft.com/office/drawing/2010/main">
      <mc:Choice Requires="a14">
        <dgm:pt modelId="{AA2484ED-16B3-4B91-9206-6EC61E1EC9C6}">
          <dgm:prSet phldrT="[Text]" custT="1"/>
          <dgm:spPr/>
          <dgm:t>
            <a:bodyPr/>
            <a:lstStyle/>
            <a:p>
              <a:pPr/>
              <a14:m>
                <m:oMathPara xmlns:m="http://schemas.openxmlformats.org/officeDocument/2006/math">
                  <m:oMath>
                    <m:sSub>
                      <m:sSubPr>
                        <m:ctrlPr>
                          <a:rPr lang="el-GR" sz="3200" b="0" i="1" smtClean="0">
                            <a:latin typeface="Cambria Math" panose="02040503050406030204" pitchFamily="18" charset="0"/>
                          </a:rPr>
                        </m:ctrlPr>
                      </m:sSubPr>
                      <m:e>
                        <m:r>
                          <a:rPr lang="el-GR" sz="3200" b="0" i="1" smtClean="0">
                            <a:latin typeface="Cambria Math" panose="02040503050406030204" pitchFamily="18" charset="0"/>
                          </a:rPr>
                          <m:t>𝛽</m:t>
                        </m:r>
                      </m:e>
                      <m:sub>
                        <m:r>
                          <a:rPr lang="en-GB" sz="3200" b="0" i="1" smtClean="0">
                            <a:latin typeface="Cambria Math" panose="02040503050406030204" pitchFamily="18" charset="0"/>
                          </a:rPr>
                          <m:t>𝐶</m:t>
                        </m:r>
                      </m:sub>
                    </m:sSub>
                  </m:oMath>
                </m:oMathPara>
              </a14:m>
              <a:endParaRPr lang="en-GB" sz="3200" dirty="0"/>
            </a:p>
          </dgm:t>
        </dgm:pt>
      </mc:Choice>
      <mc:Fallback xmlns="">
        <dgm:pt modelId="{AA2484ED-16B3-4B91-9206-6EC61E1EC9C6}">
          <dgm:prSet phldrT="[Text]" custT="1"/>
          <dgm:spPr/>
          <dgm:t>
            <a:bodyPr/>
            <a:lstStyle/>
            <a:p>
              <a:pPr/>
              <a:r>
                <a:rPr lang="el-GR" sz="3200" b="0" i="0" smtClean="0">
                  <a:latin typeface="Cambria Math" panose="02040503050406030204" pitchFamily="18" charset="0"/>
                </a:rPr>
                <a:t>𝛽</a:t>
              </a:r>
              <a:r>
                <a:rPr lang="en-GB" sz="3200" b="0" i="0" smtClean="0">
                  <a:latin typeface="Cambria Math" panose="02040503050406030204" pitchFamily="18" charset="0"/>
                </a:rPr>
                <a:t>_𝐶</a:t>
              </a:r>
              <a:endParaRPr lang="en-GB" sz="3200" dirty="0"/>
            </a:p>
          </dgm:t>
        </dgm:pt>
      </mc:Fallback>
    </mc:AlternateContent>
    <dgm:pt modelId="{8A0142B8-88FB-4981-94CF-0E5A4143DB0D}" type="parTrans" cxnId="{3907F777-4A45-4617-92BC-C0D2F8770ADC}">
      <dgm:prSet/>
      <dgm:spPr/>
      <dgm:t>
        <a:bodyPr/>
        <a:lstStyle/>
        <a:p>
          <a:endParaRPr lang="en-GB" sz="2400"/>
        </a:p>
      </dgm:t>
    </dgm:pt>
    <dgm:pt modelId="{3664C699-B36F-4DA2-93AD-EC2A2E699A8B}" type="sibTrans" cxnId="{3907F777-4A45-4617-92BC-C0D2F8770ADC}">
      <dgm:prSet/>
      <dgm:spPr/>
      <dgm:t>
        <a:bodyPr/>
        <a:lstStyle/>
        <a:p>
          <a:endParaRPr lang="en-GB" sz="2400"/>
        </a:p>
      </dgm:t>
    </dgm:pt>
    <mc:AlternateContent xmlns:mc="http://schemas.openxmlformats.org/markup-compatibility/2006" xmlns:a14="http://schemas.microsoft.com/office/drawing/2010/main">
      <mc:Choice Requires="a14">
        <dgm:pt modelId="{CB05CC69-648F-4781-9434-AFA49E19946D}">
          <dgm:prSet phldrT="[Text]" custT="1"/>
          <dgm:spPr/>
          <dgm:t>
            <a:bodyPr/>
            <a:lstStyle/>
            <a:p>
              <a:r>
                <a:rPr lang="en-GB" sz="1800" dirty="0"/>
                <a:t>Un-lever beta: </a:t>
              </a:r>
              <a14:m>
                <m:oMath xmlns:m="http://schemas.openxmlformats.org/officeDocument/2006/math">
                  <m:sSub>
                    <m:sSubPr>
                      <m:ctrlPr>
                        <a:rPr lang="el-GR" sz="1800" b="0" i="1" smtClean="0">
                          <a:latin typeface="Cambria Math" panose="02040503050406030204" pitchFamily="18" charset="0"/>
                        </a:rPr>
                      </m:ctrlPr>
                    </m:sSubPr>
                    <m:e>
                      <m:r>
                        <a:rPr lang="el-GR" sz="1800" b="0" i="1" smtClean="0">
                          <a:latin typeface="Cambria Math" panose="02040503050406030204" pitchFamily="18" charset="0"/>
                        </a:rPr>
                        <m:t>𝛽</m:t>
                      </m:r>
                    </m:e>
                    <m:sub>
                      <m:r>
                        <a:rPr lang="en-GB" sz="1800" b="0" i="1" smtClean="0">
                          <a:latin typeface="Cambria Math" panose="02040503050406030204" pitchFamily="18" charset="0"/>
                        </a:rPr>
                        <m:t>𝑢</m:t>
                      </m:r>
                      <m:r>
                        <a:rPr lang="en-GB" sz="1800" b="0" i="1" smtClean="0">
                          <a:latin typeface="Cambria Math" panose="02040503050406030204" pitchFamily="18" charset="0"/>
                        </a:rPr>
                        <m:t>,</m:t>
                      </m:r>
                      <m:r>
                        <a:rPr lang="en-GB" sz="1800" b="0" i="1" smtClean="0">
                          <a:latin typeface="Cambria Math" panose="02040503050406030204" pitchFamily="18" charset="0"/>
                        </a:rPr>
                        <m:t>𝐶</m:t>
                      </m:r>
                    </m:sub>
                  </m:sSub>
                </m:oMath>
              </a14:m>
              <a:endParaRPr lang="en-GB" sz="1800" dirty="0"/>
            </a:p>
          </dgm:t>
        </dgm:pt>
      </mc:Choice>
      <mc:Fallback xmlns="">
        <dgm:pt modelId="{CB05CC69-648F-4781-9434-AFA49E19946D}">
          <dgm:prSet phldrT="[Text]" custT="1"/>
          <dgm:spPr/>
          <dgm:t>
            <a:bodyPr/>
            <a:lstStyle/>
            <a:p>
              <a:r>
                <a:rPr lang="en-GB" sz="1800" dirty="0" smtClean="0"/>
                <a:t>Un-lever beta: </a:t>
              </a:r>
              <a:r>
                <a:rPr lang="el-GR" sz="1800" b="0" i="0" smtClean="0">
                  <a:latin typeface="Cambria Math" panose="02040503050406030204" pitchFamily="18" charset="0"/>
                </a:rPr>
                <a:t>𝛽</a:t>
              </a:r>
              <a:r>
                <a:rPr lang="en-GB" sz="1800" b="0" i="0" smtClean="0">
                  <a:latin typeface="Cambria Math" panose="02040503050406030204" pitchFamily="18" charset="0"/>
                </a:rPr>
                <a:t>_(</a:t>
              </a:r>
              <a:r>
                <a:rPr lang="en-GB" sz="1800" b="0" i="0" smtClean="0">
                  <a:latin typeface="Cambria Math" panose="02040503050406030204" pitchFamily="18" charset="0"/>
                </a:rPr>
                <a:t>𝑢,</a:t>
              </a:r>
              <a:r>
                <a:rPr lang="en-GB" sz="1800" b="0" i="0" smtClean="0">
                  <a:latin typeface="Cambria Math" panose="02040503050406030204" pitchFamily="18" charset="0"/>
                </a:rPr>
                <a:t>𝐶)</a:t>
              </a:r>
              <a:endParaRPr lang="en-GB" sz="1800" dirty="0"/>
            </a:p>
          </dgm:t>
        </dgm:pt>
      </mc:Fallback>
    </mc:AlternateContent>
    <dgm:pt modelId="{B73DC043-39C1-4328-8DE8-19F178BAE8E3}" type="parTrans" cxnId="{14FAC4A9-B9A7-47AE-AFDE-18C9F202C3DB}">
      <dgm:prSet/>
      <dgm:spPr/>
      <dgm:t>
        <a:bodyPr/>
        <a:lstStyle/>
        <a:p>
          <a:endParaRPr lang="en-GB" sz="2400"/>
        </a:p>
      </dgm:t>
    </dgm:pt>
    <dgm:pt modelId="{88481DD7-F2E2-4F91-BB2F-6F0B5703DBF2}" type="sibTrans" cxnId="{14FAC4A9-B9A7-47AE-AFDE-18C9F202C3DB}">
      <dgm:prSet/>
      <dgm:spPr/>
      <dgm:t>
        <a:bodyPr/>
        <a:lstStyle/>
        <a:p>
          <a:endParaRPr lang="en-GB" sz="2400"/>
        </a:p>
      </dgm:t>
    </dgm:pt>
    <dgm:pt modelId="{54022C24-EB24-4471-B789-2143E59AF5E2}">
      <dgm:prSet phldrT="[Text]" custT="1"/>
      <dgm:spPr/>
      <dgm:t>
        <a:bodyPr/>
        <a:lstStyle/>
        <a:p>
          <a:r>
            <a:rPr lang="en-GB" sz="1800" dirty="0"/>
            <a:t>% of Value from C</a:t>
          </a:r>
        </a:p>
      </dgm:t>
    </dgm:pt>
    <dgm:pt modelId="{87C90FF1-BB3C-440B-9B52-B11A68BA7BBD}" type="sibTrans" cxnId="{2C5E4E5D-DDCC-456D-9DED-FF593A6A2B18}">
      <dgm:prSet/>
      <dgm:spPr/>
      <dgm:t>
        <a:bodyPr/>
        <a:lstStyle/>
        <a:p>
          <a:endParaRPr lang="en-GB" sz="2400"/>
        </a:p>
      </dgm:t>
    </dgm:pt>
    <dgm:pt modelId="{1F77058D-8025-418D-B6D9-7C7BC2D933E2}" type="parTrans" cxnId="{2C5E4E5D-DDCC-456D-9DED-FF593A6A2B18}">
      <dgm:prSet/>
      <dgm:spPr/>
      <dgm:t>
        <a:bodyPr/>
        <a:lstStyle/>
        <a:p>
          <a:endParaRPr lang="en-GB" sz="2400"/>
        </a:p>
      </dgm:t>
    </dgm:pt>
    <dgm:pt modelId="{2A9C1963-B685-41F3-884C-37142124DA4B}">
      <dgm:prSet phldrT="[Text]" custT="1"/>
      <dgm:spPr/>
      <dgm:t>
        <a:bodyPr/>
        <a:lstStyle/>
        <a:p>
          <a:r>
            <a:rPr lang="en-GB" sz="1800" dirty="0"/>
            <a:t>% of Value from B</a:t>
          </a:r>
        </a:p>
      </dgm:t>
    </dgm:pt>
    <dgm:pt modelId="{8004E67C-1162-4592-AD87-BD5B1E3F979A}" type="sibTrans" cxnId="{1431E3CF-72B8-47F2-9814-8DFAD2E4CBA4}">
      <dgm:prSet/>
      <dgm:spPr/>
      <dgm:t>
        <a:bodyPr/>
        <a:lstStyle/>
        <a:p>
          <a:endParaRPr lang="en-GB" sz="2400"/>
        </a:p>
      </dgm:t>
    </dgm:pt>
    <dgm:pt modelId="{22738D87-1435-4910-A5EC-D79B45ABE8B5}" type="parTrans" cxnId="{1431E3CF-72B8-47F2-9814-8DFAD2E4CBA4}">
      <dgm:prSet/>
      <dgm:spPr/>
      <dgm:t>
        <a:bodyPr/>
        <a:lstStyle/>
        <a:p>
          <a:endParaRPr lang="en-GB" sz="2400"/>
        </a:p>
      </dgm:t>
    </dgm:pt>
    <dgm:pt modelId="{A93BFD9C-5863-4E42-BAFC-D6FB2F4F007B}">
      <dgm:prSet phldrT="[Text]" custT="1"/>
      <dgm:spPr/>
      <dgm:t>
        <a:bodyPr/>
        <a:lstStyle/>
        <a:p>
          <a:r>
            <a:rPr lang="en-GB" sz="1800" dirty="0"/>
            <a:t>% of Value from A</a:t>
          </a:r>
        </a:p>
      </dgm:t>
    </dgm:pt>
    <dgm:pt modelId="{540ADDF3-3401-4FBF-A2C6-8E53A7A4F433}" type="sibTrans" cxnId="{705AAA7D-22DB-4A75-99FD-01177CA6E82D}">
      <dgm:prSet/>
      <dgm:spPr/>
      <dgm:t>
        <a:bodyPr/>
        <a:lstStyle/>
        <a:p>
          <a:endParaRPr lang="en-GB" sz="2400"/>
        </a:p>
      </dgm:t>
    </dgm:pt>
    <dgm:pt modelId="{B2CA0191-CA5F-4315-93CC-EE6521D6F4FC}" type="parTrans" cxnId="{705AAA7D-22DB-4A75-99FD-01177CA6E82D}">
      <dgm:prSet/>
      <dgm:spPr/>
      <dgm:t>
        <a:bodyPr/>
        <a:lstStyle/>
        <a:p>
          <a:endParaRPr lang="en-GB" sz="2400"/>
        </a:p>
      </dgm:t>
    </dgm:pt>
    <dgm:pt modelId="{986529ED-4BF4-4496-AB9C-4378234E4614}" type="pres">
      <dgm:prSet presAssocID="{DF6F52BA-9C5F-4198-9615-CBBED3002C09}" presName="theList" presStyleCnt="0">
        <dgm:presLayoutVars>
          <dgm:dir/>
          <dgm:animLvl val="lvl"/>
          <dgm:resizeHandles val="exact"/>
        </dgm:presLayoutVars>
      </dgm:prSet>
      <dgm:spPr/>
    </dgm:pt>
    <dgm:pt modelId="{36D60047-16DC-433B-B4BD-0AC26ECF2EEA}" type="pres">
      <dgm:prSet presAssocID="{463AC69B-6D25-4C74-82F0-C3B0CD4193FD}" presName="compNode" presStyleCnt="0"/>
      <dgm:spPr/>
    </dgm:pt>
    <dgm:pt modelId="{67DBAA07-D82C-433F-8558-78DEE27F27B9}" type="pres">
      <dgm:prSet presAssocID="{463AC69B-6D25-4C74-82F0-C3B0CD4193FD}" presName="aNode" presStyleLbl="bgShp" presStyleIdx="0" presStyleCnt="3"/>
      <dgm:spPr/>
    </dgm:pt>
    <dgm:pt modelId="{402327AD-E411-4619-BE20-D77579261235}" type="pres">
      <dgm:prSet presAssocID="{463AC69B-6D25-4C74-82F0-C3B0CD4193FD}" presName="textNode" presStyleLbl="bgShp" presStyleIdx="0" presStyleCnt="3"/>
      <dgm:spPr/>
    </dgm:pt>
    <dgm:pt modelId="{3CBE07B4-B53B-4F86-92AD-B14D4B911433}" type="pres">
      <dgm:prSet presAssocID="{463AC69B-6D25-4C74-82F0-C3B0CD4193FD}" presName="compChildNode" presStyleCnt="0"/>
      <dgm:spPr/>
    </dgm:pt>
    <dgm:pt modelId="{13CBC219-6C89-40CC-BBC2-6744DF85BBC5}" type="pres">
      <dgm:prSet presAssocID="{463AC69B-6D25-4C74-82F0-C3B0CD4193FD}" presName="theInnerList" presStyleCnt="0"/>
      <dgm:spPr/>
    </dgm:pt>
    <dgm:pt modelId="{7C321082-EE9F-4BF2-BC5A-B50C9B95FF0C}" type="pres">
      <dgm:prSet presAssocID="{C69D7BCB-1DCA-48C2-94CC-932BAF949413}" presName="childNode" presStyleLbl="node1" presStyleIdx="0" presStyleCnt="6" custScaleX="117722">
        <dgm:presLayoutVars>
          <dgm:bulletEnabled val="1"/>
        </dgm:presLayoutVars>
      </dgm:prSet>
      <dgm:spPr/>
    </dgm:pt>
    <dgm:pt modelId="{E5E66BA4-BDE1-4EF4-BD44-93D4D72EDE03}" type="pres">
      <dgm:prSet presAssocID="{C69D7BCB-1DCA-48C2-94CC-932BAF949413}" presName="aSpace2" presStyleCnt="0"/>
      <dgm:spPr/>
    </dgm:pt>
    <dgm:pt modelId="{F3536B04-8620-4C98-B19B-5507E07B2486}" type="pres">
      <dgm:prSet presAssocID="{A93BFD9C-5863-4E42-BAFC-D6FB2F4F007B}" presName="childNode" presStyleLbl="node1" presStyleIdx="1" presStyleCnt="6" custScaleX="117722">
        <dgm:presLayoutVars>
          <dgm:bulletEnabled val="1"/>
        </dgm:presLayoutVars>
      </dgm:prSet>
      <dgm:spPr/>
    </dgm:pt>
    <dgm:pt modelId="{079FA198-1C00-4D73-BC3E-B819A4BA8493}" type="pres">
      <dgm:prSet presAssocID="{463AC69B-6D25-4C74-82F0-C3B0CD4193FD}" presName="aSpace" presStyleCnt="0"/>
      <dgm:spPr/>
    </dgm:pt>
    <dgm:pt modelId="{8A392344-1111-44F0-BCBD-1F21615DF338}" type="pres">
      <dgm:prSet presAssocID="{7256CDA2-524D-4F68-92EE-D54007548B3B}" presName="compNode" presStyleCnt="0"/>
      <dgm:spPr/>
    </dgm:pt>
    <dgm:pt modelId="{76D5E8C6-3BF7-47F7-A947-503BD39C5A54}" type="pres">
      <dgm:prSet presAssocID="{7256CDA2-524D-4F68-92EE-D54007548B3B}" presName="aNode" presStyleLbl="bgShp" presStyleIdx="1" presStyleCnt="3"/>
      <dgm:spPr/>
    </dgm:pt>
    <dgm:pt modelId="{1963745A-7362-4197-9C00-98FBA0774B60}" type="pres">
      <dgm:prSet presAssocID="{7256CDA2-524D-4F68-92EE-D54007548B3B}" presName="textNode" presStyleLbl="bgShp" presStyleIdx="1" presStyleCnt="3"/>
      <dgm:spPr/>
    </dgm:pt>
    <dgm:pt modelId="{CC714495-6AC6-4AB9-A116-C85C5C1C686D}" type="pres">
      <dgm:prSet presAssocID="{7256CDA2-524D-4F68-92EE-D54007548B3B}" presName="compChildNode" presStyleCnt="0"/>
      <dgm:spPr/>
    </dgm:pt>
    <dgm:pt modelId="{6ED849C5-A19C-4255-AF91-A62039C1ED64}" type="pres">
      <dgm:prSet presAssocID="{7256CDA2-524D-4F68-92EE-D54007548B3B}" presName="theInnerList" presStyleCnt="0"/>
      <dgm:spPr/>
    </dgm:pt>
    <dgm:pt modelId="{D5580F7C-CBF5-447E-9283-B9AB9AD4E82B}" type="pres">
      <dgm:prSet presAssocID="{0D1C84DB-3160-4108-B856-149EB9FF7757}" presName="childNode" presStyleLbl="node1" presStyleIdx="2" presStyleCnt="6" custScaleX="117722">
        <dgm:presLayoutVars>
          <dgm:bulletEnabled val="1"/>
        </dgm:presLayoutVars>
      </dgm:prSet>
      <dgm:spPr/>
    </dgm:pt>
    <dgm:pt modelId="{B3E85B4B-02DF-4590-8FF5-ED7833748D37}" type="pres">
      <dgm:prSet presAssocID="{0D1C84DB-3160-4108-B856-149EB9FF7757}" presName="aSpace2" presStyleCnt="0"/>
      <dgm:spPr/>
    </dgm:pt>
    <dgm:pt modelId="{BF6F70C2-5323-48D0-A328-74AA29A933EE}" type="pres">
      <dgm:prSet presAssocID="{2A9C1963-B685-41F3-884C-37142124DA4B}" presName="childNode" presStyleLbl="node1" presStyleIdx="3" presStyleCnt="6" custScaleX="117722">
        <dgm:presLayoutVars>
          <dgm:bulletEnabled val="1"/>
        </dgm:presLayoutVars>
      </dgm:prSet>
      <dgm:spPr/>
    </dgm:pt>
    <dgm:pt modelId="{9202E7D7-716E-4E44-99B5-311F180FD831}" type="pres">
      <dgm:prSet presAssocID="{7256CDA2-524D-4F68-92EE-D54007548B3B}" presName="aSpace" presStyleCnt="0"/>
      <dgm:spPr/>
    </dgm:pt>
    <dgm:pt modelId="{E87BF5A8-C74E-4E08-917E-522CE3EFB906}" type="pres">
      <dgm:prSet presAssocID="{AA2484ED-16B3-4B91-9206-6EC61E1EC9C6}" presName="compNode" presStyleCnt="0"/>
      <dgm:spPr/>
    </dgm:pt>
    <dgm:pt modelId="{5A0F2182-7AF7-4D98-81D2-A6AE9A610262}" type="pres">
      <dgm:prSet presAssocID="{AA2484ED-16B3-4B91-9206-6EC61E1EC9C6}" presName="aNode" presStyleLbl="bgShp" presStyleIdx="2" presStyleCnt="3" custLinFactNeighborX="2396"/>
      <dgm:spPr/>
    </dgm:pt>
    <dgm:pt modelId="{D072542B-B24A-4352-81CE-1EE26AA37AE0}" type="pres">
      <dgm:prSet presAssocID="{AA2484ED-16B3-4B91-9206-6EC61E1EC9C6}" presName="textNode" presStyleLbl="bgShp" presStyleIdx="2" presStyleCnt="3"/>
      <dgm:spPr/>
    </dgm:pt>
    <dgm:pt modelId="{8EDC5F59-43D0-4751-B3FE-3D3A8F3899AC}" type="pres">
      <dgm:prSet presAssocID="{AA2484ED-16B3-4B91-9206-6EC61E1EC9C6}" presName="compChildNode" presStyleCnt="0"/>
      <dgm:spPr/>
    </dgm:pt>
    <dgm:pt modelId="{1AA5CE38-10A1-4EC9-82FC-3DDF81D6B80B}" type="pres">
      <dgm:prSet presAssocID="{AA2484ED-16B3-4B91-9206-6EC61E1EC9C6}" presName="theInnerList" presStyleCnt="0"/>
      <dgm:spPr/>
    </dgm:pt>
    <dgm:pt modelId="{9FB7C987-B257-4E6C-A2B5-F547607E62DF}" type="pres">
      <dgm:prSet presAssocID="{CB05CC69-648F-4781-9434-AFA49E19946D}" presName="childNode" presStyleLbl="node1" presStyleIdx="4" presStyleCnt="6" custScaleX="117722">
        <dgm:presLayoutVars>
          <dgm:bulletEnabled val="1"/>
        </dgm:presLayoutVars>
      </dgm:prSet>
      <dgm:spPr/>
    </dgm:pt>
    <dgm:pt modelId="{6FB363A2-1BFA-4271-A6A3-0D4DEE9106C3}" type="pres">
      <dgm:prSet presAssocID="{CB05CC69-648F-4781-9434-AFA49E19946D}" presName="aSpace2" presStyleCnt="0"/>
      <dgm:spPr/>
    </dgm:pt>
    <dgm:pt modelId="{37E22CE4-DBE4-4DA4-ABC0-A28654419370}" type="pres">
      <dgm:prSet presAssocID="{54022C24-EB24-4471-B789-2143E59AF5E2}" presName="childNode" presStyleLbl="node1" presStyleIdx="5" presStyleCnt="6" custScaleX="117722">
        <dgm:presLayoutVars>
          <dgm:bulletEnabled val="1"/>
        </dgm:presLayoutVars>
      </dgm:prSet>
      <dgm:spPr/>
    </dgm:pt>
  </dgm:ptLst>
  <dgm:cxnLst>
    <dgm:cxn modelId="{595B711D-2186-4A14-B4B0-95A89AEE0114}" type="presOf" srcId="{AA2484ED-16B3-4B91-9206-6EC61E1EC9C6}" destId="{D072542B-B24A-4352-81CE-1EE26AA37AE0}" srcOrd="1" destOrd="0" presId="urn:microsoft.com/office/officeart/2005/8/layout/lProcess2"/>
    <dgm:cxn modelId="{7570EB21-BD4A-4AA0-B2DF-424581979C65}" type="presOf" srcId="{7256CDA2-524D-4F68-92EE-D54007548B3B}" destId="{76D5E8C6-3BF7-47F7-A947-503BD39C5A54}" srcOrd="0" destOrd="0" presId="urn:microsoft.com/office/officeart/2005/8/layout/lProcess2"/>
    <dgm:cxn modelId="{2C5E4E5D-DDCC-456D-9DED-FF593A6A2B18}" srcId="{AA2484ED-16B3-4B91-9206-6EC61E1EC9C6}" destId="{54022C24-EB24-4471-B789-2143E59AF5E2}" srcOrd="1" destOrd="0" parTransId="{1F77058D-8025-418D-B6D9-7C7BC2D933E2}" sibTransId="{87C90FF1-BB3C-440B-9B52-B11A68BA7BBD}"/>
    <dgm:cxn modelId="{C9CD3647-F519-4730-A8F9-418A8285BE87}" type="presOf" srcId="{DF6F52BA-9C5F-4198-9615-CBBED3002C09}" destId="{986529ED-4BF4-4496-AB9C-4378234E4614}" srcOrd="0" destOrd="0" presId="urn:microsoft.com/office/officeart/2005/8/layout/lProcess2"/>
    <dgm:cxn modelId="{E3238C4A-F884-40FA-A389-5F9B891C4230}" type="presOf" srcId="{0D1C84DB-3160-4108-B856-149EB9FF7757}" destId="{D5580F7C-CBF5-447E-9283-B9AB9AD4E82B}" srcOrd="0" destOrd="0" presId="urn:microsoft.com/office/officeart/2005/8/layout/lProcess2"/>
    <dgm:cxn modelId="{99C5E777-FD43-4FD9-A4F6-79B8B673C8D4}" srcId="{DF6F52BA-9C5F-4198-9615-CBBED3002C09}" destId="{7256CDA2-524D-4F68-92EE-D54007548B3B}" srcOrd="1" destOrd="0" parTransId="{4949456E-4B75-4691-AB95-FD3BA6A8E85F}" sibTransId="{E3DCB80E-A332-4ADA-B1EC-E87ABC4934B9}"/>
    <dgm:cxn modelId="{3907F777-4A45-4617-92BC-C0D2F8770ADC}" srcId="{DF6F52BA-9C5F-4198-9615-CBBED3002C09}" destId="{AA2484ED-16B3-4B91-9206-6EC61E1EC9C6}" srcOrd="2" destOrd="0" parTransId="{8A0142B8-88FB-4981-94CF-0E5A4143DB0D}" sibTransId="{3664C699-B36F-4DA2-93AD-EC2A2E699A8B}"/>
    <dgm:cxn modelId="{AD10DB5A-9463-49B3-91EC-16CFB89D65C7}" srcId="{7256CDA2-524D-4F68-92EE-D54007548B3B}" destId="{0D1C84DB-3160-4108-B856-149EB9FF7757}" srcOrd="0" destOrd="0" parTransId="{1C30C717-AD25-4A86-AD5C-74D00D155478}" sibTransId="{2CE771B3-6EB8-4DBC-BD17-8E0638B742CC}"/>
    <dgm:cxn modelId="{705AAA7D-22DB-4A75-99FD-01177CA6E82D}" srcId="{463AC69B-6D25-4C74-82F0-C3B0CD4193FD}" destId="{A93BFD9C-5863-4E42-BAFC-D6FB2F4F007B}" srcOrd="1" destOrd="0" parTransId="{B2CA0191-CA5F-4315-93CC-EE6521D6F4FC}" sibTransId="{540ADDF3-3401-4FBF-A2C6-8E53A7A4F433}"/>
    <dgm:cxn modelId="{CC26F88B-48FD-4F6D-9B6B-A7EB7AC129A0}" srcId="{DF6F52BA-9C5F-4198-9615-CBBED3002C09}" destId="{463AC69B-6D25-4C74-82F0-C3B0CD4193FD}" srcOrd="0" destOrd="0" parTransId="{1B192ABD-E08B-4C7D-94CE-A5C7C8CDA201}" sibTransId="{75DACDC2-438B-4A08-A418-2E85A9BB0C98}"/>
    <dgm:cxn modelId="{1D77A18D-9877-478D-962B-36FEF1D858E8}" type="presOf" srcId="{463AC69B-6D25-4C74-82F0-C3B0CD4193FD}" destId="{67DBAA07-D82C-433F-8558-78DEE27F27B9}" srcOrd="0" destOrd="0" presId="urn:microsoft.com/office/officeart/2005/8/layout/lProcess2"/>
    <dgm:cxn modelId="{70C6169C-98F2-4E36-95B6-777272C4E433}" type="presOf" srcId="{463AC69B-6D25-4C74-82F0-C3B0CD4193FD}" destId="{402327AD-E411-4619-BE20-D77579261235}" srcOrd="1" destOrd="0" presId="urn:microsoft.com/office/officeart/2005/8/layout/lProcess2"/>
    <dgm:cxn modelId="{A36BE3A0-DD89-40A3-AB08-2D2DBCC4A9C4}" type="presOf" srcId="{7256CDA2-524D-4F68-92EE-D54007548B3B}" destId="{1963745A-7362-4197-9C00-98FBA0774B60}" srcOrd="1" destOrd="0" presId="urn:microsoft.com/office/officeart/2005/8/layout/lProcess2"/>
    <dgm:cxn modelId="{14FAC4A9-B9A7-47AE-AFDE-18C9F202C3DB}" srcId="{AA2484ED-16B3-4B91-9206-6EC61E1EC9C6}" destId="{CB05CC69-648F-4781-9434-AFA49E19946D}" srcOrd="0" destOrd="0" parTransId="{B73DC043-39C1-4328-8DE8-19F178BAE8E3}" sibTransId="{88481DD7-F2E2-4F91-BB2F-6F0B5703DBF2}"/>
    <dgm:cxn modelId="{C1CD54AA-9847-4DBD-8D8B-8A8DA6AEBE92}" type="presOf" srcId="{AA2484ED-16B3-4B91-9206-6EC61E1EC9C6}" destId="{5A0F2182-7AF7-4D98-81D2-A6AE9A610262}" srcOrd="0" destOrd="0" presId="urn:microsoft.com/office/officeart/2005/8/layout/lProcess2"/>
    <dgm:cxn modelId="{D0EFDBB2-9EBB-4950-9841-CAF01DD3CF30}" type="presOf" srcId="{A93BFD9C-5863-4E42-BAFC-D6FB2F4F007B}" destId="{F3536B04-8620-4C98-B19B-5507E07B2486}" srcOrd="0" destOrd="0" presId="urn:microsoft.com/office/officeart/2005/8/layout/lProcess2"/>
    <dgm:cxn modelId="{DBBBD0BF-6D11-4E6F-8F04-6A555035DA50}" srcId="{463AC69B-6D25-4C74-82F0-C3B0CD4193FD}" destId="{C69D7BCB-1DCA-48C2-94CC-932BAF949413}" srcOrd="0" destOrd="0" parTransId="{BFAB60F7-43CE-4A50-BEA5-7A03F260D463}" sibTransId="{F1AF7185-0A0C-4748-8F35-F424A00D138C}"/>
    <dgm:cxn modelId="{1431E3CF-72B8-47F2-9814-8DFAD2E4CBA4}" srcId="{7256CDA2-524D-4F68-92EE-D54007548B3B}" destId="{2A9C1963-B685-41F3-884C-37142124DA4B}" srcOrd="1" destOrd="0" parTransId="{22738D87-1435-4910-A5EC-D79B45ABE8B5}" sibTransId="{8004E67C-1162-4592-AD87-BD5B1E3F979A}"/>
    <dgm:cxn modelId="{A3B89ED9-E6A3-4A8D-8E3B-9574A983FE83}" type="presOf" srcId="{CB05CC69-648F-4781-9434-AFA49E19946D}" destId="{9FB7C987-B257-4E6C-A2B5-F547607E62DF}" srcOrd="0" destOrd="0" presId="urn:microsoft.com/office/officeart/2005/8/layout/lProcess2"/>
    <dgm:cxn modelId="{AFF48CF0-D478-46DA-90F2-636D801CC39F}" type="presOf" srcId="{54022C24-EB24-4471-B789-2143E59AF5E2}" destId="{37E22CE4-DBE4-4DA4-ABC0-A28654419370}" srcOrd="0" destOrd="0" presId="urn:microsoft.com/office/officeart/2005/8/layout/lProcess2"/>
    <dgm:cxn modelId="{8D2D27FA-0AE6-439D-9004-B976736BF406}" type="presOf" srcId="{2A9C1963-B685-41F3-884C-37142124DA4B}" destId="{BF6F70C2-5323-48D0-A328-74AA29A933EE}" srcOrd="0" destOrd="0" presId="urn:microsoft.com/office/officeart/2005/8/layout/lProcess2"/>
    <dgm:cxn modelId="{0C919FFA-81CD-46D8-9EBE-CE04621B4650}" type="presOf" srcId="{C69D7BCB-1DCA-48C2-94CC-932BAF949413}" destId="{7C321082-EE9F-4BF2-BC5A-B50C9B95FF0C}" srcOrd="0" destOrd="0" presId="urn:microsoft.com/office/officeart/2005/8/layout/lProcess2"/>
    <dgm:cxn modelId="{D32B88CD-6C0B-470E-BD2D-1237AC1D334E}" type="presParOf" srcId="{986529ED-4BF4-4496-AB9C-4378234E4614}" destId="{36D60047-16DC-433B-B4BD-0AC26ECF2EEA}" srcOrd="0" destOrd="0" presId="urn:microsoft.com/office/officeart/2005/8/layout/lProcess2"/>
    <dgm:cxn modelId="{C9881F4C-D695-46D0-ADB8-3ACCA6668B91}" type="presParOf" srcId="{36D60047-16DC-433B-B4BD-0AC26ECF2EEA}" destId="{67DBAA07-D82C-433F-8558-78DEE27F27B9}" srcOrd="0" destOrd="0" presId="urn:microsoft.com/office/officeart/2005/8/layout/lProcess2"/>
    <dgm:cxn modelId="{E425C02C-F35C-4244-A523-463633710089}" type="presParOf" srcId="{36D60047-16DC-433B-B4BD-0AC26ECF2EEA}" destId="{402327AD-E411-4619-BE20-D77579261235}" srcOrd="1" destOrd="0" presId="urn:microsoft.com/office/officeart/2005/8/layout/lProcess2"/>
    <dgm:cxn modelId="{C250422F-08C2-45D9-BDC3-A06C6191C5D3}" type="presParOf" srcId="{36D60047-16DC-433B-B4BD-0AC26ECF2EEA}" destId="{3CBE07B4-B53B-4F86-92AD-B14D4B911433}" srcOrd="2" destOrd="0" presId="urn:microsoft.com/office/officeart/2005/8/layout/lProcess2"/>
    <dgm:cxn modelId="{7B9DC8E8-BCFE-4081-A4EA-7F71C2C6F1D6}" type="presParOf" srcId="{3CBE07B4-B53B-4F86-92AD-B14D4B911433}" destId="{13CBC219-6C89-40CC-BBC2-6744DF85BBC5}" srcOrd="0" destOrd="0" presId="urn:microsoft.com/office/officeart/2005/8/layout/lProcess2"/>
    <dgm:cxn modelId="{87575C37-3539-419E-AD54-7B765B922C0B}" type="presParOf" srcId="{13CBC219-6C89-40CC-BBC2-6744DF85BBC5}" destId="{7C321082-EE9F-4BF2-BC5A-B50C9B95FF0C}" srcOrd="0" destOrd="0" presId="urn:microsoft.com/office/officeart/2005/8/layout/lProcess2"/>
    <dgm:cxn modelId="{B98F467F-B8C6-4738-8DE9-2C6C7979D220}" type="presParOf" srcId="{13CBC219-6C89-40CC-BBC2-6744DF85BBC5}" destId="{E5E66BA4-BDE1-4EF4-BD44-93D4D72EDE03}" srcOrd="1" destOrd="0" presId="urn:microsoft.com/office/officeart/2005/8/layout/lProcess2"/>
    <dgm:cxn modelId="{A02092DC-D323-400F-8466-012A7933B8F1}" type="presParOf" srcId="{13CBC219-6C89-40CC-BBC2-6744DF85BBC5}" destId="{F3536B04-8620-4C98-B19B-5507E07B2486}" srcOrd="2" destOrd="0" presId="urn:microsoft.com/office/officeart/2005/8/layout/lProcess2"/>
    <dgm:cxn modelId="{510E6492-42FB-4478-A47B-134CDBC7CF4C}" type="presParOf" srcId="{986529ED-4BF4-4496-AB9C-4378234E4614}" destId="{079FA198-1C00-4D73-BC3E-B819A4BA8493}" srcOrd="1" destOrd="0" presId="urn:microsoft.com/office/officeart/2005/8/layout/lProcess2"/>
    <dgm:cxn modelId="{6F439F62-29A1-4E6C-BC50-C1A031B60DD8}" type="presParOf" srcId="{986529ED-4BF4-4496-AB9C-4378234E4614}" destId="{8A392344-1111-44F0-BCBD-1F21615DF338}" srcOrd="2" destOrd="0" presId="urn:microsoft.com/office/officeart/2005/8/layout/lProcess2"/>
    <dgm:cxn modelId="{31749A8A-7BD9-4DB6-B80A-AC72BF9946B6}" type="presParOf" srcId="{8A392344-1111-44F0-BCBD-1F21615DF338}" destId="{76D5E8C6-3BF7-47F7-A947-503BD39C5A54}" srcOrd="0" destOrd="0" presId="urn:microsoft.com/office/officeart/2005/8/layout/lProcess2"/>
    <dgm:cxn modelId="{174B45AC-04EF-4FA5-A133-7C11FFD7280C}" type="presParOf" srcId="{8A392344-1111-44F0-BCBD-1F21615DF338}" destId="{1963745A-7362-4197-9C00-98FBA0774B60}" srcOrd="1" destOrd="0" presId="urn:microsoft.com/office/officeart/2005/8/layout/lProcess2"/>
    <dgm:cxn modelId="{05B4A1EA-2DC6-4893-ABDF-00CCF43C95E1}" type="presParOf" srcId="{8A392344-1111-44F0-BCBD-1F21615DF338}" destId="{CC714495-6AC6-4AB9-A116-C85C5C1C686D}" srcOrd="2" destOrd="0" presId="urn:microsoft.com/office/officeart/2005/8/layout/lProcess2"/>
    <dgm:cxn modelId="{1497AC6B-B7A4-4233-B53C-709118C38996}" type="presParOf" srcId="{CC714495-6AC6-4AB9-A116-C85C5C1C686D}" destId="{6ED849C5-A19C-4255-AF91-A62039C1ED64}" srcOrd="0" destOrd="0" presId="urn:microsoft.com/office/officeart/2005/8/layout/lProcess2"/>
    <dgm:cxn modelId="{813F4D21-8CCC-4DC6-ABF7-C7D4B25F17AF}" type="presParOf" srcId="{6ED849C5-A19C-4255-AF91-A62039C1ED64}" destId="{D5580F7C-CBF5-447E-9283-B9AB9AD4E82B}" srcOrd="0" destOrd="0" presId="urn:microsoft.com/office/officeart/2005/8/layout/lProcess2"/>
    <dgm:cxn modelId="{A7DE73EF-EB22-4036-85FA-EE89D5EE5646}" type="presParOf" srcId="{6ED849C5-A19C-4255-AF91-A62039C1ED64}" destId="{B3E85B4B-02DF-4590-8FF5-ED7833748D37}" srcOrd="1" destOrd="0" presId="urn:microsoft.com/office/officeart/2005/8/layout/lProcess2"/>
    <dgm:cxn modelId="{9426D25D-903B-4333-8613-32936E788631}" type="presParOf" srcId="{6ED849C5-A19C-4255-AF91-A62039C1ED64}" destId="{BF6F70C2-5323-48D0-A328-74AA29A933EE}" srcOrd="2" destOrd="0" presId="urn:microsoft.com/office/officeart/2005/8/layout/lProcess2"/>
    <dgm:cxn modelId="{F87804DD-D389-4DC4-9515-3CB88427D123}" type="presParOf" srcId="{986529ED-4BF4-4496-AB9C-4378234E4614}" destId="{9202E7D7-716E-4E44-99B5-311F180FD831}" srcOrd="3" destOrd="0" presId="urn:microsoft.com/office/officeart/2005/8/layout/lProcess2"/>
    <dgm:cxn modelId="{EA538E2C-B12D-415D-A3FF-BA67CE70742B}" type="presParOf" srcId="{986529ED-4BF4-4496-AB9C-4378234E4614}" destId="{E87BF5A8-C74E-4E08-917E-522CE3EFB906}" srcOrd="4" destOrd="0" presId="urn:microsoft.com/office/officeart/2005/8/layout/lProcess2"/>
    <dgm:cxn modelId="{E462C0E5-20E7-43DF-AB3A-7ABAA2A4D542}" type="presParOf" srcId="{E87BF5A8-C74E-4E08-917E-522CE3EFB906}" destId="{5A0F2182-7AF7-4D98-81D2-A6AE9A610262}" srcOrd="0" destOrd="0" presId="urn:microsoft.com/office/officeart/2005/8/layout/lProcess2"/>
    <dgm:cxn modelId="{C45043A0-3BE8-4272-8D99-A87CDA572ABB}" type="presParOf" srcId="{E87BF5A8-C74E-4E08-917E-522CE3EFB906}" destId="{D072542B-B24A-4352-81CE-1EE26AA37AE0}" srcOrd="1" destOrd="0" presId="urn:microsoft.com/office/officeart/2005/8/layout/lProcess2"/>
    <dgm:cxn modelId="{0B02DFE5-F888-4ACA-A682-C1573466567E}" type="presParOf" srcId="{E87BF5A8-C74E-4E08-917E-522CE3EFB906}" destId="{8EDC5F59-43D0-4751-B3FE-3D3A8F3899AC}" srcOrd="2" destOrd="0" presId="urn:microsoft.com/office/officeart/2005/8/layout/lProcess2"/>
    <dgm:cxn modelId="{46C8A16A-494A-441E-9468-CE94BF774362}" type="presParOf" srcId="{8EDC5F59-43D0-4751-B3FE-3D3A8F3899AC}" destId="{1AA5CE38-10A1-4EC9-82FC-3DDF81D6B80B}" srcOrd="0" destOrd="0" presId="urn:microsoft.com/office/officeart/2005/8/layout/lProcess2"/>
    <dgm:cxn modelId="{9AF54F50-8994-4CAA-85E4-A7EA3E499394}" type="presParOf" srcId="{1AA5CE38-10A1-4EC9-82FC-3DDF81D6B80B}" destId="{9FB7C987-B257-4E6C-A2B5-F547607E62DF}" srcOrd="0" destOrd="0" presId="urn:microsoft.com/office/officeart/2005/8/layout/lProcess2"/>
    <dgm:cxn modelId="{06843ADD-752C-452C-B1F7-B19EA3F1F06A}" type="presParOf" srcId="{1AA5CE38-10A1-4EC9-82FC-3DDF81D6B80B}" destId="{6FB363A2-1BFA-4271-A6A3-0D4DEE9106C3}" srcOrd="1" destOrd="0" presId="urn:microsoft.com/office/officeart/2005/8/layout/lProcess2"/>
    <dgm:cxn modelId="{7AAF2CC1-28B6-4721-A91B-C46714D355CB}" type="presParOf" srcId="{1AA5CE38-10A1-4EC9-82FC-3DDF81D6B80B}" destId="{37E22CE4-DBE4-4DA4-ABC0-A28654419370}" srcOrd="2" destOrd="0" presId="urn:microsoft.com/office/officeart/2005/8/layout/l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DBE52627-3A8E-4844-B6E3-93933614FB2C}" type="doc">
      <dgm:prSet loTypeId="urn:microsoft.com/office/officeart/2005/8/layout/hChevron3" loCatId="process" qsTypeId="urn:microsoft.com/office/officeart/2005/8/quickstyle/3d3#7" qsCatId="3D" csTypeId="urn:microsoft.com/office/officeart/2005/8/colors/colorful1#7" csCatId="colorful" phldr="1"/>
      <dgm:spPr/>
    </dgm:pt>
    <mc:AlternateContent xmlns:mc="http://schemas.openxmlformats.org/markup-compatibility/2006" xmlns:a14="http://schemas.microsoft.com/office/drawing/2010/main">
      <mc:Choice Requires="a14">
        <dgm:pt modelId="{86F106B2-8D8C-4BD6-BDD2-68E421D86192}">
          <dgm:prSet phldrT="[Text]"/>
          <dgm:spPr/>
          <dgm:t>
            <a:bodyPr/>
            <a:lstStyle/>
            <a:p>
              <a:r>
                <a:rPr lang="en-GB" dirty="0"/>
                <a:t>Weight Average of </a:t>
              </a:r>
              <a14:m>
                <m:oMath xmlns:m="http://schemas.openxmlformats.org/officeDocument/2006/math">
                  <m:sSub>
                    <m:sSubPr>
                      <m:ctrlPr>
                        <a:rPr lang="el-GR" b="0" i="1" smtClean="0">
                          <a:latin typeface="Cambria Math" panose="02040503050406030204" pitchFamily="18" charset="0"/>
                        </a:rPr>
                      </m:ctrlPr>
                    </m:sSubPr>
                    <m:e>
                      <m:r>
                        <a:rPr lang="el-GR" b="0" i="1" smtClean="0">
                          <a:latin typeface="Cambria Math" panose="02040503050406030204" pitchFamily="18" charset="0"/>
                        </a:rPr>
                        <m:t>𝛽</m:t>
                      </m:r>
                    </m:e>
                    <m:sub>
                      <m:r>
                        <a:rPr lang="en-GB" b="0" i="1" smtClean="0">
                          <a:latin typeface="Cambria Math" panose="02040503050406030204" pitchFamily="18" charset="0"/>
                        </a:rPr>
                        <m:t>𝑢</m:t>
                      </m:r>
                      <m:r>
                        <a:rPr lang="en-GB" b="0" i="1" smtClean="0">
                          <a:latin typeface="Cambria Math" panose="02040503050406030204" pitchFamily="18" charset="0"/>
                        </a:rPr>
                        <m:t>,</m:t>
                      </m:r>
                      <m:r>
                        <a:rPr lang="en-GB" b="0" i="1" smtClean="0">
                          <a:latin typeface="Cambria Math" panose="02040503050406030204" pitchFamily="18" charset="0"/>
                        </a:rPr>
                        <m:t>𝑖</m:t>
                      </m:r>
                    </m:sub>
                  </m:sSub>
                </m:oMath>
              </a14:m>
              <a:r>
                <a:rPr lang="en-GB" dirty="0"/>
                <a:t> </a:t>
              </a:r>
            </a:p>
            <a:p>
              <a14:m>
                <m:oMath xmlns:m="http://schemas.openxmlformats.org/officeDocument/2006/math">
                  <m:r>
                    <a:rPr lang="en-GB" i="1" smtClean="0">
                      <a:latin typeface="Cambria Math" panose="02040503050406030204" pitchFamily="18" charset="0"/>
                      <a:ea typeface="Cambria Math" panose="02040503050406030204" pitchFamily="18" charset="0"/>
                    </a:rPr>
                    <m:t>→</m:t>
                  </m:r>
                </m:oMath>
              </a14:m>
              <a:r>
                <a:rPr lang="en-GB" dirty="0"/>
                <a:t> </a:t>
              </a:r>
              <a14:m>
                <m:oMath xmlns:m="http://schemas.openxmlformats.org/officeDocument/2006/math">
                  <m:sSub>
                    <m:sSubPr>
                      <m:ctrlPr>
                        <a:rPr lang="el-GR" b="0" i="1" smtClean="0">
                          <a:latin typeface="Cambria Math" panose="02040503050406030204" pitchFamily="18" charset="0"/>
                        </a:rPr>
                      </m:ctrlPr>
                    </m:sSubPr>
                    <m:e>
                      <m:r>
                        <a:rPr lang="el-GR" b="0" i="1" smtClean="0">
                          <a:latin typeface="Cambria Math" panose="02040503050406030204" pitchFamily="18" charset="0"/>
                        </a:rPr>
                        <m:t>𝛽</m:t>
                      </m:r>
                    </m:e>
                    <m:sub>
                      <m:r>
                        <a:rPr lang="en-GB" b="0" i="1" smtClean="0">
                          <a:latin typeface="Cambria Math" panose="02040503050406030204" pitchFamily="18" charset="0"/>
                        </a:rPr>
                        <m:t>𝑢</m:t>
                      </m:r>
                      <m:r>
                        <a:rPr lang="en-GB" b="0" i="1" smtClean="0">
                          <a:latin typeface="Cambria Math" panose="02040503050406030204" pitchFamily="18" charset="0"/>
                        </a:rPr>
                        <m:t>,</m:t>
                      </m:r>
                      <m:r>
                        <a:rPr lang="en-GB" b="0" i="1" smtClean="0">
                          <a:latin typeface="Cambria Math" panose="02040503050406030204" pitchFamily="18" charset="0"/>
                        </a:rPr>
                        <m:t>𝐹</m:t>
                      </m:r>
                    </m:sub>
                  </m:sSub>
                </m:oMath>
              </a14:m>
              <a:endParaRPr lang="en-GB" dirty="0"/>
            </a:p>
          </dgm:t>
        </dgm:pt>
      </mc:Choice>
      <mc:Fallback xmlns="">
        <dgm:pt modelId="{86F106B2-8D8C-4BD6-BDD2-68E421D86192}">
          <dgm:prSet phldrT="[Text]"/>
          <dgm:spPr/>
          <dgm:t>
            <a:bodyPr/>
            <a:lstStyle/>
            <a:p>
              <a:r>
                <a:rPr lang="en-GB" dirty="0" smtClean="0"/>
                <a:t>Weight Average of </a:t>
              </a:r>
              <a:r>
                <a:rPr lang="el-GR" b="0" i="0" smtClean="0">
                  <a:latin typeface="Cambria Math" panose="02040503050406030204" pitchFamily="18" charset="0"/>
                </a:rPr>
                <a:t>𝛽</a:t>
              </a:r>
              <a:r>
                <a:rPr lang="en-GB" b="0" i="0" smtClean="0">
                  <a:latin typeface="Cambria Math" panose="02040503050406030204" pitchFamily="18" charset="0"/>
                </a:rPr>
                <a:t>_(</a:t>
              </a:r>
              <a:r>
                <a:rPr lang="en-GB" b="0" i="0" smtClean="0">
                  <a:latin typeface="Cambria Math" panose="02040503050406030204" pitchFamily="18" charset="0"/>
                </a:rPr>
                <a:t>𝑢,</a:t>
              </a:r>
              <a:r>
                <a:rPr lang="en-GB" b="0" i="0" smtClean="0">
                  <a:latin typeface="Cambria Math" panose="02040503050406030204" pitchFamily="18" charset="0"/>
                </a:rPr>
                <a:t>𝑖)</a:t>
              </a:r>
              <a:r>
                <a:rPr lang="en-GB" dirty="0" smtClean="0"/>
                <a:t> </a:t>
              </a:r>
            </a:p>
            <a:p>
              <a:r>
                <a:rPr lang="en-GB" i="0" smtClean="0">
                  <a:latin typeface="Cambria Math" panose="02040503050406030204" pitchFamily="18" charset="0"/>
                  <a:ea typeface="Cambria Math" panose="02040503050406030204" pitchFamily="18" charset="0"/>
                </a:rPr>
                <a:t>→</a:t>
              </a:r>
              <a:r>
                <a:rPr lang="en-GB" dirty="0" smtClean="0"/>
                <a:t> </a:t>
              </a:r>
              <a:r>
                <a:rPr lang="el-GR" b="0" i="0" smtClean="0">
                  <a:latin typeface="Cambria Math" panose="02040503050406030204" pitchFamily="18" charset="0"/>
                </a:rPr>
                <a:t>𝛽</a:t>
              </a:r>
              <a:r>
                <a:rPr lang="en-GB" b="0" i="0" smtClean="0">
                  <a:latin typeface="Cambria Math" panose="02040503050406030204" pitchFamily="18" charset="0"/>
                </a:rPr>
                <a:t>_(</a:t>
              </a:r>
              <a:r>
                <a:rPr lang="en-GB" b="0" i="0" smtClean="0">
                  <a:latin typeface="Cambria Math" panose="02040503050406030204" pitchFamily="18" charset="0"/>
                </a:rPr>
                <a:t>𝑢,</a:t>
              </a:r>
              <a:r>
                <a:rPr lang="en-GB" b="0" i="0" smtClean="0">
                  <a:latin typeface="Cambria Math" panose="02040503050406030204" pitchFamily="18" charset="0"/>
                </a:rPr>
                <a:t>𝐹)</a:t>
              </a:r>
              <a:endParaRPr lang="en-GB" dirty="0"/>
            </a:p>
          </dgm:t>
        </dgm:pt>
      </mc:Fallback>
    </mc:AlternateContent>
    <dgm:pt modelId="{F886DEE5-9E72-43EA-ABFD-D890A94C6125}" type="parTrans" cxnId="{672200FC-BC35-40D9-804E-477A7645B013}">
      <dgm:prSet/>
      <dgm:spPr/>
      <dgm:t>
        <a:bodyPr/>
        <a:lstStyle/>
        <a:p>
          <a:endParaRPr lang="en-GB"/>
        </a:p>
      </dgm:t>
    </dgm:pt>
    <dgm:pt modelId="{66CB135E-DE23-4139-8833-C6E97E68FE5D}" type="sibTrans" cxnId="{672200FC-BC35-40D9-804E-477A7645B013}">
      <dgm:prSet/>
      <dgm:spPr/>
      <dgm:t>
        <a:bodyPr/>
        <a:lstStyle/>
        <a:p>
          <a:endParaRPr lang="en-GB"/>
        </a:p>
      </dgm:t>
    </dgm:pt>
    <mc:AlternateContent xmlns:mc="http://schemas.openxmlformats.org/markup-compatibility/2006" xmlns:a14="http://schemas.microsoft.com/office/drawing/2010/main">
      <mc:Choice Requires="a14">
        <dgm:pt modelId="{DC8A043A-D40E-4BB9-BBEB-D0CBBAEBDD47}">
          <dgm:prSet phldrT="[Text]"/>
          <dgm:spPr/>
          <dgm:t>
            <a:bodyPr/>
            <a:lstStyle/>
            <a:p>
              <a:r>
                <a:rPr lang="en-GB" dirty="0"/>
                <a:t>Lever </a:t>
              </a:r>
              <a14:m>
                <m:oMath xmlns:m="http://schemas.openxmlformats.org/officeDocument/2006/math">
                  <m:sSub>
                    <m:sSubPr>
                      <m:ctrlPr>
                        <a:rPr lang="el-GR" b="0" i="1" smtClean="0">
                          <a:latin typeface="Cambria Math" panose="02040503050406030204" pitchFamily="18" charset="0"/>
                        </a:rPr>
                      </m:ctrlPr>
                    </m:sSubPr>
                    <m:e>
                      <m:r>
                        <a:rPr lang="el-GR" b="0" i="1" smtClean="0">
                          <a:latin typeface="Cambria Math" panose="02040503050406030204" pitchFamily="18" charset="0"/>
                        </a:rPr>
                        <m:t>𝛽</m:t>
                      </m:r>
                    </m:e>
                    <m:sub>
                      <m:r>
                        <a:rPr lang="en-GB" b="0" i="1" smtClean="0">
                          <a:latin typeface="Cambria Math" panose="02040503050406030204" pitchFamily="18" charset="0"/>
                        </a:rPr>
                        <m:t>𝑢</m:t>
                      </m:r>
                      <m:r>
                        <a:rPr lang="en-GB" b="0" i="1" smtClean="0">
                          <a:latin typeface="Cambria Math" panose="02040503050406030204" pitchFamily="18" charset="0"/>
                        </a:rPr>
                        <m:t>,</m:t>
                      </m:r>
                      <m:r>
                        <a:rPr lang="en-GB" b="0" i="1" smtClean="0">
                          <a:latin typeface="Cambria Math" panose="02040503050406030204" pitchFamily="18" charset="0"/>
                        </a:rPr>
                        <m:t>𝐹</m:t>
                      </m:r>
                    </m:sub>
                  </m:sSub>
                </m:oMath>
              </a14:m>
              <a:r>
                <a:rPr lang="en-GB" dirty="0"/>
                <a:t> </a:t>
              </a:r>
            </a:p>
          </dgm:t>
        </dgm:pt>
      </mc:Choice>
      <mc:Fallback xmlns="">
        <dgm:pt modelId="{DC8A043A-D40E-4BB9-BBEB-D0CBBAEBDD47}">
          <dgm:prSet phldrT="[Text]"/>
          <dgm:spPr/>
          <dgm:t>
            <a:bodyPr/>
            <a:lstStyle/>
            <a:p>
              <a:r>
                <a:rPr lang="en-GB" dirty="0" smtClean="0"/>
                <a:t>Lever </a:t>
              </a:r>
              <a:r>
                <a:rPr lang="el-GR" b="0" i="0" smtClean="0">
                  <a:latin typeface="Cambria Math" panose="02040503050406030204" pitchFamily="18" charset="0"/>
                </a:rPr>
                <a:t>𝛽</a:t>
              </a:r>
              <a:r>
                <a:rPr lang="en-GB" b="0" i="0" smtClean="0">
                  <a:latin typeface="Cambria Math" panose="02040503050406030204" pitchFamily="18" charset="0"/>
                </a:rPr>
                <a:t>_(</a:t>
              </a:r>
              <a:r>
                <a:rPr lang="en-GB" b="0" i="0" smtClean="0">
                  <a:latin typeface="Cambria Math" panose="02040503050406030204" pitchFamily="18" charset="0"/>
                </a:rPr>
                <a:t>𝑢,</a:t>
              </a:r>
              <a:r>
                <a:rPr lang="en-GB" b="0" i="0" smtClean="0">
                  <a:latin typeface="Cambria Math" panose="02040503050406030204" pitchFamily="18" charset="0"/>
                </a:rPr>
                <a:t>𝐹)</a:t>
              </a:r>
              <a:r>
                <a:rPr lang="en-GB" dirty="0" smtClean="0"/>
                <a:t> </a:t>
              </a:r>
              <a:endParaRPr lang="en-GB" dirty="0"/>
            </a:p>
          </dgm:t>
        </dgm:pt>
      </mc:Fallback>
    </mc:AlternateContent>
    <dgm:pt modelId="{1AAD7D58-F127-47AC-9B42-E8743EE99407}" type="parTrans" cxnId="{2D2DCF51-4190-413D-BC59-6DA478034F0C}">
      <dgm:prSet/>
      <dgm:spPr/>
      <dgm:t>
        <a:bodyPr/>
        <a:lstStyle/>
        <a:p>
          <a:endParaRPr lang="en-GB"/>
        </a:p>
      </dgm:t>
    </dgm:pt>
    <dgm:pt modelId="{4BE8446E-6C16-4230-BC33-65D9ED730BF2}" type="sibTrans" cxnId="{2D2DCF51-4190-413D-BC59-6DA478034F0C}">
      <dgm:prSet/>
      <dgm:spPr/>
      <dgm:t>
        <a:bodyPr/>
        <a:lstStyle/>
        <a:p>
          <a:endParaRPr lang="en-GB"/>
        </a:p>
      </dgm:t>
    </dgm:pt>
    <mc:AlternateContent xmlns:mc="http://schemas.openxmlformats.org/markup-compatibility/2006" xmlns:a14="http://schemas.microsoft.com/office/drawing/2010/main">
      <mc:Choice Requires="a14">
        <dgm:pt modelId="{A417483F-6537-4DB0-86C2-7D05CD2B0FFD}">
          <dgm:prSet phldrT="[Text]"/>
          <dgm:spPr/>
          <dgm:t>
            <a:bodyPr/>
            <a:lstStyle/>
            <a:p>
              <a:pPr/>
              <a14:m>
                <m:oMathPara xmlns:m="http://schemas.openxmlformats.org/officeDocument/2006/math">
                  <m:oMath>
                    <m:sSub>
                      <m:sSubPr>
                        <m:ctrlPr>
                          <a:rPr lang="el-GR" b="0" i="1" smtClean="0">
                            <a:latin typeface="Cambria Math" panose="02040503050406030204" pitchFamily="18" charset="0"/>
                          </a:rPr>
                        </m:ctrlPr>
                      </m:sSubPr>
                      <m:e>
                        <m:r>
                          <a:rPr lang="el-GR" b="0" i="1" smtClean="0">
                            <a:latin typeface="Cambria Math" panose="02040503050406030204" pitchFamily="18" charset="0"/>
                          </a:rPr>
                          <m:t>𝛽</m:t>
                        </m:r>
                      </m:e>
                      <m:sub>
                        <m:r>
                          <a:rPr lang="en-GB" b="0" i="1" smtClean="0">
                            <a:latin typeface="Cambria Math" panose="02040503050406030204" pitchFamily="18" charset="0"/>
                          </a:rPr>
                          <m:t>𝑙</m:t>
                        </m:r>
                        <m:r>
                          <a:rPr lang="en-GB" b="0" i="1" smtClean="0">
                            <a:latin typeface="Cambria Math" panose="02040503050406030204" pitchFamily="18" charset="0"/>
                          </a:rPr>
                          <m:t>,</m:t>
                        </m:r>
                        <m:r>
                          <a:rPr lang="en-GB" b="0" i="1" smtClean="0">
                            <a:latin typeface="Cambria Math" panose="02040503050406030204" pitchFamily="18" charset="0"/>
                          </a:rPr>
                          <m:t>𝐹</m:t>
                        </m:r>
                      </m:sub>
                    </m:sSub>
                  </m:oMath>
                </m:oMathPara>
              </a14:m>
              <a:endParaRPr lang="en-GB" dirty="0"/>
            </a:p>
          </dgm:t>
        </dgm:pt>
      </mc:Choice>
      <mc:Fallback xmlns="">
        <dgm:pt modelId="{A417483F-6537-4DB0-86C2-7D05CD2B0FFD}">
          <dgm:prSet phldrT="[Text]"/>
          <dgm:spPr/>
          <dgm:t>
            <a:bodyPr/>
            <a:lstStyle/>
            <a:p>
              <a:r>
                <a:rPr lang="el-GR" b="0" i="0" smtClean="0">
                  <a:latin typeface="Cambria Math" panose="02040503050406030204" pitchFamily="18" charset="0"/>
                </a:rPr>
                <a:t>𝛽</a:t>
              </a:r>
              <a:r>
                <a:rPr lang="en-GB" b="0" i="0" smtClean="0">
                  <a:latin typeface="Cambria Math" panose="02040503050406030204" pitchFamily="18" charset="0"/>
                </a:rPr>
                <a:t>_(𝑙,𝐹)</a:t>
              </a:r>
              <a:endParaRPr lang="en-GB" dirty="0"/>
            </a:p>
          </dgm:t>
        </dgm:pt>
      </mc:Fallback>
    </mc:AlternateContent>
    <dgm:pt modelId="{7618D16D-D982-4714-8675-7C77ADB4F7B4}" type="parTrans" cxnId="{B2CA244D-8B48-4F44-A38B-C60DB5BB7CD7}">
      <dgm:prSet/>
      <dgm:spPr/>
      <dgm:t>
        <a:bodyPr/>
        <a:lstStyle/>
        <a:p>
          <a:endParaRPr lang="en-GB"/>
        </a:p>
      </dgm:t>
    </dgm:pt>
    <dgm:pt modelId="{D6FA839D-BFB8-46F5-B303-D96942DD4850}" type="sibTrans" cxnId="{B2CA244D-8B48-4F44-A38B-C60DB5BB7CD7}">
      <dgm:prSet/>
      <dgm:spPr/>
      <dgm:t>
        <a:bodyPr/>
        <a:lstStyle/>
        <a:p>
          <a:endParaRPr lang="en-GB"/>
        </a:p>
      </dgm:t>
    </dgm:pt>
    <dgm:pt modelId="{42D41329-73A6-4447-A24D-3BF4E5ED78F6}" type="pres">
      <dgm:prSet presAssocID="{DBE52627-3A8E-4844-B6E3-93933614FB2C}" presName="Name0" presStyleCnt="0">
        <dgm:presLayoutVars>
          <dgm:dir/>
          <dgm:resizeHandles val="exact"/>
        </dgm:presLayoutVars>
      </dgm:prSet>
      <dgm:spPr/>
    </dgm:pt>
    <dgm:pt modelId="{DC763CBC-E68B-417F-826D-0C6812D2DB7C}" type="pres">
      <dgm:prSet presAssocID="{86F106B2-8D8C-4BD6-BDD2-68E421D86192}" presName="parTxOnly" presStyleLbl="node1" presStyleIdx="0" presStyleCnt="3" custScaleX="150691">
        <dgm:presLayoutVars>
          <dgm:bulletEnabled val="1"/>
        </dgm:presLayoutVars>
      </dgm:prSet>
      <dgm:spPr/>
    </dgm:pt>
    <dgm:pt modelId="{13A57166-22D2-4345-A9D1-762B4DC80C84}" type="pres">
      <dgm:prSet presAssocID="{66CB135E-DE23-4139-8833-C6E97E68FE5D}" presName="parSpace" presStyleCnt="0"/>
      <dgm:spPr/>
    </dgm:pt>
    <dgm:pt modelId="{498EF002-40F7-44E4-9930-81C318D7E203}" type="pres">
      <dgm:prSet presAssocID="{DC8A043A-D40E-4BB9-BBEB-D0CBBAEBDD47}" presName="parTxOnly" presStyleLbl="node1" presStyleIdx="1" presStyleCnt="3" custScaleX="114700">
        <dgm:presLayoutVars>
          <dgm:bulletEnabled val="1"/>
        </dgm:presLayoutVars>
      </dgm:prSet>
      <dgm:spPr/>
    </dgm:pt>
    <dgm:pt modelId="{74444593-8F8C-4E35-8FC4-C4BE7BF2B2FB}" type="pres">
      <dgm:prSet presAssocID="{4BE8446E-6C16-4230-BC33-65D9ED730BF2}" presName="parSpace" presStyleCnt="0"/>
      <dgm:spPr/>
    </dgm:pt>
    <dgm:pt modelId="{F6631087-18D1-4F4A-B6EA-2D11D356A0D1}" type="pres">
      <dgm:prSet presAssocID="{A417483F-6537-4DB0-86C2-7D05CD2B0FFD}" presName="parTxOnly" presStyleLbl="node1" presStyleIdx="2" presStyleCnt="3">
        <dgm:presLayoutVars>
          <dgm:bulletEnabled val="1"/>
        </dgm:presLayoutVars>
      </dgm:prSet>
      <dgm:spPr/>
    </dgm:pt>
  </dgm:ptLst>
  <dgm:cxnLst>
    <dgm:cxn modelId="{C16F8A0C-A0EE-4CBD-8739-4398DE63170B}" type="presOf" srcId="{DC8A043A-D40E-4BB9-BBEB-D0CBBAEBDD47}" destId="{498EF002-40F7-44E4-9930-81C318D7E203}" srcOrd="0" destOrd="0" presId="urn:microsoft.com/office/officeart/2005/8/layout/hChevron3"/>
    <dgm:cxn modelId="{B2CA244D-8B48-4F44-A38B-C60DB5BB7CD7}" srcId="{DBE52627-3A8E-4844-B6E3-93933614FB2C}" destId="{A417483F-6537-4DB0-86C2-7D05CD2B0FFD}" srcOrd="2" destOrd="0" parTransId="{7618D16D-D982-4714-8675-7C77ADB4F7B4}" sibTransId="{D6FA839D-BFB8-46F5-B303-D96942DD4850}"/>
    <dgm:cxn modelId="{2D2DCF51-4190-413D-BC59-6DA478034F0C}" srcId="{DBE52627-3A8E-4844-B6E3-93933614FB2C}" destId="{DC8A043A-D40E-4BB9-BBEB-D0CBBAEBDD47}" srcOrd="1" destOrd="0" parTransId="{1AAD7D58-F127-47AC-9B42-E8743EE99407}" sibTransId="{4BE8446E-6C16-4230-BC33-65D9ED730BF2}"/>
    <dgm:cxn modelId="{D9D130BD-41A0-4BC9-B042-CD959370C078}" type="presOf" srcId="{86F106B2-8D8C-4BD6-BDD2-68E421D86192}" destId="{DC763CBC-E68B-417F-826D-0C6812D2DB7C}" srcOrd="0" destOrd="0" presId="urn:microsoft.com/office/officeart/2005/8/layout/hChevron3"/>
    <dgm:cxn modelId="{6A155FF9-856C-4829-8429-3A2854451ED1}" type="presOf" srcId="{A417483F-6537-4DB0-86C2-7D05CD2B0FFD}" destId="{F6631087-18D1-4F4A-B6EA-2D11D356A0D1}" srcOrd="0" destOrd="0" presId="urn:microsoft.com/office/officeart/2005/8/layout/hChevron3"/>
    <dgm:cxn modelId="{672200FC-BC35-40D9-804E-477A7645B013}" srcId="{DBE52627-3A8E-4844-B6E3-93933614FB2C}" destId="{86F106B2-8D8C-4BD6-BDD2-68E421D86192}" srcOrd="0" destOrd="0" parTransId="{F886DEE5-9E72-43EA-ABFD-D890A94C6125}" sibTransId="{66CB135E-DE23-4139-8833-C6E97E68FE5D}"/>
    <dgm:cxn modelId="{33A8A4FF-A459-4935-B4C3-12DE8F296252}" type="presOf" srcId="{DBE52627-3A8E-4844-B6E3-93933614FB2C}" destId="{42D41329-73A6-4447-A24D-3BF4E5ED78F6}" srcOrd="0" destOrd="0" presId="urn:microsoft.com/office/officeart/2005/8/layout/hChevron3"/>
    <dgm:cxn modelId="{74C6A014-0791-4BFC-934D-9DAC49B40E38}" type="presParOf" srcId="{42D41329-73A6-4447-A24D-3BF4E5ED78F6}" destId="{DC763CBC-E68B-417F-826D-0C6812D2DB7C}" srcOrd="0" destOrd="0" presId="urn:microsoft.com/office/officeart/2005/8/layout/hChevron3"/>
    <dgm:cxn modelId="{E3E6FEB5-FE8E-441B-9C56-7DF06755B18F}" type="presParOf" srcId="{42D41329-73A6-4447-A24D-3BF4E5ED78F6}" destId="{13A57166-22D2-4345-A9D1-762B4DC80C84}" srcOrd="1" destOrd="0" presId="urn:microsoft.com/office/officeart/2005/8/layout/hChevron3"/>
    <dgm:cxn modelId="{CACF2FC5-48C0-4D67-BAF3-28C89545D7C0}" type="presParOf" srcId="{42D41329-73A6-4447-A24D-3BF4E5ED78F6}" destId="{498EF002-40F7-44E4-9930-81C318D7E203}" srcOrd="2" destOrd="0" presId="urn:microsoft.com/office/officeart/2005/8/layout/hChevron3"/>
    <dgm:cxn modelId="{5A76B1AF-E5B7-4557-AB3C-D1AC890A3CB3}" type="presParOf" srcId="{42D41329-73A6-4447-A24D-3BF4E5ED78F6}" destId="{74444593-8F8C-4E35-8FC4-C4BE7BF2B2FB}" srcOrd="3" destOrd="0" presId="urn:microsoft.com/office/officeart/2005/8/layout/hChevron3"/>
    <dgm:cxn modelId="{9624E754-CE21-47FC-A54C-A543B03A21E0}" type="presParOf" srcId="{42D41329-73A6-4447-A24D-3BF4E5ED78F6}" destId="{F6631087-18D1-4F4A-B6EA-2D11D356A0D1}" srcOrd="4" destOrd="0" presId="urn:microsoft.com/office/officeart/2005/8/layout/hChevron3"/>
  </dgm:cxnLst>
  <dgm:bg/>
  <dgm:whole/>
  <dgm:extLst>
    <a:ext uri="http://schemas.microsoft.com/office/drawing/2008/diagram">
      <dsp:dataModelExt xmlns:dsp="http://schemas.microsoft.com/office/drawing/2008/diagram" relId="rId20"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EB07EA12-7058-49D8-B8A6-88FD000BA8F5}" type="doc">
      <dgm:prSet loTypeId="urn:microsoft.com/office/officeart/2005/8/layout/orgChart1" loCatId="hierarchy" qsTypeId="urn:microsoft.com/office/officeart/2005/8/quickstyle/simple1#10" qsCatId="simple" csTypeId="urn:microsoft.com/office/officeart/2005/8/colors/colorful1#8" csCatId="colorful" phldr="1"/>
      <dgm:spPr/>
      <dgm:t>
        <a:bodyPr/>
        <a:lstStyle/>
        <a:p>
          <a:endParaRPr lang="en-GB"/>
        </a:p>
      </dgm:t>
    </dgm:pt>
    <dgm:pt modelId="{0B0E22EA-2124-4BD4-9667-4E1D82C30142}">
      <dgm:prSet phldrT="[Text]"/>
      <dgm:spPr/>
      <dgm:t>
        <a:bodyPr/>
        <a:lstStyle/>
        <a:p>
          <a:r>
            <a:rPr lang="en-GB" dirty="0"/>
            <a:t>Cost of Equity</a:t>
          </a:r>
        </a:p>
      </dgm:t>
    </dgm:pt>
    <dgm:pt modelId="{BFEF9947-F67F-4BAE-84CC-B8964B12BE59}" type="parTrans" cxnId="{4B40544E-DED1-461C-A9C6-25A1DC5BF803}">
      <dgm:prSet/>
      <dgm:spPr/>
      <dgm:t>
        <a:bodyPr/>
        <a:lstStyle/>
        <a:p>
          <a:endParaRPr lang="en-GB"/>
        </a:p>
      </dgm:t>
    </dgm:pt>
    <dgm:pt modelId="{CD00AA75-4DBC-4512-8991-F9A0FB8B3B5A}" type="sibTrans" cxnId="{4B40544E-DED1-461C-A9C6-25A1DC5BF803}">
      <dgm:prSet/>
      <dgm:spPr/>
      <dgm:t>
        <a:bodyPr/>
        <a:lstStyle/>
        <a:p>
          <a:endParaRPr lang="en-GB"/>
        </a:p>
      </dgm:t>
    </dgm:pt>
    <dgm:pt modelId="{B42B120E-7C2E-488C-ACDF-C71DB82F5184}">
      <dgm:prSet phldrT="[Text]"/>
      <dgm:spPr/>
      <dgm:t>
        <a:bodyPr/>
        <a:lstStyle/>
        <a:p>
          <a:r>
            <a:rPr lang="en-GB" dirty="0"/>
            <a:t>CAPM</a:t>
          </a:r>
        </a:p>
      </dgm:t>
    </dgm:pt>
    <dgm:pt modelId="{95E4DDF4-4B2E-48D3-B14B-D29BEA929F63}" type="parTrans" cxnId="{954390F6-90BE-47F4-A4DC-33033FB0544A}">
      <dgm:prSet/>
      <dgm:spPr/>
      <dgm:t>
        <a:bodyPr/>
        <a:lstStyle/>
        <a:p>
          <a:endParaRPr lang="en-GB"/>
        </a:p>
      </dgm:t>
    </dgm:pt>
    <dgm:pt modelId="{0DAFFA64-A085-4AED-871E-F6CDA5D2B882}" type="sibTrans" cxnId="{954390F6-90BE-47F4-A4DC-33033FB0544A}">
      <dgm:prSet/>
      <dgm:spPr/>
      <dgm:t>
        <a:bodyPr/>
        <a:lstStyle/>
        <a:p>
          <a:endParaRPr lang="en-GB"/>
        </a:p>
      </dgm:t>
    </dgm:pt>
    <dgm:pt modelId="{0EA0F1AE-C19F-4CA0-A78C-BA7ACD9B9823}">
      <dgm:prSet phldrT="[Text]"/>
      <dgm:spPr/>
      <dgm:t>
        <a:bodyPr/>
        <a:lstStyle/>
        <a:p>
          <a:r>
            <a:rPr lang="en-GB" dirty="0"/>
            <a:t>Risk Free Rate</a:t>
          </a:r>
        </a:p>
      </dgm:t>
    </dgm:pt>
    <dgm:pt modelId="{D764DAD3-576B-41E5-BB24-027D3BDC6433}" type="parTrans" cxnId="{FA06930E-FF9A-49E7-992F-04CB64F33A81}">
      <dgm:prSet/>
      <dgm:spPr/>
      <dgm:t>
        <a:bodyPr/>
        <a:lstStyle/>
        <a:p>
          <a:endParaRPr lang="en-GB"/>
        </a:p>
      </dgm:t>
    </dgm:pt>
    <dgm:pt modelId="{14F75DC1-C536-45B1-9D67-C2A17E57ADEE}" type="sibTrans" cxnId="{FA06930E-FF9A-49E7-992F-04CB64F33A81}">
      <dgm:prSet/>
      <dgm:spPr/>
      <dgm:t>
        <a:bodyPr/>
        <a:lstStyle/>
        <a:p>
          <a:endParaRPr lang="en-GB"/>
        </a:p>
      </dgm:t>
    </dgm:pt>
    <dgm:pt modelId="{64B14851-FC6C-4B22-A2B9-0643EA84FB44}">
      <dgm:prSet phldrT="[Text]"/>
      <dgm:spPr/>
      <dgm:t>
        <a:bodyPr/>
        <a:lstStyle/>
        <a:p>
          <a:r>
            <a:rPr lang="en-GB" dirty="0"/>
            <a:t>Market Risk Premium</a:t>
          </a:r>
        </a:p>
      </dgm:t>
    </dgm:pt>
    <dgm:pt modelId="{4B02FF8F-C38F-47C4-8B6D-504F4DBB1F6B}" type="parTrans" cxnId="{9627C91E-6311-4E59-84F1-D4A4B075F6F0}">
      <dgm:prSet/>
      <dgm:spPr/>
      <dgm:t>
        <a:bodyPr/>
        <a:lstStyle/>
        <a:p>
          <a:endParaRPr lang="en-GB"/>
        </a:p>
      </dgm:t>
    </dgm:pt>
    <dgm:pt modelId="{7E29AC59-3125-4C67-9C65-9D08CE9BC9A7}" type="sibTrans" cxnId="{9627C91E-6311-4E59-84F1-D4A4B075F6F0}">
      <dgm:prSet/>
      <dgm:spPr/>
      <dgm:t>
        <a:bodyPr/>
        <a:lstStyle/>
        <a:p>
          <a:endParaRPr lang="en-GB"/>
        </a:p>
      </dgm:t>
    </dgm:pt>
    <dgm:pt modelId="{6338CC40-D7A1-4698-8484-8AB9F9F298B3}">
      <dgm:prSet phldrT="[Text]"/>
      <dgm:spPr/>
      <dgm:t>
        <a:bodyPr/>
        <a:lstStyle/>
        <a:p>
          <a:r>
            <a:rPr lang="en-GB" dirty="0"/>
            <a:t>Implied Cost of Equity</a:t>
          </a:r>
        </a:p>
      </dgm:t>
    </dgm:pt>
    <dgm:pt modelId="{358A8289-7C26-4959-A405-7BA1312EA76C}" type="parTrans" cxnId="{7C4C2FF7-3BD6-4F71-AA7D-ABE291E00842}">
      <dgm:prSet/>
      <dgm:spPr/>
      <dgm:t>
        <a:bodyPr/>
        <a:lstStyle/>
        <a:p>
          <a:endParaRPr lang="en-GB"/>
        </a:p>
      </dgm:t>
    </dgm:pt>
    <dgm:pt modelId="{CFAE88B6-BF29-464F-A69A-ACC6B123D24C}" type="sibTrans" cxnId="{7C4C2FF7-3BD6-4F71-AA7D-ABE291E00842}">
      <dgm:prSet/>
      <dgm:spPr/>
      <dgm:t>
        <a:bodyPr/>
        <a:lstStyle/>
        <a:p>
          <a:endParaRPr lang="en-GB"/>
        </a:p>
      </dgm:t>
    </dgm:pt>
    <dgm:pt modelId="{009AA060-64A9-4163-A065-5F1989676B6E}">
      <dgm:prSet phldrT="[Text]"/>
      <dgm:spPr/>
      <dgm:t>
        <a:bodyPr/>
        <a:lstStyle/>
        <a:p>
          <a:r>
            <a:rPr lang="en-GB" dirty="0"/>
            <a:t>Growth Models</a:t>
          </a:r>
        </a:p>
      </dgm:t>
    </dgm:pt>
    <dgm:pt modelId="{9638F6C8-2226-4C43-B4E7-DEC0922070D7}" type="parTrans" cxnId="{60507539-18AA-4CCB-8A67-A5BBE8B67A9E}">
      <dgm:prSet/>
      <dgm:spPr/>
      <dgm:t>
        <a:bodyPr/>
        <a:lstStyle/>
        <a:p>
          <a:endParaRPr lang="en-GB"/>
        </a:p>
      </dgm:t>
    </dgm:pt>
    <dgm:pt modelId="{371CBBBE-0471-441A-89C9-C68D98265FA0}" type="sibTrans" cxnId="{60507539-18AA-4CCB-8A67-A5BBE8B67A9E}">
      <dgm:prSet/>
      <dgm:spPr/>
      <dgm:t>
        <a:bodyPr/>
        <a:lstStyle/>
        <a:p>
          <a:endParaRPr lang="en-GB"/>
        </a:p>
      </dgm:t>
    </dgm:pt>
    <dgm:pt modelId="{4650CD16-2C6E-4F6F-B275-223FE8EAF06C}">
      <dgm:prSet/>
      <dgm:spPr/>
      <dgm:t>
        <a:bodyPr/>
        <a:lstStyle/>
        <a:p>
          <a:r>
            <a:rPr lang="en-GB" dirty="0"/>
            <a:t>Beta</a:t>
          </a:r>
        </a:p>
      </dgm:t>
    </dgm:pt>
    <dgm:pt modelId="{98CC042D-23B5-478A-A980-46E1EE9F3397}" type="parTrans" cxnId="{F14E8879-B198-42BF-9A03-38EE548E21FC}">
      <dgm:prSet/>
      <dgm:spPr/>
      <dgm:t>
        <a:bodyPr/>
        <a:lstStyle/>
        <a:p>
          <a:endParaRPr lang="en-GB"/>
        </a:p>
      </dgm:t>
    </dgm:pt>
    <dgm:pt modelId="{5B8AC0D6-7DA2-4992-A1BB-50C8BB78F345}" type="sibTrans" cxnId="{F14E8879-B198-42BF-9A03-38EE548E21FC}">
      <dgm:prSet/>
      <dgm:spPr/>
      <dgm:t>
        <a:bodyPr/>
        <a:lstStyle/>
        <a:p>
          <a:endParaRPr lang="en-GB"/>
        </a:p>
      </dgm:t>
    </dgm:pt>
    <dgm:pt modelId="{AA2FDB67-070B-42E0-9B95-E404EAACEB24}">
      <dgm:prSet/>
      <dgm:spPr/>
      <dgm:t>
        <a:bodyPr/>
        <a:lstStyle/>
        <a:p>
          <a:r>
            <a:rPr lang="en-GB" dirty="0"/>
            <a:t>No Growth</a:t>
          </a:r>
        </a:p>
      </dgm:t>
    </dgm:pt>
    <dgm:pt modelId="{45E79977-0382-402C-BDFB-D1F5DD372563}" type="parTrans" cxnId="{606CCE29-5172-477A-B0EF-32FCB0BA1335}">
      <dgm:prSet/>
      <dgm:spPr/>
      <dgm:t>
        <a:bodyPr/>
        <a:lstStyle/>
        <a:p>
          <a:endParaRPr lang="en-GB"/>
        </a:p>
      </dgm:t>
    </dgm:pt>
    <dgm:pt modelId="{63276572-F6BD-4D91-B45F-29B38AE9479F}" type="sibTrans" cxnId="{606CCE29-5172-477A-B0EF-32FCB0BA1335}">
      <dgm:prSet/>
      <dgm:spPr/>
      <dgm:t>
        <a:bodyPr/>
        <a:lstStyle/>
        <a:p>
          <a:endParaRPr lang="en-GB"/>
        </a:p>
      </dgm:t>
    </dgm:pt>
    <dgm:pt modelId="{2F239E55-685A-4620-8F3A-06EF643F52EE}">
      <dgm:prSet/>
      <dgm:spPr/>
      <dgm:t>
        <a:bodyPr/>
        <a:lstStyle/>
        <a:p>
          <a:r>
            <a:rPr lang="en-GB" dirty="0"/>
            <a:t>Stable Growth</a:t>
          </a:r>
        </a:p>
      </dgm:t>
    </dgm:pt>
    <dgm:pt modelId="{9BCF758E-365C-496F-AE9C-C48C79B744DF}" type="parTrans" cxnId="{6EBF634F-32A9-41F7-B846-06578BE8EE1F}">
      <dgm:prSet/>
      <dgm:spPr/>
      <dgm:t>
        <a:bodyPr/>
        <a:lstStyle/>
        <a:p>
          <a:endParaRPr lang="en-GB"/>
        </a:p>
      </dgm:t>
    </dgm:pt>
    <dgm:pt modelId="{7139671D-C6B7-4BF2-BA2B-88D2BE2362E2}" type="sibTrans" cxnId="{6EBF634F-32A9-41F7-B846-06578BE8EE1F}">
      <dgm:prSet/>
      <dgm:spPr/>
      <dgm:t>
        <a:bodyPr/>
        <a:lstStyle/>
        <a:p>
          <a:endParaRPr lang="en-GB"/>
        </a:p>
      </dgm:t>
    </dgm:pt>
    <dgm:pt modelId="{CDCDD47D-BB42-461F-9092-44E9511AA562}">
      <dgm:prSet/>
      <dgm:spPr/>
      <dgm:t>
        <a:bodyPr/>
        <a:lstStyle/>
        <a:p>
          <a:r>
            <a:rPr lang="en-GB" dirty="0"/>
            <a:t>Stable % of Net Income</a:t>
          </a:r>
        </a:p>
      </dgm:t>
    </dgm:pt>
    <dgm:pt modelId="{0B7F3EDB-97B8-4D11-BF38-C013D6D919F5}" type="parTrans" cxnId="{B69F2690-D4DF-4C7B-BED1-0AA5598C074E}">
      <dgm:prSet/>
      <dgm:spPr/>
      <dgm:t>
        <a:bodyPr/>
        <a:lstStyle/>
        <a:p>
          <a:endParaRPr lang="en-GB"/>
        </a:p>
      </dgm:t>
    </dgm:pt>
    <dgm:pt modelId="{FF5825D4-892E-4717-AEA5-F26CB3CF37CD}" type="sibTrans" cxnId="{B69F2690-D4DF-4C7B-BED1-0AA5598C074E}">
      <dgm:prSet/>
      <dgm:spPr/>
      <dgm:t>
        <a:bodyPr/>
        <a:lstStyle/>
        <a:p>
          <a:endParaRPr lang="en-GB"/>
        </a:p>
      </dgm:t>
    </dgm:pt>
    <dgm:pt modelId="{448B7AB4-F355-41FC-BFF6-94D03A5EB3B0}">
      <dgm:prSet/>
      <dgm:spPr/>
      <dgm:t>
        <a:bodyPr/>
        <a:lstStyle/>
        <a:p>
          <a:r>
            <a:rPr lang="en-GB" dirty="0"/>
            <a:t>Historical</a:t>
          </a:r>
        </a:p>
      </dgm:t>
    </dgm:pt>
    <dgm:pt modelId="{AEEBFA19-9F58-4BB6-AED5-403A928093FB}" type="parTrans" cxnId="{23E75B23-EA84-4599-809C-3986763D20AB}">
      <dgm:prSet/>
      <dgm:spPr/>
      <dgm:t>
        <a:bodyPr/>
        <a:lstStyle/>
        <a:p>
          <a:endParaRPr lang="en-GB"/>
        </a:p>
      </dgm:t>
    </dgm:pt>
    <dgm:pt modelId="{6BCF07A7-DE2E-4F19-A9D9-60B3D764E4B0}" type="sibTrans" cxnId="{23E75B23-EA84-4599-809C-3986763D20AB}">
      <dgm:prSet/>
      <dgm:spPr/>
      <dgm:t>
        <a:bodyPr/>
        <a:lstStyle/>
        <a:p>
          <a:endParaRPr lang="en-GB"/>
        </a:p>
      </dgm:t>
    </dgm:pt>
    <dgm:pt modelId="{05047214-1F57-488E-9BFA-F2DE72529A37}">
      <dgm:prSet/>
      <dgm:spPr/>
      <dgm:t>
        <a:bodyPr/>
        <a:lstStyle/>
        <a:p>
          <a:r>
            <a:rPr lang="en-GB" dirty="0"/>
            <a:t>Implied</a:t>
          </a:r>
        </a:p>
      </dgm:t>
    </dgm:pt>
    <dgm:pt modelId="{EF374FA5-6775-4B98-B6B2-6308F3A6E4AA}" type="parTrans" cxnId="{05747CB3-2BBA-43F8-B0D4-A93234DD0551}">
      <dgm:prSet/>
      <dgm:spPr/>
      <dgm:t>
        <a:bodyPr/>
        <a:lstStyle/>
        <a:p>
          <a:endParaRPr lang="en-GB"/>
        </a:p>
      </dgm:t>
    </dgm:pt>
    <dgm:pt modelId="{062359F6-7711-4687-9049-B1D0AAFF373B}" type="sibTrans" cxnId="{05747CB3-2BBA-43F8-B0D4-A93234DD0551}">
      <dgm:prSet/>
      <dgm:spPr/>
      <dgm:t>
        <a:bodyPr/>
        <a:lstStyle/>
        <a:p>
          <a:endParaRPr lang="en-GB"/>
        </a:p>
      </dgm:t>
    </dgm:pt>
    <dgm:pt modelId="{E0991DB6-79E2-42B7-A7A8-C9F6566DA7BE}">
      <dgm:prSet/>
      <dgm:spPr/>
      <dgm:t>
        <a:bodyPr/>
        <a:lstStyle/>
        <a:p>
          <a:r>
            <a:rPr lang="en-GB" dirty="0"/>
            <a:t>Historical</a:t>
          </a:r>
        </a:p>
      </dgm:t>
    </dgm:pt>
    <dgm:pt modelId="{3F21D64D-A892-46A3-B670-BB01B4508250}" type="parTrans" cxnId="{1700C70D-3BD0-4C2A-A261-F2928D0E0BE2}">
      <dgm:prSet/>
      <dgm:spPr/>
      <dgm:t>
        <a:bodyPr/>
        <a:lstStyle/>
        <a:p>
          <a:endParaRPr lang="en-GB"/>
        </a:p>
      </dgm:t>
    </dgm:pt>
    <dgm:pt modelId="{274DE0DB-C727-4446-806C-795F3250662F}" type="sibTrans" cxnId="{1700C70D-3BD0-4C2A-A261-F2928D0E0BE2}">
      <dgm:prSet/>
      <dgm:spPr/>
      <dgm:t>
        <a:bodyPr/>
        <a:lstStyle/>
        <a:p>
          <a:endParaRPr lang="en-GB"/>
        </a:p>
      </dgm:t>
    </dgm:pt>
    <dgm:pt modelId="{7D4D5D21-B593-4C9E-95CD-4F2F243B1D0E}">
      <dgm:prSet/>
      <dgm:spPr/>
      <dgm:t>
        <a:bodyPr/>
        <a:lstStyle/>
        <a:p>
          <a:r>
            <a:rPr lang="en-GB" dirty="0"/>
            <a:t>Bottom Up</a:t>
          </a:r>
        </a:p>
      </dgm:t>
    </dgm:pt>
    <dgm:pt modelId="{5A7EA40A-D431-4E9C-86AF-89610147304F}" type="parTrans" cxnId="{04A6F30D-DFDF-419C-A0D1-2A328A08356D}">
      <dgm:prSet/>
      <dgm:spPr/>
      <dgm:t>
        <a:bodyPr/>
        <a:lstStyle/>
        <a:p>
          <a:endParaRPr lang="en-GB"/>
        </a:p>
      </dgm:t>
    </dgm:pt>
    <dgm:pt modelId="{A16D557C-1991-4834-B803-8EA57384934D}" type="sibTrans" cxnId="{04A6F30D-DFDF-419C-A0D1-2A328A08356D}">
      <dgm:prSet/>
      <dgm:spPr/>
      <dgm:t>
        <a:bodyPr/>
        <a:lstStyle/>
        <a:p>
          <a:endParaRPr lang="en-GB"/>
        </a:p>
      </dgm:t>
    </dgm:pt>
    <dgm:pt modelId="{4522CBFF-C8D4-43F7-9C2D-D9EFF8DC0283}">
      <dgm:prSet/>
      <dgm:spPr/>
      <dgm:t>
        <a:bodyPr/>
        <a:lstStyle/>
        <a:p>
          <a:r>
            <a:rPr lang="en-GB" dirty="0"/>
            <a:t>Default Spread</a:t>
          </a:r>
        </a:p>
      </dgm:t>
    </dgm:pt>
    <dgm:pt modelId="{1061C569-1798-46F6-891D-BC7D321655E5}" type="parTrans" cxnId="{A9F0FEFC-ADCA-414D-901D-0C418FA2F182}">
      <dgm:prSet/>
      <dgm:spPr/>
      <dgm:t>
        <a:bodyPr/>
        <a:lstStyle/>
        <a:p>
          <a:endParaRPr lang="en-GB"/>
        </a:p>
      </dgm:t>
    </dgm:pt>
    <dgm:pt modelId="{335D1DB7-C891-494B-98BD-4EDBC451E586}" type="sibTrans" cxnId="{A9F0FEFC-ADCA-414D-901D-0C418FA2F182}">
      <dgm:prSet/>
      <dgm:spPr/>
      <dgm:t>
        <a:bodyPr/>
        <a:lstStyle/>
        <a:p>
          <a:endParaRPr lang="en-GB"/>
        </a:p>
      </dgm:t>
    </dgm:pt>
    <dgm:pt modelId="{65A44392-DBD5-4A2B-B573-EA36F23E6B20}">
      <dgm:prSet/>
      <dgm:spPr/>
      <dgm:t>
        <a:bodyPr/>
        <a:lstStyle/>
        <a:p>
          <a:r>
            <a:rPr lang="en-GB" dirty="0"/>
            <a:t>Average Implied</a:t>
          </a:r>
        </a:p>
      </dgm:t>
    </dgm:pt>
    <dgm:pt modelId="{A8AD5CBD-C7ED-4A61-A790-42A15ACCB0D2}" type="parTrans" cxnId="{2417F0DD-086A-40F7-8F82-50A706B4BFF7}">
      <dgm:prSet/>
      <dgm:spPr/>
      <dgm:t>
        <a:bodyPr/>
        <a:lstStyle/>
        <a:p>
          <a:endParaRPr lang="en-US"/>
        </a:p>
      </dgm:t>
    </dgm:pt>
    <dgm:pt modelId="{E4877646-CFBB-47DB-B07C-2B504851AA19}" type="sibTrans" cxnId="{2417F0DD-086A-40F7-8F82-50A706B4BFF7}">
      <dgm:prSet/>
      <dgm:spPr/>
      <dgm:t>
        <a:bodyPr/>
        <a:lstStyle/>
        <a:p>
          <a:endParaRPr lang="en-US"/>
        </a:p>
      </dgm:t>
    </dgm:pt>
    <dgm:pt modelId="{0976FA10-B13F-4CAE-AE35-B765A0A03B74}" type="pres">
      <dgm:prSet presAssocID="{EB07EA12-7058-49D8-B8A6-88FD000BA8F5}" presName="hierChild1" presStyleCnt="0">
        <dgm:presLayoutVars>
          <dgm:orgChart val="1"/>
          <dgm:chPref val="1"/>
          <dgm:dir/>
          <dgm:animOne val="branch"/>
          <dgm:animLvl val="lvl"/>
          <dgm:resizeHandles/>
        </dgm:presLayoutVars>
      </dgm:prSet>
      <dgm:spPr/>
    </dgm:pt>
    <dgm:pt modelId="{17377D99-64B3-4085-9E10-57A7243067A6}" type="pres">
      <dgm:prSet presAssocID="{0B0E22EA-2124-4BD4-9667-4E1D82C30142}" presName="hierRoot1" presStyleCnt="0">
        <dgm:presLayoutVars>
          <dgm:hierBranch val="init"/>
        </dgm:presLayoutVars>
      </dgm:prSet>
      <dgm:spPr/>
    </dgm:pt>
    <dgm:pt modelId="{ACA46126-8577-40D3-9694-0EEFB8F564B6}" type="pres">
      <dgm:prSet presAssocID="{0B0E22EA-2124-4BD4-9667-4E1D82C30142}" presName="rootComposite1" presStyleCnt="0"/>
      <dgm:spPr/>
    </dgm:pt>
    <dgm:pt modelId="{293A6976-DD1C-412D-97DE-10C70A105CDC}" type="pres">
      <dgm:prSet presAssocID="{0B0E22EA-2124-4BD4-9667-4E1D82C30142}" presName="rootText1" presStyleLbl="node0" presStyleIdx="0" presStyleCnt="1" custScaleX="137905">
        <dgm:presLayoutVars>
          <dgm:chPref val="3"/>
        </dgm:presLayoutVars>
      </dgm:prSet>
      <dgm:spPr/>
    </dgm:pt>
    <dgm:pt modelId="{05A54764-74F5-4A0C-B8FD-094381E797A7}" type="pres">
      <dgm:prSet presAssocID="{0B0E22EA-2124-4BD4-9667-4E1D82C30142}" presName="rootConnector1" presStyleLbl="node1" presStyleIdx="0" presStyleCnt="0"/>
      <dgm:spPr/>
    </dgm:pt>
    <dgm:pt modelId="{35A8600E-6C12-4F13-9FB0-2EEB7CE6851C}" type="pres">
      <dgm:prSet presAssocID="{0B0E22EA-2124-4BD4-9667-4E1D82C30142}" presName="hierChild2" presStyleCnt="0"/>
      <dgm:spPr/>
    </dgm:pt>
    <dgm:pt modelId="{F2A1A8F4-A7E0-42E3-854C-7EB988DAB12D}" type="pres">
      <dgm:prSet presAssocID="{95E4DDF4-4B2E-48D3-B14B-D29BEA929F63}" presName="Name37" presStyleLbl="parChTrans1D2" presStyleIdx="0" presStyleCnt="2"/>
      <dgm:spPr/>
    </dgm:pt>
    <dgm:pt modelId="{E45E5338-B922-4030-AF94-8D29442A1C6D}" type="pres">
      <dgm:prSet presAssocID="{B42B120E-7C2E-488C-ACDF-C71DB82F5184}" presName="hierRoot2" presStyleCnt="0">
        <dgm:presLayoutVars>
          <dgm:hierBranch val="init"/>
        </dgm:presLayoutVars>
      </dgm:prSet>
      <dgm:spPr/>
    </dgm:pt>
    <dgm:pt modelId="{686A3487-35CD-40C9-AFF5-2696ED4E2B63}" type="pres">
      <dgm:prSet presAssocID="{B42B120E-7C2E-488C-ACDF-C71DB82F5184}" presName="rootComposite" presStyleCnt="0"/>
      <dgm:spPr/>
    </dgm:pt>
    <dgm:pt modelId="{3A56A07E-F410-4978-B29F-DC062F6BAA44}" type="pres">
      <dgm:prSet presAssocID="{B42B120E-7C2E-488C-ACDF-C71DB82F5184}" presName="rootText" presStyleLbl="node2" presStyleIdx="0" presStyleCnt="2" custScaleX="137905">
        <dgm:presLayoutVars>
          <dgm:chPref val="3"/>
        </dgm:presLayoutVars>
      </dgm:prSet>
      <dgm:spPr/>
    </dgm:pt>
    <dgm:pt modelId="{C7C1F287-270E-409F-B561-8120DE47CE32}" type="pres">
      <dgm:prSet presAssocID="{B42B120E-7C2E-488C-ACDF-C71DB82F5184}" presName="rootConnector" presStyleLbl="node2" presStyleIdx="0" presStyleCnt="2"/>
      <dgm:spPr/>
    </dgm:pt>
    <dgm:pt modelId="{57EEFBD4-9478-4160-BD6C-E8969F970607}" type="pres">
      <dgm:prSet presAssocID="{B42B120E-7C2E-488C-ACDF-C71DB82F5184}" presName="hierChild4" presStyleCnt="0"/>
      <dgm:spPr/>
    </dgm:pt>
    <dgm:pt modelId="{0C6862F4-974C-4CCC-855F-7F6AE8D250DC}" type="pres">
      <dgm:prSet presAssocID="{D764DAD3-576B-41E5-BB24-027D3BDC6433}" presName="Name37" presStyleLbl="parChTrans1D3" presStyleIdx="0" presStyleCnt="4"/>
      <dgm:spPr/>
    </dgm:pt>
    <dgm:pt modelId="{DB221263-DCA3-4493-A802-EF67D030ED5C}" type="pres">
      <dgm:prSet presAssocID="{0EA0F1AE-C19F-4CA0-A78C-BA7ACD9B9823}" presName="hierRoot2" presStyleCnt="0">
        <dgm:presLayoutVars>
          <dgm:hierBranch val="init"/>
        </dgm:presLayoutVars>
      </dgm:prSet>
      <dgm:spPr/>
    </dgm:pt>
    <dgm:pt modelId="{31F0CEEB-996F-42FC-B848-1C5274BAE623}" type="pres">
      <dgm:prSet presAssocID="{0EA0F1AE-C19F-4CA0-A78C-BA7ACD9B9823}" presName="rootComposite" presStyleCnt="0"/>
      <dgm:spPr/>
    </dgm:pt>
    <dgm:pt modelId="{D4B63A77-149B-439D-801D-6187E94AF777}" type="pres">
      <dgm:prSet presAssocID="{0EA0F1AE-C19F-4CA0-A78C-BA7ACD9B9823}" presName="rootText" presStyleLbl="node3" presStyleIdx="0" presStyleCnt="4" custScaleX="137905">
        <dgm:presLayoutVars>
          <dgm:chPref val="3"/>
        </dgm:presLayoutVars>
      </dgm:prSet>
      <dgm:spPr/>
    </dgm:pt>
    <dgm:pt modelId="{60CAD39A-7934-47B8-8D6F-9F7FF71CB4E2}" type="pres">
      <dgm:prSet presAssocID="{0EA0F1AE-C19F-4CA0-A78C-BA7ACD9B9823}" presName="rootConnector" presStyleLbl="node3" presStyleIdx="0" presStyleCnt="4"/>
      <dgm:spPr/>
    </dgm:pt>
    <dgm:pt modelId="{FCA0A609-A16E-426A-B8F5-04212D3679F2}" type="pres">
      <dgm:prSet presAssocID="{0EA0F1AE-C19F-4CA0-A78C-BA7ACD9B9823}" presName="hierChild4" presStyleCnt="0"/>
      <dgm:spPr/>
    </dgm:pt>
    <dgm:pt modelId="{759B9F34-A3A2-453A-947D-B393B61B1127}" type="pres">
      <dgm:prSet presAssocID="{1061C569-1798-46F6-891D-BC7D321655E5}" presName="Name37" presStyleLbl="parChTrans1D4" presStyleIdx="0" presStyleCnt="9"/>
      <dgm:spPr/>
    </dgm:pt>
    <dgm:pt modelId="{354FDC28-1846-41E9-9A8D-4EE16E54D6B6}" type="pres">
      <dgm:prSet presAssocID="{4522CBFF-C8D4-43F7-9C2D-D9EFF8DC0283}" presName="hierRoot2" presStyleCnt="0">
        <dgm:presLayoutVars>
          <dgm:hierBranch val="init"/>
        </dgm:presLayoutVars>
      </dgm:prSet>
      <dgm:spPr/>
    </dgm:pt>
    <dgm:pt modelId="{D8DF3D82-97C4-4C4C-A8DA-C5E1749C204B}" type="pres">
      <dgm:prSet presAssocID="{4522CBFF-C8D4-43F7-9C2D-D9EFF8DC0283}" presName="rootComposite" presStyleCnt="0"/>
      <dgm:spPr/>
    </dgm:pt>
    <dgm:pt modelId="{72493469-739E-4F7B-A5A5-054FD81390AF}" type="pres">
      <dgm:prSet presAssocID="{4522CBFF-C8D4-43F7-9C2D-D9EFF8DC0283}" presName="rootText" presStyleLbl="node4" presStyleIdx="0" presStyleCnt="9" custScaleX="132208">
        <dgm:presLayoutVars>
          <dgm:chPref val="3"/>
        </dgm:presLayoutVars>
      </dgm:prSet>
      <dgm:spPr/>
    </dgm:pt>
    <dgm:pt modelId="{6A14ED22-35BC-477B-82CC-5984AF8724EB}" type="pres">
      <dgm:prSet presAssocID="{4522CBFF-C8D4-43F7-9C2D-D9EFF8DC0283}" presName="rootConnector" presStyleLbl="node4" presStyleIdx="0" presStyleCnt="9"/>
      <dgm:spPr/>
    </dgm:pt>
    <dgm:pt modelId="{B16F5C43-D032-445E-93D4-529E9C4CA154}" type="pres">
      <dgm:prSet presAssocID="{4522CBFF-C8D4-43F7-9C2D-D9EFF8DC0283}" presName="hierChild4" presStyleCnt="0"/>
      <dgm:spPr/>
    </dgm:pt>
    <dgm:pt modelId="{C26FC16A-6FBB-467C-88DC-242FE36E6C3A}" type="pres">
      <dgm:prSet presAssocID="{4522CBFF-C8D4-43F7-9C2D-D9EFF8DC0283}" presName="hierChild5" presStyleCnt="0"/>
      <dgm:spPr/>
    </dgm:pt>
    <dgm:pt modelId="{C6FACF63-9D18-400D-BE25-2A6D627B4D3C}" type="pres">
      <dgm:prSet presAssocID="{0EA0F1AE-C19F-4CA0-A78C-BA7ACD9B9823}" presName="hierChild5" presStyleCnt="0"/>
      <dgm:spPr/>
    </dgm:pt>
    <dgm:pt modelId="{FAC95A7B-542F-4A4B-891F-E2104C0EEA1B}" type="pres">
      <dgm:prSet presAssocID="{4B02FF8F-C38F-47C4-8B6D-504F4DBB1F6B}" presName="Name37" presStyleLbl="parChTrans1D3" presStyleIdx="1" presStyleCnt="4"/>
      <dgm:spPr/>
    </dgm:pt>
    <dgm:pt modelId="{3E3E2919-019B-4D5B-826D-9C65FF264489}" type="pres">
      <dgm:prSet presAssocID="{64B14851-FC6C-4B22-A2B9-0643EA84FB44}" presName="hierRoot2" presStyleCnt="0">
        <dgm:presLayoutVars>
          <dgm:hierBranch val="init"/>
        </dgm:presLayoutVars>
      </dgm:prSet>
      <dgm:spPr/>
    </dgm:pt>
    <dgm:pt modelId="{BCA08D2A-F9D7-47A6-B81E-F9D5FAC9EC05}" type="pres">
      <dgm:prSet presAssocID="{64B14851-FC6C-4B22-A2B9-0643EA84FB44}" presName="rootComposite" presStyleCnt="0"/>
      <dgm:spPr/>
    </dgm:pt>
    <dgm:pt modelId="{167E4463-084F-40F9-B1D2-51E09FD77823}" type="pres">
      <dgm:prSet presAssocID="{64B14851-FC6C-4B22-A2B9-0643EA84FB44}" presName="rootText" presStyleLbl="node3" presStyleIdx="1" presStyleCnt="4" custScaleX="137905">
        <dgm:presLayoutVars>
          <dgm:chPref val="3"/>
        </dgm:presLayoutVars>
      </dgm:prSet>
      <dgm:spPr/>
    </dgm:pt>
    <dgm:pt modelId="{1B6C6E57-240B-47D2-A13C-7091E33582EB}" type="pres">
      <dgm:prSet presAssocID="{64B14851-FC6C-4B22-A2B9-0643EA84FB44}" presName="rootConnector" presStyleLbl="node3" presStyleIdx="1" presStyleCnt="4"/>
      <dgm:spPr/>
    </dgm:pt>
    <dgm:pt modelId="{43C8212A-6FA0-459D-93D4-3A2C0A3BC420}" type="pres">
      <dgm:prSet presAssocID="{64B14851-FC6C-4B22-A2B9-0643EA84FB44}" presName="hierChild4" presStyleCnt="0"/>
      <dgm:spPr/>
    </dgm:pt>
    <dgm:pt modelId="{37247EB6-BBCD-4D8B-A5BF-74C0A87503FF}" type="pres">
      <dgm:prSet presAssocID="{AEEBFA19-9F58-4BB6-AED5-403A928093FB}" presName="Name37" presStyleLbl="parChTrans1D4" presStyleIdx="1" presStyleCnt="9"/>
      <dgm:spPr/>
    </dgm:pt>
    <dgm:pt modelId="{A4A8021E-A940-4FDA-90E4-4BDE25AFE4B5}" type="pres">
      <dgm:prSet presAssocID="{448B7AB4-F355-41FC-BFF6-94D03A5EB3B0}" presName="hierRoot2" presStyleCnt="0">
        <dgm:presLayoutVars>
          <dgm:hierBranch val="init"/>
        </dgm:presLayoutVars>
      </dgm:prSet>
      <dgm:spPr/>
    </dgm:pt>
    <dgm:pt modelId="{00B239D4-0F2F-4082-93F6-994CAF237024}" type="pres">
      <dgm:prSet presAssocID="{448B7AB4-F355-41FC-BFF6-94D03A5EB3B0}" presName="rootComposite" presStyleCnt="0"/>
      <dgm:spPr/>
    </dgm:pt>
    <dgm:pt modelId="{B19DFB39-105E-4E4D-922A-22B91FE41FE2}" type="pres">
      <dgm:prSet presAssocID="{448B7AB4-F355-41FC-BFF6-94D03A5EB3B0}" presName="rootText" presStyleLbl="node4" presStyleIdx="1" presStyleCnt="9" custScaleX="137905">
        <dgm:presLayoutVars>
          <dgm:chPref val="3"/>
        </dgm:presLayoutVars>
      </dgm:prSet>
      <dgm:spPr/>
    </dgm:pt>
    <dgm:pt modelId="{BC2C4837-4112-4405-B082-1C31720B57FF}" type="pres">
      <dgm:prSet presAssocID="{448B7AB4-F355-41FC-BFF6-94D03A5EB3B0}" presName="rootConnector" presStyleLbl="node4" presStyleIdx="1" presStyleCnt="9"/>
      <dgm:spPr/>
    </dgm:pt>
    <dgm:pt modelId="{FFD5621F-CB9F-41E9-A40C-9C02386846FA}" type="pres">
      <dgm:prSet presAssocID="{448B7AB4-F355-41FC-BFF6-94D03A5EB3B0}" presName="hierChild4" presStyleCnt="0"/>
      <dgm:spPr/>
    </dgm:pt>
    <dgm:pt modelId="{BFBA7850-581B-4F33-884D-DFBF1AA2914F}" type="pres">
      <dgm:prSet presAssocID="{448B7AB4-F355-41FC-BFF6-94D03A5EB3B0}" presName="hierChild5" presStyleCnt="0"/>
      <dgm:spPr/>
    </dgm:pt>
    <dgm:pt modelId="{D015ED00-0711-4B33-9F11-E88C54A5315B}" type="pres">
      <dgm:prSet presAssocID="{EF374FA5-6775-4B98-B6B2-6308F3A6E4AA}" presName="Name37" presStyleLbl="parChTrans1D4" presStyleIdx="2" presStyleCnt="9"/>
      <dgm:spPr/>
    </dgm:pt>
    <dgm:pt modelId="{B9C47991-F507-4C7A-86D4-F05D8EA69E20}" type="pres">
      <dgm:prSet presAssocID="{05047214-1F57-488E-9BFA-F2DE72529A37}" presName="hierRoot2" presStyleCnt="0">
        <dgm:presLayoutVars>
          <dgm:hierBranch val="init"/>
        </dgm:presLayoutVars>
      </dgm:prSet>
      <dgm:spPr/>
    </dgm:pt>
    <dgm:pt modelId="{C5B07DF9-EFA3-4A7C-88ED-8E1C74362CFB}" type="pres">
      <dgm:prSet presAssocID="{05047214-1F57-488E-9BFA-F2DE72529A37}" presName="rootComposite" presStyleCnt="0"/>
      <dgm:spPr/>
    </dgm:pt>
    <dgm:pt modelId="{D10E51ED-E9D8-4227-8290-EF98B71EB05A}" type="pres">
      <dgm:prSet presAssocID="{05047214-1F57-488E-9BFA-F2DE72529A37}" presName="rootText" presStyleLbl="node4" presStyleIdx="2" presStyleCnt="9" custScaleX="137905">
        <dgm:presLayoutVars>
          <dgm:chPref val="3"/>
        </dgm:presLayoutVars>
      </dgm:prSet>
      <dgm:spPr/>
    </dgm:pt>
    <dgm:pt modelId="{1DDB1A6B-E442-4ECE-B670-17BDD97CBBB4}" type="pres">
      <dgm:prSet presAssocID="{05047214-1F57-488E-9BFA-F2DE72529A37}" presName="rootConnector" presStyleLbl="node4" presStyleIdx="2" presStyleCnt="9"/>
      <dgm:spPr/>
    </dgm:pt>
    <dgm:pt modelId="{9836F527-5C15-491F-8439-6AD0146F1C99}" type="pres">
      <dgm:prSet presAssocID="{05047214-1F57-488E-9BFA-F2DE72529A37}" presName="hierChild4" presStyleCnt="0"/>
      <dgm:spPr/>
    </dgm:pt>
    <dgm:pt modelId="{11817339-6A1E-4C17-A45D-6BA8C7840BC6}" type="pres">
      <dgm:prSet presAssocID="{05047214-1F57-488E-9BFA-F2DE72529A37}" presName="hierChild5" presStyleCnt="0"/>
      <dgm:spPr/>
    </dgm:pt>
    <dgm:pt modelId="{8E4511C7-1AD3-4C73-AA7C-0A4F0CD011D7}" type="pres">
      <dgm:prSet presAssocID="{A8AD5CBD-C7ED-4A61-A790-42A15ACCB0D2}" presName="Name37" presStyleLbl="parChTrans1D4" presStyleIdx="3" presStyleCnt="9"/>
      <dgm:spPr/>
    </dgm:pt>
    <dgm:pt modelId="{A7C817B7-14CF-4779-8C06-787189B6006C}" type="pres">
      <dgm:prSet presAssocID="{65A44392-DBD5-4A2B-B573-EA36F23E6B20}" presName="hierRoot2" presStyleCnt="0">
        <dgm:presLayoutVars>
          <dgm:hierBranch val="init"/>
        </dgm:presLayoutVars>
      </dgm:prSet>
      <dgm:spPr/>
    </dgm:pt>
    <dgm:pt modelId="{280B5585-3745-4FD1-B6B3-8602E950ED74}" type="pres">
      <dgm:prSet presAssocID="{65A44392-DBD5-4A2B-B573-EA36F23E6B20}" presName="rootComposite" presStyleCnt="0"/>
      <dgm:spPr/>
    </dgm:pt>
    <dgm:pt modelId="{83CF1A53-DD0B-4CCC-A46E-4E1EDB9144DE}" type="pres">
      <dgm:prSet presAssocID="{65A44392-DBD5-4A2B-B573-EA36F23E6B20}" presName="rootText" presStyleLbl="node4" presStyleIdx="3" presStyleCnt="9" custScaleX="135495">
        <dgm:presLayoutVars>
          <dgm:chPref val="3"/>
        </dgm:presLayoutVars>
      </dgm:prSet>
      <dgm:spPr/>
    </dgm:pt>
    <dgm:pt modelId="{A185BBC6-011D-492B-AFCD-8B91E96C46AB}" type="pres">
      <dgm:prSet presAssocID="{65A44392-DBD5-4A2B-B573-EA36F23E6B20}" presName="rootConnector" presStyleLbl="node4" presStyleIdx="3" presStyleCnt="9"/>
      <dgm:spPr/>
    </dgm:pt>
    <dgm:pt modelId="{C2C10A70-8ABB-4870-8E08-AB9A3C0CFFC3}" type="pres">
      <dgm:prSet presAssocID="{65A44392-DBD5-4A2B-B573-EA36F23E6B20}" presName="hierChild4" presStyleCnt="0"/>
      <dgm:spPr/>
    </dgm:pt>
    <dgm:pt modelId="{EFDAF0DB-911F-4642-8D2A-A5BEE7649971}" type="pres">
      <dgm:prSet presAssocID="{65A44392-DBD5-4A2B-B573-EA36F23E6B20}" presName="hierChild5" presStyleCnt="0"/>
      <dgm:spPr/>
    </dgm:pt>
    <dgm:pt modelId="{E8D8ED25-F972-4D7F-AA71-BBE76F25B1F3}" type="pres">
      <dgm:prSet presAssocID="{64B14851-FC6C-4B22-A2B9-0643EA84FB44}" presName="hierChild5" presStyleCnt="0"/>
      <dgm:spPr/>
    </dgm:pt>
    <dgm:pt modelId="{268378C0-9133-4311-B344-A8CD28EF2EA0}" type="pres">
      <dgm:prSet presAssocID="{98CC042D-23B5-478A-A980-46E1EE9F3397}" presName="Name37" presStyleLbl="parChTrans1D3" presStyleIdx="2" presStyleCnt="4"/>
      <dgm:spPr/>
    </dgm:pt>
    <dgm:pt modelId="{3049291B-C281-4805-A096-D5C4B92DE3BC}" type="pres">
      <dgm:prSet presAssocID="{4650CD16-2C6E-4F6F-B275-223FE8EAF06C}" presName="hierRoot2" presStyleCnt="0">
        <dgm:presLayoutVars>
          <dgm:hierBranch val="init"/>
        </dgm:presLayoutVars>
      </dgm:prSet>
      <dgm:spPr/>
    </dgm:pt>
    <dgm:pt modelId="{286766D9-FF16-4038-83EC-4D59CDC7C429}" type="pres">
      <dgm:prSet presAssocID="{4650CD16-2C6E-4F6F-B275-223FE8EAF06C}" presName="rootComposite" presStyleCnt="0"/>
      <dgm:spPr/>
    </dgm:pt>
    <dgm:pt modelId="{814A1CD1-7D8A-46DB-BDFE-2F99050EDEFE}" type="pres">
      <dgm:prSet presAssocID="{4650CD16-2C6E-4F6F-B275-223FE8EAF06C}" presName="rootText" presStyleLbl="node3" presStyleIdx="2" presStyleCnt="4" custScaleX="137905">
        <dgm:presLayoutVars>
          <dgm:chPref val="3"/>
        </dgm:presLayoutVars>
      </dgm:prSet>
      <dgm:spPr/>
    </dgm:pt>
    <dgm:pt modelId="{5570144F-8B2A-42FD-A15C-E1637015A22F}" type="pres">
      <dgm:prSet presAssocID="{4650CD16-2C6E-4F6F-B275-223FE8EAF06C}" presName="rootConnector" presStyleLbl="node3" presStyleIdx="2" presStyleCnt="4"/>
      <dgm:spPr/>
    </dgm:pt>
    <dgm:pt modelId="{BC35AC65-FFB1-4EC3-8C3F-BD9DA4396688}" type="pres">
      <dgm:prSet presAssocID="{4650CD16-2C6E-4F6F-B275-223FE8EAF06C}" presName="hierChild4" presStyleCnt="0"/>
      <dgm:spPr/>
    </dgm:pt>
    <dgm:pt modelId="{37962DA5-02A6-4DD5-8700-39122738D12A}" type="pres">
      <dgm:prSet presAssocID="{3F21D64D-A892-46A3-B670-BB01B4508250}" presName="Name37" presStyleLbl="parChTrans1D4" presStyleIdx="4" presStyleCnt="9"/>
      <dgm:spPr/>
    </dgm:pt>
    <dgm:pt modelId="{9D48FA4B-C51B-4979-9FAD-411E64122316}" type="pres">
      <dgm:prSet presAssocID="{E0991DB6-79E2-42B7-A7A8-C9F6566DA7BE}" presName="hierRoot2" presStyleCnt="0">
        <dgm:presLayoutVars>
          <dgm:hierBranch val="init"/>
        </dgm:presLayoutVars>
      </dgm:prSet>
      <dgm:spPr/>
    </dgm:pt>
    <dgm:pt modelId="{A1800D4B-600F-44C1-BA45-DD79FB91634B}" type="pres">
      <dgm:prSet presAssocID="{E0991DB6-79E2-42B7-A7A8-C9F6566DA7BE}" presName="rootComposite" presStyleCnt="0"/>
      <dgm:spPr/>
    </dgm:pt>
    <dgm:pt modelId="{BE788534-4F93-4DFA-9124-73520C82C147}" type="pres">
      <dgm:prSet presAssocID="{E0991DB6-79E2-42B7-A7A8-C9F6566DA7BE}" presName="rootText" presStyleLbl="node4" presStyleIdx="4" presStyleCnt="9" custScaleX="137905">
        <dgm:presLayoutVars>
          <dgm:chPref val="3"/>
        </dgm:presLayoutVars>
      </dgm:prSet>
      <dgm:spPr/>
    </dgm:pt>
    <dgm:pt modelId="{3CBB8F99-2038-4E4A-A757-66B1140D5171}" type="pres">
      <dgm:prSet presAssocID="{E0991DB6-79E2-42B7-A7A8-C9F6566DA7BE}" presName="rootConnector" presStyleLbl="node4" presStyleIdx="4" presStyleCnt="9"/>
      <dgm:spPr/>
    </dgm:pt>
    <dgm:pt modelId="{119B3DA7-A2BD-486A-B9F9-A25D853EC72E}" type="pres">
      <dgm:prSet presAssocID="{E0991DB6-79E2-42B7-A7A8-C9F6566DA7BE}" presName="hierChild4" presStyleCnt="0"/>
      <dgm:spPr/>
    </dgm:pt>
    <dgm:pt modelId="{B68D9ED3-D4D9-48A8-ADD2-8D65F1FC874C}" type="pres">
      <dgm:prSet presAssocID="{E0991DB6-79E2-42B7-A7A8-C9F6566DA7BE}" presName="hierChild5" presStyleCnt="0"/>
      <dgm:spPr/>
    </dgm:pt>
    <dgm:pt modelId="{4D40D3AD-1DFF-46A6-8394-137937E19155}" type="pres">
      <dgm:prSet presAssocID="{5A7EA40A-D431-4E9C-86AF-89610147304F}" presName="Name37" presStyleLbl="parChTrans1D4" presStyleIdx="5" presStyleCnt="9"/>
      <dgm:spPr/>
    </dgm:pt>
    <dgm:pt modelId="{B67052E6-233A-482B-B87A-E465C906B3AC}" type="pres">
      <dgm:prSet presAssocID="{7D4D5D21-B593-4C9E-95CD-4F2F243B1D0E}" presName="hierRoot2" presStyleCnt="0">
        <dgm:presLayoutVars>
          <dgm:hierBranch val="init"/>
        </dgm:presLayoutVars>
      </dgm:prSet>
      <dgm:spPr/>
    </dgm:pt>
    <dgm:pt modelId="{8E6198C2-DB60-4D2C-9672-03A1AD2675A6}" type="pres">
      <dgm:prSet presAssocID="{7D4D5D21-B593-4C9E-95CD-4F2F243B1D0E}" presName="rootComposite" presStyleCnt="0"/>
      <dgm:spPr/>
    </dgm:pt>
    <dgm:pt modelId="{04137A8A-BBE3-4DBD-A31E-F7674C380D73}" type="pres">
      <dgm:prSet presAssocID="{7D4D5D21-B593-4C9E-95CD-4F2F243B1D0E}" presName="rootText" presStyleLbl="node4" presStyleIdx="5" presStyleCnt="9" custScaleX="137905">
        <dgm:presLayoutVars>
          <dgm:chPref val="3"/>
        </dgm:presLayoutVars>
      </dgm:prSet>
      <dgm:spPr/>
    </dgm:pt>
    <dgm:pt modelId="{67116FB5-6A03-46E5-AD59-2E8320264817}" type="pres">
      <dgm:prSet presAssocID="{7D4D5D21-B593-4C9E-95CD-4F2F243B1D0E}" presName="rootConnector" presStyleLbl="node4" presStyleIdx="5" presStyleCnt="9"/>
      <dgm:spPr/>
    </dgm:pt>
    <dgm:pt modelId="{02CEE20C-8814-48CD-BF64-BA1D8F186B59}" type="pres">
      <dgm:prSet presAssocID="{7D4D5D21-B593-4C9E-95CD-4F2F243B1D0E}" presName="hierChild4" presStyleCnt="0"/>
      <dgm:spPr/>
    </dgm:pt>
    <dgm:pt modelId="{E1C03657-6912-4A0F-8E9B-1BE5373C0AA2}" type="pres">
      <dgm:prSet presAssocID="{7D4D5D21-B593-4C9E-95CD-4F2F243B1D0E}" presName="hierChild5" presStyleCnt="0"/>
      <dgm:spPr/>
    </dgm:pt>
    <dgm:pt modelId="{6C39A2EA-2EC8-45B4-B337-C28B87CCBDB3}" type="pres">
      <dgm:prSet presAssocID="{4650CD16-2C6E-4F6F-B275-223FE8EAF06C}" presName="hierChild5" presStyleCnt="0"/>
      <dgm:spPr/>
    </dgm:pt>
    <dgm:pt modelId="{F31E76DD-416B-490D-8B04-AA013B37837A}" type="pres">
      <dgm:prSet presAssocID="{B42B120E-7C2E-488C-ACDF-C71DB82F5184}" presName="hierChild5" presStyleCnt="0"/>
      <dgm:spPr/>
    </dgm:pt>
    <dgm:pt modelId="{908F2A5E-A67B-4688-A654-13177173B680}" type="pres">
      <dgm:prSet presAssocID="{358A8289-7C26-4959-A405-7BA1312EA76C}" presName="Name37" presStyleLbl="parChTrans1D2" presStyleIdx="1" presStyleCnt="2"/>
      <dgm:spPr/>
    </dgm:pt>
    <dgm:pt modelId="{2BD59E7A-D449-42D0-9EF3-3E962CC64916}" type="pres">
      <dgm:prSet presAssocID="{6338CC40-D7A1-4698-8484-8AB9F9F298B3}" presName="hierRoot2" presStyleCnt="0">
        <dgm:presLayoutVars>
          <dgm:hierBranch val="init"/>
        </dgm:presLayoutVars>
      </dgm:prSet>
      <dgm:spPr/>
    </dgm:pt>
    <dgm:pt modelId="{FD37A3F3-21E5-4339-8E9E-979A498E6171}" type="pres">
      <dgm:prSet presAssocID="{6338CC40-D7A1-4698-8484-8AB9F9F298B3}" presName="rootComposite" presStyleCnt="0"/>
      <dgm:spPr/>
    </dgm:pt>
    <dgm:pt modelId="{1AA8B693-DF2B-408D-8FD2-D5040E666933}" type="pres">
      <dgm:prSet presAssocID="{6338CC40-D7A1-4698-8484-8AB9F9F298B3}" presName="rootText" presStyleLbl="node2" presStyleIdx="1" presStyleCnt="2" custScaleX="137905">
        <dgm:presLayoutVars>
          <dgm:chPref val="3"/>
        </dgm:presLayoutVars>
      </dgm:prSet>
      <dgm:spPr/>
    </dgm:pt>
    <dgm:pt modelId="{9E2030C8-BF27-4001-AC87-599AD1B05EC5}" type="pres">
      <dgm:prSet presAssocID="{6338CC40-D7A1-4698-8484-8AB9F9F298B3}" presName="rootConnector" presStyleLbl="node2" presStyleIdx="1" presStyleCnt="2"/>
      <dgm:spPr/>
    </dgm:pt>
    <dgm:pt modelId="{41AC6A35-31AC-41F9-9CC8-DE8291D41256}" type="pres">
      <dgm:prSet presAssocID="{6338CC40-D7A1-4698-8484-8AB9F9F298B3}" presName="hierChild4" presStyleCnt="0"/>
      <dgm:spPr/>
    </dgm:pt>
    <dgm:pt modelId="{95E81695-FAE9-41B2-AB79-92E391BEE6EC}" type="pres">
      <dgm:prSet presAssocID="{9638F6C8-2226-4C43-B4E7-DEC0922070D7}" presName="Name37" presStyleLbl="parChTrans1D3" presStyleIdx="3" presStyleCnt="4"/>
      <dgm:spPr/>
    </dgm:pt>
    <dgm:pt modelId="{94144AC4-C00E-4403-8B5F-C30A1D41BE37}" type="pres">
      <dgm:prSet presAssocID="{009AA060-64A9-4163-A065-5F1989676B6E}" presName="hierRoot2" presStyleCnt="0">
        <dgm:presLayoutVars>
          <dgm:hierBranch val="init"/>
        </dgm:presLayoutVars>
      </dgm:prSet>
      <dgm:spPr/>
    </dgm:pt>
    <dgm:pt modelId="{27F7144E-DB74-45DA-81A1-86C8C011F233}" type="pres">
      <dgm:prSet presAssocID="{009AA060-64A9-4163-A065-5F1989676B6E}" presName="rootComposite" presStyleCnt="0"/>
      <dgm:spPr/>
    </dgm:pt>
    <dgm:pt modelId="{4A2325E3-A0FF-4B91-A0F9-86FCF31106C5}" type="pres">
      <dgm:prSet presAssocID="{009AA060-64A9-4163-A065-5F1989676B6E}" presName="rootText" presStyleLbl="node3" presStyleIdx="3" presStyleCnt="4" custScaleX="137905">
        <dgm:presLayoutVars>
          <dgm:chPref val="3"/>
        </dgm:presLayoutVars>
      </dgm:prSet>
      <dgm:spPr/>
    </dgm:pt>
    <dgm:pt modelId="{165A4E98-0B58-4539-93BF-973D9200319A}" type="pres">
      <dgm:prSet presAssocID="{009AA060-64A9-4163-A065-5F1989676B6E}" presName="rootConnector" presStyleLbl="node3" presStyleIdx="3" presStyleCnt="4"/>
      <dgm:spPr/>
    </dgm:pt>
    <dgm:pt modelId="{11C56359-2611-40FE-8BA6-879603D54BDC}" type="pres">
      <dgm:prSet presAssocID="{009AA060-64A9-4163-A065-5F1989676B6E}" presName="hierChild4" presStyleCnt="0"/>
      <dgm:spPr/>
    </dgm:pt>
    <dgm:pt modelId="{C6A13714-3531-4FCF-9EED-0DE252E442BE}" type="pres">
      <dgm:prSet presAssocID="{45E79977-0382-402C-BDFB-D1F5DD372563}" presName="Name37" presStyleLbl="parChTrans1D4" presStyleIdx="6" presStyleCnt="9"/>
      <dgm:spPr/>
    </dgm:pt>
    <dgm:pt modelId="{C8046BDD-AA5E-4FFE-908A-F1B793AF1C5D}" type="pres">
      <dgm:prSet presAssocID="{AA2FDB67-070B-42E0-9B95-E404EAACEB24}" presName="hierRoot2" presStyleCnt="0">
        <dgm:presLayoutVars>
          <dgm:hierBranch val="init"/>
        </dgm:presLayoutVars>
      </dgm:prSet>
      <dgm:spPr/>
    </dgm:pt>
    <dgm:pt modelId="{9B837D7C-7740-41C7-9F09-4042EFDD8E01}" type="pres">
      <dgm:prSet presAssocID="{AA2FDB67-070B-42E0-9B95-E404EAACEB24}" presName="rootComposite" presStyleCnt="0"/>
      <dgm:spPr/>
    </dgm:pt>
    <dgm:pt modelId="{34E2F788-5D23-4955-A407-E5D7C715E702}" type="pres">
      <dgm:prSet presAssocID="{AA2FDB67-070B-42E0-9B95-E404EAACEB24}" presName="rootText" presStyleLbl="node4" presStyleIdx="6" presStyleCnt="9" custScaleX="137905">
        <dgm:presLayoutVars>
          <dgm:chPref val="3"/>
        </dgm:presLayoutVars>
      </dgm:prSet>
      <dgm:spPr/>
    </dgm:pt>
    <dgm:pt modelId="{AF5E92E9-28FD-405F-8889-9DD16E3B2C40}" type="pres">
      <dgm:prSet presAssocID="{AA2FDB67-070B-42E0-9B95-E404EAACEB24}" presName="rootConnector" presStyleLbl="node4" presStyleIdx="6" presStyleCnt="9"/>
      <dgm:spPr/>
    </dgm:pt>
    <dgm:pt modelId="{15F9EF5D-A7C3-49DD-AF3D-2F40367A10FC}" type="pres">
      <dgm:prSet presAssocID="{AA2FDB67-070B-42E0-9B95-E404EAACEB24}" presName="hierChild4" presStyleCnt="0"/>
      <dgm:spPr/>
    </dgm:pt>
    <dgm:pt modelId="{3AD9B336-0D3B-43E5-8F96-7A76098E7339}" type="pres">
      <dgm:prSet presAssocID="{AA2FDB67-070B-42E0-9B95-E404EAACEB24}" presName="hierChild5" presStyleCnt="0"/>
      <dgm:spPr/>
    </dgm:pt>
    <dgm:pt modelId="{A4929BD5-1BE3-41F1-A293-6743952511BF}" type="pres">
      <dgm:prSet presAssocID="{9BCF758E-365C-496F-AE9C-C48C79B744DF}" presName="Name37" presStyleLbl="parChTrans1D4" presStyleIdx="7" presStyleCnt="9"/>
      <dgm:spPr/>
    </dgm:pt>
    <dgm:pt modelId="{7908D4BF-87DD-4684-A973-441EE25B26CC}" type="pres">
      <dgm:prSet presAssocID="{2F239E55-685A-4620-8F3A-06EF643F52EE}" presName="hierRoot2" presStyleCnt="0">
        <dgm:presLayoutVars>
          <dgm:hierBranch val="init"/>
        </dgm:presLayoutVars>
      </dgm:prSet>
      <dgm:spPr/>
    </dgm:pt>
    <dgm:pt modelId="{842E3881-69EB-483A-9AF7-0457586CF2AA}" type="pres">
      <dgm:prSet presAssocID="{2F239E55-685A-4620-8F3A-06EF643F52EE}" presName="rootComposite" presStyleCnt="0"/>
      <dgm:spPr/>
    </dgm:pt>
    <dgm:pt modelId="{7F9E016F-BC2A-4718-8205-9BC1F7BDC6CE}" type="pres">
      <dgm:prSet presAssocID="{2F239E55-685A-4620-8F3A-06EF643F52EE}" presName="rootText" presStyleLbl="node4" presStyleIdx="7" presStyleCnt="9" custScaleX="137905">
        <dgm:presLayoutVars>
          <dgm:chPref val="3"/>
        </dgm:presLayoutVars>
      </dgm:prSet>
      <dgm:spPr/>
    </dgm:pt>
    <dgm:pt modelId="{4D625CDD-E928-44B4-9A3A-AC0705A56A6F}" type="pres">
      <dgm:prSet presAssocID="{2F239E55-685A-4620-8F3A-06EF643F52EE}" presName="rootConnector" presStyleLbl="node4" presStyleIdx="7" presStyleCnt="9"/>
      <dgm:spPr/>
    </dgm:pt>
    <dgm:pt modelId="{4BDF8354-32E9-4C48-8816-E523DA952E9D}" type="pres">
      <dgm:prSet presAssocID="{2F239E55-685A-4620-8F3A-06EF643F52EE}" presName="hierChild4" presStyleCnt="0"/>
      <dgm:spPr/>
    </dgm:pt>
    <dgm:pt modelId="{208497F1-B0FE-40F6-8CDC-7901B9EC40F8}" type="pres">
      <dgm:prSet presAssocID="{2F239E55-685A-4620-8F3A-06EF643F52EE}" presName="hierChild5" presStyleCnt="0"/>
      <dgm:spPr/>
    </dgm:pt>
    <dgm:pt modelId="{197A116F-9186-48F0-A2C8-F382003BDF22}" type="pres">
      <dgm:prSet presAssocID="{0B7F3EDB-97B8-4D11-BF38-C013D6D919F5}" presName="Name37" presStyleLbl="parChTrans1D4" presStyleIdx="8" presStyleCnt="9"/>
      <dgm:spPr/>
    </dgm:pt>
    <dgm:pt modelId="{BD92C6E0-822D-4754-9C39-65965FF5F9C4}" type="pres">
      <dgm:prSet presAssocID="{CDCDD47D-BB42-461F-9092-44E9511AA562}" presName="hierRoot2" presStyleCnt="0">
        <dgm:presLayoutVars>
          <dgm:hierBranch val="init"/>
        </dgm:presLayoutVars>
      </dgm:prSet>
      <dgm:spPr/>
    </dgm:pt>
    <dgm:pt modelId="{CA806CF2-4B7F-44E6-B338-1EEB5BEBFF56}" type="pres">
      <dgm:prSet presAssocID="{CDCDD47D-BB42-461F-9092-44E9511AA562}" presName="rootComposite" presStyleCnt="0"/>
      <dgm:spPr/>
    </dgm:pt>
    <dgm:pt modelId="{49C3F3DC-E617-4D81-99B0-41ECE8D3DA9E}" type="pres">
      <dgm:prSet presAssocID="{CDCDD47D-BB42-461F-9092-44E9511AA562}" presName="rootText" presStyleLbl="node4" presStyleIdx="8" presStyleCnt="9" custScaleX="137905">
        <dgm:presLayoutVars>
          <dgm:chPref val="3"/>
        </dgm:presLayoutVars>
      </dgm:prSet>
      <dgm:spPr/>
    </dgm:pt>
    <dgm:pt modelId="{081DA726-B493-466B-A1F7-7DB4E85E9538}" type="pres">
      <dgm:prSet presAssocID="{CDCDD47D-BB42-461F-9092-44E9511AA562}" presName="rootConnector" presStyleLbl="node4" presStyleIdx="8" presStyleCnt="9"/>
      <dgm:spPr/>
    </dgm:pt>
    <dgm:pt modelId="{821CD6D1-104C-4DD4-93AF-962412F83E81}" type="pres">
      <dgm:prSet presAssocID="{CDCDD47D-BB42-461F-9092-44E9511AA562}" presName="hierChild4" presStyleCnt="0"/>
      <dgm:spPr/>
    </dgm:pt>
    <dgm:pt modelId="{F1EFFDAB-BBED-4E35-B950-17B0D14394F0}" type="pres">
      <dgm:prSet presAssocID="{CDCDD47D-BB42-461F-9092-44E9511AA562}" presName="hierChild5" presStyleCnt="0"/>
      <dgm:spPr/>
    </dgm:pt>
    <dgm:pt modelId="{6088B71B-383B-4F99-AB3E-3200CFFC1906}" type="pres">
      <dgm:prSet presAssocID="{009AA060-64A9-4163-A065-5F1989676B6E}" presName="hierChild5" presStyleCnt="0"/>
      <dgm:spPr/>
    </dgm:pt>
    <dgm:pt modelId="{5F96EAFD-9481-4F82-BE57-462DE136F9C5}" type="pres">
      <dgm:prSet presAssocID="{6338CC40-D7A1-4698-8484-8AB9F9F298B3}" presName="hierChild5" presStyleCnt="0"/>
      <dgm:spPr/>
    </dgm:pt>
    <dgm:pt modelId="{8E71BD70-3E56-4ED2-806E-2EEF58395B1E}" type="pres">
      <dgm:prSet presAssocID="{0B0E22EA-2124-4BD4-9667-4E1D82C30142}" presName="hierChild3" presStyleCnt="0"/>
      <dgm:spPr/>
    </dgm:pt>
  </dgm:ptLst>
  <dgm:cxnLst>
    <dgm:cxn modelId="{1700C70D-3BD0-4C2A-A261-F2928D0E0BE2}" srcId="{4650CD16-2C6E-4F6F-B275-223FE8EAF06C}" destId="{E0991DB6-79E2-42B7-A7A8-C9F6566DA7BE}" srcOrd="0" destOrd="0" parTransId="{3F21D64D-A892-46A3-B670-BB01B4508250}" sibTransId="{274DE0DB-C727-4446-806C-795F3250662F}"/>
    <dgm:cxn modelId="{04A6F30D-DFDF-419C-A0D1-2A328A08356D}" srcId="{4650CD16-2C6E-4F6F-B275-223FE8EAF06C}" destId="{7D4D5D21-B593-4C9E-95CD-4F2F243B1D0E}" srcOrd="1" destOrd="0" parTransId="{5A7EA40A-D431-4E9C-86AF-89610147304F}" sibTransId="{A16D557C-1991-4834-B803-8EA57384934D}"/>
    <dgm:cxn modelId="{E878730E-B5FE-442C-BE45-A1E2314F7C91}" type="presOf" srcId="{358A8289-7C26-4959-A405-7BA1312EA76C}" destId="{908F2A5E-A67B-4688-A654-13177173B680}" srcOrd="0" destOrd="0" presId="urn:microsoft.com/office/officeart/2005/8/layout/orgChart1"/>
    <dgm:cxn modelId="{FA06930E-FF9A-49E7-992F-04CB64F33A81}" srcId="{B42B120E-7C2E-488C-ACDF-C71DB82F5184}" destId="{0EA0F1AE-C19F-4CA0-A78C-BA7ACD9B9823}" srcOrd="0" destOrd="0" parTransId="{D764DAD3-576B-41E5-BB24-027D3BDC6433}" sibTransId="{14F75DC1-C536-45B1-9D67-C2A17E57ADEE}"/>
    <dgm:cxn modelId="{9627C91E-6311-4E59-84F1-D4A4B075F6F0}" srcId="{B42B120E-7C2E-488C-ACDF-C71DB82F5184}" destId="{64B14851-FC6C-4B22-A2B9-0643EA84FB44}" srcOrd="1" destOrd="0" parTransId="{4B02FF8F-C38F-47C4-8B6D-504F4DBB1F6B}" sibTransId="{7E29AC59-3125-4C67-9C65-9D08CE9BC9A7}"/>
    <dgm:cxn modelId="{C0DDB41F-94BE-4481-8606-74EA91C8DA47}" type="presOf" srcId="{0EA0F1AE-C19F-4CA0-A78C-BA7ACD9B9823}" destId="{D4B63A77-149B-439D-801D-6187E94AF777}" srcOrd="0" destOrd="0" presId="urn:microsoft.com/office/officeart/2005/8/layout/orgChart1"/>
    <dgm:cxn modelId="{30E67322-0A0B-49C0-B93E-0B46C547449E}" type="presOf" srcId="{009AA060-64A9-4163-A065-5F1989676B6E}" destId="{4A2325E3-A0FF-4B91-A0F9-86FCF31106C5}" srcOrd="0" destOrd="0" presId="urn:microsoft.com/office/officeart/2005/8/layout/orgChart1"/>
    <dgm:cxn modelId="{23E75B23-EA84-4599-809C-3986763D20AB}" srcId="{64B14851-FC6C-4B22-A2B9-0643EA84FB44}" destId="{448B7AB4-F355-41FC-BFF6-94D03A5EB3B0}" srcOrd="0" destOrd="0" parTransId="{AEEBFA19-9F58-4BB6-AED5-403A928093FB}" sibTransId="{6BCF07A7-DE2E-4F19-A9D9-60B3D764E4B0}"/>
    <dgm:cxn modelId="{6AF77E26-4F4A-4C3C-BD7F-BAD1E9F39575}" type="presOf" srcId="{AA2FDB67-070B-42E0-9B95-E404EAACEB24}" destId="{34E2F788-5D23-4955-A407-E5D7C715E702}" srcOrd="0" destOrd="0" presId="urn:microsoft.com/office/officeart/2005/8/layout/orgChart1"/>
    <dgm:cxn modelId="{606CCE29-5172-477A-B0EF-32FCB0BA1335}" srcId="{009AA060-64A9-4163-A065-5F1989676B6E}" destId="{AA2FDB67-070B-42E0-9B95-E404EAACEB24}" srcOrd="0" destOrd="0" parTransId="{45E79977-0382-402C-BDFB-D1F5DD372563}" sibTransId="{63276572-F6BD-4D91-B45F-29B38AE9479F}"/>
    <dgm:cxn modelId="{EC9A9C2E-BA36-4FCA-A761-8475540213A7}" type="presOf" srcId="{7D4D5D21-B593-4C9E-95CD-4F2F243B1D0E}" destId="{67116FB5-6A03-46E5-AD59-2E8320264817}" srcOrd="1" destOrd="0" presId="urn:microsoft.com/office/officeart/2005/8/layout/orgChart1"/>
    <dgm:cxn modelId="{00F86931-6AB7-4DE0-A22B-601C3323AA4C}" type="presOf" srcId="{B42B120E-7C2E-488C-ACDF-C71DB82F5184}" destId="{3A56A07E-F410-4978-B29F-DC062F6BAA44}" srcOrd="0" destOrd="0" presId="urn:microsoft.com/office/officeart/2005/8/layout/orgChart1"/>
    <dgm:cxn modelId="{8D395E38-35F4-4B71-8E2A-43FA3011AABB}" type="presOf" srcId="{45E79977-0382-402C-BDFB-D1F5DD372563}" destId="{C6A13714-3531-4FCF-9EED-0DE252E442BE}" srcOrd="0" destOrd="0" presId="urn:microsoft.com/office/officeart/2005/8/layout/orgChart1"/>
    <dgm:cxn modelId="{60507539-18AA-4CCB-8A67-A5BBE8B67A9E}" srcId="{6338CC40-D7A1-4698-8484-8AB9F9F298B3}" destId="{009AA060-64A9-4163-A065-5F1989676B6E}" srcOrd="0" destOrd="0" parTransId="{9638F6C8-2226-4C43-B4E7-DEC0922070D7}" sibTransId="{371CBBBE-0471-441A-89C9-C68D98265FA0}"/>
    <dgm:cxn modelId="{3FFC203B-E7E8-4514-A3EF-2EC2EB3006A7}" type="presOf" srcId="{B42B120E-7C2E-488C-ACDF-C71DB82F5184}" destId="{C7C1F287-270E-409F-B561-8120DE47CE32}" srcOrd="1" destOrd="0" presId="urn:microsoft.com/office/officeart/2005/8/layout/orgChart1"/>
    <dgm:cxn modelId="{50F7755F-3EF3-4C43-B0A5-E2FD21F91C51}" type="presOf" srcId="{4522CBFF-C8D4-43F7-9C2D-D9EFF8DC0283}" destId="{6A14ED22-35BC-477B-82CC-5984AF8724EB}" srcOrd="1" destOrd="0" presId="urn:microsoft.com/office/officeart/2005/8/layout/orgChart1"/>
    <dgm:cxn modelId="{A83D2069-DED9-4F16-9DFC-953056366C29}" type="presOf" srcId="{0B7F3EDB-97B8-4D11-BF38-C013D6D919F5}" destId="{197A116F-9186-48F0-A2C8-F382003BDF22}" srcOrd="0" destOrd="0" presId="urn:microsoft.com/office/officeart/2005/8/layout/orgChart1"/>
    <dgm:cxn modelId="{F11DC24A-FE19-4CC6-B353-0AC013EAAC1F}" type="presOf" srcId="{98CC042D-23B5-478A-A980-46E1EE9F3397}" destId="{268378C0-9133-4311-B344-A8CD28EF2EA0}" srcOrd="0" destOrd="0" presId="urn:microsoft.com/office/officeart/2005/8/layout/orgChart1"/>
    <dgm:cxn modelId="{6E789A4B-479F-4CA6-A10B-843AA648C3D4}" type="presOf" srcId="{6338CC40-D7A1-4698-8484-8AB9F9F298B3}" destId="{1AA8B693-DF2B-408D-8FD2-D5040E666933}" srcOrd="0" destOrd="0" presId="urn:microsoft.com/office/officeart/2005/8/layout/orgChart1"/>
    <dgm:cxn modelId="{A32DA66B-6223-4662-9088-C0C060222A0B}" type="presOf" srcId="{0EA0F1AE-C19F-4CA0-A78C-BA7ACD9B9823}" destId="{60CAD39A-7934-47B8-8D6F-9F7FF71CB4E2}" srcOrd="1" destOrd="0" presId="urn:microsoft.com/office/officeart/2005/8/layout/orgChart1"/>
    <dgm:cxn modelId="{5716326C-CB62-41EE-8DC6-94421C3EECC6}" type="presOf" srcId="{05047214-1F57-488E-9BFA-F2DE72529A37}" destId="{D10E51ED-E9D8-4227-8290-EF98B71EB05A}" srcOrd="0" destOrd="0" presId="urn:microsoft.com/office/officeart/2005/8/layout/orgChart1"/>
    <dgm:cxn modelId="{BD33046E-DD28-4F1C-81DF-BBAA988CC4B8}" type="presOf" srcId="{9BCF758E-365C-496F-AE9C-C48C79B744DF}" destId="{A4929BD5-1BE3-41F1-A293-6743952511BF}" srcOrd="0" destOrd="0" presId="urn:microsoft.com/office/officeart/2005/8/layout/orgChart1"/>
    <dgm:cxn modelId="{4B40544E-DED1-461C-A9C6-25A1DC5BF803}" srcId="{EB07EA12-7058-49D8-B8A6-88FD000BA8F5}" destId="{0B0E22EA-2124-4BD4-9667-4E1D82C30142}" srcOrd="0" destOrd="0" parTransId="{BFEF9947-F67F-4BAE-84CC-B8964B12BE59}" sibTransId="{CD00AA75-4DBC-4512-8991-F9A0FB8B3B5A}"/>
    <dgm:cxn modelId="{B28A184F-FD78-40A9-851A-109726937122}" type="presOf" srcId="{AA2FDB67-070B-42E0-9B95-E404EAACEB24}" destId="{AF5E92E9-28FD-405F-8889-9DD16E3B2C40}" srcOrd="1" destOrd="0" presId="urn:microsoft.com/office/officeart/2005/8/layout/orgChart1"/>
    <dgm:cxn modelId="{6EBF634F-32A9-41F7-B846-06578BE8EE1F}" srcId="{009AA060-64A9-4163-A065-5F1989676B6E}" destId="{2F239E55-685A-4620-8F3A-06EF643F52EE}" srcOrd="1" destOrd="0" parTransId="{9BCF758E-365C-496F-AE9C-C48C79B744DF}" sibTransId="{7139671D-C6B7-4BF2-BA2B-88D2BE2362E2}"/>
    <dgm:cxn modelId="{52B52E51-3C3F-492F-950F-F898DB2E0E66}" type="presOf" srcId="{E0991DB6-79E2-42B7-A7A8-C9F6566DA7BE}" destId="{3CBB8F99-2038-4E4A-A757-66B1140D5171}" srcOrd="1" destOrd="0" presId="urn:microsoft.com/office/officeart/2005/8/layout/orgChart1"/>
    <dgm:cxn modelId="{B4300354-5B0E-42F1-A1C2-6E8408DA384D}" type="presOf" srcId="{D764DAD3-576B-41E5-BB24-027D3BDC6433}" destId="{0C6862F4-974C-4CCC-855F-7F6AE8D250DC}" srcOrd="0" destOrd="0" presId="urn:microsoft.com/office/officeart/2005/8/layout/orgChart1"/>
    <dgm:cxn modelId="{6C475154-53A2-4FF0-8E50-ACBF0CFA9287}" type="presOf" srcId="{9638F6C8-2226-4C43-B4E7-DEC0922070D7}" destId="{95E81695-FAE9-41B2-AB79-92E391BEE6EC}" srcOrd="0" destOrd="0" presId="urn:microsoft.com/office/officeart/2005/8/layout/orgChart1"/>
    <dgm:cxn modelId="{D2BE1475-621C-461B-AEDF-90F971503D2D}" type="presOf" srcId="{3F21D64D-A892-46A3-B670-BB01B4508250}" destId="{37962DA5-02A6-4DD5-8700-39122738D12A}" srcOrd="0" destOrd="0" presId="urn:microsoft.com/office/officeart/2005/8/layout/orgChart1"/>
    <dgm:cxn modelId="{C590DF57-5BD3-4227-8213-8F378AD24DDC}" type="presOf" srcId="{AEEBFA19-9F58-4BB6-AED5-403A928093FB}" destId="{37247EB6-BBCD-4D8B-A5BF-74C0A87503FF}" srcOrd="0" destOrd="0" presId="urn:microsoft.com/office/officeart/2005/8/layout/orgChart1"/>
    <dgm:cxn modelId="{961B0558-F589-4CA6-AE3E-C82EEFF785B5}" type="presOf" srcId="{009AA060-64A9-4163-A065-5F1989676B6E}" destId="{165A4E98-0B58-4539-93BF-973D9200319A}" srcOrd="1" destOrd="0" presId="urn:microsoft.com/office/officeart/2005/8/layout/orgChart1"/>
    <dgm:cxn modelId="{F14E8879-B198-42BF-9A03-38EE548E21FC}" srcId="{B42B120E-7C2E-488C-ACDF-C71DB82F5184}" destId="{4650CD16-2C6E-4F6F-B275-223FE8EAF06C}" srcOrd="2" destOrd="0" parTransId="{98CC042D-23B5-478A-A980-46E1EE9F3397}" sibTransId="{5B8AC0D6-7DA2-4992-A1BB-50C8BB78F345}"/>
    <dgm:cxn modelId="{27DA417A-D2D1-411B-BA0D-8FBDBDEEECE8}" type="presOf" srcId="{448B7AB4-F355-41FC-BFF6-94D03A5EB3B0}" destId="{BC2C4837-4112-4405-B082-1C31720B57FF}" srcOrd="1" destOrd="0" presId="urn:microsoft.com/office/officeart/2005/8/layout/orgChart1"/>
    <dgm:cxn modelId="{DF30E681-1375-4CF1-83DB-69431774B7A2}" type="presOf" srcId="{4650CD16-2C6E-4F6F-B275-223FE8EAF06C}" destId="{5570144F-8B2A-42FD-A15C-E1637015A22F}" srcOrd="1" destOrd="0" presId="urn:microsoft.com/office/officeart/2005/8/layout/orgChart1"/>
    <dgm:cxn modelId="{70A3FF88-DF36-41C5-9148-4F778277C695}" type="presOf" srcId="{2F239E55-685A-4620-8F3A-06EF643F52EE}" destId="{4D625CDD-E928-44B4-9A3A-AC0705A56A6F}" srcOrd="1" destOrd="0" presId="urn:microsoft.com/office/officeart/2005/8/layout/orgChart1"/>
    <dgm:cxn modelId="{F98FFD89-AE76-4915-8074-4AF7DFA2F8B9}" type="presOf" srcId="{7D4D5D21-B593-4C9E-95CD-4F2F243B1D0E}" destId="{04137A8A-BBE3-4DBD-A31E-F7674C380D73}" srcOrd="0" destOrd="0" presId="urn:microsoft.com/office/officeart/2005/8/layout/orgChart1"/>
    <dgm:cxn modelId="{B683E78B-5AA3-4A9C-8B41-F564C46141B8}" type="presOf" srcId="{6338CC40-D7A1-4698-8484-8AB9F9F298B3}" destId="{9E2030C8-BF27-4001-AC87-599AD1B05EC5}" srcOrd="1" destOrd="0" presId="urn:microsoft.com/office/officeart/2005/8/layout/orgChart1"/>
    <dgm:cxn modelId="{1C63758D-405E-40DF-9F0C-DE25B43F1BDF}" type="presOf" srcId="{5A7EA40A-D431-4E9C-86AF-89610147304F}" destId="{4D40D3AD-1DFF-46A6-8394-137937E19155}" srcOrd="0" destOrd="0" presId="urn:microsoft.com/office/officeart/2005/8/layout/orgChart1"/>
    <dgm:cxn modelId="{B69F2690-D4DF-4C7B-BED1-0AA5598C074E}" srcId="{009AA060-64A9-4163-A065-5F1989676B6E}" destId="{CDCDD47D-BB42-461F-9092-44E9511AA562}" srcOrd="2" destOrd="0" parTransId="{0B7F3EDB-97B8-4D11-BF38-C013D6D919F5}" sibTransId="{FF5825D4-892E-4717-AEA5-F26CB3CF37CD}"/>
    <dgm:cxn modelId="{B131AF97-4E43-4FB5-A160-3311C3FB9310}" type="presOf" srcId="{EB07EA12-7058-49D8-B8A6-88FD000BA8F5}" destId="{0976FA10-B13F-4CAE-AE35-B765A0A03B74}" srcOrd="0" destOrd="0" presId="urn:microsoft.com/office/officeart/2005/8/layout/orgChart1"/>
    <dgm:cxn modelId="{1E81F298-1D9B-4B1F-BF4C-E6BE76A91C54}" type="presOf" srcId="{CDCDD47D-BB42-461F-9092-44E9511AA562}" destId="{49C3F3DC-E617-4D81-99B0-41ECE8D3DA9E}" srcOrd="0" destOrd="0" presId="urn:microsoft.com/office/officeart/2005/8/layout/orgChart1"/>
    <dgm:cxn modelId="{E8DFDAA1-5681-4224-98CD-1184CB45E4D2}" type="presOf" srcId="{0B0E22EA-2124-4BD4-9667-4E1D82C30142}" destId="{05A54764-74F5-4A0C-B8FD-094381E797A7}" srcOrd="1" destOrd="0" presId="urn:microsoft.com/office/officeart/2005/8/layout/orgChart1"/>
    <dgm:cxn modelId="{05747CB3-2BBA-43F8-B0D4-A93234DD0551}" srcId="{64B14851-FC6C-4B22-A2B9-0643EA84FB44}" destId="{05047214-1F57-488E-9BFA-F2DE72529A37}" srcOrd="1" destOrd="0" parTransId="{EF374FA5-6775-4B98-B6B2-6308F3A6E4AA}" sibTransId="{062359F6-7711-4687-9049-B1D0AAFF373B}"/>
    <dgm:cxn modelId="{65A768B5-E1BE-4A3A-B211-C8CCB9940E22}" type="presOf" srcId="{64B14851-FC6C-4B22-A2B9-0643EA84FB44}" destId="{1B6C6E57-240B-47D2-A13C-7091E33582EB}" srcOrd="1" destOrd="0" presId="urn:microsoft.com/office/officeart/2005/8/layout/orgChart1"/>
    <dgm:cxn modelId="{E672F1B8-2752-4539-81AB-261F30A81493}" type="presOf" srcId="{4522CBFF-C8D4-43F7-9C2D-D9EFF8DC0283}" destId="{72493469-739E-4F7B-A5A5-054FD81390AF}" srcOrd="0" destOrd="0" presId="urn:microsoft.com/office/officeart/2005/8/layout/orgChart1"/>
    <dgm:cxn modelId="{F4FF15C2-E239-4E71-8FAD-2A86A3EF96DA}" type="presOf" srcId="{E0991DB6-79E2-42B7-A7A8-C9F6566DA7BE}" destId="{BE788534-4F93-4DFA-9124-73520C82C147}" srcOrd="0" destOrd="0" presId="urn:microsoft.com/office/officeart/2005/8/layout/orgChart1"/>
    <dgm:cxn modelId="{31FC94C8-5292-4DC6-BFB8-92D9C9875E92}" type="presOf" srcId="{448B7AB4-F355-41FC-BFF6-94D03A5EB3B0}" destId="{B19DFB39-105E-4E4D-922A-22B91FE41FE2}" srcOrd="0" destOrd="0" presId="urn:microsoft.com/office/officeart/2005/8/layout/orgChart1"/>
    <dgm:cxn modelId="{0A7234CA-EE39-4FEA-803B-284506298975}" type="presOf" srcId="{4B02FF8F-C38F-47C4-8B6D-504F4DBB1F6B}" destId="{FAC95A7B-542F-4A4B-891F-E2104C0EEA1B}" srcOrd="0" destOrd="0" presId="urn:microsoft.com/office/officeart/2005/8/layout/orgChart1"/>
    <dgm:cxn modelId="{5F46BCD1-011B-4C44-B118-9DD61A07F8D0}" type="presOf" srcId="{1061C569-1798-46F6-891D-BC7D321655E5}" destId="{759B9F34-A3A2-453A-947D-B393B61B1127}" srcOrd="0" destOrd="0" presId="urn:microsoft.com/office/officeart/2005/8/layout/orgChart1"/>
    <dgm:cxn modelId="{105A33D3-F61C-40B0-80EB-8B33FC14976C}" type="presOf" srcId="{EF374FA5-6775-4B98-B6B2-6308F3A6E4AA}" destId="{D015ED00-0711-4B33-9F11-E88C54A5315B}" srcOrd="0" destOrd="0" presId="urn:microsoft.com/office/officeart/2005/8/layout/orgChart1"/>
    <dgm:cxn modelId="{A4E96DDB-042C-44B6-B469-12C9704C5C02}" type="presOf" srcId="{64B14851-FC6C-4B22-A2B9-0643EA84FB44}" destId="{167E4463-084F-40F9-B1D2-51E09FD77823}" srcOrd="0" destOrd="0" presId="urn:microsoft.com/office/officeart/2005/8/layout/orgChart1"/>
    <dgm:cxn modelId="{8369EADB-60A8-4D86-A413-3438CA3193B7}" type="presOf" srcId="{95E4DDF4-4B2E-48D3-B14B-D29BEA929F63}" destId="{F2A1A8F4-A7E0-42E3-854C-7EB988DAB12D}" srcOrd="0" destOrd="0" presId="urn:microsoft.com/office/officeart/2005/8/layout/orgChart1"/>
    <dgm:cxn modelId="{DC564CDD-E46E-463F-BBA1-8E97AC231D6F}" type="presOf" srcId="{2F239E55-685A-4620-8F3A-06EF643F52EE}" destId="{7F9E016F-BC2A-4718-8205-9BC1F7BDC6CE}" srcOrd="0" destOrd="0" presId="urn:microsoft.com/office/officeart/2005/8/layout/orgChart1"/>
    <dgm:cxn modelId="{B79C52DD-E367-43B5-9825-A723285A7D2C}" type="presOf" srcId="{4650CD16-2C6E-4F6F-B275-223FE8EAF06C}" destId="{814A1CD1-7D8A-46DB-BDFE-2F99050EDEFE}" srcOrd="0" destOrd="0" presId="urn:microsoft.com/office/officeart/2005/8/layout/orgChart1"/>
    <dgm:cxn modelId="{2417F0DD-086A-40F7-8F82-50A706B4BFF7}" srcId="{64B14851-FC6C-4B22-A2B9-0643EA84FB44}" destId="{65A44392-DBD5-4A2B-B573-EA36F23E6B20}" srcOrd="2" destOrd="0" parTransId="{A8AD5CBD-C7ED-4A61-A790-42A15ACCB0D2}" sibTransId="{E4877646-CFBB-47DB-B07C-2B504851AA19}"/>
    <dgm:cxn modelId="{F1737CE8-D71A-474D-89E3-CDF04F064563}" type="presOf" srcId="{65A44392-DBD5-4A2B-B573-EA36F23E6B20}" destId="{A185BBC6-011D-492B-AFCD-8B91E96C46AB}" srcOrd="1" destOrd="0" presId="urn:microsoft.com/office/officeart/2005/8/layout/orgChart1"/>
    <dgm:cxn modelId="{B17E36EB-4FB7-42AD-B62B-6C68AA06F53E}" type="presOf" srcId="{A8AD5CBD-C7ED-4A61-A790-42A15ACCB0D2}" destId="{8E4511C7-1AD3-4C73-AA7C-0A4F0CD011D7}" srcOrd="0" destOrd="0" presId="urn:microsoft.com/office/officeart/2005/8/layout/orgChart1"/>
    <dgm:cxn modelId="{1BAB74EE-B0D7-48DC-B7B8-7B4EC73DD0A0}" type="presOf" srcId="{CDCDD47D-BB42-461F-9092-44E9511AA562}" destId="{081DA726-B493-466B-A1F7-7DB4E85E9538}" srcOrd="1" destOrd="0" presId="urn:microsoft.com/office/officeart/2005/8/layout/orgChart1"/>
    <dgm:cxn modelId="{06EEEDEF-BBB9-472F-82FA-DDAFBA02EAEA}" type="presOf" srcId="{65A44392-DBD5-4A2B-B573-EA36F23E6B20}" destId="{83CF1A53-DD0B-4CCC-A46E-4E1EDB9144DE}" srcOrd="0" destOrd="0" presId="urn:microsoft.com/office/officeart/2005/8/layout/orgChart1"/>
    <dgm:cxn modelId="{954390F6-90BE-47F4-A4DC-33033FB0544A}" srcId="{0B0E22EA-2124-4BD4-9667-4E1D82C30142}" destId="{B42B120E-7C2E-488C-ACDF-C71DB82F5184}" srcOrd="0" destOrd="0" parTransId="{95E4DDF4-4B2E-48D3-B14B-D29BEA929F63}" sibTransId="{0DAFFA64-A085-4AED-871E-F6CDA5D2B882}"/>
    <dgm:cxn modelId="{7C4C2FF7-3BD6-4F71-AA7D-ABE291E00842}" srcId="{0B0E22EA-2124-4BD4-9667-4E1D82C30142}" destId="{6338CC40-D7A1-4698-8484-8AB9F9F298B3}" srcOrd="1" destOrd="0" parTransId="{358A8289-7C26-4959-A405-7BA1312EA76C}" sibTransId="{CFAE88B6-BF29-464F-A69A-ACC6B123D24C}"/>
    <dgm:cxn modelId="{E3A89DF8-F063-4CA0-BEA1-08881CFE930F}" type="presOf" srcId="{05047214-1F57-488E-9BFA-F2DE72529A37}" destId="{1DDB1A6B-E442-4ECE-B670-17BDD97CBBB4}" srcOrd="1" destOrd="0" presId="urn:microsoft.com/office/officeart/2005/8/layout/orgChart1"/>
    <dgm:cxn modelId="{C51F07FC-FFCC-4671-B0F4-CF100F75DCAC}" type="presOf" srcId="{0B0E22EA-2124-4BD4-9667-4E1D82C30142}" destId="{293A6976-DD1C-412D-97DE-10C70A105CDC}" srcOrd="0" destOrd="0" presId="urn:microsoft.com/office/officeart/2005/8/layout/orgChart1"/>
    <dgm:cxn modelId="{A9F0FEFC-ADCA-414D-901D-0C418FA2F182}" srcId="{0EA0F1AE-C19F-4CA0-A78C-BA7ACD9B9823}" destId="{4522CBFF-C8D4-43F7-9C2D-D9EFF8DC0283}" srcOrd="0" destOrd="0" parTransId="{1061C569-1798-46F6-891D-BC7D321655E5}" sibTransId="{335D1DB7-C891-494B-98BD-4EDBC451E586}"/>
    <dgm:cxn modelId="{C70F719D-908A-4AE4-A306-E1B97BCA5C1E}" type="presParOf" srcId="{0976FA10-B13F-4CAE-AE35-B765A0A03B74}" destId="{17377D99-64B3-4085-9E10-57A7243067A6}" srcOrd="0" destOrd="0" presId="urn:microsoft.com/office/officeart/2005/8/layout/orgChart1"/>
    <dgm:cxn modelId="{96704175-A4FC-42B7-B2E5-889C8EA9E231}" type="presParOf" srcId="{17377D99-64B3-4085-9E10-57A7243067A6}" destId="{ACA46126-8577-40D3-9694-0EEFB8F564B6}" srcOrd="0" destOrd="0" presId="urn:microsoft.com/office/officeart/2005/8/layout/orgChart1"/>
    <dgm:cxn modelId="{79168770-DB97-4309-B9D3-1ED0B3E2ECBC}" type="presParOf" srcId="{ACA46126-8577-40D3-9694-0EEFB8F564B6}" destId="{293A6976-DD1C-412D-97DE-10C70A105CDC}" srcOrd="0" destOrd="0" presId="urn:microsoft.com/office/officeart/2005/8/layout/orgChart1"/>
    <dgm:cxn modelId="{E069AE01-8DB3-4449-B282-6DD5E647801A}" type="presParOf" srcId="{ACA46126-8577-40D3-9694-0EEFB8F564B6}" destId="{05A54764-74F5-4A0C-B8FD-094381E797A7}" srcOrd="1" destOrd="0" presId="urn:microsoft.com/office/officeart/2005/8/layout/orgChart1"/>
    <dgm:cxn modelId="{9046EF5D-BF98-4FA0-97DD-0F5313E2BDE5}" type="presParOf" srcId="{17377D99-64B3-4085-9E10-57A7243067A6}" destId="{35A8600E-6C12-4F13-9FB0-2EEB7CE6851C}" srcOrd="1" destOrd="0" presId="urn:microsoft.com/office/officeart/2005/8/layout/orgChart1"/>
    <dgm:cxn modelId="{00421E74-0D83-498B-9E95-C120C8C82DD0}" type="presParOf" srcId="{35A8600E-6C12-4F13-9FB0-2EEB7CE6851C}" destId="{F2A1A8F4-A7E0-42E3-854C-7EB988DAB12D}" srcOrd="0" destOrd="0" presId="urn:microsoft.com/office/officeart/2005/8/layout/orgChart1"/>
    <dgm:cxn modelId="{2A9DAC68-CB9A-4A8A-B31F-B31FCBFC4650}" type="presParOf" srcId="{35A8600E-6C12-4F13-9FB0-2EEB7CE6851C}" destId="{E45E5338-B922-4030-AF94-8D29442A1C6D}" srcOrd="1" destOrd="0" presId="urn:microsoft.com/office/officeart/2005/8/layout/orgChart1"/>
    <dgm:cxn modelId="{FDC20C01-8071-4699-A8BA-546EC8408641}" type="presParOf" srcId="{E45E5338-B922-4030-AF94-8D29442A1C6D}" destId="{686A3487-35CD-40C9-AFF5-2696ED4E2B63}" srcOrd="0" destOrd="0" presId="urn:microsoft.com/office/officeart/2005/8/layout/orgChart1"/>
    <dgm:cxn modelId="{97461822-884A-46DA-B311-B733BDB5F497}" type="presParOf" srcId="{686A3487-35CD-40C9-AFF5-2696ED4E2B63}" destId="{3A56A07E-F410-4978-B29F-DC062F6BAA44}" srcOrd="0" destOrd="0" presId="urn:microsoft.com/office/officeart/2005/8/layout/orgChart1"/>
    <dgm:cxn modelId="{4D844677-BB14-45BD-91A8-241D7C831281}" type="presParOf" srcId="{686A3487-35CD-40C9-AFF5-2696ED4E2B63}" destId="{C7C1F287-270E-409F-B561-8120DE47CE32}" srcOrd="1" destOrd="0" presId="urn:microsoft.com/office/officeart/2005/8/layout/orgChart1"/>
    <dgm:cxn modelId="{2D0372BF-EA96-4328-80FE-A97AA8D44A8A}" type="presParOf" srcId="{E45E5338-B922-4030-AF94-8D29442A1C6D}" destId="{57EEFBD4-9478-4160-BD6C-E8969F970607}" srcOrd="1" destOrd="0" presId="urn:microsoft.com/office/officeart/2005/8/layout/orgChart1"/>
    <dgm:cxn modelId="{8820C402-D299-403B-A775-EA39453D5059}" type="presParOf" srcId="{57EEFBD4-9478-4160-BD6C-E8969F970607}" destId="{0C6862F4-974C-4CCC-855F-7F6AE8D250DC}" srcOrd="0" destOrd="0" presId="urn:microsoft.com/office/officeart/2005/8/layout/orgChart1"/>
    <dgm:cxn modelId="{315AABC1-6497-46EE-B05A-0322099AF71D}" type="presParOf" srcId="{57EEFBD4-9478-4160-BD6C-E8969F970607}" destId="{DB221263-DCA3-4493-A802-EF67D030ED5C}" srcOrd="1" destOrd="0" presId="urn:microsoft.com/office/officeart/2005/8/layout/orgChart1"/>
    <dgm:cxn modelId="{3220B7DC-06C4-4EC2-8A0E-AC2282BCDA4D}" type="presParOf" srcId="{DB221263-DCA3-4493-A802-EF67D030ED5C}" destId="{31F0CEEB-996F-42FC-B848-1C5274BAE623}" srcOrd="0" destOrd="0" presId="urn:microsoft.com/office/officeart/2005/8/layout/orgChart1"/>
    <dgm:cxn modelId="{6773AA1C-2997-4976-8BF6-EB34A973933B}" type="presParOf" srcId="{31F0CEEB-996F-42FC-B848-1C5274BAE623}" destId="{D4B63A77-149B-439D-801D-6187E94AF777}" srcOrd="0" destOrd="0" presId="urn:microsoft.com/office/officeart/2005/8/layout/orgChart1"/>
    <dgm:cxn modelId="{48A5D835-41F7-4162-9CC1-79D421F70A86}" type="presParOf" srcId="{31F0CEEB-996F-42FC-B848-1C5274BAE623}" destId="{60CAD39A-7934-47B8-8D6F-9F7FF71CB4E2}" srcOrd="1" destOrd="0" presId="urn:microsoft.com/office/officeart/2005/8/layout/orgChart1"/>
    <dgm:cxn modelId="{B9522F8A-431E-4229-B797-DDD1255D12A9}" type="presParOf" srcId="{DB221263-DCA3-4493-A802-EF67D030ED5C}" destId="{FCA0A609-A16E-426A-B8F5-04212D3679F2}" srcOrd="1" destOrd="0" presId="urn:microsoft.com/office/officeart/2005/8/layout/orgChart1"/>
    <dgm:cxn modelId="{CD9BF2E2-1D75-4D40-B97D-916BDC1BA9F6}" type="presParOf" srcId="{FCA0A609-A16E-426A-B8F5-04212D3679F2}" destId="{759B9F34-A3A2-453A-947D-B393B61B1127}" srcOrd="0" destOrd="0" presId="urn:microsoft.com/office/officeart/2005/8/layout/orgChart1"/>
    <dgm:cxn modelId="{AE92AC2E-7E23-4B96-8B3A-EB16F8D0FDFB}" type="presParOf" srcId="{FCA0A609-A16E-426A-B8F5-04212D3679F2}" destId="{354FDC28-1846-41E9-9A8D-4EE16E54D6B6}" srcOrd="1" destOrd="0" presId="urn:microsoft.com/office/officeart/2005/8/layout/orgChart1"/>
    <dgm:cxn modelId="{DDA5F25D-D256-4B62-B777-EEE3C8A99928}" type="presParOf" srcId="{354FDC28-1846-41E9-9A8D-4EE16E54D6B6}" destId="{D8DF3D82-97C4-4C4C-A8DA-C5E1749C204B}" srcOrd="0" destOrd="0" presId="urn:microsoft.com/office/officeart/2005/8/layout/orgChart1"/>
    <dgm:cxn modelId="{97F9B308-F948-422C-829D-82AB86E7EC4D}" type="presParOf" srcId="{D8DF3D82-97C4-4C4C-A8DA-C5E1749C204B}" destId="{72493469-739E-4F7B-A5A5-054FD81390AF}" srcOrd="0" destOrd="0" presId="urn:microsoft.com/office/officeart/2005/8/layout/orgChart1"/>
    <dgm:cxn modelId="{06F2B9FC-673A-4941-AA59-AD62CA01A9F4}" type="presParOf" srcId="{D8DF3D82-97C4-4C4C-A8DA-C5E1749C204B}" destId="{6A14ED22-35BC-477B-82CC-5984AF8724EB}" srcOrd="1" destOrd="0" presId="urn:microsoft.com/office/officeart/2005/8/layout/orgChart1"/>
    <dgm:cxn modelId="{223A1943-ECB2-4837-A5EF-B4D76ED6DC3D}" type="presParOf" srcId="{354FDC28-1846-41E9-9A8D-4EE16E54D6B6}" destId="{B16F5C43-D032-445E-93D4-529E9C4CA154}" srcOrd="1" destOrd="0" presId="urn:microsoft.com/office/officeart/2005/8/layout/orgChart1"/>
    <dgm:cxn modelId="{F7C349C3-8CC0-43B7-BE00-C9215CD90708}" type="presParOf" srcId="{354FDC28-1846-41E9-9A8D-4EE16E54D6B6}" destId="{C26FC16A-6FBB-467C-88DC-242FE36E6C3A}" srcOrd="2" destOrd="0" presId="urn:microsoft.com/office/officeart/2005/8/layout/orgChart1"/>
    <dgm:cxn modelId="{F7770C68-3858-4111-B006-8C5282FC03FA}" type="presParOf" srcId="{DB221263-DCA3-4493-A802-EF67D030ED5C}" destId="{C6FACF63-9D18-400D-BE25-2A6D627B4D3C}" srcOrd="2" destOrd="0" presId="urn:microsoft.com/office/officeart/2005/8/layout/orgChart1"/>
    <dgm:cxn modelId="{51B705F7-F248-47A2-B4F1-4B2ED720F25E}" type="presParOf" srcId="{57EEFBD4-9478-4160-BD6C-E8969F970607}" destId="{FAC95A7B-542F-4A4B-891F-E2104C0EEA1B}" srcOrd="2" destOrd="0" presId="urn:microsoft.com/office/officeart/2005/8/layout/orgChart1"/>
    <dgm:cxn modelId="{A0389CB9-214A-4221-990E-2EA347CF31AE}" type="presParOf" srcId="{57EEFBD4-9478-4160-BD6C-E8969F970607}" destId="{3E3E2919-019B-4D5B-826D-9C65FF264489}" srcOrd="3" destOrd="0" presId="urn:microsoft.com/office/officeart/2005/8/layout/orgChart1"/>
    <dgm:cxn modelId="{2677A591-79C7-443F-AA23-716CDC2C4D82}" type="presParOf" srcId="{3E3E2919-019B-4D5B-826D-9C65FF264489}" destId="{BCA08D2A-F9D7-47A6-B81E-F9D5FAC9EC05}" srcOrd="0" destOrd="0" presId="urn:microsoft.com/office/officeart/2005/8/layout/orgChart1"/>
    <dgm:cxn modelId="{B0B61D90-69E0-4458-AF99-E368E82E6737}" type="presParOf" srcId="{BCA08D2A-F9D7-47A6-B81E-F9D5FAC9EC05}" destId="{167E4463-084F-40F9-B1D2-51E09FD77823}" srcOrd="0" destOrd="0" presId="urn:microsoft.com/office/officeart/2005/8/layout/orgChart1"/>
    <dgm:cxn modelId="{83B8833F-B7E0-40B5-9BF0-65659985A26B}" type="presParOf" srcId="{BCA08D2A-F9D7-47A6-B81E-F9D5FAC9EC05}" destId="{1B6C6E57-240B-47D2-A13C-7091E33582EB}" srcOrd="1" destOrd="0" presId="urn:microsoft.com/office/officeart/2005/8/layout/orgChart1"/>
    <dgm:cxn modelId="{1603B8C8-C712-4571-A27D-50559506FE53}" type="presParOf" srcId="{3E3E2919-019B-4D5B-826D-9C65FF264489}" destId="{43C8212A-6FA0-459D-93D4-3A2C0A3BC420}" srcOrd="1" destOrd="0" presId="urn:microsoft.com/office/officeart/2005/8/layout/orgChart1"/>
    <dgm:cxn modelId="{0428DF02-0BF3-48DC-8DD6-A2A1FEABC7AB}" type="presParOf" srcId="{43C8212A-6FA0-459D-93D4-3A2C0A3BC420}" destId="{37247EB6-BBCD-4D8B-A5BF-74C0A87503FF}" srcOrd="0" destOrd="0" presId="urn:microsoft.com/office/officeart/2005/8/layout/orgChart1"/>
    <dgm:cxn modelId="{D42594B8-EDA3-4749-B4F1-EB56CD7A8DFE}" type="presParOf" srcId="{43C8212A-6FA0-459D-93D4-3A2C0A3BC420}" destId="{A4A8021E-A940-4FDA-90E4-4BDE25AFE4B5}" srcOrd="1" destOrd="0" presId="urn:microsoft.com/office/officeart/2005/8/layout/orgChart1"/>
    <dgm:cxn modelId="{02B15867-5C41-4506-920D-C161B3D5DC58}" type="presParOf" srcId="{A4A8021E-A940-4FDA-90E4-4BDE25AFE4B5}" destId="{00B239D4-0F2F-4082-93F6-994CAF237024}" srcOrd="0" destOrd="0" presId="urn:microsoft.com/office/officeart/2005/8/layout/orgChart1"/>
    <dgm:cxn modelId="{A596F9B1-5B15-4FA9-86B9-EE520E0A1854}" type="presParOf" srcId="{00B239D4-0F2F-4082-93F6-994CAF237024}" destId="{B19DFB39-105E-4E4D-922A-22B91FE41FE2}" srcOrd="0" destOrd="0" presId="urn:microsoft.com/office/officeart/2005/8/layout/orgChart1"/>
    <dgm:cxn modelId="{591F7F0E-7F18-4125-8A5C-26E1D5E082FB}" type="presParOf" srcId="{00B239D4-0F2F-4082-93F6-994CAF237024}" destId="{BC2C4837-4112-4405-B082-1C31720B57FF}" srcOrd="1" destOrd="0" presId="urn:microsoft.com/office/officeart/2005/8/layout/orgChart1"/>
    <dgm:cxn modelId="{E2BF84D3-CD3D-4E92-87DE-844D7ABFB375}" type="presParOf" srcId="{A4A8021E-A940-4FDA-90E4-4BDE25AFE4B5}" destId="{FFD5621F-CB9F-41E9-A40C-9C02386846FA}" srcOrd="1" destOrd="0" presId="urn:microsoft.com/office/officeart/2005/8/layout/orgChart1"/>
    <dgm:cxn modelId="{C2E4D769-42F9-455B-B673-6A7DCCA8BEB3}" type="presParOf" srcId="{A4A8021E-A940-4FDA-90E4-4BDE25AFE4B5}" destId="{BFBA7850-581B-4F33-884D-DFBF1AA2914F}" srcOrd="2" destOrd="0" presId="urn:microsoft.com/office/officeart/2005/8/layout/orgChart1"/>
    <dgm:cxn modelId="{647C6205-33B9-46CA-A397-1C221FBB989D}" type="presParOf" srcId="{43C8212A-6FA0-459D-93D4-3A2C0A3BC420}" destId="{D015ED00-0711-4B33-9F11-E88C54A5315B}" srcOrd="2" destOrd="0" presId="urn:microsoft.com/office/officeart/2005/8/layout/orgChart1"/>
    <dgm:cxn modelId="{AEA7D181-DE9A-4C1E-A68B-25E4BEC7A84B}" type="presParOf" srcId="{43C8212A-6FA0-459D-93D4-3A2C0A3BC420}" destId="{B9C47991-F507-4C7A-86D4-F05D8EA69E20}" srcOrd="3" destOrd="0" presId="urn:microsoft.com/office/officeart/2005/8/layout/orgChart1"/>
    <dgm:cxn modelId="{37B03322-8A9E-44A8-B66A-EDCC5899F357}" type="presParOf" srcId="{B9C47991-F507-4C7A-86D4-F05D8EA69E20}" destId="{C5B07DF9-EFA3-4A7C-88ED-8E1C74362CFB}" srcOrd="0" destOrd="0" presId="urn:microsoft.com/office/officeart/2005/8/layout/orgChart1"/>
    <dgm:cxn modelId="{1F8E1EA9-D8F5-4B95-848B-339ABD471F2A}" type="presParOf" srcId="{C5B07DF9-EFA3-4A7C-88ED-8E1C74362CFB}" destId="{D10E51ED-E9D8-4227-8290-EF98B71EB05A}" srcOrd="0" destOrd="0" presId="urn:microsoft.com/office/officeart/2005/8/layout/orgChart1"/>
    <dgm:cxn modelId="{80BAF8D5-8675-4F73-84BB-3B5C69BABD52}" type="presParOf" srcId="{C5B07DF9-EFA3-4A7C-88ED-8E1C74362CFB}" destId="{1DDB1A6B-E442-4ECE-B670-17BDD97CBBB4}" srcOrd="1" destOrd="0" presId="urn:microsoft.com/office/officeart/2005/8/layout/orgChart1"/>
    <dgm:cxn modelId="{9E839976-29C6-4703-9F68-B38579477A75}" type="presParOf" srcId="{B9C47991-F507-4C7A-86D4-F05D8EA69E20}" destId="{9836F527-5C15-491F-8439-6AD0146F1C99}" srcOrd="1" destOrd="0" presId="urn:microsoft.com/office/officeart/2005/8/layout/orgChart1"/>
    <dgm:cxn modelId="{302948B9-CAE1-4A7D-B0AD-E6B1131068BF}" type="presParOf" srcId="{B9C47991-F507-4C7A-86D4-F05D8EA69E20}" destId="{11817339-6A1E-4C17-A45D-6BA8C7840BC6}" srcOrd="2" destOrd="0" presId="urn:microsoft.com/office/officeart/2005/8/layout/orgChart1"/>
    <dgm:cxn modelId="{E0F11CEF-6321-4113-82ED-D8BFE457DCFA}" type="presParOf" srcId="{43C8212A-6FA0-459D-93D4-3A2C0A3BC420}" destId="{8E4511C7-1AD3-4C73-AA7C-0A4F0CD011D7}" srcOrd="4" destOrd="0" presId="urn:microsoft.com/office/officeart/2005/8/layout/orgChart1"/>
    <dgm:cxn modelId="{85AFF92B-4F38-4007-9BB7-61D8D36E3995}" type="presParOf" srcId="{43C8212A-6FA0-459D-93D4-3A2C0A3BC420}" destId="{A7C817B7-14CF-4779-8C06-787189B6006C}" srcOrd="5" destOrd="0" presId="urn:microsoft.com/office/officeart/2005/8/layout/orgChart1"/>
    <dgm:cxn modelId="{46B5C757-E5A7-4969-AD9F-F661CB54BCCA}" type="presParOf" srcId="{A7C817B7-14CF-4779-8C06-787189B6006C}" destId="{280B5585-3745-4FD1-B6B3-8602E950ED74}" srcOrd="0" destOrd="0" presId="urn:microsoft.com/office/officeart/2005/8/layout/orgChart1"/>
    <dgm:cxn modelId="{DB9E2986-E49F-4857-A4CF-94DF76D8BFA0}" type="presParOf" srcId="{280B5585-3745-4FD1-B6B3-8602E950ED74}" destId="{83CF1A53-DD0B-4CCC-A46E-4E1EDB9144DE}" srcOrd="0" destOrd="0" presId="urn:microsoft.com/office/officeart/2005/8/layout/orgChart1"/>
    <dgm:cxn modelId="{13C9927F-FCCA-499E-8EC5-6503243C9D81}" type="presParOf" srcId="{280B5585-3745-4FD1-B6B3-8602E950ED74}" destId="{A185BBC6-011D-492B-AFCD-8B91E96C46AB}" srcOrd="1" destOrd="0" presId="urn:microsoft.com/office/officeart/2005/8/layout/orgChart1"/>
    <dgm:cxn modelId="{53385D0B-2B28-41CB-95E6-633ED6FF77C2}" type="presParOf" srcId="{A7C817B7-14CF-4779-8C06-787189B6006C}" destId="{C2C10A70-8ABB-4870-8E08-AB9A3C0CFFC3}" srcOrd="1" destOrd="0" presId="urn:microsoft.com/office/officeart/2005/8/layout/orgChart1"/>
    <dgm:cxn modelId="{2BF0BC4D-A92E-4912-AE0F-7367143C4FCD}" type="presParOf" srcId="{A7C817B7-14CF-4779-8C06-787189B6006C}" destId="{EFDAF0DB-911F-4642-8D2A-A5BEE7649971}" srcOrd="2" destOrd="0" presId="urn:microsoft.com/office/officeart/2005/8/layout/orgChart1"/>
    <dgm:cxn modelId="{AF7FBFF9-A351-406A-8022-CCE26FB6D72E}" type="presParOf" srcId="{3E3E2919-019B-4D5B-826D-9C65FF264489}" destId="{E8D8ED25-F972-4D7F-AA71-BBE76F25B1F3}" srcOrd="2" destOrd="0" presId="urn:microsoft.com/office/officeart/2005/8/layout/orgChart1"/>
    <dgm:cxn modelId="{D6D36DE8-ADC2-436F-BD49-560C5457957D}" type="presParOf" srcId="{57EEFBD4-9478-4160-BD6C-E8969F970607}" destId="{268378C0-9133-4311-B344-A8CD28EF2EA0}" srcOrd="4" destOrd="0" presId="urn:microsoft.com/office/officeart/2005/8/layout/orgChart1"/>
    <dgm:cxn modelId="{4026E120-2BD0-40C4-9EA0-DC30DAB92B99}" type="presParOf" srcId="{57EEFBD4-9478-4160-BD6C-E8969F970607}" destId="{3049291B-C281-4805-A096-D5C4B92DE3BC}" srcOrd="5" destOrd="0" presId="urn:microsoft.com/office/officeart/2005/8/layout/orgChart1"/>
    <dgm:cxn modelId="{FF3B3012-DB90-44DB-BD48-28018591309C}" type="presParOf" srcId="{3049291B-C281-4805-A096-D5C4B92DE3BC}" destId="{286766D9-FF16-4038-83EC-4D59CDC7C429}" srcOrd="0" destOrd="0" presId="urn:microsoft.com/office/officeart/2005/8/layout/orgChart1"/>
    <dgm:cxn modelId="{DD217A57-B1F2-40C8-81FD-D55B9AD76600}" type="presParOf" srcId="{286766D9-FF16-4038-83EC-4D59CDC7C429}" destId="{814A1CD1-7D8A-46DB-BDFE-2F99050EDEFE}" srcOrd="0" destOrd="0" presId="urn:microsoft.com/office/officeart/2005/8/layout/orgChart1"/>
    <dgm:cxn modelId="{2BEB4B6E-2981-47C9-8A32-65EC1217F598}" type="presParOf" srcId="{286766D9-FF16-4038-83EC-4D59CDC7C429}" destId="{5570144F-8B2A-42FD-A15C-E1637015A22F}" srcOrd="1" destOrd="0" presId="urn:microsoft.com/office/officeart/2005/8/layout/orgChart1"/>
    <dgm:cxn modelId="{5C72F9B3-9B19-4F7D-A9C5-1D05685BE365}" type="presParOf" srcId="{3049291B-C281-4805-A096-D5C4B92DE3BC}" destId="{BC35AC65-FFB1-4EC3-8C3F-BD9DA4396688}" srcOrd="1" destOrd="0" presId="urn:microsoft.com/office/officeart/2005/8/layout/orgChart1"/>
    <dgm:cxn modelId="{79D92549-1425-415D-89AF-284B7324C96D}" type="presParOf" srcId="{BC35AC65-FFB1-4EC3-8C3F-BD9DA4396688}" destId="{37962DA5-02A6-4DD5-8700-39122738D12A}" srcOrd="0" destOrd="0" presId="urn:microsoft.com/office/officeart/2005/8/layout/orgChart1"/>
    <dgm:cxn modelId="{94B8B1B0-BFAA-4C31-9C05-6B8EB9968821}" type="presParOf" srcId="{BC35AC65-FFB1-4EC3-8C3F-BD9DA4396688}" destId="{9D48FA4B-C51B-4979-9FAD-411E64122316}" srcOrd="1" destOrd="0" presId="urn:microsoft.com/office/officeart/2005/8/layout/orgChart1"/>
    <dgm:cxn modelId="{31352B99-9B62-43E9-89F3-0094F48E27ED}" type="presParOf" srcId="{9D48FA4B-C51B-4979-9FAD-411E64122316}" destId="{A1800D4B-600F-44C1-BA45-DD79FB91634B}" srcOrd="0" destOrd="0" presId="urn:microsoft.com/office/officeart/2005/8/layout/orgChart1"/>
    <dgm:cxn modelId="{06D1DA52-EB75-4E04-9CA9-4B8637F2FB3E}" type="presParOf" srcId="{A1800D4B-600F-44C1-BA45-DD79FB91634B}" destId="{BE788534-4F93-4DFA-9124-73520C82C147}" srcOrd="0" destOrd="0" presId="urn:microsoft.com/office/officeart/2005/8/layout/orgChart1"/>
    <dgm:cxn modelId="{55B43843-73BC-4711-98A2-E1ADAE1728B7}" type="presParOf" srcId="{A1800D4B-600F-44C1-BA45-DD79FB91634B}" destId="{3CBB8F99-2038-4E4A-A757-66B1140D5171}" srcOrd="1" destOrd="0" presId="urn:microsoft.com/office/officeart/2005/8/layout/orgChart1"/>
    <dgm:cxn modelId="{04864342-AA37-44EC-B69F-EE296BFDAE73}" type="presParOf" srcId="{9D48FA4B-C51B-4979-9FAD-411E64122316}" destId="{119B3DA7-A2BD-486A-B9F9-A25D853EC72E}" srcOrd="1" destOrd="0" presId="urn:microsoft.com/office/officeart/2005/8/layout/orgChart1"/>
    <dgm:cxn modelId="{5FA9F8F2-DC9B-46E7-B00B-FCB0FDA87660}" type="presParOf" srcId="{9D48FA4B-C51B-4979-9FAD-411E64122316}" destId="{B68D9ED3-D4D9-48A8-ADD2-8D65F1FC874C}" srcOrd="2" destOrd="0" presId="urn:microsoft.com/office/officeart/2005/8/layout/orgChart1"/>
    <dgm:cxn modelId="{048298CD-907C-47F9-9EAD-0D4B839B916E}" type="presParOf" srcId="{BC35AC65-FFB1-4EC3-8C3F-BD9DA4396688}" destId="{4D40D3AD-1DFF-46A6-8394-137937E19155}" srcOrd="2" destOrd="0" presId="urn:microsoft.com/office/officeart/2005/8/layout/orgChart1"/>
    <dgm:cxn modelId="{F0CFA601-DA5B-4852-B8B3-DA3BACF4BA44}" type="presParOf" srcId="{BC35AC65-FFB1-4EC3-8C3F-BD9DA4396688}" destId="{B67052E6-233A-482B-B87A-E465C906B3AC}" srcOrd="3" destOrd="0" presId="urn:microsoft.com/office/officeart/2005/8/layout/orgChart1"/>
    <dgm:cxn modelId="{22F207AD-888B-41B8-AABE-266FC4F66111}" type="presParOf" srcId="{B67052E6-233A-482B-B87A-E465C906B3AC}" destId="{8E6198C2-DB60-4D2C-9672-03A1AD2675A6}" srcOrd="0" destOrd="0" presId="urn:microsoft.com/office/officeart/2005/8/layout/orgChart1"/>
    <dgm:cxn modelId="{627F9AD0-ADB1-42E1-A0F1-F3D986D44B66}" type="presParOf" srcId="{8E6198C2-DB60-4D2C-9672-03A1AD2675A6}" destId="{04137A8A-BBE3-4DBD-A31E-F7674C380D73}" srcOrd="0" destOrd="0" presId="urn:microsoft.com/office/officeart/2005/8/layout/orgChart1"/>
    <dgm:cxn modelId="{C7EDA46C-AD9F-4CB2-895A-F4C1D63971A0}" type="presParOf" srcId="{8E6198C2-DB60-4D2C-9672-03A1AD2675A6}" destId="{67116FB5-6A03-46E5-AD59-2E8320264817}" srcOrd="1" destOrd="0" presId="urn:microsoft.com/office/officeart/2005/8/layout/orgChart1"/>
    <dgm:cxn modelId="{0D99E025-1960-4024-8EEF-35DFAF3A40C2}" type="presParOf" srcId="{B67052E6-233A-482B-B87A-E465C906B3AC}" destId="{02CEE20C-8814-48CD-BF64-BA1D8F186B59}" srcOrd="1" destOrd="0" presId="urn:microsoft.com/office/officeart/2005/8/layout/orgChart1"/>
    <dgm:cxn modelId="{4B109D24-A71E-4153-8840-FB466EA0EC42}" type="presParOf" srcId="{B67052E6-233A-482B-B87A-E465C906B3AC}" destId="{E1C03657-6912-4A0F-8E9B-1BE5373C0AA2}" srcOrd="2" destOrd="0" presId="urn:microsoft.com/office/officeart/2005/8/layout/orgChart1"/>
    <dgm:cxn modelId="{20A889FA-591B-4CFE-A8B4-72E9AC9E9D8B}" type="presParOf" srcId="{3049291B-C281-4805-A096-D5C4B92DE3BC}" destId="{6C39A2EA-2EC8-45B4-B337-C28B87CCBDB3}" srcOrd="2" destOrd="0" presId="urn:microsoft.com/office/officeart/2005/8/layout/orgChart1"/>
    <dgm:cxn modelId="{90B2B432-EB75-4D7C-80AE-8ABBD5246964}" type="presParOf" srcId="{E45E5338-B922-4030-AF94-8D29442A1C6D}" destId="{F31E76DD-416B-490D-8B04-AA013B37837A}" srcOrd="2" destOrd="0" presId="urn:microsoft.com/office/officeart/2005/8/layout/orgChart1"/>
    <dgm:cxn modelId="{A93D36CD-C501-42BB-9E55-1A35C5B3C806}" type="presParOf" srcId="{35A8600E-6C12-4F13-9FB0-2EEB7CE6851C}" destId="{908F2A5E-A67B-4688-A654-13177173B680}" srcOrd="2" destOrd="0" presId="urn:microsoft.com/office/officeart/2005/8/layout/orgChart1"/>
    <dgm:cxn modelId="{92FD1CB5-6CEF-4D16-A2CB-1C0C4807147F}" type="presParOf" srcId="{35A8600E-6C12-4F13-9FB0-2EEB7CE6851C}" destId="{2BD59E7A-D449-42D0-9EF3-3E962CC64916}" srcOrd="3" destOrd="0" presId="urn:microsoft.com/office/officeart/2005/8/layout/orgChart1"/>
    <dgm:cxn modelId="{AC9DF9E8-E6C8-4E94-8845-C55AD940E4D3}" type="presParOf" srcId="{2BD59E7A-D449-42D0-9EF3-3E962CC64916}" destId="{FD37A3F3-21E5-4339-8E9E-979A498E6171}" srcOrd="0" destOrd="0" presId="urn:microsoft.com/office/officeart/2005/8/layout/orgChart1"/>
    <dgm:cxn modelId="{2B324C97-2FC6-4A1B-A860-B8BFAF4B3C92}" type="presParOf" srcId="{FD37A3F3-21E5-4339-8E9E-979A498E6171}" destId="{1AA8B693-DF2B-408D-8FD2-D5040E666933}" srcOrd="0" destOrd="0" presId="urn:microsoft.com/office/officeart/2005/8/layout/orgChart1"/>
    <dgm:cxn modelId="{65FBB99E-9525-4EE0-9BD8-42762C4CED6F}" type="presParOf" srcId="{FD37A3F3-21E5-4339-8E9E-979A498E6171}" destId="{9E2030C8-BF27-4001-AC87-599AD1B05EC5}" srcOrd="1" destOrd="0" presId="urn:microsoft.com/office/officeart/2005/8/layout/orgChart1"/>
    <dgm:cxn modelId="{F1F27822-151F-4CA2-9288-2990D1896D10}" type="presParOf" srcId="{2BD59E7A-D449-42D0-9EF3-3E962CC64916}" destId="{41AC6A35-31AC-41F9-9CC8-DE8291D41256}" srcOrd="1" destOrd="0" presId="urn:microsoft.com/office/officeart/2005/8/layout/orgChart1"/>
    <dgm:cxn modelId="{B8DEF542-E23E-4B3C-8DC9-656AECC88191}" type="presParOf" srcId="{41AC6A35-31AC-41F9-9CC8-DE8291D41256}" destId="{95E81695-FAE9-41B2-AB79-92E391BEE6EC}" srcOrd="0" destOrd="0" presId="urn:microsoft.com/office/officeart/2005/8/layout/orgChart1"/>
    <dgm:cxn modelId="{1373A380-7B96-4FBB-9E45-05F9A9BB0886}" type="presParOf" srcId="{41AC6A35-31AC-41F9-9CC8-DE8291D41256}" destId="{94144AC4-C00E-4403-8B5F-C30A1D41BE37}" srcOrd="1" destOrd="0" presId="urn:microsoft.com/office/officeart/2005/8/layout/orgChart1"/>
    <dgm:cxn modelId="{291056E1-D145-4041-8FF2-295108AE4C22}" type="presParOf" srcId="{94144AC4-C00E-4403-8B5F-C30A1D41BE37}" destId="{27F7144E-DB74-45DA-81A1-86C8C011F233}" srcOrd="0" destOrd="0" presId="urn:microsoft.com/office/officeart/2005/8/layout/orgChart1"/>
    <dgm:cxn modelId="{090C470F-39AA-4DD0-89D9-2FFCD4E37248}" type="presParOf" srcId="{27F7144E-DB74-45DA-81A1-86C8C011F233}" destId="{4A2325E3-A0FF-4B91-A0F9-86FCF31106C5}" srcOrd="0" destOrd="0" presId="urn:microsoft.com/office/officeart/2005/8/layout/orgChart1"/>
    <dgm:cxn modelId="{B4EB5FD8-F534-47BB-9657-B3BA4C5ED79C}" type="presParOf" srcId="{27F7144E-DB74-45DA-81A1-86C8C011F233}" destId="{165A4E98-0B58-4539-93BF-973D9200319A}" srcOrd="1" destOrd="0" presId="urn:microsoft.com/office/officeart/2005/8/layout/orgChart1"/>
    <dgm:cxn modelId="{751943E5-5C70-489F-83D9-C1413B2EC778}" type="presParOf" srcId="{94144AC4-C00E-4403-8B5F-C30A1D41BE37}" destId="{11C56359-2611-40FE-8BA6-879603D54BDC}" srcOrd="1" destOrd="0" presId="urn:microsoft.com/office/officeart/2005/8/layout/orgChart1"/>
    <dgm:cxn modelId="{80DB334F-A65E-41FE-9AA0-8887441731AF}" type="presParOf" srcId="{11C56359-2611-40FE-8BA6-879603D54BDC}" destId="{C6A13714-3531-4FCF-9EED-0DE252E442BE}" srcOrd="0" destOrd="0" presId="urn:microsoft.com/office/officeart/2005/8/layout/orgChart1"/>
    <dgm:cxn modelId="{849B2422-06E7-43DD-A049-A627EACA7085}" type="presParOf" srcId="{11C56359-2611-40FE-8BA6-879603D54BDC}" destId="{C8046BDD-AA5E-4FFE-908A-F1B793AF1C5D}" srcOrd="1" destOrd="0" presId="urn:microsoft.com/office/officeart/2005/8/layout/orgChart1"/>
    <dgm:cxn modelId="{267ABB0E-C4FF-4ADE-BDF6-40291945CDED}" type="presParOf" srcId="{C8046BDD-AA5E-4FFE-908A-F1B793AF1C5D}" destId="{9B837D7C-7740-41C7-9F09-4042EFDD8E01}" srcOrd="0" destOrd="0" presId="urn:microsoft.com/office/officeart/2005/8/layout/orgChart1"/>
    <dgm:cxn modelId="{3F216CF7-CCB6-4562-B302-AED27FB8A868}" type="presParOf" srcId="{9B837D7C-7740-41C7-9F09-4042EFDD8E01}" destId="{34E2F788-5D23-4955-A407-E5D7C715E702}" srcOrd="0" destOrd="0" presId="urn:microsoft.com/office/officeart/2005/8/layout/orgChart1"/>
    <dgm:cxn modelId="{ABB5A8C1-1E52-4BAB-990A-10691DA8B0BE}" type="presParOf" srcId="{9B837D7C-7740-41C7-9F09-4042EFDD8E01}" destId="{AF5E92E9-28FD-405F-8889-9DD16E3B2C40}" srcOrd="1" destOrd="0" presId="urn:microsoft.com/office/officeart/2005/8/layout/orgChart1"/>
    <dgm:cxn modelId="{BF2FD4F4-1C66-410C-B3F1-DB6A3D42C921}" type="presParOf" srcId="{C8046BDD-AA5E-4FFE-908A-F1B793AF1C5D}" destId="{15F9EF5D-A7C3-49DD-AF3D-2F40367A10FC}" srcOrd="1" destOrd="0" presId="urn:microsoft.com/office/officeart/2005/8/layout/orgChart1"/>
    <dgm:cxn modelId="{5DCC5CCF-899B-4547-BE4C-AD4B21E80023}" type="presParOf" srcId="{C8046BDD-AA5E-4FFE-908A-F1B793AF1C5D}" destId="{3AD9B336-0D3B-43E5-8F96-7A76098E7339}" srcOrd="2" destOrd="0" presId="urn:microsoft.com/office/officeart/2005/8/layout/orgChart1"/>
    <dgm:cxn modelId="{6D8C320A-0EDD-4083-A638-DB5F34ECDADA}" type="presParOf" srcId="{11C56359-2611-40FE-8BA6-879603D54BDC}" destId="{A4929BD5-1BE3-41F1-A293-6743952511BF}" srcOrd="2" destOrd="0" presId="urn:microsoft.com/office/officeart/2005/8/layout/orgChart1"/>
    <dgm:cxn modelId="{00967982-A173-4367-ADFB-442731C3A158}" type="presParOf" srcId="{11C56359-2611-40FE-8BA6-879603D54BDC}" destId="{7908D4BF-87DD-4684-A973-441EE25B26CC}" srcOrd="3" destOrd="0" presId="urn:microsoft.com/office/officeart/2005/8/layout/orgChart1"/>
    <dgm:cxn modelId="{1D797336-49DC-4531-9D1B-A9FED7F05CDD}" type="presParOf" srcId="{7908D4BF-87DD-4684-A973-441EE25B26CC}" destId="{842E3881-69EB-483A-9AF7-0457586CF2AA}" srcOrd="0" destOrd="0" presId="urn:microsoft.com/office/officeart/2005/8/layout/orgChart1"/>
    <dgm:cxn modelId="{D5B568DA-49C2-4758-8290-8DDEEA39C376}" type="presParOf" srcId="{842E3881-69EB-483A-9AF7-0457586CF2AA}" destId="{7F9E016F-BC2A-4718-8205-9BC1F7BDC6CE}" srcOrd="0" destOrd="0" presId="urn:microsoft.com/office/officeart/2005/8/layout/orgChart1"/>
    <dgm:cxn modelId="{51D03D48-5ED8-4BCE-B2DA-EC12D809C8EA}" type="presParOf" srcId="{842E3881-69EB-483A-9AF7-0457586CF2AA}" destId="{4D625CDD-E928-44B4-9A3A-AC0705A56A6F}" srcOrd="1" destOrd="0" presId="urn:microsoft.com/office/officeart/2005/8/layout/orgChart1"/>
    <dgm:cxn modelId="{A1FE798B-046E-4A71-B223-960F0462413C}" type="presParOf" srcId="{7908D4BF-87DD-4684-A973-441EE25B26CC}" destId="{4BDF8354-32E9-4C48-8816-E523DA952E9D}" srcOrd="1" destOrd="0" presId="urn:microsoft.com/office/officeart/2005/8/layout/orgChart1"/>
    <dgm:cxn modelId="{6BA8E5D4-E069-430D-9869-1C945EC18AC4}" type="presParOf" srcId="{7908D4BF-87DD-4684-A973-441EE25B26CC}" destId="{208497F1-B0FE-40F6-8CDC-7901B9EC40F8}" srcOrd="2" destOrd="0" presId="urn:microsoft.com/office/officeart/2005/8/layout/orgChart1"/>
    <dgm:cxn modelId="{6390AE7F-2BD2-4478-B3F0-5258EE3CE02A}" type="presParOf" srcId="{11C56359-2611-40FE-8BA6-879603D54BDC}" destId="{197A116F-9186-48F0-A2C8-F382003BDF22}" srcOrd="4" destOrd="0" presId="urn:microsoft.com/office/officeart/2005/8/layout/orgChart1"/>
    <dgm:cxn modelId="{39C891E9-9461-4567-BB47-C9C1C9F5FB59}" type="presParOf" srcId="{11C56359-2611-40FE-8BA6-879603D54BDC}" destId="{BD92C6E0-822D-4754-9C39-65965FF5F9C4}" srcOrd="5" destOrd="0" presId="urn:microsoft.com/office/officeart/2005/8/layout/orgChart1"/>
    <dgm:cxn modelId="{D98C51BB-81B1-4669-8731-08546B0898AB}" type="presParOf" srcId="{BD92C6E0-822D-4754-9C39-65965FF5F9C4}" destId="{CA806CF2-4B7F-44E6-B338-1EEB5BEBFF56}" srcOrd="0" destOrd="0" presId="urn:microsoft.com/office/officeart/2005/8/layout/orgChart1"/>
    <dgm:cxn modelId="{99FC98FA-7E01-428C-9F13-9D280A177083}" type="presParOf" srcId="{CA806CF2-4B7F-44E6-B338-1EEB5BEBFF56}" destId="{49C3F3DC-E617-4D81-99B0-41ECE8D3DA9E}" srcOrd="0" destOrd="0" presId="urn:microsoft.com/office/officeart/2005/8/layout/orgChart1"/>
    <dgm:cxn modelId="{B7E9ACAF-2D5D-4950-B7F1-831736D7435C}" type="presParOf" srcId="{CA806CF2-4B7F-44E6-B338-1EEB5BEBFF56}" destId="{081DA726-B493-466B-A1F7-7DB4E85E9538}" srcOrd="1" destOrd="0" presId="urn:microsoft.com/office/officeart/2005/8/layout/orgChart1"/>
    <dgm:cxn modelId="{63F87C59-243D-4FCA-BB62-12CD199B4A10}" type="presParOf" srcId="{BD92C6E0-822D-4754-9C39-65965FF5F9C4}" destId="{821CD6D1-104C-4DD4-93AF-962412F83E81}" srcOrd="1" destOrd="0" presId="urn:microsoft.com/office/officeart/2005/8/layout/orgChart1"/>
    <dgm:cxn modelId="{6A6E62BE-7DCE-4981-B561-E24EFEC19545}" type="presParOf" srcId="{BD92C6E0-822D-4754-9C39-65965FF5F9C4}" destId="{F1EFFDAB-BBED-4E35-B950-17B0D14394F0}" srcOrd="2" destOrd="0" presId="urn:microsoft.com/office/officeart/2005/8/layout/orgChart1"/>
    <dgm:cxn modelId="{CEB554AC-D84D-4041-91CE-B43C0EFCA285}" type="presParOf" srcId="{94144AC4-C00E-4403-8B5F-C30A1D41BE37}" destId="{6088B71B-383B-4F99-AB3E-3200CFFC1906}" srcOrd="2" destOrd="0" presId="urn:microsoft.com/office/officeart/2005/8/layout/orgChart1"/>
    <dgm:cxn modelId="{A29AEBCA-8ED7-46FA-9080-2DDF41FAF422}" type="presParOf" srcId="{2BD59E7A-D449-42D0-9EF3-3E962CC64916}" destId="{5F96EAFD-9481-4F82-BE57-462DE136F9C5}" srcOrd="2" destOrd="0" presId="urn:microsoft.com/office/officeart/2005/8/layout/orgChart1"/>
    <dgm:cxn modelId="{9ACB9D1F-2D0F-4F3B-9FF7-EAF0E1C4B363}" type="presParOf" srcId="{17377D99-64B3-4085-9E10-57A7243067A6}" destId="{8E71BD70-3E56-4ED2-806E-2EEF58395B1E}"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5ABE6282-1A09-4334-8573-288758E0DEC6}" type="doc">
      <dgm:prSet loTypeId="urn:microsoft.com/office/officeart/2005/8/layout/hierarchy1" loCatId="hierarchy" qsTypeId="urn:microsoft.com/office/officeart/2005/8/quickstyle/simple1#2" qsCatId="simple" csTypeId="urn:microsoft.com/office/officeart/2005/8/colors/accent1_2#3" csCatId="accent1" phldr="1"/>
      <dgm:spPr/>
      <dgm:t>
        <a:bodyPr/>
        <a:lstStyle/>
        <a:p>
          <a:endParaRPr lang="en-GB"/>
        </a:p>
      </dgm:t>
    </dgm:pt>
    <dgm:pt modelId="{E2EBA58F-B92C-4A61-8D50-F48246B04D2C}">
      <dgm:prSet phldrT="[Text]" custT="1"/>
      <dgm:spPr/>
      <dgm:t>
        <a:bodyPr/>
        <a:lstStyle/>
        <a:p>
          <a:r>
            <a:rPr lang="en-GB" sz="2800" dirty="0"/>
            <a:t>New Bonds</a:t>
          </a:r>
        </a:p>
      </dgm:t>
    </dgm:pt>
    <dgm:pt modelId="{44B523A5-FBDC-4469-AC50-D206E51F8E90}" type="parTrans" cxnId="{0AFB61EB-7AC6-4F03-BFA1-3828913C3375}">
      <dgm:prSet/>
      <dgm:spPr/>
      <dgm:t>
        <a:bodyPr/>
        <a:lstStyle/>
        <a:p>
          <a:endParaRPr lang="en-GB" sz="2000"/>
        </a:p>
      </dgm:t>
    </dgm:pt>
    <dgm:pt modelId="{10604731-E1AF-4C51-B790-47601A4AC1E9}" type="sibTrans" cxnId="{0AFB61EB-7AC6-4F03-BFA1-3828913C3375}">
      <dgm:prSet/>
      <dgm:spPr/>
      <dgm:t>
        <a:bodyPr/>
        <a:lstStyle/>
        <a:p>
          <a:endParaRPr lang="en-GB" sz="2000"/>
        </a:p>
      </dgm:t>
    </dgm:pt>
    <dgm:pt modelId="{DC4D2D6B-0699-4DC9-AF20-7F2C282631D9}">
      <dgm:prSet custT="1"/>
      <dgm:spPr/>
      <dgm:t>
        <a:bodyPr/>
        <a:lstStyle/>
        <a:p>
          <a:r>
            <a:rPr lang="en-GB" sz="2800" dirty="0"/>
            <a:t>Theoretical</a:t>
          </a:r>
        </a:p>
      </dgm:t>
    </dgm:pt>
    <dgm:pt modelId="{F768DD8F-15DE-4FEE-A878-826B4566999B}" type="parTrans" cxnId="{DE4DAD6D-08D3-4DEE-9211-28ABC8DED5D9}">
      <dgm:prSet/>
      <dgm:spPr/>
      <dgm:t>
        <a:bodyPr/>
        <a:lstStyle/>
        <a:p>
          <a:endParaRPr lang="en-GB" sz="2000"/>
        </a:p>
      </dgm:t>
    </dgm:pt>
    <dgm:pt modelId="{14D712C8-4689-487C-A86E-89238DD44209}" type="sibTrans" cxnId="{DE4DAD6D-08D3-4DEE-9211-28ABC8DED5D9}">
      <dgm:prSet/>
      <dgm:spPr/>
      <dgm:t>
        <a:bodyPr/>
        <a:lstStyle/>
        <a:p>
          <a:endParaRPr lang="en-GB" sz="2000"/>
        </a:p>
      </dgm:t>
    </dgm:pt>
    <dgm:pt modelId="{83CA6A8E-797D-483D-8697-087A878D6890}">
      <dgm:prSet phldrT="[Text]" custT="1"/>
      <dgm:spPr/>
      <dgm:t>
        <a:bodyPr/>
        <a:lstStyle/>
        <a:p>
          <a:r>
            <a:rPr lang="en-GB" sz="2800" dirty="0"/>
            <a:t>Yield to maturity </a:t>
          </a:r>
        </a:p>
      </dgm:t>
    </dgm:pt>
    <dgm:pt modelId="{3867E038-0CC5-4159-8D8E-735A9924DB8D}" type="sibTrans" cxnId="{3849BD68-15F4-4BF3-9C81-D50BE3A48DC2}">
      <dgm:prSet/>
      <dgm:spPr/>
      <dgm:t>
        <a:bodyPr/>
        <a:lstStyle/>
        <a:p>
          <a:endParaRPr lang="en-GB" sz="2000"/>
        </a:p>
      </dgm:t>
    </dgm:pt>
    <dgm:pt modelId="{DBED2BDA-0484-4BB3-A115-BE8DAFF5F58F}" type="parTrans" cxnId="{3849BD68-15F4-4BF3-9C81-D50BE3A48DC2}">
      <dgm:prSet/>
      <dgm:spPr/>
      <dgm:t>
        <a:bodyPr/>
        <a:lstStyle/>
        <a:p>
          <a:endParaRPr lang="en-GB" sz="2000"/>
        </a:p>
      </dgm:t>
    </dgm:pt>
    <dgm:pt modelId="{12BD254C-93D2-4374-BEEE-DB0F70A94A0F}" type="pres">
      <dgm:prSet presAssocID="{5ABE6282-1A09-4334-8573-288758E0DEC6}" presName="hierChild1" presStyleCnt="0">
        <dgm:presLayoutVars>
          <dgm:chPref val="1"/>
          <dgm:dir/>
          <dgm:animOne val="branch"/>
          <dgm:animLvl val="lvl"/>
          <dgm:resizeHandles/>
        </dgm:presLayoutVars>
      </dgm:prSet>
      <dgm:spPr/>
    </dgm:pt>
    <dgm:pt modelId="{DC6AE829-A764-4F59-803F-0D4C995CDF12}" type="pres">
      <dgm:prSet presAssocID="{E2EBA58F-B92C-4A61-8D50-F48246B04D2C}" presName="hierRoot1" presStyleCnt="0"/>
      <dgm:spPr/>
    </dgm:pt>
    <dgm:pt modelId="{AFB0C3E6-B3FA-4581-BC94-5615988EA313}" type="pres">
      <dgm:prSet presAssocID="{E2EBA58F-B92C-4A61-8D50-F48246B04D2C}" presName="composite" presStyleCnt="0"/>
      <dgm:spPr/>
    </dgm:pt>
    <dgm:pt modelId="{EE5EB0BF-0C83-4601-8DEC-E7E29EFA1631}" type="pres">
      <dgm:prSet presAssocID="{E2EBA58F-B92C-4A61-8D50-F48246B04D2C}" presName="background" presStyleLbl="node0" presStyleIdx="0" presStyleCnt="1"/>
      <dgm:spPr/>
    </dgm:pt>
    <dgm:pt modelId="{7854AE86-6BBE-4C24-8A55-BE8E0396B292}" type="pres">
      <dgm:prSet presAssocID="{E2EBA58F-B92C-4A61-8D50-F48246B04D2C}" presName="text" presStyleLbl="fgAcc0" presStyleIdx="0" presStyleCnt="1" custScaleX="205457" custScaleY="127664">
        <dgm:presLayoutVars>
          <dgm:chPref val="3"/>
        </dgm:presLayoutVars>
      </dgm:prSet>
      <dgm:spPr/>
    </dgm:pt>
    <dgm:pt modelId="{77E310FC-7E01-4B82-B0B7-9223FAC41A69}" type="pres">
      <dgm:prSet presAssocID="{E2EBA58F-B92C-4A61-8D50-F48246B04D2C}" presName="hierChild2" presStyleCnt="0"/>
      <dgm:spPr/>
    </dgm:pt>
    <dgm:pt modelId="{73F23EBA-C349-48CC-8345-37CA90B3A471}" type="pres">
      <dgm:prSet presAssocID="{F768DD8F-15DE-4FEE-A878-826B4566999B}" presName="Name10" presStyleLbl="parChTrans1D2" presStyleIdx="0" presStyleCnt="2"/>
      <dgm:spPr/>
    </dgm:pt>
    <dgm:pt modelId="{C6351452-B134-457F-B251-4A1034D6A885}" type="pres">
      <dgm:prSet presAssocID="{DC4D2D6B-0699-4DC9-AF20-7F2C282631D9}" presName="hierRoot2" presStyleCnt="0"/>
      <dgm:spPr/>
    </dgm:pt>
    <dgm:pt modelId="{94272D07-F973-4984-8983-E478DBEE4442}" type="pres">
      <dgm:prSet presAssocID="{DC4D2D6B-0699-4DC9-AF20-7F2C282631D9}" presName="composite2" presStyleCnt="0"/>
      <dgm:spPr/>
    </dgm:pt>
    <dgm:pt modelId="{892F2D49-A60E-431E-BCCA-4916CDD7B358}" type="pres">
      <dgm:prSet presAssocID="{DC4D2D6B-0699-4DC9-AF20-7F2C282631D9}" presName="background2" presStyleLbl="node2" presStyleIdx="0" presStyleCnt="2"/>
      <dgm:spPr/>
    </dgm:pt>
    <dgm:pt modelId="{9EB4076D-0FFF-4B08-9500-31262360EC48}" type="pres">
      <dgm:prSet presAssocID="{DC4D2D6B-0699-4DC9-AF20-7F2C282631D9}" presName="text2" presStyleLbl="fgAcc2" presStyleIdx="0" presStyleCnt="2" custScaleX="179956" custLinFactNeighborX="-59944">
        <dgm:presLayoutVars>
          <dgm:chPref val="3"/>
        </dgm:presLayoutVars>
      </dgm:prSet>
      <dgm:spPr/>
    </dgm:pt>
    <dgm:pt modelId="{C17FC658-3B9E-408D-8C5F-A66EA282E7C5}" type="pres">
      <dgm:prSet presAssocID="{DC4D2D6B-0699-4DC9-AF20-7F2C282631D9}" presName="hierChild3" presStyleCnt="0"/>
      <dgm:spPr/>
    </dgm:pt>
    <dgm:pt modelId="{C1734A9C-09E3-4573-ADA0-D0413E2C81A0}" type="pres">
      <dgm:prSet presAssocID="{DBED2BDA-0484-4BB3-A115-BE8DAFF5F58F}" presName="Name10" presStyleLbl="parChTrans1D2" presStyleIdx="1" presStyleCnt="2"/>
      <dgm:spPr/>
    </dgm:pt>
    <dgm:pt modelId="{13C4F69F-18C4-4FCE-89BF-C5E8770EFD64}" type="pres">
      <dgm:prSet presAssocID="{83CA6A8E-797D-483D-8697-087A878D6890}" presName="hierRoot2" presStyleCnt="0"/>
      <dgm:spPr/>
    </dgm:pt>
    <dgm:pt modelId="{300B41FE-93AB-49CB-9AA1-91A0EE409B47}" type="pres">
      <dgm:prSet presAssocID="{83CA6A8E-797D-483D-8697-087A878D6890}" presName="composite2" presStyleCnt="0"/>
      <dgm:spPr/>
    </dgm:pt>
    <dgm:pt modelId="{281B4646-C4EA-41C7-82D7-E6081C3E9C73}" type="pres">
      <dgm:prSet presAssocID="{83CA6A8E-797D-483D-8697-087A878D6890}" presName="background2" presStyleLbl="node2" presStyleIdx="1" presStyleCnt="2"/>
      <dgm:spPr/>
    </dgm:pt>
    <dgm:pt modelId="{3325FD72-BD32-4907-A9D3-7CDB70732A9E}" type="pres">
      <dgm:prSet presAssocID="{83CA6A8E-797D-483D-8697-087A878D6890}" presName="text2" presStyleLbl="fgAcc2" presStyleIdx="1" presStyleCnt="2" custScaleX="179956" custLinFactNeighborX="96356">
        <dgm:presLayoutVars>
          <dgm:chPref val="3"/>
        </dgm:presLayoutVars>
      </dgm:prSet>
      <dgm:spPr/>
    </dgm:pt>
    <dgm:pt modelId="{4BD230D0-A85F-48BC-82C9-919D6D272890}" type="pres">
      <dgm:prSet presAssocID="{83CA6A8E-797D-483D-8697-087A878D6890}" presName="hierChild3" presStyleCnt="0"/>
      <dgm:spPr/>
    </dgm:pt>
  </dgm:ptLst>
  <dgm:cxnLst>
    <dgm:cxn modelId="{9B091F2D-3EF1-440F-B52A-9086FAA0E20E}" type="presOf" srcId="{F768DD8F-15DE-4FEE-A878-826B4566999B}" destId="{73F23EBA-C349-48CC-8345-37CA90B3A471}" srcOrd="0" destOrd="0" presId="urn:microsoft.com/office/officeart/2005/8/layout/hierarchy1"/>
    <dgm:cxn modelId="{1E4C403E-B322-4A12-9463-1721E10F4BD7}" type="presOf" srcId="{5ABE6282-1A09-4334-8573-288758E0DEC6}" destId="{12BD254C-93D2-4374-BEEE-DB0F70A94A0F}" srcOrd="0" destOrd="0" presId="urn:microsoft.com/office/officeart/2005/8/layout/hierarchy1"/>
    <dgm:cxn modelId="{3849BD68-15F4-4BF3-9C81-D50BE3A48DC2}" srcId="{E2EBA58F-B92C-4A61-8D50-F48246B04D2C}" destId="{83CA6A8E-797D-483D-8697-087A878D6890}" srcOrd="1" destOrd="0" parTransId="{DBED2BDA-0484-4BB3-A115-BE8DAFF5F58F}" sibTransId="{3867E038-0CC5-4159-8D8E-735A9924DB8D}"/>
    <dgm:cxn modelId="{DE4DAD6D-08D3-4DEE-9211-28ABC8DED5D9}" srcId="{E2EBA58F-B92C-4A61-8D50-F48246B04D2C}" destId="{DC4D2D6B-0699-4DC9-AF20-7F2C282631D9}" srcOrd="0" destOrd="0" parTransId="{F768DD8F-15DE-4FEE-A878-826B4566999B}" sibTransId="{14D712C8-4689-487C-A86E-89238DD44209}"/>
    <dgm:cxn modelId="{C60AC779-25B1-4073-AC5A-B2C79B19118A}" type="presOf" srcId="{83CA6A8E-797D-483D-8697-087A878D6890}" destId="{3325FD72-BD32-4907-A9D3-7CDB70732A9E}" srcOrd="0" destOrd="0" presId="urn:microsoft.com/office/officeart/2005/8/layout/hierarchy1"/>
    <dgm:cxn modelId="{9A1D3A95-BBA4-40F2-AAFF-8501CB433825}" type="presOf" srcId="{DBED2BDA-0484-4BB3-A115-BE8DAFF5F58F}" destId="{C1734A9C-09E3-4573-ADA0-D0413E2C81A0}" srcOrd="0" destOrd="0" presId="urn:microsoft.com/office/officeart/2005/8/layout/hierarchy1"/>
    <dgm:cxn modelId="{251BAEE4-838F-4543-8227-4E9AB81E3B0E}" type="presOf" srcId="{E2EBA58F-B92C-4A61-8D50-F48246B04D2C}" destId="{7854AE86-6BBE-4C24-8A55-BE8E0396B292}" srcOrd="0" destOrd="0" presId="urn:microsoft.com/office/officeart/2005/8/layout/hierarchy1"/>
    <dgm:cxn modelId="{9BE554EA-D2AA-4900-BCB4-8475542EB77F}" type="presOf" srcId="{DC4D2D6B-0699-4DC9-AF20-7F2C282631D9}" destId="{9EB4076D-0FFF-4B08-9500-31262360EC48}" srcOrd="0" destOrd="0" presId="urn:microsoft.com/office/officeart/2005/8/layout/hierarchy1"/>
    <dgm:cxn modelId="{0AFB61EB-7AC6-4F03-BFA1-3828913C3375}" srcId="{5ABE6282-1A09-4334-8573-288758E0DEC6}" destId="{E2EBA58F-B92C-4A61-8D50-F48246B04D2C}" srcOrd="0" destOrd="0" parTransId="{44B523A5-FBDC-4469-AC50-D206E51F8E90}" sibTransId="{10604731-E1AF-4C51-B790-47601A4AC1E9}"/>
    <dgm:cxn modelId="{F30671F5-1A4F-4979-8BE1-A7EDB462C63A}" type="presParOf" srcId="{12BD254C-93D2-4374-BEEE-DB0F70A94A0F}" destId="{DC6AE829-A764-4F59-803F-0D4C995CDF12}" srcOrd="0" destOrd="0" presId="urn:microsoft.com/office/officeart/2005/8/layout/hierarchy1"/>
    <dgm:cxn modelId="{2EE231F0-D098-42BC-8AB5-424E67A2696B}" type="presParOf" srcId="{DC6AE829-A764-4F59-803F-0D4C995CDF12}" destId="{AFB0C3E6-B3FA-4581-BC94-5615988EA313}" srcOrd="0" destOrd="0" presId="urn:microsoft.com/office/officeart/2005/8/layout/hierarchy1"/>
    <dgm:cxn modelId="{0F1B79C6-D0DC-4A59-9294-38847D55B573}" type="presParOf" srcId="{AFB0C3E6-B3FA-4581-BC94-5615988EA313}" destId="{EE5EB0BF-0C83-4601-8DEC-E7E29EFA1631}" srcOrd="0" destOrd="0" presId="urn:microsoft.com/office/officeart/2005/8/layout/hierarchy1"/>
    <dgm:cxn modelId="{68EF4B08-1874-4761-A68A-882AC81A64C8}" type="presParOf" srcId="{AFB0C3E6-B3FA-4581-BC94-5615988EA313}" destId="{7854AE86-6BBE-4C24-8A55-BE8E0396B292}" srcOrd="1" destOrd="0" presId="urn:microsoft.com/office/officeart/2005/8/layout/hierarchy1"/>
    <dgm:cxn modelId="{9DB35F04-CC77-4A90-B453-6E04A7498140}" type="presParOf" srcId="{DC6AE829-A764-4F59-803F-0D4C995CDF12}" destId="{77E310FC-7E01-4B82-B0B7-9223FAC41A69}" srcOrd="1" destOrd="0" presId="urn:microsoft.com/office/officeart/2005/8/layout/hierarchy1"/>
    <dgm:cxn modelId="{911F6934-954C-4A57-BA1C-FE66FA35567F}" type="presParOf" srcId="{77E310FC-7E01-4B82-B0B7-9223FAC41A69}" destId="{73F23EBA-C349-48CC-8345-37CA90B3A471}" srcOrd="0" destOrd="0" presId="urn:microsoft.com/office/officeart/2005/8/layout/hierarchy1"/>
    <dgm:cxn modelId="{0191422C-F249-4E7C-9B81-EB33983B438A}" type="presParOf" srcId="{77E310FC-7E01-4B82-B0B7-9223FAC41A69}" destId="{C6351452-B134-457F-B251-4A1034D6A885}" srcOrd="1" destOrd="0" presId="urn:microsoft.com/office/officeart/2005/8/layout/hierarchy1"/>
    <dgm:cxn modelId="{1D4078F7-873E-4555-8D79-1F7C912CD14F}" type="presParOf" srcId="{C6351452-B134-457F-B251-4A1034D6A885}" destId="{94272D07-F973-4984-8983-E478DBEE4442}" srcOrd="0" destOrd="0" presId="urn:microsoft.com/office/officeart/2005/8/layout/hierarchy1"/>
    <dgm:cxn modelId="{94A587DB-61D0-47C6-B61B-6EF58258D082}" type="presParOf" srcId="{94272D07-F973-4984-8983-E478DBEE4442}" destId="{892F2D49-A60E-431E-BCCA-4916CDD7B358}" srcOrd="0" destOrd="0" presId="urn:microsoft.com/office/officeart/2005/8/layout/hierarchy1"/>
    <dgm:cxn modelId="{E4A4CFAB-6133-4A4B-B329-FECB37015AD2}" type="presParOf" srcId="{94272D07-F973-4984-8983-E478DBEE4442}" destId="{9EB4076D-0FFF-4B08-9500-31262360EC48}" srcOrd="1" destOrd="0" presId="urn:microsoft.com/office/officeart/2005/8/layout/hierarchy1"/>
    <dgm:cxn modelId="{29C2C80B-296B-4334-962F-87B162EF039A}" type="presParOf" srcId="{C6351452-B134-457F-B251-4A1034D6A885}" destId="{C17FC658-3B9E-408D-8C5F-A66EA282E7C5}" srcOrd="1" destOrd="0" presId="urn:microsoft.com/office/officeart/2005/8/layout/hierarchy1"/>
    <dgm:cxn modelId="{BA3F96D1-5530-4EA8-9232-FC5346BC9F51}" type="presParOf" srcId="{77E310FC-7E01-4B82-B0B7-9223FAC41A69}" destId="{C1734A9C-09E3-4573-ADA0-D0413E2C81A0}" srcOrd="2" destOrd="0" presId="urn:microsoft.com/office/officeart/2005/8/layout/hierarchy1"/>
    <dgm:cxn modelId="{2D5982B0-13DC-49CA-BAB8-4CE6B581E132}" type="presParOf" srcId="{77E310FC-7E01-4B82-B0B7-9223FAC41A69}" destId="{13C4F69F-18C4-4FCE-89BF-C5E8770EFD64}" srcOrd="3" destOrd="0" presId="urn:microsoft.com/office/officeart/2005/8/layout/hierarchy1"/>
    <dgm:cxn modelId="{ADBF60F3-9DEC-497E-9E8A-83DEC5F5C188}" type="presParOf" srcId="{13C4F69F-18C4-4FCE-89BF-C5E8770EFD64}" destId="{300B41FE-93AB-49CB-9AA1-91A0EE409B47}" srcOrd="0" destOrd="0" presId="urn:microsoft.com/office/officeart/2005/8/layout/hierarchy1"/>
    <dgm:cxn modelId="{C8FE2F6C-FE61-4F0B-B636-D3E024F8A17C}" type="presParOf" srcId="{300B41FE-93AB-49CB-9AA1-91A0EE409B47}" destId="{281B4646-C4EA-41C7-82D7-E6081C3E9C73}" srcOrd="0" destOrd="0" presId="urn:microsoft.com/office/officeart/2005/8/layout/hierarchy1"/>
    <dgm:cxn modelId="{F76152F6-9455-4589-A763-8408F4F1CA74}" type="presParOf" srcId="{300B41FE-93AB-49CB-9AA1-91A0EE409B47}" destId="{3325FD72-BD32-4907-A9D3-7CDB70732A9E}" srcOrd="1" destOrd="0" presId="urn:microsoft.com/office/officeart/2005/8/layout/hierarchy1"/>
    <dgm:cxn modelId="{8EF14D71-73FC-4584-87F5-8DBB94FD1D85}" type="presParOf" srcId="{13C4F69F-18C4-4FCE-89BF-C5E8770EFD64}" destId="{4BD230D0-A85F-48BC-82C9-919D6D272890}"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5ABE6282-1A09-4334-8573-288758E0DEC6}" type="doc">
      <dgm:prSet loTypeId="urn:microsoft.com/office/officeart/2005/8/layout/hierarchy1" loCatId="hierarchy" qsTypeId="urn:microsoft.com/office/officeart/2005/8/quickstyle/simple1#2" qsCatId="simple" csTypeId="urn:microsoft.com/office/officeart/2005/8/colors/accent1_2#3" csCatId="accent1" phldr="1"/>
      <dgm:spPr/>
      <dgm:t>
        <a:bodyPr/>
        <a:lstStyle/>
        <a:p>
          <a:endParaRPr lang="en-GB"/>
        </a:p>
      </dgm:t>
    </dgm:pt>
    <dgm:pt modelId="{E2EBA58F-B92C-4A61-8D50-F48246B04D2C}">
      <dgm:prSet phldrT="[Text]" custT="1"/>
      <dgm:spPr/>
      <dgm:t>
        <a:bodyPr/>
        <a:lstStyle/>
        <a:p>
          <a:r>
            <a:rPr lang="en-GB" sz="2800" dirty="0"/>
            <a:t>Hybrid Assets</a:t>
          </a:r>
        </a:p>
        <a:p>
          <a:r>
            <a:rPr lang="en-GB" sz="2800" dirty="0"/>
            <a:t>Split or weight</a:t>
          </a:r>
        </a:p>
      </dgm:t>
    </dgm:pt>
    <dgm:pt modelId="{44B523A5-FBDC-4469-AC50-D206E51F8E90}" type="parTrans" cxnId="{0AFB61EB-7AC6-4F03-BFA1-3828913C3375}">
      <dgm:prSet/>
      <dgm:spPr/>
      <dgm:t>
        <a:bodyPr/>
        <a:lstStyle/>
        <a:p>
          <a:endParaRPr lang="en-GB" sz="2000"/>
        </a:p>
      </dgm:t>
    </dgm:pt>
    <dgm:pt modelId="{10604731-E1AF-4C51-B790-47601A4AC1E9}" type="sibTrans" cxnId="{0AFB61EB-7AC6-4F03-BFA1-3828913C3375}">
      <dgm:prSet/>
      <dgm:spPr/>
      <dgm:t>
        <a:bodyPr/>
        <a:lstStyle/>
        <a:p>
          <a:endParaRPr lang="en-GB" sz="2000"/>
        </a:p>
      </dgm:t>
    </dgm:pt>
    <dgm:pt modelId="{DC4D2D6B-0699-4DC9-AF20-7F2C282631D9}">
      <dgm:prSet custT="1"/>
      <dgm:spPr/>
      <dgm:t>
        <a:bodyPr/>
        <a:lstStyle/>
        <a:p>
          <a:r>
            <a:rPr lang="en-GB" sz="2800" dirty="0"/>
            <a:t>Preference Shares</a:t>
          </a:r>
        </a:p>
      </dgm:t>
    </dgm:pt>
    <dgm:pt modelId="{F768DD8F-15DE-4FEE-A878-826B4566999B}" type="parTrans" cxnId="{DE4DAD6D-08D3-4DEE-9211-28ABC8DED5D9}">
      <dgm:prSet/>
      <dgm:spPr/>
      <dgm:t>
        <a:bodyPr/>
        <a:lstStyle/>
        <a:p>
          <a:endParaRPr lang="en-GB" sz="2000"/>
        </a:p>
      </dgm:t>
    </dgm:pt>
    <dgm:pt modelId="{14D712C8-4689-487C-A86E-89238DD44209}" type="sibTrans" cxnId="{DE4DAD6D-08D3-4DEE-9211-28ABC8DED5D9}">
      <dgm:prSet/>
      <dgm:spPr/>
      <dgm:t>
        <a:bodyPr/>
        <a:lstStyle/>
        <a:p>
          <a:endParaRPr lang="en-GB" sz="2000"/>
        </a:p>
      </dgm:t>
    </dgm:pt>
    <dgm:pt modelId="{83CA6A8E-797D-483D-8697-087A878D6890}">
      <dgm:prSet phldrT="[Text]" custT="1"/>
      <dgm:spPr/>
      <dgm:t>
        <a:bodyPr/>
        <a:lstStyle/>
        <a:p>
          <a:r>
            <a:rPr lang="en-GB" sz="2800" dirty="0"/>
            <a:t>CoCos</a:t>
          </a:r>
        </a:p>
      </dgm:t>
    </dgm:pt>
    <dgm:pt modelId="{3867E038-0CC5-4159-8D8E-735A9924DB8D}" type="sibTrans" cxnId="{3849BD68-15F4-4BF3-9C81-D50BE3A48DC2}">
      <dgm:prSet/>
      <dgm:spPr/>
      <dgm:t>
        <a:bodyPr/>
        <a:lstStyle/>
        <a:p>
          <a:endParaRPr lang="en-GB" sz="2000"/>
        </a:p>
      </dgm:t>
    </dgm:pt>
    <dgm:pt modelId="{DBED2BDA-0484-4BB3-A115-BE8DAFF5F58F}" type="parTrans" cxnId="{3849BD68-15F4-4BF3-9C81-D50BE3A48DC2}">
      <dgm:prSet/>
      <dgm:spPr/>
      <dgm:t>
        <a:bodyPr/>
        <a:lstStyle/>
        <a:p>
          <a:endParaRPr lang="en-GB" sz="2000"/>
        </a:p>
      </dgm:t>
    </dgm:pt>
    <dgm:pt modelId="{12BD254C-93D2-4374-BEEE-DB0F70A94A0F}" type="pres">
      <dgm:prSet presAssocID="{5ABE6282-1A09-4334-8573-288758E0DEC6}" presName="hierChild1" presStyleCnt="0">
        <dgm:presLayoutVars>
          <dgm:chPref val="1"/>
          <dgm:dir/>
          <dgm:animOne val="branch"/>
          <dgm:animLvl val="lvl"/>
          <dgm:resizeHandles/>
        </dgm:presLayoutVars>
      </dgm:prSet>
      <dgm:spPr/>
    </dgm:pt>
    <dgm:pt modelId="{DC6AE829-A764-4F59-803F-0D4C995CDF12}" type="pres">
      <dgm:prSet presAssocID="{E2EBA58F-B92C-4A61-8D50-F48246B04D2C}" presName="hierRoot1" presStyleCnt="0"/>
      <dgm:spPr/>
    </dgm:pt>
    <dgm:pt modelId="{AFB0C3E6-B3FA-4581-BC94-5615988EA313}" type="pres">
      <dgm:prSet presAssocID="{E2EBA58F-B92C-4A61-8D50-F48246B04D2C}" presName="composite" presStyleCnt="0"/>
      <dgm:spPr/>
    </dgm:pt>
    <dgm:pt modelId="{EE5EB0BF-0C83-4601-8DEC-E7E29EFA1631}" type="pres">
      <dgm:prSet presAssocID="{E2EBA58F-B92C-4A61-8D50-F48246B04D2C}" presName="background" presStyleLbl="node0" presStyleIdx="0" presStyleCnt="1"/>
      <dgm:spPr/>
    </dgm:pt>
    <dgm:pt modelId="{7854AE86-6BBE-4C24-8A55-BE8E0396B292}" type="pres">
      <dgm:prSet presAssocID="{E2EBA58F-B92C-4A61-8D50-F48246B04D2C}" presName="text" presStyleLbl="fgAcc0" presStyleIdx="0" presStyleCnt="1" custScaleX="205457" custScaleY="127664">
        <dgm:presLayoutVars>
          <dgm:chPref val="3"/>
        </dgm:presLayoutVars>
      </dgm:prSet>
      <dgm:spPr/>
    </dgm:pt>
    <dgm:pt modelId="{77E310FC-7E01-4B82-B0B7-9223FAC41A69}" type="pres">
      <dgm:prSet presAssocID="{E2EBA58F-B92C-4A61-8D50-F48246B04D2C}" presName="hierChild2" presStyleCnt="0"/>
      <dgm:spPr/>
    </dgm:pt>
    <dgm:pt modelId="{73F23EBA-C349-48CC-8345-37CA90B3A471}" type="pres">
      <dgm:prSet presAssocID="{F768DD8F-15DE-4FEE-A878-826B4566999B}" presName="Name10" presStyleLbl="parChTrans1D2" presStyleIdx="0" presStyleCnt="2"/>
      <dgm:spPr/>
    </dgm:pt>
    <dgm:pt modelId="{C6351452-B134-457F-B251-4A1034D6A885}" type="pres">
      <dgm:prSet presAssocID="{DC4D2D6B-0699-4DC9-AF20-7F2C282631D9}" presName="hierRoot2" presStyleCnt="0"/>
      <dgm:spPr/>
    </dgm:pt>
    <dgm:pt modelId="{94272D07-F973-4984-8983-E478DBEE4442}" type="pres">
      <dgm:prSet presAssocID="{DC4D2D6B-0699-4DC9-AF20-7F2C282631D9}" presName="composite2" presStyleCnt="0"/>
      <dgm:spPr/>
    </dgm:pt>
    <dgm:pt modelId="{892F2D49-A60E-431E-BCCA-4916CDD7B358}" type="pres">
      <dgm:prSet presAssocID="{DC4D2D6B-0699-4DC9-AF20-7F2C282631D9}" presName="background2" presStyleLbl="node2" presStyleIdx="0" presStyleCnt="2"/>
      <dgm:spPr/>
    </dgm:pt>
    <dgm:pt modelId="{9EB4076D-0FFF-4B08-9500-31262360EC48}" type="pres">
      <dgm:prSet presAssocID="{DC4D2D6B-0699-4DC9-AF20-7F2C282631D9}" presName="text2" presStyleLbl="fgAcc2" presStyleIdx="0" presStyleCnt="2" custScaleX="179956" custLinFactNeighborX="-59944">
        <dgm:presLayoutVars>
          <dgm:chPref val="3"/>
        </dgm:presLayoutVars>
      </dgm:prSet>
      <dgm:spPr/>
    </dgm:pt>
    <dgm:pt modelId="{C17FC658-3B9E-408D-8C5F-A66EA282E7C5}" type="pres">
      <dgm:prSet presAssocID="{DC4D2D6B-0699-4DC9-AF20-7F2C282631D9}" presName="hierChild3" presStyleCnt="0"/>
      <dgm:spPr/>
    </dgm:pt>
    <dgm:pt modelId="{C1734A9C-09E3-4573-ADA0-D0413E2C81A0}" type="pres">
      <dgm:prSet presAssocID="{DBED2BDA-0484-4BB3-A115-BE8DAFF5F58F}" presName="Name10" presStyleLbl="parChTrans1D2" presStyleIdx="1" presStyleCnt="2"/>
      <dgm:spPr/>
    </dgm:pt>
    <dgm:pt modelId="{13C4F69F-18C4-4FCE-89BF-C5E8770EFD64}" type="pres">
      <dgm:prSet presAssocID="{83CA6A8E-797D-483D-8697-087A878D6890}" presName="hierRoot2" presStyleCnt="0"/>
      <dgm:spPr/>
    </dgm:pt>
    <dgm:pt modelId="{300B41FE-93AB-49CB-9AA1-91A0EE409B47}" type="pres">
      <dgm:prSet presAssocID="{83CA6A8E-797D-483D-8697-087A878D6890}" presName="composite2" presStyleCnt="0"/>
      <dgm:spPr/>
    </dgm:pt>
    <dgm:pt modelId="{281B4646-C4EA-41C7-82D7-E6081C3E9C73}" type="pres">
      <dgm:prSet presAssocID="{83CA6A8E-797D-483D-8697-087A878D6890}" presName="background2" presStyleLbl="node2" presStyleIdx="1" presStyleCnt="2"/>
      <dgm:spPr/>
    </dgm:pt>
    <dgm:pt modelId="{3325FD72-BD32-4907-A9D3-7CDB70732A9E}" type="pres">
      <dgm:prSet presAssocID="{83CA6A8E-797D-483D-8697-087A878D6890}" presName="text2" presStyleLbl="fgAcc2" presStyleIdx="1" presStyleCnt="2" custScaleX="179956" custLinFactNeighborX="96356">
        <dgm:presLayoutVars>
          <dgm:chPref val="3"/>
        </dgm:presLayoutVars>
      </dgm:prSet>
      <dgm:spPr/>
    </dgm:pt>
    <dgm:pt modelId="{4BD230D0-A85F-48BC-82C9-919D6D272890}" type="pres">
      <dgm:prSet presAssocID="{83CA6A8E-797D-483D-8697-087A878D6890}" presName="hierChild3" presStyleCnt="0"/>
      <dgm:spPr/>
    </dgm:pt>
  </dgm:ptLst>
  <dgm:cxnLst>
    <dgm:cxn modelId="{9B091F2D-3EF1-440F-B52A-9086FAA0E20E}" type="presOf" srcId="{F768DD8F-15DE-4FEE-A878-826B4566999B}" destId="{73F23EBA-C349-48CC-8345-37CA90B3A471}" srcOrd="0" destOrd="0" presId="urn:microsoft.com/office/officeart/2005/8/layout/hierarchy1"/>
    <dgm:cxn modelId="{1E4C403E-B322-4A12-9463-1721E10F4BD7}" type="presOf" srcId="{5ABE6282-1A09-4334-8573-288758E0DEC6}" destId="{12BD254C-93D2-4374-BEEE-DB0F70A94A0F}" srcOrd="0" destOrd="0" presId="urn:microsoft.com/office/officeart/2005/8/layout/hierarchy1"/>
    <dgm:cxn modelId="{3849BD68-15F4-4BF3-9C81-D50BE3A48DC2}" srcId="{E2EBA58F-B92C-4A61-8D50-F48246B04D2C}" destId="{83CA6A8E-797D-483D-8697-087A878D6890}" srcOrd="1" destOrd="0" parTransId="{DBED2BDA-0484-4BB3-A115-BE8DAFF5F58F}" sibTransId="{3867E038-0CC5-4159-8D8E-735A9924DB8D}"/>
    <dgm:cxn modelId="{DE4DAD6D-08D3-4DEE-9211-28ABC8DED5D9}" srcId="{E2EBA58F-B92C-4A61-8D50-F48246B04D2C}" destId="{DC4D2D6B-0699-4DC9-AF20-7F2C282631D9}" srcOrd="0" destOrd="0" parTransId="{F768DD8F-15DE-4FEE-A878-826B4566999B}" sibTransId="{14D712C8-4689-487C-A86E-89238DD44209}"/>
    <dgm:cxn modelId="{C60AC779-25B1-4073-AC5A-B2C79B19118A}" type="presOf" srcId="{83CA6A8E-797D-483D-8697-087A878D6890}" destId="{3325FD72-BD32-4907-A9D3-7CDB70732A9E}" srcOrd="0" destOrd="0" presId="urn:microsoft.com/office/officeart/2005/8/layout/hierarchy1"/>
    <dgm:cxn modelId="{9A1D3A95-BBA4-40F2-AAFF-8501CB433825}" type="presOf" srcId="{DBED2BDA-0484-4BB3-A115-BE8DAFF5F58F}" destId="{C1734A9C-09E3-4573-ADA0-D0413E2C81A0}" srcOrd="0" destOrd="0" presId="urn:microsoft.com/office/officeart/2005/8/layout/hierarchy1"/>
    <dgm:cxn modelId="{251BAEE4-838F-4543-8227-4E9AB81E3B0E}" type="presOf" srcId="{E2EBA58F-B92C-4A61-8D50-F48246B04D2C}" destId="{7854AE86-6BBE-4C24-8A55-BE8E0396B292}" srcOrd="0" destOrd="0" presId="urn:microsoft.com/office/officeart/2005/8/layout/hierarchy1"/>
    <dgm:cxn modelId="{9BE554EA-D2AA-4900-BCB4-8475542EB77F}" type="presOf" srcId="{DC4D2D6B-0699-4DC9-AF20-7F2C282631D9}" destId="{9EB4076D-0FFF-4B08-9500-31262360EC48}" srcOrd="0" destOrd="0" presId="urn:microsoft.com/office/officeart/2005/8/layout/hierarchy1"/>
    <dgm:cxn modelId="{0AFB61EB-7AC6-4F03-BFA1-3828913C3375}" srcId="{5ABE6282-1A09-4334-8573-288758E0DEC6}" destId="{E2EBA58F-B92C-4A61-8D50-F48246B04D2C}" srcOrd="0" destOrd="0" parTransId="{44B523A5-FBDC-4469-AC50-D206E51F8E90}" sibTransId="{10604731-E1AF-4C51-B790-47601A4AC1E9}"/>
    <dgm:cxn modelId="{F30671F5-1A4F-4979-8BE1-A7EDB462C63A}" type="presParOf" srcId="{12BD254C-93D2-4374-BEEE-DB0F70A94A0F}" destId="{DC6AE829-A764-4F59-803F-0D4C995CDF12}" srcOrd="0" destOrd="0" presId="urn:microsoft.com/office/officeart/2005/8/layout/hierarchy1"/>
    <dgm:cxn modelId="{2EE231F0-D098-42BC-8AB5-424E67A2696B}" type="presParOf" srcId="{DC6AE829-A764-4F59-803F-0D4C995CDF12}" destId="{AFB0C3E6-B3FA-4581-BC94-5615988EA313}" srcOrd="0" destOrd="0" presId="urn:microsoft.com/office/officeart/2005/8/layout/hierarchy1"/>
    <dgm:cxn modelId="{0F1B79C6-D0DC-4A59-9294-38847D55B573}" type="presParOf" srcId="{AFB0C3E6-B3FA-4581-BC94-5615988EA313}" destId="{EE5EB0BF-0C83-4601-8DEC-E7E29EFA1631}" srcOrd="0" destOrd="0" presId="urn:microsoft.com/office/officeart/2005/8/layout/hierarchy1"/>
    <dgm:cxn modelId="{68EF4B08-1874-4761-A68A-882AC81A64C8}" type="presParOf" srcId="{AFB0C3E6-B3FA-4581-BC94-5615988EA313}" destId="{7854AE86-6BBE-4C24-8A55-BE8E0396B292}" srcOrd="1" destOrd="0" presId="urn:microsoft.com/office/officeart/2005/8/layout/hierarchy1"/>
    <dgm:cxn modelId="{9DB35F04-CC77-4A90-B453-6E04A7498140}" type="presParOf" srcId="{DC6AE829-A764-4F59-803F-0D4C995CDF12}" destId="{77E310FC-7E01-4B82-B0B7-9223FAC41A69}" srcOrd="1" destOrd="0" presId="urn:microsoft.com/office/officeart/2005/8/layout/hierarchy1"/>
    <dgm:cxn modelId="{911F6934-954C-4A57-BA1C-FE66FA35567F}" type="presParOf" srcId="{77E310FC-7E01-4B82-B0B7-9223FAC41A69}" destId="{73F23EBA-C349-48CC-8345-37CA90B3A471}" srcOrd="0" destOrd="0" presId="urn:microsoft.com/office/officeart/2005/8/layout/hierarchy1"/>
    <dgm:cxn modelId="{0191422C-F249-4E7C-9B81-EB33983B438A}" type="presParOf" srcId="{77E310FC-7E01-4B82-B0B7-9223FAC41A69}" destId="{C6351452-B134-457F-B251-4A1034D6A885}" srcOrd="1" destOrd="0" presId="urn:microsoft.com/office/officeart/2005/8/layout/hierarchy1"/>
    <dgm:cxn modelId="{1D4078F7-873E-4555-8D79-1F7C912CD14F}" type="presParOf" srcId="{C6351452-B134-457F-B251-4A1034D6A885}" destId="{94272D07-F973-4984-8983-E478DBEE4442}" srcOrd="0" destOrd="0" presId="urn:microsoft.com/office/officeart/2005/8/layout/hierarchy1"/>
    <dgm:cxn modelId="{94A587DB-61D0-47C6-B61B-6EF58258D082}" type="presParOf" srcId="{94272D07-F973-4984-8983-E478DBEE4442}" destId="{892F2D49-A60E-431E-BCCA-4916CDD7B358}" srcOrd="0" destOrd="0" presId="urn:microsoft.com/office/officeart/2005/8/layout/hierarchy1"/>
    <dgm:cxn modelId="{E4A4CFAB-6133-4A4B-B329-FECB37015AD2}" type="presParOf" srcId="{94272D07-F973-4984-8983-E478DBEE4442}" destId="{9EB4076D-0FFF-4B08-9500-31262360EC48}" srcOrd="1" destOrd="0" presId="urn:microsoft.com/office/officeart/2005/8/layout/hierarchy1"/>
    <dgm:cxn modelId="{29C2C80B-296B-4334-962F-87B162EF039A}" type="presParOf" srcId="{C6351452-B134-457F-B251-4A1034D6A885}" destId="{C17FC658-3B9E-408D-8C5F-A66EA282E7C5}" srcOrd="1" destOrd="0" presId="urn:microsoft.com/office/officeart/2005/8/layout/hierarchy1"/>
    <dgm:cxn modelId="{BA3F96D1-5530-4EA8-9232-FC5346BC9F51}" type="presParOf" srcId="{77E310FC-7E01-4B82-B0B7-9223FAC41A69}" destId="{C1734A9C-09E3-4573-ADA0-D0413E2C81A0}" srcOrd="2" destOrd="0" presId="urn:microsoft.com/office/officeart/2005/8/layout/hierarchy1"/>
    <dgm:cxn modelId="{2D5982B0-13DC-49CA-BAB8-4CE6B581E132}" type="presParOf" srcId="{77E310FC-7E01-4B82-B0B7-9223FAC41A69}" destId="{13C4F69F-18C4-4FCE-89BF-C5E8770EFD64}" srcOrd="3" destOrd="0" presId="urn:microsoft.com/office/officeart/2005/8/layout/hierarchy1"/>
    <dgm:cxn modelId="{ADBF60F3-9DEC-497E-9E8A-83DEC5F5C188}" type="presParOf" srcId="{13C4F69F-18C4-4FCE-89BF-C5E8770EFD64}" destId="{300B41FE-93AB-49CB-9AA1-91A0EE409B47}" srcOrd="0" destOrd="0" presId="urn:microsoft.com/office/officeart/2005/8/layout/hierarchy1"/>
    <dgm:cxn modelId="{C8FE2F6C-FE61-4F0B-B636-D3E024F8A17C}" type="presParOf" srcId="{300B41FE-93AB-49CB-9AA1-91A0EE409B47}" destId="{281B4646-C4EA-41C7-82D7-E6081C3E9C73}" srcOrd="0" destOrd="0" presId="urn:microsoft.com/office/officeart/2005/8/layout/hierarchy1"/>
    <dgm:cxn modelId="{F76152F6-9455-4589-A763-8408F4F1CA74}" type="presParOf" srcId="{300B41FE-93AB-49CB-9AA1-91A0EE409B47}" destId="{3325FD72-BD32-4907-A9D3-7CDB70732A9E}" srcOrd="1" destOrd="0" presId="urn:microsoft.com/office/officeart/2005/8/layout/hierarchy1"/>
    <dgm:cxn modelId="{8EF14D71-73FC-4584-87F5-8DBB94FD1D85}" type="presParOf" srcId="{13C4F69F-18C4-4FCE-89BF-C5E8770EFD64}" destId="{4BD230D0-A85F-48BC-82C9-919D6D272890}"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DAB9D3D8-08CC-447B-9960-C9289728AE48}" type="doc">
      <dgm:prSet loTypeId="urn:microsoft.com/office/officeart/2005/8/layout/process2" loCatId="process" qsTypeId="urn:microsoft.com/office/officeart/2005/8/quickstyle/3d2#5" qsCatId="3D" csTypeId="urn:microsoft.com/office/officeart/2005/8/colors/colorful1#9" csCatId="colorful" phldr="1"/>
      <dgm:spPr/>
    </dgm:pt>
    <dgm:pt modelId="{EA3B095F-0A91-4990-AA06-CD3490D8B878}">
      <dgm:prSet phldrT="[Text]" custT="1"/>
      <dgm:spPr/>
      <dgm:t>
        <a:bodyPr/>
        <a:lstStyle/>
        <a:p>
          <a:r>
            <a:rPr lang="en-GB" sz="3200" dirty="0"/>
            <a:t>Senior Secured Debt</a:t>
          </a:r>
        </a:p>
      </dgm:t>
    </dgm:pt>
    <dgm:pt modelId="{236FE3C5-4DD5-4ED2-B4AA-BBDB2A8D04EF}" type="parTrans" cxnId="{50F770FB-6043-4236-B0E2-D2451DA32EEA}">
      <dgm:prSet/>
      <dgm:spPr/>
      <dgm:t>
        <a:bodyPr/>
        <a:lstStyle/>
        <a:p>
          <a:endParaRPr lang="en-GB" sz="2800"/>
        </a:p>
      </dgm:t>
    </dgm:pt>
    <dgm:pt modelId="{7F5314D6-9858-4007-9901-5ECF8EA7CD11}" type="sibTrans" cxnId="{50F770FB-6043-4236-B0E2-D2451DA32EEA}">
      <dgm:prSet custT="1"/>
      <dgm:spPr/>
      <dgm:t>
        <a:bodyPr/>
        <a:lstStyle/>
        <a:p>
          <a:endParaRPr lang="en-GB" sz="2800"/>
        </a:p>
      </dgm:t>
    </dgm:pt>
    <dgm:pt modelId="{A60925B6-8602-47B6-B9D9-995A36B4EA2E}">
      <dgm:prSet phldrT="[Text]" custT="1"/>
      <dgm:spPr/>
      <dgm:t>
        <a:bodyPr/>
        <a:lstStyle/>
        <a:p>
          <a:r>
            <a:rPr lang="en-GB" sz="3200" dirty="0"/>
            <a:t>Senior Unsecured Debt</a:t>
          </a:r>
        </a:p>
      </dgm:t>
    </dgm:pt>
    <dgm:pt modelId="{137E5024-BCC6-4B72-B957-5DB4C0D4CC9C}" type="parTrans" cxnId="{76AA87ED-2BEB-4537-B361-17E83FD0A50A}">
      <dgm:prSet/>
      <dgm:spPr/>
      <dgm:t>
        <a:bodyPr/>
        <a:lstStyle/>
        <a:p>
          <a:endParaRPr lang="en-GB" sz="2800"/>
        </a:p>
      </dgm:t>
    </dgm:pt>
    <dgm:pt modelId="{4BB43E1D-33CA-47DB-AE07-8C237E230CFC}" type="sibTrans" cxnId="{76AA87ED-2BEB-4537-B361-17E83FD0A50A}">
      <dgm:prSet custT="1"/>
      <dgm:spPr/>
      <dgm:t>
        <a:bodyPr/>
        <a:lstStyle/>
        <a:p>
          <a:endParaRPr lang="en-GB" sz="2800"/>
        </a:p>
      </dgm:t>
    </dgm:pt>
    <dgm:pt modelId="{D8349864-D8FF-4BBC-80CE-C7D02BC39932}">
      <dgm:prSet custT="1"/>
      <dgm:spPr/>
      <dgm:t>
        <a:bodyPr/>
        <a:lstStyle/>
        <a:p>
          <a:r>
            <a:rPr lang="en-GB" sz="3200" dirty="0"/>
            <a:t>Unsecured Debt/</a:t>
          </a:r>
        </a:p>
        <a:p>
          <a:r>
            <a:rPr lang="en-GB" sz="3200" dirty="0"/>
            <a:t>Debentures</a:t>
          </a:r>
        </a:p>
      </dgm:t>
    </dgm:pt>
    <dgm:pt modelId="{C912FE4D-49ED-498A-B45B-6CE90758216B}" type="parTrans" cxnId="{5D7E82B5-2260-494D-AA00-B24A0A46C3B3}">
      <dgm:prSet/>
      <dgm:spPr/>
      <dgm:t>
        <a:bodyPr/>
        <a:lstStyle/>
        <a:p>
          <a:endParaRPr lang="en-GB" sz="2800"/>
        </a:p>
      </dgm:t>
    </dgm:pt>
    <dgm:pt modelId="{A19A50E2-1DE5-4B56-9226-6611EB5FD1B3}" type="sibTrans" cxnId="{5D7E82B5-2260-494D-AA00-B24A0A46C3B3}">
      <dgm:prSet/>
      <dgm:spPr/>
      <dgm:t>
        <a:bodyPr/>
        <a:lstStyle/>
        <a:p>
          <a:endParaRPr lang="en-GB" sz="2800"/>
        </a:p>
      </dgm:t>
    </dgm:pt>
    <dgm:pt modelId="{8A11497A-6037-4D1A-9CA2-5AE11EBD02B4}" type="pres">
      <dgm:prSet presAssocID="{DAB9D3D8-08CC-447B-9960-C9289728AE48}" presName="linearFlow" presStyleCnt="0">
        <dgm:presLayoutVars>
          <dgm:resizeHandles val="exact"/>
        </dgm:presLayoutVars>
      </dgm:prSet>
      <dgm:spPr/>
    </dgm:pt>
    <dgm:pt modelId="{DEC4394B-69BA-48AB-8EAE-A82B804093FC}" type="pres">
      <dgm:prSet presAssocID="{EA3B095F-0A91-4990-AA06-CD3490D8B878}" presName="node" presStyleLbl="node1" presStyleIdx="0" presStyleCnt="3">
        <dgm:presLayoutVars>
          <dgm:bulletEnabled val="1"/>
        </dgm:presLayoutVars>
      </dgm:prSet>
      <dgm:spPr/>
    </dgm:pt>
    <dgm:pt modelId="{7EA690EC-B269-4FE7-BCBC-1227583820B5}" type="pres">
      <dgm:prSet presAssocID="{7F5314D6-9858-4007-9901-5ECF8EA7CD11}" presName="sibTrans" presStyleLbl="sibTrans2D1" presStyleIdx="0" presStyleCnt="2"/>
      <dgm:spPr/>
    </dgm:pt>
    <dgm:pt modelId="{4CE1CD20-981E-4B6D-958C-C20910FB5513}" type="pres">
      <dgm:prSet presAssocID="{7F5314D6-9858-4007-9901-5ECF8EA7CD11}" presName="connectorText" presStyleLbl="sibTrans2D1" presStyleIdx="0" presStyleCnt="2"/>
      <dgm:spPr/>
    </dgm:pt>
    <dgm:pt modelId="{BB356C24-6B2E-48B7-8128-24CE7FC172B4}" type="pres">
      <dgm:prSet presAssocID="{A60925B6-8602-47B6-B9D9-995A36B4EA2E}" presName="node" presStyleLbl="node1" presStyleIdx="1" presStyleCnt="3">
        <dgm:presLayoutVars>
          <dgm:bulletEnabled val="1"/>
        </dgm:presLayoutVars>
      </dgm:prSet>
      <dgm:spPr/>
    </dgm:pt>
    <dgm:pt modelId="{00D3E87F-4750-4B29-86C8-C4F8A92FBE3C}" type="pres">
      <dgm:prSet presAssocID="{4BB43E1D-33CA-47DB-AE07-8C237E230CFC}" presName="sibTrans" presStyleLbl="sibTrans2D1" presStyleIdx="1" presStyleCnt="2"/>
      <dgm:spPr/>
    </dgm:pt>
    <dgm:pt modelId="{80A0558E-2DBC-4978-9803-DFC8BE796F60}" type="pres">
      <dgm:prSet presAssocID="{4BB43E1D-33CA-47DB-AE07-8C237E230CFC}" presName="connectorText" presStyleLbl="sibTrans2D1" presStyleIdx="1" presStyleCnt="2"/>
      <dgm:spPr/>
    </dgm:pt>
    <dgm:pt modelId="{5A131A8E-9E13-4C78-A07B-3DB6D14E5F97}" type="pres">
      <dgm:prSet presAssocID="{D8349864-D8FF-4BBC-80CE-C7D02BC39932}" presName="node" presStyleLbl="node1" presStyleIdx="2" presStyleCnt="3">
        <dgm:presLayoutVars>
          <dgm:bulletEnabled val="1"/>
        </dgm:presLayoutVars>
      </dgm:prSet>
      <dgm:spPr/>
    </dgm:pt>
  </dgm:ptLst>
  <dgm:cxnLst>
    <dgm:cxn modelId="{D7F6150F-45BD-4EE2-9A06-AE7FB4EA9BBE}" type="presOf" srcId="{7F5314D6-9858-4007-9901-5ECF8EA7CD11}" destId="{7EA690EC-B269-4FE7-BCBC-1227583820B5}" srcOrd="0" destOrd="0" presId="urn:microsoft.com/office/officeart/2005/8/layout/process2"/>
    <dgm:cxn modelId="{18290833-323B-4BB4-8CAF-E50780E4BCC4}" type="presOf" srcId="{4BB43E1D-33CA-47DB-AE07-8C237E230CFC}" destId="{80A0558E-2DBC-4978-9803-DFC8BE796F60}" srcOrd="1" destOrd="0" presId="urn:microsoft.com/office/officeart/2005/8/layout/process2"/>
    <dgm:cxn modelId="{FA7D9248-4DD0-48B5-9141-B706EAB20BB0}" type="presOf" srcId="{7F5314D6-9858-4007-9901-5ECF8EA7CD11}" destId="{4CE1CD20-981E-4B6D-958C-C20910FB5513}" srcOrd="1" destOrd="0" presId="urn:microsoft.com/office/officeart/2005/8/layout/process2"/>
    <dgm:cxn modelId="{21CAF089-028A-4397-BA41-54DC90F49599}" type="presOf" srcId="{4BB43E1D-33CA-47DB-AE07-8C237E230CFC}" destId="{00D3E87F-4750-4B29-86C8-C4F8A92FBE3C}" srcOrd="0" destOrd="0" presId="urn:microsoft.com/office/officeart/2005/8/layout/process2"/>
    <dgm:cxn modelId="{9E3E25AF-4B8D-4584-A36C-82C31185E906}" type="presOf" srcId="{EA3B095F-0A91-4990-AA06-CD3490D8B878}" destId="{DEC4394B-69BA-48AB-8EAE-A82B804093FC}" srcOrd="0" destOrd="0" presId="urn:microsoft.com/office/officeart/2005/8/layout/process2"/>
    <dgm:cxn modelId="{5D7E82B5-2260-494D-AA00-B24A0A46C3B3}" srcId="{DAB9D3D8-08CC-447B-9960-C9289728AE48}" destId="{D8349864-D8FF-4BBC-80CE-C7D02BC39932}" srcOrd="2" destOrd="0" parTransId="{C912FE4D-49ED-498A-B45B-6CE90758216B}" sibTransId="{A19A50E2-1DE5-4B56-9226-6611EB5FD1B3}"/>
    <dgm:cxn modelId="{6D7AA8B8-0079-460F-9134-A44539CE8D6F}" type="presOf" srcId="{DAB9D3D8-08CC-447B-9960-C9289728AE48}" destId="{8A11497A-6037-4D1A-9CA2-5AE11EBD02B4}" srcOrd="0" destOrd="0" presId="urn:microsoft.com/office/officeart/2005/8/layout/process2"/>
    <dgm:cxn modelId="{90D319D2-CA29-4500-B4F9-B600B66A5879}" type="presOf" srcId="{A60925B6-8602-47B6-B9D9-995A36B4EA2E}" destId="{BB356C24-6B2E-48B7-8128-24CE7FC172B4}" srcOrd="0" destOrd="0" presId="urn:microsoft.com/office/officeart/2005/8/layout/process2"/>
    <dgm:cxn modelId="{597954EC-6CCC-4A6D-A0B3-58F1F684E4BC}" type="presOf" srcId="{D8349864-D8FF-4BBC-80CE-C7D02BC39932}" destId="{5A131A8E-9E13-4C78-A07B-3DB6D14E5F97}" srcOrd="0" destOrd="0" presId="urn:microsoft.com/office/officeart/2005/8/layout/process2"/>
    <dgm:cxn modelId="{76AA87ED-2BEB-4537-B361-17E83FD0A50A}" srcId="{DAB9D3D8-08CC-447B-9960-C9289728AE48}" destId="{A60925B6-8602-47B6-B9D9-995A36B4EA2E}" srcOrd="1" destOrd="0" parTransId="{137E5024-BCC6-4B72-B957-5DB4C0D4CC9C}" sibTransId="{4BB43E1D-33CA-47DB-AE07-8C237E230CFC}"/>
    <dgm:cxn modelId="{50F770FB-6043-4236-B0E2-D2451DA32EEA}" srcId="{DAB9D3D8-08CC-447B-9960-C9289728AE48}" destId="{EA3B095F-0A91-4990-AA06-CD3490D8B878}" srcOrd="0" destOrd="0" parTransId="{236FE3C5-4DD5-4ED2-B4AA-BBDB2A8D04EF}" sibTransId="{7F5314D6-9858-4007-9901-5ECF8EA7CD11}"/>
    <dgm:cxn modelId="{91F63E1A-1204-40A0-81B1-E63087C21774}" type="presParOf" srcId="{8A11497A-6037-4D1A-9CA2-5AE11EBD02B4}" destId="{DEC4394B-69BA-48AB-8EAE-A82B804093FC}" srcOrd="0" destOrd="0" presId="urn:microsoft.com/office/officeart/2005/8/layout/process2"/>
    <dgm:cxn modelId="{26DCD3AE-0010-4228-987D-35ABBBEA7868}" type="presParOf" srcId="{8A11497A-6037-4D1A-9CA2-5AE11EBD02B4}" destId="{7EA690EC-B269-4FE7-BCBC-1227583820B5}" srcOrd="1" destOrd="0" presId="urn:microsoft.com/office/officeart/2005/8/layout/process2"/>
    <dgm:cxn modelId="{A9616F09-2A05-4D97-9E85-E6FD05C38BD8}" type="presParOf" srcId="{7EA690EC-B269-4FE7-BCBC-1227583820B5}" destId="{4CE1CD20-981E-4B6D-958C-C20910FB5513}" srcOrd="0" destOrd="0" presId="urn:microsoft.com/office/officeart/2005/8/layout/process2"/>
    <dgm:cxn modelId="{B617A802-FC7A-4A9E-BED2-7FB0BAF4690D}" type="presParOf" srcId="{8A11497A-6037-4D1A-9CA2-5AE11EBD02B4}" destId="{BB356C24-6B2E-48B7-8128-24CE7FC172B4}" srcOrd="2" destOrd="0" presId="urn:microsoft.com/office/officeart/2005/8/layout/process2"/>
    <dgm:cxn modelId="{6F826B8B-4FDC-41FB-ACCD-6BCC01E4165C}" type="presParOf" srcId="{8A11497A-6037-4D1A-9CA2-5AE11EBD02B4}" destId="{00D3E87F-4750-4B29-86C8-C4F8A92FBE3C}" srcOrd="3" destOrd="0" presId="urn:microsoft.com/office/officeart/2005/8/layout/process2"/>
    <dgm:cxn modelId="{953F7DCB-734B-4C00-8C47-19F9093664F9}" type="presParOf" srcId="{00D3E87F-4750-4B29-86C8-C4F8A92FBE3C}" destId="{80A0558E-2DBC-4978-9803-DFC8BE796F60}" srcOrd="0" destOrd="0" presId="urn:microsoft.com/office/officeart/2005/8/layout/process2"/>
    <dgm:cxn modelId="{9F822E31-C736-465E-86C9-DDDF25EB43AD}" type="presParOf" srcId="{8A11497A-6037-4D1A-9CA2-5AE11EBD02B4}" destId="{5A131A8E-9E13-4C78-A07B-3DB6D14E5F97}" srcOrd="4"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3B9B3FEB-FA01-4433-BBAA-0A008A9B0474}" type="doc">
      <dgm:prSet loTypeId="urn:microsoft.com/office/officeart/2005/8/layout/process2" loCatId="process" qsTypeId="urn:microsoft.com/office/officeart/2005/8/quickstyle/3d2#6" qsCatId="3D" csTypeId="urn:microsoft.com/office/officeart/2005/8/colors/colorful4#1" csCatId="colorful" phldr="1"/>
      <dgm:spPr/>
    </dgm:pt>
    <dgm:pt modelId="{25129F94-E8EC-409D-93C6-C19563154732}">
      <dgm:prSet phldrT="[Text]" custT="1"/>
      <dgm:spPr/>
      <dgm:t>
        <a:bodyPr/>
        <a:lstStyle/>
        <a:p>
          <a:r>
            <a:rPr lang="en-GB" sz="3200" dirty="0"/>
            <a:t>Shareholder Loans</a:t>
          </a:r>
        </a:p>
      </dgm:t>
    </dgm:pt>
    <dgm:pt modelId="{469087C7-10D3-4F96-8EA8-BB06FDF8A3B2}" type="parTrans" cxnId="{B117BCF2-B149-4A47-AD84-6378626C2C00}">
      <dgm:prSet/>
      <dgm:spPr/>
      <dgm:t>
        <a:bodyPr/>
        <a:lstStyle/>
        <a:p>
          <a:endParaRPr lang="en-GB" sz="2400"/>
        </a:p>
      </dgm:t>
    </dgm:pt>
    <dgm:pt modelId="{369EDF5E-19CF-46CD-86B2-81ED13347DCA}" type="sibTrans" cxnId="{B117BCF2-B149-4A47-AD84-6378626C2C00}">
      <dgm:prSet custT="1"/>
      <dgm:spPr/>
      <dgm:t>
        <a:bodyPr/>
        <a:lstStyle/>
        <a:p>
          <a:endParaRPr lang="en-GB" sz="2400"/>
        </a:p>
      </dgm:t>
    </dgm:pt>
    <dgm:pt modelId="{034EB221-06A8-4F31-9316-75F8426870F1}">
      <dgm:prSet phldrT="[Text]" custT="1"/>
      <dgm:spPr/>
      <dgm:t>
        <a:bodyPr/>
        <a:lstStyle/>
        <a:p>
          <a:r>
            <a:rPr lang="en-GB" sz="3200" dirty="0"/>
            <a:t>Preference Shares/</a:t>
          </a:r>
        </a:p>
        <a:p>
          <a:r>
            <a:rPr lang="en-GB" sz="3200" dirty="0"/>
            <a:t>Debenture Stock</a:t>
          </a:r>
        </a:p>
      </dgm:t>
    </dgm:pt>
    <dgm:pt modelId="{D53E48B0-9955-4699-9227-CFFB120E6F62}" type="parTrans" cxnId="{150E235F-0E54-474C-AAE1-E8C90DA3B2F1}">
      <dgm:prSet/>
      <dgm:spPr/>
      <dgm:t>
        <a:bodyPr/>
        <a:lstStyle/>
        <a:p>
          <a:endParaRPr lang="en-GB" sz="2400"/>
        </a:p>
      </dgm:t>
    </dgm:pt>
    <dgm:pt modelId="{4DD63FDA-DD08-4416-8432-68FCCD5123A1}" type="sibTrans" cxnId="{150E235F-0E54-474C-AAE1-E8C90DA3B2F1}">
      <dgm:prSet custT="1"/>
      <dgm:spPr/>
      <dgm:t>
        <a:bodyPr/>
        <a:lstStyle/>
        <a:p>
          <a:endParaRPr lang="en-GB" sz="2400"/>
        </a:p>
      </dgm:t>
    </dgm:pt>
    <dgm:pt modelId="{9C1CEF2A-3AAA-4CDC-A377-99F4B2099DC1}">
      <dgm:prSet phldrT="[Text]" custT="1"/>
      <dgm:spPr/>
      <dgm:t>
        <a:bodyPr/>
        <a:lstStyle/>
        <a:p>
          <a:r>
            <a:rPr lang="en-GB" sz="3200" dirty="0"/>
            <a:t>Ordinary Equity</a:t>
          </a:r>
        </a:p>
      </dgm:t>
    </dgm:pt>
    <dgm:pt modelId="{EE1691E6-8495-474F-BC2B-B0E80288680F}" type="parTrans" cxnId="{CB6611E9-4B0D-4681-85E3-90BC3BED543C}">
      <dgm:prSet/>
      <dgm:spPr/>
      <dgm:t>
        <a:bodyPr/>
        <a:lstStyle/>
        <a:p>
          <a:endParaRPr lang="en-GB" sz="2400"/>
        </a:p>
      </dgm:t>
    </dgm:pt>
    <dgm:pt modelId="{5A5342AD-C32C-47E3-9833-63F1D8ED639B}" type="sibTrans" cxnId="{CB6611E9-4B0D-4681-85E3-90BC3BED543C}">
      <dgm:prSet/>
      <dgm:spPr/>
      <dgm:t>
        <a:bodyPr/>
        <a:lstStyle/>
        <a:p>
          <a:endParaRPr lang="en-GB" sz="2400"/>
        </a:p>
      </dgm:t>
    </dgm:pt>
    <dgm:pt modelId="{685CDD6B-4E7A-431C-AE49-199973E48254}" type="pres">
      <dgm:prSet presAssocID="{3B9B3FEB-FA01-4433-BBAA-0A008A9B0474}" presName="linearFlow" presStyleCnt="0">
        <dgm:presLayoutVars>
          <dgm:resizeHandles val="exact"/>
        </dgm:presLayoutVars>
      </dgm:prSet>
      <dgm:spPr/>
    </dgm:pt>
    <dgm:pt modelId="{ED24EFD8-10F2-41F8-9F2A-5AD9589158C3}" type="pres">
      <dgm:prSet presAssocID="{25129F94-E8EC-409D-93C6-C19563154732}" presName="node" presStyleLbl="node1" presStyleIdx="0" presStyleCnt="3">
        <dgm:presLayoutVars>
          <dgm:bulletEnabled val="1"/>
        </dgm:presLayoutVars>
      </dgm:prSet>
      <dgm:spPr/>
    </dgm:pt>
    <dgm:pt modelId="{EFF135F3-F718-4DF0-A5C8-006A4CFB25F4}" type="pres">
      <dgm:prSet presAssocID="{369EDF5E-19CF-46CD-86B2-81ED13347DCA}" presName="sibTrans" presStyleLbl="sibTrans2D1" presStyleIdx="0" presStyleCnt="2"/>
      <dgm:spPr/>
    </dgm:pt>
    <dgm:pt modelId="{84A45C20-C21E-4938-AAB5-5CCE2424A933}" type="pres">
      <dgm:prSet presAssocID="{369EDF5E-19CF-46CD-86B2-81ED13347DCA}" presName="connectorText" presStyleLbl="sibTrans2D1" presStyleIdx="0" presStyleCnt="2"/>
      <dgm:spPr/>
    </dgm:pt>
    <dgm:pt modelId="{0EE7A132-686C-4963-9FB3-F9AEA651D256}" type="pres">
      <dgm:prSet presAssocID="{034EB221-06A8-4F31-9316-75F8426870F1}" presName="node" presStyleLbl="node1" presStyleIdx="1" presStyleCnt="3">
        <dgm:presLayoutVars>
          <dgm:bulletEnabled val="1"/>
        </dgm:presLayoutVars>
      </dgm:prSet>
      <dgm:spPr/>
    </dgm:pt>
    <dgm:pt modelId="{C9C84A7C-6390-4633-A2F8-417DE0B306F0}" type="pres">
      <dgm:prSet presAssocID="{4DD63FDA-DD08-4416-8432-68FCCD5123A1}" presName="sibTrans" presStyleLbl="sibTrans2D1" presStyleIdx="1" presStyleCnt="2"/>
      <dgm:spPr/>
    </dgm:pt>
    <dgm:pt modelId="{ACE8C42A-6189-4EB2-9922-C6E9037752F5}" type="pres">
      <dgm:prSet presAssocID="{4DD63FDA-DD08-4416-8432-68FCCD5123A1}" presName="connectorText" presStyleLbl="sibTrans2D1" presStyleIdx="1" presStyleCnt="2"/>
      <dgm:spPr/>
    </dgm:pt>
    <dgm:pt modelId="{48F2BCE9-C0B8-4B17-BC55-384C807D9095}" type="pres">
      <dgm:prSet presAssocID="{9C1CEF2A-3AAA-4CDC-A377-99F4B2099DC1}" presName="node" presStyleLbl="node1" presStyleIdx="2" presStyleCnt="3">
        <dgm:presLayoutVars>
          <dgm:bulletEnabled val="1"/>
        </dgm:presLayoutVars>
      </dgm:prSet>
      <dgm:spPr/>
    </dgm:pt>
  </dgm:ptLst>
  <dgm:cxnLst>
    <dgm:cxn modelId="{54A57901-8D9C-41BB-853E-0AED94114CA7}" type="presOf" srcId="{3B9B3FEB-FA01-4433-BBAA-0A008A9B0474}" destId="{685CDD6B-4E7A-431C-AE49-199973E48254}" srcOrd="0" destOrd="0" presId="urn:microsoft.com/office/officeart/2005/8/layout/process2"/>
    <dgm:cxn modelId="{ED3DF73B-44F1-4EDC-829F-5DB635E9E2D1}" type="presOf" srcId="{9C1CEF2A-3AAA-4CDC-A377-99F4B2099DC1}" destId="{48F2BCE9-C0B8-4B17-BC55-384C807D9095}" srcOrd="0" destOrd="0" presId="urn:microsoft.com/office/officeart/2005/8/layout/process2"/>
    <dgm:cxn modelId="{DC617A5D-B6C2-431E-8616-4CDBA5B41ABF}" type="presOf" srcId="{034EB221-06A8-4F31-9316-75F8426870F1}" destId="{0EE7A132-686C-4963-9FB3-F9AEA651D256}" srcOrd="0" destOrd="0" presId="urn:microsoft.com/office/officeart/2005/8/layout/process2"/>
    <dgm:cxn modelId="{150E235F-0E54-474C-AAE1-E8C90DA3B2F1}" srcId="{3B9B3FEB-FA01-4433-BBAA-0A008A9B0474}" destId="{034EB221-06A8-4F31-9316-75F8426870F1}" srcOrd="1" destOrd="0" parTransId="{D53E48B0-9955-4699-9227-CFFB120E6F62}" sibTransId="{4DD63FDA-DD08-4416-8432-68FCCD5123A1}"/>
    <dgm:cxn modelId="{1D8AF691-65A8-46C2-9D92-A19C8BD9D33E}" type="presOf" srcId="{4DD63FDA-DD08-4416-8432-68FCCD5123A1}" destId="{ACE8C42A-6189-4EB2-9922-C6E9037752F5}" srcOrd="1" destOrd="0" presId="urn:microsoft.com/office/officeart/2005/8/layout/process2"/>
    <dgm:cxn modelId="{D7C1079E-EF63-4A8F-80D3-23735831DB11}" type="presOf" srcId="{4DD63FDA-DD08-4416-8432-68FCCD5123A1}" destId="{C9C84A7C-6390-4633-A2F8-417DE0B306F0}" srcOrd="0" destOrd="0" presId="urn:microsoft.com/office/officeart/2005/8/layout/process2"/>
    <dgm:cxn modelId="{C6A977B5-2827-48E6-BF20-367458D36C0A}" type="presOf" srcId="{369EDF5E-19CF-46CD-86B2-81ED13347DCA}" destId="{84A45C20-C21E-4938-AAB5-5CCE2424A933}" srcOrd="1" destOrd="0" presId="urn:microsoft.com/office/officeart/2005/8/layout/process2"/>
    <dgm:cxn modelId="{5B3F8FC3-EF61-4853-9759-62BC394B785F}" type="presOf" srcId="{369EDF5E-19CF-46CD-86B2-81ED13347DCA}" destId="{EFF135F3-F718-4DF0-A5C8-006A4CFB25F4}" srcOrd="0" destOrd="0" presId="urn:microsoft.com/office/officeart/2005/8/layout/process2"/>
    <dgm:cxn modelId="{5AB446CE-EFA9-4A57-A753-1DEF2311004A}" type="presOf" srcId="{25129F94-E8EC-409D-93C6-C19563154732}" destId="{ED24EFD8-10F2-41F8-9F2A-5AD9589158C3}" srcOrd="0" destOrd="0" presId="urn:microsoft.com/office/officeart/2005/8/layout/process2"/>
    <dgm:cxn modelId="{CB6611E9-4B0D-4681-85E3-90BC3BED543C}" srcId="{3B9B3FEB-FA01-4433-BBAA-0A008A9B0474}" destId="{9C1CEF2A-3AAA-4CDC-A377-99F4B2099DC1}" srcOrd="2" destOrd="0" parTransId="{EE1691E6-8495-474F-BC2B-B0E80288680F}" sibTransId="{5A5342AD-C32C-47E3-9833-63F1D8ED639B}"/>
    <dgm:cxn modelId="{B117BCF2-B149-4A47-AD84-6378626C2C00}" srcId="{3B9B3FEB-FA01-4433-BBAA-0A008A9B0474}" destId="{25129F94-E8EC-409D-93C6-C19563154732}" srcOrd="0" destOrd="0" parTransId="{469087C7-10D3-4F96-8EA8-BB06FDF8A3B2}" sibTransId="{369EDF5E-19CF-46CD-86B2-81ED13347DCA}"/>
    <dgm:cxn modelId="{BE75F10D-C2DC-45B8-8D51-A6F2DEDF8DF4}" type="presParOf" srcId="{685CDD6B-4E7A-431C-AE49-199973E48254}" destId="{ED24EFD8-10F2-41F8-9F2A-5AD9589158C3}" srcOrd="0" destOrd="0" presId="urn:microsoft.com/office/officeart/2005/8/layout/process2"/>
    <dgm:cxn modelId="{8437B5C9-BFF8-4FCE-9FDA-2C6D41B01D7E}" type="presParOf" srcId="{685CDD6B-4E7A-431C-AE49-199973E48254}" destId="{EFF135F3-F718-4DF0-A5C8-006A4CFB25F4}" srcOrd="1" destOrd="0" presId="urn:microsoft.com/office/officeart/2005/8/layout/process2"/>
    <dgm:cxn modelId="{5B4CEAAE-225A-49D1-A387-C28F396CDA98}" type="presParOf" srcId="{EFF135F3-F718-4DF0-A5C8-006A4CFB25F4}" destId="{84A45C20-C21E-4938-AAB5-5CCE2424A933}" srcOrd="0" destOrd="0" presId="urn:microsoft.com/office/officeart/2005/8/layout/process2"/>
    <dgm:cxn modelId="{1B0FB506-053A-4BD2-8C8E-84600D4202B0}" type="presParOf" srcId="{685CDD6B-4E7A-431C-AE49-199973E48254}" destId="{0EE7A132-686C-4963-9FB3-F9AEA651D256}" srcOrd="2" destOrd="0" presId="urn:microsoft.com/office/officeart/2005/8/layout/process2"/>
    <dgm:cxn modelId="{55F2920A-1DA0-4679-A4AD-138018554D20}" type="presParOf" srcId="{685CDD6B-4E7A-431C-AE49-199973E48254}" destId="{C9C84A7C-6390-4633-A2F8-417DE0B306F0}" srcOrd="3" destOrd="0" presId="urn:microsoft.com/office/officeart/2005/8/layout/process2"/>
    <dgm:cxn modelId="{6A2F23CC-1D85-430D-89FB-AC12CE166A23}" type="presParOf" srcId="{C9C84A7C-6390-4633-A2F8-417DE0B306F0}" destId="{ACE8C42A-6189-4EB2-9922-C6E9037752F5}" srcOrd="0" destOrd="0" presId="urn:microsoft.com/office/officeart/2005/8/layout/process2"/>
    <dgm:cxn modelId="{F3D52DEB-7784-4691-A364-C7916B5CA193}" type="presParOf" srcId="{685CDD6B-4E7A-431C-AE49-199973E48254}" destId="{48F2BCE9-C0B8-4B17-BC55-384C807D9095}" srcOrd="4" destOrd="0" presId="urn:microsoft.com/office/officeart/2005/8/layout/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D4CCE3F8-3DF8-4E60-9034-581721ADCE44}" type="doc">
      <dgm:prSet loTypeId="urn:microsoft.com/office/officeart/2005/8/layout/hierarchy1" loCatId="hierarchy" qsTypeId="urn:microsoft.com/office/officeart/2005/8/quickstyle/3d2#7" qsCatId="3D" csTypeId="urn:microsoft.com/office/officeart/2005/8/colors/colorful2#2" csCatId="colorful" phldr="1"/>
      <dgm:spPr/>
      <dgm:t>
        <a:bodyPr/>
        <a:lstStyle/>
        <a:p>
          <a:endParaRPr lang="en-GB"/>
        </a:p>
      </dgm:t>
    </dgm:pt>
    <dgm:pt modelId="{A4673D2C-B7BB-4150-9710-70F910A6F52B}">
      <dgm:prSet phldrT="[Text]" custT="1"/>
      <dgm:spPr/>
      <dgm:t>
        <a:bodyPr/>
        <a:lstStyle/>
        <a:p>
          <a:r>
            <a:rPr lang="en-GB" sz="2400" dirty="0"/>
            <a:t>Cost of</a:t>
          </a:r>
        </a:p>
        <a:p>
          <a:r>
            <a:rPr lang="en-GB" sz="2400" dirty="0"/>
            <a:t>Capital</a:t>
          </a:r>
        </a:p>
      </dgm:t>
    </dgm:pt>
    <dgm:pt modelId="{8A0DAB93-08DC-457D-80A7-3F898AA6088E}" type="parTrans" cxnId="{693E5C40-B401-4C39-BBA5-287B6039073F}">
      <dgm:prSet/>
      <dgm:spPr/>
      <dgm:t>
        <a:bodyPr/>
        <a:lstStyle/>
        <a:p>
          <a:endParaRPr lang="en-GB" sz="2000"/>
        </a:p>
      </dgm:t>
    </dgm:pt>
    <dgm:pt modelId="{E8CD9780-D6E4-4A6E-89C2-354092B48362}" type="sibTrans" cxnId="{693E5C40-B401-4C39-BBA5-287B6039073F}">
      <dgm:prSet/>
      <dgm:spPr/>
      <dgm:t>
        <a:bodyPr/>
        <a:lstStyle/>
        <a:p>
          <a:endParaRPr lang="en-GB" sz="2000"/>
        </a:p>
      </dgm:t>
    </dgm:pt>
    <dgm:pt modelId="{69510B76-C602-4623-A5D8-0179A407488C}">
      <dgm:prSet phldrT="[Text]" custT="1"/>
      <dgm:spPr/>
      <dgm:t>
        <a:bodyPr/>
        <a:lstStyle/>
        <a:p>
          <a:r>
            <a:rPr lang="en-GB" sz="2400" dirty="0"/>
            <a:t>Equity</a:t>
          </a:r>
        </a:p>
      </dgm:t>
    </dgm:pt>
    <dgm:pt modelId="{F193A1CC-21DC-4E57-ADF2-2B06E6CFCE19}" type="parTrans" cxnId="{40801D25-692F-4537-9E79-1979B67206CF}">
      <dgm:prSet/>
      <dgm:spPr/>
      <dgm:t>
        <a:bodyPr/>
        <a:lstStyle/>
        <a:p>
          <a:endParaRPr lang="en-GB" sz="2000"/>
        </a:p>
      </dgm:t>
    </dgm:pt>
    <dgm:pt modelId="{43F6EC63-14A2-4217-9985-DCAA31D0ED1B}" type="sibTrans" cxnId="{40801D25-692F-4537-9E79-1979B67206CF}">
      <dgm:prSet/>
      <dgm:spPr/>
      <dgm:t>
        <a:bodyPr/>
        <a:lstStyle/>
        <a:p>
          <a:endParaRPr lang="en-GB" sz="2000"/>
        </a:p>
      </dgm:t>
    </dgm:pt>
    <dgm:pt modelId="{9C8D3B03-E8D9-45C0-813D-532996902984}">
      <dgm:prSet phldrT="[Text]" custT="1"/>
      <dgm:spPr/>
      <dgm:t>
        <a:bodyPr/>
        <a:lstStyle/>
        <a:p>
          <a:r>
            <a:rPr lang="en-GB" sz="2400" dirty="0"/>
            <a:t>Cost of Equity</a:t>
          </a:r>
        </a:p>
        <a:p>
          <a:r>
            <a:rPr lang="en-GB" sz="2400" dirty="0" err="1"/>
            <a:t>k</a:t>
          </a:r>
          <a:r>
            <a:rPr lang="en-GB" sz="2400" baseline="-25000" dirty="0" err="1"/>
            <a:t>e</a:t>
          </a:r>
          <a:endParaRPr lang="en-GB" sz="2400" baseline="-25000" dirty="0"/>
        </a:p>
      </dgm:t>
    </dgm:pt>
    <dgm:pt modelId="{2C1FF27E-1E72-4FA2-8773-99861C6BE5F0}" type="parTrans" cxnId="{E48E7197-2729-43AF-A8C4-029C64C8E90A}">
      <dgm:prSet/>
      <dgm:spPr/>
      <dgm:t>
        <a:bodyPr/>
        <a:lstStyle/>
        <a:p>
          <a:endParaRPr lang="en-GB" sz="2000"/>
        </a:p>
      </dgm:t>
    </dgm:pt>
    <dgm:pt modelId="{F39F25F7-87BA-49AA-B290-5EFC36FD544B}" type="sibTrans" cxnId="{E48E7197-2729-43AF-A8C4-029C64C8E90A}">
      <dgm:prSet/>
      <dgm:spPr/>
      <dgm:t>
        <a:bodyPr/>
        <a:lstStyle/>
        <a:p>
          <a:endParaRPr lang="en-GB" sz="2000"/>
        </a:p>
      </dgm:t>
    </dgm:pt>
    <dgm:pt modelId="{E2A49503-201B-4113-8B20-2CB28F4561E9}">
      <dgm:prSet phldrT="[Text]" custT="1"/>
      <dgm:spPr/>
      <dgm:t>
        <a:bodyPr/>
        <a:lstStyle/>
        <a:p>
          <a:r>
            <a:rPr lang="en-GB" sz="2400" dirty="0"/>
            <a:t>Debt</a:t>
          </a:r>
        </a:p>
      </dgm:t>
    </dgm:pt>
    <dgm:pt modelId="{2D840794-74C9-43E5-8349-E94BA9FB654D}" type="parTrans" cxnId="{0AB71A9E-4279-4458-90C6-2A6608847B04}">
      <dgm:prSet/>
      <dgm:spPr/>
      <dgm:t>
        <a:bodyPr/>
        <a:lstStyle/>
        <a:p>
          <a:endParaRPr lang="en-GB" sz="2000"/>
        </a:p>
      </dgm:t>
    </dgm:pt>
    <dgm:pt modelId="{696C3DA8-348D-4A2F-8F9B-14DAFE3DDF5B}" type="sibTrans" cxnId="{0AB71A9E-4279-4458-90C6-2A6608847B04}">
      <dgm:prSet/>
      <dgm:spPr/>
      <dgm:t>
        <a:bodyPr/>
        <a:lstStyle/>
        <a:p>
          <a:endParaRPr lang="en-GB" sz="2000"/>
        </a:p>
      </dgm:t>
    </dgm:pt>
    <dgm:pt modelId="{87EEA368-BDD1-40CF-B4DC-22522852B909}">
      <dgm:prSet phldrT="[Text]" custT="1"/>
      <dgm:spPr/>
      <dgm:t>
        <a:bodyPr/>
        <a:lstStyle/>
        <a:p>
          <a:r>
            <a:rPr lang="en-GB" sz="2400" dirty="0"/>
            <a:t>Cost of Bank Borrowing/Bonds</a:t>
          </a:r>
        </a:p>
        <a:p>
          <a:r>
            <a:rPr lang="en-GB" sz="2400" dirty="0" err="1"/>
            <a:t>k</a:t>
          </a:r>
          <a:r>
            <a:rPr lang="en-GB" sz="2400" baseline="-25000" dirty="0" err="1"/>
            <a:t>d</a:t>
          </a:r>
          <a:endParaRPr lang="en-GB" sz="2400" dirty="0"/>
        </a:p>
      </dgm:t>
    </dgm:pt>
    <dgm:pt modelId="{DDF5C395-1E97-4C6F-9643-FB99F5F9436A}" type="parTrans" cxnId="{20F1033E-87F4-4302-8403-F9169A8CB99C}">
      <dgm:prSet/>
      <dgm:spPr/>
      <dgm:t>
        <a:bodyPr/>
        <a:lstStyle/>
        <a:p>
          <a:endParaRPr lang="en-GB" sz="2000"/>
        </a:p>
      </dgm:t>
    </dgm:pt>
    <dgm:pt modelId="{B4535FCE-4D74-47A0-93A8-CFC739A9178A}" type="sibTrans" cxnId="{20F1033E-87F4-4302-8403-F9169A8CB99C}">
      <dgm:prSet/>
      <dgm:spPr/>
      <dgm:t>
        <a:bodyPr/>
        <a:lstStyle/>
        <a:p>
          <a:endParaRPr lang="en-GB" sz="2000"/>
        </a:p>
      </dgm:t>
    </dgm:pt>
    <dgm:pt modelId="{0C9D6B70-1ADF-4A28-AD4D-B66C66B0568A}">
      <dgm:prSet custT="1"/>
      <dgm:spPr/>
      <dgm:t>
        <a:bodyPr/>
        <a:lstStyle/>
        <a:p>
          <a:r>
            <a:rPr lang="en-GB" sz="2400" dirty="0"/>
            <a:t>Interest Rate</a:t>
          </a:r>
        </a:p>
        <a:p>
          <a:r>
            <a:rPr lang="en-GB" sz="2400" dirty="0"/>
            <a:t>Default Spread</a:t>
          </a:r>
        </a:p>
      </dgm:t>
    </dgm:pt>
    <dgm:pt modelId="{1C6EB86B-EAC1-4CAA-AB32-578D4A6C7940}" type="parTrans" cxnId="{FA8272DF-736F-4A8B-BDFE-AEA5F6000B11}">
      <dgm:prSet/>
      <dgm:spPr/>
      <dgm:t>
        <a:bodyPr/>
        <a:lstStyle/>
        <a:p>
          <a:endParaRPr lang="en-GB" sz="2000"/>
        </a:p>
      </dgm:t>
    </dgm:pt>
    <dgm:pt modelId="{B8063539-083A-4A17-A5DB-A2CA37CEC1A6}" type="sibTrans" cxnId="{FA8272DF-736F-4A8B-BDFE-AEA5F6000B11}">
      <dgm:prSet/>
      <dgm:spPr/>
      <dgm:t>
        <a:bodyPr/>
        <a:lstStyle/>
        <a:p>
          <a:endParaRPr lang="en-GB" sz="2000"/>
        </a:p>
      </dgm:t>
    </dgm:pt>
    <dgm:pt modelId="{DC82440B-BFD2-4215-B171-AD7AEFC2E7DA}">
      <dgm:prSet custT="1"/>
      <dgm:spPr/>
      <dgm:t>
        <a:bodyPr/>
        <a:lstStyle/>
        <a:p>
          <a:r>
            <a:rPr lang="en-GB" sz="2400" dirty="0"/>
            <a:t>CAPM</a:t>
          </a:r>
        </a:p>
      </dgm:t>
    </dgm:pt>
    <dgm:pt modelId="{811A6274-631C-4692-9BF3-AD6C11CBD71F}" type="parTrans" cxnId="{ED32DE9D-00F7-4046-A059-D44F032E282B}">
      <dgm:prSet/>
      <dgm:spPr/>
      <dgm:t>
        <a:bodyPr/>
        <a:lstStyle/>
        <a:p>
          <a:endParaRPr lang="en-GB" sz="2000"/>
        </a:p>
      </dgm:t>
    </dgm:pt>
    <dgm:pt modelId="{27653F47-D682-4193-9260-4C47177BFA40}" type="sibTrans" cxnId="{ED32DE9D-00F7-4046-A059-D44F032E282B}">
      <dgm:prSet/>
      <dgm:spPr/>
      <dgm:t>
        <a:bodyPr/>
        <a:lstStyle/>
        <a:p>
          <a:endParaRPr lang="en-GB" sz="2000"/>
        </a:p>
      </dgm:t>
    </dgm:pt>
    <dgm:pt modelId="{2CEA8B43-7D41-41AB-9629-68D1EDB49D9F}">
      <dgm:prSet custT="1"/>
      <dgm:spPr/>
      <dgm:t>
        <a:bodyPr/>
        <a:lstStyle/>
        <a:p>
          <a:r>
            <a:rPr lang="en-GB" sz="2400" dirty="0"/>
            <a:t>Yield to Maturity</a:t>
          </a:r>
        </a:p>
      </dgm:t>
    </dgm:pt>
    <dgm:pt modelId="{26BB58C0-4819-406B-A07D-D946E6FECD6E}" type="parTrans" cxnId="{ED97CF35-5521-418D-805A-CEC728495874}">
      <dgm:prSet/>
      <dgm:spPr/>
      <dgm:t>
        <a:bodyPr/>
        <a:lstStyle/>
        <a:p>
          <a:endParaRPr lang="en-GB" sz="2000"/>
        </a:p>
      </dgm:t>
    </dgm:pt>
    <dgm:pt modelId="{8499F537-5F79-4CC5-B2AE-568EBC04B033}" type="sibTrans" cxnId="{ED97CF35-5521-418D-805A-CEC728495874}">
      <dgm:prSet/>
      <dgm:spPr/>
      <dgm:t>
        <a:bodyPr/>
        <a:lstStyle/>
        <a:p>
          <a:endParaRPr lang="en-GB" sz="2000"/>
        </a:p>
      </dgm:t>
    </dgm:pt>
    <dgm:pt modelId="{D5625D07-8E40-47F9-A2AA-7E15E9352172}">
      <dgm:prSet custT="1"/>
      <dgm:spPr/>
      <dgm:t>
        <a:bodyPr/>
        <a:lstStyle/>
        <a:p>
          <a:r>
            <a:rPr lang="en-GB" sz="2400" dirty="0"/>
            <a:t>Hybrid Assets</a:t>
          </a:r>
        </a:p>
      </dgm:t>
    </dgm:pt>
    <dgm:pt modelId="{86565486-5E73-4556-9870-15A93BCF4BE2}" type="parTrans" cxnId="{8B9469BA-1E79-4821-8597-06C06849E2EC}">
      <dgm:prSet/>
      <dgm:spPr/>
      <dgm:t>
        <a:bodyPr/>
        <a:lstStyle/>
        <a:p>
          <a:endParaRPr lang="en-GB" sz="2000"/>
        </a:p>
      </dgm:t>
    </dgm:pt>
    <dgm:pt modelId="{EDE72976-144F-4B8C-90E1-CF6A758BEC9B}" type="sibTrans" cxnId="{8B9469BA-1E79-4821-8597-06C06849E2EC}">
      <dgm:prSet/>
      <dgm:spPr/>
      <dgm:t>
        <a:bodyPr/>
        <a:lstStyle/>
        <a:p>
          <a:endParaRPr lang="en-GB" sz="2000"/>
        </a:p>
      </dgm:t>
    </dgm:pt>
    <dgm:pt modelId="{76402630-97DA-4CE7-88D0-1BD85051E72F}">
      <dgm:prSet custT="1"/>
      <dgm:spPr/>
      <dgm:t>
        <a:bodyPr/>
        <a:lstStyle/>
        <a:p>
          <a:r>
            <a:rPr lang="en-GB" sz="2400" dirty="0"/>
            <a:t>Growth</a:t>
          </a:r>
        </a:p>
        <a:p>
          <a:r>
            <a:rPr lang="en-GB" sz="2400" dirty="0"/>
            <a:t>Models</a:t>
          </a:r>
        </a:p>
      </dgm:t>
    </dgm:pt>
    <dgm:pt modelId="{0BC92D21-A080-41FF-B87A-0953C14D9A20}" type="parTrans" cxnId="{D900EADD-6BAA-4493-8291-108E1870CADA}">
      <dgm:prSet/>
      <dgm:spPr/>
      <dgm:t>
        <a:bodyPr/>
        <a:lstStyle/>
        <a:p>
          <a:endParaRPr lang="en-GB" sz="2000"/>
        </a:p>
      </dgm:t>
    </dgm:pt>
    <dgm:pt modelId="{7F0E8EB8-3E65-42A5-8B38-16F1E48BB258}" type="sibTrans" cxnId="{D900EADD-6BAA-4493-8291-108E1870CADA}">
      <dgm:prSet/>
      <dgm:spPr/>
      <dgm:t>
        <a:bodyPr/>
        <a:lstStyle/>
        <a:p>
          <a:endParaRPr lang="en-GB" sz="2000"/>
        </a:p>
      </dgm:t>
    </dgm:pt>
    <dgm:pt modelId="{4EB84A22-BCEB-4AFF-A708-0839BFE7CA87}" type="pres">
      <dgm:prSet presAssocID="{D4CCE3F8-3DF8-4E60-9034-581721ADCE44}" presName="hierChild1" presStyleCnt="0">
        <dgm:presLayoutVars>
          <dgm:chPref val="1"/>
          <dgm:dir/>
          <dgm:animOne val="branch"/>
          <dgm:animLvl val="lvl"/>
          <dgm:resizeHandles/>
        </dgm:presLayoutVars>
      </dgm:prSet>
      <dgm:spPr/>
    </dgm:pt>
    <dgm:pt modelId="{A371A0D9-F970-46CB-8DE6-0ADB34B05DB2}" type="pres">
      <dgm:prSet presAssocID="{A4673D2C-B7BB-4150-9710-70F910A6F52B}" presName="hierRoot1" presStyleCnt="0"/>
      <dgm:spPr/>
    </dgm:pt>
    <dgm:pt modelId="{B4420BDD-6972-48DC-B86E-AADF2CF9A165}" type="pres">
      <dgm:prSet presAssocID="{A4673D2C-B7BB-4150-9710-70F910A6F52B}" presName="composite" presStyleCnt="0"/>
      <dgm:spPr/>
    </dgm:pt>
    <dgm:pt modelId="{E70D1C7E-8F18-4F1C-B67E-F131EAAD7B1D}" type="pres">
      <dgm:prSet presAssocID="{A4673D2C-B7BB-4150-9710-70F910A6F52B}" presName="background" presStyleLbl="node0" presStyleIdx="0" presStyleCnt="1"/>
      <dgm:spPr/>
    </dgm:pt>
    <dgm:pt modelId="{00062A92-E969-4B65-8FED-2FE6B7466D5D}" type="pres">
      <dgm:prSet presAssocID="{A4673D2C-B7BB-4150-9710-70F910A6F52B}" presName="text" presStyleLbl="fgAcc0" presStyleIdx="0" presStyleCnt="1">
        <dgm:presLayoutVars>
          <dgm:chPref val="3"/>
        </dgm:presLayoutVars>
      </dgm:prSet>
      <dgm:spPr/>
    </dgm:pt>
    <dgm:pt modelId="{917562DC-5BAF-4418-89CC-E2D4C8B1097F}" type="pres">
      <dgm:prSet presAssocID="{A4673D2C-B7BB-4150-9710-70F910A6F52B}" presName="hierChild2" presStyleCnt="0"/>
      <dgm:spPr/>
    </dgm:pt>
    <dgm:pt modelId="{B14D36A9-A27B-41C5-A63C-C7F11F7CD9A3}" type="pres">
      <dgm:prSet presAssocID="{F193A1CC-21DC-4E57-ADF2-2B06E6CFCE19}" presName="Name10" presStyleLbl="parChTrans1D2" presStyleIdx="0" presStyleCnt="3"/>
      <dgm:spPr/>
    </dgm:pt>
    <dgm:pt modelId="{A33D7953-A0F8-4F8E-B3D6-BED251A83FE1}" type="pres">
      <dgm:prSet presAssocID="{69510B76-C602-4623-A5D8-0179A407488C}" presName="hierRoot2" presStyleCnt="0"/>
      <dgm:spPr/>
    </dgm:pt>
    <dgm:pt modelId="{D693D8CA-B775-4B60-9F21-60982403D565}" type="pres">
      <dgm:prSet presAssocID="{69510B76-C602-4623-A5D8-0179A407488C}" presName="composite2" presStyleCnt="0"/>
      <dgm:spPr/>
    </dgm:pt>
    <dgm:pt modelId="{59E98FDB-DFE4-45D7-8A5B-D650119DBBE8}" type="pres">
      <dgm:prSet presAssocID="{69510B76-C602-4623-A5D8-0179A407488C}" presName="background2" presStyleLbl="node2" presStyleIdx="0" presStyleCnt="3"/>
      <dgm:spPr/>
    </dgm:pt>
    <dgm:pt modelId="{D0DDE592-E7C3-44A9-965D-E820D8F99E9C}" type="pres">
      <dgm:prSet presAssocID="{69510B76-C602-4623-A5D8-0179A407488C}" presName="text2" presStyleLbl="fgAcc2" presStyleIdx="0" presStyleCnt="3">
        <dgm:presLayoutVars>
          <dgm:chPref val="3"/>
        </dgm:presLayoutVars>
      </dgm:prSet>
      <dgm:spPr/>
    </dgm:pt>
    <dgm:pt modelId="{F63D4535-2EFD-46B6-82B6-2BD18890DDDA}" type="pres">
      <dgm:prSet presAssocID="{69510B76-C602-4623-A5D8-0179A407488C}" presName="hierChild3" presStyleCnt="0"/>
      <dgm:spPr/>
    </dgm:pt>
    <dgm:pt modelId="{E6F9299C-3C55-4986-A28D-E66EA7DBC157}" type="pres">
      <dgm:prSet presAssocID="{2C1FF27E-1E72-4FA2-8773-99861C6BE5F0}" presName="Name17" presStyleLbl="parChTrans1D3" presStyleIdx="0" presStyleCnt="2"/>
      <dgm:spPr/>
    </dgm:pt>
    <dgm:pt modelId="{6659D33D-CA15-4DD9-9F13-680B3D612E14}" type="pres">
      <dgm:prSet presAssocID="{9C8D3B03-E8D9-45C0-813D-532996902984}" presName="hierRoot3" presStyleCnt="0"/>
      <dgm:spPr/>
    </dgm:pt>
    <dgm:pt modelId="{BF9C5BED-D9AD-43E4-B924-20283193EF41}" type="pres">
      <dgm:prSet presAssocID="{9C8D3B03-E8D9-45C0-813D-532996902984}" presName="composite3" presStyleCnt="0"/>
      <dgm:spPr/>
    </dgm:pt>
    <dgm:pt modelId="{9737AA0E-8AE7-4C72-BE01-869F288BE8ED}" type="pres">
      <dgm:prSet presAssocID="{9C8D3B03-E8D9-45C0-813D-532996902984}" presName="background3" presStyleLbl="node3" presStyleIdx="0" presStyleCnt="2"/>
      <dgm:spPr/>
    </dgm:pt>
    <dgm:pt modelId="{DAB724C4-61F9-4EF0-BD7A-093EF1670A27}" type="pres">
      <dgm:prSet presAssocID="{9C8D3B03-E8D9-45C0-813D-532996902984}" presName="text3" presStyleLbl="fgAcc3" presStyleIdx="0" presStyleCnt="2" custScaleX="217578" custScaleY="121655">
        <dgm:presLayoutVars>
          <dgm:chPref val="3"/>
        </dgm:presLayoutVars>
      </dgm:prSet>
      <dgm:spPr/>
    </dgm:pt>
    <dgm:pt modelId="{092966BD-AC40-4A0A-BA65-FAB3BEBE5F67}" type="pres">
      <dgm:prSet presAssocID="{9C8D3B03-E8D9-45C0-813D-532996902984}" presName="hierChild4" presStyleCnt="0"/>
      <dgm:spPr/>
    </dgm:pt>
    <dgm:pt modelId="{F677A80D-7972-4FEB-B05A-C2C59535C740}" type="pres">
      <dgm:prSet presAssocID="{0BC92D21-A080-41FF-B87A-0953C14D9A20}" presName="Name23" presStyleLbl="parChTrans1D4" presStyleIdx="0" presStyleCnt="4"/>
      <dgm:spPr/>
    </dgm:pt>
    <dgm:pt modelId="{5154987B-5D7B-429E-83C1-3FED003FD3A4}" type="pres">
      <dgm:prSet presAssocID="{76402630-97DA-4CE7-88D0-1BD85051E72F}" presName="hierRoot4" presStyleCnt="0"/>
      <dgm:spPr/>
    </dgm:pt>
    <dgm:pt modelId="{345A9360-57D2-4FB8-A899-C4ACFA5F8CEB}" type="pres">
      <dgm:prSet presAssocID="{76402630-97DA-4CE7-88D0-1BD85051E72F}" presName="composite4" presStyleCnt="0"/>
      <dgm:spPr/>
    </dgm:pt>
    <dgm:pt modelId="{3838D84A-6684-45C7-BBE0-20C916F12C05}" type="pres">
      <dgm:prSet presAssocID="{76402630-97DA-4CE7-88D0-1BD85051E72F}" presName="background4" presStyleLbl="node4" presStyleIdx="0" presStyleCnt="4"/>
      <dgm:spPr/>
    </dgm:pt>
    <dgm:pt modelId="{618F6585-B598-4AC0-99EC-F45B3FA7C76F}" type="pres">
      <dgm:prSet presAssocID="{76402630-97DA-4CE7-88D0-1BD85051E72F}" presName="text4" presStyleLbl="fgAcc4" presStyleIdx="0" presStyleCnt="4">
        <dgm:presLayoutVars>
          <dgm:chPref val="3"/>
        </dgm:presLayoutVars>
      </dgm:prSet>
      <dgm:spPr/>
    </dgm:pt>
    <dgm:pt modelId="{D777E9F1-ABF5-41BE-80C3-6E98D0ACAA81}" type="pres">
      <dgm:prSet presAssocID="{76402630-97DA-4CE7-88D0-1BD85051E72F}" presName="hierChild5" presStyleCnt="0"/>
      <dgm:spPr/>
    </dgm:pt>
    <dgm:pt modelId="{790D0297-B7DB-4D85-9D6A-1EA40104F7E0}" type="pres">
      <dgm:prSet presAssocID="{811A6274-631C-4692-9BF3-AD6C11CBD71F}" presName="Name23" presStyleLbl="parChTrans1D4" presStyleIdx="1" presStyleCnt="4"/>
      <dgm:spPr/>
    </dgm:pt>
    <dgm:pt modelId="{9FEC4EFF-37BB-4364-84E9-7EBF20E0EA74}" type="pres">
      <dgm:prSet presAssocID="{DC82440B-BFD2-4215-B171-AD7AEFC2E7DA}" presName="hierRoot4" presStyleCnt="0"/>
      <dgm:spPr/>
    </dgm:pt>
    <dgm:pt modelId="{F906F9DF-6790-40DE-BB92-1DCAFE35909C}" type="pres">
      <dgm:prSet presAssocID="{DC82440B-BFD2-4215-B171-AD7AEFC2E7DA}" presName="composite4" presStyleCnt="0"/>
      <dgm:spPr/>
    </dgm:pt>
    <dgm:pt modelId="{E2376AC1-0861-4495-AE75-0B57B2D4C5AD}" type="pres">
      <dgm:prSet presAssocID="{DC82440B-BFD2-4215-B171-AD7AEFC2E7DA}" presName="background4" presStyleLbl="node4" presStyleIdx="1" presStyleCnt="4"/>
      <dgm:spPr/>
    </dgm:pt>
    <dgm:pt modelId="{49F1F40F-0366-4DCE-BC53-EEF33BE3FD28}" type="pres">
      <dgm:prSet presAssocID="{DC82440B-BFD2-4215-B171-AD7AEFC2E7DA}" presName="text4" presStyleLbl="fgAcc4" presStyleIdx="1" presStyleCnt="4">
        <dgm:presLayoutVars>
          <dgm:chPref val="3"/>
        </dgm:presLayoutVars>
      </dgm:prSet>
      <dgm:spPr/>
    </dgm:pt>
    <dgm:pt modelId="{5DD33A5D-3527-47FC-8EF2-935AC3CF08FB}" type="pres">
      <dgm:prSet presAssocID="{DC82440B-BFD2-4215-B171-AD7AEFC2E7DA}" presName="hierChild5" presStyleCnt="0"/>
      <dgm:spPr/>
    </dgm:pt>
    <dgm:pt modelId="{8CCFF209-9E61-4C73-A4D0-A31DA3D99052}" type="pres">
      <dgm:prSet presAssocID="{86565486-5E73-4556-9870-15A93BCF4BE2}" presName="Name10" presStyleLbl="parChTrans1D2" presStyleIdx="1" presStyleCnt="3"/>
      <dgm:spPr/>
    </dgm:pt>
    <dgm:pt modelId="{899A15F7-7755-48E9-BE09-493E225A4008}" type="pres">
      <dgm:prSet presAssocID="{D5625D07-8E40-47F9-A2AA-7E15E9352172}" presName="hierRoot2" presStyleCnt="0"/>
      <dgm:spPr/>
    </dgm:pt>
    <dgm:pt modelId="{AF7CFCE7-C2B6-4239-8958-87977D05D420}" type="pres">
      <dgm:prSet presAssocID="{D5625D07-8E40-47F9-A2AA-7E15E9352172}" presName="composite2" presStyleCnt="0"/>
      <dgm:spPr/>
    </dgm:pt>
    <dgm:pt modelId="{3F099442-4D15-4CB0-BECC-75FCAD09B540}" type="pres">
      <dgm:prSet presAssocID="{D5625D07-8E40-47F9-A2AA-7E15E9352172}" presName="background2" presStyleLbl="node2" presStyleIdx="1" presStyleCnt="3"/>
      <dgm:spPr/>
    </dgm:pt>
    <dgm:pt modelId="{534996D1-EA11-4405-8B0A-C6BD8A1D493B}" type="pres">
      <dgm:prSet presAssocID="{D5625D07-8E40-47F9-A2AA-7E15E9352172}" presName="text2" presStyleLbl="fgAcc2" presStyleIdx="1" presStyleCnt="3">
        <dgm:presLayoutVars>
          <dgm:chPref val="3"/>
        </dgm:presLayoutVars>
      </dgm:prSet>
      <dgm:spPr/>
    </dgm:pt>
    <dgm:pt modelId="{AE213B70-FB3D-4405-A3D5-9A4243DF4C0D}" type="pres">
      <dgm:prSet presAssocID="{D5625D07-8E40-47F9-A2AA-7E15E9352172}" presName="hierChild3" presStyleCnt="0"/>
      <dgm:spPr/>
    </dgm:pt>
    <dgm:pt modelId="{B069B8C5-F299-4AFA-B33A-345CB094A448}" type="pres">
      <dgm:prSet presAssocID="{2D840794-74C9-43E5-8349-E94BA9FB654D}" presName="Name10" presStyleLbl="parChTrans1D2" presStyleIdx="2" presStyleCnt="3"/>
      <dgm:spPr/>
    </dgm:pt>
    <dgm:pt modelId="{9001CA8D-B097-49CC-A61C-569565F3B3BE}" type="pres">
      <dgm:prSet presAssocID="{E2A49503-201B-4113-8B20-2CB28F4561E9}" presName="hierRoot2" presStyleCnt="0"/>
      <dgm:spPr/>
    </dgm:pt>
    <dgm:pt modelId="{3AED9BB9-8941-44FC-9F31-4D5954222130}" type="pres">
      <dgm:prSet presAssocID="{E2A49503-201B-4113-8B20-2CB28F4561E9}" presName="composite2" presStyleCnt="0"/>
      <dgm:spPr/>
    </dgm:pt>
    <dgm:pt modelId="{FB0EC973-08BD-439A-80B4-72EED26568AE}" type="pres">
      <dgm:prSet presAssocID="{E2A49503-201B-4113-8B20-2CB28F4561E9}" presName="background2" presStyleLbl="node2" presStyleIdx="2" presStyleCnt="3"/>
      <dgm:spPr/>
    </dgm:pt>
    <dgm:pt modelId="{DA441BB8-01DD-4624-B76A-959279122DDA}" type="pres">
      <dgm:prSet presAssocID="{E2A49503-201B-4113-8B20-2CB28F4561E9}" presName="text2" presStyleLbl="fgAcc2" presStyleIdx="2" presStyleCnt="3">
        <dgm:presLayoutVars>
          <dgm:chPref val="3"/>
        </dgm:presLayoutVars>
      </dgm:prSet>
      <dgm:spPr/>
    </dgm:pt>
    <dgm:pt modelId="{02876D7F-83A2-48BE-A8CE-7F800981B2FC}" type="pres">
      <dgm:prSet presAssocID="{E2A49503-201B-4113-8B20-2CB28F4561E9}" presName="hierChild3" presStyleCnt="0"/>
      <dgm:spPr/>
    </dgm:pt>
    <dgm:pt modelId="{F7BCEAE7-1C5E-464E-B3B1-E568EA8B266B}" type="pres">
      <dgm:prSet presAssocID="{DDF5C395-1E97-4C6F-9643-FB99F5F9436A}" presName="Name17" presStyleLbl="parChTrans1D3" presStyleIdx="1" presStyleCnt="2"/>
      <dgm:spPr/>
    </dgm:pt>
    <dgm:pt modelId="{5B433906-0FDC-46E0-BAD4-CBFBB4719304}" type="pres">
      <dgm:prSet presAssocID="{87EEA368-BDD1-40CF-B4DC-22522852B909}" presName="hierRoot3" presStyleCnt="0"/>
      <dgm:spPr/>
    </dgm:pt>
    <dgm:pt modelId="{BDD865DA-7200-4AA1-BFD6-0EDAB5704B05}" type="pres">
      <dgm:prSet presAssocID="{87EEA368-BDD1-40CF-B4DC-22522852B909}" presName="composite3" presStyleCnt="0"/>
      <dgm:spPr/>
    </dgm:pt>
    <dgm:pt modelId="{C413E84B-A36D-488E-9FA6-556A018942A3}" type="pres">
      <dgm:prSet presAssocID="{87EEA368-BDD1-40CF-B4DC-22522852B909}" presName="background3" presStyleLbl="node3" presStyleIdx="1" presStyleCnt="2"/>
      <dgm:spPr/>
    </dgm:pt>
    <dgm:pt modelId="{5ED42C69-8EAB-4D4C-8EAC-5D23CD5CC311}" type="pres">
      <dgm:prSet presAssocID="{87EEA368-BDD1-40CF-B4DC-22522852B909}" presName="text3" presStyleLbl="fgAcc3" presStyleIdx="1" presStyleCnt="2" custScaleX="217578" custScaleY="121655">
        <dgm:presLayoutVars>
          <dgm:chPref val="3"/>
        </dgm:presLayoutVars>
      </dgm:prSet>
      <dgm:spPr/>
    </dgm:pt>
    <dgm:pt modelId="{B5F35A0C-8DD6-4EFE-B8C0-EDFFD7888974}" type="pres">
      <dgm:prSet presAssocID="{87EEA368-BDD1-40CF-B4DC-22522852B909}" presName="hierChild4" presStyleCnt="0"/>
      <dgm:spPr/>
    </dgm:pt>
    <dgm:pt modelId="{70C1D25A-5FF7-49E5-B17A-E32E9541F4CC}" type="pres">
      <dgm:prSet presAssocID="{1C6EB86B-EAC1-4CAA-AB32-578D4A6C7940}" presName="Name23" presStyleLbl="parChTrans1D4" presStyleIdx="2" presStyleCnt="4"/>
      <dgm:spPr/>
    </dgm:pt>
    <dgm:pt modelId="{6E91AC47-499C-4CE6-84CD-ABC03C116F66}" type="pres">
      <dgm:prSet presAssocID="{0C9D6B70-1ADF-4A28-AD4D-B66C66B0568A}" presName="hierRoot4" presStyleCnt="0"/>
      <dgm:spPr/>
    </dgm:pt>
    <dgm:pt modelId="{005DF947-EB67-4FD7-80D7-8AEDB2A95AD1}" type="pres">
      <dgm:prSet presAssocID="{0C9D6B70-1ADF-4A28-AD4D-B66C66B0568A}" presName="composite4" presStyleCnt="0"/>
      <dgm:spPr/>
    </dgm:pt>
    <dgm:pt modelId="{03774A42-4B76-43D0-A86A-50DE738417AA}" type="pres">
      <dgm:prSet presAssocID="{0C9D6B70-1ADF-4A28-AD4D-B66C66B0568A}" presName="background4" presStyleLbl="node4" presStyleIdx="2" presStyleCnt="4"/>
      <dgm:spPr/>
    </dgm:pt>
    <dgm:pt modelId="{DC826FD7-6AB4-4510-BF3A-EDEFBD201F71}" type="pres">
      <dgm:prSet presAssocID="{0C9D6B70-1ADF-4A28-AD4D-B66C66B0568A}" presName="text4" presStyleLbl="fgAcc4" presStyleIdx="2" presStyleCnt="4" custScaleX="139634">
        <dgm:presLayoutVars>
          <dgm:chPref val="3"/>
        </dgm:presLayoutVars>
      </dgm:prSet>
      <dgm:spPr/>
    </dgm:pt>
    <dgm:pt modelId="{DB242FB8-CD00-48BA-BBB7-058609FCABD4}" type="pres">
      <dgm:prSet presAssocID="{0C9D6B70-1ADF-4A28-AD4D-B66C66B0568A}" presName="hierChild5" presStyleCnt="0"/>
      <dgm:spPr/>
    </dgm:pt>
    <dgm:pt modelId="{571B3D0E-332F-4317-9CED-803F5D64EC1F}" type="pres">
      <dgm:prSet presAssocID="{26BB58C0-4819-406B-A07D-D946E6FECD6E}" presName="Name23" presStyleLbl="parChTrans1D4" presStyleIdx="3" presStyleCnt="4"/>
      <dgm:spPr/>
    </dgm:pt>
    <dgm:pt modelId="{ADA1CB26-E82E-4F76-8EDB-0447307CC02C}" type="pres">
      <dgm:prSet presAssocID="{2CEA8B43-7D41-41AB-9629-68D1EDB49D9F}" presName="hierRoot4" presStyleCnt="0"/>
      <dgm:spPr/>
    </dgm:pt>
    <dgm:pt modelId="{9280416C-202F-4D35-862A-C34F531CEBBB}" type="pres">
      <dgm:prSet presAssocID="{2CEA8B43-7D41-41AB-9629-68D1EDB49D9F}" presName="composite4" presStyleCnt="0"/>
      <dgm:spPr/>
    </dgm:pt>
    <dgm:pt modelId="{0A4039F8-D091-4B1C-867C-BFFAC14A0611}" type="pres">
      <dgm:prSet presAssocID="{2CEA8B43-7D41-41AB-9629-68D1EDB49D9F}" presName="background4" presStyleLbl="node4" presStyleIdx="3" presStyleCnt="4"/>
      <dgm:spPr/>
    </dgm:pt>
    <dgm:pt modelId="{9C0E4F75-90E5-4468-B981-0D0233F22C86}" type="pres">
      <dgm:prSet presAssocID="{2CEA8B43-7D41-41AB-9629-68D1EDB49D9F}" presName="text4" presStyleLbl="fgAcc4" presStyleIdx="3" presStyleCnt="4">
        <dgm:presLayoutVars>
          <dgm:chPref val="3"/>
        </dgm:presLayoutVars>
      </dgm:prSet>
      <dgm:spPr/>
    </dgm:pt>
    <dgm:pt modelId="{29ACB3B9-AC44-4AB3-8D2F-766EDFC9CFCE}" type="pres">
      <dgm:prSet presAssocID="{2CEA8B43-7D41-41AB-9629-68D1EDB49D9F}" presName="hierChild5" presStyleCnt="0"/>
      <dgm:spPr/>
    </dgm:pt>
  </dgm:ptLst>
  <dgm:cxnLst>
    <dgm:cxn modelId="{90EC0A08-0506-4895-9B4E-ED2A293CE41E}" type="presOf" srcId="{2CEA8B43-7D41-41AB-9629-68D1EDB49D9F}" destId="{9C0E4F75-90E5-4468-B981-0D0233F22C86}" srcOrd="0" destOrd="0" presId="urn:microsoft.com/office/officeart/2005/8/layout/hierarchy1"/>
    <dgm:cxn modelId="{43326913-CA18-458A-A5D2-8E29ED5D7C6A}" type="presOf" srcId="{9C8D3B03-E8D9-45C0-813D-532996902984}" destId="{DAB724C4-61F9-4EF0-BD7A-093EF1670A27}" srcOrd="0" destOrd="0" presId="urn:microsoft.com/office/officeart/2005/8/layout/hierarchy1"/>
    <dgm:cxn modelId="{40801D25-692F-4537-9E79-1979B67206CF}" srcId="{A4673D2C-B7BB-4150-9710-70F910A6F52B}" destId="{69510B76-C602-4623-A5D8-0179A407488C}" srcOrd="0" destOrd="0" parTransId="{F193A1CC-21DC-4E57-ADF2-2B06E6CFCE19}" sibTransId="{43F6EC63-14A2-4217-9985-DCAA31D0ED1B}"/>
    <dgm:cxn modelId="{D60F8830-3413-42EA-AAD6-446F84780BFE}" type="presOf" srcId="{D5625D07-8E40-47F9-A2AA-7E15E9352172}" destId="{534996D1-EA11-4405-8B0A-C6BD8A1D493B}" srcOrd="0" destOrd="0" presId="urn:microsoft.com/office/officeart/2005/8/layout/hierarchy1"/>
    <dgm:cxn modelId="{ED97CF35-5521-418D-805A-CEC728495874}" srcId="{87EEA368-BDD1-40CF-B4DC-22522852B909}" destId="{2CEA8B43-7D41-41AB-9629-68D1EDB49D9F}" srcOrd="1" destOrd="0" parTransId="{26BB58C0-4819-406B-A07D-D946E6FECD6E}" sibTransId="{8499F537-5F79-4CC5-B2AE-568EBC04B033}"/>
    <dgm:cxn modelId="{59DCE73C-8735-42F6-B032-015415725465}" type="presOf" srcId="{26BB58C0-4819-406B-A07D-D946E6FECD6E}" destId="{571B3D0E-332F-4317-9CED-803F5D64EC1F}" srcOrd="0" destOrd="0" presId="urn:microsoft.com/office/officeart/2005/8/layout/hierarchy1"/>
    <dgm:cxn modelId="{20F1033E-87F4-4302-8403-F9169A8CB99C}" srcId="{E2A49503-201B-4113-8B20-2CB28F4561E9}" destId="{87EEA368-BDD1-40CF-B4DC-22522852B909}" srcOrd="0" destOrd="0" parTransId="{DDF5C395-1E97-4C6F-9643-FB99F5F9436A}" sibTransId="{B4535FCE-4D74-47A0-93A8-CFC739A9178A}"/>
    <dgm:cxn modelId="{693E5C40-B401-4C39-BBA5-287B6039073F}" srcId="{D4CCE3F8-3DF8-4E60-9034-581721ADCE44}" destId="{A4673D2C-B7BB-4150-9710-70F910A6F52B}" srcOrd="0" destOrd="0" parTransId="{8A0DAB93-08DC-457D-80A7-3F898AA6088E}" sibTransId="{E8CD9780-D6E4-4A6E-89C2-354092B48362}"/>
    <dgm:cxn modelId="{3B213B44-41DA-4308-959C-503FAF94291D}" type="presOf" srcId="{69510B76-C602-4623-A5D8-0179A407488C}" destId="{D0DDE592-E7C3-44A9-965D-E820D8F99E9C}" srcOrd="0" destOrd="0" presId="urn:microsoft.com/office/officeart/2005/8/layout/hierarchy1"/>
    <dgm:cxn modelId="{B2C3A04B-399B-4AB0-A371-6B0F39119D01}" type="presOf" srcId="{D4CCE3F8-3DF8-4E60-9034-581721ADCE44}" destId="{4EB84A22-BCEB-4AFF-A708-0839BFE7CA87}" srcOrd="0" destOrd="0" presId="urn:microsoft.com/office/officeart/2005/8/layout/hierarchy1"/>
    <dgm:cxn modelId="{34EAE14C-B7CD-4208-9E39-4ED698416574}" type="presOf" srcId="{87EEA368-BDD1-40CF-B4DC-22522852B909}" destId="{5ED42C69-8EAB-4D4C-8EAC-5D23CD5CC311}" srcOrd="0" destOrd="0" presId="urn:microsoft.com/office/officeart/2005/8/layout/hierarchy1"/>
    <dgm:cxn modelId="{7A9B7671-6198-4A81-B49A-1690C02A2515}" type="presOf" srcId="{DC82440B-BFD2-4215-B171-AD7AEFC2E7DA}" destId="{49F1F40F-0366-4DCE-BC53-EEF33BE3FD28}" srcOrd="0" destOrd="0" presId="urn:microsoft.com/office/officeart/2005/8/layout/hierarchy1"/>
    <dgm:cxn modelId="{70308E73-4293-4E1F-A523-B6F06394142B}" type="presOf" srcId="{0C9D6B70-1ADF-4A28-AD4D-B66C66B0568A}" destId="{DC826FD7-6AB4-4510-BF3A-EDEFBD201F71}" srcOrd="0" destOrd="0" presId="urn:microsoft.com/office/officeart/2005/8/layout/hierarchy1"/>
    <dgm:cxn modelId="{CE604274-300D-40CA-8CA7-1CBDA244B175}" type="presOf" srcId="{76402630-97DA-4CE7-88D0-1BD85051E72F}" destId="{618F6585-B598-4AC0-99EC-F45B3FA7C76F}" srcOrd="0" destOrd="0" presId="urn:microsoft.com/office/officeart/2005/8/layout/hierarchy1"/>
    <dgm:cxn modelId="{6C50FD76-652B-43F4-ABB1-C5CB140468C2}" type="presOf" srcId="{F193A1CC-21DC-4E57-ADF2-2B06E6CFCE19}" destId="{B14D36A9-A27B-41C5-A63C-C7F11F7CD9A3}" srcOrd="0" destOrd="0" presId="urn:microsoft.com/office/officeart/2005/8/layout/hierarchy1"/>
    <dgm:cxn modelId="{378E7F78-6554-4343-8425-87AAAA5008AB}" type="presOf" srcId="{2D840794-74C9-43E5-8349-E94BA9FB654D}" destId="{B069B8C5-F299-4AFA-B33A-345CB094A448}" srcOrd="0" destOrd="0" presId="urn:microsoft.com/office/officeart/2005/8/layout/hierarchy1"/>
    <dgm:cxn modelId="{71CBC282-0148-4909-97AE-AF0267525DC2}" type="presOf" srcId="{A4673D2C-B7BB-4150-9710-70F910A6F52B}" destId="{00062A92-E969-4B65-8FED-2FE6B7466D5D}" srcOrd="0" destOrd="0" presId="urn:microsoft.com/office/officeart/2005/8/layout/hierarchy1"/>
    <dgm:cxn modelId="{0091AC92-4328-4324-AFD4-402B3A358E22}" type="presOf" srcId="{1C6EB86B-EAC1-4CAA-AB32-578D4A6C7940}" destId="{70C1D25A-5FF7-49E5-B17A-E32E9541F4CC}" srcOrd="0" destOrd="0" presId="urn:microsoft.com/office/officeart/2005/8/layout/hierarchy1"/>
    <dgm:cxn modelId="{E48E7197-2729-43AF-A8C4-029C64C8E90A}" srcId="{69510B76-C602-4623-A5D8-0179A407488C}" destId="{9C8D3B03-E8D9-45C0-813D-532996902984}" srcOrd="0" destOrd="0" parTransId="{2C1FF27E-1E72-4FA2-8773-99861C6BE5F0}" sibTransId="{F39F25F7-87BA-49AA-B290-5EFC36FD544B}"/>
    <dgm:cxn modelId="{ED32DE9D-00F7-4046-A059-D44F032E282B}" srcId="{9C8D3B03-E8D9-45C0-813D-532996902984}" destId="{DC82440B-BFD2-4215-B171-AD7AEFC2E7DA}" srcOrd="1" destOrd="0" parTransId="{811A6274-631C-4692-9BF3-AD6C11CBD71F}" sibTransId="{27653F47-D682-4193-9260-4C47177BFA40}"/>
    <dgm:cxn modelId="{0AB71A9E-4279-4458-90C6-2A6608847B04}" srcId="{A4673D2C-B7BB-4150-9710-70F910A6F52B}" destId="{E2A49503-201B-4113-8B20-2CB28F4561E9}" srcOrd="2" destOrd="0" parTransId="{2D840794-74C9-43E5-8349-E94BA9FB654D}" sibTransId="{696C3DA8-348D-4A2F-8F9B-14DAFE3DDF5B}"/>
    <dgm:cxn modelId="{EFA96FA5-F53C-439C-B678-3A781761763C}" type="presOf" srcId="{86565486-5E73-4556-9870-15A93BCF4BE2}" destId="{8CCFF209-9E61-4C73-A4D0-A31DA3D99052}" srcOrd="0" destOrd="0" presId="urn:microsoft.com/office/officeart/2005/8/layout/hierarchy1"/>
    <dgm:cxn modelId="{1AF907AB-3144-4F66-B957-3820073E1DE5}" type="presOf" srcId="{0BC92D21-A080-41FF-B87A-0953C14D9A20}" destId="{F677A80D-7972-4FEB-B05A-C2C59535C740}" srcOrd="0" destOrd="0" presId="urn:microsoft.com/office/officeart/2005/8/layout/hierarchy1"/>
    <dgm:cxn modelId="{8B9469BA-1E79-4821-8597-06C06849E2EC}" srcId="{A4673D2C-B7BB-4150-9710-70F910A6F52B}" destId="{D5625D07-8E40-47F9-A2AA-7E15E9352172}" srcOrd="1" destOrd="0" parTransId="{86565486-5E73-4556-9870-15A93BCF4BE2}" sibTransId="{EDE72976-144F-4B8C-90E1-CF6A758BEC9B}"/>
    <dgm:cxn modelId="{7D9A63D5-663F-49C1-A368-C576F7FF486E}" type="presOf" srcId="{DDF5C395-1E97-4C6F-9643-FB99F5F9436A}" destId="{F7BCEAE7-1C5E-464E-B3B1-E568EA8B266B}" srcOrd="0" destOrd="0" presId="urn:microsoft.com/office/officeart/2005/8/layout/hierarchy1"/>
    <dgm:cxn modelId="{D900EADD-6BAA-4493-8291-108E1870CADA}" srcId="{9C8D3B03-E8D9-45C0-813D-532996902984}" destId="{76402630-97DA-4CE7-88D0-1BD85051E72F}" srcOrd="0" destOrd="0" parTransId="{0BC92D21-A080-41FF-B87A-0953C14D9A20}" sibTransId="{7F0E8EB8-3E65-42A5-8B38-16F1E48BB258}"/>
    <dgm:cxn modelId="{FA8272DF-736F-4A8B-BDFE-AEA5F6000B11}" srcId="{87EEA368-BDD1-40CF-B4DC-22522852B909}" destId="{0C9D6B70-1ADF-4A28-AD4D-B66C66B0568A}" srcOrd="0" destOrd="0" parTransId="{1C6EB86B-EAC1-4CAA-AB32-578D4A6C7940}" sibTransId="{B8063539-083A-4A17-A5DB-A2CA37CEC1A6}"/>
    <dgm:cxn modelId="{99D9F6E2-3E51-4DA6-8093-4229C202149A}" type="presOf" srcId="{811A6274-631C-4692-9BF3-AD6C11CBD71F}" destId="{790D0297-B7DB-4D85-9D6A-1EA40104F7E0}" srcOrd="0" destOrd="0" presId="urn:microsoft.com/office/officeart/2005/8/layout/hierarchy1"/>
    <dgm:cxn modelId="{7CD4A1E6-D897-474D-A189-D94D35A6CC04}" type="presOf" srcId="{E2A49503-201B-4113-8B20-2CB28F4561E9}" destId="{DA441BB8-01DD-4624-B76A-959279122DDA}" srcOrd="0" destOrd="0" presId="urn:microsoft.com/office/officeart/2005/8/layout/hierarchy1"/>
    <dgm:cxn modelId="{E57E4CF8-7179-417E-839C-95D8356466BA}" type="presOf" srcId="{2C1FF27E-1E72-4FA2-8773-99861C6BE5F0}" destId="{E6F9299C-3C55-4986-A28D-E66EA7DBC157}" srcOrd="0" destOrd="0" presId="urn:microsoft.com/office/officeart/2005/8/layout/hierarchy1"/>
    <dgm:cxn modelId="{BA5F6AAC-F679-44C9-8B78-339A5C047EBD}" type="presParOf" srcId="{4EB84A22-BCEB-4AFF-A708-0839BFE7CA87}" destId="{A371A0D9-F970-46CB-8DE6-0ADB34B05DB2}" srcOrd="0" destOrd="0" presId="urn:microsoft.com/office/officeart/2005/8/layout/hierarchy1"/>
    <dgm:cxn modelId="{73E57788-CB5E-4D5A-937B-B2A14D56A6BB}" type="presParOf" srcId="{A371A0D9-F970-46CB-8DE6-0ADB34B05DB2}" destId="{B4420BDD-6972-48DC-B86E-AADF2CF9A165}" srcOrd="0" destOrd="0" presId="urn:microsoft.com/office/officeart/2005/8/layout/hierarchy1"/>
    <dgm:cxn modelId="{C34C8D08-F8BE-43ED-99BF-19B94DC4D321}" type="presParOf" srcId="{B4420BDD-6972-48DC-B86E-AADF2CF9A165}" destId="{E70D1C7E-8F18-4F1C-B67E-F131EAAD7B1D}" srcOrd="0" destOrd="0" presId="urn:microsoft.com/office/officeart/2005/8/layout/hierarchy1"/>
    <dgm:cxn modelId="{809F8AB8-06BA-452A-9581-04D91036398E}" type="presParOf" srcId="{B4420BDD-6972-48DC-B86E-AADF2CF9A165}" destId="{00062A92-E969-4B65-8FED-2FE6B7466D5D}" srcOrd="1" destOrd="0" presId="urn:microsoft.com/office/officeart/2005/8/layout/hierarchy1"/>
    <dgm:cxn modelId="{18AAC6AB-66B9-4C04-BF08-826C92962F25}" type="presParOf" srcId="{A371A0D9-F970-46CB-8DE6-0ADB34B05DB2}" destId="{917562DC-5BAF-4418-89CC-E2D4C8B1097F}" srcOrd="1" destOrd="0" presId="urn:microsoft.com/office/officeart/2005/8/layout/hierarchy1"/>
    <dgm:cxn modelId="{2F4182EB-951C-47EB-9687-10355ECB2657}" type="presParOf" srcId="{917562DC-5BAF-4418-89CC-E2D4C8B1097F}" destId="{B14D36A9-A27B-41C5-A63C-C7F11F7CD9A3}" srcOrd="0" destOrd="0" presId="urn:microsoft.com/office/officeart/2005/8/layout/hierarchy1"/>
    <dgm:cxn modelId="{602CA6F1-AB92-49BD-99A7-AE6E8D2CED16}" type="presParOf" srcId="{917562DC-5BAF-4418-89CC-E2D4C8B1097F}" destId="{A33D7953-A0F8-4F8E-B3D6-BED251A83FE1}" srcOrd="1" destOrd="0" presId="urn:microsoft.com/office/officeart/2005/8/layout/hierarchy1"/>
    <dgm:cxn modelId="{E53407B0-3CC0-47CE-AEDD-A6C5EBE1A070}" type="presParOf" srcId="{A33D7953-A0F8-4F8E-B3D6-BED251A83FE1}" destId="{D693D8CA-B775-4B60-9F21-60982403D565}" srcOrd="0" destOrd="0" presId="urn:microsoft.com/office/officeart/2005/8/layout/hierarchy1"/>
    <dgm:cxn modelId="{D2FCC6B2-7A0F-485C-BE04-1548E6CF672D}" type="presParOf" srcId="{D693D8CA-B775-4B60-9F21-60982403D565}" destId="{59E98FDB-DFE4-45D7-8A5B-D650119DBBE8}" srcOrd="0" destOrd="0" presId="urn:microsoft.com/office/officeart/2005/8/layout/hierarchy1"/>
    <dgm:cxn modelId="{7998CA9A-C3B0-49BA-8DF8-D6537038AF07}" type="presParOf" srcId="{D693D8CA-B775-4B60-9F21-60982403D565}" destId="{D0DDE592-E7C3-44A9-965D-E820D8F99E9C}" srcOrd="1" destOrd="0" presId="urn:microsoft.com/office/officeart/2005/8/layout/hierarchy1"/>
    <dgm:cxn modelId="{519D65BC-1F21-4F06-A8FC-537D9CAA73C8}" type="presParOf" srcId="{A33D7953-A0F8-4F8E-B3D6-BED251A83FE1}" destId="{F63D4535-2EFD-46B6-82B6-2BD18890DDDA}" srcOrd="1" destOrd="0" presId="urn:microsoft.com/office/officeart/2005/8/layout/hierarchy1"/>
    <dgm:cxn modelId="{2FCDB21F-3107-4E74-833C-DCD9F87F7B8A}" type="presParOf" srcId="{F63D4535-2EFD-46B6-82B6-2BD18890DDDA}" destId="{E6F9299C-3C55-4986-A28D-E66EA7DBC157}" srcOrd="0" destOrd="0" presId="urn:microsoft.com/office/officeart/2005/8/layout/hierarchy1"/>
    <dgm:cxn modelId="{5CB8D190-86B9-4C80-A13C-D86AAFF14634}" type="presParOf" srcId="{F63D4535-2EFD-46B6-82B6-2BD18890DDDA}" destId="{6659D33D-CA15-4DD9-9F13-680B3D612E14}" srcOrd="1" destOrd="0" presId="urn:microsoft.com/office/officeart/2005/8/layout/hierarchy1"/>
    <dgm:cxn modelId="{972D62A2-A842-4F0D-9861-772CB0DEB55D}" type="presParOf" srcId="{6659D33D-CA15-4DD9-9F13-680B3D612E14}" destId="{BF9C5BED-D9AD-43E4-B924-20283193EF41}" srcOrd="0" destOrd="0" presId="urn:microsoft.com/office/officeart/2005/8/layout/hierarchy1"/>
    <dgm:cxn modelId="{33FA52E7-F760-43DE-92B4-A3D66EF3DC49}" type="presParOf" srcId="{BF9C5BED-D9AD-43E4-B924-20283193EF41}" destId="{9737AA0E-8AE7-4C72-BE01-869F288BE8ED}" srcOrd="0" destOrd="0" presId="urn:microsoft.com/office/officeart/2005/8/layout/hierarchy1"/>
    <dgm:cxn modelId="{B9748960-964A-42D5-870D-529F6A62F409}" type="presParOf" srcId="{BF9C5BED-D9AD-43E4-B924-20283193EF41}" destId="{DAB724C4-61F9-4EF0-BD7A-093EF1670A27}" srcOrd="1" destOrd="0" presId="urn:microsoft.com/office/officeart/2005/8/layout/hierarchy1"/>
    <dgm:cxn modelId="{CCCB5E99-D500-4546-A3AA-EF7C2F9F6647}" type="presParOf" srcId="{6659D33D-CA15-4DD9-9F13-680B3D612E14}" destId="{092966BD-AC40-4A0A-BA65-FAB3BEBE5F67}" srcOrd="1" destOrd="0" presId="urn:microsoft.com/office/officeart/2005/8/layout/hierarchy1"/>
    <dgm:cxn modelId="{34AEDB95-CFCB-4E9B-9DF9-AAA7CFC90DCC}" type="presParOf" srcId="{092966BD-AC40-4A0A-BA65-FAB3BEBE5F67}" destId="{F677A80D-7972-4FEB-B05A-C2C59535C740}" srcOrd="0" destOrd="0" presId="urn:microsoft.com/office/officeart/2005/8/layout/hierarchy1"/>
    <dgm:cxn modelId="{14BB76C3-5FCE-4480-914F-9F8750FFE259}" type="presParOf" srcId="{092966BD-AC40-4A0A-BA65-FAB3BEBE5F67}" destId="{5154987B-5D7B-429E-83C1-3FED003FD3A4}" srcOrd="1" destOrd="0" presId="urn:microsoft.com/office/officeart/2005/8/layout/hierarchy1"/>
    <dgm:cxn modelId="{E1D423EE-D08F-462D-8D79-D325465436F7}" type="presParOf" srcId="{5154987B-5D7B-429E-83C1-3FED003FD3A4}" destId="{345A9360-57D2-4FB8-A899-C4ACFA5F8CEB}" srcOrd="0" destOrd="0" presId="urn:microsoft.com/office/officeart/2005/8/layout/hierarchy1"/>
    <dgm:cxn modelId="{124D720F-00D3-44E8-8575-AA14BE2386CB}" type="presParOf" srcId="{345A9360-57D2-4FB8-A899-C4ACFA5F8CEB}" destId="{3838D84A-6684-45C7-BBE0-20C916F12C05}" srcOrd="0" destOrd="0" presId="urn:microsoft.com/office/officeart/2005/8/layout/hierarchy1"/>
    <dgm:cxn modelId="{5D207081-1DE1-40B5-AC04-A003202ABC8C}" type="presParOf" srcId="{345A9360-57D2-4FB8-A899-C4ACFA5F8CEB}" destId="{618F6585-B598-4AC0-99EC-F45B3FA7C76F}" srcOrd="1" destOrd="0" presId="urn:microsoft.com/office/officeart/2005/8/layout/hierarchy1"/>
    <dgm:cxn modelId="{5352EAB6-5958-4886-A8F9-08C66C0B4211}" type="presParOf" srcId="{5154987B-5D7B-429E-83C1-3FED003FD3A4}" destId="{D777E9F1-ABF5-41BE-80C3-6E98D0ACAA81}" srcOrd="1" destOrd="0" presId="urn:microsoft.com/office/officeart/2005/8/layout/hierarchy1"/>
    <dgm:cxn modelId="{46AFCE59-9027-40F9-91C4-B71AC651595F}" type="presParOf" srcId="{092966BD-AC40-4A0A-BA65-FAB3BEBE5F67}" destId="{790D0297-B7DB-4D85-9D6A-1EA40104F7E0}" srcOrd="2" destOrd="0" presId="urn:microsoft.com/office/officeart/2005/8/layout/hierarchy1"/>
    <dgm:cxn modelId="{D415014D-74EF-4E20-BA17-E2DC257E7991}" type="presParOf" srcId="{092966BD-AC40-4A0A-BA65-FAB3BEBE5F67}" destId="{9FEC4EFF-37BB-4364-84E9-7EBF20E0EA74}" srcOrd="3" destOrd="0" presId="urn:microsoft.com/office/officeart/2005/8/layout/hierarchy1"/>
    <dgm:cxn modelId="{A3CBFEF8-3986-4908-BA33-8E94C972C680}" type="presParOf" srcId="{9FEC4EFF-37BB-4364-84E9-7EBF20E0EA74}" destId="{F906F9DF-6790-40DE-BB92-1DCAFE35909C}" srcOrd="0" destOrd="0" presId="urn:microsoft.com/office/officeart/2005/8/layout/hierarchy1"/>
    <dgm:cxn modelId="{1882E2FA-F349-4762-8F48-CBECA0669B41}" type="presParOf" srcId="{F906F9DF-6790-40DE-BB92-1DCAFE35909C}" destId="{E2376AC1-0861-4495-AE75-0B57B2D4C5AD}" srcOrd="0" destOrd="0" presId="urn:microsoft.com/office/officeart/2005/8/layout/hierarchy1"/>
    <dgm:cxn modelId="{181C3FD3-7050-4899-8D6C-6F547600176E}" type="presParOf" srcId="{F906F9DF-6790-40DE-BB92-1DCAFE35909C}" destId="{49F1F40F-0366-4DCE-BC53-EEF33BE3FD28}" srcOrd="1" destOrd="0" presId="urn:microsoft.com/office/officeart/2005/8/layout/hierarchy1"/>
    <dgm:cxn modelId="{1F257BD2-4589-4ABF-A29E-ED32F52A0578}" type="presParOf" srcId="{9FEC4EFF-37BB-4364-84E9-7EBF20E0EA74}" destId="{5DD33A5D-3527-47FC-8EF2-935AC3CF08FB}" srcOrd="1" destOrd="0" presId="urn:microsoft.com/office/officeart/2005/8/layout/hierarchy1"/>
    <dgm:cxn modelId="{3681D33A-6EF4-4E08-B155-93A7941B86DB}" type="presParOf" srcId="{917562DC-5BAF-4418-89CC-E2D4C8B1097F}" destId="{8CCFF209-9E61-4C73-A4D0-A31DA3D99052}" srcOrd="2" destOrd="0" presId="urn:microsoft.com/office/officeart/2005/8/layout/hierarchy1"/>
    <dgm:cxn modelId="{2A2A761D-0334-4CB0-B654-5657EB37FE40}" type="presParOf" srcId="{917562DC-5BAF-4418-89CC-E2D4C8B1097F}" destId="{899A15F7-7755-48E9-BE09-493E225A4008}" srcOrd="3" destOrd="0" presId="urn:microsoft.com/office/officeart/2005/8/layout/hierarchy1"/>
    <dgm:cxn modelId="{C64AB725-4E5D-4850-946B-39FFC92B86E2}" type="presParOf" srcId="{899A15F7-7755-48E9-BE09-493E225A4008}" destId="{AF7CFCE7-C2B6-4239-8958-87977D05D420}" srcOrd="0" destOrd="0" presId="urn:microsoft.com/office/officeart/2005/8/layout/hierarchy1"/>
    <dgm:cxn modelId="{398B70D2-9FB9-4F2D-A650-6EA9CD567107}" type="presParOf" srcId="{AF7CFCE7-C2B6-4239-8958-87977D05D420}" destId="{3F099442-4D15-4CB0-BECC-75FCAD09B540}" srcOrd="0" destOrd="0" presId="urn:microsoft.com/office/officeart/2005/8/layout/hierarchy1"/>
    <dgm:cxn modelId="{ACA46FED-CE71-47B4-A57F-2C3761A3F949}" type="presParOf" srcId="{AF7CFCE7-C2B6-4239-8958-87977D05D420}" destId="{534996D1-EA11-4405-8B0A-C6BD8A1D493B}" srcOrd="1" destOrd="0" presId="urn:microsoft.com/office/officeart/2005/8/layout/hierarchy1"/>
    <dgm:cxn modelId="{5661ECD9-DF54-4308-98CA-BE2AC90593FA}" type="presParOf" srcId="{899A15F7-7755-48E9-BE09-493E225A4008}" destId="{AE213B70-FB3D-4405-A3D5-9A4243DF4C0D}" srcOrd="1" destOrd="0" presId="urn:microsoft.com/office/officeart/2005/8/layout/hierarchy1"/>
    <dgm:cxn modelId="{36CD9A88-9435-44EE-AA14-C9ED64E4C881}" type="presParOf" srcId="{917562DC-5BAF-4418-89CC-E2D4C8B1097F}" destId="{B069B8C5-F299-4AFA-B33A-345CB094A448}" srcOrd="4" destOrd="0" presId="urn:microsoft.com/office/officeart/2005/8/layout/hierarchy1"/>
    <dgm:cxn modelId="{DBF1B560-9EE7-4307-B6F5-98A787E25771}" type="presParOf" srcId="{917562DC-5BAF-4418-89CC-E2D4C8B1097F}" destId="{9001CA8D-B097-49CC-A61C-569565F3B3BE}" srcOrd="5" destOrd="0" presId="urn:microsoft.com/office/officeart/2005/8/layout/hierarchy1"/>
    <dgm:cxn modelId="{A5A90B7E-99E7-4E75-9ADF-A6A6795A03B7}" type="presParOf" srcId="{9001CA8D-B097-49CC-A61C-569565F3B3BE}" destId="{3AED9BB9-8941-44FC-9F31-4D5954222130}" srcOrd="0" destOrd="0" presId="urn:microsoft.com/office/officeart/2005/8/layout/hierarchy1"/>
    <dgm:cxn modelId="{79E55973-8B38-4D94-A464-C713D13596FE}" type="presParOf" srcId="{3AED9BB9-8941-44FC-9F31-4D5954222130}" destId="{FB0EC973-08BD-439A-80B4-72EED26568AE}" srcOrd="0" destOrd="0" presId="urn:microsoft.com/office/officeart/2005/8/layout/hierarchy1"/>
    <dgm:cxn modelId="{BF7B0A21-3714-4E2D-82B9-DE045E1320E3}" type="presParOf" srcId="{3AED9BB9-8941-44FC-9F31-4D5954222130}" destId="{DA441BB8-01DD-4624-B76A-959279122DDA}" srcOrd="1" destOrd="0" presId="urn:microsoft.com/office/officeart/2005/8/layout/hierarchy1"/>
    <dgm:cxn modelId="{47F963D9-4686-48CA-BCBF-6BEE4CB914CB}" type="presParOf" srcId="{9001CA8D-B097-49CC-A61C-569565F3B3BE}" destId="{02876D7F-83A2-48BE-A8CE-7F800981B2FC}" srcOrd="1" destOrd="0" presId="urn:microsoft.com/office/officeart/2005/8/layout/hierarchy1"/>
    <dgm:cxn modelId="{89FDF554-21C6-4079-8B7A-DEB145A473ED}" type="presParOf" srcId="{02876D7F-83A2-48BE-A8CE-7F800981B2FC}" destId="{F7BCEAE7-1C5E-464E-B3B1-E568EA8B266B}" srcOrd="0" destOrd="0" presId="urn:microsoft.com/office/officeart/2005/8/layout/hierarchy1"/>
    <dgm:cxn modelId="{08CFDDE2-2DE0-44AF-9DFD-EB9FCC2AA59B}" type="presParOf" srcId="{02876D7F-83A2-48BE-A8CE-7F800981B2FC}" destId="{5B433906-0FDC-46E0-BAD4-CBFBB4719304}" srcOrd="1" destOrd="0" presId="urn:microsoft.com/office/officeart/2005/8/layout/hierarchy1"/>
    <dgm:cxn modelId="{F030111E-1C57-4844-80D1-C19CAFAAE4DD}" type="presParOf" srcId="{5B433906-0FDC-46E0-BAD4-CBFBB4719304}" destId="{BDD865DA-7200-4AA1-BFD6-0EDAB5704B05}" srcOrd="0" destOrd="0" presId="urn:microsoft.com/office/officeart/2005/8/layout/hierarchy1"/>
    <dgm:cxn modelId="{A878D5F2-3481-4AEB-8647-F215B17B6A1E}" type="presParOf" srcId="{BDD865DA-7200-4AA1-BFD6-0EDAB5704B05}" destId="{C413E84B-A36D-488E-9FA6-556A018942A3}" srcOrd="0" destOrd="0" presId="urn:microsoft.com/office/officeart/2005/8/layout/hierarchy1"/>
    <dgm:cxn modelId="{B842C197-D63C-415B-BFD8-D594F45A1C0E}" type="presParOf" srcId="{BDD865DA-7200-4AA1-BFD6-0EDAB5704B05}" destId="{5ED42C69-8EAB-4D4C-8EAC-5D23CD5CC311}" srcOrd="1" destOrd="0" presId="urn:microsoft.com/office/officeart/2005/8/layout/hierarchy1"/>
    <dgm:cxn modelId="{C969588A-665F-434B-843F-CF25DFB2AF98}" type="presParOf" srcId="{5B433906-0FDC-46E0-BAD4-CBFBB4719304}" destId="{B5F35A0C-8DD6-4EFE-B8C0-EDFFD7888974}" srcOrd="1" destOrd="0" presId="urn:microsoft.com/office/officeart/2005/8/layout/hierarchy1"/>
    <dgm:cxn modelId="{6280BC82-C33C-43A6-9578-7A78FD7D550E}" type="presParOf" srcId="{B5F35A0C-8DD6-4EFE-B8C0-EDFFD7888974}" destId="{70C1D25A-5FF7-49E5-B17A-E32E9541F4CC}" srcOrd="0" destOrd="0" presId="urn:microsoft.com/office/officeart/2005/8/layout/hierarchy1"/>
    <dgm:cxn modelId="{49CF7E0C-D6C7-4E26-A9A0-B217CC8C790C}" type="presParOf" srcId="{B5F35A0C-8DD6-4EFE-B8C0-EDFFD7888974}" destId="{6E91AC47-499C-4CE6-84CD-ABC03C116F66}" srcOrd="1" destOrd="0" presId="urn:microsoft.com/office/officeart/2005/8/layout/hierarchy1"/>
    <dgm:cxn modelId="{0EF53C3E-7383-4AE7-A549-8CCE423977E0}" type="presParOf" srcId="{6E91AC47-499C-4CE6-84CD-ABC03C116F66}" destId="{005DF947-EB67-4FD7-80D7-8AEDB2A95AD1}" srcOrd="0" destOrd="0" presId="urn:microsoft.com/office/officeart/2005/8/layout/hierarchy1"/>
    <dgm:cxn modelId="{F5D75DAD-711E-4A31-B413-25CF4C5C095A}" type="presParOf" srcId="{005DF947-EB67-4FD7-80D7-8AEDB2A95AD1}" destId="{03774A42-4B76-43D0-A86A-50DE738417AA}" srcOrd="0" destOrd="0" presId="urn:microsoft.com/office/officeart/2005/8/layout/hierarchy1"/>
    <dgm:cxn modelId="{6987A0CE-1F4D-41A8-AE8C-4C8F94D9D850}" type="presParOf" srcId="{005DF947-EB67-4FD7-80D7-8AEDB2A95AD1}" destId="{DC826FD7-6AB4-4510-BF3A-EDEFBD201F71}" srcOrd="1" destOrd="0" presId="urn:microsoft.com/office/officeart/2005/8/layout/hierarchy1"/>
    <dgm:cxn modelId="{554EE3A4-AD7C-4701-9D4E-ACD47B784420}" type="presParOf" srcId="{6E91AC47-499C-4CE6-84CD-ABC03C116F66}" destId="{DB242FB8-CD00-48BA-BBB7-058609FCABD4}" srcOrd="1" destOrd="0" presId="urn:microsoft.com/office/officeart/2005/8/layout/hierarchy1"/>
    <dgm:cxn modelId="{EDC3D237-B267-46E1-80D5-80CA49EA94AF}" type="presParOf" srcId="{B5F35A0C-8DD6-4EFE-B8C0-EDFFD7888974}" destId="{571B3D0E-332F-4317-9CED-803F5D64EC1F}" srcOrd="2" destOrd="0" presId="urn:microsoft.com/office/officeart/2005/8/layout/hierarchy1"/>
    <dgm:cxn modelId="{867AAB6F-9C25-4F90-ACCA-CC759DD2D74B}" type="presParOf" srcId="{B5F35A0C-8DD6-4EFE-B8C0-EDFFD7888974}" destId="{ADA1CB26-E82E-4F76-8EDB-0447307CC02C}" srcOrd="3" destOrd="0" presId="urn:microsoft.com/office/officeart/2005/8/layout/hierarchy1"/>
    <dgm:cxn modelId="{762EF1DE-9C11-4B45-AFE1-E299B83D51E4}" type="presParOf" srcId="{ADA1CB26-E82E-4F76-8EDB-0447307CC02C}" destId="{9280416C-202F-4D35-862A-C34F531CEBBB}" srcOrd="0" destOrd="0" presId="urn:microsoft.com/office/officeart/2005/8/layout/hierarchy1"/>
    <dgm:cxn modelId="{197AAE39-DB64-432E-8257-621E6A183040}" type="presParOf" srcId="{9280416C-202F-4D35-862A-C34F531CEBBB}" destId="{0A4039F8-D091-4B1C-867C-BFFAC14A0611}" srcOrd="0" destOrd="0" presId="urn:microsoft.com/office/officeart/2005/8/layout/hierarchy1"/>
    <dgm:cxn modelId="{E164FFBB-FAF1-4332-9DB8-909F98DABD2B}" type="presParOf" srcId="{9280416C-202F-4D35-862A-C34F531CEBBB}" destId="{9C0E4F75-90E5-4468-B981-0D0233F22C86}" srcOrd="1" destOrd="0" presId="urn:microsoft.com/office/officeart/2005/8/layout/hierarchy1"/>
    <dgm:cxn modelId="{14DDB054-E917-469E-BFD4-B086EC10C213}" type="presParOf" srcId="{ADA1CB26-E82E-4F76-8EDB-0447307CC02C}" destId="{29ACB3B9-AC44-4AB3-8D2F-766EDFC9CFCE}"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0.xml><?xml version="1.0" encoding="utf-8"?>
<dgm:dataModel xmlns:dgm="http://schemas.openxmlformats.org/drawingml/2006/diagram" xmlns:a="http://schemas.openxmlformats.org/drawingml/2006/main">
  <dgm:ptLst>
    <dgm:pt modelId="{DBE52627-3A8E-4844-B6E3-93933614FB2C}" type="doc">
      <dgm:prSet loTypeId="urn:microsoft.com/office/officeart/2005/8/layout/hChevron3" loCatId="process" qsTypeId="urn:microsoft.com/office/officeart/2005/8/quickstyle/3d3" qsCatId="3D" csTypeId="urn:microsoft.com/office/officeart/2005/8/colors/colorful1" csCatId="colorful" phldr="1"/>
      <dgm:spPr/>
    </dgm:pt>
    <dgm:pt modelId="{86F106B2-8D8C-4BD6-BDD2-68E421D86192}">
      <dgm:prSet phldrT="[Text]"/>
      <dgm:spPr>
        <a:blipFill rotWithShape="0">
          <a:blip xmlns:r="http://schemas.openxmlformats.org/officeDocument/2006/relationships" r:embed="rId1"/>
          <a:stretch>
            <a:fillRect/>
          </a:stretch>
        </a:blipFill>
      </dgm:spPr>
      <dgm:t>
        <a:bodyPr/>
        <a:lstStyle/>
        <a:p>
          <a:r>
            <a:rPr lang="en-GB">
              <a:noFill/>
            </a:rPr>
            <a:t> </a:t>
          </a:r>
        </a:p>
      </dgm:t>
    </dgm:pt>
    <dgm:pt modelId="{F886DEE5-9E72-43EA-ABFD-D890A94C6125}" type="parTrans" cxnId="{672200FC-BC35-40D9-804E-477A7645B013}">
      <dgm:prSet/>
      <dgm:spPr/>
      <dgm:t>
        <a:bodyPr/>
        <a:lstStyle/>
        <a:p>
          <a:endParaRPr lang="en-GB"/>
        </a:p>
      </dgm:t>
    </dgm:pt>
    <dgm:pt modelId="{66CB135E-DE23-4139-8833-C6E97E68FE5D}" type="sibTrans" cxnId="{672200FC-BC35-40D9-804E-477A7645B013}">
      <dgm:prSet/>
      <dgm:spPr/>
      <dgm:t>
        <a:bodyPr/>
        <a:lstStyle/>
        <a:p>
          <a:endParaRPr lang="en-GB"/>
        </a:p>
      </dgm:t>
    </dgm:pt>
    <dgm:pt modelId="{DC8A043A-D40E-4BB9-BBEB-D0CBBAEBDD47}">
      <dgm:prSet phldrT="[Text]"/>
      <dgm:spPr>
        <a:blipFill rotWithShape="0">
          <a:blip xmlns:r="http://schemas.openxmlformats.org/officeDocument/2006/relationships" r:embed="rId2"/>
          <a:stretch>
            <a:fillRect/>
          </a:stretch>
        </a:blipFill>
      </dgm:spPr>
      <dgm:t>
        <a:bodyPr/>
        <a:lstStyle/>
        <a:p>
          <a:r>
            <a:rPr lang="en-GB">
              <a:noFill/>
            </a:rPr>
            <a:t> </a:t>
          </a:r>
        </a:p>
      </dgm:t>
    </dgm:pt>
    <dgm:pt modelId="{1AAD7D58-F127-47AC-9B42-E8743EE99407}" type="parTrans" cxnId="{2D2DCF51-4190-413D-BC59-6DA478034F0C}">
      <dgm:prSet/>
      <dgm:spPr/>
      <dgm:t>
        <a:bodyPr/>
        <a:lstStyle/>
        <a:p>
          <a:endParaRPr lang="en-GB"/>
        </a:p>
      </dgm:t>
    </dgm:pt>
    <dgm:pt modelId="{4BE8446E-6C16-4230-BC33-65D9ED730BF2}" type="sibTrans" cxnId="{2D2DCF51-4190-413D-BC59-6DA478034F0C}">
      <dgm:prSet/>
      <dgm:spPr/>
      <dgm:t>
        <a:bodyPr/>
        <a:lstStyle/>
        <a:p>
          <a:endParaRPr lang="en-GB"/>
        </a:p>
      </dgm:t>
    </dgm:pt>
    <dgm:pt modelId="{A417483F-6537-4DB0-86C2-7D05CD2B0FFD}">
      <dgm:prSet phldrT="[Text]"/>
      <dgm:spPr>
        <a:blipFill rotWithShape="0">
          <a:blip xmlns:r="http://schemas.openxmlformats.org/officeDocument/2006/relationships" r:embed="rId3"/>
          <a:stretch>
            <a:fillRect/>
          </a:stretch>
        </a:blipFill>
      </dgm:spPr>
      <dgm:t>
        <a:bodyPr/>
        <a:lstStyle/>
        <a:p>
          <a:r>
            <a:rPr lang="en-GB">
              <a:noFill/>
            </a:rPr>
            <a:t> </a:t>
          </a:r>
        </a:p>
      </dgm:t>
    </dgm:pt>
    <dgm:pt modelId="{7618D16D-D982-4714-8675-7C77ADB4F7B4}" type="parTrans" cxnId="{B2CA244D-8B48-4F44-A38B-C60DB5BB7CD7}">
      <dgm:prSet/>
      <dgm:spPr/>
      <dgm:t>
        <a:bodyPr/>
        <a:lstStyle/>
        <a:p>
          <a:endParaRPr lang="en-GB"/>
        </a:p>
      </dgm:t>
    </dgm:pt>
    <dgm:pt modelId="{D6FA839D-BFB8-46F5-B303-D96942DD4850}" type="sibTrans" cxnId="{B2CA244D-8B48-4F44-A38B-C60DB5BB7CD7}">
      <dgm:prSet/>
      <dgm:spPr/>
      <dgm:t>
        <a:bodyPr/>
        <a:lstStyle/>
        <a:p>
          <a:endParaRPr lang="en-GB"/>
        </a:p>
      </dgm:t>
    </dgm:pt>
    <dgm:pt modelId="{42D41329-73A6-4447-A24D-3BF4E5ED78F6}" type="pres">
      <dgm:prSet presAssocID="{DBE52627-3A8E-4844-B6E3-93933614FB2C}" presName="Name0" presStyleCnt="0">
        <dgm:presLayoutVars>
          <dgm:dir/>
          <dgm:resizeHandles val="exact"/>
        </dgm:presLayoutVars>
      </dgm:prSet>
      <dgm:spPr/>
    </dgm:pt>
    <dgm:pt modelId="{DC763CBC-E68B-417F-826D-0C6812D2DB7C}" type="pres">
      <dgm:prSet presAssocID="{86F106B2-8D8C-4BD6-BDD2-68E421D86192}" presName="parTxOnly" presStyleLbl="node1" presStyleIdx="0" presStyleCnt="3" custScaleX="150691">
        <dgm:presLayoutVars>
          <dgm:bulletEnabled val="1"/>
        </dgm:presLayoutVars>
      </dgm:prSet>
      <dgm:spPr/>
    </dgm:pt>
    <dgm:pt modelId="{13A57166-22D2-4345-A9D1-762B4DC80C84}" type="pres">
      <dgm:prSet presAssocID="{66CB135E-DE23-4139-8833-C6E97E68FE5D}" presName="parSpace" presStyleCnt="0"/>
      <dgm:spPr/>
    </dgm:pt>
    <dgm:pt modelId="{498EF002-40F7-44E4-9930-81C318D7E203}" type="pres">
      <dgm:prSet presAssocID="{DC8A043A-D40E-4BB9-BBEB-D0CBBAEBDD47}" presName="parTxOnly" presStyleLbl="node1" presStyleIdx="1" presStyleCnt="3" custScaleX="114700">
        <dgm:presLayoutVars>
          <dgm:bulletEnabled val="1"/>
        </dgm:presLayoutVars>
      </dgm:prSet>
      <dgm:spPr/>
    </dgm:pt>
    <dgm:pt modelId="{74444593-8F8C-4E35-8FC4-C4BE7BF2B2FB}" type="pres">
      <dgm:prSet presAssocID="{4BE8446E-6C16-4230-BC33-65D9ED730BF2}" presName="parSpace" presStyleCnt="0"/>
      <dgm:spPr/>
    </dgm:pt>
    <dgm:pt modelId="{F6631087-18D1-4F4A-B6EA-2D11D356A0D1}" type="pres">
      <dgm:prSet presAssocID="{A417483F-6537-4DB0-86C2-7D05CD2B0FFD}" presName="parTxOnly" presStyleLbl="node1" presStyleIdx="2" presStyleCnt="3">
        <dgm:presLayoutVars>
          <dgm:bulletEnabled val="1"/>
        </dgm:presLayoutVars>
      </dgm:prSet>
      <dgm:spPr/>
    </dgm:pt>
  </dgm:ptLst>
  <dgm:cxnLst>
    <dgm:cxn modelId="{672200FC-BC35-40D9-804E-477A7645B013}" srcId="{DBE52627-3A8E-4844-B6E3-93933614FB2C}" destId="{86F106B2-8D8C-4BD6-BDD2-68E421D86192}" srcOrd="0" destOrd="0" parTransId="{F886DEE5-9E72-43EA-ABFD-D890A94C6125}" sibTransId="{66CB135E-DE23-4139-8833-C6E97E68FE5D}"/>
    <dgm:cxn modelId="{D9D130BD-41A0-4BC9-B042-CD959370C078}" type="presOf" srcId="{86F106B2-8D8C-4BD6-BDD2-68E421D86192}" destId="{DC763CBC-E68B-417F-826D-0C6812D2DB7C}" srcOrd="0" destOrd="0" presId="urn:microsoft.com/office/officeart/2005/8/layout/hChevron3"/>
    <dgm:cxn modelId="{B2CA244D-8B48-4F44-A38B-C60DB5BB7CD7}" srcId="{DBE52627-3A8E-4844-B6E3-93933614FB2C}" destId="{A417483F-6537-4DB0-86C2-7D05CD2B0FFD}" srcOrd="2" destOrd="0" parTransId="{7618D16D-D982-4714-8675-7C77ADB4F7B4}" sibTransId="{D6FA839D-BFB8-46F5-B303-D96942DD4850}"/>
    <dgm:cxn modelId="{C16F8A0C-A0EE-4CBD-8739-4398DE63170B}" type="presOf" srcId="{DC8A043A-D40E-4BB9-BBEB-D0CBBAEBDD47}" destId="{498EF002-40F7-44E4-9930-81C318D7E203}" srcOrd="0" destOrd="0" presId="urn:microsoft.com/office/officeart/2005/8/layout/hChevron3"/>
    <dgm:cxn modelId="{6A155FF9-856C-4829-8429-3A2854451ED1}" type="presOf" srcId="{A417483F-6537-4DB0-86C2-7D05CD2B0FFD}" destId="{F6631087-18D1-4F4A-B6EA-2D11D356A0D1}" srcOrd="0" destOrd="0" presId="urn:microsoft.com/office/officeart/2005/8/layout/hChevron3"/>
    <dgm:cxn modelId="{33A8A4FF-A459-4935-B4C3-12DE8F296252}" type="presOf" srcId="{DBE52627-3A8E-4844-B6E3-93933614FB2C}" destId="{42D41329-73A6-4447-A24D-3BF4E5ED78F6}" srcOrd="0" destOrd="0" presId="urn:microsoft.com/office/officeart/2005/8/layout/hChevron3"/>
    <dgm:cxn modelId="{2D2DCF51-4190-413D-BC59-6DA478034F0C}" srcId="{DBE52627-3A8E-4844-B6E3-93933614FB2C}" destId="{DC8A043A-D40E-4BB9-BBEB-D0CBBAEBDD47}" srcOrd="1" destOrd="0" parTransId="{1AAD7D58-F127-47AC-9B42-E8743EE99407}" sibTransId="{4BE8446E-6C16-4230-BC33-65D9ED730BF2}"/>
    <dgm:cxn modelId="{74C6A014-0791-4BFC-934D-9DAC49B40E38}" type="presParOf" srcId="{42D41329-73A6-4447-A24D-3BF4E5ED78F6}" destId="{DC763CBC-E68B-417F-826D-0C6812D2DB7C}" srcOrd="0" destOrd="0" presId="urn:microsoft.com/office/officeart/2005/8/layout/hChevron3"/>
    <dgm:cxn modelId="{E3E6FEB5-FE8E-441B-9C56-7DF06755B18F}" type="presParOf" srcId="{42D41329-73A6-4447-A24D-3BF4E5ED78F6}" destId="{13A57166-22D2-4345-A9D1-762B4DC80C84}" srcOrd="1" destOrd="0" presId="urn:microsoft.com/office/officeart/2005/8/layout/hChevron3"/>
    <dgm:cxn modelId="{CACF2FC5-48C0-4D67-BAF3-28C89545D7C0}" type="presParOf" srcId="{42D41329-73A6-4447-A24D-3BF4E5ED78F6}" destId="{498EF002-40F7-44E4-9930-81C318D7E203}" srcOrd="2" destOrd="0" presId="urn:microsoft.com/office/officeart/2005/8/layout/hChevron3"/>
    <dgm:cxn modelId="{5A76B1AF-E5B7-4557-AB3C-D1AC890A3CB3}" type="presParOf" srcId="{42D41329-73A6-4447-A24D-3BF4E5ED78F6}" destId="{74444593-8F8C-4E35-8FC4-C4BE7BF2B2FB}" srcOrd="3" destOrd="0" presId="urn:microsoft.com/office/officeart/2005/8/layout/hChevron3"/>
    <dgm:cxn modelId="{9624E754-CE21-47FC-A54C-A543B03A21E0}" type="presParOf" srcId="{42D41329-73A6-4447-A24D-3BF4E5ED78F6}" destId="{F6631087-18D1-4F4A-B6EA-2D11D356A0D1}" srcOrd="4" destOrd="0" presId="urn:microsoft.com/office/officeart/2005/8/layout/hChevron3"/>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221.xml><?xml version="1.0" encoding="utf-8"?>
<dgm:dataModel xmlns:dgm="http://schemas.openxmlformats.org/drawingml/2006/diagram" xmlns:a="http://schemas.openxmlformats.org/drawingml/2006/main">
  <dgm:ptLst>
    <dgm:pt modelId="{DF6F52BA-9C5F-4198-9615-CBBED3002C09}" type="doc">
      <dgm:prSet loTypeId="urn:microsoft.com/office/officeart/2005/8/layout/lProcess2" loCatId="list" qsTypeId="urn:microsoft.com/office/officeart/2005/8/quickstyle/3d1" qsCatId="3D" csTypeId="urn:microsoft.com/office/officeart/2005/8/colors/accent0_3" csCatId="mainScheme" phldr="1"/>
      <dgm:spPr/>
      <dgm:t>
        <a:bodyPr/>
        <a:lstStyle/>
        <a:p>
          <a:endParaRPr lang="en-GB"/>
        </a:p>
      </dgm:t>
    </dgm:pt>
    <dgm:pt modelId="{463AC69B-6D25-4C74-82F0-C3B0CD4193FD}">
      <dgm:prSet phldrT="[Text]" custT="1"/>
      <dgm:spPr>
        <a:blipFill>
          <a:blip xmlns:r="http://schemas.openxmlformats.org/officeDocument/2006/relationships" r:embed="rId1"/>
          <a:stretch>
            <a:fillRect/>
          </a:stretch>
        </a:blipFill>
      </dgm:spPr>
      <dgm:t>
        <a:bodyPr/>
        <a:lstStyle/>
        <a:p>
          <a:r>
            <a:rPr lang="fr-FR">
              <a:noFill/>
            </a:rPr>
            <a:t> </a:t>
          </a:r>
        </a:p>
      </dgm:t>
    </dgm:pt>
    <dgm:pt modelId="{1B192ABD-E08B-4C7D-94CE-A5C7C8CDA201}" type="parTrans" cxnId="{CC26F88B-48FD-4F6D-9B6B-A7EB7AC129A0}">
      <dgm:prSet/>
      <dgm:spPr/>
      <dgm:t>
        <a:bodyPr/>
        <a:lstStyle/>
        <a:p>
          <a:endParaRPr lang="en-GB" sz="2400"/>
        </a:p>
      </dgm:t>
    </dgm:pt>
    <dgm:pt modelId="{75DACDC2-438B-4A08-A418-2E85A9BB0C98}" type="sibTrans" cxnId="{CC26F88B-48FD-4F6D-9B6B-A7EB7AC129A0}">
      <dgm:prSet/>
      <dgm:spPr/>
      <dgm:t>
        <a:bodyPr/>
        <a:lstStyle/>
        <a:p>
          <a:endParaRPr lang="en-GB" sz="2400"/>
        </a:p>
      </dgm:t>
    </dgm:pt>
    <dgm:pt modelId="{C69D7BCB-1DCA-48C2-94CC-932BAF949413}">
      <dgm:prSet phldrT="[Text]" custT="1"/>
      <dgm:spPr>
        <a:blipFill>
          <a:blip xmlns:r="http://schemas.openxmlformats.org/officeDocument/2006/relationships" r:embed="rId2"/>
          <a:stretch>
            <a:fillRect/>
          </a:stretch>
        </a:blipFill>
      </dgm:spPr>
      <dgm:t>
        <a:bodyPr/>
        <a:lstStyle/>
        <a:p>
          <a:r>
            <a:rPr lang="fr-FR">
              <a:noFill/>
            </a:rPr>
            <a:t> </a:t>
          </a:r>
        </a:p>
      </dgm:t>
    </dgm:pt>
    <dgm:pt modelId="{BFAB60F7-43CE-4A50-BEA5-7A03F260D463}" type="parTrans" cxnId="{DBBBD0BF-6D11-4E6F-8F04-6A555035DA50}">
      <dgm:prSet/>
      <dgm:spPr/>
      <dgm:t>
        <a:bodyPr/>
        <a:lstStyle/>
        <a:p>
          <a:endParaRPr lang="en-GB" sz="2400"/>
        </a:p>
      </dgm:t>
    </dgm:pt>
    <dgm:pt modelId="{F1AF7185-0A0C-4748-8F35-F424A00D138C}" type="sibTrans" cxnId="{DBBBD0BF-6D11-4E6F-8F04-6A555035DA50}">
      <dgm:prSet/>
      <dgm:spPr/>
      <dgm:t>
        <a:bodyPr/>
        <a:lstStyle/>
        <a:p>
          <a:endParaRPr lang="en-GB" sz="2400"/>
        </a:p>
      </dgm:t>
    </dgm:pt>
    <dgm:pt modelId="{7256CDA2-524D-4F68-92EE-D54007548B3B}">
      <dgm:prSet phldrT="[Text]" custT="1"/>
      <dgm:spPr>
        <a:blipFill>
          <a:blip xmlns:r="http://schemas.openxmlformats.org/officeDocument/2006/relationships" r:embed="rId3"/>
          <a:stretch>
            <a:fillRect/>
          </a:stretch>
        </a:blipFill>
      </dgm:spPr>
      <dgm:t>
        <a:bodyPr/>
        <a:lstStyle/>
        <a:p>
          <a:r>
            <a:rPr lang="fr-FR">
              <a:noFill/>
            </a:rPr>
            <a:t> </a:t>
          </a:r>
        </a:p>
      </dgm:t>
    </dgm:pt>
    <dgm:pt modelId="{4949456E-4B75-4691-AB95-FD3BA6A8E85F}" type="parTrans" cxnId="{99C5E777-FD43-4FD9-A4F6-79B8B673C8D4}">
      <dgm:prSet/>
      <dgm:spPr/>
      <dgm:t>
        <a:bodyPr/>
        <a:lstStyle/>
        <a:p>
          <a:endParaRPr lang="en-GB" sz="2400"/>
        </a:p>
      </dgm:t>
    </dgm:pt>
    <dgm:pt modelId="{E3DCB80E-A332-4ADA-B1EC-E87ABC4934B9}" type="sibTrans" cxnId="{99C5E777-FD43-4FD9-A4F6-79B8B673C8D4}">
      <dgm:prSet/>
      <dgm:spPr/>
      <dgm:t>
        <a:bodyPr/>
        <a:lstStyle/>
        <a:p>
          <a:endParaRPr lang="en-GB" sz="2400"/>
        </a:p>
      </dgm:t>
    </dgm:pt>
    <dgm:pt modelId="{0D1C84DB-3160-4108-B856-149EB9FF7757}">
      <dgm:prSet phldrT="[Text]" custT="1"/>
      <dgm:spPr>
        <a:blipFill>
          <a:blip xmlns:r="http://schemas.openxmlformats.org/officeDocument/2006/relationships" r:embed="rId4"/>
          <a:stretch>
            <a:fillRect/>
          </a:stretch>
        </a:blipFill>
      </dgm:spPr>
      <dgm:t>
        <a:bodyPr/>
        <a:lstStyle/>
        <a:p>
          <a:r>
            <a:rPr lang="fr-FR">
              <a:noFill/>
            </a:rPr>
            <a:t> </a:t>
          </a:r>
        </a:p>
      </dgm:t>
    </dgm:pt>
    <dgm:pt modelId="{1C30C717-AD25-4A86-AD5C-74D00D155478}" type="parTrans" cxnId="{AD10DB5A-9463-49B3-91EC-16CFB89D65C7}">
      <dgm:prSet/>
      <dgm:spPr/>
      <dgm:t>
        <a:bodyPr/>
        <a:lstStyle/>
        <a:p>
          <a:endParaRPr lang="en-GB" sz="2400"/>
        </a:p>
      </dgm:t>
    </dgm:pt>
    <dgm:pt modelId="{2CE771B3-6EB8-4DBC-BD17-8E0638B742CC}" type="sibTrans" cxnId="{AD10DB5A-9463-49B3-91EC-16CFB89D65C7}">
      <dgm:prSet/>
      <dgm:spPr/>
      <dgm:t>
        <a:bodyPr/>
        <a:lstStyle/>
        <a:p>
          <a:endParaRPr lang="en-GB" sz="2400"/>
        </a:p>
      </dgm:t>
    </dgm:pt>
    <dgm:pt modelId="{AA2484ED-16B3-4B91-9206-6EC61E1EC9C6}">
      <dgm:prSet phldrT="[Text]" custT="1"/>
      <dgm:spPr>
        <a:blipFill>
          <a:blip xmlns:r="http://schemas.openxmlformats.org/officeDocument/2006/relationships" r:embed="rId5"/>
          <a:stretch>
            <a:fillRect/>
          </a:stretch>
        </a:blipFill>
      </dgm:spPr>
      <dgm:t>
        <a:bodyPr/>
        <a:lstStyle/>
        <a:p>
          <a:r>
            <a:rPr lang="fr-FR">
              <a:noFill/>
            </a:rPr>
            <a:t> </a:t>
          </a:r>
        </a:p>
      </dgm:t>
    </dgm:pt>
    <dgm:pt modelId="{8A0142B8-88FB-4981-94CF-0E5A4143DB0D}" type="parTrans" cxnId="{3907F777-4A45-4617-92BC-C0D2F8770ADC}">
      <dgm:prSet/>
      <dgm:spPr/>
      <dgm:t>
        <a:bodyPr/>
        <a:lstStyle/>
        <a:p>
          <a:endParaRPr lang="en-GB" sz="2400"/>
        </a:p>
      </dgm:t>
    </dgm:pt>
    <dgm:pt modelId="{3664C699-B36F-4DA2-93AD-EC2A2E699A8B}" type="sibTrans" cxnId="{3907F777-4A45-4617-92BC-C0D2F8770ADC}">
      <dgm:prSet/>
      <dgm:spPr/>
      <dgm:t>
        <a:bodyPr/>
        <a:lstStyle/>
        <a:p>
          <a:endParaRPr lang="en-GB" sz="2400"/>
        </a:p>
      </dgm:t>
    </dgm:pt>
    <dgm:pt modelId="{CB05CC69-648F-4781-9434-AFA49E19946D}">
      <dgm:prSet phldrT="[Text]" custT="1"/>
      <dgm:spPr>
        <a:blipFill>
          <a:blip xmlns:r="http://schemas.openxmlformats.org/officeDocument/2006/relationships" r:embed="rId6"/>
          <a:stretch>
            <a:fillRect/>
          </a:stretch>
        </a:blipFill>
      </dgm:spPr>
      <dgm:t>
        <a:bodyPr/>
        <a:lstStyle/>
        <a:p>
          <a:r>
            <a:rPr lang="fr-FR">
              <a:noFill/>
            </a:rPr>
            <a:t> </a:t>
          </a:r>
        </a:p>
      </dgm:t>
    </dgm:pt>
    <dgm:pt modelId="{B73DC043-39C1-4328-8DE8-19F178BAE8E3}" type="parTrans" cxnId="{14FAC4A9-B9A7-47AE-AFDE-18C9F202C3DB}">
      <dgm:prSet/>
      <dgm:spPr/>
      <dgm:t>
        <a:bodyPr/>
        <a:lstStyle/>
        <a:p>
          <a:endParaRPr lang="en-GB" sz="2400"/>
        </a:p>
      </dgm:t>
    </dgm:pt>
    <dgm:pt modelId="{88481DD7-F2E2-4F91-BB2F-6F0B5703DBF2}" type="sibTrans" cxnId="{14FAC4A9-B9A7-47AE-AFDE-18C9F202C3DB}">
      <dgm:prSet/>
      <dgm:spPr/>
      <dgm:t>
        <a:bodyPr/>
        <a:lstStyle/>
        <a:p>
          <a:endParaRPr lang="en-GB" sz="2400"/>
        </a:p>
      </dgm:t>
    </dgm:pt>
    <dgm:pt modelId="{54022C24-EB24-4471-B789-2143E59AF5E2}">
      <dgm:prSet phldrT="[Text]" custT="1"/>
      <dgm:spPr/>
      <dgm:t>
        <a:bodyPr/>
        <a:lstStyle/>
        <a:p>
          <a:r>
            <a:rPr lang="en-GB" sz="1800" dirty="0" smtClean="0"/>
            <a:t>% of Value from C</a:t>
          </a:r>
          <a:endParaRPr lang="en-GB" sz="1800" dirty="0"/>
        </a:p>
      </dgm:t>
    </dgm:pt>
    <dgm:pt modelId="{87C90FF1-BB3C-440B-9B52-B11A68BA7BBD}" type="sibTrans" cxnId="{2C5E4E5D-DDCC-456D-9DED-FF593A6A2B18}">
      <dgm:prSet/>
      <dgm:spPr/>
      <dgm:t>
        <a:bodyPr/>
        <a:lstStyle/>
        <a:p>
          <a:endParaRPr lang="en-GB" sz="2400"/>
        </a:p>
      </dgm:t>
    </dgm:pt>
    <dgm:pt modelId="{1F77058D-8025-418D-B6D9-7C7BC2D933E2}" type="parTrans" cxnId="{2C5E4E5D-DDCC-456D-9DED-FF593A6A2B18}">
      <dgm:prSet/>
      <dgm:spPr/>
      <dgm:t>
        <a:bodyPr/>
        <a:lstStyle/>
        <a:p>
          <a:endParaRPr lang="en-GB" sz="2400"/>
        </a:p>
      </dgm:t>
    </dgm:pt>
    <dgm:pt modelId="{2A9C1963-B685-41F3-884C-37142124DA4B}">
      <dgm:prSet phldrT="[Text]" custT="1"/>
      <dgm:spPr/>
      <dgm:t>
        <a:bodyPr/>
        <a:lstStyle/>
        <a:p>
          <a:r>
            <a:rPr lang="en-GB" sz="1800" dirty="0" smtClean="0"/>
            <a:t>% of Value from B</a:t>
          </a:r>
          <a:endParaRPr lang="en-GB" sz="1800" dirty="0"/>
        </a:p>
      </dgm:t>
    </dgm:pt>
    <dgm:pt modelId="{8004E67C-1162-4592-AD87-BD5B1E3F979A}" type="sibTrans" cxnId="{1431E3CF-72B8-47F2-9814-8DFAD2E4CBA4}">
      <dgm:prSet/>
      <dgm:spPr/>
      <dgm:t>
        <a:bodyPr/>
        <a:lstStyle/>
        <a:p>
          <a:endParaRPr lang="en-GB" sz="2400"/>
        </a:p>
      </dgm:t>
    </dgm:pt>
    <dgm:pt modelId="{22738D87-1435-4910-A5EC-D79B45ABE8B5}" type="parTrans" cxnId="{1431E3CF-72B8-47F2-9814-8DFAD2E4CBA4}">
      <dgm:prSet/>
      <dgm:spPr/>
      <dgm:t>
        <a:bodyPr/>
        <a:lstStyle/>
        <a:p>
          <a:endParaRPr lang="en-GB" sz="2400"/>
        </a:p>
      </dgm:t>
    </dgm:pt>
    <dgm:pt modelId="{A93BFD9C-5863-4E42-BAFC-D6FB2F4F007B}">
      <dgm:prSet phldrT="[Text]" custT="1"/>
      <dgm:spPr/>
      <dgm:t>
        <a:bodyPr/>
        <a:lstStyle/>
        <a:p>
          <a:r>
            <a:rPr lang="en-GB" sz="1800" dirty="0" smtClean="0"/>
            <a:t>% of Value from A</a:t>
          </a:r>
          <a:endParaRPr lang="en-GB" sz="1800" dirty="0"/>
        </a:p>
      </dgm:t>
    </dgm:pt>
    <dgm:pt modelId="{540ADDF3-3401-4FBF-A2C6-8E53A7A4F433}" type="sibTrans" cxnId="{705AAA7D-22DB-4A75-99FD-01177CA6E82D}">
      <dgm:prSet/>
      <dgm:spPr/>
      <dgm:t>
        <a:bodyPr/>
        <a:lstStyle/>
        <a:p>
          <a:endParaRPr lang="en-GB" sz="2400"/>
        </a:p>
      </dgm:t>
    </dgm:pt>
    <dgm:pt modelId="{B2CA0191-CA5F-4315-93CC-EE6521D6F4FC}" type="parTrans" cxnId="{705AAA7D-22DB-4A75-99FD-01177CA6E82D}">
      <dgm:prSet/>
      <dgm:spPr/>
      <dgm:t>
        <a:bodyPr/>
        <a:lstStyle/>
        <a:p>
          <a:endParaRPr lang="en-GB" sz="2400"/>
        </a:p>
      </dgm:t>
    </dgm:pt>
    <dgm:pt modelId="{986529ED-4BF4-4496-AB9C-4378234E4614}" type="pres">
      <dgm:prSet presAssocID="{DF6F52BA-9C5F-4198-9615-CBBED3002C09}" presName="theList" presStyleCnt="0">
        <dgm:presLayoutVars>
          <dgm:dir/>
          <dgm:animLvl val="lvl"/>
          <dgm:resizeHandles val="exact"/>
        </dgm:presLayoutVars>
      </dgm:prSet>
      <dgm:spPr/>
      <dgm:t>
        <a:bodyPr/>
        <a:lstStyle/>
        <a:p>
          <a:endParaRPr lang="en-GB"/>
        </a:p>
      </dgm:t>
    </dgm:pt>
    <dgm:pt modelId="{36D60047-16DC-433B-B4BD-0AC26ECF2EEA}" type="pres">
      <dgm:prSet presAssocID="{463AC69B-6D25-4C74-82F0-C3B0CD4193FD}" presName="compNode" presStyleCnt="0"/>
      <dgm:spPr/>
    </dgm:pt>
    <dgm:pt modelId="{67DBAA07-D82C-433F-8558-78DEE27F27B9}" type="pres">
      <dgm:prSet presAssocID="{463AC69B-6D25-4C74-82F0-C3B0CD4193FD}" presName="aNode" presStyleLbl="bgShp" presStyleIdx="0" presStyleCnt="3"/>
      <dgm:spPr/>
      <dgm:t>
        <a:bodyPr/>
        <a:lstStyle/>
        <a:p>
          <a:endParaRPr lang="en-GB"/>
        </a:p>
      </dgm:t>
    </dgm:pt>
    <dgm:pt modelId="{402327AD-E411-4619-BE20-D77579261235}" type="pres">
      <dgm:prSet presAssocID="{463AC69B-6D25-4C74-82F0-C3B0CD4193FD}" presName="textNode" presStyleLbl="bgShp" presStyleIdx="0" presStyleCnt="3"/>
      <dgm:spPr/>
      <dgm:t>
        <a:bodyPr/>
        <a:lstStyle/>
        <a:p>
          <a:endParaRPr lang="en-GB"/>
        </a:p>
      </dgm:t>
    </dgm:pt>
    <dgm:pt modelId="{3CBE07B4-B53B-4F86-92AD-B14D4B911433}" type="pres">
      <dgm:prSet presAssocID="{463AC69B-6D25-4C74-82F0-C3B0CD4193FD}" presName="compChildNode" presStyleCnt="0"/>
      <dgm:spPr/>
    </dgm:pt>
    <dgm:pt modelId="{13CBC219-6C89-40CC-BBC2-6744DF85BBC5}" type="pres">
      <dgm:prSet presAssocID="{463AC69B-6D25-4C74-82F0-C3B0CD4193FD}" presName="theInnerList" presStyleCnt="0"/>
      <dgm:spPr/>
    </dgm:pt>
    <dgm:pt modelId="{7C321082-EE9F-4BF2-BC5A-B50C9B95FF0C}" type="pres">
      <dgm:prSet presAssocID="{C69D7BCB-1DCA-48C2-94CC-932BAF949413}" presName="childNode" presStyleLbl="node1" presStyleIdx="0" presStyleCnt="6" custScaleX="117722">
        <dgm:presLayoutVars>
          <dgm:bulletEnabled val="1"/>
        </dgm:presLayoutVars>
      </dgm:prSet>
      <dgm:spPr/>
      <dgm:t>
        <a:bodyPr/>
        <a:lstStyle/>
        <a:p>
          <a:endParaRPr lang="en-GB"/>
        </a:p>
      </dgm:t>
    </dgm:pt>
    <dgm:pt modelId="{E5E66BA4-BDE1-4EF4-BD44-93D4D72EDE03}" type="pres">
      <dgm:prSet presAssocID="{C69D7BCB-1DCA-48C2-94CC-932BAF949413}" presName="aSpace2" presStyleCnt="0"/>
      <dgm:spPr/>
    </dgm:pt>
    <dgm:pt modelId="{F3536B04-8620-4C98-B19B-5507E07B2486}" type="pres">
      <dgm:prSet presAssocID="{A93BFD9C-5863-4E42-BAFC-D6FB2F4F007B}" presName="childNode" presStyleLbl="node1" presStyleIdx="1" presStyleCnt="6" custScaleX="117722">
        <dgm:presLayoutVars>
          <dgm:bulletEnabled val="1"/>
        </dgm:presLayoutVars>
      </dgm:prSet>
      <dgm:spPr/>
      <dgm:t>
        <a:bodyPr/>
        <a:lstStyle/>
        <a:p>
          <a:endParaRPr lang="en-GB"/>
        </a:p>
      </dgm:t>
    </dgm:pt>
    <dgm:pt modelId="{079FA198-1C00-4D73-BC3E-B819A4BA8493}" type="pres">
      <dgm:prSet presAssocID="{463AC69B-6D25-4C74-82F0-C3B0CD4193FD}" presName="aSpace" presStyleCnt="0"/>
      <dgm:spPr/>
    </dgm:pt>
    <dgm:pt modelId="{8A392344-1111-44F0-BCBD-1F21615DF338}" type="pres">
      <dgm:prSet presAssocID="{7256CDA2-524D-4F68-92EE-D54007548B3B}" presName="compNode" presStyleCnt="0"/>
      <dgm:spPr/>
    </dgm:pt>
    <dgm:pt modelId="{76D5E8C6-3BF7-47F7-A947-503BD39C5A54}" type="pres">
      <dgm:prSet presAssocID="{7256CDA2-524D-4F68-92EE-D54007548B3B}" presName="aNode" presStyleLbl="bgShp" presStyleIdx="1" presStyleCnt="3"/>
      <dgm:spPr/>
      <dgm:t>
        <a:bodyPr/>
        <a:lstStyle/>
        <a:p>
          <a:endParaRPr lang="en-GB"/>
        </a:p>
      </dgm:t>
    </dgm:pt>
    <dgm:pt modelId="{1963745A-7362-4197-9C00-98FBA0774B60}" type="pres">
      <dgm:prSet presAssocID="{7256CDA2-524D-4F68-92EE-D54007548B3B}" presName="textNode" presStyleLbl="bgShp" presStyleIdx="1" presStyleCnt="3"/>
      <dgm:spPr/>
      <dgm:t>
        <a:bodyPr/>
        <a:lstStyle/>
        <a:p>
          <a:endParaRPr lang="en-GB"/>
        </a:p>
      </dgm:t>
    </dgm:pt>
    <dgm:pt modelId="{CC714495-6AC6-4AB9-A116-C85C5C1C686D}" type="pres">
      <dgm:prSet presAssocID="{7256CDA2-524D-4F68-92EE-D54007548B3B}" presName="compChildNode" presStyleCnt="0"/>
      <dgm:spPr/>
    </dgm:pt>
    <dgm:pt modelId="{6ED849C5-A19C-4255-AF91-A62039C1ED64}" type="pres">
      <dgm:prSet presAssocID="{7256CDA2-524D-4F68-92EE-D54007548B3B}" presName="theInnerList" presStyleCnt="0"/>
      <dgm:spPr/>
    </dgm:pt>
    <dgm:pt modelId="{D5580F7C-CBF5-447E-9283-B9AB9AD4E82B}" type="pres">
      <dgm:prSet presAssocID="{0D1C84DB-3160-4108-B856-149EB9FF7757}" presName="childNode" presStyleLbl="node1" presStyleIdx="2" presStyleCnt="6" custScaleX="117722">
        <dgm:presLayoutVars>
          <dgm:bulletEnabled val="1"/>
        </dgm:presLayoutVars>
      </dgm:prSet>
      <dgm:spPr/>
      <dgm:t>
        <a:bodyPr/>
        <a:lstStyle/>
        <a:p>
          <a:endParaRPr lang="en-GB"/>
        </a:p>
      </dgm:t>
    </dgm:pt>
    <dgm:pt modelId="{B3E85B4B-02DF-4590-8FF5-ED7833748D37}" type="pres">
      <dgm:prSet presAssocID="{0D1C84DB-3160-4108-B856-149EB9FF7757}" presName="aSpace2" presStyleCnt="0"/>
      <dgm:spPr/>
    </dgm:pt>
    <dgm:pt modelId="{BF6F70C2-5323-48D0-A328-74AA29A933EE}" type="pres">
      <dgm:prSet presAssocID="{2A9C1963-B685-41F3-884C-37142124DA4B}" presName="childNode" presStyleLbl="node1" presStyleIdx="3" presStyleCnt="6" custScaleX="117722">
        <dgm:presLayoutVars>
          <dgm:bulletEnabled val="1"/>
        </dgm:presLayoutVars>
      </dgm:prSet>
      <dgm:spPr/>
      <dgm:t>
        <a:bodyPr/>
        <a:lstStyle/>
        <a:p>
          <a:endParaRPr lang="en-GB"/>
        </a:p>
      </dgm:t>
    </dgm:pt>
    <dgm:pt modelId="{9202E7D7-716E-4E44-99B5-311F180FD831}" type="pres">
      <dgm:prSet presAssocID="{7256CDA2-524D-4F68-92EE-D54007548B3B}" presName="aSpace" presStyleCnt="0"/>
      <dgm:spPr/>
    </dgm:pt>
    <dgm:pt modelId="{E87BF5A8-C74E-4E08-917E-522CE3EFB906}" type="pres">
      <dgm:prSet presAssocID="{AA2484ED-16B3-4B91-9206-6EC61E1EC9C6}" presName="compNode" presStyleCnt="0"/>
      <dgm:spPr/>
    </dgm:pt>
    <dgm:pt modelId="{5A0F2182-7AF7-4D98-81D2-A6AE9A610262}" type="pres">
      <dgm:prSet presAssocID="{AA2484ED-16B3-4B91-9206-6EC61E1EC9C6}" presName="aNode" presStyleLbl="bgShp" presStyleIdx="2" presStyleCnt="3" custLinFactNeighborX="2396"/>
      <dgm:spPr/>
      <dgm:t>
        <a:bodyPr/>
        <a:lstStyle/>
        <a:p>
          <a:endParaRPr lang="en-GB"/>
        </a:p>
      </dgm:t>
    </dgm:pt>
    <dgm:pt modelId="{D072542B-B24A-4352-81CE-1EE26AA37AE0}" type="pres">
      <dgm:prSet presAssocID="{AA2484ED-16B3-4B91-9206-6EC61E1EC9C6}" presName="textNode" presStyleLbl="bgShp" presStyleIdx="2" presStyleCnt="3"/>
      <dgm:spPr/>
      <dgm:t>
        <a:bodyPr/>
        <a:lstStyle/>
        <a:p>
          <a:endParaRPr lang="en-GB"/>
        </a:p>
      </dgm:t>
    </dgm:pt>
    <dgm:pt modelId="{8EDC5F59-43D0-4751-B3FE-3D3A8F3899AC}" type="pres">
      <dgm:prSet presAssocID="{AA2484ED-16B3-4B91-9206-6EC61E1EC9C6}" presName="compChildNode" presStyleCnt="0"/>
      <dgm:spPr/>
    </dgm:pt>
    <dgm:pt modelId="{1AA5CE38-10A1-4EC9-82FC-3DDF81D6B80B}" type="pres">
      <dgm:prSet presAssocID="{AA2484ED-16B3-4B91-9206-6EC61E1EC9C6}" presName="theInnerList" presStyleCnt="0"/>
      <dgm:spPr/>
    </dgm:pt>
    <dgm:pt modelId="{9FB7C987-B257-4E6C-A2B5-F547607E62DF}" type="pres">
      <dgm:prSet presAssocID="{CB05CC69-648F-4781-9434-AFA49E19946D}" presName="childNode" presStyleLbl="node1" presStyleIdx="4" presStyleCnt="6" custScaleX="117722">
        <dgm:presLayoutVars>
          <dgm:bulletEnabled val="1"/>
        </dgm:presLayoutVars>
      </dgm:prSet>
      <dgm:spPr/>
      <dgm:t>
        <a:bodyPr/>
        <a:lstStyle/>
        <a:p>
          <a:endParaRPr lang="en-GB"/>
        </a:p>
      </dgm:t>
    </dgm:pt>
    <dgm:pt modelId="{6FB363A2-1BFA-4271-A6A3-0D4DEE9106C3}" type="pres">
      <dgm:prSet presAssocID="{CB05CC69-648F-4781-9434-AFA49E19946D}" presName="aSpace2" presStyleCnt="0"/>
      <dgm:spPr/>
    </dgm:pt>
    <dgm:pt modelId="{37E22CE4-DBE4-4DA4-ABC0-A28654419370}" type="pres">
      <dgm:prSet presAssocID="{54022C24-EB24-4471-B789-2143E59AF5E2}" presName="childNode" presStyleLbl="node1" presStyleIdx="5" presStyleCnt="6" custScaleX="117722">
        <dgm:presLayoutVars>
          <dgm:bulletEnabled val="1"/>
        </dgm:presLayoutVars>
      </dgm:prSet>
      <dgm:spPr/>
      <dgm:t>
        <a:bodyPr/>
        <a:lstStyle/>
        <a:p>
          <a:endParaRPr lang="en-GB"/>
        </a:p>
      </dgm:t>
    </dgm:pt>
  </dgm:ptLst>
  <dgm:cxnLst>
    <dgm:cxn modelId="{705AAA7D-22DB-4A75-99FD-01177CA6E82D}" srcId="{463AC69B-6D25-4C74-82F0-C3B0CD4193FD}" destId="{A93BFD9C-5863-4E42-BAFC-D6FB2F4F007B}" srcOrd="1" destOrd="0" parTransId="{B2CA0191-CA5F-4315-93CC-EE6521D6F4FC}" sibTransId="{540ADDF3-3401-4FBF-A2C6-8E53A7A4F433}"/>
    <dgm:cxn modelId="{7570EB21-BD4A-4AA0-B2DF-424581979C65}" type="presOf" srcId="{7256CDA2-524D-4F68-92EE-D54007548B3B}" destId="{76D5E8C6-3BF7-47F7-A947-503BD39C5A54}" srcOrd="0" destOrd="0" presId="urn:microsoft.com/office/officeart/2005/8/layout/lProcess2"/>
    <dgm:cxn modelId="{3907F777-4A45-4617-92BC-C0D2F8770ADC}" srcId="{DF6F52BA-9C5F-4198-9615-CBBED3002C09}" destId="{AA2484ED-16B3-4B91-9206-6EC61E1EC9C6}" srcOrd="2" destOrd="0" parTransId="{8A0142B8-88FB-4981-94CF-0E5A4143DB0D}" sibTransId="{3664C699-B36F-4DA2-93AD-EC2A2E699A8B}"/>
    <dgm:cxn modelId="{D0EFDBB2-9EBB-4950-9841-CAF01DD3CF30}" type="presOf" srcId="{A93BFD9C-5863-4E42-BAFC-D6FB2F4F007B}" destId="{F3536B04-8620-4C98-B19B-5507E07B2486}" srcOrd="0" destOrd="0" presId="urn:microsoft.com/office/officeart/2005/8/layout/lProcess2"/>
    <dgm:cxn modelId="{1D77A18D-9877-478D-962B-36FEF1D858E8}" type="presOf" srcId="{463AC69B-6D25-4C74-82F0-C3B0CD4193FD}" destId="{67DBAA07-D82C-433F-8558-78DEE27F27B9}" srcOrd="0" destOrd="0" presId="urn:microsoft.com/office/officeart/2005/8/layout/lProcess2"/>
    <dgm:cxn modelId="{8D2D27FA-0AE6-439D-9004-B976736BF406}" type="presOf" srcId="{2A9C1963-B685-41F3-884C-37142124DA4B}" destId="{BF6F70C2-5323-48D0-A328-74AA29A933EE}" srcOrd="0" destOrd="0" presId="urn:microsoft.com/office/officeart/2005/8/layout/lProcess2"/>
    <dgm:cxn modelId="{70C6169C-98F2-4E36-95B6-777272C4E433}" type="presOf" srcId="{463AC69B-6D25-4C74-82F0-C3B0CD4193FD}" destId="{402327AD-E411-4619-BE20-D77579261235}" srcOrd="1" destOrd="0" presId="urn:microsoft.com/office/officeart/2005/8/layout/lProcess2"/>
    <dgm:cxn modelId="{595B711D-2186-4A14-B4B0-95A89AEE0114}" type="presOf" srcId="{AA2484ED-16B3-4B91-9206-6EC61E1EC9C6}" destId="{D072542B-B24A-4352-81CE-1EE26AA37AE0}" srcOrd="1" destOrd="0" presId="urn:microsoft.com/office/officeart/2005/8/layout/lProcess2"/>
    <dgm:cxn modelId="{CC26F88B-48FD-4F6D-9B6B-A7EB7AC129A0}" srcId="{DF6F52BA-9C5F-4198-9615-CBBED3002C09}" destId="{463AC69B-6D25-4C74-82F0-C3B0CD4193FD}" srcOrd="0" destOrd="0" parTransId="{1B192ABD-E08B-4C7D-94CE-A5C7C8CDA201}" sibTransId="{75DACDC2-438B-4A08-A418-2E85A9BB0C98}"/>
    <dgm:cxn modelId="{A36BE3A0-DD89-40A3-AB08-2D2DBCC4A9C4}" type="presOf" srcId="{7256CDA2-524D-4F68-92EE-D54007548B3B}" destId="{1963745A-7362-4197-9C00-98FBA0774B60}" srcOrd="1" destOrd="0" presId="urn:microsoft.com/office/officeart/2005/8/layout/lProcess2"/>
    <dgm:cxn modelId="{AFF48CF0-D478-46DA-90F2-636D801CC39F}" type="presOf" srcId="{54022C24-EB24-4471-B789-2143E59AF5E2}" destId="{37E22CE4-DBE4-4DA4-ABC0-A28654419370}" srcOrd="0" destOrd="0" presId="urn:microsoft.com/office/officeart/2005/8/layout/lProcess2"/>
    <dgm:cxn modelId="{2C5E4E5D-DDCC-456D-9DED-FF593A6A2B18}" srcId="{AA2484ED-16B3-4B91-9206-6EC61E1EC9C6}" destId="{54022C24-EB24-4471-B789-2143E59AF5E2}" srcOrd="1" destOrd="0" parTransId="{1F77058D-8025-418D-B6D9-7C7BC2D933E2}" sibTransId="{87C90FF1-BB3C-440B-9B52-B11A68BA7BBD}"/>
    <dgm:cxn modelId="{DBBBD0BF-6D11-4E6F-8F04-6A555035DA50}" srcId="{463AC69B-6D25-4C74-82F0-C3B0CD4193FD}" destId="{C69D7BCB-1DCA-48C2-94CC-932BAF949413}" srcOrd="0" destOrd="0" parTransId="{BFAB60F7-43CE-4A50-BEA5-7A03F260D463}" sibTransId="{F1AF7185-0A0C-4748-8F35-F424A00D138C}"/>
    <dgm:cxn modelId="{C9CD3647-F519-4730-A8F9-418A8285BE87}" type="presOf" srcId="{DF6F52BA-9C5F-4198-9615-CBBED3002C09}" destId="{986529ED-4BF4-4496-AB9C-4378234E4614}" srcOrd="0" destOrd="0" presId="urn:microsoft.com/office/officeart/2005/8/layout/lProcess2"/>
    <dgm:cxn modelId="{C1CD54AA-9847-4DBD-8D8B-8A8DA6AEBE92}" type="presOf" srcId="{AA2484ED-16B3-4B91-9206-6EC61E1EC9C6}" destId="{5A0F2182-7AF7-4D98-81D2-A6AE9A610262}" srcOrd="0" destOrd="0" presId="urn:microsoft.com/office/officeart/2005/8/layout/lProcess2"/>
    <dgm:cxn modelId="{A3B89ED9-E6A3-4A8D-8E3B-9574A983FE83}" type="presOf" srcId="{CB05CC69-648F-4781-9434-AFA49E19946D}" destId="{9FB7C987-B257-4E6C-A2B5-F547607E62DF}" srcOrd="0" destOrd="0" presId="urn:microsoft.com/office/officeart/2005/8/layout/lProcess2"/>
    <dgm:cxn modelId="{E3238C4A-F884-40FA-A389-5F9B891C4230}" type="presOf" srcId="{0D1C84DB-3160-4108-B856-149EB9FF7757}" destId="{D5580F7C-CBF5-447E-9283-B9AB9AD4E82B}" srcOrd="0" destOrd="0" presId="urn:microsoft.com/office/officeart/2005/8/layout/lProcess2"/>
    <dgm:cxn modelId="{0C919FFA-81CD-46D8-9EBE-CE04621B4650}" type="presOf" srcId="{C69D7BCB-1DCA-48C2-94CC-932BAF949413}" destId="{7C321082-EE9F-4BF2-BC5A-B50C9B95FF0C}" srcOrd="0" destOrd="0" presId="urn:microsoft.com/office/officeart/2005/8/layout/lProcess2"/>
    <dgm:cxn modelId="{1431E3CF-72B8-47F2-9814-8DFAD2E4CBA4}" srcId="{7256CDA2-524D-4F68-92EE-D54007548B3B}" destId="{2A9C1963-B685-41F3-884C-37142124DA4B}" srcOrd="1" destOrd="0" parTransId="{22738D87-1435-4910-A5EC-D79B45ABE8B5}" sibTransId="{8004E67C-1162-4592-AD87-BD5B1E3F979A}"/>
    <dgm:cxn modelId="{99C5E777-FD43-4FD9-A4F6-79B8B673C8D4}" srcId="{DF6F52BA-9C5F-4198-9615-CBBED3002C09}" destId="{7256CDA2-524D-4F68-92EE-D54007548B3B}" srcOrd="1" destOrd="0" parTransId="{4949456E-4B75-4691-AB95-FD3BA6A8E85F}" sibTransId="{E3DCB80E-A332-4ADA-B1EC-E87ABC4934B9}"/>
    <dgm:cxn modelId="{AD10DB5A-9463-49B3-91EC-16CFB89D65C7}" srcId="{7256CDA2-524D-4F68-92EE-D54007548B3B}" destId="{0D1C84DB-3160-4108-B856-149EB9FF7757}" srcOrd="0" destOrd="0" parTransId="{1C30C717-AD25-4A86-AD5C-74D00D155478}" sibTransId="{2CE771B3-6EB8-4DBC-BD17-8E0638B742CC}"/>
    <dgm:cxn modelId="{14FAC4A9-B9A7-47AE-AFDE-18C9F202C3DB}" srcId="{AA2484ED-16B3-4B91-9206-6EC61E1EC9C6}" destId="{CB05CC69-648F-4781-9434-AFA49E19946D}" srcOrd="0" destOrd="0" parTransId="{B73DC043-39C1-4328-8DE8-19F178BAE8E3}" sibTransId="{88481DD7-F2E2-4F91-BB2F-6F0B5703DBF2}"/>
    <dgm:cxn modelId="{D32B88CD-6C0B-470E-BD2D-1237AC1D334E}" type="presParOf" srcId="{986529ED-4BF4-4496-AB9C-4378234E4614}" destId="{36D60047-16DC-433B-B4BD-0AC26ECF2EEA}" srcOrd="0" destOrd="0" presId="urn:microsoft.com/office/officeart/2005/8/layout/lProcess2"/>
    <dgm:cxn modelId="{C9881F4C-D695-46D0-ADB8-3ACCA6668B91}" type="presParOf" srcId="{36D60047-16DC-433B-B4BD-0AC26ECF2EEA}" destId="{67DBAA07-D82C-433F-8558-78DEE27F27B9}" srcOrd="0" destOrd="0" presId="urn:microsoft.com/office/officeart/2005/8/layout/lProcess2"/>
    <dgm:cxn modelId="{E425C02C-F35C-4244-A523-463633710089}" type="presParOf" srcId="{36D60047-16DC-433B-B4BD-0AC26ECF2EEA}" destId="{402327AD-E411-4619-BE20-D77579261235}" srcOrd="1" destOrd="0" presId="urn:microsoft.com/office/officeart/2005/8/layout/lProcess2"/>
    <dgm:cxn modelId="{C250422F-08C2-45D9-BDC3-A06C6191C5D3}" type="presParOf" srcId="{36D60047-16DC-433B-B4BD-0AC26ECF2EEA}" destId="{3CBE07B4-B53B-4F86-92AD-B14D4B911433}" srcOrd="2" destOrd="0" presId="urn:microsoft.com/office/officeart/2005/8/layout/lProcess2"/>
    <dgm:cxn modelId="{7B9DC8E8-BCFE-4081-A4EA-7F71C2C6F1D6}" type="presParOf" srcId="{3CBE07B4-B53B-4F86-92AD-B14D4B911433}" destId="{13CBC219-6C89-40CC-BBC2-6744DF85BBC5}" srcOrd="0" destOrd="0" presId="urn:microsoft.com/office/officeart/2005/8/layout/lProcess2"/>
    <dgm:cxn modelId="{87575C37-3539-419E-AD54-7B765B922C0B}" type="presParOf" srcId="{13CBC219-6C89-40CC-BBC2-6744DF85BBC5}" destId="{7C321082-EE9F-4BF2-BC5A-B50C9B95FF0C}" srcOrd="0" destOrd="0" presId="urn:microsoft.com/office/officeart/2005/8/layout/lProcess2"/>
    <dgm:cxn modelId="{B98F467F-B8C6-4738-8DE9-2C6C7979D220}" type="presParOf" srcId="{13CBC219-6C89-40CC-BBC2-6744DF85BBC5}" destId="{E5E66BA4-BDE1-4EF4-BD44-93D4D72EDE03}" srcOrd="1" destOrd="0" presId="urn:microsoft.com/office/officeart/2005/8/layout/lProcess2"/>
    <dgm:cxn modelId="{A02092DC-D323-400F-8466-012A7933B8F1}" type="presParOf" srcId="{13CBC219-6C89-40CC-BBC2-6744DF85BBC5}" destId="{F3536B04-8620-4C98-B19B-5507E07B2486}" srcOrd="2" destOrd="0" presId="urn:microsoft.com/office/officeart/2005/8/layout/lProcess2"/>
    <dgm:cxn modelId="{510E6492-42FB-4478-A47B-134CDBC7CF4C}" type="presParOf" srcId="{986529ED-4BF4-4496-AB9C-4378234E4614}" destId="{079FA198-1C00-4D73-BC3E-B819A4BA8493}" srcOrd="1" destOrd="0" presId="urn:microsoft.com/office/officeart/2005/8/layout/lProcess2"/>
    <dgm:cxn modelId="{6F439F62-29A1-4E6C-BC50-C1A031B60DD8}" type="presParOf" srcId="{986529ED-4BF4-4496-AB9C-4378234E4614}" destId="{8A392344-1111-44F0-BCBD-1F21615DF338}" srcOrd="2" destOrd="0" presId="urn:microsoft.com/office/officeart/2005/8/layout/lProcess2"/>
    <dgm:cxn modelId="{31749A8A-7BD9-4DB6-B80A-AC72BF9946B6}" type="presParOf" srcId="{8A392344-1111-44F0-BCBD-1F21615DF338}" destId="{76D5E8C6-3BF7-47F7-A947-503BD39C5A54}" srcOrd="0" destOrd="0" presId="urn:microsoft.com/office/officeart/2005/8/layout/lProcess2"/>
    <dgm:cxn modelId="{174B45AC-04EF-4FA5-A133-7C11FFD7280C}" type="presParOf" srcId="{8A392344-1111-44F0-BCBD-1F21615DF338}" destId="{1963745A-7362-4197-9C00-98FBA0774B60}" srcOrd="1" destOrd="0" presId="urn:microsoft.com/office/officeart/2005/8/layout/lProcess2"/>
    <dgm:cxn modelId="{05B4A1EA-2DC6-4893-ABDF-00CCF43C95E1}" type="presParOf" srcId="{8A392344-1111-44F0-BCBD-1F21615DF338}" destId="{CC714495-6AC6-4AB9-A116-C85C5C1C686D}" srcOrd="2" destOrd="0" presId="urn:microsoft.com/office/officeart/2005/8/layout/lProcess2"/>
    <dgm:cxn modelId="{1497AC6B-B7A4-4233-B53C-709118C38996}" type="presParOf" srcId="{CC714495-6AC6-4AB9-A116-C85C5C1C686D}" destId="{6ED849C5-A19C-4255-AF91-A62039C1ED64}" srcOrd="0" destOrd="0" presId="urn:microsoft.com/office/officeart/2005/8/layout/lProcess2"/>
    <dgm:cxn modelId="{813F4D21-8CCC-4DC6-ABF7-C7D4B25F17AF}" type="presParOf" srcId="{6ED849C5-A19C-4255-AF91-A62039C1ED64}" destId="{D5580F7C-CBF5-447E-9283-B9AB9AD4E82B}" srcOrd="0" destOrd="0" presId="urn:microsoft.com/office/officeart/2005/8/layout/lProcess2"/>
    <dgm:cxn modelId="{A7DE73EF-EB22-4036-85FA-EE89D5EE5646}" type="presParOf" srcId="{6ED849C5-A19C-4255-AF91-A62039C1ED64}" destId="{B3E85B4B-02DF-4590-8FF5-ED7833748D37}" srcOrd="1" destOrd="0" presId="urn:microsoft.com/office/officeart/2005/8/layout/lProcess2"/>
    <dgm:cxn modelId="{9426D25D-903B-4333-8613-32936E788631}" type="presParOf" srcId="{6ED849C5-A19C-4255-AF91-A62039C1ED64}" destId="{BF6F70C2-5323-48D0-A328-74AA29A933EE}" srcOrd="2" destOrd="0" presId="urn:microsoft.com/office/officeart/2005/8/layout/lProcess2"/>
    <dgm:cxn modelId="{F87804DD-D389-4DC4-9515-3CB88427D123}" type="presParOf" srcId="{986529ED-4BF4-4496-AB9C-4378234E4614}" destId="{9202E7D7-716E-4E44-99B5-311F180FD831}" srcOrd="3" destOrd="0" presId="urn:microsoft.com/office/officeart/2005/8/layout/lProcess2"/>
    <dgm:cxn modelId="{EA538E2C-B12D-415D-A3FF-BA67CE70742B}" type="presParOf" srcId="{986529ED-4BF4-4496-AB9C-4378234E4614}" destId="{E87BF5A8-C74E-4E08-917E-522CE3EFB906}" srcOrd="4" destOrd="0" presId="urn:microsoft.com/office/officeart/2005/8/layout/lProcess2"/>
    <dgm:cxn modelId="{E462C0E5-20E7-43DF-AB3A-7ABAA2A4D542}" type="presParOf" srcId="{E87BF5A8-C74E-4E08-917E-522CE3EFB906}" destId="{5A0F2182-7AF7-4D98-81D2-A6AE9A610262}" srcOrd="0" destOrd="0" presId="urn:microsoft.com/office/officeart/2005/8/layout/lProcess2"/>
    <dgm:cxn modelId="{C45043A0-3BE8-4272-8D99-A87CDA572ABB}" type="presParOf" srcId="{E87BF5A8-C74E-4E08-917E-522CE3EFB906}" destId="{D072542B-B24A-4352-81CE-1EE26AA37AE0}" srcOrd="1" destOrd="0" presId="urn:microsoft.com/office/officeart/2005/8/layout/lProcess2"/>
    <dgm:cxn modelId="{0B02DFE5-F888-4ACA-A682-C1573466567E}" type="presParOf" srcId="{E87BF5A8-C74E-4E08-917E-522CE3EFB906}" destId="{8EDC5F59-43D0-4751-B3FE-3D3A8F3899AC}" srcOrd="2" destOrd="0" presId="urn:microsoft.com/office/officeart/2005/8/layout/lProcess2"/>
    <dgm:cxn modelId="{46C8A16A-494A-441E-9468-CE94BF774362}" type="presParOf" srcId="{8EDC5F59-43D0-4751-B3FE-3D3A8F3899AC}" destId="{1AA5CE38-10A1-4EC9-82FC-3DDF81D6B80B}" srcOrd="0" destOrd="0" presId="urn:microsoft.com/office/officeart/2005/8/layout/lProcess2"/>
    <dgm:cxn modelId="{9AF54F50-8994-4CAA-85E4-A7EA3E499394}" type="presParOf" srcId="{1AA5CE38-10A1-4EC9-82FC-3DDF81D6B80B}" destId="{9FB7C987-B257-4E6C-A2B5-F547607E62DF}" srcOrd="0" destOrd="0" presId="urn:microsoft.com/office/officeart/2005/8/layout/lProcess2"/>
    <dgm:cxn modelId="{06843ADD-752C-452C-B1F7-B19EA3F1F06A}" type="presParOf" srcId="{1AA5CE38-10A1-4EC9-82FC-3DDF81D6B80B}" destId="{6FB363A2-1BFA-4271-A6A3-0D4DEE9106C3}" srcOrd="1" destOrd="0" presId="urn:microsoft.com/office/officeart/2005/8/layout/lProcess2"/>
    <dgm:cxn modelId="{7AAF2CC1-28B6-4721-A91B-C46714D355CB}" type="presParOf" srcId="{1AA5CE38-10A1-4EC9-82FC-3DDF81D6B80B}" destId="{37E22CE4-DBE4-4DA4-ABC0-A28654419370}" srcOrd="2" destOrd="0" presId="urn:microsoft.com/office/officeart/2005/8/layout/l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43AA89-C318-440A-9F16-2919F17370E9}">
      <dsp:nvSpPr>
        <dsp:cNvPr id="0" name=""/>
        <dsp:cNvSpPr/>
      </dsp:nvSpPr>
      <dsp:spPr>
        <a:xfrm>
          <a:off x="3251131" y="1880727"/>
          <a:ext cx="2252451" cy="1088782"/>
        </a:xfrm>
        <a:prstGeom prst="ellipse">
          <a:avLst/>
        </a:prstGeom>
        <a:solidFill>
          <a:schemeClr val="accent1">
            <a:hueOff val="0"/>
            <a:satOff val="0"/>
            <a:lumOff val="0"/>
            <a:alphaOff val="0"/>
          </a:schemeClr>
        </a:solidFill>
        <a:ln>
          <a:noFill/>
        </a:ln>
        <a:effectLst>
          <a:outerShdw blurRad="50800" dist="254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dirty="0"/>
            <a:t>Company Valuation</a:t>
          </a:r>
        </a:p>
      </dsp:txBody>
      <dsp:txXfrm>
        <a:off x="3580995" y="2040175"/>
        <a:ext cx="1592723" cy="769886"/>
      </dsp:txXfrm>
    </dsp:sp>
    <dsp:sp modelId="{BF8CE21D-0E26-4BEE-9B67-B4DB59AC6557}">
      <dsp:nvSpPr>
        <dsp:cNvPr id="0" name=""/>
        <dsp:cNvSpPr/>
      </dsp:nvSpPr>
      <dsp:spPr>
        <a:xfrm rot="8824501">
          <a:off x="1112370" y="3564959"/>
          <a:ext cx="2675448" cy="216308"/>
        </a:xfrm>
        <a:prstGeom prst="lef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A3B6F484-CADE-451A-B03F-CE3246E32F6B}">
      <dsp:nvSpPr>
        <dsp:cNvPr id="0" name=""/>
        <dsp:cNvSpPr/>
      </dsp:nvSpPr>
      <dsp:spPr>
        <a:xfrm>
          <a:off x="59409" y="3399847"/>
          <a:ext cx="2535644" cy="2000747"/>
        </a:xfrm>
        <a:prstGeom prst="roundRect">
          <a:avLst>
            <a:gd name="adj" fmla="val 10000"/>
          </a:avLst>
        </a:prstGeom>
        <a:solidFill>
          <a:schemeClr val="accent1">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1422400">
            <a:lnSpc>
              <a:spcPct val="90000"/>
            </a:lnSpc>
            <a:spcBef>
              <a:spcPct val="0"/>
            </a:spcBef>
            <a:spcAft>
              <a:spcPct val="35000"/>
            </a:spcAft>
            <a:buNone/>
          </a:pPr>
          <a:r>
            <a:rPr lang="en-GB" sz="3200" b="1" kern="1200" dirty="0">
              <a:solidFill>
                <a:srgbClr val="002060"/>
              </a:solidFill>
            </a:rPr>
            <a:t>DCF</a:t>
          </a:r>
          <a:endParaRPr lang="en-GB" sz="1900" b="1" kern="1200" dirty="0">
            <a:solidFill>
              <a:srgbClr val="002060"/>
            </a:solidFill>
          </a:endParaRPr>
        </a:p>
        <a:p>
          <a:pPr marL="0" lvl="0" indent="0" algn="ctr" defTabSz="1422400">
            <a:lnSpc>
              <a:spcPct val="90000"/>
            </a:lnSpc>
            <a:spcBef>
              <a:spcPct val="0"/>
            </a:spcBef>
            <a:spcAft>
              <a:spcPct val="35000"/>
            </a:spcAft>
            <a:buNone/>
          </a:pPr>
          <a:r>
            <a:rPr lang="en-GB" sz="1900" kern="1200" dirty="0"/>
            <a:t>Intrinsic Value</a:t>
          </a:r>
        </a:p>
        <a:p>
          <a:pPr marL="0" lvl="0" indent="0" algn="ctr" defTabSz="1422400">
            <a:lnSpc>
              <a:spcPct val="90000"/>
            </a:lnSpc>
            <a:spcBef>
              <a:spcPct val="0"/>
            </a:spcBef>
            <a:spcAft>
              <a:spcPct val="35000"/>
            </a:spcAft>
            <a:buNone/>
          </a:pPr>
          <a:r>
            <a:rPr lang="en-GB" sz="1900" kern="1200" dirty="0"/>
            <a:t>Business Oriented</a:t>
          </a:r>
        </a:p>
      </dsp:txBody>
      <dsp:txXfrm>
        <a:off x="118009" y="3458447"/>
        <a:ext cx="2418444" cy="1883547"/>
      </dsp:txXfrm>
    </dsp:sp>
    <dsp:sp modelId="{10E2E671-1D52-4928-A1C6-E0C23DB2954A}">
      <dsp:nvSpPr>
        <dsp:cNvPr id="0" name=""/>
        <dsp:cNvSpPr/>
      </dsp:nvSpPr>
      <dsp:spPr>
        <a:xfrm rot="5386792">
          <a:off x="3709470" y="3612536"/>
          <a:ext cx="1345728" cy="216308"/>
        </a:xfrm>
        <a:prstGeom prst="lef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114F5292-13FE-4767-9405-4B369DB9253A}">
      <dsp:nvSpPr>
        <dsp:cNvPr id="0" name=""/>
        <dsp:cNvSpPr/>
      </dsp:nvSpPr>
      <dsp:spPr>
        <a:xfrm>
          <a:off x="3117098" y="3361698"/>
          <a:ext cx="2535644" cy="2063703"/>
        </a:xfrm>
        <a:prstGeom prst="roundRect">
          <a:avLst>
            <a:gd name="adj" fmla="val 10000"/>
          </a:avLst>
        </a:prstGeom>
        <a:solidFill>
          <a:schemeClr val="accent1">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1422400">
            <a:lnSpc>
              <a:spcPct val="90000"/>
            </a:lnSpc>
            <a:spcBef>
              <a:spcPct val="0"/>
            </a:spcBef>
            <a:spcAft>
              <a:spcPct val="35000"/>
            </a:spcAft>
            <a:buNone/>
          </a:pPr>
          <a:r>
            <a:rPr lang="en-GB" sz="3200" b="1" kern="1200" dirty="0">
              <a:solidFill>
                <a:srgbClr val="002060"/>
              </a:solidFill>
            </a:rPr>
            <a:t>Relative Valuation</a:t>
          </a:r>
        </a:p>
        <a:p>
          <a:pPr marL="0" lvl="0" indent="0" algn="ctr" defTabSz="1422400">
            <a:lnSpc>
              <a:spcPct val="90000"/>
            </a:lnSpc>
            <a:spcBef>
              <a:spcPct val="0"/>
            </a:spcBef>
            <a:spcAft>
              <a:spcPct val="35000"/>
            </a:spcAft>
            <a:buNone/>
          </a:pPr>
          <a:r>
            <a:rPr lang="en-GB" sz="2000" kern="1200" dirty="0"/>
            <a:t>Other Assets</a:t>
          </a:r>
        </a:p>
        <a:p>
          <a:pPr marL="0" lvl="0" indent="0" algn="ctr" defTabSz="1422400">
            <a:lnSpc>
              <a:spcPct val="90000"/>
            </a:lnSpc>
            <a:spcBef>
              <a:spcPct val="0"/>
            </a:spcBef>
            <a:spcAft>
              <a:spcPct val="35000"/>
            </a:spcAft>
            <a:buNone/>
          </a:pPr>
          <a:r>
            <a:rPr lang="en-GB" sz="2000" kern="1200" dirty="0"/>
            <a:t>Market Oriented</a:t>
          </a:r>
        </a:p>
      </dsp:txBody>
      <dsp:txXfrm>
        <a:off x="3177542" y="3422142"/>
        <a:ext cx="2414756" cy="1942815"/>
      </dsp:txXfrm>
    </dsp:sp>
    <dsp:sp modelId="{5D121F3F-34E4-486C-BA24-B52ED92D021D}">
      <dsp:nvSpPr>
        <dsp:cNvPr id="0" name=""/>
        <dsp:cNvSpPr/>
      </dsp:nvSpPr>
      <dsp:spPr>
        <a:xfrm rot="1940625">
          <a:off x="4982671" y="3570231"/>
          <a:ext cx="2747624" cy="216308"/>
        </a:xfrm>
        <a:prstGeom prst="lef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FE98681D-D65F-4600-8482-7940DF1B513C}">
      <dsp:nvSpPr>
        <dsp:cNvPr id="0" name=""/>
        <dsp:cNvSpPr/>
      </dsp:nvSpPr>
      <dsp:spPr>
        <a:xfrm>
          <a:off x="6249331" y="3381520"/>
          <a:ext cx="2535644" cy="2063703"/>
        </a:xfrm>
        <a:prstGeom prst="roundRect">
          <a:avLst>
            <a:gd name="adj" fmla="val 10000"/>
          </a:avLst>
        </a:prstGeom>
        <a:solidFill>
          <a:schemeClr val="accent1">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1422400">
            <a:lnSpc>
              <a:spcPct val="90000"/>
            </a:lnSpc>
            <a:spcBef>
              <a:spcPct val="0"/>
            </a:spcBef>
            <a:spcAft>
              <a:spcPct val="35000"/>
            </a:spcAft>
            <a:buNone/>
          </a:pPr>
          <a:r>
            <a:rPr lang="en-GB" sz="3200" b="1" kern="1200" dirty="0">
              <a:solidFill>
                <a:srgbClr val="002060"/>
              </a:solidFill>
            </a:rPr>
            <a:t>Real Options</a:t>
          </a:r>
        </a:p>
        <a:p>
          <a:pPr marL="0" lvl="0" indent="0" algn="ctr" defTabSz="1422400">
            <a:lnSpc>
              <a:spcPct val="90000"/>
            </a:lnSpc>
            <a:spcBef>
              <a:spcPct val="0"/>
            </a:spcBef>
            <a:spcAft>
              <a:spcPct val="35000"/>
            </a:spcAft>
            <a:buNone/>
          </a:pPr>
          <a:r>
            <a:rPr lang="en-GB" sz="2100" kern="1200" dirty="0"/>
            <a:t>Derivatives</a:t>
          </a:r>
        </a:p>
        <a:p>
          <a:pPr marL="0" lvl="0" indent="0" algn="ctr" defTabSz="1422400">
            <a:lnSpc>
              <a:spcPct val="90000"/>
            </a:lnSpc>
            <a:spcBef>
              <a:spcPct val="0"/>
            </a:spcBef>
            <a:spcAft>
              <a:spcPct val="35000"/>
            </a:spcAft>
            <a:buNone/>
          </a:pPr>
          <a:r>
            <a:rPr lang="en-GB" sz="2100" kern="1200" dirty="0"/>
            <a:t>Flexibility</a:t>
          </a:r>
        </a:p>
      </dsp:txBody>
      <dsp:txXfrm>
        <a:off x="6309775" y="3441964"/>
        <a:ext cx="2414756" cy="1942815"/>
      </dsp:txXfrm>
    </dsp:sp>
    <dsp:sp modelId="{36AF84C6-66BE-483D-996B-A7FBCFFAD9B3}">
      <dsp:nvSpPr>
        <dsp:cNvPr id="0" name=""/>
        <dsp:cNvSpPr/>
      </dsp:nvSpPr>
      <dsp:spPr>
        <a:xfrm rot="16221238">
          <a:off x="3807403" y="1128089"/>
          <a:ext cx="1154598" cy="216308"/>
        </a:xfrm>
        <a:prstGeom prst="lef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B5DD2568-723C-4242-93BA-BAEFE068095E}">
      <dsp:nvSpPr>
        <dsp:cNvPr id="0" name=""/>
        <dsp:cNvSpPr/>
      </dsp:nvSpPr>
      <dsp:spPr>
        <a:xfrm>
          <a:off x="3564574" y="0"/>
          <a:ext cx="1647388" cy="1317911"/>
        </a:xfrm>
        <a:prstGeom prst="roundRect">
          <a:avLst>
            <a:gd name="adj" fmla="val 10000"/>
          </a:avLst>
        </a:prstGeom>
        <a:solidFill>
          <a:schemeClr val="accent1">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977900">
            <a:lnSpc>
              <a:spcPct val="90000"/>
            </a:lnSpc>
            <a:spcBef>
              <a:spcPct val="0"/>
            </a:spcBef>
            <a:spcAft>
              <a:spcPct val="35000"/>
            </a:spcAft>
            <a:buNone/>
          </a:pPr>
          <a:r>
            <a:rPr lang="en-GB" sz="2200" kern="1200" dirty="0"/>
            <a:t>Uncertainty</a:t>
          </a:r>
        </a:p>
      </dsp:txBody>
      <dsp:txXfrm>
        <a:off x="3603174" y="38600"/>
        <a:ext cx="1570188" cy="1240711"/>
      </dsp:txXfrm>
    </dsp:sp>
    <dsp:sp modelId="{15226B39-7ECE-457F-BF8B-2AFBADEE0B9B}">
      <dsp:nvSpPr>
        <dsp:cNvPr id="0" name=""/>
        <dsp:cNvSpPr/>
      </dsp:nvSpPr>
      <dsp:spPr>
        <a:xfrm rot="12643210">
          <a:off x="1230759" y="1185770"/>
          <a:ext cx="2485951" cy="216308"/>
        </a:xfrm>
        <a:prstGeom prst="lef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09361335-4AAD-442A-B10C-E1849C562F66}">
      <dsp:nvSpPr>
        <dsp:cNvPr id="0" name=""/>
        <dsp:cNvSpPr/>
      </dsp:nvSpPr>
      <dsp:spPr>
        <a:xfrm>
          <a:off x="581488" y="0"/>
          <a:ext cx="1647388" cy="1317911"/>
        </a:xfrm>
        <a:prstGeom prst="roundRect">
          <a:avLst>
            <a:gd name="adj" fmla="val 10000"/>
          </a:avLst>
        </a:prstGeom>
        <a:solidFill>
          <a:schemeClr val="accent1">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977900">
            <a:lnSpc>
              <a:spcPct val="90000"/>
            </a:lnSpc>
            <a:spcBef>
              <a:spcPct val="0"/>
            </a:spcBef>
            <a:spcAft>
              <a:spcPct val="35000"/>
            </a:spcAft>
            <a:buNone/>
          </a:pPr>
          <a:r>
            <a:rPr lang="en-GB" sz="2200" kern="1200" dirty="0"/>
            <a:t>Bias</a:t>
          </a:r>
        </a:p>
      </dsp:txBody>
      <dsp:txXfrm>
        <a:off x="620088" y="38600"/>
        <a:ext cx="1570188" cy="1240711"/>
      </dsp:txXfrm>
    </dsp:sp>
    <dsp:sp modelId="{31E1642A-C702-409F-AEA9-2A52F27EC1F3}">
      <dsp:nvSpPr>
        <dsp:cNvPr id="0" name=""/>
        <dsp:cNvSpPr/>
      </dsp:nvSpPr>
      <dsp:spPr>
        <a:xfrm rot="19804617">
          <a:off x="5060221" y="1188339"/>
          <a:ext cx="2556098" cy="216308"/>
        </a:xfrm>
        <a:prstGeom prst="lef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528F45F9-A1BB-44D0-910D-5B51B2457ED1}">
      <dsp:nvSpPr>
        <dsp:cNvPr id="0" name=""/>
        <dsp:cNvSpPr/>
      </dsp:nvSpPr>
      <dsp:spPr>
        <a:xfrm>
          <a:off x="6622256" y="0"/>
          <a:ext cx="1647388" cy="1317911"/>
        </a:xfrm>
        <a:prstGeom prst="roundRect">
          <a:avLst>
            <a:gd name="adj" fmla="val 10000"/>
          </a:avLst>
        </a:prstGeom>
        <a:solidFill>
          <a:schemeClr val="accent1">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977900">
            <a:lnSpc>
              <a:spcPct val="90000"/>
            </a:lnSpc>
            <a:spcBef>
              <a:spcPct val="0"/>
            </a:spcBef>
            <a:spcAft>
              <a:spcPct val="35000"/>
            </a:spcAft>
            <a:buNone/>
          </a:pPr>
          <a:r>
            <a:rPr lang="en-GB" sz="2200" kern="1200" dirty="0"/>
            <a:t>Complexity</a:t>
          </a:r>
        </a:p>
      </dsp:txBody>
      <dsp:txXfrm>
        <a:off x="6660856" y="38600"/>
        <a:ext cx="1570188" cy="12407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292A6E-76CF-45C3-9E68-DCD7106DEE4F}">
      <dsp:nvSpPr>
        <dsp:cNvPr id="0" name=""/>
        <dsp:cNvSpPr/>
      </dsp:nvSpPr>
      <dsp:spPr>
        <a:xfrm>
          <a:off x="0" y="381683"/>
          <a:ext cx="8784976" cy="630000"/>
        </a:xfrm>
        <a:prstGeom prst="rect">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a:outerShdw blurRad="50800" dist="25400" dir="5400000" rotWithShape="0">
            <a:srgbClr val="000000">
              <a:alpha val="4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1BF82DCB-E4D2-4704-B840-122D16D5F41A}">
      <dsp:nvSpPr>
        <dsp:cNvPr id="0" name=""/>
        <dsp:cNvSpPr/>
      </dsp:nvSpPr>
      <dsp:spPr>
        <a:xfrm>
          <a:off x="439248" y="12683"/>
          <a:ext cx="7745827" cy="738000"/>
        </a:xfrm>
        <a:prstGeom prst="roundRect">
          <a:avLst/>
        </a:prstGeom>
        <a:solidFill>
          <a:schemeClr val="dk2">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32436" tIns="0" rIns="232436" bIns="0" numCol="1" spcCol="1270" anchor="ctr" anchorCtr="0">
          <a:noAutofit/>
        </a:bodyPr>
        <a:lstStyle/>
        <a:p>
          <a:pPr marL="0" lvl="0" indent="0" algn="l" defTabSz="1111250" rtl="0">
            <a:lnSpc>
              <a:spcPct val="90000"/>
            </a:lnSpc>
            <a:spcBef>
              <a:spcPct val="0"/>
            </a:spcBef>
            <a:spcAft>
              <a:spcPct val="35000"/>
            </a:spcAft>
            <a:buNone/>
          </a:pPr>
          <a:r>
            <a:rPr lang="en-US" sz="2500" u="sng" kern="1200" dirty="0"/>
            <a:t>Never mix and match</a:t>
          </a:r>
          <a:r>
            <a:rPr lang="en-US" sz="2500" kern="1200" dirty="0"/>
            <a:t> cash flows and discount rates.  </a:t>
          </a:r>
          <a:endParaRPr lang="en-GB" sz="2500" kern="1200" dirty="0"/>
        </a:p>
      </dsp:txBody>
      <dsp:txXfrm>
        <a:off x="475274" y="48709"/>
        <a:ext cx="7673775" cy="665948"/>
      </dsp:txXfrm>
    </dsp:sp>
    <dsp:sp modelId="{CD55BD26-271C-4075-A83E-53D2568FBA93}">
      <dsp:nvSpPr>
        <dsp:cNvPr id="0" name=""/>
        <dsp:cNvSpPr/>
      </dsp:nvSpPr>
      <dsp:spPr>
        <a:xfrm>
          <a:off x="0" y="1515683"/>
          <a:ext cx="8784976" cy="4016250"/>
        </a:xfrm>
        <a:prstGeom prst="rect">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a:outerShdw blurRad="50800" dist="25400" dir="5400000" rotWithShape="0">
            <a:srgbClr val="000000">
              <a:alpha val="4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81812" tIns="520700" rIns="681812" bIns="128016" numCol="1" spcCol="1270" anchor="t" anchorCtr="0">
          <a:noAutofit/>
        </a:bodyPr>
        <a:lstStyle/>
        <a:p>
          <a:pPr marL="0" lvl="1" indent="0" algn="l" defTabSz="844550" rtl="0">
            <a:lnSpc>
              <a:spcPct val="90000"/>
            </a:lnSpc>
            <a:spcBef>
              <a:spcPct val="0"/>
            </a:spcBef>
            <a:spcAft>
              <a:spcPct val="15000"/>
            </a:spcAft>
            <a:buChar char="•"/>
          </a:pPr>
          <a:r>
            <a:rPr lang="en-GB" sz="1900" kern="1200" dirty="0"/>
            <a:t>Firm </a:t>
          </a:r>
          <a:r>
            <a:rPr lang="en-GB" sz="1900" kern="1200" dirty="0" err="1"/>
            <a:t>vs</a:t>
          </a:r>
          <a:r>
            <a:rPr lang="en-GB" sz="1900" kern="1200" dirty="0"/>
            <a:t> Equity</a:t>
          </a:r>
        </a:p>
        <a:p>
          <a:pPr marL="169863" lvl="2" indent="-74613" algn="l" defTabSz="800100" rtl="0">
            <a:lnSpc>
              <a:spcPct val="90000"/>
            </a:lnSpc>
            <a:spcBef>
              <a:spcPct val="0"/>
            </a:spcBef>
            <a:spcAft>
              <a:spcPct val="15000"/>
            </a:spcAft>
            <a:buChar char="•"/>
            <a:tabLst/>
          </a:pPr>
          <a:r>
            <a:rPr lang="en-US" sz="1800" kern="1200" dirty="0">
              <a:solidFill>
                <a:srgbClr val="C00000"/>
              </a:solidFill>
            </a:rPr>
            <a:t> discounting CFs to equity (CFE) at the weighted average cost of capital will lead to an upwardly biased estimate of the value of equity</a:t>
          </a:r>
          <a:endParaRPr lang="en-GB" sz="1800" kern="1200" dirty="0">
            <a:solidFill>
              <a:srgbClr val="C00000"/>
            </a:solidFill>
          </a:endParaRPr>
        </a:p>
        <a:p>
          <a:pPr marL="169863" lvl="2" indent="-74613" algn="l" defTabSz="800100" rtl="0">
            <a:lnSpc>
              <a:spcPct val="90000"/>
            </a:lnSpc>
            <a:spcBef>
              <a:spcPct val="0"/>
            </a:spcBef>
            <a:spcAft>
              <a:spcPct val="15000"/>
            </a:spcAft>
            <a:buChar char="•"/>
            <a:tabLst/>
          </a:pPr>
          <a:r>
            <a:rPr lang="en-US" sz="1800" kern="1200" dirty="0">
              <a:solidFill>
                <a:srgbClr val="C00000"/>
              </a:solidFill>
            </a:rPr>
            <a:t> discounting CFs to the firm (CFF) at the cost of equity will yield a downward biased estimate of the value of the firm.</a:t>
          </a:r>
          <a:endParaRPr lang="en-GB" sz="1800" kern="1200" dirty="0">
            <a:solidFill>
              <a:srgbClr val="C00000"/>
            </a:solidFill>
          </a:endParaRPr>
        </a:p>
        <a:p>
          <a:pPr marL="0" lvl="1" indent="0" algn="l" defTabSz="844550" rtl="0">
            <a:lnSpc>
              <a:spcPct val="90000"/>
            </a:lnSpc>
            <a:spcBef>
              <a:spcPct val="0"/>
            </a:spcBef>
            <a:spcAft>
              <a:spcPct val="15000"/>
            </a:spcAft>
            <a:buChar char="•"/>
          </a:pPr>
          <a:r>
            <a:rPr lang="en-GB" sz="1900" kern="1200" dirty="0"/>
            <a:t>Currency-Inflation-Risk</a:t>
          </a:r>
        </a:p>
        <a:p>
          <a:pPr marL="173038" lvl="2" indent="-95250" algn="l" defTabSz="800100" rtl="0">
            <a:lnSpc>
              <a:spcPct val="90000"/>
            </a:lnSpc>
            <a:spcBef>
              <a:spcPct val="0"/>
            </a:spcBef>
            <a:spcAft>
              <a:spcPct val="15000"/>
            </a:spcAft>
            <a:buChar char="•"/>
            <a:tabLst>
              <a:tab pos="898525" algn="l"/>
            </a:tabLst>
          </a:pPr>
          <a:r>
            <a:rPr lang="en-US" sz="1800" kern="1200" dirty="0">
              <a:solidFill>
                <a:srgbClr val="C00000"/>
              </a:solidFill>
            </a:rPr>
            <a:t> The currency in which the cash flows are estimated should also be the currency in which the discount rate is estimated.</a:t>
          </a:r>
          <a:endParaRPr lang="en-GB" sz="1800" kern="1200" dirty="0">
            <a:solidFill>
              <a:srgbClr val="C00000"/>
            </a:solidFill>
          </a:endParaRPr>
        </a:p>
        <a:p>
          <a:pPr marL="173038" lvl="1" indent="-95250" algn="l" defTabSz="800100" rtl="0">
            <a:lnSpc>
              <a:spcPct val="90000"/>
            </a:lnSpc>
            <a:spcBef>
              <a:spcPct val="0"/>
            </a:spcBef>
            <a:spcAft>
              <a:spcPct val="15000"/>
            </a:spcAft>
            <a:buChar char="•"/>
            <a:tabLst>
              <a:tab pos="898525" algn="l"/>
            </a:tabLst>
          </a:pPr>
          <a:r>
            <a:rPr lang="en-US" sz="1800" kern="1200">
              <a:solidFill>
                <a:srgbClr val="C00000"/>
              </a:solidFill>
            </a:rPr>
            <a:t> If </a:t>
          </a:r>
          <a:r>
            <a:rPr lang="en-US" sz="1800" kern="1200" dirty="0">
              <a:solidFill>
                <a:srgbClr val="C00000"/>
              </a:solidFill>
            </a:rPr>
            <a:t>the cash flows being discounted are nominal cash flows (i.e., reflect expected inflation), the discount rate should be nominal</a:t>
          </a:r>
          <a:endParaRPr lang="en-GB" sz="1800" kern="1200" dirty="0">
            <a:solidFill>
              <a:srgbClr val="C00000"/>
            </a:solidFill>
          </a:endParaRPr>
        </a:p>
        <a:p>
          <a:pPr marL="173038" lvl="2" indent="-95250" algn="l" defTabSz="800100" rtl="0">
            <a:lnSpc>
              <a:spcPct val="90000"/>
            </a:lnSpc>
            <a:spcBef>
              <a:spcPct val="0"/>
            </a:spcBef>
            <a:spcAft>
              <a:spcPct val="15000"/>
            </a:spcAft>
            <a:buChar char="•"/>
            <a:tabLst>
              <a:tab pos="898525" algn="l"/>
            </a:tabLst>
          </a:pPr>
          <a:r>
            <a:rPr lang="en-GB" sz="1800" kern="1200">
              <a:solidFill>
                <a:srgbClr val="C00000"/>
              </a:solidFill>
            </a:rPr>
            <a:t> Risky </a:t>
          </a:r>
          <a:r>
            <a:rPr lang="en-GB" sz="1800" kern="1200" dirty="0">
              <a:solidFill>
                <a:srgbClr val="C00000"/>
              </a:solidFill>
            </a:rPr>
            <a:t>CF should be discounted using discount rates that reflect the risk. Certainty Equivalent cash flows should be discounted using the risk free rate.</a:t>
          </a:r>
        </a:p>
      </dsp:txBody>
      <dsp:txXfrm>
        <a:off x="0" y="1515683"/>
        <a:ext cx="8784976" cy="4016250"/>
      </dsp:txXfrm>
    </dsp:sp>
    <dsp:sp modelId="{4A8661A1-A628-4A73-9BF0-0540A1AAC78F}">
      <dsp:nvSpPr>
        <dsp:cNvPr id="0" name=""/>
        <dsp:cNvSpPr/>
      </dsp:nvSpPr>
      <dsp:spPr>
        <a:xfrm>
          <a:off x="439248" y="1146683"/>
          <a:ext cx="7745827" cy="738000"/>
        </a:xfrm>
        <a:prstGeom prst="roundRect">
          <a:avLst/>
        </a:prstGeom>
        <a:solidFill>
          <a:schemeClr val="dk2">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32436" tIns="0" rIns="232436" bIns="0" numCol="1" spcCol="1270" anchor="ctr" anchorCtr="0">
          <a:noAutofit/>
        </a:bodyPr>
        <a:lstStyle/>
        <a:p>
          <a:pPr marL="0" lvl="0" indent="0" algn="l" defTabSz="1111250" rtl="0">
            <a:lnSpc>
              <a:spcPct val="90000"/>
            </a:lnSpc>
            <a:spcBef>
              <a:spcPct val="0"/>
            </a:spcBef>
            <a:spcAft>
              <a:spcPct val="35000"/>
            </a:spcAft>
            <a:buNone/>
          </a:pPr>
          <a:r>
            <a:rPr lang="en-US" sz="2500" kern="1200" dirty="0"/>
            <a:t>The key error to avoid is </a:t>
          </a:r>
          <a:r>
            <a:rPr lang="en-US" sz="2500" u="sng" kern="1200" dirty="0"/>
            <a:t>mismatching CFs and discount rates</a:t>
          </a:r>
          <a:r>
            <a:rPr lang="en-US" sz="2500" kern="1200" dirty="0"/>
            <a:t>, </a:t>
          </a:r>
          <a:endParaRPr lang="en-GB" sz="2500" kern="1200" dirty="0"/>
        </a:p>
      </dsp:txBody>
      <dsp:txXfrm>
        <a:off x="475274" y="1182709"/>
        <a:ext cx="7673775" cy="6659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703944-F59F-409A-921F-39E1ED70EAAE}">
      <dsp:nvSpPr>
        <dsp:cNvPr id="0" name=""/>
        <dsp:cNvSpPr/>
      </dsp:nvSpPr>
      <dsp:spPr>
        <a:xfrm>
          <a:off x="5979356" y="2869894"/>
          <a:ext cx="355373" cy="2771913"/>
        </a:xfrm>
        <a:custGeom>
          <a:avLst/>
          <a:gdLst/>
          <a:ahLst/>
          <a:cxnLst/>
          <a:rect l="0" t="0" r="0" b="0"/>
          <a:pathLst>
            <a:path>
              <a:moveTo>
                <a:pt x="0" y="0"/>
              </a:moveTo>
              <a:lnTo>
                <a:pt x="0" y="2771913"/>
              </a:lnTo>
              <a:lnTo>
                <a:pt x="355373" y="2771913"/>
              </a:lnTo>
            </a:path>
          </a:pathLst>
        </a:custGeom>
        <a:noFill/>
        <a:ln w="11429" cap="flat" cmpd="sng" algn="ctr">
          <a:solidFill>
            <a:schemeClr val="accent3">
              <a:hueOff val="0"/>
              <a:satOff val="0"/>
              <a:lumOff val="0"/>
              <a:alphaOff val="0"/>
            </a:schemeClr>
          </a:solidFill>
          <a:prstDash val="sysDash"/>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184352B4-FFA9-4845-AA9B-09C5657D8BD4}">
      <dsp:nvSpPr>
        <dsp:cNvPr id="0" name=""/>
        <dsp:cNvSpPr/>
      </dsp:nvSpPr>
      <dsp:spPr>
        <a:xfrm>
          <a:off x="5979356" y="2869894"/>
          <a:ext cx="355373" cy="1089812"/>
        </a:xfrm>
        <a:custGeom>
          <a:avLst/>
          <a:gdLst/>
          <a:ahLst/>
          <a:cxnLst/>
          <a:rect l="0" t="0" r="0" b="0"/>
          <a:pathLst>
            <a:path>
              <a:moveTo>
                <a:pt x="0" y="0"/>
              </a:moveTo>
              <a:lnTo>
                <a:pt x="0" y="1089812"/>
              </a:lnTo>
              <a:lnTo>
                <a:pt x="355373" y="1089812"/>
              </a:lnTo>
            </a:path>
          </a:pathLst>
        </a:custGeom>
        <a:noFill/>
        <a:ln w="11429" cap="flat" cmpd="sng" algn="ctr">
          <a:solidFill>
            <a:schemeClr val="accent3">
              <a:hueOff val="0"/>
              <a:satOff val="0"/>
              <a:lumOff val="0"/>
              <a:alphaOff val="0"/>
            </a:schemeClr>
          </a:solidFill>
          <a:prstDash val="sysDash"/>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98DBA25E-61EB-4F5C-A02E-EA485EB4736A}">
      <dsp:nvSpPr>
        <dsp:cNvPr id="0" name=""/>
        <dsp:cNvSpPr/>
      </dsp:nvSpPr>
      <dsp:spPr>
        <a:xfrm>
          <a:off x="4060339" y="1187792"/>
          <a:ext cx="2866680" cy="497523"/>
        </a:xfrm>
        <a:custGeom>
          <a:avLst/>
          <a:gdLst/>
          <a:ahLst/>
          <a:cxnLst/>
          <a:rect l="0" t="0" r="0" b="0"/>
          <a:pathLst>
            <a:path>
              <a:moveTo>
                <a:pt x="0" y="0"/>
              </a:moveTo>
              <a:lnTo>
                <a:pt x="0" y="248761"/>
              </a:lnTo>
              <a:lnTo>
                <a:pt x="2866680" y="248761"/>
              </a:lnTo>
              <a:lnTo>
                <a:pt x="2866680" y="497523"/>
              </a:lnTo>
            </a:path>
          </a:pathLst>
        </a:custGeom>
        <a:noFill/>
        <a:ln w="11429" cap="flat" cmpd="sng" algn="ctr">
          <a:solidFill>
            <a:schemeClr val="accent2">
              <a:hueOff val="0"/>
              <a:satOff val="0"/>
              <a:lumOff val="0"/>
              <a:alphaOff val="0"/>
            </a:schemeClr>
          </a:solidFill>
          <a:prstDash val="sysDash"/>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375AAAF9-992E-4878-AE28-8CE935DB9EA0}">
      <dsp:nvSpPr>
        <dsp:cNvPr id="0" name=""/>
        <dsp:cNvSpPr/>
      </dsp:nvSpPr>
      <dsp:spPr>
        <a:xfrm>
          <a:off x="3112676" y="2869894"/>
          <a:ext cx="355373" cy="2771913"/>
        </a:xfrm>
        <a:custGeom>
          <a:avLst/>
          <a:gdLst/>
          <a:ahLst/>
          <a:cxnLst/>
          <a:rect l="0" t="0" r="0" b="0"/>
          <a:pathLst>
            <a:path>
              <a:moveTo>
                <a:pt x="0" y="0"/>
              </a:moveTo>
              <a:lnTo>
                <a:pt x="0" y="2771913"/>
              </a:lnTo>
              <a:lnTo>
                <a:pt x="355373" y="2771913"/>
              </a:lnTo>
            </a:path>
          </a:pathLst>
        </a:custGeom>
        <a:noFill/>
        <a:ln w="11429" cap="flat" cmpd="sng" algn="ctr">
          <a:solidFill>
            <a:schemeClr val="accent3">
              <a:hueOff val="0"/>
              <a:satOff val="0"/>
              <a:lumOff val="0"/>
              <a:alphaOff val="0"/>
            </a:schemeClr>
          </a:solidFill>
          <a:prstDash val="sysDash"/>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FD9AC9C9-C032-41B1-B63C-F04C215D5BD8}">
      <dsp:nvSpPr>
        <dsp:cNvPr id="0" name=""/>
        <dsp:cNvSpPr/>
      </dsp:nvSpPr>
      <dsp:spPr>
        <a:xfrm>
          <a:off x="3112676" y="2869894"/>
          <a:ext cx="355373" cy="1089812"/>
        </a:xfrm>
        <a:custGeom>
          <a:avLst/>
          <a:gdLst/>
          <a:ahLst/>
          <a:cxnLst/>
          <a:rect l="0" t="0" r="0" b="0"/>
          <a:pathLst>
            <a:path>
              <a:moveTo>
                <a:pt x="0" y="0"/>
              </a:moveTo>
              <a:lnTo>
                <a:pt x="0" y="1089812"/>
              </a:lnTo>
              <a:lnTo>
                <a:pt x="355373" y="1089812"/>
              </a:lnTo>
            </a:path>
          </a:pathLst>
        </a:custGeom>
        <a:noFill/>
        <a:ln w="11429" cap="flat" cmpd="sng" algn="ctr">
          <a:solidFill>
            <a:schemeClr val="accent3">
              <a:hueOff val="0"/>
              <a:satOff val="0"/>
              <a:lumOff val="0"/>
              <a:alphaOff val="0"/>
            </a:schemeClr>
          </a:solidFill>
          <a:prstDash val="sysDash"/>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339D149E-B1BE-49A9-8A7F-846684DA7836}">
      <dsp:nvSpPr>
        <dsp:cNvPr id="0" name=""/>
        <dsp:cNvSpPr/>
      </dsp:nvSpPr>
      <dsp:spPr>
        <a:xfrm>
          <a:off x="4014619" y="1187792"/>
          <a:ext cx="91440" cy="497523"/>
        </a:xfrm>
        <a:custGeom>
          <a:avLst/>
          <a:gdLst/>
          <a:ahLst/>
          <a:cxnLst/>
          <a:rect l="0" t="0" r="0" b="0"/>
          <a:pathLst>
            <a:path>
              <a:moveTo>
                <a:pt x="45720" y="0"/>
              </a:moveTo>
              <a:lnTo>
                <a:pt x="45720" y="497523"/>
              </a:lnTo>
            </a:path>
          </a:pathLst>
        </a:custGeom>
        <a:noFill/>
        <a:ln w="11429" cap="flat" cmpd="sng" algn="ctr">
          <a:solidFill>
            <a:schemeClr val="accent2">
              <a:hueOff val="0"/>
              <a:satOff val="0"/>
              <a:lumOff val="0"/>
              <a:alphaOff val="0"/>
            </a:schemeClr>
          </a:solidFill>
          <a:prstDash val="sysDash"/>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37AF96A3-9856-4DF9-8F0D-C68A577610F6}">
      <dsp:nvSpPr>
        <dsp:cNvPr id="0" name=""/>
        <dsp:cNvSpPr/>
      </dsp:nvSpPr>
      <dsp:spPr>
        <a:xfrm>
          <a:off x="245996" y="2869894"/>
          <a:ext cx="355373" cy="2771913"/>
        </a:xfrm>
        <a:custGeom>
          <a:avLst/>
          <a:gdLst/>
          <a:ahLst/>
          <a:cxnLst/>
          <a:rect l="0" t="0" r="0" b="0"/>
          <a:pathLst>
            <a:path>
              <a:moveTo>
                <a:pt x="0" y="0"/>
              </a:moveTo>
              <a:lnTo>
                <a:pt x="0" y="2771913"/>
              </a:lnTo>
              <a:lnTo>
                <a:pt x="355373" y="2771913"/>
              </a:lnTo>
            </a:path>
          </a:pathLst>
        </a:custGeom>
        <a:noFill/>
        <a:ln w="11429" cap="flat" cmpd="sng" algn="ctr">
          <a:solidFill>
            <a:schemeClr val="accent3">
              <a:hueOff val="0"/>
              <a:satOff val="0"/>
              <a:lumOff val="0"/>
              <a:alphaOff val="0"/>
            </a:schemeClr>
          </a:solidFill>
          <a:prstDash val="sysDash"/>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F9707840-EED6-41C1-9201-40C04F6CEFE3}">
      <dsp:nvSpPr>
        <dsp:cNvPr id="0" name=""/>
        <dsp:cNvSpPr/>
      </dsp:nvSpPr>
      <dsp:spPr>
        <a:xfrm>
          <a:off x="245996" y="2869894"/>
          <a:ext cx="355373" cy="1089812"/>
        </a:xfrm>
        <a:custGeom>
          <a:avLst/>
          <a:gdLst/>
          <a:ahLst/>
          <a:cxnLst/>
          <a:rect l="0" t="0" r="0" b="0"/>
          <a:pathLst>
            <a:path>
              <a:moveTo>
                <a:pt x="0" y="0"/>
              </a:moveTo>
              <a:lnTo>
                <a:pt x="0" y="1089812"/>
              </a:lnTo>
              <a:lnTo>
                <a:pt x="355373" y="1089812"/>
              </a:lnTo>
            </a:path>
          </a:pathLst>
        </a:custGeom>
        <a:noFill/>
        <a:ln w="11429" cap="flat" cmpd="sng" algn="ctr">
          <a:solidFill>
            <a:schemeClr val="accent3">
              <a:hueOff val="0"/>
              <a:satOff val="0"/>
              <a:lumOff val="0"/>
              <a:alphaOff val="0"/>
            </a:schemeClr>
          </a:solidFill>
          <a:prstDash val="sysDash"/>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33ACD4FB-6740-4D89-B1AF-3256D92E857B}">
      <dsp:nvSpPr>
        <dsp:cNvPr id="0" name=""/>
        <dsp:cNvSpPr/>
      </dsp:nvSpPr>
      <dsp:spPr>
        <a:xfrm>
          <a:off x="1193659" y="1187792"/>
          <a:ext cx="2866680" cy="497523"/>
        </a:xfrm>
        <a:custGeom>
          <a:avLst/>
          <a:gdLst/>
          <a:ahLst/>
          <a:cxnLst/>
          <a:rect l="0" t="0" r="0" b="0"/>
          <a:pathLst>
            <a:path>
              <a:moveTo>
                <a:pt x="2866680" y="0"/>
              </a:moveTo>
              <a:lnTo>
                <a:pt x="2866680" y="248761"/>
              </a:lnTo>
              <a:lnTo>
                <a:pt x="0" y="248761"/>
              </a:lnTo>
              <a:lnTo>
                <a:pt x="0" y="497523"/>
              </a:lnTo>
            </a:path>
          </a:pathLst>
        </a:custGeom>
        <a:noFill/>
        <a:ln w="11429" cap="flat" cmpd="sng" algn="ctr">
          <a:solidFill>
            <a:schemeClr val="accent2">
              <a:hueOff val="0"/>
              <a:satOff val="0"/>
              <a:lumOff val="0"/>
              <a:alphaOff val="0"/>
            </a:schemeClr>
          </a:solidFill>
          <a:prstDash val="sysDash"/>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5E865D3D-16CA-4491-98E3-134492F2B65B}">
      <dsp:nvSpPr>
        <dsp:cNvPr id="0" name=""/>
        <dsp:cNvSpPr/>
      </dsp:nvSpPr>
      <dsp:spPr>
        <a:xfrm>
          <a:off x="2875760" y="3214"/>
          <a:ext cx="2369157" cy="1184578"/>
        </a:xfrm>
        <a:prstGeom prst="rect">
          <a:avLst/>
        </a:prstGeom>
        <a:solidFill>
          <a:schemeClr val="accent1">
            <a:hueOff val="0"/>
            <a:satOff val="0"/>
            <a:lumOff val="0"/>
            <a:alphaOff val="0"/>
          </a:schemeClr>
        </a:solidFill>
        <a:ln>
          <a:noFill/>
        </a:ln>
        <a:effectLst>
          <a:outerShdw blurRad="50800" dist="254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rtl="0">
            <a:lnSpc>
              <a:spcPct val="90000"/>
            </a:lnSpc>
            <a:spcBef>
              <a:spcPct val="0"/>
            </a:spcBef>
            <a:spcAft>
              <a:spcPct val="35000"/>
            </a:spcAft>
            <a:buNone/>
          </a:pPr>
          <a:r>
            <a:rPr lang="en-GB" sz="2600" kern="1200" dirty="0"/>
            <a:t>Valuation Approaches</a:t>
          </a:r>
        </a:p>
      </dsp:txBody>
      <dsp:txXfrm>
        <a:off x="2875760" y="3214"/>
        <a:ext cx="2369157" cy="1184578"/>
      </dsp:txXfrm>
    </dsp:sp>
    <dsp:sp modelId="{45D3551F-C84F-4BE4-9265-B9280C5EF475}">
      <dsp:nvSpPr>
        <dsp:cNvPr id="0" name=""/>
        <dsp:cNvSpPr/>
      </dsp:nvSpPr>
      <dsp:spPr>
        <a:xfrm>
          <a:off x="9080" y="1685315"/>
          <a:ext cx="2369157" cy="1184578"/>
        </a:xfrm>
        <a:prstGeom prst="rect">
          <a:avLst/>
        </a:prstGeom>
        <a:solidFill>
          <a:schemeClr val="accent2">
            <a:hueOff val="0"/>
            <a:satOff val="0"/>
            <a:lumOff val="0"/>
            <a:alphaOff val="0"/>
          </a:schemeClr>
        </a:solidFill>
        <a:ln>
          <a:noFill/>
        </a:ln>
        <a:effectLst>
          <a:outerShdw blurRad="50800" dist="254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rtl="0">
            <a:lnSpc>
              <a:spcPct val="90000"/>
            </a:lnSpc>
            <a:spcBef>
              <a:spcPct val="0"/>
            </a:spcBef>
            <a:spcAft>
              <a:spcPct val="35000"/>
            </a:spcAft>
            <a:buNone/>
          </a:pPr>
          <a:r>
            <a:rPr lang="en-GB" sz="2600" kern="1200" dirty="0"/>
            <a:t>Equity Valuation Dividends</a:t>
          </a:r>
        </a:p>
      </dsp:txBody>
      <dsp:txXfrm>
        <a:off x="9080" y="1685315"/>
        <a:ext cx="2369157" cy="1184578"/>
      </dsp:txXfrm>
    </dsp:sp>
    <dsp:sp modelId="{26069CEE-1295-4413-9A90-AA0EB536620A}">
      <dsp:nvSpPr>
        <dsp:cNvPr id="0" name=""/>
        <dsp:cNvSpPr/>
      </dsp:nvSpPr>
      <dsp:spPr>
        <a:xfrm>
          <a:off x="601369" y="3367417"/>
          <a:ext cx="2369157" cy="1184578"/>
        </a:xfrm>
        <a:prstGeom prst="rect">
          <a:avLst/>
        </a:prstGeom>
        <a:solidFill>
          <a:schemeClr val="accent3">
            <a:hueOff val="0"/>
            <a:satOff val="0"/>
            <a:lumOff val="0"/>
            <a:alphaOff val="0"/>
          </a:schemeClr>
        </a:solidFill>
        <a:ln>
          <a:noFill/>
        </a:ln>
        <a:effectLst>
          <a:outerShdw blurRad="50800" dist="254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rtl="0">
            <a:lnSpc>
              <a:spcPct val="90000"/>
            </a:lnSpc>
            <a:spcBef>
              <a:spcPct val="0"/>
            </a:spcBef>
            <a:spcAft>
              <a:spcPct val="35000"/>
            </a:spcAft>
            <a:buNone/>
          </a:pPr>
          <a:r>
            <a:rPr lang="en-GB" sz="2600" kern="1200" dirty="0"/>
            <a:t>Dividends</a:t>
          </a:r>
        </a:p>
      </dsp:txBody>
      <dsp:txXfrm>
        <a:off x="601369" y="3367417"/>
        <a:ext cx="2369157" cy="1184578"/>
      </dsp:txXfrm>
    </dsp:sp>
    <dsp:sp modelId="{B3C5DC49-C0C7-4D47-A882-A6A18FCD14A5}">
      <dsp:nvSpPr>
        <dsp:cNvPr id="0" name=""/>
        <dsp:cNvSpPr/>
      </dsp:nvSpPr>
      <dsp:spPr>
        <a:xfrm>
          <a:off x="601369" y="5049519"/>
          <a:ext cx="2369157" cy="1184578"/>
        </a:xfrm>
        <a:prstGeom prst="rect">
          <a:avLst/>
        </a:prstGeom>
        <a:solidFill>
          <a:schemeClr val="accent3">
            <a:hueOff val="0"/>
            <a:satOff val="0"/>
            <a:lumOff val="0"/>
            <a:alphaOff val="0"/>
          </a:schemeClr>
        </a:solidFill>
        <a:ln>
          <a:noFill/>
        </a:ln>
        <a:effectLst>
          <a:outerShdw blurRad="50800" dist="254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rtl="0">
            <a:lnSpc>
              <a:spcPct val="90000"/>
            </a:lnSpc>
            <a:spcBef>
              <a:spcPct val="0"/>
            </a:spcBef>
            <a:spcAft>
              <a:spcPct val="35000"/>
            </a:spcAft>
            <a:buNone/>
          </a:pPr>
          <a:r>
            <a:rPr lang="en-GB" sz="2600" kern="1200" dirty="0"/>
            <a:t>Cost of Equity</a:t>
          </a:r>
        </a:p>
      </dsp:txBody>
      <dsp:txXfrm>
        <a:off x="601369" y="5049519"/>
        <a:ext cx="2369157" cy="1184578"/>
      </dsp:txXfrm>
    </dsp:sp>
    <dsp:sp modelId="{4757FABE-7AD4-4A49-A1DE-26A64CFE6DC9}">
      <dsp:nvSpPr>
        <dsp:cNvPr id="0" name=""/>
        <dsp:cNvSpPr/>
      </dsp:nvSpPr>
      <dsp:spPr>
        <a:xfrm>
          <a:off x="2875760" y="1685315"/>
          <a:ext cx="2369157" cy="1184578"/>
        </a:xfrm>
        <a:prstGeom prst="rect">
          <a:avLst/>
        </a:prstGeom>
        <a:solidFill>
          <a:schemeClr val="accent2">
            <a:hueOff val="0"/>
            <a:satOff val="0"/>
            <a:lumOff val="0"/>
            <a:alphaOff val="0"/>
          </a:schemeClr>
        </a:solidFill>
        <a:ln>
          <a:noFill/>
        </a:ln>
        <a:effectLst>
          <a:outerShdw blurRad="50800" dist="254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rtl="0">
            <a:lnSpc>
              <a:spcPct val="90000"/>
            </a:lnSpc>
            <a:spcBef>
              <a:spcPct val="0"/>
            </a:spcBef>
            <a:spcAft>
              <a:spcPct val="35000"/>
            </a:spcAft>
            <a:buNone/>
          </a:pPr>
          <a:r>
            <a:rPr lang="en-GB" sz="2600" kern="1200" dirty="0"/>
            <a:t>Equity Valuation Cash Flows to Equity</a:t>
          </a:r>
        </a:p>
      </dsp:txBody>
      <dsp:txXfrm>
        <a:off x="2875760" y="1685315"/>
        <a:ext cx="2369157" cy="1184578"/>
      </dsp:txXfrm>
    </dsp:sp>
    <dsp:sp modelId="{3B880701-1A79-4472-962A-11B512DBFE29}">
      <dsp:nvSpPr>
        <dsp:cNvPr id="0" name=""/>
        <dsp:cNvSpPr/>
      </dsp:nvSpPr>
      <dsp:spPr>
        <a:xfrm>
          <a:off x="3468050" y="3367417"/>
          <a:ext cx="2369157" cy="1184578"/>
        </a:xfrm>
        <a:prstGeom prst="rect">
          <a:avLst/>
        </a:prstGeom>
        <a:solidFill>
          <a:schemeClr val="accent3">
            <a:hueOff val="0"/>
            <a:satOff val="0"/>
            <a:lumOff val="0"/>
            <a:alphaOff val="0"/>
          </a:schemeClr>
        </a:solidFill>
        <a:ln>
          <a:noFill/>
        </a:ln>
        <a:effectLst>
          <a:outerShdw blurRad="50800" dist="254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rtl="0">
            <a:lnSpc>
              <a:spcPct val="90000"/>
            </a:lnSpc>
            <a:spcBef>
              <a:spcPct val="0"/>
            </a:spcBef>
            <a:spcAft>
              <a:spcPct val="35000"/>
            </a:spcAft>
            <a:buNone/>
          </a:pPr>
          <a:r>
            <a:rPr lang="en-GB" sz="2600" kern="1200" dirty="0"/>
            <a:t>FCFE</a:t>
          </a:r>
        </a:p>
      </dsp:txBody>
      <dsp:txXfrm>
        <a:off x="3468050" y="3367417"/>
        <a:ext cx="2369157" cy="1184578"/>
      </dsp:txXfrm>
    </dsp:sp>
    <dsp:sp modelId="{68B7C65B-E19F-4F01-9B65-80CE85176B55}">
      <dsp:nvSpPr>
        <dsp:cNvPr id="0" name=""/>
        <dsp:cNvSpPr/>
      </dsp:nvSpPr>
      <dsp:spPr>
        <a:xfrm>
          <a:off x="3468050" y="5049519"/>
          <a:ext cx="2369157" cy="1184578"/>
        </a:xfrm>
        <a:prstGeom prst="rect">
          <a:avLst/>
        </a:prstGeom>
        <a:solidFill>
          <a:schemeClr val="accent3">
            <a:hueOff val="0"/>
            <a:satOff val="0"/>
            <a:lumOff val="0"/>
            <a:alphaOff val="0"/>
          </a:schemeClr>
        </a:solidFill>
        <a:ln>
          <a:noFill/>
        </a:ln>
        <a:effectLst>
          <a:outerShdw blurRad="50800" dist="254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rtl="0">
            <a:lnSpc>
              <a:spcPct val="90000"/>
            </a:lnSpc>
            <a:spcBef>
              <a:spcPct val="0"/>
            </a:spcBef>
            <a:spcAft>
              <a:spcPct val="35000"/>
            </a:spcAft>
            <a:buNone/>
          </a:pPr>
          <a:r>
            <a:rPr lang="en-GB" sz="2600" kern="1200" dirty="0"/>
            <a:t>Cost of Equity</a:t>
          </a:r>
        </a:p>
      </dsp:txBody>
      <dsp:txXfrm>
        <a:off x="3468050" y="5049519"/>
        <a:ext cx="2369157" cy="1184578"/>
      </dsp:txXfrm>
    </dsp:sp>
    <dsp:sp modelId="{0A3FA993-44B4-4C44-A898-40D27CE5D60E}">
      <dsp:nvSpPr>
        <dsp:cNvPr id="0" name=""/>
        <dsp:cNvSpPr/>
      </dsp:nvSpPr>
      <dsp:spPr>
        <a:xfrm>
          <a:off x="5742440" y="1685315"/>
          <a:ext cx="2369157" cy="1184578"/>
        </a:xfrm>
        <a:prstGeom prst="rect">
          <a:avLst/>
        </a:prstGeom>
        <a:solidFill>
          <a:schemeClr val="accent2">
            <a:hueOff val="0"/>
            <a:satOff val="0"/>
            <a:lumOff val="0"/>
            <a:alphaOff val="0"/>
          </a:schemeClr>
        </a:solidFill>
        <a:ln>
          <a:noFill/>
        </a:ln>
        <a:effectLst>
          <a:outerShdw blurRad="50800" dist="254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rtl="0">
            <a:lnSpc>
              <a:spcPct val="90000"/>
            </a:lnSpc>
            <a:spcBef>
              <a:spcPct val="0"/>
            </a:spcBef>
            <a:spcAft>
              <a:spcPct val="35000"/>
            </a:spcAft>
            <a:buNone/>
          </a:pPr>
          <a:r>
            <a:rPr lang="en-GB" sz="2600" kern="1200" dirty="0"/>
            <a:t>Firm Valuation</a:t>
          </a:r>
        </a:p>
      </dsp:txBody>
      <dsp:txXfrm>
        <a:off x="5742440" y="1685315"/>
        <a:ext cx="2369157" cy="1184578"/>
      </dsp:txXfrm>
    </dsp:sp>
    <dsp:sp modelId="{F936887F-7C89-42BE-A6BB-8B945F1563BA}">
      <dsp:nvSpPr>
        <dsp:cNvPr id="0" name=""/>
        <dsp:cNvSpPr/>
      </dsp:nvSpPr>
      <dsp:spPr>
        <a:xfrm>
          <a:off x="6334730" y="3367417"/>
          <a:ext cx="2369157" cy="1184578"/>
        </a:xfrm>
        <a:prstGeom prst="rect">
          <a:avLst/>
        </a:prstGeom>
        <a:solidFill>
          <a:schemeClr val="accent3">
            <a:hueOff val="0"/>
            <a:satOff val="0"/>
            <a:lumOff val="0"/>
            <a:alphaOff val="0"/>
          </a:schemeClr>
        </a:solidFill>
        <a:ln>
          <a:noFill/>
        </a:ln>
        <a:effectLst>
          <a:outerShdw blurRad="50800" dist="254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rtl="0">
            <a:lnSpc>
              <a:spcPct val="90000"/>
            </a:lnSpc>
            <a:spcBef>
              <a:spcPct val="0"/>
            </a:spcBef>
            <a:spcAft>
              <a:spcPct val="35000"/>
            </a:spcAft>
            <a:buNone/>
          </a:pPr>
          <a:r>
            <a:rPr lang="en-GB" sz="2600" kern="1200" dirty="0"/>
            <a:t>FCFF</a:t>
          </a:r>
        </a:p>
      </dsp:txBody>
      <dsp:txXfrm>
        <a:off x="6334730" y="3367417"/>
        <a:ext cx="2369157" cy="1184578"/>
      </dsp:txXfrm>
    </dsp:sp>
    <dsp:sp modelId="{D9828A7B-3C65-49B8-AAAA-37332D843CA9}">
      <dsp:nvSpPr>
        <dsp:cNvPr id="0" name=""/>
        <dsp:cNvSpPr/>
      </dsp:nvSpPr>
      <dsp:spPr>
        <a:xfrm>
          <a:off x="6334730" y="5049519"/>
          <a:ext cx="2369157" cy="1184578"/>
        </a:xfrm>
        <a:prstGeom prst="rect">
          <a:avLst/>
        </a:prstGeom>
        <a:solidFill>
          <a:schemeClr val="accent3">
            <a:hueOff val="0"/>
            <a:satOff val="0"/>
            <a:lumOff val="0"/>
            <a:alphaOff val="0"/>
          </a:schemeClr>
        </a:solidFill>
        <a:ln>
          <a:noFill/>
        </a:ln>
        <a:effectLst>
          <a:outerShdw blurRad="50800" dist="254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rtl="0">
            <a:lnSpc>
              <a:spcPct val="90000"/>
            </a:lnSpc>
            <a:spcBef>
              <a:spcPct val="0"/>
            </a:spcBef>
            <a:spcAft>
              <a:spcPct val="35000"/>
            </a:spcAft>
            <a:buNone/>
          </a:pPr>
          <a:r>
            <a:rPr lang="en-GB" sz="2600" kern="1200" dirty="0"/>
            <a:t>WACC</a:t>
          </a:r>
        </a:p>
      </dsp:txBody>
      <dsp:txXfrm>
        <a:off x="6334730" y="5049519"/>
        <a:ext cx="2369157" cy="118457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D51FF-83EE-4E3C-8E3C-F402F2EB5509}">
      <dsp:nvSpPr>
        <dsp:cNvPr id="0" name=""/>
        <dsp:cNvSpPr/>
      </dsp:nvSpPr>
      <dsp:spPr>
        <a:xfrm>
          <a:off x="0" y="312559"/>
          <a:ext cx="2196244" cy="1407656"/>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99136" tIns="71120" rIns="199136" bIns="71120" numCol="1" spcCol="1270" anchor="ctr" anchorCtr="0">
          <a:noAutofit/>
        </a:bodyPr>
        <a:lstStyle/>
        <a:p>
          <a:pPr marL="0" lvl="0" indent="0" algn="r" defTabSz="1244600" rtl="0">
            <a:lnSpc>
              <a:spcPct val="90000"/>
            </a:lnSpc>
            <a:spcBef>
              <a:spcPct val="0"/>
            </a:spcBef>
            <a:spcAft>
              <a:spcPct val="35000"/>
            </a:spcAft>
            <a:buNone/>
          </a:pPr>
          <a:r>
            <a:rPr lang="en-GB" sz="2800" kern="1200" dirty="0"/>
            <a:t>DCF Input I: </a:t>
          </a:r>
        </a:p>
        <a:p>
          <a:pPr marL="0" lvl="0" indent="0" algn="ctr" defTabSz="1244600" rtl="0">
            <a:lnSpc>
              <a:spcPct val="90000"/>
            </a:lnSpc>
            <a:spcBef>
              <a:spcPct val="0"/>
            </a:spcBef>
            <a:spcAft>
              <a:spcPct val="35000"/>
            </a:spcAft>
            <a:buNone/>
          </a:pPr>
          <a:r>
            <a:rPr lang="en-GB" sz="2800" kern="1200" dirty="0"/>
            <a:t>Cash Flow</a:t>
          </a:r>
        </a:p>
      </dsp:txBody>
      <dsp:txXfrm>
        <a:off x="0" y="312559"/>
        <a:ext cx="2196244" cy="1407656"/>
      </dsp:txXfrm>
    </dsp:sp>
    <dsp:sp modelId="{F6A0D81E-191C-4A02-B990-F849E4C68825}">
      <dsp:nvSpPr>
        <dsp:cNvPr id="0" name=""/>
        <dsp:cNvSpPr/>
      </dsp:nvSpPr>
      <dsp:spPr>
        <a:xfrm>
          <a:off x="2196243" y="290565"/>
          <a:ext cx="439248" cy="1451645"/>
        </a:xfrm>
        <a:prstGeom prst="leftBrace">
          <a:avLst>
            <a:gd name="adj1" fmla="val 35000"/>
            <a:gd name="adj2" fmla="val 50000"/>
          </a:avLst>
        </a:prstGeom>
        <a:noFill/>
        <a:ln w="11429" cap="flat" cmpd="sng" algn="ctr">
          <a:solidFill>
            <a:schemeClr val="accent1">
              <a:hueOff val="0"/>
              <a:satOff val="0"/>
              <a:lumOff val="0"/>
              <a:alphaOff val="0"/>
            </a:schemeClr>
          </a:solidFill>
          <a:prstDash val="sysDash"/>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4D71A39B-6DF1-4FCD-88F0-98401CB51C7D}">
      <dsp:nvSpPr>
        <dsp:cNvPr id="0" name=""/>
        <dsp:cNvSpPr/>
      </dsp:nvSpPr>
      <dsp:spPr>
        <a:xfrm>
          <a:off x="2811192" y="290565"/>
          <a:ext cx="5973783" cy="1451645"/>
        </a:xfrm>
        <a:prstGeom prst="rect">
          <a:avLst/>
        </a:prstGeom>
        <a:solidFill>
          <a:schemeClr val="accent2">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285750" lvl="1" indent="-285750" algn="l" defTabSz="1244600" rtl="0">
            <a:lnSpc>
              <a:spcPct val="90000"/>
            </a:lnSpc>
            <a:spcBef>
              <a:spcPct val="0"/>
            </a:spcBef>
            <a:spcAft>
              <a:spcPct val="15000"/>
            </a:spcAft>
            <a:buChar char="•"/>
          </a:pPr>
          <a:r>
            <a:rPr lang="en-GB" sz="2800" kern="1200"/>
            <a:t>From Earnings to Cash flows</a:t>
          </a:r>
          <a:endParaRPr lang="en-GB" sz="2800" kern="1200" dirty="0"/>
        </a:p>
        <a:p>
          <a:pPr marL="285750" lvl="1" indent="-285750" algn="l" defTabSz="1244600" rtl="0">
            <a:lnSpc>
              <a:spcPct val="90000"/>
            </a:lnSpc>
            <a:spcBef>
              <a:spcPct val="0"/>
            </a:spcBef>
            <a:spcAft>
              <a:spcPct val="15000"/>
            </a:spcAft>
            <a:buChar char="•"/>
          </a:pPr>
          <a:r>
            <a:rPr lang="en-GB" sz="2800" kern="1200"/>
            <a:t>Earnings Adjustments</a:t>
          </a:r>
          <a:endParaRPr lang="en-GB" sz="2800" kern="1200" dirty="0"/>
        </a:p>
        <a:p>
          <a:pPr marL="285750" lvl="1" indent="-285750" algn="l" defTabSz="1244600" rtl="0">
            <a:lnSpc>
              <a:spcPct val="90000"/>
            </a:lnSpc>
            <a:spcBef>
              <a:spcPct val="0"/>
            </a:spcBef>
            <a:spcAft>
              <a:spcPct val="15000"/>
            </a:spcAft>
            <a:buChar char="•"/>
          </a:pPr>
          <a:r>
            <a:rPr lang="en-GB" sz="2800" kern="1200"/>
            <a:t>Re-Investment</a:t>
          </a:r>
          <a:endParaRPr lang="en-GB" sz="2800" kern="1200" dirty="0"/>
        </a:p>
      </dsp:txBody>
      <dsp:txXfrm>
        <a:off x="2811192" y="290565"/>
        <a:ext cx="5973783" cy="1451645"/>
      </dsp:txXfrm>
    </dsp:sp>
    <dsp:sp modelId="{35DD4545-1939-4C74-9DE7-2560C0B22AF4}">
      <dsp:nvSpPr>
        <dsp:cNvPr id="0" name=""/>
        <dsp:cNvSpPr/>
      </dsp:nvSpPr>
      <dsp:spPr>
        <a:xfrm>
          <a:off x="0" y="1998205"/>
          <a:ext cx="2196244" cy="1407656"/>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99136" tIns="71120" rIns="199136" bIns="71120" numCol="1" spcCol="1270" anchor="ctr" anchorCtr="0">
          <a:noAutofit/>
        </a:bodyPr>
        <a:lstStyle/>
        <a:p>
          <a:pPr marL="0" lvl="0" indent="0" algn="r" defTabSz="1244600" rtl="0">
            <a:lnSpc>
              <a:spcPct val="90000"/>
            </a:lnSpc>
            <a:spcBef>
              <a:spcPct val="0"/>
            </a:spcBef>
            <a:spcAft>
              <a:spcPct val="35000"/>
            </a:spcAft>
            <a:buNone/>
          </a:pPr>
          <a:r>
            <a:rPr lang="en-GB" sz="2800" kern="1200" dirty="0"/>
            <a:t>DCF Input II:</a:t>
          </a:r>
        </a:p>
        <a:p>
          <a:pPr marL="0" lvl="0" indent="0" algn="ctr" defTabSz="1244600" rtl="0">
            <a:lnSpc>
              <a:spcPct val="90000"/>
            </a:lnSpc>
            <a:spcBef>
              <a:spcPct val="0"/>
            </a:spcBef>
            <a:spcAft>
              <a:spcPct val="35000"/>
            </a:spcAft>
            <a:buNone/>
          </a:pPr>
          <a:r>
            <a:rPr lang="en-GB" sz="2800" kern="1200" dirty="0"/>
            <a:t> Growth</a:t>
          </a:r>
        </a:p>
      </dsp:txBody>
      <dsp:txXfrm>
        <a:off x="0" y="1998205"/>
        <a:ext cx="2196244" cy="1407656"/>
      </dsp:txXfrm>
    </dsp:sp>
    <dsp:sp modelId="{247C77D1-0978-4F59-8DFC-D61B9E774A22}">
      <dsp:nvSpPr>
        <dsp:cNvPr id="0" name=""/>
        <dsp:cNvSpPr/>
      </dsp:nvSpPr>
      <dsp:spPr>
        <a:xfrm>
          <a:off x="2196243" y="1976210"/>
          <a:ext cx="439248" cy="1451645"/>
        </a:xfrm>
        <a:prstGeom prst="leftBrace">
          <a:avLst>
            <a:gd name="adj1" fmla="val 35000"/>
            <a:gd name="adj2" fmla="val 50000"/>
          </a:avLst>
        </a:prstGeom>
        <a:noFill/>
        <a:ln w="11429" cap="flat" cmpd="sng" algn="ctr">
          <a:solidFill>
            <a:schemeClr val="accent1">
              <a:hueOff val="0"/>
              <a:satOff val="0"/>
              <a:lumOff val="0"/>
              <a:alphaOff val="0"/>
            </a:schemeClr>
          </a:solidFill>
          <a:prstDash val="sysDash"/>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A6735F09-E23E-418A-8DCE-C64578502936}">
      <dsp:nvSpPr>
        <dsp:cNvPr id="0" name=""/>
        <dsp:cNvSpPr/>
      </dsp:nvSpPr>
      <dsp:spPr>
        <a:xfrm>
          <a:off x="2811192" y="1976210"/>
          <a:ext cx="5973783" cy="1451645"/>
        </a:xfrm>
        <a:prstGeom prst="rect">
          <a:avLst/>
        </a:prstGeom>
        <a:solidFill>
          <a:schemeClr val="accent3">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285750" lvl="1" indent="-285750" algn="l" defTabSz="1244600" rtl="0">
            <a:lnSpc>
              <a:spcPct val="90000"/>
            </a:lnSpc>
            <a:spcBef>
              <a:spcPct val="0"/>
            </a:spcBef>
            <a:spcAft>
              <a:spcPct val="15000"/>
            </a:spcAft>
            <a:buChar char="•"/>
          </a:pPr>
          <a:r>
            <a:rPr lang="en-GB" sz="2800" kern="1200" dirty="0"/>
            <a:t>How fast do you expect CF to grow</a:t>
          </a:r>
        </a:p>
        <a:p>
          <a:pPr marL="285750" lvl="1" indent="-285750" algn="l" defTabSz="1244600" rtl="0">
            <a:lnSpc>
              <a:spcPct val="90000"/>
            </a:lnSpc>
            <a:spcBef>
              <a:spcPct val="0"/>
            </a:spcBef>
            <a:spcAft>
              <a:spcPct val="15000"/>
            </a:spcAft>
            <a:buChar char="•"/>
          </a:pPr>
          <a:r>
            <a:rPr lang="en-GB" sz="2800" kern="1200"/>
            <a:t>For how long?</a:t>
          </a:r>
          <a:endParaRPr lang="en-GB" sz="2800" kern="1200" dirty="0"/>
        </a:p>
        <a:p>
          <a:pPr marL="285750" lvl="1" indent="-285750" algn="l" defTabSz="1244600" rtl="0">
            <a:lnSpc>
              <a:spcPct val="90000"/>
            </a:lnSpc>
            <a:spcBef>
              <a:spcPct val="0"/>
            </a:spcBef>
            <a:spcAft>
              <a:spcPct val="15000"/>
            </a:spcAft>
            <a:buChar char="•"/>
          </a:pPr>
          <a:r>
            <a:rPr lang="en-GB" sz="2800" kern="1200"/>
            <a:t>How many stages?</a:t>
          </a:r>
          <a:endParaRPr lang="en-GB" sz="2800" kern="1200" dirty="0"/>
        </a:p>
      </dsp:txBody>
      <dsp:txXfrm>
        <a:off x="2811192" y="1976210"/>
        <a:ext cx="5973783" cy="1451645"/>
      </dsp:txXfrm>
    </dsp:sp>
    <dsp:sp modelId="{742B64F6-490C-46C0-B944-79F38B424822}">
      <dsp:nvSpPr>
        <dsp:cNvPr id="0" name=""/>
        <dsp:cNvSpPr/>
      </dsp:nvSpPr>
      <dsp:spPr>
        <a:xfrm>
          <a:off x="0" y="3717157"/>
          <a:ext cx="2196244" cy="1769625"/>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99136" tIns="71120" rIns="199136" bIns="71120" numCol="1" spcCol="1270" anchor="ctr" anchorCtr="0">
          <a:noAutofit/>
        </a:bodyPr>
        <a:lstStyle/>
        <a:p>
          <a:pPr marL="0" lvl="0" indent="0" algn="r" defTabSz="1244600" rtl="0">
            <a:lnSpc>
              <a:spcPct val="90000"/>
            </a:lnSpc>
            <a:spcBef>
              <a:spcPct val="0"/>
            </a:spcBef>
            <a:spcAft>
              <a:spcPct val="35000"/>
            </a:spcAft>
            <a:buNone/>
          </a:pPr>
          <a:r>
            <a:rPr lang="en-GB" sz="2800" kern="1200" dirty="0"/>
            <a:t>DCF Input III: </a:t>
          </a:r>
        </a:p>
        <a:p>
          <a:pPr marL="0" lvl="0" indent="0" algn="ctr" defTabSz="1244600" rtl="0">
            <a:lnSpc>
              <a:spcPct val="90000"/>
            </a:lnSpc>
            <a:spcBef>
              <a:spcPct val="0"/>
            </a:spcBef>
            <a:spcAft>
              <a:spcPct val="35000"/>
            </a:spcAft>
            <a:buNone/>
          </a:pPr>
          <a:r>
            <a:rPr lang="en-GB" sz="2800" kern="1200" dirty="0"/>
            <a:t>Discount Rate</a:t>
          </a:r>
        </a:p>
      </dsp:txBody>
      <dsp:txXfrm>
        <a:off x="0" y="3717157"/>
        <a:ext cx="2196244" cy="1769625"/>
      </dsp:txXfrm>
    </dsp:sp>
    <dsp:sp modelId="{62FF817B-9802-4299-B01E-CD02FD9F8F68}">
      <dsp:nvSpPr>
        <dsp:cNvPr id="0" name=""/>
        <dsp:cNvSpPr/>
      </dsp:nvSpPr>
      <dsp:spPr>
        <a:xfrm>
          <a:off x="2196243" y="3661856"/>
          <a:ext cx="439248" cy="1880226"/>
        </a:xfrm>
        <a:prstGeom prst="leftBrace">
          <a:avLst>
            <a:gd name="adj1" fmla="val 35000"/>
            <a:gd name="adj2" fmla="val 50000"/>
          </a:avLst>
        </a:prstGeom>
        <a:noFill/>
        <a:ln w="11429" cap="flat" cmpd="sng" algn="ctr">
          <a:solidFill>
            <a:schemeClr val="accent1">
              <a:hueOff val="0"/>
              <a:satOff val="0"/>
              <a:lumOff val="0"/>
              <a:alphaOff val="0"/>
            </a:schemeClr>
          </a:solidFill>
          <a:prstDash val="sysDash"/>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09C02A45-D89D-4D30-9D92-A2E4BDEF4C67}">
      <dsp:nvSpPr>
        <dsp:cNvPr id="0" name=""/>
        <dsp:cNvSpPr/>
      </dsp:nvSpPr>
      <dsp:spPr>
        <a:xfrm>
          <a:off x="2811192" y="3661856"/>
          <a:ext cx="5973783" cy="1880226"/>
        </a:xfrm>
        <a:prstGeom prst="rect">
          <a:avLst/>
        </a:prstGeom>
        <a:solidFill>
          <a:schemeClr val="accent4">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285750" lvl="1" indent="-285750" algn="just" defTabSz="1244600" rtl="0">
            <a:lnSpc>
              <a:spcPct val="90000"/>
            </a:lnSpc>
            <a:spcBef>
              <a:spcPct val="0"/>
            </a:spcBef>
            <a:spcAft>
              <a:spcPct val="15000"/>
            </a:spcAft>
            <a:buChar char="•"/>
          </a:pPr>
          <a:r>
            <a:rPr lang="en-US" sz="2800" kern="1200" dirty="0"/>
            <a:t>What rate reflects risk?</a:t>
          </a:r>
          <a:endParaRPr lang="en-GB" sz="2800" kern="1200" dirty="0"/>
        </a:p>
        <a:p>
          <a:pPr marL="285750" lvl="1" indent="-285750" algn="just" defTabSz="1244600" rtl="0">
            <a:lnSpc>
              <a:spcPct val="90000"/>
            </a:lnSpc>
            <a:spcBef>
              <a:spcPct val="0"/>
            </a:spcBef>
            <a:spcAft>
              <a:spcPct val="15000"/>
            </a:spcAft>
            <a:buChar char="•"/>
          </a:pPr>
          <a:r>
            <a:rPr lang="en-GB" sz="2800" kern="1200" dirty="0"/>
            <a:t>Equity or firm?</a:t>
          </a:r>
        </a:p>
        <a:p>
          <a:pPr marL="285750" lvl="1" indent="-285750" algn="just" defTabSz="1244600" rtl="0">
            <a:lnSpc>
              <a:spcPct val="90000"/>
            </a:lnSpc>
            <a:spcBef>
              <a:spcPct val="0"/>
            </a:spcBef>
            <a:spcAft>
              <a:spcPct val="15000"/>
            </a:spcAft>
            <a:buChar char="•"/>
          </a:pPr>
          <a:r>
            <a:rPr lang="en-GB" sz="2800" kern="1200" dirty="0"/>
            <a:t>Adjustments (inflation, risk)</a:t>
          </a:r>
        </a:p>
        <a:p>
          <a:pPr marL="285750" lvl="1" indent="-285750" algn="just" defTabSz="1244600" rtl="0">
            <a:lnSpc>
              <a:spcPct val="90000"/>
            </a:lnSpc>
            <a:spcBef>
              <a:spcPct val="0"/>
            </a:spcBef>
            <a:spcAft>
              <a:spcPct val="15000"/>
            </a:spcAft>
            <a:buChar char="•"/>
          </a:pPr>
          <a:r>
            <a:rPr lang="en-GB" sz="2800" kern="1200" dirty="0"/>
            <a:t>dr can vary over time</a:t>
          </a:r>
        </a:p>
      </dsp:txBody>
      <dsp:txXfrm>
        <a:off x="2811192" y="3661856"/>
        <a:ext cx="5973783" cy="188022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E42009-7DC1-46D7-8FDA-92A7CB4B47A0}">
      <dsp:nvSpPr>
        <dsp:cNvPr id="0" name=""/>
        <dsp:cNvSpPr/>
      </dsp:nvSpPr>
      <dsp:spPr>
        <a:xfrm>
          <a:off x="0" y="8102"/>
          <a:ext cx="7222703" cy="912600"/>
        </a:xfrm>
        <a:prstGeom prst="roundRect">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GB" sz="3900" kern="1200" dirty="0"/>
            <a:t>Part I: Discounted Cash Flows</a:t>
          </a:r>
        </a:p>
      </dsp:txBody>
      <dsp:txXfrm>
        <a:off x="44549" y="52651"/>
        <a:ext cx="7133605" cy="823502"/>
      </dsp:txXfrm>
    </dsp:sp>
    <dsp:sp modelId="{201D962D-4121-4498-84C4-5284157F574F}">
      <dsp:nvSpPr>
        <dsp:cNvPr id="0" name=""/>
        <dsp:cNvSpPr/>
      </dsp:nvSpPr>
      <dsp:spPr>
        <a:xfrm>
          <a:off x="0" y="920703"/>
          <a:ext cx="7222703" cy="2462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9321" tIns="30480" rIns="170688" bIns="30480" numCol="1" spcCol="1270" anchor="t" anchorCtr="0">
          <a:noAutofit/>
        </a:bodyPr>
        <a:lstStyle/>
        <a:p>
          <a:pPr marL="228600" lvl="1" indent="-228600" algn="l" defTabSz="1200150">
            <a:lnSpc>
              <a:spcPct val="90000"/>
            </a:lnSpc>
            <a:spcBef>
              <a:spcPct val="0"/>
            </a:spcBef>
            <a:spcAft>
              <a:spcPct val="20000"/>
            </a:spcAft>
            <a:buChar char="•"/>
          </a:pPr>
          <a:r>
            <a:rPr lang="en-GB" sz="2700" kern="1200" dirty="0"/>
            <a:t>Discount Rates</a:t>
          </a:r>
        </a:p>
        <a:p>
          <a:pPr marL="457200" lvl="2" indent="-228600" algn="l" defTabSz="1066800">
            <a:lnSpc>
              <a:spcPct val="90000"/>
            </a:lnSpc>
            <a:spcBef>
              <a:spcPct val="0"/>
            </a:spcBef>
            <a:spcAft>
              <a:spcPct val="20000"/>
            </a:spcAft>
            <a:buChar char="•"/>
          </a:pPr>
          <a:r>
            <a:rPr lang="en-GB" sz="2400" kern="1200" dirty="0"/>
            <a:t>(Risk Free Rates and Risk Premiums)</a:t>
          </a:r>
        </a:p>
        <a:p>
          <a:pPr marL="457200" lvl="2" indent="-228600" algn="l" defTabSz="1066800">
            <a:lnSpc>
              <a:spcPct val="90000"/>
            </a:lnSpc>
            <a:spcBef>
              <a:spcPct val="0"/>
            </a:spcBef>
            <a:spcAft>
              <a:spcPct val="20000"/>
            </a:spcAft>
            <a:buChar char="•"/>
          </a:pPr>
          <a:r>
            <a:rPr lang="en-GB" sz="2400" kern="1200" dirty="0"/>
            <a:t>Risk Parameters (Beta/Determinants)</a:t>
          </a:r>
        </a:p>
        <a:p>
          <a:pPr marL="457200" lvl="2" indent="-228600" algn="l" defTabSz="1066800">
            <a:lnSpc>
              <a:spcPct val="90000"/>
            </a:lnSpc>
            <a:spcBef>
              <a:spcPct val="0"/>
            </a:spcBef>
            <a:spcAft>
              <a:spcPct val="20000"/>
            </a:spcAft>
            <a:buChar char="•"/>
          </a:pPr>
          <a:r>
            <a:rPr lang="en-GB" sz="2400" kern="1200" dirty="0"/>
            <a:t>WACC (Cost of Debt, Weights, Tax</a:t>
          </a:r>
          <a:r>
            <a:rPr lang="en-GB" sz="2700" kern="1200" dirty="0"/>
            <a:t>)</a:t>
          </a:r>
        </a:p>
        <a:p>
          <a:pPr marL="228600" lvl="1" indent="-228600" algn="l" defTabSz="1200150">
            <a:lnSpc>
              <a:spcPct val="90000"/>
            </a:lnSpc>
            <a:spcBef>
              <a:spcPct val="0"/>
            </a:spcBef>
            <a:spcAft>
              <a:spcPct val="20000"/>
            </a:spcAft>
            <a:buChar char="•"/>
          </a:pPr>
          <a:r>
            <a:rPr lang="en-GB" sz="2700" kern="1200" dirty="0"/>
            <a:t>Future Cash Flows (Earnings, CF, Growth)</a:t>
          </a:r>
        </a:p>
        <a:p>
          <a:pPr marL="228600" lvl="1" indent="-228600" algn="l" defTabSz="1200150">
            <a:lnSpc>
              <a:spcPct val="90000"/>
            </a:lnSpc>
            <a:spcBef>
              <a:spcPct val="0"/>
            </a:spcBef>
            <a:spcAft>
              <a:spcPct val="20000"/>
            </a:spcAft>
            <a:buChar char="•"/>
          </a:pPr>
          <a:r>
            <a:rPr lang="en-GB" sz="2700" kern="1200" dirty="0"/>
            <a:t>Valuation Examples</a:t>
          </a:r>
        </a:p>
      </dsp:txBody>
      <dsp:txXfrm>
        <a:off x="0" y="920703"/>
        <a:ext cx="7222703" cy="2462265"/>
      </dsp:txXfrm>
    </dsp:sp>
    <dsp:sp modelId="{9E06FE03-3790-40A2-9B5C-6A3565832511}">
      <dsp:nvSpPr>
        <dsp:cNvPr id="0" name=""/>
        <dsp:cNvSpPr/>
      </dsp:nvSpPr>
      <dsp:spPr>
        <a:xfrm>
          <a:off x="0" y="3382968"/>
          <a:ext cx="7222703" cy="912600"/>
        </a:xfrm>
        <a:prstGeom prst="roundRect">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GB" sz="3900" kern="1200" dirty="0"/>
            <a:t>Part II: Relative Valuation</a:t>
          </a:r>
        </a:p>
      </dsp:txBody>
      <dsp:txXfrm>
        <a:off x="44549" y="3427517"/>
        <a:ext cx="7133605" cy="823502"/>
      </dsp:txXfrm>
    </dsp:sp>
    <dsp:sp modelId="{AE4DB4B3-A41D-438B-9D3F-C937CD069A97}">
      <dsp:nvSpPr>
        <dsp:cNvPr id="0" name=""/>
        <dsp:cNvSpPr/>
      </dsp:nvSpPr>
      <dsp:spPr>
        <a:xfrm>
          <a:off x="0" y="4407888"/>
          <a:ext cx="7222703" cy="912600"/>
        </a:xfrm>
        <a:prstGeom prst="roundRect">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GB" sz="3900" kern="1200" dirty="0"/>
            <a:t>Part III: Real Options</a:t>
          </a:r>
        </a:p>
      </dsp:txBody>
      <dsp:txXfrm>
        <a:off x="44549" y="4452437"/>
        <a:ext cx="7133605" cy="82350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DDCF8F-4F91-48A4-B081-A36F6A55A061}">
      <dsp:nvSpPr>
        <dsp:cNvPr id="0" name=""/>
        <dsp:cNvSpPr/>
      </dsp:nvSpPr>
      <dsp:spPr>
        <a:xfrm>
          <a:off x="592708" y="1612"/>
          <a:ext cx="7244208" cy="4346525"/>
        </a:xfrm>
        <a:prstGeom prst="rect">
          <a:avLst/>
        </a:prstGeom>
        <a:solidFill>
          <a:schemeClr val="dk2">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ctr" defTabSz="2311400">
            <a:lnSpc>
              <a:spcPct val="90000"/>
            </a:lnSpc>
            <a:spcBef>
              <a:spcPct val="0"/>
            </a:spcBef>
            <a:spcAft>
              <a:spcPct val="35000"/>
            </a:spcAft>
            <a:buNone/>
          </a:pPr>
          <a:r>
            <a:rPr lang="en-US" sz="5200" b="1" kern="1200" dirty="0"/>
            <a:t>The discount rate of a project should be the expected return on a financial asset of comparable risk.</a:t>
          </a:r>
          <a:endParaRPr lang="en-GB" sz="5200" kern="1200" dirty="0"/>
        </a:p>
      </dsp:txBody>
      <dsp:txXfrm>
        <a:off x="592708" y="1612"/>
        <a:ext cx="7244208" cy="434652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596D5F-34A2-4291-84FA-9A842DD43F13}">
      <dsp:nvSpPr>
        <dsp:cNvPr id="0" name=""/>
        <dsp:cNvSpPr/>
      </dsp:nvSpPr>
      <dsp:spPr>
        <a:xfrm>
          <a:off x="360300" y="112030"/>
          <a:ext cx="3797562" cy="1504408"/>
        </a:xfrm>
        <a:prstGeom prst="ellipse">
          <a:avLst/>
        </a:prstGeom>
        <a:solidFill>
          <a:schemeClr val="accent2">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GB" sz="3200" kern="1200" dirty="0"/>
            <a:t>Systematic </a:t>
          </a:r>
        </a:p>
        <a:p>
          <a:pPr marL="0" lvl="0" indent="0" algn="ctr" defTabSz="1422400">
            <a:lnSpc>
              <a:spcPct val="90000"/>
            </a:lnSpc>
            <a:spcBef>
              <a:spcPct val="0"/>
            </a:spcBef>
            <a:spcAft>
              <a:spcPct val="35000"/>
            </a:spcAft>
            <a:buNone/>
          </a:pPr>
          <a:r>
            <a:rPr lang="en-GB" sz="3200" kern="1200" dirty="0"/>
            <a:t>Risk</a:t>
          </a:r>
        </a:p>
      </dsp:txBody>
      <dsp:txXfrm>
        <a:off x="916440" y="332345"/>
        <a:ext cx="2685282" cy="1063778"/>
      </dsp:txXfrm>
    </dsp:sp>
    <dsp:sp modelId="{9E4BEC3E-70C8-45D6-9E8F-5F6148C12E3F}">
      <dsp:nvSpPr>
        <dsp:cNvPr id="0" name=""/>
        <dsp:cNvSpPr/>
      </dsp:nvSpPr>
      <dsp:spPr>
        <a:xfrm>
          <a:off x="1822803" y="1738596"/>
          <a:ext cx="872556" cy="872556"/>
        </a:xfrm>
        <a:prstGeom prst="mathPlus">
          <a:avLst/>
        </a:prstGeom>
        <a:solidFill>
          <a:schemeClr val="accent2">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GB" sz="2400" kern="1200"/>
        </a:p>
      </dsp:txBody>
      <dsp:txXfrm>
        <a:off x="1938460" y="2072261"/>
        <a:ext cx="641242" cy="205226"/>
      </dsp:txXfrm>
    </dsp:sp>
    <dsp:sp modelId="{0F961CA6-3A1E-4015-9844-608001FEF7F7}">
      <dsp:nvSpPr>
        <dsp:cNvPr id="0" name=""/>
        <dsp:cNvSpPr/>
      </dsp:nvSpPr>
      <dsp:spPr>
        <a:xfrm>
          <a:off x="1123" y="2733311"/>
          <a:ext cx="4515917" cy="1504408"/>
        </a:xfrm>
        <a:prstGeom prst="ellipse">
          <a:avLst/>
        </a:prstGeom>
        <a:solidFill>
          <a:schemeClr val="accent2">
            <a:hueOff val="-4533602"/>
            <a:satOff val="2618"/>
            <a:lumOff val="-4804"/>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GB" sz="3200" kern="1200" dirty="0"/>
            <a:t>Unsystematic Risk</a:t>
          </a:r>
        </a:p>
      </dsp:txBody>
      <dsp:txXfrm>
        <a:off x="662464" y="2953626"/>
        <a:ext cx="3193235" cy="1063778"/>
      </dsp:txXfrm>
    </dsp:sp>
    <dsp:sp modelId="{A6B01E56-A91C-4D72-88FF-C7C7EE07CAC7}">
      <dsp:nvSpPr>
        <dsp:cNvPr id="0" name=""/>
        <dsp:cNvSpPr/>
      </dsp:nvSpPr>
      <dsp:spPr>
        <a:xfrm>
          <a:off x="4742701" y="1895055"/>
          <a:ext cx="478401" cy="559639"/>
        </a:xfrm>
        <a:prstGeom prst="rightArrow">
          <a:avLst>
            <a:gd name="adj1" fmla="val 60000"/>
            <a:gd name="adj2" fmla="val 50000"/>
          </a:avLst>
        </a:prstGeom>
        <a:solidFill>
          <a:schemeClr val="accent2">
            <a:hueOff val="-9067203"/>
            <a:satOff val="5236"/>
            <a:lumOff val="-9607"/>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GB" sz="2400" kern="1200"/>
        </a:p>
      </dsp:txBody>
      <dsp:txXfrm>
        <a:off x="4742701" y="2006983"/>
        <a:ext cx="334881" cy="335783"/>
      </dsp:txXfrm>
    </dsp:sp>
    <dsp:sp modelId="{62ABD5DC-2EFF-4F0E-8C83-557501ECC231}">
      <dsp:nvSpPr>
        <dsp:cNvPr id="0" name=""/>
        <dsp:cNvSpPr/>
      </dsp:nvSpPr>
      <dsp:spPr>
        <a:xfrm>
          <a:off x="5419685" y="670466"/>
          <a:ext cx="3008816" cy="3008816"/>
        </a:xfrm>
        <a:prstGeom prst="ellipse">
          <a:avLst/>
        </a:prstGeom>
        <a:solidFill>
          <a:schemeClr val="accent2">
            <a:hueOff val="-9067203"/>
            <a:satOff val="5236"/>
            <a:lumOff val="-9607"/>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GB" sz="3200" kern="1200" dirty="0"/>
            <a:t>Total Risk</a:t>
          </a:r>
        </a:p>
      </dsp:txBody>
      <dsp:txXfrm>
        <a:off x="5860316" y="1111097"/>
        <a:ext cx="2127554" cy="212755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D7FE09-864C-4067-BD07-D7EE8F6E0625}">
      <dsp:nvSpPr>
        <dsp:cNvPr id="0" name=""/>
        <dsp:cNvSpPr/>
      </dsp:nvSpPr>
      <dsp:spPr>
        <a:xfrm>
          <a:off x="0" y="270868"/>
          <a:ext cx="8503920" cy="992250"/>
        </a:xfrm>
        <a:prstGeom prst="rect">
          <a:avLst/>
        </a:prstGeom>
        <a:solidFill>
          <a:schemeClr val="lt1">
            <a:alpha val="90000"/>
            <a:hueOff val="0"/>
            <a:satOff val="0"/>
            <a:lumOff val="0"/>
            <a:alphaOff val="0"/>
          </a:schemeClr>
        </a:solidFill>
        <a:ln w="11429" cap="flat" cmpd="sng" algn="ctr">
          <a:solidFill>
            <a:schemeClr val="accent1">
              <a:hueOff val="0"/>
              <a:satOff val="0"/>
              <a:lumOff val="0"/>
              <a:alphaOff val="0"/>
            </a:schemeClr>
          </a:solidFill>
          <a:prstDash val="sysDash"/>
        </a:ln>
        <a:effectLst/>
      </dsp:spPr>
      <dsp:style>
        <a:lnRef idx="2">
          <a:scrgbClr r="0" g="0" b="0"/>
        </a:lnRef>
        <a:fillRef idx="1">
          <a:scrgbClr r="0" g="0" b="0"/>
        </a:fillRef>
        <a:effectRef idx="0">
          <a:scrgbClr r="0" g="0" b="0"/>
        </a:effectRef>
        <a:fontRef idx="minor"/>
      </dsp:style>
      <dsp:txBody>
        <a:bodyPr spcFirstLastPara="0" vert="horz" wrap="square" lIns="659999" tIns="374904" rIns="659999" bIns="128016" numCol="1" spcCol="1270" anchor="t" anchorCtr="0">
          <a:noAutofit/>
        </a:bodyPr>
        <a:lstStyle/>
        <a:p>
          <a:pPr marL="171450" lvl="1" indent="-171450" algn="l" defTabSz="800100" rtl="0">
            <a:lnSpc>
              <a:spcPct val="90000"/>
            </a:lnSpc>
            <a:spcBef>
              <a:spcPct val="0"/>
            </a:spcBef>
            <a:spcAft>
              <a:spcPct val="15000"/>
            </a:spcAft>
            <a:buChar char="•"/>
          </a:pPr>
          <a:r>
            <a:rPr lang="en-US" sz="1800" kern="1200" dirty="0"/>
            <a:t>The cost of equity should be </a:t>
          </a:r>
          <a:r>
            <a:rPr lang="en-US" sz="1800" u="sng" kern="1200" dirty="0"/>
            <a:t>higher for riskier investments</a:t>
          </a:r>
          <a:r>
            <a:rPr lang="en-US" sz="1800" kern="1200" dirty="0"/>
            <a:t> and lower for safer investments</a:t>
          </a:r>
          <a:endParaRPr lang="en-GB" sz="1800" kern="1200" dirty="0"/>
        </a:p>
      </dsp:txBody>
      <dsp:txXfrm>
        <a:off x="0" y="270868"/>
        <a:ext cx="8503920" cy="992250"/>
      </dsp:txXfrm>
    </dsp:sp>
    <dsp:sp modelId="{0EB5D736-EE59-4953-A85D-BD38B31AD65F}">
      <dsp:nvSpPr>
        <dsp:cNvPr id="0" name=""/>
        <dsp:cNvSpPr/>
      </dsp:nvSpPr>
      <dsp:spPr>
        <a:xfrm>
          <a:off x="425196" y="5188"/>
          <a:ext cx="5952744" cy="531360"/>
        </a:xfrm>
        <a:prstGeom prst="roundRect">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225000" tIns="0" rIns="225000" bIns="0" numCol="1" spcCol="1270" anchor="ctr" anchorCtr="0">
          <a:noAutofit/>
        </a:bodyPr>
        <a:lstStyle/>
        <a:p>
          <a:pPr marL="0" lvl="0" indent="0" algn="l" defTabSz="800100" rtl="0">
            <a:lnSpc>
              <a:spcPct val="90000"/>
            </a:lnSpc>
            <a:spcBef>
              <a:spcPct val="0"/>
            </a:spcBef>
            <a:spcAft>
              <a:spcPct val="35000"/>
            </a:spcAft>
            <a:buNone/>
          </a:pPr>
          <a:r>
            <a:rPr lang="en-US" sz="1800" kern="1200" dirty="0"/>
            <a:t>Risk and Return</a:t>
          </a:r>
          <a:endParaRPr lang="en-GB" sz="1800" kern="1200" dirty="0"/>
        </a:p>
      </dsp:txBody>
      <dsp:txXfrm>
        <a:off x="451135" y="31127"/>
        <a:ext cx="5900866" cy="479482"/>
      </dsp:txXfrm>
    </dsp:sp>
    <dsp:sp modelId="{7641B8F5-8981-402B-8FE4-5B0F422E6E53}">
      <dsp:nvSpPr>
        <dsp:cNvPr id="0" name=""/>
        <dsp:cNvSpPr/>
      </dsp:nvSpPr>
      <dsp:spPr>
        <a:xfrm>
          <a:off x="0" y="1625998"/>
          <a:ext cx="8503920" cy="1672650"/>
        </a:xfrm>
        <a:prstGeom prst="rect">
          <a:avLst/>
        </a:prstGeom>
        <a:solidFill>
          <a:schemeClr val="lt1">
            <a:alpha val="90000"/>
            <a:hueOff val="0"/>
            <a:satOff val="0"/>
            <a:lumOff val="0"/>
            <a:alphaOff val="0"/>
          </a:schemeClr>
        </a:solidFill>
        <a:ln w="11429" cap="flat" cmpd="sng" algn="ctr">
          <a:solidFill>
            <a:schemeClr val="accent1">
              <a:hueOff val="0"/>
              <a:satOff val="0"/>
              <a:lumOff val="0"/>
              <a:alphaOff val="0"/>
            </a:schemeClr>
          </a:solidFill>
          <a:prstDash val="sysDash"/>
        </a:ln>
        <a:effectLst/>
      </dsp:spPr>
      <dsp:style>
        <a:lnRef idx="2">
          <a:scrgbClr r="0" g="0" b="0"/>
        </a:lnRef>
        <a:fillRef idx="1">
          <a:scrgbClr r="0" g="0" b="0"/>
        </a:fillRef>
        <a:effectRef idx="0">
          <a:scrgbClr r="0" g="0" b="0"/>
        </a:effectRef>
        <a:fontRef idx="minor"/>
      </dsp:style>
      <dsp:txBody>
        <a:bodyPr spcFirstLastPara="0" vert="horz" wrap="square" lIns="659999" tIns="374904" rIns="659999" bIns="128016" numCol="1" spcCol="1270" anchor="t" anchorCtr="0">
          <a:noAutofit/>
        </a:bodyPr>
        <a:lstStyle/>
        <a:p>
          <a:pPr marL="171450" lvl="1" indent="-171450" algn="l" defTabSz="800100" rtl="0">
            <a:lnSpc>
              <a:spcPct val="90000"/>
            </a:lnSpc>
            <a:spcBef>
              <a:spcPct val="0"/>
            </a:spcBef>
            <a:spcAft>
              <a:spcPct val="15000"/>
            </a:spcAft>
            <a:buChar char="•"/>
          </a:pPr>
          <a:r>
            <a:rPr lang="en-US" sz="1800" kern="1200" dirty="0"/>
            <a:t>While risk is usually defined in terms of the variance of actual returns around an expected return, risk and return models in finance assume that the risk that should be rewarded (and thus built into the discount rate) in valuation should be the risk perceived by the </a:t>
          </a:r>
          <a:r>
            <a:rPr lang="en-US" sz="1800" u="sng" kern="1200" dirty="0"/>
            <a:t>marginal investor</a:t>
          </a:r>
          <a:r>
            <a:rPr lang="en-US" sz="1800" kern="1200" dirty="0"/>
            <a:t> in the investment</a:t>
          </a:r>
          <a:endParaRPr lang="en-GB" sz="1800" kern="1200" dirty="0"/>
        </a:p>
      </dsp:txBody>
      <dsp:txXfrm>
        <a:off x="0" y="1625998"/>
        <a:ext cx="8503920" cy="1672650"/>
      </dsp:txXfrm>
    </dsp:sp>
    <dsp:sp modelId="{469DF0E1-CBF6-4E38-AC52-D4F840167E13}">
      <dsp:nvSpPr>
        <dsp:cNvPr id="0" name=""/>
        <dsp:cNvSpPr/>
      </dsp:nvSpPr>
      <dsp:spPr>
        <a:xfrm>
          <a:off x="425196" y="1360318"/>
          <a:ext cx="5952744" cy="531360"/>
        </a:xfrm>
        <a:prstGeom prst="roundRect">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225000" tIns="0" rIns="225000" bIns="0" numCol="1" spcCol="1270" anchor="ctr" anchorCtr="0">
          <a:noAutofit/>
        </a:bodyPr>
        <a:lstStyle/>
        <a:p>
          <a:pPr marL="0" lvl="0" indent="0" algn="l" defTabSz="800100" rtl="0">
            <a:lnSpc>
              <a:spcPct val="90000"/>
            </a:lnSpc>
            <a:spcBef>
              <a:spcPct val="0"/>
            </a:spcBef>
            <a:spcAft>
              <a:spcPct val="35000"/>
            </a:spcAft>
            <a:buNone/>
          </a:pPr>
          <a:r>
            <a:rPr lang="en-US" sz="1800" kern="1200" dirty="0"/>
            <a:t>Risk and Discount Rate</a:t>
          </a:r>
          <a:endParaRPr lang="en-GB" sz="1800" kern="1200" dirty="0"/>
        </a:p>
      </dsp:txBody>
      <dsp:txXfrm>
        <a:off x="451135" y="1386257"/>
        <a:ext cx="5900866" cy="479482"/>
      </dsp:txXfrm>
    </dsp:sp>
    <dsp:sp modelId="{77CA58AE-F2B8-4F85-BAE2-F4D6FA6AEC0C}">
      <dsp:nvSpPr>
        <dsp:cNvPr id="0" name=""/>
        <dsp:cNvSpPr/>
      </dsp:nvSpPr>
      <dsp:spPr>
        <a:xfrm>
          <a:off x="0" y="3661529"/>
          <a:ext cx="8503920" cy="1445850"/>
        </a:xfrm>
        <a:prstGeom prst="rect">
          <a:avLst/>
        </a:prstGeom>
        <a:solidFill>
          <a:schemeClr val="lt1">
            <a:alpha val="90000"/>
            <a:hueOff val="0"/>
            <a:satOff val="0"/>
            <a:lumOff val="0"/>
            <a:alphaOff val="0"/>
          </a:schemeClr>
        </a:solidFill>
        <a:ln w="11429" cap="flat" cmpd="sng" algn="ctr">
          <a:solidFill>
            <a:schemeClr val="accent1">
              <a:hueOff val="0"/>
              <a:satOff val="0"/>
              <a:lumOff val="0"/>
              <a:alphaOff val="0"/>
            </a:schemeClr>
          </a:solidFill>
          <a:prstDash val="sysDash"/>
        </a:ln>
        <a:effectLst/>
      </dsp:spPr>
      <dsp:style>
        <a:lnRef idx="2">
          <a:scrgbClr r="0" g="0" b="0"/>
        </a:lnRef>
        <a:fillRef idx="1">
          <a:scrgbClr r="0" g="0" b="0"/>
        </a:fillRef>
        <a:effectRef idx="0">
          <a:scrgbClr r="0" g="0" b="0"/>
        </a:effectRef>
        <a:fontRef idx="minor"/>
      </dsp:style>
      <dsp:txBody>
        <a:bodyPr spcFirstLastPara="0" vert="horz" wrap="square" lIns="659999" tIns="374904" rIns="659999" bIns="128016" numCol="1" spcCol="1270" anchor="t" anchorCtr="0">
          <a:noAutofit/>
        </a:bodyPr>
        <a:lstStyle/>
        <a:p>
          <a:pPr marL="171450" lvl="1" indent="-171450" algn="l" defTabSz="800100" rtl="0">
            <a:lnSpc>
              <a:spcPct val="90000"/>
            </a:lnSpc>
            <a:spcBef>
              <a:spcPct val="0"/>
            </a:spcBef>
            <a:spcAft>
              <a:spcPct val="15000"/>
            </a:spcAft>
            <a:buChar char="•"/>
          </a:pPr>
          <a:r>
            <a:rPr lang="en-US" sz="1800" kern="1200" dirty="0"/>
            <a:t>Most risk and return models in finance also assume that the marginal investor is </a:t>
          </a:r>
          <a:r>
            <a:rPr lang="en-US" sz="1800" u="sng" kern="1200" dirty="0"/>
            <a:t>well diversified</a:t>
          </a:r>
          <a:r>
            <a:rPr lang="en-US" sz="1800" kern="1200" dirty="0"/>
            <a:t>, and that the only risk that he or she perceives in an investment is risk that cannot be diversified away (</a:t>
          </a:r>
          <a:r>
            <a:rPr lang="en-US" sz="1800" kern="1200" dirty="0" err="1"/>
            <a:t>i.e</a:t>
          </a:r>
          <a:r>
            <a:rPr lang="en-US" sz="1800" kern="1200" dirty="0"/>
            <a:t>, market or non-diversifiable risk)</a:t>
          </a:r>
          <a:endParaRPr lang="en-GB" sz="1800" kern="1200" dirty="0"/>
        </a:p>
      </dsp:txBody>
      <dsp:txXfrm>
        <a:off x="0" y="3661529"/>
        <a:ext cx="8503920" cy="1445850"/>
      </dsp:txXfrm>
    </dsp:sp>
    <dsp:sp modelId="{440C09DC-0CAA-4A0E-9FD6-C52AD85C16D7}">
      <dsp:nvSpPr>
        <dsp:cNvPr id="0" name=""/>
        <dsp:cNvSpPr/>
      </dsp:nvSpPr>
      <dsp:spPr>
        <a:xfrm>
          <a:off x="425196" y="3395849"/>
          <a:ext cx="5952744" cy="531360"/>
        </a:xfrm>
        <a:prstGeom prst="roundRect">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225000" tIns="0" rIns="225000" bIns="0" numCol="1" spcCol="1270" anchor="ctr" anchorCtr="0">
          <a:noAutofit/>
        </a:bodyPr>
        <a:lstStyle/>
        <a:p>
          <a:pPr marL="0" lvl="0" indent="0" algn="l" defTabSz="800100" rtl="0">
            <a:lnSpc>
              <a:spcPct val="90000"/>
            </a:lnSpc>
            <a:spcBef>
              <a:spcPct val="0"/>
            </a:spcBef>
            <a:spcAft>
              <a:spcPct val="35000"/>
            </a:spcAft>
            <a:buNone/>
          </a:pPr>
          <a:r>
            <a:rPr lang="en-US" sz="1800" kern="1200" dirty="0"/>
            <a:t>Type of Risk</a:t>
          </a:r>
          <a:endParaRPr lang="en-GB" sz="1800" kern="1200" dirty="0"/>
        </a:p>
      </dsp:txBody>
      <dsp:txXfrm>
        <a:off x="451135" y="3421788"/>
        <a:ext cx="5900866" cy="47948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62559F-5824-434D-AEC9-B24D34B234FC}">
      <dsp:nvSpPr>
        <dsp:cNvPr id="0" name=""/>
        <dsp:cNvSpPr/>
      </dsp:nvSpPr>
      <dsp:spPr>
        <a:xfrm>
          <a:off x="10795" y="528752"/>
          <a:ext cx="1885893" cy="3215664"/>
        </a:xfrm>
        <a:prstGeom prst="roundRect">
          <a:avLst>
            <a:gd name="adj" fmla="val 10000"/>
          </a:avLst>
        </a:prstGeom>
        <a:solidFill>
          <a:schemeClr val="accent1">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dirty="0"/>
            <a:t>How Firms Borrow Capital</a:t>
          </a:r>
        </a:p>
      </dsp:txBody>
      <dsp:txXfrm>
        <a:off x="66031" y="583988"/>
        <a:ext cx="1775421" cy="3105192"/>
      </dsp:txXfrm>
    </dsp:sp>
    <dsp:sp modelId="{187CD1C7-8DDD-4F7F-A6FC-37E99A8C4366}">
      <dsp:nvSpPr>
        <dsp:cNvPr id="0" name=""/>
        <dsp:cNvSpPr/>
      </dsp:nvSpPr>
      <dsp:spPr>
        <a:xfrm rot="16577689">
          <a:off x="1174544" y="1326789"/>
          <a:ext cx="1622149" cy="7221"/>
        </a:xfrm>
        <a:custGeom>
          <a:avLst/>
          <a:gdLst/>
          <a:ahLst/>
          <a:cxnLst/>
          <a:rect l="0" t="0" r="0" b="0"/>
          <a:pathLst>
            <a:path>
              <a:moveTo>
                <a:pt x="0" y="3610"/>
              </a:moveTo>
              <a:lnTo>
                <a:pt x="1622149" y="3610"/>
              </a:lnTo>
            </a:path>
          </a:pathLst>
        </a:custGeom>
        <a:noFill/>
        <a:ln w="11429" cap="flat" cmpd="sng" algn="ctr">
          <a:solidFill>
            <a:schemeClr val="accent2">
              <a:hueOff val="0"/>
              <a:satOff val="0"/>
              <a:lumOff val="0"/>
              <a:alphaOff val="0"/>
            </a:schemeClr>
          </a:solidFill>
          <a:prstDash val="sysDash"/>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GB" sz="400" kern="1200"/>
        </a:p>
      </dsp:txBody>
      <dsp:txXfrm>
        <a:off x="1945065" y="1289846"/>
        <a:ext cx="81107" cy="81107"/>
      </dsp:txXfrm>
    </dsp:sp>
    <dsp:sp modelId="{B4CA60BB-F88A-4BA6-B2C7-48B410C65C92}">
      <dsp:nvSpPr>
        <dsp:cNvPr id="0" name=""/>
        <dsp:cNvSpPr/>
      </dsp:nvSpPr>
      <dsp:spPr>
        <a:xfrm>
          <a:off x="2074548" y="0"/>
          <a:ext cx="1885893" cy="1048431"/>
        </a:xfrm>
        <a:prstGeom prst="roundRect">
          <a:avLst>
            <a:gd name="adj" fmla="val 10000"/>
          </a:avLst>
        </a:prstGeom>
        <a:solidFill>
          <a:schemeClr val="accent2">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dirty="0"/>
            <a:t>Equity</a:t>
          </a:r>
        </a:p>
      </dsp:txBody>
      <dsp:txXfrm>
        <a:off x="2105255" y="30707"/>
        <a:ext cx="1824479" cy="987017"/>
      </dsp:txXfrm>
    </dsp:sp>
    <dsp:sp modelId="{4F4D4059-A739-4AD4-8D06-8CCA55F7F1DD}">
      <dsp:nvSpPr>
        <dsp:cNvPr id="0" name=""/>
        <dsp:cNvSpPr/>
      </dsp:nvSpPr>
      <dsp:spPr>
        <a:xfrm>
          <a:off x="3960442" y="520604"/>
          <a:ext cx="170748" cy="7221"/>
        </a:xfrm>
        <a:custGeom>
          <a:avLst/>
          <a:gdLst/>
          <a:ahLst/>
          <a:cxnLst/>
          <a:rect l="0" t="0" r="0" b="0"/>
          <a:pathLst>
            <a:path>
              <a:moveTo>
                <a:pt x="0" y="3610"/>
              </a:moveTo>
              <a:lnTo>
                <a:pt x="170748" y="3610"/>
              </a:lnTo>
            </a:path>
          </a:pathLst>
        </a:custGeom>
        <a:noFill/>
        <a:ln w="11429" cap="flat" cmpd="sng" algn="ctr">
          <a:solidFill>
            <a:schemeClr val="accent3">
              <a:hueOff val="0"/>
              <a:satOff val="0"/>
              <a:lumOff val="0"/>
              <a:alphaOff val="0"/>
            </a:schemeClr>
          </a:solidFill>
          <a:prstDash val="sysDash"/>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GB" sz="400" kern="1200"/>
        </a:p>
      </dsp:txBody>
      <dsp:txXfrm>
        <a:off x="4041548" y="519946"/>
        <a:ext cx="8537" cy="8537"/>
      </dsp:txXfrm>
    </dsp:sp>
    <dsp:sp modelId="{DA377B6A-DB48-4971-93DA-53F185F41243}">
      <dsp:nvSpPr>
        <dsp:cNvPr id="0" name=""/>
        <dsp:cNvSpPr/>
      </dsp:nvSpPr>
      <dsp:spPr>
        <a:xfrm>
          <a:off x="4131190" y="0"/>
          <a:ext cx="4238773" cy="1048431"/>
        </a:xfrm>
        <a:prstGeom prst="roundRect">
          <a:avLst>
            <a:gd name="adj" fmla="val 10000"/>
          </a:avLst>
        </a:prstGeom>
        <a:solidFill>
          <a:schemeClr val="accent3">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dirty="0"/>
            <a:t>Ordinary</a:t>
          </a:r>
          <a:endParaRPr lang="en-GB" sz="2800" kern="1200" baseline="-25000" dirty="0"/>
        </a:p>
      </dsp:txBody>
      <dsp:txXfrm>
        <a:off x="4161897" y="30707"/>
        <a:ext cx="4177359" cy="987017"/>
      </dsp:txXfrm>
    </dsp:sp>
    <dsp:sp modelId="{8C415F13-688D-4E03-BEED-BB953162DAB2}">
      <dsp:nvSpPr>
        <dsp:cNvPr id="0" name=""/>
        <dsp:cNvSpPr/>
      </dsp:nvSpPr>
      <dsp:spPr>
        <a:xfrm rot="18169091">
          <a:off x="1823036" y="1997834"/>
          <a:ext cx="321608" cy="7221"/>
        </a:xfrm>
        <a:custGeom>
          <a:avLst/>
          <a:gdLst/>
          <a:ahLst/>
          <a:cxnLst/>
          <a:rect l="0" t="0" r="0" b="0"/>
          <a:pathLst>
            <a:path>
              <a:moveTo>
                <a:pt x="0" y="3610"/>
              </a:moveTo>
              <a:lnTo>
                <a:pt x="321608" y="3610"/>
              </a:lnTo>
            </a:path>
          </a:pathLst>
        </a:custGeom>
        <a:noFill/>
        <a:ln w="11429" cap="flat" cmpd="sng" algn="ctr">
          <a:solidFill>
            <a:schemeClr val="accent2">
              <a:hueOff val="0"/>
              <a:satOff val="0"/>
              <a:lumOff val="0"/>
              <a:alphaOff val="0"/>
            </a:schemeClr>
          </a:solidFill>
          <a:prstDash val="sysDash"/>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1975800" y="1993405"/>
        <a:ext cx="16080" cy="16080"/>
      </dsp:txXfrm>
    </dsp:sp>
    <dsp:sp modelId="{1289FFD6-26B2-4CC2-8AA0-45222722674E}">
      <dsp:nvSpPr>
        <dsp:cNvPr id="0" name=""/>
        <dsp:cNvSpPr/>
      </dsp:nvSpPr>
      <dsp:spPr>
        <a:xfrm>
          <a:off x="2070993" y="1337611"/>
          <a:ext cx="1875923" cy="1057390"/>
        </a:xfrm>
        <a:prstGeom prst="roundRect">
          <a:avLst>
            <a:gd name="adj" fmla="val 10000"/>
          </a:avLst>
        </a:prstGeom>
        <a:solidFill>
          <a:schemeClr val="accent2">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GB" sz="2600" kern="1200" dirty="0"/>
            <a:t>Hybrid Borrowing</a:t>
          </a:r>
        </a:p>
      </dsp:txBody>
      <dsp:txXfrm>
        <a:off x="2101963" y="1368581"/>
        <a:ext cx="1813983" cy="995450"/>
      </dsp:txXfrm>
    </dsp:sp>
    <dsp:sp modelId="{78535EAF-F1CC-4758-8FBF-C85C32742476}">
      <dsp:nvSpPr>
        <dsp:cNvPr id="0" name=""/>
        <dsp:cNvSpPr/>
      </dsp:nvSpPr>
      <dsp:spPr>
        <a:xfrm rot="20672792">
          <a:off x="3943647" y="1838602"/>
          <a:ext cx="180841" cy="7221"/>
        </a:xfrm>
        <a:custGeom>
          <a:avLst/>
          <a:gdLst/>
          <a:ahLst/>
          <a:cxnLst/>
          <a:rect l="0" t="0" r="0" b="0"/>
          <a:pathLst>
            <a:path>
              <a:moveTo>
                <a:pt x="0" y="3610"/>
              </a:moveTo>
              <a:lnTo>
                <a:pt x="180841" y="3610"/>
              </a:lnTo>
            </a:path>
          </a:pathLst>
        </a:custGeom>
        <a:noFill/>
        <a:ln w="11429" cap="flat" cmpd="sng" algn="ctr">
          <a:solidFill>
            <a:schemeClr val="accent3">
              <a:hueOff val="0"/>
              <a:satOff val="0"/>
              <a:lumOff val="0"/>
              <a:alphaOff val="0"/>
            </a:schemeClr>
          </a:solidFill>
          <a:prstDash val="sysDash"/>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4029547" y="1837692"/>
        <a:ext cx="9042" cy="9042"/>
      </dsp:txXfrm>
    </dsp:sp>
    <dsp:sp modelId="{4C57A27C-6392-4CB4-8523-2A1E66A795F4}">
      <dsp:nvSpPr>
        <dsp:cNvPr id="0" name=""/>
        <dsp:cNvSpPr/>
      </dsp:nvSpPr>
      <dsp:spPr>
        <a:xfrm>
          <a:off x="4121220" y="1118199"/>
          <a:ext cx="4238773" cy="1399840"/>
        </a:xfrm>
        <a:prstGeom prst="roundRect">
          <a:avLst>
            <a:gd name="adj" fmla="val 10000"/>
          </a:avLst>
        </a:prstGeom>
        <a:solidFill>
          <a:schemeClr val="accent3">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GB" sz="2600" kern="1200" dirty="0"/>
            <a:t>Preferred/</a:t>
          </a:r>
        </a:p>
        <a:p>
          <a:pPr marL="0" lvl="0" indent="0" algn="ctr" defTabSz="1155700">
            <a:lnSpc>
              <a:spcPct val="90000"/>
            </a:lnSpc>
            <a:spcBef>
              <a:spcPct val="0"/>
            </a:spcBef>
            <a:spcAft>
              <a:spcPct val="35000"/>
            </a:spcAft>
            <a:buNone/>
          </a:pPr>
          <a:r>
            <a:rPr lang="en-GB" sz="2600" kern="1200" dirty="0"/>
            <a:t>Debenture Stock/ Hybrid Bonds</a:t>
          </a:r>
        </a:p>
      </dsp:txBody>
      <dsp:txXfrm>
        <a:off x="4162220" y="1159199"/>
        <a:ext cx="4156773" cy="1317840"/>
      </dsp:txXfrm>
    </dsp:sp>
    <dsp:sp modelId="{8E061A3E-B2B1-4A90-837F-57B67B4389F6}">
      <dsp:nvSpPr>
        <dsp:cNvPr id="0" name=""/>
        <dsp:cNvSpPr/>
      </dsp:nvSpPr>
      <dsp:spPr>
        <a:xfrm rot="5086094">
          <a:off x="1010346" y="3104183"/>
          <a:ext cx="1950544" cy="7221"/>
        </a:xfrm>
        <a:custGeom>
          <a:avLst/>
          <a:gdLst/>
          <a:ahLst/>
          <a:cxnLst/>
          <a:rect l="0" t="0" r="0" b="0"/>
          <a:pathLst>
            <a:path>
              <a:moveTo>
                <a:pt x="0" y="3610"/>
              </a:moveTo>
              <a:lnTo>
                <a:pt x="1950544" y="3610"/>
              </a:lnTo>
            </a:path>
          </a:pathLst>
        </a:custGeom>
        <a:noFill/>
        <a:ln w="11429" cap="flat" cmpd="sng" algn="ctr">
          <a:solidFill>
            <a:schemeClr val="accent2">
              <a:hueOff val="0"/>
              <a:satOff val="0"/>
              <a:lumOff val="0"/>
              <a:alphaOff val="0"/>
            </a:schemeClr>
          </a:solidFill>
          <a:prstDash val="sysDash"/>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GB" sz="400" kern="1200"/>
        </a:p>
      </dsp:txBody>
      <dsp:txXfrm>
        <a:off x="1936855" y="3059030"/>
        <a:ext cx="97527" cy="97527"/>
      </dsp:txXfrm>
    </dsp:sp>
    <dsp:sp modelId="{52E85208-5491-4452-A86A-529B54797BEF}">
      <dsp:nvSpPr>
        <dsp:cNvPr id="0" name=""/>
        <dsp:cNvSpPr/>
      </dsp:nvSpPr>
      <dsp:spPr>
        <a:xfrm>
          <a:off x="2074548" y="3554788"/>
          <a:ext cx="1885893" cy="1048431"/>
        </a:xfrm>
        <a:prstGeom prst="roundRect">
          <a:avLst>
            <a:gd name="adj" fmla="val 10000"/>
          </a:avLst>
        </a:prstGeom>
        <a:solidFill>
          <a:schemeClr val="accent2">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dirty="0"/>
            <a:t>Debt</a:t>
          </a:r>
        </a:p>
      </dsp:txBody>
      <dsp:txXfrm>
        <a:off x="2105255" y="3585495"/>
        <a:ext cx="1824479" cy="987017"/>
      </dsp:txXfrm>
    </dsp:sp>
    <dsp:sp modelId="{C3C9C45C-A032-406F-A98E-D80D3FAD6442}">
      <dsp:nvSpPr>
        <dsp:cNvPr id="0" name=""/>
        <dsp:cNvSpPr/>
      </dsp:nvSpPr>
      <dsp:spPr>
        <a:xfrm rot="17098375">
          <a:off x="3715373" y="3756168"/>
          <a:ext cx="660886" cy="7221"/>
        </a:xfrm>
        <a:custGeom>
          <a:avLst/>
          <a:gdLst/>
          <a:ahLst/>
          <a:cxnLst/>
          <a:rect l="0" t="0" r="0" b="0"/>
          <a:pathLst>
            <a:path>
              <a:moveTo>
                <a:pt x="0" y="3610"/>
              </a:moveTo>
              <a:lnTo>
                <a:pt x="660886" y="3610"/>
              </a:lnTo>
            </a:path>
          </a:pathLst>
        </a:custGeom>
        <a:noFill/>
        <a:ln w="11429" cap="flat" cmpd="sng" algn="ctr">
          <a:solidFill>
            <a:schemeClr val="accent3">
              <a:hueOff val="0"/>
              <a:satOff val="0"/>
              <a:lumOff val="0"/>
              <a:alphaOff val="0"/>
            </a:schemeClr>
          </a:solidFill>
          <a:prstDash val="sysDash"/>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GB" sz="400" kern="1200"/>
        </a:p>
      </dsp:txBody>
      <dsp:txXfrm>
        <a:off x="4029294" y="3743257"/>
        <a:ext cx="33044" cy="33044"/>
      </dsp:txXfrm>
    </dsp:sp>
    <dsp:sp modelId="{99082148-5EC8-4053-8DDF-81D29F100DD1}">
      <dsp:nvSpPr>
        <dsp:cNvPr id="0" name=""/>
        <dsp:cNvSpPr/>
      </dsp:nvSpPr>
      <dsp:spPr>
        <a:xfrm>
          <a:off x="4131190" y="2916340"/>
          <a:ext cx="2034182" cy="1048431"/>
        </a:xfrm>
        <a:prstGeom prst="roundRect">
          <a:avLst>
            <a:gd name="adj" fmla="val 10000"/>
          </a:avLst>
        </a:prstGeom>
        <a:solidFill>
          <a:schemeClr val="accent3">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dirty="0"/>
            <a:t>Bank Borrowing</a:t>
          </a:r>
        </a:p>
      </dsp:txBody>
      <dsp:txXfrm>
        <a:off x="4161897" y="2947047"/>
        <a:ext cx="1972768" cy="987017"/>
      </dsp:txXfrm>
    </dsp:sp>
    <dsp:sp modelId="{9EC9125D-BEC0-408B-A2E0-88BAB74D08ED}">
      <dsp:nvSpPr>
        <dsp:cNvPr id="0" name=""/>
        <dsp:cNvSpPr/>
      </dsp:nvSpPr>
      <dsp:spPr>
        <a:xfrm rot="4348200">
          <a:off x="3762375" y="4345671"/>
          <a:ext cx="566883" cy="7221"/>
        </a:xfrm>
        <a:custGeom>
          <a:avLst/>
          <a:gdLst/>
          <a:ahLst/>
          <a:cxnLst/>
          <a:rect l="0" t="0" r="0" b="0"/>
          <a:pathLst>
            <a:path>
              <a:moveTo>
                <a:pt x="0" y="3610"/>
              </a:moveTo>
              <a:lnTo>
                <a:pt x="566883" y="3610"/>
              </a:lnTo>
            </a:path>
          </a:pathLst>
        </a:custGeom>
        <a:noFill/>
        <a:ln w="11429" cap="flat" cmpd="sng" algn="ctr">
          <a:solidFill>
            <a:schemeClr val="accent3">
              <a:hueOff val="0"/>
              <a:satOff val="0"/>
              <a:lumOff val="0"/>
              <a:alphaOff val="0"/>
            </a:schemeClr>
          </a:solidFill>
          <a:prstDash val="sysDash"/>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GB" sz="400" kern="1200"/>
        </a:p>
      </dsp:txBody>
      <dsp:txXfrm>
        <a:off x="4031644" y="4335110"/>
        <a:ext cx="28344" cy="28344"/>
      </dsp:txXfrm>
    </dsp:sp>
    <dsp:sp modelId="{0CEBBC17-0B7C-4515-93A2-33F253CA5872}">
      <dsp:nvSpPr>
        <dsp:cNvPr id="0" name=""/>
        <dsp:cNvSpPr/>
      </dsp:nvSpPr>
      <dsp:spPr>
        <a:xfrm>
          <a:off x="4131190" y="4095344"/>
          <a:ext cx="2034182" cy="1048431"/>
        </a:xfrm>
        <a:prstGeom prst="roundRect">
          <a:avLst>
            <a:gd name="adj" fmla="val 10000"/>
          </a:avLst>
        </a:prstGeom>
        <a:solidFill>
          <a:schemeClr val="accent3">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dirty="0"/>
            <a:t>Bonds</a:t>
          </a:r>
        </a:p>
      </dsp:txBody>
      <dsp:txXfrm>
        <a:off x="4161897" y="4126051"/>
        <a:ext cx="1972768" cy="987017"/>
      </dsp:txXfrm>
    </dsp:sp>
    <dsp:sp modelId="{2C0B9F90-AEF3-4CC4-8CD9-19978DDC2AB4}">
      <dsp:nvSpPr>
        <dsp:cNvPr id="0" name=""/>
        <dsp:cNvSpPr/>
      </dsp:nvSpPr>
      <dsp:spPr>
        <a:xfrm rot="16646812">
          <a:off x="5564010" y="3930867"/>
          <a:ext cx="1381818" cy="7221"/>
        </a:xfrm>
        <a:custGeom>
          <a:avLst/>
          <a:gdLst/>
          <a:ahLst/>
          <a:cxnLst/>
          <a:rect l="0" t="0" r="0" b="0"/>
          <a:pathLst>
            <a:path>
              <a:moveTo>
                <a:pt x="0" y="3610"/>
              </a:moveTo>
              <a:lnTo>
                <a:pt x="1381818" y="3610"/>
              </a:lnTo>
            </a:path>
          </a:pathLst>
        </a:custGeom>
        <a:noFill/>
        <a:ln w="11429" cap="flat" cmpd="sng" algn="ctr">
          <a:solidFill>
            <a:schemeClr val="accent4">
              <a:hueOff val="0"/>
              <a:satOff val="0"/>
              <a:lumOff val="0"/>
              <a:alphaOff val="0"/>
            </a:schemeClr>
          </a:solidFill>
          <a:prstDash val="sysDash"/>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GB" sz="400" kern="1200"/>
        </a:p>
      </dsp:txBody>
      <dsp:txXfrm>
        <a:off x="6220374" y="3899933"/>
        <a:ext cx="69090" cy="69090"/>
      </dsp:txXfrm>
    </dsp:sp>
    <dsp:sp modelId="{47DD54B3-8EDC-4F7F-B8BC-47D6A844AA3E}">
      <dsp:nvSpPr>
        <dsp:cNvPr id="0" name=""/>
        <dsp:cNvSpPr/>
      </dsp:nvSpPr>
      <dsp:spPr>
        <a:xfrm>
          <a:off x="6344466" y="2879979"/>
          <a:ext cx="2434502" cy="738834"/>
        </a:xfrm>
        <a:prstGeom prst="roundRect">
          <a:avLst>
            <a:gd name="adj" fmla="val 10000"/>
          </a:avLst>
        </a:prstGeom>
        <a:solidFill>
          <a:schemeClr val="accent4">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dirty="0"/>
            <a:t>Debentures</a:t>
          </a:r>
        </a:p>
      </dsp:txBody>
      <dsp:txXfrm>
        <a:off x="6366106" y="2901619"/>
        <a:ext cx="2391222" cy="695554"/>
      </dsp:txXfrm>
    </dsp:sp>
    <dsp:sp modelId="{F21886D5-9417-4E71-B16A-126542F72D8D}">
      <dsp:nvSpPr>
        <dsp:cNvPr id="0" name=""/>
        <dsp:cNvSpPr/>
      </dsp:nvSpPr>
      <dsp:spPr>
        <a:xfrm rot="17337118">
          <a:off x="5979202" y="4355177"/>
          <a:ext cx="551436" cy="7221"/>
        </a:xfrm>
        <a:custGeom>
          <a:avLst/>
          <a:gdLst/>
          <a:ahLst/>
          <a:cxnLst/>
          <a:rect l="0" t="0" r="0" b="0"/>
          <a:pathLst>
            <a:path>
              <a:moveTo>
                <a:pt x="0" y="3610"/>
              </a:moveTo>
              <a:lnTo>
                <a:pt x="551436" y="3610"/>
              </a:lnTo>
            </a:path>
          </a:pathLst>
        </a:custGeom>
        <a:noFill/>
        <a:ln w="11429" cap="flat" cmpd="sng" algn="ctr">
          <a:solidFill>
            <a:schemeClr val="accent4">
              <a:hueOff val="0"/>
              <a:satOff val="0"/>
              <a:lumOff val="0"/>
              <a:alphaOff val="0"/>
            </a:schemeClr>
          </a:solidFill>
          <a:prstDash val="sysDash"/>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GB" sz="400" kern="1200"/>
        </a:p>
      </dsp:txBody>
      <dsp:txXfrm>
        <a:off x="6241134" y="4345002"/>
        <a:ext cx="27571" cy="27571"/>
      </dsp:txXfrm>
    </dsp:sp>
    <dsp:sp modelId="{88C38144-7D08-4BBD-9F07-4E7503666AD0}">
      <dsp:nvSpPr>
        <dsp:cNvPr id="0" name=""/>
        <dsp:cNvSpPr/>
      </dsp:nvSpPr>
      <dsp:spPr>
        <a:xfrm>
          <a:off x="6344466" y="3728599"/>
          <a:ext cx="2434502" cy="738834"/>
        </a:xfrm>
        <a:prstGeom prst="roundRect">
          <a:avLst>
            <a:gd name="adj" fmla="val 10000"/>
          </a:avLst>
        </a:prstGeom>
        <a:solidFill>
          <a:schemeClr val="accent4">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dirty="0"/>
            <a:t>Coupon</a:t>
          </a:r>
        </a:p>
      </dsp:txBody>
      <dsp:txXfrm>
        <a:off x="6366106" y="3750239"/>
        <a:ext cx="2391222" cy="695554"/>
      </dsp:txXfrm>
    </dsp:sp>
    <dsp:sp modelId="{AF745CCB-415B-4280-BD56-BEF9976D940B}">
      <dsp:nvSpPr>
        <dsp:cNvPr id="0" name=""/>
        <dsp:cNvSpPr/>
      </dsp:nvSpPr>
      <dsp:spPr>
        <a:xfrm rot="3769065">
          <a:off x="6055328" y="4796168"/>
          <a:ext cx="405188" cy="7221"/>
        </a:xfrm>
        <a:custGeom>
          <a:avLst/>
          <a:gdLst/>
          <a:ahLst/>
          <a:cxnLst/>
          <a:rect l="0" t="0" r="0" b="0"/>
          <a:pathLst>
            <a:path>
              <a:moveTo>
                <a:pt x="0" y="3610"/>
              </a:moveTo>
              <a:lnTo>
                <a:pt x="405188" y="3610"/>
              </a:lnTo>
            </a:path>
          </a:pathLst>
        </a:custGeom>
        <a:noFill/>
        <a:ln w="11429" cap="flat" cmpd="sng" algn="ctr">
          <a:solidFill>
            <a:schemeClr val="accent4">
              <a:hueOff val="0"/>
              <a:satOff val="0"/>
              <a:lumOff val="0"/>
              <a:alphaOff val="0"/>
            </a:schemeClr>
          </a:solidFill>
          <a:prstDash val="sysDash"/>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GB" sz="400" kern="1200"/>
        </a:p>
      </dsp:txBody>
      <dsp:txXfrm>
        <a:off x="6247793" y="4789650"/>
        <a:ext cx="20259" cy="20259"/>
      </dsp:txXfrm>
    </dsp:sp>
    <dsp:sp modelId="{F3CD5E34-B902-4DAF-9393-C3568FFFBC8D}">
      <dsp:nvSpPr>
        <dsp:cNvPr id="0" name=""/>
        <dsp:cNvSpPr/>
      </dsp:nvSpPr>
      <dsp:spPr>
        <a:xfrm>
          <a:off x="6350472" y="4610581"/>
          <a:ext cx="2434502" cy="738834"/>
        </a:xfrm>
        <a:prstGeom prst="roundRect">
          <a:avLst>
            <a:gd name="adj" fmla="val 10000"/>
          </a:avLst>
        </a:prstGeom>
        <a:solidFill>
          <a:schemeClr val="accent4">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dirty="0"/>
            <a:t>Discounted</a:t>
          </a:r>
        </a:p>
      </dsp:txBody>
      <dsp:txXfrm>
        <a:off x="6372112" y="4632221"/>
        <a:ext cx="2391222" cy="69555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1335FB-C1B8-45AF-8729-43ADAA0D9DC8}">
      <dsp:nvSpPr>
        <dsp:cNvPr id="0" name=""/>
        <dsp:cNvSpPr/>
      </dsp:nvSpPr>
      <dsp:spPr>
        <a:xfrm>
          <a:off x="5921615" y="2214660"/>
          <a:ext cx="1194232" cy="370717"/>
        </a:xfrm>
        <a:custGeom>
          <a:avLst/>
          <a:gdLst/>
          <a:ahLst/>
          <a:cxnLst/>
          <a:rect l="0" t="0" r="0" b="0"/>
          <a:pathLst>
            <a:path>
              <a:moveTo>
                <a:pt x="0" y="0"/>
              </a:moveTo>
              <a:lnTo>
                <a:pt x="0" y="252633"/>
              </a:lnTo>
              <a:lnTo>
                <a:pt x="1194232" y="252633"/>
              </a:lnTo>
              <a:lnTo>
                <a:pt x="1194232" y="370717"/>
              </a:lnTo>
            </a:path>
          </a:pathLst>
        </a:custGeom>
        <a:noFill/>
        <a:ln w="11429" cap="flat" cmpd="sng" algn="ctr">
          <a:solidFill>
            <a:schemeClr val="accent1">
              <a:shade val="80000"/>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A5BFAFD9-4B35-43CB-94D7-1EF9505FBA29}">
      <dsp:nvSpPr>
        <dsp:cNvPr id="0" name=""/>
        <dsp:cNvSpPr/>
      </dsp:nvSpPr>
      <dsp:spPr>
        <a:xfrm>
          <a:off x="4258636" y="2214660"/>
          <a:ext cx="1662978" cy="370717"/>
        </a:xfrm>
        <a:custGeom>
          <a:avLst/>
          <a:gdLst/>
          <a:ahLst/>
          <a:cxnLst/>
          <a:rect l="0" t="0" r="0" b="0"/>
          <a:pathLst>
            <a:path>
              <a:moveTo>
                <a:pt x="1662978" y="0"/>
              </a:moveTo>
              <a:lnTo>
                <a:pt x="1662978" y="252633"/>
              </a:lnTo>
              <a:lnTo>
                <a:pt x="0" y="252633"/>
              </a:lnTo>
              <a:lnTo>
                <a:pt x="0" y="370717"/>
              </a:lnTo>
            </a:path>
          </a:pathLst>
        </a:custGeom>
        <a:noFill/>
        <a:ln w="11429" cap="flat" cmpd="sng" algn="ctr">
          <a:solidFill>
            <a:schemeClr val="accent1">
              <a:shade val="80000"/>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C1734A9C-09E3-4573-ADA0-D0413E2C81A0}">
      <dsp:nvSpPr>
        <dsp:cNvPr id="0" name=""/>
        <dsp:cNvSpPr/>
      </dsp:nvSpPr>
      <dsp:spPr>
        <a:xfrm>
          <a:off x="3404835" y="1034524"/>
          <a:ext cx="2516780" cy="370717"/>
        </a:xfrm>
        <a:custGeom>
          <a:avLst/>
          <a:gdLst/>
          <a:ahLst/>
          <a:cxnLst/>
          <a:rect l="0" t="0" r="0" b="0"/>
          <a:pathLst>
            <a:path>
              <a:moveTo>
                <a:pt x="0" y="0"/>
              </a:moveTo>
              <a:lnTo>
                <a:pt x="0" y="252633"/>
              </a:lnTo>
              <a:lnTo>
                <a:pt x="2516780" y="252633"/>
              </a:lnTo>
              <a:lnTo>
                <a:pt x="2516780" y="370717"/>
              </a:lnTo>
            </a:path>
          </a:pathLst>
        </a:custGeom>
        <a:noFill/>
        <a:ln w="11429" cap="flat" cmpd="sng" algn="ctr">
          <a:solidFill>
            <a:schemeClr val="accent1">
              <a:shade val="60000"/>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73F23EBA-C349-48CC-8345-37CA90B3A471}">
      <dsp:nvSpPr>
        <dsp:cNvPr id="0" name=""/>
        <dsp:cNvSpPr/>
      </dsp:nvSpPr>
      <dsp:spPr>
        <a:xfrm>
          <a:off x="1352188" y="1034524"/>
          <a:ext cx="2052646" cy="370717"/>
        </a:xfrm>
        <a:custGeom>
          <a:avLst/>
          <a:gdLst/>
          <a:ahLst/>
          <a:cxnLst/>
          <a:rect l="0" t="0" r="0" b="0"/>
          <a:pathLst>
            <a:path>
              <a:moveTo>
                <a:pt x="2052646" y="0"/>
              </a:moveTo>
              <a:lnTo>
                <a:pt x="2052646" y="252633"/>
              </a:lnTo>
              <a:lnTo>
                <a:pt x="0" y="252633"/>
              </a:lnTo>
              <a:lnTo>
                <a:pt x="0" y="370717"/>
              </a:lnTo>
            </a:path>
          </a:pathLst>
        </a:custGeom>
        <a:noFill/>
        <a:ln w="11429" cap="flat" cmpd="sng" algn="ctr">
          <a:solidFill>
            <a:schemeClr val="accent1">
              <a:shade val="60000"/>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EE5EB0BF-0C83-4601-8DEC-E7E29EFA1631}">
      <dsp:nvSpPr>
        <dsp:cNvPr id="0" name=""/>
        <dsp:cNvSpPr/>
      </dsp:nvSpPr>
      <dsp:spPr>
        <a:xfrm>
          <a:off x="2095382" y="1189"/>
          <a:ext cx="2618905" cy="1033334"/>
        </a:xfrm>
        <a:prstGeom prst="roundRect">
          <a:avLst>
            <a:gd name="adj" fmla="val 10000"/>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sp>
    <dsp:sp modelId="{7854AE86-6BBE-4C24-8A55-BE8E0396B292}">
      <dsp:nvSpPr>
        <dsp:cNvPr id="0" name=""/>
        <dsp:cNvSpPr/>
      </dsp:nvSpPr>
      <dsp:spPr>
        <a:xfrm>
          <a:off x="2237012" y="135738"/>
          <a:ext cx="2618905" cy="1033334"/>
        </a:xfrm>
        <a:prstGeom prst="roundRect">
          <a:avLst>
            <a:gd name="adj" fmla="val 10000"/>
          </a:avLst>
        </a:prstGeom>
        <a:solidFill>
          <a:schemeClr val="lt1">
            <a:alpha val="90000"/>
            <a:hueOff val="0"/>
            <a:satOff val="0"/>
            <a:lumOff val="0"/>
            <a:alphaOff val="0"/>
          </a:schemeClr>
        </a:solidFill>
        <a:ln w="11429" cap="flat" cmpd="sng" algn="ctr">
          <a:solidFill>
            <a:schemeClr val="accent1">
              <a:hueOff val="0"/>
              <a:satOff val="0"/>
              <a:lumOff val="0"/>
              <a:alphaOff val="0"/>
            </a:schemeClr>
          </a:solidFill>
          <a:prstDash val="sysDash"/>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dirty="0"/>
            <a:t>Ordinary Shares</a:t>
          </a:r>
        </a:p>
      </dsp:txBody>
      <dsp:txXfrm>
        <a:off x="2267277" y="166003"/>
        <a:ext cx="2558375" cy="972804"/>
      </dsp:txXfrm>
    </dsp:sp>
    <dsp:sp modelId="{892F2D49-A60E-431E-BCCA-4916CDD7B358}">
      <dsp:nvSpPr>
        <dsp:cNvPr id="0" name=""/>
        <dsp:cNvSpPr/>
      </dsp:nvSpPr>
      <dsp:spPr>
        <a:xfrm>
          <a:off x="205263" y="1405242"/>
          <a:ext cx="2293851" cy="809417"/>
        </a:xfrm>
        <a:prstGeom prst="roundRect">
          <a:avLst>
            <a:gd name="adj" fmla="val 10000"/>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sp>
    <dsp:sp modelId="{9EB4076D-0FFF-4B08-9500-31262360EC48}">
      <dsp:nvSpPr>
        <dsp:cNvPr id="0" name=""/>
        <dsp:cNvSpPr/>
      </dsp:nvSpPr>
      <dsp:spPr>
        <a:xfrm>
          <a:off x="346893" y="1539791"/>
          <a:ext cx="2293851" cy="809417"/>
        </a:xfrm>
        <a:prstGeom prst="roundRect">
          <a:avLst>
            <a:gd name="adj" fmla="val 10000"/>
          </a:avLst>
        </a:prstGeom>
        <a:solidFill>
          <a:schemeClr val="lt1">
            <a:alpha val="90000"/>
            <a:hueOff val="0"/>
            <a:satOff val="0"/>
            <a:lumOff val="0"/>
            <a:alphaOff val="0"/>
          </a:schemeClr>
        </a:solidFill>
        <a:ln w="11429" cap="flat" cmpd="sng" algn="ctr">
          <a:solidFill>
            <a:schemeClr val="accent1">
              <a:hueOff val="0"/>
              <a:satOff val="0"/>
              <a:lumOff val="0"/>
              <a:alphaOff val="0"/>
            </a:schemeClr>
          </a:solidFill>
          <a:prstDash val="sysDash"/>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dirty="0"/>
            <a:t>CAPM</a:t>
          </a:r>
        </a:p>
      </dsp:txBody>
      <dsp:txXfrm>
        <a:off x="370600" y="1563498"/>
        <a:ext cx="2246437" cy="762003"/>
      </dsp:txXfrm>
    </dsp:sp>
    <dsp:sp modelId="{281B4646-C4EA-41C7-82D7-E6081C3E9C73}">
      <dsp:nvSpPr>
        <dsp:cNvPr id="0" name=""/>
        <dsp:cNvSpPr/>
      </dsp:nvSpPr>
      <dsp:spPr>
        <a:xfrm>
          <a:off x="4774689" y="1405242"/>
          <a:ext cx="2293851" cy="809417"/>
        </a:xfrm>
        <a:prstGeom prst="roundRect">
          <a:avLst>
            <a:gd name="adj" fmla="val 10000"/>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sp>
    <dsp:sp modelId="{3325FD72-BD32-4907-A9D3-7CDB70732A9E}">
      <dsp:nvSpPr>
        <dsp:cNvPr id="0" name=""/>
        <dsp:cNvSpPr/>
      </dsp:nvSpPr>
      <dsp:spPr>
        <a:xfrm>
          <a:off x="4916320" y="1539791"/>
          <a:ext cx="2293851" cy="809417"/>
        </a:xfrm>
        <a:prstGeom prst="roundRect">
          <a:avLst>
            <a:gd name="adj" fmla="val 10000"/>
          </a:avLst>
        </a:prstGeom>
        <a:solidFill>
          <a:schemeClr val="lt1">
            <a:alpha val="90000"/>
            <a:hueOff val="0"/>
            <a:satOff val="0"/>
            <a:lumOff val="0"/>
            <a:alphaOff val="0"/>
          </a:schemeClr>
        </a:solidFill>
        <a:ln w="11429" cap="flat" cmpd="sng" algn="ctr">
          <a:solidFill>
            <a:schemeClr val="accent1">
              <a:hueOff val="0"/>
              <a:satOff val="0"/>
              <a:lumOff val="0"/>
              <a:alphaOff val="0"/>
            </a:schemeClr>
          </a:solidFill>
          <a:prstDash val="sysDash"/>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dirty="0"/>
            <a:t>Implied </a:t>
          </a:r>
        </a:p>
      </dsp:txBody>
      <dsp:txXfrm>
        <a:off x="4940027" y="1563498"/>
        <a:ext cx="2246437" cy="762003"/>
      </dsp:txXfrm>
    </dsp:sp>
    <dsp:sp modelId="{86BE53EE-8E46-415B-9D46-D1AA03A74B11}">
      <dsp:nvSpPr>
        <dsp:cNvPr id="0" name=""/>
        <dsp:cNvSpPr/>
      </dsp:nvSpPr>
      <dsp:spPr>
        <a:xfrm>
          <a:off x="2947163" y="2585377"/>
          <a:ext cx="2622946" cy="1239323"/>
        </a:xfrm>
        <a:prstGeom prst="roundRect">
          <a:avLst>
            <a:gd name="adj" fmla="val 10000"/>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sp>
    <dsp:sp modelId="{3B11A78A-C849-49BA-B77E-4F860A71FCAB}">
      <dsp:nvSpPr>
        <dsp:cNvPr id="0" name=""/>
        <dsp:cNvSpPr/>
      </dsp:nvSpPr>
      <dsp:spPr>
        <a:xfrm>
          <a:off x="3088794" y="2719926"/>
          <a:ext cx="2622946" cy="1239323"/>
        </a:xfrm>
        <a:prstGeom prst="roundRect">
          <a:avLst>
            <a:gd name="adj" fmla="val 10000"/>
          </a:avLst>
        </a:prstGeom>
        <a:solidFill>
          <a:schemeClr val="lt1">
            <a:alpha val="90000"/>
            <a:hueOff val="0"/>
            <a:satOff val="0"/>
            <a:lumOff val="0"/>
            <a:alphaOff val="0"/>
          </a:schemeClr>
        </a:solidFill>
        <a:ln w="11429" cap="flat" cmpd="sng" algn="ctr">
          <a:solidFill>
            <a:schemeClr val="accent1">
              <a:hueOff val="0"/>
              <a:satOff val="0"/>
              <a:lumOff val="0"/>
              <a:alphaOff val="0"/>
            </a:schemeClr>
          </a:solidFill>
          <a:prstDash val="sysDash"/>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dirty="0"/>
            <a:t>Constant Dividend</a:t>
          </a:r>
        </a:p>
      </dsp:txBody>
      <dsp:txXfrm>
        <a:off x="3125093" y="2756225"/>
        <a:ext cx="2550348" cy="1166725"/>
      </dsp:txXfrm>
    </dsp:sp>
    <dsp:sp modelId="{024D86EC-EF4F-4165-9723-CBDFC945A5F1}">
      <dsp:nvSpPr>
        <dsp:cNvPr id="0" name=""/>
        <dsp:cNvSpPr/>
      </dsp:nvSpPr>
      <dsp:spPr>
        <a:xfrm>
          <a:off x="5804375" y="2585377"/>
          <a:ext cx="2622946" cy="1239323"/>
        </a:xfrm>
        <a:prstGeom prst="roundRect">
          <a:avLst>
            <a:gd name="adj" fmla="val 10000"/>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sp>
    <dsp:sp modelId="{98C95F12-1755-4BBC-BC82-8D6927396F5F}">
      <dsp:nvSpPr>
        <dsp:cNvPr id="0" name=""/>
        <dsp:cNvSpPr/>
      </dsp:nvSpPr>
      <dsp:spPr>
        <a:xfrm>
          <a:off x="5946005" y="2719926"/>
          <a:ext cx="2622946" cy="1239323"/>
        </a:xfrm>
        <a:prstGeom prst="roundRect">
          <a:avLst>
            <a:gd name="adj" fmla="val 10000"/>
          </a:avLst>
        </a:prstGeom>
        <a:solidFill>
          <a:schemeClr val="lt1">
            <a:alpha val="90000"/>
            <a:hueOff val="0"/>
            <a:satOff val="0"/>
            <a:lumOff val="0"/>
            <a:alphaOff val="0"/>
          </a:schemeClr>
        </a:solidFill>
        <a:ln w="11429" cap="flat" cmpd="sng" algn="ctr">
          <a:solidFill>
            <a:schemeClr val="accent1">
              <a:hueOff val="0"/>
              <a:satOff val="0"/>
              <a:lumOff val="0"/>
              <a:alphaOff val="0"/>
            </a:schemeClr>
          </a:solidFill>
          <a:prstDash val="sysDash"/>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dirty="0"/>
            <a:t>Dividend</a:t>
          </a:r>
        </a:p>
        <a:p>
          <a:pPr marL="0" lvl="0" indent="0" algn="ctr" defTabSz="1244600">
            <a:lnSpc>
              <a:spcPct val="90000"/>
            </a:lnSpc>
            <a:spcBef>
              <a:spcPct val="0"/>
            </a:spcBef>
            <a:spcAft>
              <a:spcPct val="35000"/>
            </a:spcAft>
            <a:buNone/>
          </a:pPr>
          <a:r>
            <a:rPr lang="en-GB" sz="2800" kern="1200" dirty="0"/>
            <a:t>Growth</a:t>
          </a:r>
        </a:p>
      </dsp:txBody>
      <dsp:txXfrm>
        <a:off x="5982304" y="2756225"/>
        <a:ext cx="2550348" cy="116672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8E0F5B-8C97-4424-8508-C48E8849EEAC}">
      <dsp:nvSpPr>
        <dsp:cNvPr id="0" name=""/>
        <dsp:cNvSpPr/>
      </dsp:nvSpPr>
      <dsp:spPr>
        <a:xfrm>
          <a:off x="0" y="343233"/>
          <a:ext cx="8504238" cy="859950"/>
        </a:xfrm>
        <a:prstGeom prst="rect">
          <a:avLst/>
        </a:prstGeom>
        <a:solidFill>
          <a:schemeClr val="lt1">
            <a:alpha val="90000"/>
            <a:hueOff val="0"/>
            <a:satOff val="0"/>
            <a:lumOff val="0"/>
            <a:alphaOff val="0"/>
          </a:schemeClr>
        </a:solidFill>
        <a:ln w="11429" cap="flat" cmpd="sng" algn="ctr">
          <a:solidFill>
            <a:schemeClr val="accent1">
              <a:hueOff val="0"/>
              <a:satOff val="0"/>
              <a:lumOff val="0"/>
              <a:alphaOff val="0"/>
            </a:schemeClr>
          </a:solidFill>
          <a:prstDash val="sysDash"/>
        </a:ln>
        <a:effectLst/>
      </dsp:spPr>
      <dsp:style>
        <a:lnRef idx="2">
          <a:scrgbClr r="0" g="0" b="0"/>
        </a:lnRef>
        <a:fillRef idx="1">
          <a:scrgbClr r="0" g="0" b="0"/>
        </a:fillRef>
        <a:effectRef idx="0">
          <a:scrgbClr r="0" g="0" b="0"/>
        </a:effectRef>
        <a:fontRef idx="minor"/>
      </dsp:style>
      <dsp:txBody>
        <a:bodyPr spcFirstLastPara="0" vert="horz" wrap="square" lIns="660023" tIns="437388" rIns="660023" bIns="149352" numCol="1" spcCol="1270" anchor="t" anchorCtr="0">
          <a:noAutofit/>
        </a:bodyPr>
        <a:lstStyle/>
        <a:p>
          <a:pPr marL="228600" lvl="1" indent="-228600" algn="l" defTabSz="933450">
            <a:lnSpc>
              <a:spcPct val="90000"/>
            </a:lnSpc>
            <a:spcBef>
              <a:spcPct val="0"/>
            </a:spcBef>
            <a:spcAft>
              <a:spcPct val="15000"/>
            </a:spcAft>
            <a:buChar char="•"/>
          </a:pPr>
          <a:r>
            <a:rPr lang="en-GB" sz="2100" kern="1200" dirty="0"/>
            <a:t>Suitable for American Companies with CF in $</a:t>
          </a:r>
        </a:p>
      </dsp:txBody>
      <dsp:txXfrm>
        <a:off x="0" y="343233"/>
        <a:ext cx="8504238" cy="859950"/>
      </dsp:txXfrm>
    </dsp:sp>
    <dsp:sp modelId="{2DD21828-4D1D-4A96-BAB9-2E8988C2D4D1}">
      <dsp:nvSpPr>
        <dsp:cNvPr id="0" name=""/>
        <dsp:cNvSpPr/>
      </dsp:nvSpPr>
      <dsp:spPr>
        <a:xfrm>
          <a:off x="425211" y="33273"/>
          <a:ext cx="5952966" cy="619920"/>
        </a:xfrm>
        <a:prstGeom prst="roundRect">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225008" tIns="0" rIns="225008" bIns="0" numCol="1" spcCol="1270" anchor="ctr" anchorCtr="0">
          <a:noAutofit/>
        </a:bodyPr>
        <a:lstStyle/>
        <a:p>
          <a:pPr marL="0" lvl="0" indent="0" algn="l" defTabSz="933450">
            <a:lnSpc>
              <a:spcPct val="90000"/>
            </a:lnSpc>
            <a:spcBef>
              <a:spcPct val="0"/>
            </a:spcBef>
            <a:spcAft>
              <a:spcPct val="35000"/>
            </a:spcAft>
            <a:buNone/>
          </a:pPr>
          <a:r>
            <a:rPr lang="en-GB" sz="2100" kern="1200" dirty="0"/>
            <a:t>A Risk Free Rate in $</a:t>
          </a:r>
        </a:p>
      </dsp:txBody>
      <dsp:txXfrm>
        <a:off x="455473" y="63535"/>
        <a:ext cx="5892442" cy="559396"/>
      </dsp:txXfrm>
    </dsp:sp>
    <dsp:sp modelId="{1A62D2C6-75FF-47DF-A921-566645CC59A0}">
      <dsp:nvSpPr>
        <dsp:cNvPr id="0" name=""/>
        <dsp:cNvSpPr/>
      </dsp:nvSpPr>
      <dsp:spPr>
        <a:xfrm>
          <a:off x="0" y="1626543"/>
          <a:ext cx="8504238" cy="876487"/>
        </a:xfrm>
        <a:prstGeom prst="rect">
          <a:avLst/>
        </a:prstGeom>
        <a:solidFill>
          <a:schemeClr val="lt1">
            <a:alpha val="90000"/>
            <a:hueOff val="0"/>
            <a:satOff val="0"/>
            <a:lumOff val="0"/>
            <a:alphaOff val="0"/>
          </a:schemeClr>
        </a:solidFill>
        <a:ln w="11429" cap="flat" cmpd="sng" algn="ctr">
          <a:solidFill>
            <a:schemeClr val="accent1">
              <a:hueOff val="0"/>
              <a:satOff val="0"/>
              <a:lumOff val="0"/>
              <a:alphaOff val="0"/>
            </a:schemeClr>
          </a:solidFill>
          <a:prstDash val="sysDash"/>
        </a:ln>
        <a:effectLst/>
      </dsp:spPr>
      <dsp:style>
        <a:lnRef idx="2">
          <a:scrgbClr r="0" g="0" b="0"/>
        </a:lnRef>
        <a:fillRef idx="1">
          <a:scrgbClr r="0" g="0" b="0"/>
        </a:fillRef>
        <a:effectRef idx="0">
          <a:scrgbClr r="0" g="0" b="0"/>
        </a:effectRef>
        <a:fontRef idx="minor"/>
      </dsp:style>
      <dsp:txBody>
        <a:bodyPr spcFirstLastPara="0" vert="horz" wrap="square" lIns="660023" tIns="437388" rIns="660023" bIns="149352" numCol="1" spcCol="1270" anchor="t" anchorCtr="0">
          <a:noAutofit/>
        </a:bodyPr>
        <a:lstStyle/>
        <a:p>
          <a:pPr marL="228600" lvl="1" indent="-228600" algn="l" defTabSz="933450">
            <a:lnSpc>
              <a:spcPct val="90000"/>
            </a:lnSpc>
            <a:spcBef>
              <a:spcPct val="0"/>
            </a:spcBef>
            <a:spcAft>
              <a:spcPct val="15000"/>
            </a:spcAft>
            <a:buChar char="•"/>
          </a:pPr>
          <a:r>
            <a:rPr lang="en-GB" sz="2100" kern="1200" dirty="0"/>
            <a:t>Suitable for European Companies with CF in </a:t>
          </a:r>
          <a:r>
            <a:rPr lang="en-GB" sz="2100" kern="1200" dirty="0">
              <a:latin typeface="Times New Roman"/>
              <a:cs typeface="Times New Roman"/>
            </a:rPr>
            <a:t>€</a:t>
          </a:r>
          <a:endParaRPr lang="en-GB" sz="2100" kern="1200" dirty="0"/>
        </a:p>
      </dsp:txBody>
      <dsp:txXfrm>
        <a:off x="0" y="1626543"/>
        <a:ext cx="8504238" cy="876487"/>
      </dsp:txXfrm>
    </dsp:sp>
    <dsp:sp modelId="{1E49D3AD-0961-4FA5-B291-E4374562303E}">
      <dsp:nvSpPr>
        <dsp:cNvPr id="0" name=""/>
        <dsp:cNvSpPr/>
      </dsp:nvSpPr>
      <dsp:spPr>
        <a:xfrm>
          <a:off x="425211" y="1316583"/>
          <a:ext cx="5952966" cy="619920"/>
        </a:xfrm>
        <a:prstGeom prst="roundRect">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225008" tIns="0" rIns="225008" bIns="0" numCol="1" spcCol="1270" anchor="ctr" anchorCtr="0">
          <a:noAutofit/>
        </a:bodyPr>
        <a:lstStyle/>
        <a:p>
          <a:pPr marL="0" lvl="0" indent="0" algn="l" defTabSz="933450">
            <a:lnSpc>
              <a:spcPct val="90000"/>
            </a:lnSpc>
            <a:spcBef>
              <a:spcPct val="0"/>
            </a:spcBef>
            <a:spcAft>
              <a:spcPct val="35000"/>
            </a:spcAft>
            <a:buNone/>
          </a:pPr>
          <a:r>
            <a:rPr lang="en-GB" sz="2100" kern="1200" dirty="0"/>
            <a:t>A Risk Free Rate in </a:t>
          </a:r>
          <a:r>
            <a:rPr lang="en-GB" sz="2100" kern="1200" dirty="0">
              <a:latin typeface="Times New Roman"/>
              <a:cs typeface="Times New Roman"/>
            </a:rPr>
            <a:t>€</a:t>
          </a:r>
          <a:endParaRPr lang="en-GB" sz="2100" kern="1200" dirty="0"/>
        </a:p>
      </dsp:txBody>
      <dsp:txXfrm>
        <a:off x="455473" y="1346845"/>
        <a:ext cx="5892442" cy="559396"/>
      </dsp:txXfrm>
    </dsp:sp>
    <dsp:sp modelId="{35476150-C0E1-4D5A-B3D0-B9BC7A0A01A8}">
      <dsp:nvSpPr>
        <dsp:cNvPr id="0" name=""/>
        <dsp:cNvSpPr/>
      </dsp:nvSpPr>
      <dsp:spPr>
        <a:xfrm>
          <a:off x="0" y="2926390"/>
          <a:ext cx="8504238" cy="859950"/>
        </a:xfrm>
        <a:prstGeom prst="rect">
          <a:avLst/>
        </a:prstGeom>
        <a:solidFill>
          <a:schemeClr val="lt1">
            <a:alpha val="90000"/>
            <a:hueOff val="0"/>
            <a:satOff val="0"/>
            <a:lumOff val="0"/>
            <a:alphaOff val="0"/>
          </a:schemeClr>
        </a:solidFill>
        <a:ln w="11429" cap="flat" cmpd="sng" algn="ctr">
          <a:solidFill>
            <a:schemeClr val="accent1">
              <a:hueOff val="0"/>
              <a:satOff val="0"/>
              <a:lumOff val="0"/>
              <a:alphaOff val="0"/>
            </a:schemeClr>
          </a:solidFill>
          <a:prstDash val="sysDash"/>
        </a:ln>
        <a:effectLst/>
      </dsp:spPr>
      <dsp:style>
        <a:lnRef idx="2">
          <a:scrgbClr r="0" g="0" b="0"/>
        </a:lnRef>
        <a:fillRef idx="1">
          <a:scrgbClr r="0" g="0" b="0"/>
        </a:fillRef>
        <a:effectRef idx="0">
          <a:scrgbClr r="0" g="0" b="0"/>
        </a:effectRef>
        <a:fontRef idx="minor"/>
      </dsp:style>
      <dsp:txBody>
        <a:bodyPr spcFirstLastPara="0" vert="horz" wrap="square" lIns="660023" tIns="437388" rIns="660023" bIns="149352" numCol="1" spcCol="1270" anchor="t" anchorCtr="0">
          <a:noAutofit/>
        </a:bodyPr>
        <a:lstStyle/>
        <a:p>
          <a:pPr marL="228600" lvl="1" indent="-228600" algn="l" defTabSz="933450">
            <a:lnSpc>
              <a:spcPct val="90000"/>
            </a:lnSpc>
            <a:spcBef>
              <a:spcPct val="0"/>
            </a:spcBef>
            <a:spcAft>
              <a:spcPct val="15000"/>
            </a:spcAft>
            <a:buChar char="•"/>
          </a:pPr>
          <a:r>
            <a:rPr lang="en-GB" sz="2100" kern="1200" dirty="0"/>
            <a:t>Suitable when no risk free entities can be found</a:t>
          </a:r>
        </a:p>
      </dsp:txBody>
      <dsp:txXfrm>
        <a:off x="0" y="2926390"/>
        <a:ext cx="8504238" cy="859950"/>
      </dsp:txXfrm>
    </dsp:sp>
    <dsp:sp modelId="{95EAB765-303F-4516-9AF4-3649DB912638}">
      <dsp:nvSpPr>
        <dsp:cNvPr id="0" name=""/>
        <dsp:cNvSpPr/>
      </dsp:nvSpPr>
      <dsp:spPr>
        <a:xfrm>
          <a:off x="425211" y="2616430"/>
          <a:ext cx="5952966" cy="619920"/>
        </a:xfrm>
        <a:prstGeom prst="roundRect">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225008" tIns="0" rIns="225008" bIns="0" numCol="1" spcCol="1270" anchor="ctr" anchorCtr="0">
          <a:noAutofit/>
        </a:bodyPr>
        <a:lstStyle/>
        <a:p>
          <a:pPr marL="0" lvl="0" indent="0" algn="l" defTabSz="933450">
            <a:lnSpc>
              <a:spcPct val="90000"/>
            </a:lnSpc>
            <a:spcBef>
              <a:spcPct val="0"/>
            </a:spcBef>
            <a:spcAft>
              <a:spcPct val="35000"/>
            </a:spcAft>
            <a:buNone/>
          </a:pPr>
          <a:r>
            <a:rPr lang="en-GB" sz="2100" kern="1200" dirty="0"/>
            <a:t>A Risk Free Rate in Local Currency for a Local Company</a:t>
          </a:r>
        </a:p>
      </dsp:txBody>
      <dsp:txXfrm>
        <a:off x="455473" y="2646692"/>
        <a:ext cx="5892442" cy="559396"/>
      </dsp:txXfrm>
    </dsp:sp>
    <dsp:sp modelId="{00320BF7-AB90-4096-8DF3-FAD1779AF818}">
      <dsp:nvSpPr>
        <dsp:cNvPr id="0" name=""/>
        <dsp:cNvSpPr/>
      </dsp:nvSpPr>
      <dsp:spPr>
        <a:xfrm>
          <a:off x="0" y="4209700"/>
          <a:ext cx="8504238" cy="1157625"/>
        </a:xfrm>
        <a:prstGeom prst="rect">
          <a:avLst/>
        </a:prstGeom>
        <a:solidFill>
          <a:schemeClr val="lt1">
            <a:alpha val="90000"/>
            <a:hueOff val="0"/>
            <a:satOff val="0"/>
            <a:lumOff val="0"/>
            <a:alphaOff val="0"/>
          </a:schemeClr>
        </a:solidFill>
        <a:ln w="11429" cap="flat" cmpd="sng" algn="ctr">
          <a:solidFill>
            <a:schemeClr val="accent1">
              <a:hueOff val="0"/>
              <a:satOff val="0"/>
              <a:lumOff val="0"/>
              <a:alphaOff val="0"/>
            </a:schemeClr>
          </a:solidFill>
          <a:prstDash val="sysDash"/>
        </a:ln>
        <a:effectLst/>
      </dsp:spPr>
      <dsp:style>
        <a:lnRef idx="2">
          <a:scrgbClr r="0" g="0" b="0"/>
        </a:lnRef>
        <a:fillRef idx="1">
          <a:scrgbClr r="0" g="0" b="0"/>
        </a:fillRef>
        <a:effectRef idx="0">
          <a:scrgbClr r="0" g="0" b="0"/>
        </a:effectRef>
        <a:fontRef idx="minor"/>
      </dsp:style>
      <dsp:txBody>
        <a:bodyPr spcFirstLastPara="0" vert="horz" wrap="square" lIns="660023" tIns="437388" rIns="660023" bIns="149352" numCol="1" spcCol="1270" anchor="t" anchorCtr="0">
          <a:noAutofit/>
        </a:bodyPr>
        <a:lstStyle/>
        <a:p>
          <a:pPr marL="228600" lvl="1" indent="-228600" algn="l" defTabSz="933450">
            <a:lnSpc>
              <a:spcPct val="90000"/>
            </a:lnSpc>
            <a:spcBef>
              <a:spcPct val="0"/>
            </a:spcBef>
            <a:spcAft>
              <a:spcPct val="15000"/>
            </a:spcAft>
            <a:buChar char="•"/>
          </a:pPr>
          <a:r>
            <a:rPr lang="en-GB" sz="2100" kern="1200" dirty="0"/>
            <a:t>Suitable for companies in emerging markets that have international exposure. Cash Flows might be in $ or </a:t>
          </a:r>
          <a:r>
            <a:rPr lang="en-GB" sz="2100" kern="1200" dirty="0">
              <a:latin typeface="Times New Roman"/>
              <a:cs typeface="Times New Roman"/>
            </a:rPr>
            <a:t>€</a:t>
          </a:r>
          <a:endParaRPr lang="en-GB" sz="2100" kern="1200" dirty="0"/>
        </a:p>
      </dsp:txBody>
      <dsp:txXfrm>
        <a:off x="0" y="4209700"/>
        <a:ext cx="8504238" cy="1157625"/>
      </dsp:txXfrm>
    </dsp:sp>
    <dsp:sp modelId="{0FE58E89-C5F3-4641-A80D-4FA46403298C}">
      <dsp:nvSpPr>
        <dsp:cNvPr id="0" name=""/>
        <dsp:cNvSpPr/>
      </dsp:nvSpPr>
      <dsp:spPr>
        <a:xfrm>
          <a:off x="425211" y="3899740"/>
          <a:ext cx="5952966" cy="619920"/>
        </a:xfrm>
        <a:prstGeom prst="roundRect">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225008" tIns="0" rIns="225008" bIns="0" numCol="1" spcCol="1270" anchor="ctr" anchorCtr="0">
          <a:noAutofit/>
        </a:bodyPr>
        <a:lstStyle/>
        <a:p>
          <a:pPr marL="0" lvl="0" indent="0" algn="l" defTabSz="933450">
            <a:lnSpc>
              <a:spcPct val="90000"/>
            </a:lnSpc>
            <a:spcBef>
              <a:spcPct val="0"/>
            </a:spcBef>
            <a:spcAft>
              <a:spcPct val="35000"/>
            </a:spcAft>
            <a:buNone/>
          </a:pPr>
          <a:r>
            <a:rPr lang="en-GB" sz="2100" kern="1200" dirty="0"/>
            <a:t>A Risk Free Rate in Local Currency for an International Company</a:t>
          </a:r>
        </a:p>
      </dsp:txBody>
      <dsp:txXfrm>
        <a:off x="455473" y="3930002"/>
        <a:ext cx="5892442" cy="55939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587953-64C9-4EEF-A743-F10C5410250C}">
      <dsp:nvSpPr>
        <dsp:cNvPr id="0" name=""/>
        <dsp:cNvSpPr/>
      </dsp:nvSpPr>
      <dsp:spPr>
        <a:xfrm>
          <a:off x="4486257" y="4370817"/>
          <a:ext cx="388339" cy="91440"/>
        </a:xfrm>
        <a:custGeom>
          <a:avLst/>
          <a:gdLst/>
          <a:ahLst/>
          <a:cxnLst/>
          <a:rect l="0" t="0" r="0" b="0"/>
          <a:pathLst>
            <a:path>
              <a:moveTo>
                <a:pt x="0" y="45720"/>
              </a:moveTo>
              <a:lnTo>
                <a:pt x="388339" y="45720"/>
              </a:lnTo>
            </a:path>
          </a:pathLst>
        </a:custGeom>
        <a:noFill/>
        <a:ln w="11429" cap="flat" cmpd="sng" algn="ctr">
          <a:solidFill>
            <a:schemeClr val="accent3">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70718" y="4406829"/>
        <a:ext cx="19416" cy="19416"/>
      </dsp:txXfrm>
    </dsp:sp>
    <dsp:sp modelId="{B9E93869-B6C9-401D-B26C-F80FCEF8D956}">
      <dsp:nvSpPr>
        <dsp:cNvPr id="0" name=""/>
        <dsp:cNvSpPr/>
      </dsp:nvSpPr>
      <dsp:spPr>
        <a:xfrm>
          <a:off x="2354759" y="2664295"/>
          <a:ext cx="484648" cy="1752241"/>
        </a:xfrm>
        <a:custGeom>
          <a:avLst/>
          <a:gdLst/>
          <a:ahLst/>
          <a:cxnLst/>
          <a:rect l="0" t="0" r="0" b="0"/>
          <a:pathLst>
            <a:path>
              <a:moveTo>
                <a:pt x="0" y="0"/>
              </a:moveTo>
              <a:lnTo>
                <a:pt x="242324" y="0"/>
              </a:lnTo>
              <a:lnTo>
                <a:pt x="242324" y="1752241"/>
              </a:lnTo>
              <a:lnTo>
                <a:pt x="484648" y="1752241"/>
              </a:lnTo>
            </a:path>
          </a:pathLst>
        </a:custGeom>
        <a:noFill/>
        <a:ln w="11429" cap="flat" cmpd="sng" algn="ctr">
          <a:solidFill>
            <a:schemeClr val="accent2">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2551633" y="3494966"/>
        <a:ext cx="90901" cy="90901"/>
      </dsp:txXfrm>
    </dsp:sp>
    <dsp:sp modelId="{7FB8B313-5683-425F-864C-1F02489C4686}">
      <dsp:nvSpPr>
        <dsp:cNvPr id="0" name=""/>
        <dsp:cNvSpPr/>
      </dsp:nvSpPr>
      <dsp:spPr>
        <a:xfrm>
          <a:off x="4486257" y="2618576"/>
          <a:ext cx="388339" cy="91440"/>
        </a:xfrm>
        <a:custGeom>
          <a:avLst/>
          <a:gdLst/>
          <a:ahLst/>
          <a:cxnLst/>
          <a:rect l="0" t="0" r="0" b="0"/>
          <a:pathLst>
            <a:path>
              <a:moveTo>
                <a:pt x="0" y="45720"/>
              </a:moveTo>
              <a:lnTo>
                <a:pt x="388339" y="45720"/>
              </a:lnTo>
            </a:path>
          </a:pathLst>
        </a:custGeom>
        <a:noFill/>
        <a:ln w="11429" cap="flat" cmpd="sng" algn="ctr">
          <a:solidFill>
            <a:schemeClr val="accent3">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70718" y="2654587"/>
        <a:ext cx="19416" cy="19416"/>
      </dsp:txXfrm>
    </dsp:sp>
    <dsp:sp modelId="{CA804FD4-5F1C-49F3-AEF7-F19AAE44C2BD}">
      <dsp:nvSpPr>
        <dsp:cNvPr id="0" name=""/>
        <dsp:cNvSpPr/>
      </dsp:nvSpPr>
      <dsp:spPr>
        <a:xfrm>
          <a:off x="2354759" y="2618576"/>
          <a:ext cx="484648" cy="91440"/>
        </a:xfrm>
        <a:custGeom>
          <a:avLst/>
          <a:gdLst/>
          <a:ahLst/>
          <a:cxnLst/>
          <a:rect l="0" t="0" r="0" b="0"/>
          <a:pathLst>
            <a:path>
              <a:moveTo>
                <a:pt x="0" y="45720"/>
              </a:moveTo>
              <a:lnTo>
                <a:pt x="484648" y="45720"/>
              </a:lnTo>
            </a:path>
          </a:pathLst>
        </a:custGeom>
        <a:noFill/>
        <a:ln w="11429" cap="flat" cmpd="sng" algn="ctr">
          <a:solidFill>
            <a:schemeClr val="accent2">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84967" y="2652179"/>
        <a:ext cx="24232" cy="24232"/>
      </dsp:txXfrm>
    </dsp:sp>
    <dsp:sp modelId="{14D73916-0E45-4FC8-8D0E-E33A5085B550}">
      <dsp:nvSpPr>
        <dsp:cNvPr id="0" name=""/>
        <dsp:cNvSpPr/>
      </dsp:nvSpPr>
      <dsp:spPr>
        <a:xfrm>
          <a:off x="4486257" y="866334"/>
          <a:ext cx="388339" cy="91440"/>
        </a:xfrm>
        <a:custGeom>
          <a:avLst/>
          <a:gdLst/>
          <a:ahLst/>
          <a:cxnLst/>
          <a:rect l="0" t="0" r="0" b="0"/>
          <a:pathLst>
            <a:path>
              <a:moveTo>
                <a:pt x="0" y="45720"/>
              </a:moveTo>
              <a:lnTo>
                <a:pt x="388339" y="45720"/>
              </a:lnTo>
            </a:path>
          </a:pathLst>
        </a:custGeom>
        <a:noFill/>
        <a:ln w="11429" cap="flat" cmpd="sng" algn="ctr">
          <a:solidFill>
            <a:schemeClr val="accent3">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70718" y="902345"/>
        <a:ext cx="19416" cy="19416"/>
      </dsp:txXfrm>
    </dsp:sp>
    <dsp:sp modelId="{8B52D5E5-F6AB-4805-A3EC-3DFA4FEEFA98}">
      <dsp:nvSpPr>
        <dsp:cNvPr id="0" name=""/>
        <dsp:cNvSpPr/>
      </dsp:nvSpPr>
      <dsp:spPr>
        <a:xfrm>
          <a:off x="2354759" y="912054"/>
          <a:ext cx="484648" cy="1752241"/>
        </a:xfrm>
        <a:custGeom>
          <a:avLst/>
          <a:gdLst/>
          <a:ahLst/>
          <a:cxnLst/>
          <a:rect l="0" t="0" r="0" b="0"/>
          <a:pathLst>
            <a:path>
              <a:moveTo>
                <a:pt x="0" y="1752241"/>
              </a:moveTo>
              <a:lnTo>
                <a:pt x="242324" y="1752241"/>
              </a:lnTo>
              <a:lnTo>
                <a:pt x="242324" y="0"/>
              </a:lnTo>
              <a:lnTo>
                <a:pt x="484648" y="0"/>
              </a:lnTo>
            </a:path>
          </a:pathLst>
        </a:custGeom>
        <a:noFill/>
        <a:ln w="11429" cap="flat" cmpd="sng" algn="ctr">
          <a:solidFill>
            <a:schemeClr val="accent2">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2551633" y="1742724"/>
        <a:ext cx="90901" cy="90901"/>
      </dsp:txXfrm>
    </dsp:sp>
    <dsp:sp modelId="{E5A96139-00CD-40F8-B1AC-5B33F571731C}">
      <dsp:nvSpPr>
        <dsp:cNvPr id="0" name=""/>
        <dsp:cNvSpPr/>
      </dsp:nvSpPr>
      <dsp:spPr>
        <a:xfrm rot="16200000">
          <a:off x="-1184493" y="1486916"/>
          <a:ext cx="4723746" cy="2354759"/>
        </a:xfrm>
        <a:prstGeom prst="rect">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vert" wrap="square" lIns="15240" tIns="15240" rIns="15240" bIns="15240" numCol="1" spcCol="1270" anchor="ctr" anchorCtr="0">
          <a:noAutofit/>
        </a:bodyPr>
        <a:lstStyle/>
        <a:p>
          <a:pPr marL="0" lvl="0" indent="0" algn="ctr" defTabSz="1066800" rtl="0">
            <a:lnSpc>
              <a:spcPct val="90000"/>
            </a:lnSpc>
            <a:spcBef>
              <a:spcPct val="0"/>
            </a:spcBef>
            <a:spcAft>
              <a:spcPct val="35000"/>
            </a:spcAft>
            <a:buNone/>
          </a:pPr>
          <a:r>
            <a:rPr lang="en-GB" sz="2400" kern="1200" dirty="0"/>
            <a:t>The </a:t>
          </a:r>
        </a:p>
        <a:p>
          <a:pPr marL="0" lvl="0" indent="0" algn="ctr" defTabSz="1066800" rtl="0">
            <a:lnSpc>
              <a:spcPct val="90000"/>
            </a:lnSpc>
            <a:spcBef>
              <a:spcPct val="0"/>
            </a:spcBef>
            <a:spcAft>
              <a:spcPct val="35000"/>
            </a:spcAft>
            <a:buNone/>
          </a:pPr>
          <a:r>
            <a:rPr lang="en-GB" sz="2400" b="1" u="sng" kern="1200" dirty="0">
              <a:solidFill>
                <a:schemeClr val="tx1"/>
              </a:solidFill>
            </a:rPr>
            <a:t>premium</a:t>
          </a:r>
          <a:r>
            <a:rPr lang="en-GB" sz="2400" kern="1200" dirty="0"/>
            <a:t> investors require from the </a:t>
          </a:r>
        </a:p>
        <a:p>
          <a:pPr marL="0" lvl="0" indent="0" algn="ctr" defTabSz="1066800" rtl="0">
            <a:lnSpc>
              <a:spcPct val="90000"/>
            </a:lnSpc>
            <a:spcBef>
              <a:spcPct val="0"/>
            </a:spcBef>
            <a:spcAft>
              <a:spcPct val="35000"/>
            </a:spcAft>
            <a:buNone/>
          </a:pPr>
          <a:r>
            <a:rPr lang="en-GB" sz="2400" b="1" u="sng" kern="1200" dirty="0">
              <a:solidFill>
                <a:schemeClr val="tx1"/>
              </a:solidFill>
            </a:rPr>
            <a:t>market</a:t>
          </a:r>
          <a:r>
            <a:rPr lang="en-GB" sz="2400" kern="1200" dirty="0"/>
            <a:t> </a:t>
          </a:r>
        </a:p>
        <a:p>
          <a:pPr marL="0" lvl="0" indent="0" algn="ctr" defTabSz="1066800" rtl="0">
            <a:lnSpc>
              <a:spcPct val="90000"/>
            </a:lnSpc>
            <a:spcBef>
              <a:spcPct val="0"/>
            </a:spcBef>
            <a:spcAft>
              <a:spcPct val="35000"/>
            </a:spcAft>
            <a:buNone/>
          </a:pPr>
          <a:r>
            <a:rPr lang="en-GB" sz="2400" kern="1200" dirty="0"/>
            <a:t>(as a whole) </a:t>
          </a:r>
        </a:p>
        <a:p>
          <a:pPr marL="0" lvl="0" indent="0" algn="ctr" defTabSz="1066800" rtl="0">
            <a:lnSpc>
              <a:spcPct val="90000"/>
            </a:lnSpc>
            <a:spcBef>
              <a:spcPct val="0"/>
            </a:spcBef>
            <a:spcAft>
              <a:spcPct val="35000"/>
            </a:spcAft>
            <a:buNone/>
          </a:pPr>
          <a:r>
            <a:rPr lang="en-GB" sz="2400" b="1" u="sng" kern="1200" dirty="0">
              <a:solidFill>
                <a:schemeClr val="tx1"/>
              </a:solidFill>
            </a:rPr>
            <a:t>for average riskiness </a:t>
          </a:r>
        </a:p>
        <a:p>
          <a:pPr marL="0" lvl="0" indent="0" algn="ctr" defTabSz="1066800" rtl="0">
            <a:lnSpc>
              <a:spcPct val="90000"/>
            </a:lnSpc>
            <a:spcBef>
              <a:spcPct val="0"/>
            </a:spcBef>
            <a:spcAft>
              <a:spcPct val="35000"/>
            </a:spcAft>
            <a:buNone/>
          </a:pPr>
          <a:r>
            <a:rPr lang="en-GB" sz="2400" kern="1200" dirty="0"/>
            <a:t>(over the risk free rate)</a:t>
          </a:r>
          <a:endParaRPr lang="en-US" sz="2400" kern="1200" dirty="0"/>
        </a:p>
      </dsp:txBody>
      <dsp:txXfrm>
        <a:off x="-1184493" y="1486916"/>
        <a:ext cx="4723746" cy="2354759"/>
      </dsp:txXfrm>
    </dsp:sp>
    <dsp:sp modelId="{50B6CC0D-4951-4D67-9B2E-D0D10AC227EA}">
      <dsp:nvSpPr>
        <dsp:cNvPr id="0" name=""/>
        <dsp:cNvSpPr/>
      </dsp:nvSpPr>
      <dsp:spPr>
        <a:xfrm>
          <a:off x="2839408" y="118409"/>
          <a:ext cx="1646849" cy="1587289"/>
        </a:xfrm>
        <a:prstGeom prst="rect">
          <a:avLst/>
        </a:prstGeom>
        <a:solidFill>
          <a:schemeClr val="accent2">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rtl="0">
            <a:lnSpc>
              <a:spcPct val="90000"/>
            </a:lnSpc>
            <a:spcBef>
              <a:spcPct val="0"/>
            </a:spcBef>
            <a:spcAft>
              <a:spcPct val="35000"/>
            </a:spcAft>
            <a:buNone/>
          </a:pPr>
          <a:r>
            <a:rPr lang="en-GB" sz="2400" kern="1200" dirty="0"/>
            <a:t>A. Historical</a:t>
          </a:r>
        </a:p>
        <a:p>
          <a:pPr marL="0" lvl="0" indent="0" algn="ctr" defTabSz="1066800" rtl="0">
            <a:lnSpc>
              <a:spcPct val="90000"/>
            </a:lnSpc>
            <a:spcBef>
              <a:spcPct val="0"/>
            </a:spcBef>
            <a:spcAft>
              <a:spcPct val="35000"/>
            </a:spcAft>
            <a:buNone/>
          </a:pPr>
          <a:r>
            <a:rPr lang="en-GB" sz="2400" kern="1200" dirty="0"/>
            <a:t>(</a:t>
          </a:r>
          <a:r>
            <a:rPr lang="en-GB" sz="2400" kern="1200" dirty="0">
              <a:solidFill>
                <a:srgbClr val="FFFF00"/>
              </a:solidFill>
            </a:rPr>
            <a:t>Backward</a:t>
          </a:r>
          <a:r>
            <a:rPr lang="en-GB" sz="2400" kern="1200" dirty="0"/>
            <a:t>)</a:t>
          </a:r>
          <a:endParaRPr lang="en-US" sz="2400" kern="1200" dirty="0"/>
        </a:p>
      </dsp:txBody>
      <dsp:txXfrm>
        <a:off x="2839408" y="118409"/>
        <a:ext cx="1646849" cy="1587289"/>
      </dsp:txXfrm>
    </dsp:sp>
    <dsp:sp modelId="{984D9DE8-076E-47B7-A816-E5F4D976E903}">
      <dsp:nvSpPr>
        <dsp:cNvPr id="0" name=""/>
        <dsp:cNvSpPr/>
      </dsp:nvSpPr>
      <dsp:spPr>
        <a:xfrm>
          <a:off x="4874597" y="201664"/>
          <a:ext cx="3622004" cy="1420779"/>
        </a:xfrm>
        <a:prstGeom prst="rect">
          <a:avLst/>
        </a:prstGeom>
        <a:solidFill>
          <a:schemeClr val="accent3">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rtl="0">
            <a:lnSpc>
              <a:spcPct val="90000"/>
            </a:lnSpc>
            <a:spcBef>
              <a:spcPct val="0"/>
            </a:spcBef>
            <a:spcAft>
              <a:spcPct val="35000"/>
            </a:spcAft>
            <a:buNone/>
          </a:pPr>
          <a:r>
            <a:rPr lang="en-GB" sz="1900" kern="1200" dirty="0"/>
            <a:t>Compute the average difference between past (realized) market return and past risk free rates </a:t>
          </a:r>
          <a:endParaRPr lang="en-US" sz="1900" kern="1200" dirty="0"/>
        </a:p>
      </dsp:txBody>
      <dsp:txXfrm>
        <a:off x="4874597" y="201664"/>
        <a:ext cx="3622004" cy="1420779"/>
      </dsp:txXfrm>
    </dsp:sp>
    <dsp:sp modelId="{76AB562E-2E7D-46F7-AE18-E7DDD7C6E33A}">
      <dsp:nvSpPr>
        <dsp:cNvPr id="0" name=""/>
        <dsp:cNvSpPr/>
      </dsp:nvSpPr>
      <dsp:spPr>
        <a:xfrm>
          <a:off x="2839408" y="1870651"/>
          <a:ext cx="1646849" cy="1587289"/>
        </a:xfrm>
        <a:prstGeom prst="rect">
          <a:avLst/>
        </a:prstGeom>
        <a:solidFill>
          <a:schemeClr val="accent2">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rtl="0">
            <a:lnSpc>
              <a:spcPct val="90000"/>
            </a:lnSpc>
            <a:spcBef>
              <a:spcPct val="0"/>
            </a:spcBef>
            <a:spcAft>
              <a:spcPct val="35000"/>
            </a:spcAft>
            <a:buNone/>
          </a:pPr>
          <a:r>
            <a:rPr lang="en-GB" sz="2400" kern="1200" dirty="0"/>
            <a:t>B. </a:t>
          </a:r>
        </a:p>
        <a:p>
          <a:pPr marL="0" lvl="0" indent="0" algn="ctr" defTabSz="1066800" rtl="0">
            <a:lnSpc>
              <a:spcPct val="90000"/>
            </a:lnSpc>
            <a:spcBef>
              <a:spcPct val="0"/>
            </a:spcBef>
            <a:spcAft>
              <a:spcPct val="35000"/>
            </a:spcAft>
            <a:buNone/>
          </a:pPr>
          <a:r>
            <a:rPr lang="en-GB" sz="2400" kern="1200" dirty="0"/>
            <a:t>Implied</a:t>
          </a:r>
        </a:p>
        <a:p>
          <a:pPr marL="0" lvl="0" indent="0" algn="ctr" defTabSz="1066800" rtl="0">
            <a:lnSpc>
              <a:spcPct val="90000"/>
            </a:lnSpc>
            <a:spcBef>
              <a:spcPct val="0"/>
            </a:spcBef>
            <a:spcAft>
              <a:spcPct val="35000"/>
            </a:spcAft>
            <a:buNone/>
          </a:pPr>
          <a:r>
            <a:rPr lang="en-GB" sz="2400" kern="1200" dirty="0"/>
            <a:t>(</a:t>
          </a:r>
          <a:r>
            <a:rPr lang="en-GB" sz="2400" kern="1200" dirty="0">
              <a:solidFill>
                <a:srgbClr val="FFFF00"/>
              </a:solidFill>
            </a:rPr>
            <a:t>Forward</a:t>
          </a:r>
          <a:r>
            <a:rPr lang="en-GB" sz="2400" kern="1200" dirty="0"/>
            <a:t>)</a:t>
          </a:r>
          <a:endParaRPr lang="en-US" sz="2400" kern="1200" dirty="0"/>
        </a:p>
      </dsp:txBody>
      <dsp:txXfrm>
        <a:off x="2839408" y="1870651"/>
        <a:ext cx="1646849" cy="1587289"/>
      </dsp:txXfrm>
    </dsp:sp>
    <dsp:sp modelId="{97042472-85D2-4735-878E-95F74CE9DF20}">
      <dsp:nvSpPr>
        <dsp:cNvPr id="0" name=""/>
        <dsp:cNvSpPr/>
      </dsp:nvSpPr>
      <dsp:spPr>
        <a:xfrm>
          <a:off x="4874597" y="1953906"/>
          <a:ext cx="3622004" cy="1420779"/>
        </a:xfrm>
        <a:prstGeom prst="rect">
          <a:avLst/>
        </a:prstGeom>
        <a:solidFill>
          <a:schemeClr val="accent3">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rtl="0">
            <a:lnSpc>
              <a:spcPct val="90000"/>
            </a:lnSpc>
            <a:spcBef>
              <a:spcPct val="0"/>
            </a:spcBef>
            <a:spcAft>
              <a:spcPct val="35000"/>
            </a:spcAft>
            <a:buNone/>
          </a:pPr>
          <a:r>
            <a:rPr lang="en-GB" sz="1900" kern="1200" dirty="0"/>
            <a:t>Estimate the discount rate that makes the present value of an index cash flows equal to the index now</a:t>
          </a:r>
          <a:endParaRPr lang="en-US" sz="1900" kern="1200" dirty="0"/>
        </a:p>
      </dsp:txBody>
      <dsp:txXfrm>
        <a:off x="4874597" y="1953906"/>
        <a:ext cx="3622004" cy="1420779"/>
      </dsp:txXfrm>
    </dsp:sp>
    <dsp:sp modelId="{C9E529F9-62A5-4339-93D1-E2A5AE400766}">
      <dsp:nvSpPr>
        <dsp:cNvPr id="0" name=""/>
        <dsp:cNvSpPr/>
      </dsp:nvSpPr>
      <dsp:spPr>
        <a:xfrm>
          <a:off x="2839408" y="3622892"/>
          <a:ext cx="1646849" cy="1587289"/>
        </a:xfrm>
        <a:prstGeom prst="rect">
          <a:avLst/>
        </a:prstGeom>
        <a:solidFill>
          <a:schemeClr val="accent2">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rtl="0">
            <a:lnSpc>
              <a:spcPct val="90000"/>
            </a:lnSpc>
            <a:spcBef>
              <a:spcPct val="0"/>
            </a:spcBef>
            <a:spcAft>
              <a:spcPct val="35000"/>
            </a:spcAft>
            <a:buNone/>
          </a:pPr>
          <a:r>
            <a:rPr lang="en-GB" sz="2400" kern="1200" dirty="0"/>
            <a:t>C. </a:t>
          </a:r>
        </a:p>
        <a:p>
          <a:pPr marL="0" lvl="0" indent="0" algn="ctr" defTabSz="1066800" rtl="0">
            <a:lnSpc>
              <a:spcPct val="90000"/>
            </a:lnSpc>
            <a:spcBef>
              <a:spcPct val="0"/>
            </a:spcBef>
            <a:spcAft>
              <a:spcPct val="35000"/>
            </a:spcAft>
            <a:buNone/>
          </a:pPr>
          <a:r>
            <a:rPr lang="en-GB" sz="2400" kern="1200" dirty="0"/>
            <a:t>Average Implied</a:t>
          </a:r>
        </a:p>
        <a:p>
          <a:pPr marL="0" lvl="0" indent="0" algn="ctr" defTabSz="1066800" rtl="0">
            <a:lnSpc>
              <a:spcPct val="90000"/>
            </a:lnSpc>
            <a:spcBef>
              <a:spcPct val="0"/>
            </a:spcBef>
            <a:spcAft>
              <a:spcPct val="35000"/>
            </a:spcAft>
            <a:buNone/>
          </a:pPr>
          <a:r>
            <a:rPr lang="en-GB" sz="2400" kern="1200" dirty="0"/>
            <a:t>(</a:t>
          </a:r>
          <a:r>
            <a:rPr lang="en-GB" sz="2400" kern="1200" dirty="0">
              <a:solidFill>
                <a:srgbClr val="FFFF00"/>
              </a:solidFill>
            </a:rPr>
            <a:t>Both</a:t>
          </a:r>
          <a:r>
            <a:rPr lang="en-GB" sz="2400" kern="1200" dirty="0"/>
            <a:t>)</a:t>
          </a:r>
          <a:endParaRPr lang="en-US" sz="2400" kern="1200" dirty="0"/>
        </a:p>
      </dsp:txBody>
      <dsp:txXfrm>
        <a:off x="2839408" y="3622892"/>
        <a:ext cx="1646849" cy="1587289"/>
      </dsp:txXfrm>
    </dsp:sp>
    <dsp:sp modelId="{B4A180E9-018F-437F-B8E2-101F56DD60BA}">
      <dsp:nvSpPr>
        <dsp:cNvPr id="0" name=""/>
        <dsp:cNvSpPr/>
      </dsp:nvSpPr>
      <dsp:spPr>
        <a:xfrm>
          <a:off x="4874597" y="3706147"/>
          <a:ext cx="3622004" cy="1420779"/>
        </a:xfrm>
        <a:prstGeom prst="rect">
          <a:avLst/>
        </a:prstGeom>
        <a:solidFill>
          <a:schemeClr val="accent3">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rtl="0">
            <a:lnSpc>
              <a:spcPct val="90000"/>
            </a:lnSpc>
            <a:spcBef>
              <a:spcPct val="0"/>
            </a:spcBef>
            <a:spcAft>
              <a:spcPct val="35000"/>
            </a:spcAft>
            <a:buNone/>
          </a:pPr>
          <a:r>
            <a:rPr lang="en-GB" sz="1900" kern="1200" dirty="0"/>
            <a:t>Compute the average implied market risk premium over a period of time</a:t>
          </a:r>
          <a:endParaRPr lang="en-US" sz="1900" kern="1200" dirty="0"/>
        </a:p>
      </dsp:txBody>
      <dsp:txXfrm>
        <a:off x="4874597" y="3706147"/>
        <a:ext cx="3622004" cy="142077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F4906A-7A8C-46BE-941A-F5369BA72F96}">
      <dsp:nvSpPr>
        <dsp:cNvPr id="0" name=""/>
        <dsp:cNvSpPr/>
      </dsp:nvSpPr>
      <dsp:spPr>
        <a:xfrm>
          <a:off x="2662" y="137392"/>
          <a:ext cx="2595547" cy="989544"/>
        </a:xfrm>
        <a:prstGeom prst="rect">
          <a:avLst/>
        </a:prstGeom>
        <a:solidFill>
          <a:schemeClr val="accent1">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rtl="0">
            <a:lnSpc>
              <a:spcPct val="90000"/>
            </a:lnSpc>
            <a:spcBef>
              <a:spcPct val="0"/>
            </a:spcBef>
            <a:spcAft>
              <a:spcPct val="35000"/>
            </a:spcAft>
            <a:buNone/>
          </a:pPr>
          <a:r>
            <a:rPr lang="en-US" sz="2100" i="1" u="sng" kern="1200" dirty="0"/>
            <a:t>Historical Risk Premium</a:t>
          </a:r>
          <a:r>
            <a:rPr lang="en-US" sz="2100" kern="1200" dirty="0"/>
            <a:t>: </a:t>
          </a:r>
        </a:p>
      </dsp:txBody>
      <dsp:txXfrm>
        <a:off x="2662" y="137392"/>
        <a:ext cx="2595547" cy="989544"/>
      </dsp:txXfrm>
    </dsp:sp>
    <dsp:sp modelId="{2EDA30D3-9EA8-4464-9ACE-DEA5B4824A6D}">
      <dsp:nvSpPr>
        <dsp:cNvPr id="0" name=""/>
        <dsp:cNvSpPr/>
      </dsp:nvSpPr>
      <dsp:spPr>
        <a:xfrm>
          <a:off x="2662" y="1126937"/>
          <a:ext cx="2595547" cy="4496310"/>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outerShdw blurRad="50800" dist="25400" dir="5400000" rotWithShape="0">
            <a:srgbClr val="000000">
              <a:alpha val="4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rtl="0">
            <a:lnSpc>
              <a:spcPct val="90000"/>
            </a:lnSpc>
            <a:spcBef>
              <a:spcPct val="0"/>
            </a:spcBef>
            <a:spcAft>
              <a:spcPct val="15000"/>
            </a:spcAft>
            <a:buChar char="•"/>
          </a:pPr>
          <a:r>
            <a:rPr lang="en-US" sz="2100" kern="1200" dirty="0"/>
            <a:t>You are assuming that premiums will revert back to a historical norm and that</a:t>
          </a:r>
          <a:endParaRPr lang="en-GB" sz="2100" kern="1200" dirty="0"/>
        </a:p>
        <a:p>
          <a:pPr marL="228600" lvl="1" indent="-228600" algn="l" defTabSz="933450" rtl="0">
            <a:lnSpc>
              <a:spcPct val="90000"/>
            </a:lnSpc>
            <a:spcBef>
              <a:spcPct val="0"/>
            </a:spcBef>
            <a:spcAft>
              <a:spcPct val="15000"/>
            </a:spcAft>
            <a:buChar char="•"/>
          </a:pPr>
          <a:r>
            <a:rPr lang="en-US" sz="2100" kern="1200" dirty="0"/>
            <a:t>The time period that you are using is the right norm. </a:t>
          </a:r>
          <a:endParaRPr lang="en-GB" sz="2100" kern="1200" dirty="0"/>
        </a:p>
        <a:p>
          <a:pPr marL="228600" lvl="1" indent="-228600" algn="l" defTabSz="933450" rtl="0">
            <a:lnSpc>
              <a:spcPct val="90000"/>
            </a:lnSpc>
            <a:spcBef>
              <a:spcPct val="0"/>
            </a:spcBef>
            <a:spcAft>
              <a:spcPct val="15000"/>
            </a:spcAft>
            <a:buChar char="•"/>
          </a:pPr>
          <a:r>
            <a:rPr lang="en-US" sz="2100" kern="1200" dirty="0"/>
            <a:t>You are also more likely to find stocks to be overvalued than undervalued (Why?)</a:t>
          </a:r>
          <a:endParaRPr lang="en-GB" sz="2100" kern="1200" dirty="0"/>
        </a:p>
      </dsp:txBody>
      <dsp:txXfrm>
        <a:off x="2662" y="1126937"/>
        <a:ext cx="2595547" cy="4496310"/>
      </dsp:txXfrm>
    </dsp:sp>
    <dsp:sp modelId="{7B1D7BC9-0B4E-4B92-81BC-435C0E0F1959}">
      <dsp:nvSpPr>
        <dsp:cNvPr id="0" name=""/>
        <dsp:cNvSpPr/>
      </dsp:nvSpPr>
      <dsp:spPr>
        <a:xfrm>
          <a:off x="2961586" y="137392"/>
          <a:ext cx="2595547" cy="989544"/>
        </a:xfrm>
        <a:prstGeom prst="rect">
          <a:avLst/>
        </a:prstGeom>
        <a:solidFill>
          <a:schemeClr val="accent1">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rtl="0">
            <a:lnSpc>
              <a:spcPct val="90000"/>
            </a:lnSpc>
            <a:spcBef>
              <a:spcPct val="0"/>
            </a:spcBef>
            <a:spcAft>
              <a:spcPct val="35000"/>
            </a:spcAft>
            <a:buNone/>
          </a:pPr>
          <a:r>
            <a:rPr lang="en-US" sz="2100" i="1" u="sng" kern="1200" dirty="0"/>
            <a:t>Current Implied Equity Risk premium</a:t>
          </a:r>
          <a:r>
            <a:rPr lang="en-US" sz="2100" kern="1200" dirty="0"/>
            <a:t>: </a:t>
          </a:r>
        </a:p>
      </dsp:txBody>
      <dsp:txXfrm>
        <a:off x="2961586" y="137392"/>
        <a:ext cx="2595547" cy="989544"/>
      </dsp:txXfrm>
    </dsp:sp>
    <dsp:sp modelId="{7203EEFB-7FE0-44C7-AC86-72D882B6A9D6}">
      <dsp:nvSpPr>
        <dsp:cNvPr id="0" name=""/>
        <dsp:cNvSpPr/>
      </dsp:nvSpPr>
      <dsp:spPr>
        <a:xfrm>
          <a:off x="2961586" y="1126937"/>
          <a:ext cx="2595547" cy="4496310"/>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outerShdw blurRad="50800" dist="25400" dir="5400000" rotWithShape="0">
            <a:srgbClr val="000000">
              <a:alpha val="4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rtl="0">
            <a:lnSpc>
              <a:spcPct val="90000"/>
            </a:lnSpc>
            <a:spcBef>
              <a:spcPct val="0"/>
            </a:spcBef>
            <a:spcAft>
              <a:spcPct val="15000"/>
            </a:spcAft>
            <a:buChar char="•"/>
          </a:pPr>
          <a:r>
            <a:rPr lang="en-US" sz="2100" kern="1200" dirty="0"/>
            <a:t>You are assuming that the market is correct in the aggregate but makes mistakes on individual stocks. </a:t>
          </a:r>
          <a:endParaRPr lang="en-GB" sz="2100" kern="1200" dirty="0"/>
        </a:p>
        <a:p>
          <a:pPr marL="228600" lvl="1" indent="-228600" algn="l" defTabSz="933450" rtl="0">
            <a:lnSpc>
              <a:spcPct val="90000"/>
            </a:lnSpc>
            <a:spcBef>
              <a:spcPct val="0"/>
            </a:spcBef>
            <a:spcAft>
              <a:spcPct val="15000"/>
            </a:spcAft>
            <a:buChar char="•"/>
          </a:pPr>
          <a:r>
            <a:rPr lang="en-US" sz="2100" kern="1200" dirty="0"/>
            <a:t>If you are required to be market neutral, this is the premium  you should use. </a:t>
          </a:r>
          <a:endParaRPr lang="en-GB" sz="2100" kern="1200" dirty="0"/>
        </a:p>
      </dsp:txBody>
      <dsp:txXfrm>
        <a:off x="2961586" y="1126937"/>
        <a:ext cx="2595547" cy="4496310"/>
      </dsp:txXfrm>
    </dsp:sp>
    <dsp:sp modelId="{BF61626B-3FFB-4999-B015-25B41ED51D8E}">
      <dsp:nvSpPr>
        <dsp:cNvPr id="0" name=""/>
        <dsp:cNvSpPr/>
      </dsp:nvSpPr>
      <dsp:spPr>
        <a:xfrm>
          <a:off x="5920510" y="137392"/>
          <a:ext cx="2595547" cy="989544"/>
        </a:xfrm>
        <a:prstGeom prst="rect">
          <a:avLst/>
        </a:prstGeom>
        <a:solidFill>
          <a:schemeClr val="accent1">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rtl="0">
            <a:lnSpc>
              <a:spcPct val="90000"/>
            </a:lnSpc>
            <a:spcBef>
              <a:spcPct val="0"/>
            </a:spcBef>
            <a:spcAft>
              <a:spcPct val="35000"/>
            </a:spcAft>
            <a:buNone/>
          </a:pPr>
          <a:r>
            <a:rPr lang="en-US" sz="2100" i="1" u="sng" kern="1200" dirty="0"/>
            <a:t>Average Implied Equity Risk premium</a:t>
          </a:r>
          <a:r>
            <a:rPr lang="en-US" sz="2100" kern="1200" dirty="0"/>
            <a:t>: </a:t>
          </a:r>
        </a:p>
      </dsp:txBody>
      <dsp:txXfrm>
        <a:off x="5920510" y="137392"/>
        <a:ext cx="2595547" cy="989544"/>
      </dsp:txXfrm>
    </dsp:sp>
    <dsp:sp modelId="{CBF00831-1A3F-4749-8C5C-CB98A8ABB13B}">
      <dsp:nvSpPr>
        <dsp:cNvPr id="0" name=""/>
        <dsp:cNvSpPr/>
      </dsp:nvSpPr>
      <dsp:spPr>
        <a:xfrm>
          <a:off x="5920510" y="1126937"/>
          <a:ext cx="2595547" cy="4496310"/>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outerShdw blurRad="50800" dist="25400" dir="5400000" rotWithShape="0">
            <a:srgbClr val="000000">
              <a:alpha val="4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rtl="0">
            <a:lnSpc>
              <a:spcPct val="90000"/>
            </a:lnSpc>
            <a:spcBef>
              <a:spcPct val="0"/>
            </a:spcBef>
            <a:spcAft>
              <a:spcPct val="15000"/>
            </a:spcAft>
            <a:buChar char="•"/>
          </a:pPr>
          <a:r>
            <a:rPr lang="en-US" sz="2100" kern="1200" dirty="0"/>
            <a:t>The average implied equity risk premium between 1960-2003 in the United States is about 4%. </a:t>
          </a:r>
          <a:endParaRPr lang="en-GB" sz="2100" kern="1200" dirty="0"/>
        </a:p>
        <a:p>
          <a:pPr marL="228600" lvl="1" indent="-228600" algn="l" defTabSz="933450" rtl="0">
            <a:lnSpc>
              <a:spcPct val="90000"/>
            </a:lnSpc>
            <a:spcBef>
              <a:spcPct val="0"/>
            </a:spcBef>
            <a:spcAft>
              <a:spcPct val="15000"/>
            </a:spcAft>
            <a:buChar char="•"/>
          </a:pPr>
          <a:r>
            <a:rPr lang="en-US" sz="2100" kern="1200" dirty="0"/>
            <a:t>You are assuming that the market is correct on average but not necessarily at a point in time.</a:t>
          </a:r>
          <a:endParaRPr lang="en-GB" sz="2100" kern="1200" dirty="0"/>
        </a:p>
      </dsp:txBody>
      <dsp:txXfrm>
        <a:off x="5920510" y="1126937"/>
        <a:ext cx="2595547" cy="449631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5FA64D-9586-48F1-BA99-2A88B8A73B08}">
      <dsp:nvSpPr>
        <dsp:cNvPr id="0" name=""/>
        <dsp:cNvSpPr/>
      </dsp:nvSpPr>
      <dsp:spPr>
        <a:xfrm>
          <a:off x="0" y="469012"/>
          <a:ext cx="8503920" cy="1708875"/>
        </a:xfrm>
        <a:prstGeom prst="rect">
          <a:avLst/>
        </a:prstGeom>
        <a:solidFill>
          <a:schemeClr val="lt1">
            <a:alpha val="90000"/>
            <a:hueOff val="0"/>
            <a:satOff val="0"/>
            <a:lumOff val="0"/>
            <a:alphaOff val="0"/>
          </a:schemeClr>
        </a:solidFill>
        <a:ln w="11429" cap="flat" cmpd="sng" algn="ctr">
          <a:solidFill>
            <a:schemeClr val="accent1">
              <a:hueOff val="0"/>
              <a:satOff val="0"/>
              <a:lumOff val="0"/>
              <a:alphaOff val="0"/>
            </a:schemeClr>
          </a:solidFill>
          <a:prstDash val="sysDash"/>
        </a:ln>
        <a:effectLst/>
      </dsp:spPr>
      <dsp:style>
        <a:lnRef idx="2">
          <a:scrgbClr r="0" g="0" b="0"/>
        </a:lnRef>
        <a:fillRef idx="1">
          <a:scrgbClr r="0" g="0" b="0"/>
        </a:fillRef>
        <a:effectRef idx="0">
          <a:scrgbClr r="0" g="0" b="0"/>
        </a:effectRef>
        <a:fontRef idx="minor"/>
      </dsp:style>
      <dsp:txBody>
        <a:bodyPr spcFirstLastPara="0" vert="horz" wrap="square" lIns="659999" tIns="645668" rIns="659999" bIns="220472" numCol="1" spcCol="1270" anchor="t" anchorCtr="0">
          <a:noAutofit/>
        </a:bodyPr>
        <a:lstStyle/>
        <a:p>
          <a:pPr marL="285750" lvl="1" indent="-285750" algn="l" defTabSz="1377950" rtl="0">
            <a:lnSpc>
              <a:spcPct val="90000"/>
            </a:lnSpc>
            <a:spcBef>
              <a:spcPct val="0"/>
            </a:spcBef>
            <a:spcAft>
              <a:spcPct val="15000"/>
            </a:spcAft>
            <a:buChar char="•"/>
          </a:pPr>
          <a:r>
            <a:rPr lang="en-GB" sz="3100" kern="1200"/>
            <a:t>Historical Risk Premia are around 4% to 5%</a:t>
          </a:r>
          <a:endParaRPr lang="en-US" sz="3100" kern="1200"/>
        </a:p>
      </dsp:txBody>
      <dsp:txXfrm>
        <a:off x="0" y="469012"/>
        <a:ext cx="8503920" cy="1708875"/>
      </dsp:txXfrm>
    </dsp:sp>
    <dsp:sp modelId="{F3696EFD-218C-476F-B563-ED76F96691FD}">
      <dsp:nvSpPr>
        <dsp:cNvPr id="0" name=""/>
        <dsp:cNvSpPr/>
      </dsp:nvSpPr>
      <dsp:spPr>
        <a:xfrm>
          <a:off x="425196" y="11452"/>
          <a:ext cx="5952744" cy="915120"/>
        </a:xfrm>
        <a:prstGeom prst="roundRect">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225000" tIns="0" rIns="225000" bIns="0" numCol="1" spcCol="1270" anchor="ctr" anchorCtr="0">
          <a:noAutofit/>
        </a:bodyPr>
        <a:lstStyle/>
        <a:p>
          <a:pPr marL="0" lvl="0" indent="0" algn="l" defTabSz="1377950" rtl="0">
            <a:lnSpc>
              <a:spcPct val="90000"/>
            </a:lnSpc>
            <a:spcBef>
              <a:spcPct val="0"/>
            </a:spcBef>
            <a:spcAft>
              <a:spcPct val="35000"/>
            </a:spcAft>
            <a:buNone/>
          </a:pPr>
          <a:r>
            <a:rPr lang="en-GB" sz="3100" kern="1200"/>
            <a:t>Mature</a:t>
          </a:r>
          <a:endParaRPr lang="en-US" sz="3100" kern="1200"/>
        </a:p>
      </dsp:txBody>
      <dsp:txXfrm>
        <a:off x="469868" y="56124"/>
        <a:ext cx="5863400" cy="825776"/>
      </dsp:txXfrm>
    </dsp:sp>
    <dsp:sp modelId="{EBE3EA99-E752-401C-B39F-1E4F112DF4C4}">
      <dsp:nvSpPr>
        <dsp:cNvPr id="0" name=""/>
        <dsp:cNvSpPr/>
      </dsp:nvSpPr>
      <dsp:spPr>
        <a:xfrm>
          <a:off x="0" y="2802847"/>
          <a:ext cx="8503920" cy="1757700"/>
        </a:xfrm>
        <a:prstGeom prst="rect">
          <a:avLst/>
        </a:prstGeom>
        <a:solidFill>
          <a:schemeClr val="lt1">
            <a:alpha val="90000"/>
            <a:hueOff val="0"/>
            <a:satOff val="0"/>
            <a:lumOff val="0"/>
            <a:alphaOff val="0"/>
          </a:schemeClr>
        </a:solidFill>
        <a:ln w="11429" cap="flat" cmpd="sng" algn="ctr">
          <a:solidFill>
            <a:schemeClr val="accent1">
              <a:hueOff val="0"/>
              <a:satOff val="0"/>
              <a:lumOff val="0"/>
              <a:alphaOff val="0"/>
            </a:schemeClr>
          </a:solidFill>
          <a:prstDash val="sysDash"/>
        </a:ln>
        <a:effectLst/>
      </dsp:spPr>
      <dsp:style>
        <a:lnRef idx="2">
          <a:scrgbClr r="0" g="0" b="0"/>
        </a:lnRef>
        <a:fillRef idx="1">
          <a:scrgbClr r="0" g="0" b="0"/>
        </a:fillRef>
        <a:effectRef idx="0">
          <a:scrgbClr r="0" g="0" b="0"/>
        </a:effectRef>
        <a:fontRef idx="minor"/>
      </dsp:style>
      <dsp:txBody>
        <a:bodyPr spcFirstLastPara="0" vert="horz" wrap="square" lIns="659999" tIns="645668" rIns="659999" bIns="220472" numCol="1" spcCol="1270" anchor="t" anchorCtr="0">
          <a:noAutofit/>
        </a:bodyPr>
        <a:lstStyle/>
        <a:p>
          <a:pPr marL="285750" lvl="1" indent="-285750" algn="l" defTabSz="1377950" rtl="0">
            <a:lnSpc>
              <a:spcPct val="90000"/>
            </a:lnSpc>
            <a:spcBef>
              <a:spcPct val="0"/>
            </a:spcBef>
            <a:spcAft>
              <a:spcPct val="15000"/>
            </a:spcAft>
            <a:buChar char="•"/>
          </a:pPr>
          <a:r>
            <a:rPr lang="en-GB" sz="3100" kern="1200"/>
            <a:t>Wide variation</a:t>
          </a:r>
          <a:endParaRPr lang="en-US" sz="3100" kern="1200"/>
        </a:p>
        <a:p>
          <a:pPr marL="285750" lvl="1" indent="-285750" algn="l" defTabSz="1377950" rtl="0">
            <a:lnSpc>
              <a:spcPct val="90000"/>
            </a:lnSpc>
            <a:spcBef>
              <a:spcPct val="0"/>
            </a:spcBef>
            <a:spcAft>
              <a:spcPct val="15000"/>
            </a:spcAft>
            <a:buChar char="•"/>
          </a:pPr>
          <a:r>
            <a:rPr lang="en-GB" sz="3100" kern="1200"/>
            <a:t>Should we consider other factors?</a:t>
          </a:r>
          <a:endParaRPr lang="en-US" sz="3100" kern="1200"/>
        </a:p>
      </dsp:txBody>
      <dsp:txXfrm>
        <a:off x="0" y="2802847"/>
        <a:ext cx="8503920" cy="1757700"/>
      </dsp:txXfrm>
    </dsp:sp>
    <dsp:sp modelId="{CCA0EA83-3BBB-4676-86C4-F4EA7BB1A544}">
      <dsp:nvSpPr>
        <dsp:cNvPr id="0" name=""/>
        <dsp:cNvSpPr/>
      </dsp:nvSpPr>
      <dsp:spPr>
        <a:xfrm>
          <a:off x="425196" y="2345287"/>
          <a:ext cx="5952744" cy="915120"/>
        </a:xfrm>
        <a:prstGeom prst="roundRect">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225000" tIns="0" rIns="225000" bIns="0" numCol="1" spcCol="1270" anchor="ctr" anchorCtr="0">
          <a:noAutofit/>
        </a:bodyPr>
        <a:lstStyle/>
        <a:p>
          <a:pPr marL="0" lvl="0" indent="0" algn="l" defTabSz="1377950" rtl="0">
            <a:lnSpc>
              <a:spcPct val="90000"/>
            </a:lnSpc>
            <a:spcBef>
              <a:spcPct val="0"/>
            </a:spcBef>
            <a:spcAft>
              <a:spcPct val="35000"/>
            </a:spcAft>
            <a:buNone/>
          </a:pPr>
          <a:r>
            <a:rPr lang="en-GB" sz="3100" kern="1200"/>
            <a:t>Emerging</a:t>
          </a:r>
          <a:endParaRPr lang="en-US" sz="3100" kern="1200"/>
        </a:p>
      </dsp:txBody>
      <dsp:txXfrm>
        <a:off x="469868" y="2389959"/>
        <a:ext cx="5863400" cy="82577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63F612-D9D3-40CE-ACA7-605045D9873B}">
      <dsp:nvSpPr>
        <dsp:cNvPr id="0" name=""/>
        <dsp:cNvSpPr/>
      </dsp:nvSpPr>
      <dsp:spPr>
        <a:xfrm>
          <a:off x="0" y="5286"/>
          <a:ext cx="4995031" cy="1235990"/>
        </a:xfrm>
        <a:prstGeom prst="ellipse">
          <a:avLst/>
        </a:prstGeom>
        <a:solidFill>
          <a:schemeClr val="accent2">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en-GB" sz="3000" kern="1200" dirty="0"/>
            <a:t>Base  Risk Premium (RP)</a:t>
          </a:r>
        </a:p>
      </dsp:txBody>
      <dsp:txXfrm>
        <a:off x="731505" y="186293"/>
        <a:ext cx="3532021" cy="873976"/>
      </dsp:txXfrm>
    </dsp:sp>
    <dsp:sp modelId="{5D8D044F-D501-4985-AFBB-DF53E18D15DB}">
      <dsp:nvSpPr>
        <dsp:cNvPr id="0" name=""/>
        <dsp:cNvSpPr/>
      </dsp:nvSpPr>
      <dsp:spPr>
        <a:xfrm>
          <a:off x="2020274" y="1341638"/>
          <a:ext cx="716874" cy="716874"/>
        </a:xfrm>
        <a:prstGeom prst="mathPlus">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GB" sz="1200" kern="1200"/>
        </a:p>
      </dsp:txBody>
      <dsp:txXfrm>
        <a:off x="2115296" y="1615771"/>
        <a:ext cx="526830" cy="168608"/>
      </dsp:txXfrm>
    </dsp:sp>
    <dsp:sp modelId="{11905AAC-4AE5-4B58-8A8B-0A03EB0ED25A}">
      <dsp:nvSpPr>
        <dsp:cNvPr id="0" name=""/>
        <dsp:cNvSpPr/>
      </dsp:nvSpPr>
      <dsp:spPr>
        <a:xfrm>
          <a:off x="0" y="2158875"/>
          <a:ext cx="4995031" cy="1235990"/>
        </a:xfrm>
        <a:prstGeom prst="ellipse">
          <a:avLst/>
        </a:prstGeom>
        <a:solidFill>
          <a:schemeClr val="accent3">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en-GB" sz="3000" kern="1200" dirty="0"/>
            <a:t>Country Risk Premium (CRP)</a:t>
          </a:r>
        </a:p>
      </dsp:txBody>
      <dsp:txXfrm>
        <a:off x="731505" y="2339882"/>
        <a:ext cx="3532021" cy="873976"/>
      </dsp:txXfrm>
    </dsp:sp>
    <dsp:sp modelId="{952E7EEB-6E16-4FD6-802A-D3A12B6241ED}">
      <dsp:nvSpPr>
        <dsp:cNvPr id="0" name=""/>
        <dsp:cNvSpPr/>
      </dsp:nvSpPr>
      <dsp:spPr>
        <a:xfrm>
          <a:off x="4018179" y="1470181"/>
          <a:ext cx="1641974" cy="459788"/>
        </a:xfrm>
        <a:prstGeom prst="rightArrow">
          <a:avLst>
            <a:gd name="adj1" fmla="val 60000"/>
            <a:gd name="adj2" fmla="val 50000"/>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GB" sz="2100" kern="1200"/>
        </a:p>
      </dsp:txBody>
      <dsp:txXfrm>
        <a:off x="4018179" y="1562139"/>
        <a:ext cx="1504038" cy="275872"/>
      </dsp:txXfrm>
    </dsp:sp>
    <dsp:sp modelId="{C21302AD-C638-43BD-BA14-AD6FFB86E8EE}">
      <dsp:nvSpPr>
        <dsp:cNvPr id="0" name=""/>
        <dsp:cNvSpPr/>
      </dsp:nvSpPr>
      <dsp:spPr>
        <a:xfrm>
          <a:off x="5996646" y="2925"/>
          <a:ext cx="2471980" cy="3394300"/>
        </a:xfrm>
        <a:prstGeom prst="ellipse">
          <a:avLst/>
        </a:prstGeom>
        <a:solidFill>
          <a:schemeClr val="accent4">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GB" sz="2800" kern="1200" dirty="0"/>
            <a:t>Total Market  Equity Risk Premium</a:t>
          </a:r>
        </a:p>
        <a:p>
          <a:pPr marL="0" lvl="0" indent="0" algn="ctr" defTabSz="1244600">
            <a:lnSpc>
              <a:spcPct val="90000"/>
            </a:lnSpc>
            <a:spcBef>
              <a:spcPct val="0"/>
            </a:spcBef>
            <a:spcAft>
              <a:spcPct val="35000"/>
            </a:spcAft>
            <a:buNone/>
          </a:pPr>
          <a:r>
            <a:rPr lang="en-GB" sz="2800" kern="1200" dirty="0"/>
            <a:t>(ERP)</a:t>
          </a:r>
        </a:p>
      </dsp:txBody>
      <dsp:txXfrm>
        <a:off x="6358659" y="500009"/>
        <a:ext cx="1747954" cy="2400132"/>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3EBE57-1D05-4E25-AEF6-951BA6FD5862}">
      <dsp:nvSpPr>
        <dsp:cNvPr id="0" name=""/>
        <dsp:cNvSpPr/>
      </dsp:nvSpPr>
      <dsp:spPr>
        <a:xfrm>
          <a:off x="0" y="389933"/>
          <a:ext cx="8503920" cy="1672650"/>
        </a:xfrm>
        <a:prstGeom prst="rect">
          <a:avLst/>
        </a:prstGeom>
        <a:solidFill>
          <a:schemeClr val="lt1">
            <a:alpha val="90000"/>
            <a:hueOff val="0"/>
            <a:satOff val="0"/>
            <a:lumOff val="0"/>
            <a:alphaOff val="0"/>
          </a:schemeClr>
        </a:solidFill>
        <a:ln w="11429" cap="flat" cmpd="sng" algn="ctr">
          <a:solidFill>
            <a:schemeClr val="accent1">
              <a:hueOff val="0"/>
              <a:satOff val="0"/>
              <a:lumOff val="0"/>
              <a:alphaOff val="0"/>
            </a:schemeClr>
          </a:solidFill>
          <a:prstDash val="sysDash"/>
        </a:ln>
        <a:effectLst/>
      </dsp:spPr>
      <dsp:style>
        <a:lnRef idx="2">
          <a:scrgbClr r="0" g="0" b="0"/>
        </a:lnRef>
        <a:fillRef idx="1">
          <a:scrgbClr r="0" g="0" b="0"/>
        </a:fillRef>
        <a:effectRef idx="0">
          <a:scrgbClr r="0" g="0" b="0"/>
        </a:effectRef>
        <a:fontRef idx="minor"/>
      </dsp:style>
      <dsp:txBody>
        <a:bodyPr spcFirstLastPara="0" vert="horz" wrap="square" lIns="659999" tIns="374904" rIns="659999" bIns="128016" numCol="1" spcCol="1270" anchor="t" anchorCtr="0">
          <a:noAutofit/>
        </a:bodyPr>
        <a:lstStyle/>
        <a:p>
          <a:pPr marL="171450" lvl="1" indent="-171450" algn="l" defTabSz="800100" rtl="0">
            <a:lnSpc>
              <a:spcPct val="90000"/>
            </a:lnSpc>
            <a:spcBef>
              <a:spcPct val="0"/>
            </a:spcBef>
            <a:spcAft>
              <a:spcPct val="15000"/>
            </a:spcAft>
            <a:buChar char="•"/>
          </a:pPr>
          <a:r>
            <a:rPr lang="en-US" sz="1800" kern="1200" dirty="0" err="1"/>
            <a:t>Acompany</a:t>
          </a:r>
          <a:r>
            <a:rPr lang="en-US" sz="1800" kern="1200" dirty="0"/>
            <a:t> should be more exposed to risk in a country if it generates more of its revenues from that country.  A Brazilian firm that generates the bulk of its revenues in Brazil should be more exposed to country risk than one that generates  a smaller percent of its business within Brazil.</a:t>
          </a:r>
          <a:endParaRPr lang="en-GB" sz="1800" kern="1200" dirty="0"/>
        </a:p>
      </dsp:txBody>
      <dsp:txXfrm>
        <a:off x="0" y="389933"/>
        <a:ext cx="8503920" cy="1672650"/>
      </dsp:txXfrm>
    </dsp:sp>
    <dsp:sp modelId="{C1ADE584-7061-4263-8BBF-F48A691C1A09}">
      <dsp:nvSpPr>
        <dsp:cNvPr id="0" name=""/>
        <dsp:cNvSpPr/>
      </dsp:nvSpPr>
      <dsp:spPr>
        <a:xfrm>
          <a:off x="425196" y="124253"/>
          <a:ext cx="5952744" cy="531360"/>
        </a:xfrm>
        <a:prstGeom prst="roundRect">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225000" tIns="0" rIns="225000" bIns="0" numCol="1" spcCol="1270" anchor="ctr" anchorCtr="0">
          <a:noAutofit/>
        </a:bodyPr>
        <a:lstStyle/>
        <a:p>
          <a:pPr marL="0" lvl="0" indent="0" algn="l" defTabSz="800100" rtl="0">
            <a:lnSpc>
              <a:spcPct val="90000"/>
            </a:lnSpc>
            <a:spcBef>
              <a:spcPct val="0"/>
            </a:spcBef>
            <a:spcAft>
              <a:spcPct val="35000"/>
            </a:spcAft>
            <a:buNone/>
          </a:pPr>
          <a:r>
            <a:rPr lang="en-US" sz="1800" u="sng" kern="1200" dirty="0"/>
            <a:t>Source of revenues</a:t>
          </a:r>
          <a:r>
            <a:rPr lang="en-US" sz="1800" kern="1200" dirty="0"/>
            <a:t>: </a:t>
          </a:r>
        </a:p>
      </dsp:txBody>
      <dsp:txXfrm>
        <a:off x="451135" y="150192"/>
        <a:ext cx="5900866" cy="479482"/>
      </dsp:txXfrm>
    </dsp:sp>
    <dsp:sp modelId="{04A59514-F5E6-4A04-92FF-9A72C3466279}">
      <dsp:nvSpPr>
        <dsp:cNvPr id="0" name=""/>
        <dsp:cNvSpPr/>
      </dsp:nvSpPr>
      <dsp:spPr>
        <a:xfrm>
          <a:off x="0" y="2425464"/>
          <a:ext cx="8503920" cy="1927800"/>
        </a:xfrm>
        <a:prstGeom prst="rect">
          <a:avLst/>
        </a:prstGeom>
        <a:solidFill>
          <a:schemeClr val="lt1">
            <a:alpha val="90000"/>
            <a:hueOff val="0"/>
            <a:satOff val="0"/>
            <a:lumOff val="0"/>
            <a:alphaOff val="0"/>
          </a:schemeClr>
        </a:solidFill>
        <a:ln w="11429" cap="flat" cmpd="sng" algn="ctr">
          <a:solidFill>
            <a:schemeClr val="accent1">
              <a:hueOff val="0"/>
              <a:satOff val="0"/>
              <a:lumOff val="0"/>
              <a:alphaOff val="0"/>
            </a:schemeClr>
          </a:solidFill>
          <a:prstDash val="sysDash"/>
        </a:ln>
        <a:effectLst/>
      </dsp:spPr>
      <dsp:style>
        <a:lnRef idx="2">
          <a:scrgbClr r="0" g="0" b="0"/>
        </a:lnRef>
        <a:fillRef idx="1">
          <a:scrgbClr r="0" g="0" b="0"/>
        </a:fillRef>
        <a:effectRef idx="0">
          <a:scrgbClr r="0" g="0" b="0"/>
        </a:effectRef>
        <a:fontRef idx="minor"/>
      </dsp:style>
      <dsp:txBody>
        <a:bodyPr spcFirstLastPara="0" vert="horz" wrap="square" lIns="659999" tIns="374904" rIns="659999" bIns="128016" numCol="1" spcCol="1270" anchor="t" anchorCtr="0">
          <a:noAutofit/>
        </a:bodyPr>
        <a:lstStyle/>
        <a:p>
          <a:pPr marL="171450" lvl="1" indent="-171450" algn="l" defTabSz="800100" rtl="0">
            <a:lnSpc>
              <a:spcPct val="90000"/>
            </a:lnSpc>
            <a:spcBef>
              <a:spcPct val="0"/>
            </a:spcBef>
            <a:spcAft>
              <a:spcPct val="15000"/>
            </a:spcAft>
            <a:buChar char="•"/>
          </a:pPr>
          <a:r>
            <a:rPr lang="en-US" sz="1800" kern="1200" dirty="0"/>
            <a:t>Other things remaining equal, a firm that has all of its production facilities in Brazil should be more exposed to country risk than one which has production facilities spread over multiple countries. The problem will be accented for companies that cannot move their production facilities (mining and petroleum companies, for instance).</a:t>
          </a:r>
          <a:endParaRPr lang="en-GB" sz="1800" kern="1200" dirty="0"/>
        </a:p>
      </dsp:txBody>
      <dsp:txXfrm>
        <a:off x="0" y="2425464"/>
        <a:ext cx="8503920" cy="1927800"/>
      </dsp:txXfrm>
    </dsp:sp>
    <dsp:sp modelId="{54C24626-3E01-40ED-9C5B-D2FC3B8E5688}">
      <dsp:nvSpPr>
        <dsp:cNvPr id="0" name=""/>
        <dsp:cNvSpPr/>
      </dsp:nvSpPr>
      <dsp:spPr>
        <a:xfrm>
          <a:off x="425196" y="2159784"/>
          <a:ext cx="5952744" cy="531360"/>
        </a:xfrm>
        <a:prstGeom prst="roundRect">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225000" tIns="0" rIns="225000" bIns="0" numCol="1" spcCol="1270" anchor="ctr" anchorCtr="0">
          <a:noAutofit/>
        </a:bodyPr>
        <a:lstStyle/>
        <a:p>
          <a:pPr marL="0" lvl="0" indent="0" algn="l" defTabSz="800100" rtl="0">
            <a:lnSpc>
              <a:spcPct val="90000"/>
            </a:lnSpc>
            <a:spcBef>
              <a:spcPct val="0"/>
            </a:spcBef>
            <a:spcAft>
              <a:spcPct val="35000"/>
            </a:spcAft>
            <a:buNone/>
          </a:pPr>
          <a:r>
            <a:rPr lang="en-US" sz="1800" u="sng" kern="1200" dirty="0"/>
            <a:t>Manufacturing facilities</a:t>
          </a:r>
          <a:r>
            <a:rPr lang="en-US" sz="1800" kern="1200" dirty="0"/>
            <a:t>: </a:t>
          </a:r>
        </a:p>
      </dsp:txBody>
      <dsp:txXfrm>
        <a:off x="451135" y="2185723"/>
        <a:ext cx="5900866" cy="479482"/>
      </dsp:txXfrm>
    </dsp:sp>
    <dsp:sp modelId="{6C3D9838-4898-4326-ADC0-6D652ADD2E2C}">
      <dsp:nvSpPr>
        <dsp:cNvPr id="0" name=""/>
        <dsp:cNvSpPr/>
      </dsp:nvSpPr>
      <dsp:spPr>
        <a:xfrm>
          <a:off x="0" y="4716144"/>
          <a:ext cx="8503920" cy="992250"/>
        </a:xfrm>
        <a:prstGeom prst="rect">
          <a:avLst/>
        </a:prstGeom>
        <a:solidFill>
          <a:schemeClr val="lt1">
            <a:alpha val="90000"/>
            <a:hueOff val="0"/>
            <a:satOff val="0"/>
            <a:lumOff val="0"/>
            <a:alphaOff val="0"/>
          </a:schemeClr>
        </a:solidFill>
        <a:ln w="11429" cap="flat" cmpd="sng" algn="ctr">
          <a:solidFill>
            <a:schemeClr val="accent1">
              <a:hueOff val="0"/>
              <a:satOff val="0"/>
              <a:lumOff val="0"/>
              <a:alphaOff val="0"/>
            </a:schemeClr>
          </a:solidFill>
          <a:prstDash val="sysDash"/>
        </a:ln>
        <a:effectLst/>
      </dsp:spPr>
      <dsp:style>
        <a:lnRef idx="2">
          <a:scrgbClr r="0" g="0" b="0"/>
        </a:lnRef>
        <a:fillRef idx="1">
          <a:scrgbClr r="0" g="0" b="0"/>
        </a:fillRef>
        <a:effectRef idx="0">
          <a:scrgbClr r="0" g="0" b="0"/>
        </a:effectRef>
        <a:fontRef idx="minor"/>
      </dsp:style>
      <dsp:txBody>
        <a:bodyPr spcFirstLastPara="0" vert="horz" wrap="square" lIns="659999" tIns="374904" rIns="659999" bIns="128016" numCol="1" spcCol="1270" anchor="t" anchorCtr="0">
          <a:noAutofit/>
        </a:bodyPr>
        <a:lstStyle/>
        <a:p>
          <a:pPr marL="171450" lvl="1" indent="-171450" algn="l" defTabSz="800100" rtl="0">
            <a:lnSpc>
              <a:spcPct val="90000"/>
            </a:lnSpc>
            <a:spcBef>
              <a:spcPct val="0"/>
            </a:spcBef>
            <a:spcAft>
              <a:spcPct val="15000"/>
            </a:spcAft>
            <a:buChar char="•"/>
          </a:pPr>
          <a:r>
            <a:rPr lang="en-US" sz="1800" kern="1200" dirty="0"/>
            <a:t>Companies can use both options/futures markets and insurance to hedge some or a significant portion of country risk.</a:t>
          </a:r>
          <a:endParaRPr lang="en-GB" sz="1800" kern="1200" dirty="0"/>
        </a:p>
      </dsp:txBody>
      <dsp:txXfrm>
        <a:off x="0" y="4716144"/>
        <a:ext cx="8503920" cy="992250"/>
      </dsp:txXfrm>
    </dsp:sp>
    <dsp:sp modelId="{AB321ED6-59D6-42BF-8BD9-D2F3CE587FBE}">
      <dsp:nvSpPr>
        <dsp:cNvPr id="0" name=""/>
        <dsp:cNvSpPr/>
      </dsp:nvSpPr>
      <dsp:spPr>
        <a:xfrm>
          <a:off x="425196" y="4450464"/>
          <a:ext cx="5952744" cy="531360"/>
        </a:xfrm>
        <a:prstGeom prst="roundRect">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225000" tIns="0" rIns="225000" bIns="0" numCol="1" spcCol="1270" anchor="ctr" anchorCtr="0">
          <a:noAutofit/>
        </a:bodyPr>
        <a:lstStyle/>
        <a:p>
          <a:pPr marL="0" lvl="0" indent="0" algn="l" defTabSz="800100" rtl="0">
            <a:lnSpc>
              <a:spcPct val="90000"/>
            </a:lnSpc>
            <a:spcBef>
              <a:spcPct val="0"/>
            </a:spcBef>
            <a:spcAft>
              <a:spcPct val="35000"/>
            </a:spcAft>
            <a:buNone/>
          </a:pPr>
          <a:r>
            <a:rPr lang="en-US" sz="1800" u="sng" kern="1200" dirty="0"/>
            <a:t>Use of risk management products</a:t>
          </a:r>
          <a:r>
            <a:rPr lang="en-US" sz="1800" kern="1200" dirty="0"/>
            <a:t>: </a:t>
          </a:r>
        </a:p>
      </dsp:txBody>
      <dsp:txXfrm>
        <a:off x="451135" y="4476403"/>
        <a:ext cx="5900866" cy="479482"/>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820BFC-83FB-4A99-8C03-71BCE56261CD}">
      <dsp:nvSpPr>
        <dsp:cNvPr id="0" name=""/>
        <dsp:cNvSpPr/>
      </dsp:nvSpPr>
      <dsp:spPr>
        <a:xfrm>
          <a:off x="219034" y="2574"/>
          <a:ext cx="3840881" cy="2304529"/>
        </a:xfrm>
        <a:prstGeom prst="rect">
          <a:avLst/>
        </a:prstGeom>
        <a:solidFill>
          <a:schemeClr val="accent2">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a:t>Option I: (weighted) Average of MRPs</a:t>
          </a:r>
          <a:endParaRPr lang="fr-FR" sz="3000" kern="1200"/>
        </a:p>
      </dsp:txBody>
      <dsp:txXfrm>
        <a:off x="219034" y="2574"/>
        <a:ext cx="3840881" cy="2304529"/>
      </dsp:txXfrm>
    </dsp:sp>
    <dsp:sp modelId="{3D36EF45-0648-40DB-8CBD-79D46A357B73}">
      <dsp:nvSpPr>
        <dsp:cNvPr id="0" name=""/>
        <dsp:cNvSpPr/>
      </dsp:nvSpPr>
      <dsp:spPr>
        <a:xfrm>
          <a:off x="4444004" y="2574"/>
          <a:ext cx="3840881" cy="2304529"/>
        </a:xfrm>
        <a:prstGeom prst="rect">
          <a:avLst/>
        </a:prstGeom>
        <a:solidFill>
          <a:schemeClr val="accent3">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a:t>Option II: </a:t>
          </a:r>
          <a14:m xmlns:a14="http://schemas.microsoft.com/office/drawing/2010/main">
            <m:oMath xmlns:m="http://schemas.openxmlformats.org/officeDocument/2006/math">
              <m:sSub>
                <m:sSubPr>
                  <m:ctrlPr>
                    <a:rPr lang="fr-FR" sz="3000" b="0" i="1" kern="1200">
                      <a:latin typeface="Cambria Math" panose="02040503050406030204" pitchFamily="18" charset="0"/>
                    </a:rPr>
                  </m:ctrlPr>
                </m:sSubPr>
                <m:e>
                  <m:r>
                    <a:rPr lang="fr-FR" sz="3000" b="0" i="1" kern="1200">
                      <a:latin typeface="Cambria Math" panose="02040503050406030204" pitchFamily="18" charset="0"/>
                    </a:rPr>
                    <m:t>𝑅𝑃</m:t>
                  </m:r>
                </m:e>
                <m:sub>
                  <m:r>
                    <a:rPr lang="fr-FR" sz="3000" b="0" i="1" kern="1200">
                      <a:latin typeface="Cambria Math" panose="02040503050406030204" pitchFamily="18" charset="0"/>
                    </a:rPr>
                    <m:t>𝑚𝑎𝑡𝑢𝑟𝑒</m:t>
                  </m:r>
                </m:sub>
              </m:sSub>
            </m:oMath>
          </a14:m>
          <a:r>
            <a:rPr lang="en-GB" sz="3000" kern="1200"/>
            <a:t>+(weighted) Average of CRPs </a:t>
          </a:r>
          <a:endParaRPr lang="fr-FR" sz="3000" kern="1200"/>
        </a:p>
      </dsp:txBody>
      <dsp:txXfrm>
        <a:off x="4444004" y="2574"/>
        <a:ext cx="3840881" cy="2304529"/>
      </dsp:txXfrm>
    </dsp:sp>
    <dsp:sp modelId="{74C44259-56A9-42C1-96CB-DC3F77AEB03D}">
      <dsp:nvSpPr>
        <dsp:cNvPr id="0" name=""/>
        <dsp:cNvSpPr/>
      </dsp:nvSpPr>
      <dsp:spPr>
        <a:xfrm>
          <a:off x="219034" y="2691192"/>
          <a:ext cx="3840881" cy="2304529"/>
        </a:xfrm>
        <a:prstGeom prst="rect">
          <a:avLst/>
        </a:prstGeom>
        <a:solidFill>
          <a:schemeClr val="accent4">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dirty="0"/>
            <a:t>Option III: Assume beta captures all * </a:t>
          </a:r>
          <a14:m xmlns:a14="http://schemas.microsoft.com/office/drawing/2010/main">
            <m:oMath xmlns:m="http://schemas.openxmlformats.org/officeDocument/2006/math">
              <m:sSub>
                <m:sSubPr>
                  <m:ctrlPr>
                    <a:rPr lang="fr-FR" sz="3000" i="1" kern="1200">
                      <a:latin typeface="Cambria Math" panose="02040503050406030204" pitchFamily="18" charset="0"/>
                    </a:rPr>
                  </m:ctrlPr>
                </m:sSubPr>
                <m:e>
                  <m:r>
                    <a:rPr lang="fr-FR" sz="3000" i="1" kern="1200">
                      <a:latin typeface="Cambria Math" panose="02040503050406030204" pitchFamily="18" charset="0"/>
                    </a:rPr>
                    <m:t>𝑀𝑅𝑃</m:t>
                  </m:r>
                </m:e>
                <m:sub>
                  <m:r>
                    <a:rPr lang="fr-FR" sz="3000" b="0" i="1" kern="1200">
                      <a:latin typeface="Cambria Math" panose="02040503050406030204" pitchFamily="18" charset="0"/>
                    </a:rPr>
                    <m:t>𝑚𝑎𝑟𝑘𝑒𝑡</m:t>
                  </m:r>
                </m:sub>
              </m:sSub>
            </m:oMath>
          </a14:m>
          <a:endParaRPr lang="fr-FR" sz="3000" kern="1200" dirty="0"/>
        </a:p>
      </dsp:txBody>
      <dsp:txXfrm>
        <a:off x="219034" y="2691192"/>
        <a:ext cx="3840881" cy="2304529"/>
      </dsp:txXfrm>
    </dsp:sp>
    <dsp:sp modelId="{F173AB14-4A0B-4DEF-B773-59926E35B565}">
      <dsp:nvSpPr>
        <dsp:cNvPr id="0" name=""/>
        <dsp:cNvSpPr/>
      </dsp:nvSpPr>
      <dsp:spPr>
        <a:xfrm>
          <a:off x="4444004" y="2691192"/>
          <a:ext cx="3840881" cy="2304529"/>
        </a:xfrm>
        <a:prstGeom prst="rect">
          <a:avLst/>
        </a:prstGeom>
        <a:solidFill>
          <a:schemeClr val="accent5">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fr-FR" sz="3000" kern="1200" dirty="0"/>
            <a:t>Option IV: </a:t>
          </a:r>
          <a:r>
            <a:rPr lang="en-GB" sz="3000" kern="1200" noProof="0" dirty="0"/>
            <a:t>different</a:t>
          </a:r>
          <a:r>
            <a:rPr lang="fr-FR" sz="3000" kern="1200" dirty="0"/>
            <a:t> </a:t>
          </a:r>
          <a:r>
            <a:rPr lang="el-GR" sz="3000" kern="1200" dirty="0"/>
            <a:t>λ</a:t>
          </a:r>
          <a:r>
            <a:rPr lang="en-GB" sz="3000" kern="1200" dirty="0"/>
            <a:t> different CRPs (too complicated)</a:t>
          </a:r>
          <a:endParaRPr lang="fr-FR" sz="3000" kern="1200" dirty="0"/>
        </a:p>
      </dsp:txBody>
      <dsp:txXfrm>
        <a:off x="4444004" y="2691192"/>
        <a:ext cx="3840881" cy="230452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39DE88-FC44-44DB-87E7-C6C30DA29E25}">
      <dsp:nvSpPr>
        <dsp:cNvPr id="0" name=""/>
        <dsp:cNvSpPr/>
      </dsp:nvSpPr>
      <dsp:spPr>
        <a:xfrm>
          <a:off x="5680793" y="3169042"/>
          <a:ext cx="613779" cy="1286401"/>
        </a:xfrm>
        <a:custGeom>
          <a:avLst/>
          <a:gdLst/>
          <a:ahLst/>
          <a:cxnLst/>
          <a:rect l="0" t="0" r="0" b="0"/>
          <a:pathLst>
            <a:path>
              <a:moveTo>
                <a:pt x="0" y="0"/>
              </a:moveTo>
              <a:lnTo>
                <a:pt x="0" y="1286401"/>
              </a:lnTo>
              <a:lnTo>
                <a:pt x="613779" y="1286401"/>
              </a:lnTo>
            </a:path>
          </a:pathLst>
        </a:custGeom>
        <a:noFill/>
        <a:ln w="11429" cap="flat" cmpd="sng" algn="ctr">
          <a:solidFill>
            <a:schemeClr val="accent3">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DAA81E2F-A215-4D1D-9607-F9D690F80662}">
      <dsp:nvSpPr>
        <dsp:cNvPr id="0" name=""/>
        <dsp:cNvSpPr/>
      </dsp:nvSpPr>
      <dsp:spPr>
        <a:xfrm>
          <a:off x="4354128" y="933841"/>
          <a:ext cx="2633289" cy="221155"/>
        </a:xfrm>
        <a:custGeom>
          <a:avLst/>
          <a:gdLst/>
          <a:ahLst/>
          <a:cxnLst/>
          <a:rect l="0" t="0" r="0" b="0"/>
          <a:pathLst>
            <a:path>
              <a:moveTo>
                <a:pt x="0" y="0"/>
              </a:moveTo>
              <a:lnTo>
                <a:pt x="0" y="49780"/>
              </a:lnTo>
              <a:lnTo>
                <a:pt x="2633289" y="49780"/>
              </a:lnTo>
              <a:lnTo>
                <a:pt x="2633289" y="221155"/>
              </a:lnTo>
            </a:path>
          </a:pathLst>
        </a:custGeom>
        <a:noFill/>
        <a:ln w="11429" cap="flat" cmpd="sng" algn="ctr">
          <a:solidFill>
            <a:schemeClr val="accent2">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3168EE9A-8B51-4BB2-BFD0-8AB154ED3C6D}">
      <dsp:nvSpPr>
        <dsp:cNvPr id="0" name=""/>
        <dsp:cNvSpPr/>
      </dsp:nvSpPr>
      <dsp:spPr>
        <a:xfrm>
          <a:off x="2630677" y="4323476"/>
          <a:ext cx="181545" cy="1227117"/>
        </a:xfrm>
        <a:custGeom>
          <a:avLst/>
          <a:gdLst/>
          <a:ahLst/>
          <a:cxnLst/>
          <a:rect l="0" t="0" r="0" b="0"/>
          <a:pathLst>
            <a:path>
              <a:moveTo>
                <a:pt x="0" y="0"/>
              </a:moveTo>
              <a:lnTo>
                <a:pt x="0" y="1227117"/>
              </a:lnTo>
              <a:lnTo>
                <a:pt x="181545" y="1227117"/>
              </a:lnTo>
            </a:path>
          </a:pathLst>
        </a:custGeom>
        <a:noFill/>
        <a:ln w="11429" cap="flat" cmpd="sng" algn="ctr">
          <a:solidFill>
            <a:schemeClr val="accent4">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170154F4-5ABD-427F-B581-FD1AC238B504}">
      <dsp:nvSpPr>
        <dsp:cNvPr id="0" name=""/>
        <dsp:cNvSpPr/>
      </dsp:nvSpPr>
      <dsp:spPr>
        <a:xfrm>
          <a:off x="1951045" y="2215019"/>
          <a:ext cx="1612267" cy="464345"/>
        </a:xfrm>
        <a:custGeom>
          <a:avLst/>
          <a:gdLst/>
          <a:ahLst/>
          <a:cxnLst/>
          <a:rect l="0" t="0" r="0" b="0"/>
          <a:pathLst>
            <a:path>
              <a:moveTo>
                <a:pt x="0" y="0"/>
              </a:moveTo>
              <a:lnTo>
                <a:pt x="0" y="292970"/>
              </a:lnTo>
              <a:lnTo>
                <a:pt x="1612267" y="292970"/>
              </a:lnTo>
              <a:lnTo>
                <a:pt x="1612267" y="464345"/>
              </a:lnTo>
            </a:path>
          </a:pathLst>
        </a:custGeom>
        <a:noFill/>
        <a:ln w="11429" cap="flat" cmpd="sng" algn="ctr">
          <a:solidFill>
            <a:schemeClr val="accent3">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9EE3A6FA-9F78-4843-B274-022B29295778}">
      <dsp:nvSpPr>
        <dsp:cNvPr id="0" name=""/>
        <dsp:cNvSpPr/>
      </dsp:nvSpPr>
      <dsp:spPr>
        <a:xfrm>
          <a:off x="137884" y="4323476"/>
          <a:ext cx="100734" cy="1227117"/>
        </a:xfrm>
        <a:custGeom>
          <a:avLst/>
          <a:gdLst/>
          <a:ahLst/>
          <a:cxnLst/>
          <a:rect l="0" t="0" r="0" b="0"/>
          <a:pathLst>
            <a:path>
              <a:moveTo>
                <a:pt x="100734" y="0"/>
              </a:moveTo>
              <a:lnTo>
                <a:pt x="0" y="1227117"/>
              </a:lnTo>
            </a:path>
          </a:pathLst>
        </a:custGeom>
        <a:noFill/>
        <a:ln w="11429" cap="flat" cmpd="sng" algn="ctr">
          <a:solidFill>
            <a:schemeClr val="accent4">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774C824A-F445-4D1F-8DFA-C4509BE77521}">
      <dsp:nvSpPr>
        <dsp:cNvPr id="0" name=""/>
        <dsp:cNvSpPr/>
      </dsp:nvSpPr>
      <dsp:spPr>
        <a:xfrm>
          <a:off x="1171254" y="2215019"/>
          <a:ext cx="779790" cy="464345"/>
        </a:xfrm>
        <a:custGeom>
          <a:avLst/>
          <a:gdLst/>
          <a:ahLst/>
          <a:cxnLst/>
          <a:rect l="0" t="0" r="0" b="0"/>
          <a:pathLst>
            <a:path>
              <a:moveTo>
                <a:pt x="779790" y="0"/>
              </a:moveTo>
              <a:lnTo>
                <a:pt x="779790" y="292970"/>
              </a:lnTo>
              <a:lnTo>
                <a:pt x="0" y="292970"/>
              </a:lnTo>
              <a:lnTo>
                <a:pt x="0" y="464345"/>
              </a:lnTo>
            </a:path>
          </a:pathLst>
        </a:custGeom>
        <a:noFill/>
        <a:ln w="11429" cap="flat" cmpd="sng" algn="ctr">
          <a:solidFill>
            <a:schemeClr val="accent3">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C8EDA803-6890-408B-8671-61BBE49ECA2C}">
      <dsp:nvSpPr>
        <dsp:cNvPr id="0" name=""/>
        <dsp:cNvSpPr/>
      </dsp:nvSpPr>
      <dsp:spPr>
        <a:xfrm>
          <a:off x="1951045" y="933841"/>
          <a:ext cx="2403083" cy="221155"/>
        </a:xfrm>
        <a:custGeom>
          <a:avLst/>
          <a:gdLst/>
          <a:ahLst/>
          <a:cxnLst/>
          <a:rect l="0" t="0" r="0" b="0"/>
          <a:pathLst>
            <a:path>
              <a:moveTo>
                <a:pt x="2403083" y="0"/>
              </a:moveTo>
              <a:lnTo>
                <a:pt x="2403083" y="49780"/>
              </a:lnTo>
              <a:lnTo>
                <a:pt x="0" y="49780"/>
              </a:lnTo>
              <a:lnTo>
                <a:pt x="0" y="221155"/>
              </a:lnTo>
            </a:path>
          </a:pathLst>
        </a:custGeom>
        <a:noFill/>
        <a:ln w="11429" cap="flat" cmpd="sng" algn="ctr">
          <a:solidFill>
            <a:schemeClr val="accent2">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A91BA40B-9FA7-4752-86E5-6D3FCD5AABBD}">
      <dsp:nvSpPr>
        <dsp:cNvPr id="0" name=""/>
        <dsp:cNvSpPr/>
      </dsp:nvSpPr>
      <dsp:spPr>
        <a:xfrm>
          <a:off x="1854577" y="117767"/>
          <a:ext cx="4999102" cy="816073"/>
        </a:xfrm>
        <a:prstGeom prst="rect">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1733550">
            <a:lnSpc>
              <a:spcPct val="90000"/>
            </a:lnSpc>
            <a:spcBef>
              <a:spcPct val="0"/>
            </a:spcBef>
            <a:spcAft>
              <a:spcPct val="35000"/>
            </a:spcAft>
            <a:buNone/>
          </a:pPr>
          <a:r>
            <a:rPr lang="en-US" sz="3900" kern="1200" dirty="0"/>
            <a:t>Determinants of Betas</a:t>
          </a:r>
          <a:endParaRPr lang="en-GB" sz="3900" kern="1200" dirty="0"/>
        </a:p>
      </dsp:txBody>
      <dsp:txXfrm>
        <a:off x="1854577" y="117767"/>
        <a:ext cx="4999102" cy="816073"/>
      </dsp:txXfrm>
    </dsp:sp>
    <dsp:sp modelId="{115B8CD2-39D7-4481-8DAE-F78FA0B6AE36}">
      <dsp:nvSpPr>
        <dsp:cNvPr id="0" name=""/>
        <dsp:cNvSpPr/>
      </dsp:nvSpPr>
      <dsp:spPr>
        <a:xfrm>
          <a:off x="481916" y="1154997"/>
          <a:ext cx="2938256" cy="1060022"/>
        </a:xfrm>
        <a:prstGeom prst="rect">
          <a:avLst/>
        </a:prstGeom>
        <a:solidFill>
          <a:schemeClr val="accent2">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GB" sz="1600" kern="1200" dirty="0"/>
            <a:t>Beta of Firm</a:t>
          </a:r>
        </a:p>
      </dsp:txBody>
      <dsp:txXfrm>
        <a:off x="481916" y="1154997"/>
        <a:ext cx="2938256" cy="1060022"/>
      </dsp:txXfrm>
    </dsp:sp>
    <dsp:sp modelId="{978CF47B-4F71-4981-9E98-6FDCA522160E}">
      <dsp:nvSpPr>
        <dsp:cNvPr id="0" name=""/>
        <dsp:cNvSpPr/>
      </dsp:nvSpPr>
      <dsp:spPr>
        <a:xfrm>
          <a:off x="5460" y="2679365"/>
          <a:ext cx="2331587" cy="1644110"/>
        </a:xfrm>
        <a:prstGeom prst="rect">
          <a:avLst/>
        </a:prstGeom>
        <a:solidFill>
          <a:schemeClr val="accent3">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kern="1200" dirty="0"/>
            <a:t>Nature of Product:</a:t>
          </a:r>
        </a:p>
        <a:p>
          <a:pPr marL="0" lvl="0" indent="0" algn="ctr" defTabSz="622300">
            <a:lnSpc>
              <a:spcPct val="90000"/>
            </a:lnSpc>
            <a:spcBef>
              <a:spcPct val="0"/>
            </a:spcBef>
            <a:spcAft>
              <a:spcPct val="35000"/>
            </a:spcAft>
            <a:buNone/>
          </a:pPr>
          <a:r>
            <a:rPr lang="en-GB" sz="1200" kern="1200" dirty="0"/>
            <a:t>Other things remaining equal, the more discretionary the product, the higher the beta</a:t>
          </a:r>
        </a:p>
      </dsp:txBody>
      <dsp:txXfrm>
        <a:off x="5460" y="2679365"/>
        <a:ext cx="2331587" cy="1644110"/>
      </dsp:txXfrm>
    </dsp:sp>
    <dsp:sp modelId="{C6DD601E-5205-48A2-9D17-99EDFC636998}">
      <dsp:nvSpPr>
        <dsp:cNvPr id="0" name=""/>
        <dsp:cNvSpPr/>
      </dsp:nvSpPr>
      <dsp:spPr>
        <a:xfrm>
          <a:off x="137884" y="4666226"/>
          <a:ext cx="2297654" cy="1768733"/>
        </a:xfrm>
        <a:prstGeom prst="rect">
          <a:avLst/>
        </a:prstGeom>
        <a:solidFill>
          <a:schemeClr val="accent4">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kern="1200" dirty="0"/>
            <a:t>Implications:</a:t>
          </a:r>
        </a:p>
        <a:p>
          <a:pPr marL="0" lvl="0" indent="0" algn="ctr" defTabSz="622300">
            <a:lnSpc>
              <a:spcPct val="90000"/>
            </a:lnSpc>
            <a:spcBef>
              <a:spcPct val="0"/>
            </a:spcBef>
            <a:spcAft>
              <a:spcPct val="35000"/>
            </a:spcAft>
            <a:buNone/>
          </a:pPr>
          <a:r>
            <a:rPr lang="en-GB" sz="1200" kern="1200" dirty="0"/>
            <a:t>1. Cyclical companies should have higher betas</a:t>
          </a:r>
        </a:p>
        <a:p>
          <a:pPr marL="0" lvl="0" indent="0" algn="ctr" defTabSz="622300">
            <a:lnSpc>
              <a:spcPct val="90000"/>
            </a:lnSpc>
            <a:spcBef>
              <a:spcPct val="0"/>
            </a:spcBef>
            <a:spcAft>
              <a:spcPct val="35000"/>
            </a:spcAft>
            <a:buNone/>
          </a:pPr>
          <a:r>
            <a:rPr lang="en-GB" sz="1200" kern="1200" dirty="0"/>
            <a:t>2. Luxury goods firms should have higher betas</a:t>
          </a:r>
        </a:p>
        <a:p>
          <a:pPr marL="0" lvl="0" indent="0" algn="ctr" defTabSz="622300">
            <a:lnSpc>
              <a:spcPct val="90000"/>
            </a:lnSpc>
            <a:spcBef>
              <a:spcPct val="0"/>
            </a:spcBef>
            <a:spcAft>
              <a:spcPct val="35000"/>
            </a:spcAft>
            <a:buNone/>
          </a:pPr>
          <a:r>
            <a:rPr lang="en-GB" sz="1200" kern="1200" dirty="0"/>
            <a:t>3. High priced goods firms should have higher betas</a:t>
          </a:r>
        </a:p>
        <a:p>
          <a:pPr marL="0" lvl="0" indent="0" algn="ctr" defTabSz="622300">
            <a:lnSpc>
              <a:spcPct val="90000"/>
            </a:lnSpc>
            <a:spcBef>
              <a:spcPct val="0"/>
            </a:spcBef>
            <a:spcAft>
              <a:spcPct val="35000"/>
            </a:spcAft>
            <a:buNone/>
          </a:pPr>
          <a:r>
            <a:rPr lang="en-GB" sz="1200" kern="1200" dirty="0"/>
            <a:t>4. Growth firms should have higher betas.</a:t>
          </a:r>
        </a:p>
      </dsp:txBody>
      <dsp:txXfrm>
        <a:off x="137884" y="4666226"/>
        <a:ext cx="2297654" cy="1768733"/>
      </dsp:txXfrm>
    </dsp:sp>
    <dsp:sp modelId="{267E2C0C-8E40-4AA7-B80B-BB9975D9E88B}">
      <dsp:nvSpPr>
        <dsp:cNvPr id="0" name=""/>
        <dsp:cNvSpPr/>
      </dsp:nvSpPr>
      <dsp:spPr>
        <a:xfrm>
          <a:off x="2397518" y="2679365"/>
          <a:ext cx="2331587" cy="1644110"/>
        </a:xfrm>
        <a:prstGeom prst="rect">
          <a:avLst/>
        </a:prstGeom>
        <a:solidFill>
          <a:schemeClr val="accent3">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kern="1200" dirty="0"/>
            <a:t>Operating Leverage (Fixed Costs): </a:t>
          </a:r>
        </a:p>
        <a:p>
          <a:pPr marL="0" lvl="0" indent="0" algn="ctr" defTabSz="622300">
            <a:lnSpc>
              <a:spcPct val="90000"/>
            </a:lnSpc>
            <a:spcBef>
              <a:spcPct val="0"/>
            </a:spcBef>
            <a:spcAft>
              <a:spcPct val="35000"/>
            </a:spcAft>
            <a:buNone/>
          </a:pPr>
          <a:r>
            <a:rPr lang="en-GB" sz="1200" kern="1200" dirty="0"/>
            <a:t>Other things remaining equal, the greater the proportion of fixed costs, the higher the beta.</a:t>
          </a:r>
        </a:p>
      </dsp:txBody>
      <dsp:txXfrm>
        <a:off x="2397518" y="2679365"/>
        <a:ext cx="2331587" cy="1644110"/>
      </dsp:txXfrm>
    </dsp:sp>
    <dsp:sp modelId="{8DDC9491-53A7-4591-A854-3D3E70A6E4B3}">
      <dsp:nvSpPr>
        <dsp:cNvPr id="0" name=""/>
        <dsp:cNvSpPr/>
      </dsp:nvSpPr>
      <dsp:spPr>
        <a:xfrm>
          <a:off x="2812222" y="4666226"/>
          <a:ext cx="2297654" cy="1768733"/>
        </a:xfrm>
        <a:prstGeom prst="rect">
          <a:avLst/>
        </a:prstGeom>
        <a:solidFill>
          <a:schemeClr val="accent4">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kern="1200" dirty="0"/>
            <a:t>Implications: </a:t>
          </a:r>
        </a:p>
        <a:p>
          <a:pPr marL="0" lvl="0" indent="0" algn="ctr" defTabSz="622300">
            <a:lnSpc>
              <a:spcPct val="90000"/>
            </a:lnSpc>
            <a:spcBef>
              <a:spcPct val="0"/>
            </a:spcBef>
            <a:spcAft>
              <a:spcPct val="35000"/>
            </a:spcAft>
            <a:buNone/>
          </a:pPr>
          <a:r>
            <a:rPr lang="en-GB" sz="1050" kern="1200" dirty="0"/>
            <a:t>1. Firms with high infrastructure and fixed costs should have higher betas </a:t>
          </a:r>
        </a:p>
        <a:p>
          <a:pPr marL="0" lvl="0" indent="0" algn="ctr" defTabSz="622300">
            <a:lnSpc>
              <a:spcPct val="90000"/>
            </a:lnSpc>
            <a:spcBef>
              <a:spcPct val="0"/>
            </a:spcBef>
            <a:spcAft>
              <a:spcPct val="35000"/>
            </a:spcAft>
            <a:buNone/>
          </a:pPr>
          <a:r>
            <a:rPr lang="en-GB" sz="1050" kern="1200" dirty="0"/>
            <a:t>2. Smaller firms should have higher betas </a:t>
          </a:r>
        </a:p>
        <a:p>
          <a:pPr marL="0" lvl="0" indent="0" algn="ctr" defTabSz="622300">
            <a:lnSpc>
              <a:spcPct val="90000"/>
            </a:lnSpc>
            <a:spcBef>
              <a:spcPct val="0"/>
            </a:spcBef>
            <a:spcAft>
              <a:spcPct val="35000"/>
            </a:spcAft>
            <a:buNone/>
          </a:pPr>
          <a:r>
            <a:rPr lang="en-GB" sz="1050" kern="1200" dirty="0"/>
            <a:t>3. Young firms should have higher betas</a:t>
          </a:r>
        </a:p>
      </dsp:txBody>
      <dsp:txXfrm>
        <a:off x="2812222" y="4666226"/>
        <a:ext cx="2297654" cy="1768733"/>
      </dsp:txXfrm>
    </dsp:sp>
    <dsp:sp modelId="{2107D1E0-B1C2-4429-924B-11A8B5E9016D}">
      <dsp:nvSpPr>
        <dsp:cNvPr id="0" name=""/>
        <dsp:cNvSpPr/>
      </dsp:nvSpPr>
      <dsp:spPr>
        <a:xfrm>
          <a:off x="5354136" y="1154997"/>
          <a:ext cx="3266562" cy="2014044"/>
        </a:xfrm>
        <a:prstGeom prst="rect">
          <a:avLst/>
        </a:prstGeom>
        <a:solidFill>
          <a:schemeClr val="accent2">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GB" sz="1600" kern="1200" dirty="0"/>
            <a:t>Financial Leverage:</a:t>
          </a:r>
        </a:p>
        <a:p>
          <a:pPr marL="0" lvl="0" indent="0" algn="ctr" defTabSz="711200">
            <a:lnSpc>
              <a:spcPct val="90000"/>
            </a:lnSpc>
            <a:spcBef>
              <a:spcPct val="0"/>
            </a:spcBef>
            <a:spcAft>
              <a:spcPct val="35000"/>
            </a:spcAft>
            <a:buNone/>
          </a:pPr>
          <a:r>
            <a:rPr lang="en-GB" sz="1200" kern="1200" dirty="0"/>
            <a:t>Other things remaining equal, the greater the proportion of capital that a firm raises from debt, the higher its equity beta will be</a:t>
          </a:r>
        </a:p>
      </dsp:txBody>
      <dsp:txXfrm>
        <a:off x="5354136" y="1154997"/>
        <a:ext cx="3266562" cy="2014044"/>
      </dsp:txXfrm>
    </dsp:sp>
    <dsp:sp modelId="{919A137D-B35F-4563-AD59-97D468B9F02F}">
      <dsp:nvSpPr>
        <dsp:cNvPr id="0" name=""/>
        <dsp:cNvSpPr/>
      </dsp:nvSpPr>
      <dsp:spPr>
        <a:xfrm>
          <a:off x="6294572" y="3633387"/>
          <a:ext cx="2331587" cy="1644110"/>
        </a:xfrm>
        <a:prstGeom prst="rect">
          <a:avLst/>
        </a:prstGeom>
        <a:solidFill>
          <a:schemeClr val="accent3">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kern="1200" dirty="0"/>
            <a:t>Implications:</a:t>
          </a:r>
        </a:p>
        <a:p>
          <a:pPr marL="0" lvl="0" indent="0" algn="ctr" defTabSz="622300">
            <a:lnSpc>
              <a:spcPct val="90000"/>
            </a:lnSpc>
            <a:spcBef>
              <a:spcPct val="0"/>
            </a:spcBef>
            <a:spcAft>
              <a:spcPct val="35000"/>
            </a:spcAft>
            <a:buNone/>
          </a:pPr>
          <a:r>
            <a:rPr lang="en-GB" sz="1200" kern="1200" dirty="0"/>
            <a:t>Highly levered firms should have higher betas than firms with less debt</a:t>
          </a:r>
        </a:p>
      </dsp:txBody>
      <dsp:txXfrm>
        <a:off x="6294572" y="3633387"/>
        <a:ext cx="2331587" cy="164411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747CC0-0EAD-45F5-AF7F-19997AB2C7BC}">
      <dsp:nvSpPr>
        <dsp:cNvPr id="0" name=""/>
        <dsp:cNvSpPr/>
      </dsp:nvSpPr>
      <dsp:spPr>
        <a:xfrm>
          <a:off x="0" y="2974"/>
          <a:ext cx="8964488" cy="1624763"/>
        </a:xfrm>
        <a:prstGeom prst="roundRect">
          <a:avLst>
            <a:gd name="adj" fmla="val 10000"/>
          </a:avLst>
        </a:prstGeom>
        <a:solidFill>
          <a:schemeClr val="accent1">
            <a:hueOff val="0"/>
            <a:satOff val="0"/>
            <a:lumOff val="0"/>
            <a:alphaOff val="0"/>
          </a:schemeClr>
        </a:solidFill>
        <a:ln>
          <a:noFill/>
        </a:ln>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accent1">
              <a:hueOff val="0"/>
              <a:satOff val="0"/>
              <a:lumOff val="0"/>
              <a:alphaOff val="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dirty="0"/>
            <a:t>Start with the pure beta of the business that the firm is in</a:t>
          </a:r>
        </a:p>
        <a:p>
          <a:pPr marL="0" lvl="0" indent="0" algn="ctr" defTabSz="1066800">
            <a:lnSpc>
              <a:spcPct val="90000"/>
            </a:lnSpc>
            <a:spcBef>
              <a:spcPct val="0"/>
            </a:spcBef>
            <a:spcAft>
              <a:spcPct val="35000"/>
            </a:spcAft>
            <a:buNone/>
          </a:pPr>
          <a:r>
            <a:rPr lang="en-GB" sz="2400" kern="1200" dirty="0"/>
            <a:t>For the US: </a:t>
          </a:r>
          <a:r>
            <a:rPr lang="en-GB" sz="2400" kern="1200" dirty="0">
              <a:hlinkClick xmlns:r="http://schemas.openxmlformats.org/officeDocument/2006/relationships" r:id="rId1"/>
            </a:rPr>
            <a:t>https://pages.stern.nyu.edu/~adamodar/New_Home_Page/datafile/Betas.html</a:t>
          </a:r>
          <a:r>
            <a:rPr lang="en-GB" sz="2400" kern="1200" dirty="0"/>
            <a:t> </a:t>
          </a:r>
        </a:p>
      </dsp:txBody>
      <dsp:txXfrm>
        <a:off x="47588" y="50562"/>
        <a:ext cx="8869312" cy="1529587"/>
      </dsp:txXfrm>
    </dsp:sp>
    <dsp:sp modelId="{C5017CA7-A07E-4CBF-B1E4-50CC1F1FD08E}">
      <dsp:nvSpPr>
        <dsp:cNvPr id="0" name=""/>
        <dsp:cNvSpPr/>
      </dsp:nvSpPr>
      <dsp:spPr>
        <a:xfrm rot="5400000">
          <a:off x="4269513" y="1656102"/>
          <a:ext cx="425461" cy="510553"/>
        </a:xfrm>
        <a:prstGeom prst="rightArrow">
          <a:avLst>
            <a:gd name="adj1" fmla="val 60000"/>
            <a:gd name="adj2" fmla="val 50000"/>
          </a:avLst>
        </a:prstGeom>
        <a:solidFill>
          <a:schemeClr val="accent1">
            <a:tint val="60000"/>
            <a:hueOff val="0"/>
            <a:satOff val="0"/>
            <a:lumOff val="0"/>
            <a:alphaOff val="0"/>
          </a:schemeClr>
        </a:solidFill>
        <a:ln>
          <a:noFill/>
        </a:ln>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accent1">
              <a:tint val="60000"/>
              <a:hueOff val="0"/>
              <a:satOff val="0"/>
              <a:lumOff val="0"/>
              <a:alphaOff val="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n-GB" sz="2800" kern="1200"/>
        </a:p>
      </dsp:txBody>
      <dsp:txXfrm rot="-5400000">
        <a:off x="4329078" y="1698648"/>
        <a:ext cx="306331" cy="297823"/>
      </dsp:txXfrm>
    </dsp:sp>
    <dsp:sp modelId="{B27D3E3F-4CE4-4801-AF96-01F5E6945687}">
      <dsp:nvSpPr>
        <dsp:cNvPr id="0" name=""/>
        <dsp:cNvSpPr/>
      </dsp:nvSpPr>
      <dsp:spPr>
        <a:xfrm>
          <a:off x="0" y="2195020"/>
          <a:ext cx="8964488" cy="1572766"/>
        </a:xfrm>
        <a:prstGeom prst="roundRect">
          <a:avLst>
            <a:gd name="adj" fmla="val 10000"/>
          </a:avLst>
        </a:prstGeom>
        <a:solidFill>
          <a:schemeClr val="accent1">
            <a:hueOff val="0"/>
            <a:satOff val="0"/>
            <a:lumOff val="0"/>
            <a:alphaOff val="0"/>
          </a:schemeClr>
        </a:solidFill>
        <a:ln>
          <a:noFill/>
        </a:ln>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accent1">
              <a:hueOff val="0"/>
              <a:satOff val="0"/>
              <a:lumOff val="0"/>
              <a:alphaOff val="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dirty="0"/>
            <a:t>Adjust the business beta for the operating leverage of the firm to arrive at the unlevered beta for the firm</a:t>
          </a:r>
        </a:p>
        <a:p>
          <a:pPr marL="0" lvl="0" indent="0" algn="ctr" defTabSz="1066800">
            <a:lnSpc>
              <a:spcPct val="90000"/>
            </a:lnSpc>
            <a:spcBef>
              <a:spcPct val="0"/>
            </a:spcBef>
            <a:spcAft>
              <a:spcPct val="35000"/>
            </a:spcAft>
            <a:buNone/>
          </a:pPr>
          <a:r>
            <a:rPr lang="en-US" sz="2400" b="1" kern="1200" dirty="0">
              <a:solidFill>
                <a:schemeClr val="tx1">
                  <a:lumMod val="95000"/>
                  <a:lumOff val="5000"/>
                </a:schemeClr>
              </a:solidFill>
            </a:rPr>
            <a:t>Unlevered beta=</a:t>
          </a:r>
        </a:p>
        <a:p>
          <a:pPr marL="0" lvl="0" indent="0" algn="ctr" defTabSz="1066800">
            <a:lnSpc>
              <a:spcPct val="90000"/>
            </a:lnSpc>
            <a:spcBef>
              <a:spcPct val="0"/>
            </a:spcBef>
            <a:spcAft>
              <a:spcPct val="35000"/>
            </a:spcAft>
            <a:buNone/>
          </a:pPr>
          <a:r>
            <a:rPr lang="en-US" sz="2400" b="1" kern="1200" dirty="0">
              <a:solidFill>
                <a:schemeClr val="tx1">
                  <a:lumMod val="95000"/>
                  <a:lumOff val="5000"/>
                </a:schemeClr>
              </a:solidFill>
            </a:rPr>
            <a:t>Pure business beta *(1 + (Fixed costs/ Variable costs))</a:t>
          </a:r>
          <a:endParaRPr lang="en-GB" sz="2400" kern="1200" dirty="0">
            <a:solidFill>
              <a:schemeClr val="tx1">
                <a:lumMod val="95000"/>
                <a:lumOff val="5000"/>
              </a:schemeClr>
            </a:solidFill>
          </a:endParaRPr>
        </a:p>
      </dsp:txBody>
      <dsp:txXfrm>
        <a:off x="46065" y="2241085"/>
        <a:ext cx="8872358" cy="1480636"/>
      </dsp:txXfrm>
    </dsp:sp>
    <dsp:sp modelId="{A50E0E44-1A1E-45F5-BDF0-8669B245FAAD}">
      <dsp:nvSpPr>
        <dsp:cNvPr id="0" name=""/>
        <dsp:cNvSpPr/>
      </dsp:nvSpPr>
      <dsp:spPr>
        <a:xfrm rot="5400000">
          <a:off x="4269513" y="3796151"/>
          <a:ext cx="425461" cy="510553"/>
        </a:xfrm>
        <a:prstGeom prst="rightArrow">
          <a:avLst>
            <a:gd name="adj1" fmla="val 60000"/>
            <a:gd name="adj2" fmla="val 50000"/>
          </a:avLst>
        </a:prstGeom>
        <a:solidFill>
          <a:schemeClr val="accent1">
            <a:tint val="60000"/>
            <a:hueOff val="0"/>
            <a:satOff val="0"/>
            <a:lumOff val="0"/>
            <a:alphaOff val="0"/>
          </a:schemeClr>
        </a:solidFill>
        <a:ln>
          <a:noFill/>
        </a:ln>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accent1">
              <a:tint val="60000"/>
              <a:hueOff val="0"/>
              <a:satOff val="0"/>
              <a:lumOff val="0"/>
              <a:alphaOff val="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n-GB" sz="2800" kern="1200"/>
        </a:p>
      </dsp:txBody>
      <dsp:txXfrm rot="-5400000">
        <a:off x="4329078" y="3838697"/>
        <a:ext cx="306331" cy="297823"/>
      </dsp:txXfrm>
    </dsp:sp>
    <dsp:sp modelId="{CD55BBCB-A711-4D3A-AC1F-A9F38D6794F0}">
      <dsp:nvSpPr>
        <dsp:cNvPr id="0" name=""/>
        <dsp:cNvSpPr/>
      </dsp:nvSpPr>
      <dsp:spPr>
        <a:xfrm>
          <a:off x="0" y="4335069"/>
          <a:ext cx="8964488" cy="1134563"/>
        </a:xfrm>
        <a:prstGeom prst="roundRect">
          <a:avLst>
            <a:gd name="adj" fmla="val 10000"/>
          </a:avLst>
        </a:prstGeom>
        <a:solidFill>
          <a:schemeClr val="accent1">
            <a:hueOff val="0"/>
            <a:satOff val="0"/>
            <a:lumOff val="0"/>
            <a:alphaOff val="0"/>
          </a:schemeClr>
        </a:solidFill>
        <a:ln>
          <a:noFill/>
        </a:ln>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accent1">
              <a:hueOff val="0"/>
              <a:satOff val="0"/>
              <a:lumOff val="0"/>
              <a:alphaOff val="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dirty="0"/>
            <a:t>Use the financial leverage of the firm to estimate the equity beta for the firm</a:t>
          </a:r>
        </a:p>
        <a:p>
          <a:pPr marL="0" lvl="0" indent="0" algn="ctr" defTabSz="1066800">
            <a:lnSpc>
              <a:spcPct val="90000"/>
            </a:lnSpc>
            <a:spcBef>
              <a:spcPct val="0"/>
            </a:spcBef>
            <a:spcAft>
              <a:spcPct val="35000"/>
            </a:spcAft>
            <a:buNone/>
          </a:pPr>
          <a:r>
            <a:rPr lang="en-GB" sz="2400" b="1" kern="1200" dirty="0">
              <a:solidFill>
                <a:schemeClr val="tx1">
                  <a:lumMod val="95000"/>
                  <a:lumOff val="5000"/>
                </a:schemeClr>
              </a:solidFill>
            </a:rPr>
            <a:t>Levered Beta=Unlevered Beta(1+(1-T)*(D/E))</a:t>
          </a:r>
          <a:endParaRPr lang="en-GB" sz="2000" b="1" kern="1200" dirty="0">
            <a:solidFill>
              <a:schemeClr val="tx1">
                <a:lumMod val="95000"/>
                <a:lumOff val="5000"/>
              </a:schemeClr>
            </a:solidFill>
          </a:endParaRPr>
        </a:p>
      </dsp:txBody>
      <dsp:txXfrm>
        <a:off x="33230" y="4368299"/>
        <a:ext cx="8898028" cy="1068103"/>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90E11E-1F35-401E-8699-7E36A2BADD41}">
      <dsp:nvSpPr>
        <dsp:cNvPr id="0" name=""/>
        <dsp:cNvSpPr/>
      </dsp:nvSpPr>
      <dsp:spPr>
        <a:xfrm>
          <a:off x="4252118" y="803427"/>
          <a:ext cx="2907107" cy="337361"/>
        </a:xfrm>
        <a:custGeom>
          <a:avLst/>
          <a:gdLst/>
          <a:ahLst/>
          <a:cxnLst/>
          <a:rect l="0" t="0" r="0" b="0"/>
          <a:pathLst>
            <a:path>
              <a:moveTo>
                <a:pt x="0" y="0"/>
              </a:moveTo>
              <a:lnTo>
                <a:pt x="0" y="168680"/>
              </a:lnTo>
              <a:lnTo>
                <a:pt x="2907107" y="168680"/>
              </a:lnTo>
              <a:lnTo>
                <a:pt x="2907107" y="337361"/>
              </a:lnTo>
            </a:path>
          </a:pathLst>
        </a:custGeom>
        <a:noFill/>
        <a:ln w="11429" cap="flat" cmpd="sng" algn="ctr">
          <a:solidFill>
            <a:schemeClr val="accent1">
              <a:shade val="60000"/>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D9C64D80-7110-4E95-BE83-4F5B905B0297}">
      <dsp:nvSpPr>
        <dsp:cNvPr id="0" name=""/>
        <dsp:cNvSpPr/>
      </dsp:nvSpPr>
      <dsp:spPr>
        <a:xfrm>
          <a:off x="4206398" y="803427"/>
          <a:ext cx="91440" cy="337361"/>
        </a:xfrm>
        <a:custGeom>
          <a:avLst/>
          <a:gdLst/>
          <a:ahLst/>
          <a:cxnLst/>
          <a:rect l="0" t="0" r="0" b="0"/>
          <a:pathLst>
            <a:path>
              <a:moveTo>
                <a:pt x="45720" y="0"/>
              </a:moveTo>
              <a:lnTo>
                <a:pt x="45720" y="337361"/>
              </a:lnTo>
            </a:path>
          </a:pathLst>
        </a:custGeom>
        <a:noFill/>
        <a:ln w="11429" cap="flat" cmpd="sng" algn="ctr">
          <a:solidFill>
            <a:schemeClr val="accent1">
              <a:shade val="60000"/>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23489686-1EB7-4549-AE0B-1E5C9EF6CB86}">
      <dsp:nvSpPr>
        <dsp:cNvPr id="0" name=""/>
        <dsp:cNvSpPr/>
      </dsp:nvSpPr>
      <dsp:spPr>
        <a:xfrm>
          <a:off x="1182563" y="803427"/>
          <a:ext cx="3069554" cy="337361"/>
        </a:xfrm>
        <a:custGeom>
          <a:avLst/>
          <a:gdLst/>
          <a:ahLst/>
          <a:cxnLst/>
          <a:rect l="0" t="0" r="0" b="0"/>
          <a:pathLst>
            <a:path>
              <a:moveTo>
                <a:pt x="3069554" y="0"/>
              </a:moveTo>
              <a:lnTo>
                <a:pt x="3069554" y="168680"/>
              </a:lnTo>
              <a:lnTo>
                <a:pt x="0" y="168680"/>
              </a:lnTo>
              <a:lnTo>
                <a:pt x="0" y="337361"/>
              </a:lnTo>
            </a:path>
          </a:pathLst>
        </a:custGeom>
        <a:noFill/>
        <a:ln w="11429" cap="flat" cmpd="sng" algn="ctr">
          <a:solidFill>
            <a:schemeClr val="accent1">
              <a:shade val="60000"/>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6813ABCB-9222-457B-B478-F7C3B050A036}">
      <dsp:nvSpPr>
        <dsp:cNvPr id="0" name=""/>
        <dsp:cNvSpPr/>
      </dsp:nvSpPr>
      <dsp:spPr>
        <a:xfrm>
          <a:off x="3398706" y="185"/>
          <a:ext cx="1706823" cy="803241"/>
        </a:xfrm>
        <a:prstGeom prst="arc">
          <a:avLst>
            <a:gd name="adj1" fmla="val 13200000"/>
            <a:gd name="adj2" fmla="val 19200000"/>
          </a:avLst>
        </a:prstGeom>
        <a:noFill/>
        <a:ln w="11429" cap="flat" cmpd="sng" algn="ctr">
          <a:solidFill>
            <a:schemeClr val="accent1">
              <a:shade val="60000"/>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1561369E-7325-4D03-BF3F-D73E0418C391}">
      <dsp:nvSpPr>
        <dsp:cNvPr id="0" name=""/>
        <dsp:cNvSpPr/>
      </dsp:nvSpPr>
      <dsp:spPr>
        <a:xfrm>
          <a:off x="3398706" y="185"/>
          <a:ext cx="1706823" cy="803241"/>
        </a:xfrm>
        <a:prstGeom prst="arc">
          <a:avLst>
            <a:gd name="adj1" fmla="val 2400000"/>
            <a:gd name="adj2" fmla="val 8400000"/>
          </a:avLst>
        </a:prstGeom>
        <a:noFill/>
        <a:ln w="11429" cap="flat" cmpd="sng" algn="ctr">
          <a:solidFill>
            <a:schemeClr val="accent1">
              <a:shade val="60000"/>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30D68A95-48A2-425D-97B4-99D6CD31BDBD}">
      <dsp:nvSpPr>
        <dsp:cNvPr id="0" name=""/>
        <dsp:cNvSpPr/>
      </dsp:nvSpPr>
      <dsp:spPr>
        <a:xfrm>
          <a:off x="2545294" y="144769"/>
          <a:ext cx="3413647" cy="514074"/>
        </a:xfrm>
        <a:prstGeom prst="rect">
          <a:avLst/>
        </a:prstGeom>
        <a:noFill/>
        <a:ln w="11429" cap="flat" cmpd="sng" algn="ctr">
          <a:noFill/>
          <a:prstDash val="sysDash"/>
        </a:ln>
        <a:effectLst/>
        <a:sp3d/>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GB" sz="3200" kern="1200" dirty="0"/>
            <a:t>Consolidated Firm</a:t>
          </a:r>
        </a:p>
      </dsp:txBody>
      <dsp:txXfrm>
        <a:off x="2545294" y="144769"/>
        <a:ext cx="3413647" cy="514074"/>
      </dsp:txXfrm>
    </dsp:sp>
    <dsp:sp modelId="{BE9C96A9-9897-48D6-8970-30D6F504B1C7}">
      <dsp:nvSpPr>
        <dsp:cNvPr id="0" name=""/>
        <dsp:cNvSpPr/>
      </dsp:nvSpPr>
      <dsp:spPr>
        <a:xfrm>
          <a:off x="780943" y="1140788"/>
          <a:ext cx="803241" cy="803241"/>
        </a:xfrm>
        <a:prstGeom prst="arc">
          <a:avLst>
            <a:gd name="adj1" fmla="val 13200000"/>
            <a:gd name="adj2" fmla="val 19200000"/>
          </a:avLst>
        </a:prstGeom>
        <a:noFill/>
        <a:ln w="11429" cap="flat" cmpd="sng" algn="ctr">
          <a:solidFill>
            <a:schemeClr val="accent1">
              <a:shade val="60000"/>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CA42F688-BEFB-49B2-9243-B85E160A401B}">
      <dsp:nvSpPr>
        <dsp:cNvPr id="0" name=""/>
        <dsp:cNvSpPr/>
      </dsp:nvSpPr>
      <dsp:spPr>
        <a:xfrm>
          <a:off x="780943" y="1140788"/>
          <a:ext cx="803241" cy="803241"/>
        </a:xfrm>
        <a:prstGeom prst="arc">
          <a:avLst>
            <a:gd name="adj1" fmla="val 2400000"/>
            <a:gd name="adj2" fmla="val 8400000"/>
          </a:avLst>
        </a:prstGeom>
        <a:noFill/>
        <a:ln w="11429" cap="flat" cmpd="sng" algn="ctr">
          <a:solidFill>
            <a:schemeClr val="accent1">
              <a:shade val="60000"/>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7B471852-D855-4358-8D35-0F64824B181E}">
      <dsp:nvSpPr>
        <dsp:cNvPr id="0" name=""/>
        <dsp:cNvSpPr/>
      </dsp:nvSpPr>
      <dsp:spPr>
        <a:xfrm>
          <a:off x="379322" y="1285372"/>
          <a:ext cx="1606482" cy="514074"/>
        </a:xfrm>
        <a:prstGeom prst="rect">
          <a:avLst/>
        </a:prstGeom>
        <a:noFill/>
        <a:ln w="11429" cap="flat" cmpd="sng" algn="ctr">
          <a:noFill/>
          <a:prstDash val="sysDash"/>
        </a:ln>
        <a:effectLst/>
        <a:sp3d/>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GB" sz="3200" kern="1200" dirty="0"/>
            <a:t>Sector A</a:t>
          </a:r>
        </a:p>
      </dsp:txBody>
      <dsp:txXfrm>
        <a:off x="379322" y="1285372"/>
        <a:ext cx="1606482" cy="514074"/>
      </dsp:txXfrm>
    </dsp:sp>
    <dsp:sp modelId="{C861C8DF-AF5B-4656-965F-CFF589B370D9}">
      <dsp:nvSpPr>
        <dsp:cNvPr id="0" name=""/>
        <dsp:cNvSpPr/>
      </dsp:nvSpPr>
      <dsp:spPr>
        <a:xfrm>
          <a:off x="3850497" y="1140788"/>
          <a:ext cx="803241" cy="803241"/>
        </a:xfrm>
        <a:prstGeom prst="arc">
          <a:avLst>
            <a:gd name="adj1" fmla="val 13200000"/>
            <a:gd name="adj2" fmla="val 19200000"/>
          </a:avLst>
        </a:prstGeom>
        <a:noFill/>
        <a:ln w="11429" cap="flat" cmpd="sng" algn="ctr">
          <a:solidFill>
            <a:schemeClr val="accent1">
              <a:shade val="60000"/>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D052BB1F-E72D-4382-A4DD-F4E712CDF864}">
      <dsp:nvSpPr>
        <dsp:cNvPr id="0" name=""/>
        <dsp:cNvSpPr/>
      </dsp:nvSpPr>
      <dsp:spPr>
        <a:xfrm>
          <a:off x="3850497" y="1140788"/>
          <a:ext cx="803241" cy="803241"/>
        </a:xfrm>
        <a:prstGeom prst="arc">
          <a:avLst>
            <a:gd name="adj1" fmla="val 2400000"/>
            <a:gd name="adj2" fmla="val 8400000"/>
          </a:avLst>
        </a:prstGeom>
        <a:noFill/>
        <a:ln w="11429" cap="flat" cmpd="sng" algn="ctr">
          <a:solidFill>
            <a:schemeClr val="accent1">
              <a:shade val="60000"/>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7513574B-CBA7-4BB8-A40D-291C68960949}">
      <dsp:nvSpPr>
        <dsp:cNvPr id="0" name=""/>
        <dsp:cNvSpPr/>
      </dsp:nvSpPr>
      <dsp:spPr>
        <a:xfrm>
          <a:off x="3448877" y="1285372"/>
          <a:ext cx="1606482" cy="514074"/>
        </a:xfrm>
        <a:prstGeom prst="rect">
          <a:avLst/>
        </a:prstGeom>
        <a:noFill/>
        <a:ln w="11429" cap="flat" cmpd="sng" algn="ctr">
          <a:noFill/>
          <a:prstDash val="sysDash"/>
        </a:ln>
        <a:effectLst/>
        <a:sp3d/>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GB" sz="3200" kern="1200" dirty="0"/>
            <a:t>Sector B</a:t>
          </a:r>
        </a:p>
      </dsp:txBody>
      <dsp:txXfrm>
        <a:off x="3448877" y="1285372"/>
        <a:ext cx="1606482" cy="514074"/>
      </dsp:txXfrm>
    </dsp:sp>
    <dsp:sp modelId="{A383B80F-386C-4296-97EC-538F362DE16F}">
      <dsp:nvSpPr>
        <dsp:cNvPr id="0" name=""/>
        <dsp:cNvSpPr/>
      </dsp:nvSpPr>
      <dsp:spPr>
        <a:xfrm>
          <a:off x="6757605" y="1140788"/>
          <a:ext cx="803241" cy="803241"/>
        </a:xfrm>
        <a:prstGeom prst="arc">
          <a:avLst>
            <a:gd name="adj1" fmla="val 13200000"/>
            <a:gd name="adj2" fmla="val 19200000"/>
          </a:avLst>
        </a:prstGeom>
        <a:noFill/>
        <a:ln w="11429" cap="flat" cmpd="sng" algn="ctr">
          <a:solidFill>
            <a:schemeClr val="accent1">
              <a:shade val="60000"/>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FC18A303-BDCB-4AE4-83D6-B511785C0E14}">
      <dsp:nvSpPr>
        <dsp:cNvPr id="0" name=""/>
        <dsp:cNvSpPr/>
      </dsp:nvSpPr>
      <dsp:spPr>
        <a:xfrm>
          <a:off x="6757605" y="1140788"/>
          <a:ext cx="803241" cy="803241"/>
        </a:xfrm>
        <a:prstGeom prst="arc">
          <a:avLst>
            <a:gd name="adj1" fmla="val 2400000"/>
            <a:gd name="adj2" fmla="val 8400000"/>
          </a:avLst>
        </a:prstGeom>
        <a:noFill/>
        <a:ln w="11429" cap="flat" cmpd="sng" algn="ctr">
          <a:solidFill>
            <a:schemeClr val="accent1">
              <a:shade val="60000"/>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163CA0BE-1147-4C9E-9C97-E13DB7AA3604}">
      <dsp:nvSpPr>
        <dsp:cNvPr id="0" name=""/>
        <dsp:cNvSpPr/>
      </dsp:nvSpPr>
      <dsp:spPr>
        <a:xfrm>
          <a:off x="6355984" y="1285372"/>
          <a:ext cx="1606482" cy="514074"/>
        </a:xfrm>
        <a:prstGeom prst="rect">
          <a:avLst/>
        </a:prstGeom>
        <a:noFill/>
        <a:ln w="11429" cap="flat" cmpd="sng" algn="ctr">
          <a:noFill/>
          <a:prstDash val="sysDash"/>
        </a:ln>
        <a:effectLst/>
        <a:sp3d/>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GB" sz="3200" kern="1200" dirty="0"/>
            <a:t>Sector C</a:t>
          </a:r>
        </a:p>
      </dsp:txBody>
      <dsp:txXfrm>
        <a:off x="6355984" y="1285372"/>
        <a:ext cx="1606482" cy="514074"/>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DBAA07-D82C-433F-8558-78DEE27F27B9}">
      <dsp:nvSpPr>
        <dsp:cNvPr id="0" name=""/>
        <dsp:cNvSpPr/>
      </dsp:nvSpPr>
      <dsp:spPr>
        <a:xfrm>
          <a:off x="1055" y="0"/>
          <a:ext cx="2744806" cy="2232248"/>
        </a:xfrm>
        <a:prstGeom prst="roundRect">
          <a:avLst>
            <a:gd name="adj" fmla="val 10000"/>
          </a:avLst>
        </a:prstGeom>
        <a:solidFill>
          <a:schemeClr val="dk2">
            <a:tint val="40000"/>
            <a:hueOff val="0"/>
            <a:satOff val="0"/>
            <a:lumOff val="0"/>
            <a:alphaOff val="0"/>
          </a:schemeClr>
        </a:soli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14:m xmlns:a14="http://schemas.microsoft.com/office/drawing/2010/main">
            <m:oMathPara xmlns:m="http://schemas.openxmlformats.org/officeDocument/2006/math">
              <m:oMath>
                <m:sSub>
                  <m:sSubPr>
                    <m:ctrlPr>
                      <a:rPr lang="el-GR" sz="3200" b="0" i="1" kern="1200" smtClean="0">
                        <a:latin typeface="Cambria Math" panose="02040503050406030204" pitchFamily="18" charset="0"/>
                      </a:rPr>
                    </m:ctrlPr>
                  </m:sSubPr>
                  <m:e>
                    <m:r>
                      <a:rPr lang="el-GR" sz="3200" b="0" i="1" kern="1200" smtClean="0">
                        <a:latin typeface="Cambria Math" panose="02040503050406030204" pitchFamily="18" charset="0"/>
                      </a:rPr>
                      <m:t>𝛽</m:t>
                    </m:r>
                  </m:e>
                  <m:sub>
                    <m:r>
                      <a:rPr lang="en-GB" sz="3200" b="0" i="1" kern="1200" smtClean="0">
                        <a:latin typeface="Cambria Math" panose="02040503050406030204" pitchFamily="18" charset="0"/>
                      </a:rPr>
                      <m:t>𝐴</m:t>
                    </m:r>
                  </m:sub>
                </m:sSub>
              </m:oMath>
            </m:oMathPara>
          </a14:m>
          <a:endParaRPr lang="en-GB" sz="3200" kern="1200" dirty="0"/>
        </a:p>
      </dsp:txBody>
      <dsp:txXfrm>
        <a:off x="1055" y="0"/>
        <a:ext cx="2744806" cy="669674"/>
      </dsp:txXfrm>
    </dsp:sp>
    <dsp:sp modelId="{7C321082-EE9F-4BF2-BC5A-B50C9B95FF0C}">
      <dsp:nvSpPr>
        <dsp:cNvPr id="0" name=""/>
        <dsp:cNvSpPr/>
      </dsp:nvSpPr>
      <dsp:spPr>
        <a:xfrm>
          <a:off x="80962" y="670328"/>
          <a:ext cx="2584993" cy="673053"/>
        </a:xfrm>
        <a:prstGeom prst="roundRect">
          <a:avLst>
            <a:gd name="adj" fmla="val 10000"/>
          </a:avLst>
        </a:prstGeom>
        <a:solidFill>
          <a:schemeClr val="dk2">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GB" sz="1800" kern="1200" dirty="0"/>
            <a:t>Un-lever beta: </a:t>
          </a:r>
          <a14:m xmlns:a14="http://schemas.microsoft.com/office/drawing/2010/main">
            <m:oMath xmlns:m="http://schemas.openxmlformats.org/officeDocument/2006/math">
              <m:sSub>
                <m:sSubPr>
                  <m:ctrlPr>
                    <a:rPr lang="el-GR" sz="1800" b="0" i="1" kern="1200" smtClean="0">
                      <a:latin typeface="Cambria Math" panose="02040503050406030204" pitchFamily="18" charset="0"/>
                    </a:rPr>
                  </m:ctrlPr>
                </m:sSubPr>
                <m:e>
                  <m:r>
                    <a:rPr lang="el-GR" sz="1800" b="0" i="1" kern="1200" smtClean="0">
                      <a:latin typeface="Cambria Math" panose="02040503050406030204" pitchFamily="18" charset="0"/>
                    </a:rPr>
                    <m:t>𝛽</m:t>
                  </m:r>
                </m:e>
                <m:sub>
                  <m:r>
                    <a:rPr lang="en-GB" sz="1800" b="0" i="1" kern="1200" smtClean="0">
                      <a:latin typeface="Cambria Math" panose="02040503050406030204" pitchFamily="18" charset="0"/>
                    </a:rPr>
                    <m:t>𝑢</m:t>
                  </m:r>
                  <m:r>
                    <a:rPr lang="en-GB" sz="1800" b="0" i="1" kern="1200" smtClean="0">
                      <a:latin typeface="Cambria Math" panose="02040503050406030204" pitchFamily="18" charset="0"/>
                    </a:rPr>
                    <m:t>,</m:t>
                  </m:r>
                  <m:r>
                    <a:rPr lang="en-GB" sz="1800" b="0" i="1" kern="1200" smtClean="0">
                      <a:latin typeface="Cambria Math" panose="02040503050406030204" pitchFamily="18" charset="0"/>
                    </a:rPr>
                    <m:t>𝐴</m:t>
                  </m:r>
                </m:sub>
              </m:sSub>
            </m:oMath>
          </a14:m>
          <a:endParaRPr lang="en-GB" sz="1800" kern="1200" dirty="0"/>
        </a:p>
      </dsp:txBody>
      <dsp:txXfrm>
        <a:off x="100675" y="690041"/>
        <a:ext cx="2545567" cy="633627"/>
      </dsp:txXfrm>
    </dsp:sp>
    <dsp:sp modelId="{F3536B04-8620-4C98-B19B-5507E07B2486}">
      <dsp:nvSpPr>
        <dsp:cNvPr id="0" name=""/>
        <dsp:cNvSpPr/>
      </dsp:nvSpPr>
      <dsp:spPr>
        <a:xfrm>
          <a:off x="80962" y="1446928"/>
          <a:ext cx="2584993" cy="673053"/>
        </a:xfrm>
        <a:prstGeom prst="roundRect">
          <a:avLst>
            <a:gd name="adj" fmla="val 10000"/>
          </a:avLst>
        </a:prstGeom>
        <a:solidFill>
          <a:schemeClr val="dk2">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GB" sz="1800" kern="1200" dirty="0"/>
            <a:t>% of Value from A</a:t>
          </a:r>
        </a:p>
      </dsp:txBody>
      <dsp:txXfrm>
        <a:off x="100675" y="1466641"/>
        <a:ext cx="2545567" cy="633627"/>
      </dsp:txXfrm>
    </dsp:sp>
    <dsp:sp modelId="{76D5E8C6-3BF7-47F7-A947-503BD39C5A54}">
      <dsp:nvSpPr>
        <dsp:cNvPr id="0" name=""/>
        <dsp:cNvSpPr/>
      </dsp:nvSpPr>
      <dsp:spPr>
        <a:xfrm>
          <a:off x="2951723" y="0"/>
          <a:ext cx="2744806" cy="2232248"/>
        </a:xfrm>
        <a:prstGeom prst="roundRect">
          <a:avLst>
            <a:gd name="adj" fmla="val 10000"/>
          </a:avLst>
        </a:prstGeom>
        <a:solidFill>
          <a:schemeClr val="dk2">
            <a:tint val="40000"/>
            <a:hueOff val="0"/>
            <a:satOff val="0"/>
            <a:lumOff val="0"/>
            <a:alphaOff val="0"/>
          </a:schemeClr>
        </a:soli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14:m xmlns:a14="http://schemas.microsoft.com/office/drawing/2010/main">
            <m:oMathPara xmlns:m="http://schemas.openxmlformats.org/officeDocument/2006/math">
              <m:oMath>
                <m:sSub>
                  <m:sSubPr>
                    <m:ctrlPr>
                      <a:rPr lang="el-GR" sz="3200" b="0" i="1" kern="1200" smtClean="0">
                        <a:latin typeface="Cambria Math" panose="02040503050406030204" pitchFamily="18" charset="0"/>
                      </a:rPr>
                    </m:ctrlPr>
                  </m:sSubPr>
                  <m:e>
                    <m:r>
                      <a:rPr lang="el-GR" sz="3200" b="0" i="1" kern="1200" smtClean="0">
                        <a:latin typeface="Cambria Math" panose="02040503050406030204" pitchFamily="18" charset="0"/>
                      </a:rPr>
                      <m:t>𝛽</m:t>
                    </m:r>
                  </m:e>
                  <m:sub>
                    <m:r>
                      <a:rPr lang="en-GB" sz="3200" b="0" i="1" kern="1200" smtClean="0">
                        <a:latin typeface="Cambria Math" panose="02040503050406030204" pitchFamily="18" charset="0"/>
                      </a:rPr>
                      <m:t>𝐵</m:t>
                    </m:r>
                  </m:sub>
                </m:sSub>
              </m:oMath>
            </m:oMathPara>
          </a14:m>
          <a:endParaRPr lang="en-GB" sz="3200" kern="1200" dirty="0"/>
        </a:p>
      </dsp:txBody>
      <dsp:txXfrm>
        <a:off x="2951723" y="0"/>
        <a:ext cx="2744806" cy="669674"/>
      </dsp:txXfrm>
    </dsp:sp>
    <dsp:sp modelId="{D5580F7C-CBF5-447E-9283-B9AB9AD4E82B}">
      <dsp:nvSpPr>
        <dsp:cNvPr id="0" name=""/>
        <dsp:cNvSpPr/>
      </dsp:nvSpPr>
      <dsp:spPr>
        <a:xfrm>
          <a:off x="3031629" y="670328"/>
          <a:ext cx="2584993" cy="673053"/>
        </a:xfrm>
        <a:prstGeom prst="roundRect">
          <a:avLst>
            <a:gd name="adj" fmla="val 10000"/>
          </a:avLst>
        </a:prstGeom>
        <a:solidFill>
          <a:schemeClr val="dk2">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GB" sz="1800" kern="1200" dirty="0"/>
            <a:t>Un-lever beta: </a:t>
          </a:r>
          <a14:m xmlns:a14="http://schemas.microsoft.com/office/drawing/2010/main">
            <m:oMath xmlns:m="http://schemas.openxmlformats.org/officeDocument/2006/math">
              <m:sSub>
                <m:sSubPr>
                  <m:ctrlPr>
                    <a:rPr lang="el-GR" sz="1800" b="0" i="1" kern="1200" smtClean="0">
                      <a:latin typeface="Cambria Math" panose="02040503050406030204" pitchFamily="18" charset="0"/>
                    </a:rPr>
                  </m:ctrlPr>
                </m:sSubPr>
                <m:e>
                  <m:r>
                    <a:rPr lang="el-GR" sz="1800" b="0" i="1" kern="1200" smtClean="0">
                      <a:latin typeface="Cambria Math" panose="02040503050406030204" pitchFamily="18" charset="0"/>
                    </a:rPr>
                    <m:t>𝛽</m:t>
                  </m:r>
                </m:e>
                <m:sub>
                  <m:r>
                    <a:rPr lang="en-GB" sz="1800" b="0" i="1" kern="1200" smtClean="0">
                      <a:latin typeface="Cambria Math" panose="02040503050406030204" pitchFamily="18" charset="0"/>
                    </a:rPr>
                    <m:t>𝑢</m:t>
                  </m:r>
                  <m:r>
                    <a:rPr lang="en-GB" sz="1800" b="0" i="1" kern="1200" smtClean="0">
                      <a:latin typeface="Cambria Math" panose="02040503050406030204" pitchFamily="18" charset="0"/>
                    </a:rPr>
                    <m:t>,</m:t>
                  </m:r>
                  <m:r>
                    <a:rPr lang="en-GB" sz="1800" b="0" i="1" kern="1200" smtClean="0">
                      <a:latin typeface="Cambria Math" panose="02040503050406030204" pitchFamily="18" charset="0"/>
                    </a:rPr>
                    <m:t>𝐵</m:t>
                  </m:r>
                </m:sub>
              </m:sSub>
            </m:oMath>
          </a14:m>
          <a:endParaRPr lang="en-GB" sz="1800" kern="1200" dirty="0"/>
        </a:p>
      </dsp:txBody>
      <dsp:txXfrm>
        <a:off x="3051342" y="690041"/>
        <a:ext cx="2545567" cy="633627"/>
      </dsp:txXfrm>
    </dsp:sp>
    <dsp:sp modelId="{BF6F70C2-5323-48D0-A328-74AA29A933EE}">
      <dsp:nvSpPr>
        <dsp:cNvPr id="0" name=""/>
        <dsp:cNvSpPr/>
      </dsp:nvSpPr>
      <dsp:spPr>
        <a:xfrm>
          <a:off x="3031629" y="1446928"/>
          <a:ext cx="2584993" cy="673053"/>
        </a:xfrm>
        <a:prstGeom prst="roundRect">
          <a:avLst>
            <a:gd name="adj" fmla="val 10000"/>
          </a:avLst>
        </a:prstGeom>
        <a:solidFill>
          <a:schemeClr val="dk2">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GB" sz="1800" kern="1200" dirty="0"/>
            <a:t>% of Value from B</a:t>
          </a:r>
        </a:p>
      </dsp:txBody>
      <dsp:txXfrm>
        <a:off x="3051342" y="1466641"/>
        <a:ext cx="2545567" cy="633627"/>
      </dsp:txXfrm>
    </dsp:sp>
    <dsp:sp modelId="{5A0F2182-7AF7-4D98-81D2-A6AE9A610262}">
      <dsp:nvSpPr>
        <dsp:cNvPr id="0" name=""/>
        <dsp:cNvSpPr/>
      </dsp:nvSpPr>
      <dsp:spPr>
        <a:xfrm>
          <a:off x="5903446" y="0"/>
          <a:ext cx="2744806" cy="2232248"/>
        </a:xfrm>
        <a:prstGeom prst="roundRect">
          <a:avLst>
            <a:gd name="adj" fmla="val 10000"/>
          </a:avLst>
        </a:prstGeom>
        <a:solidFill>
          <a:schemeClr val="dk2">
            <a:tint val="40000"/>
            <a:hueOff val="0"/>
            <a:satOff val="0"/>
            <a:lumOff val="0"/>
            <a:alphaOff val="0"/>
          </a:schemeClr>
        </a:soli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14:m xmlns:a14="http://schemas.microsoft.com/office/drawing/2010/main">
            <m:oMathPara xmlns:m="http://schemas.openxmlformats.org/officeDocument/2006/math">
              <m:oMath>
                <m:sSub>
                  <m:sSubPr>
                    <m:ctrlPr>
                      <a:rPr lang="el-GR" sz="3200" b="0" i="1" kern="1200" smtClean="0">
                        <a:latin typeface="Cambria Math" panose="02040503050406030204" pitchFamily="18" charset="0"/>
                      </a:rPr>
                    </m:ctrlPr>
                  </m:sSubPr>
                  <m:e>
                    <m:r>
                      <a:rPr lang="el-GR" sz="3200" b="0" i="1" kern="1200" smtClean="0">
                        <a:latin typeface="Cambria Math" panose="02040503050406030204" pitchFamily="18" charset="0"/>
                      </a:rPr>
                      <m:t>𝛽</m:t>
                    </m:r>
                  </m:e>
                  <m:sub>
                    <m:r>
                      <a:rPr lang="en-GB" sz="3200" b="0" i="1" kern="1200" smtClean="0">
                        <a:latin typeface="Cambria Math" panose="02040503050406030204" pitchFamily="18" charset="0"/>
                      </a:rPr>
                      <m:t>𝐶</m:t>
                    </m:r>
                  </m:sub>
                </m:sSub>
              </m:oMath>
            </m:oMathPara>
          </a14:m>
          <a:endParaRPr lang="en-GB" sz="3200" kern="1200" dirty="0"/>
        </a:p>
      </dsp:txBody>
      <dsp:txXfrm>
        <a:off x="5903446" y="0"/>
        <a:ext cx="2744806" cy="669674"/>
      </dsp:txXfrm>
    </dsp:sp>
    <dsp:sp modelId="{9FB7C987-B257-4E6C-A2B5-F547607E62DF}">
      <dsp:nvSpPr>
        <dsp:cNvPr id="0" name=""/>
        <dsp:cNvSpPr/>
      </dsp:nvSpPr>
      <dsp:spPr>
        <a:xfrm>
          <a:off x="5982297" y="670328"/>
          <a:ext cx="2584993" cy="673053"/>
        </a:xfrm>
        <a:prstGeom prst="roundRect">
          <a:avLst>
            <a:gd name="adj" fmla="val 10000"/>
          </a:avLst>
        </a:prstGeom>
        <a:solidFill>
          <a:schemeClr val="dk2">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GB" sz="1800" kern="1200" dirty="0"/>
            <a:t>Un-lever beta: </a:t>
          </a:r>
          <a14:m xmlns:a14="http://schemas.microsoft.com/office/drawing/2010/main">
            <m:oMath xmlns:m="http://schemas.openxmlformats.org/officeDocument/2006/math">
              <m:sSub>
                <m:sSubPr>
                  <m:ctrlPr>
                    <a:rPr lang="el-GR" sz="1800" b="0" i="1" kern="1200" smtClean="0">
                      <a:latin typeface="Cambria Math" panose="02040503050406030204" pitchFamily="18" charset="0"/>
                    </a:rPr>
                  </m:ctrlPr>
                </m:sSubPr>
                <m:e>
                  <m:r>
                    <a:rPr lang="el-GR" sz="1800" b="0" i="1" kern="1200" smtClean="0">
                      <a:latin typeface="Cambria Math" panose="02040503050406030204" pitchFamily="18" charset="0"/>
                    </a:rPr>
                    <m:t>𝛽</m:t>
                  </m:r>
                </m:e>
                <m:sub>
                  <m:r>
                    <a:rPr lang="en-GB" sz="1800" b="0" i="1" kern="1200" smtClean="0">
                      <a:latin typeface="Cambria Math" panose="02040503050406030204" pitchFamily="18" charset="0"/>
                    </a:rPr>
                    <m:t>𝑢</m:t>
                  </m:r>
                  <m:r>
                    <a:rPr lang="en-GB" sz="1800" b="0" i="1" kern="1200" smtClean="0">
                      <a:latin typeface="Cambria Math" panose="02040503050406030204" pitchFamily="18" charset="0"/>
                    </a:rPr>
                    <m:t>,</m:t>
                  </m:r>
                  <m:r>
                    <a:rPr lang="en-GB" sz="1800" b="0" i="1" kern="1200" smtClean="0">
                      <a:latin typeface="Cambria Math" panose="02040503050406030204" pitchFamily="18" charset="0"/>
                    </a:rPr>
                    <m:t>𝐶</m:t>
                  </m:r>
                </m:sub>
              </m:sSub>
            </m:oMath>
          </a14:m>
          <a:endParaRPr lang="en-GB" sz="1800" kern="1200" dirty="0"/>
        </a:p>
      </dsp:txBody>
      <dsp:txXfrm>
        <a:off x="6002010" y="690041"/>
        <a:ext cx="2545567" cy="633627"/>
      </dsp:txXfrm>
    </dsp:sp>
    <dsp:sp modelId="{37E22CE4-DBE4-4DA4-ABC0-A28654419370}">
      <dsp:nvSpPr>
        <dsp:cNvPr id="0" name=""/>
        <dsp:cNvSpPr/>
      </dsp:nvSpPr>
      <dsp:spPr>
        <a:xfrm>
          <a:off x="5982297" y="1446928"/>
          <a:ext cx="2584993" cy="673053"/>
        </a:xfrm>
        <a:prstGeom prst="roundRect">
          <a:avLst>
            <a:gd name="adj" fmla="val 10000"/>
          </a:avLst>
        </a:prstGeom>
        <a:solidFill>
          <a:schemeClr val="dk2">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GB" sz="1800" kern="1200" dirty="0"/>
            <a:t>% of Value from C</a:t>
          </a:r>
        </a:p>
      </dsp:txBody>
      <dsp:txXfrm>
        <a:off x="6002010" y="1466641"/>
        <a:ext cx="2545567" cy="633627"/>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763CBC-E68B-417F-826D-0C6812D2DB7C}">
      <dsp:nvSpPr>
        <dsp:cNvPr id="0" name=""/>
        <dsp:cNvSpPr/>
      </dsp:nvSpPr>
      <dsp:spPr>
        <a:xfrm>
          <a:off x="2724" y="0"/>
          <a:ext cx="4002546" cy="1015381"/>
        </a:xfrm>
        <a:prstGeom prst="homePlate">
          <a:avLst/>
        </a:prstGeom>
        <a:solidFill>
          <a:schemeClr val="accent2">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3350" tIns="66675" rIns="33338" bIns="66675" numCol="1" spcCol="1270" anchor="ctr" anchorCtr="0">
          <a:noAutofit/>
        </a:bodyPr>
        <a:lstStyle/>
        <a:p>
          <a:pPr marL="0" lvl="0" indent="0" algn="ctr" defTabSz="1111250">
            <a:lnSpc>
              <a:spcPct val="90000"/>
            </a:lnSpc>
            <a:spcBef>
              <a:spcPct val="0"/>
            </a:spcBef>
            <a:spcAft>
              <a:spcPct val="35000"/>
            </a:spcAft>
            <a:buNone/>
          </a:pPr>
          <a:r>
            <a:rPr lang="en-GB" sz="2500" kern="1200" dirty="0"/>
            <a:t>Weight Average of </a:t>
          </a:r>
          <a14:m xmlns:a14="http://schemas.microsoft.com/office/drawing/2010/main">
            <m:oMath xmlns:m="http://schemas.openxmlformats.org/officeDocument/2006/math">
              <m:sSub>
                <m:sSubPr>
                  <m:ctrlPr>
                    <a:rPr lang="el-GR" sz="2500" b="0" i="1" kern="1200" smtClean="0">
                      <a:latin typeface="Cambria Math" panose="02040503050406030204" pitchFamily="18" charset="0"/>
                    </a:rPr>
                  </m:ctrlPr>
                </m:sSubPr>
                <m:e>
                  <m:r>
                    <a:rPr lang="el-GR" sz="2500" b="0" i="1" kern="1200" smtClean="0">
                      <a:latin typeface="Cambria Math" panose="02040503050406030204" pitchFamily="18" charset="0"/>
                    </a:rPr>
                    <m:t>𝛽</m:t>
                  </m:r>
                </m:e>
                <m:sub>
                  <m:r>
                    <a:rPr lang="en-GB" sz="2500" b="0" i="1" kern="1200" smtClean="0">
                      <a:latin typeface="Cambria Math" panose="02040503050406030204" pitchFamily="18" charset="0"/>
                    </a:rPr>
                    <m:t>𝑢</m:t>
                  </m:r>
                  <m:r>
                    <a:rPr lang="en-GB" sz="2500" b="0" i="1" kern="1200" smtClean="0">
                      <a:latin typeface="Cambria Math" panose="02040503050406030204" pitchFamily="18" charset="0"/>
                    </a:rPr>
                    <m:t>,</m:t>
                  </m:r>
                  <m:r>
                    <a:rPr lang="en-GB" sz="2500" b="0" i="1" kern="1200" smtClean="0">
                      <a:latin typeface="Cambria Math" panose="02040503050406030204" pitchFamily="18" charset="0"/>
                    </a:rPr>
                    <m:t>𝑖</m:t>
                  </m:r>
                </m:sub>
              </m:sSub>
            </m:oMath>
          </a14:m>
          <a:r>
            <a:rPr lang="en-GB" sz="2500" kern="1200" dirty="0"/>
            <a:t> </a:t>
          </a:r>
        </a:p>
        <a:p>
          <a:pPr marL="0" lvl="0" indent="0" algn="ctr" defTabSz="1111250">
            <a:lnSpc>
              <a:spcPct val="90000"/>
            </a:lnSpc>
            <a:spcBef>
              <a:spcPct val="0"/>
            </a:spcBef>
            <a:spcAft>
              <a:spcPct val="35000"/>
            </a:spcAft>
            <a:buNone/>
          </a:pPr>
          <a14:m xmlns:a14="http://schemas.microsoft.com/office/drawing/2010/main">
            <m:oMath xmlns:m="http://schemas.openxmlformats.org/officeDocument/2006/math">
              <m:r>
                <a:rPr lang="en-GB" sz="2500" i="1" kern="1200" smtClean="0">
                  <a:latin typeface="Cambria Math" panose="02040503050406030204" pitchFamily="18" charset="0"/>
                  <a:ea typeface="Cambria Math" panose="02040503050406030204" pitchFamily="18" charset="0"/>
                </a:rPr>
                <m:t>→</m:t>
              </m:r>
            </m:oMath>
          </a14:m>
          <a:r>
            <a:rPr lang="en-GB" sz="2500" kern="1200" dirty="0"/>
            <a:t> </a:t>
          </a:r>
          <a14:m xmlns:a14="http://schemas.microsoft.com/office/drawing/2010/main">
            <m:oMath xmlns:m="http://schemas.openxmlformats.org/officeDocument/2006/math">
              <m:sSub>
                <m:sSubPr>
                  <m:ctrlPr>
                    <a:rPr lang="el-GR" sz="2500" b="0" i="1" kern="1200" smtClean="0">
                      <a:latin typeface="Cambria Math" panose="02040503050406030204" pitchFamily="18" charset="0"/>
                    </a:rPr>
                  </m:ctrlPr>
                </m:sSubPr>
                <m:e>
                  <m:r>
                    <a:rPr lang="el-GR" sz="2500" b="0" i="1" kern="1200" smtClean="0">
                      <a:latin typeface="Cambria Math" panose="02040503050406030204" pitchFamily="18" charset="0"/>
                    </a:rPr>
                    <m:t>𝛽</m:t>
                  </m:r>
                </m:e>
                <m:sub>
                  <m:r>
                    <a:rPr lang="en-GB" sz="2500" b="0" i="1" kern="1200" smtClean="0">
                      <a:latin typeface="Cambria Math" panose="02040503050406030204" pitchFamily="18" charset="0"/>
                    </a:rPr>
                    <m:t>𝑢</m:t>
                  </m:r>
                  <m:r>
                    <a:rPr lang="en-GB" sz="2500" b="0" i="1" kern="1200" smtClean="0">
                      <a:latin typeface="Cambria Math" panose="02040503050406030204" pitchFamily="18" charset="0"/>
                    </a:rPr>
                    <m:t>,</m:t>
                  </m:r>
                  <m:r>
                    <a:rPr lang="en-GB" sz="2500" b="0" i="1" kern="1200" smtClean="0">
                      <a:latin typeface="Cambria Math" panose="02040503050406030204" pitchFamily="18" charset="0"/>
                    </a:rPr>
                    <m:t>𝐹</m:t>
                  </m:r>
                </m:sub>
              </m:sSub>
            </m:oMath>
          </a14:m>
          <a:endParaRPr lang="en-GB" sz="2500" kern="1200" dirty="0"/>
        </a:p>
      </dsp:txBody>
      <dsp:txXfrm>
        <a:off x="2724" y="0"/>
        <a:ext cx="3748701" cy="1015381"/>
      </dsp:txXfrm>
    </dsp:sp>
    <dsp:sp modelId="{498EF002-40F7-44E4-9930-81C318D7E203}">
      <dsp:nvSpPr>
        <dsp:cNvPr id="0" name=""/>
        <dsp:cNvSpPr/>
      </dsp:nvSpPr>
      <dsp:spPr>
        <a:xfrm>
          <a:off x="3474045" y="0"/>
          <a:ext cx="3046579" cy="1015381"/>
        </a:xfrm>
        <a:prstGeom prst="chevron">
          <a:avLst/>
        </a:prstGeom>
        <a:solidFill>
          <a:schemeClr val="accent3">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0013" tIns="66675" rIns="33338" bIns="66675" numCol="1" spcCol="1270" anchor="ctr" anchorCtr="0">
          <a:noAutofit/>
        </a:bodyPr>
        <a:lstStyle/>
        <a:p>
          <a:pPr marL="0" lvl="0" indent="0" algn="ctr" defTabSz="1111250">
            <a:lnSpc>
              <a:spcPct val="90000"/>
            </a:lnSpc>
            <a:spcBef>
              <a:spcPct val="0"/>
            </a:spcBef>
            <a:spcAft>
              <a:spcPct val="35000"/>
            </a:spcAft>
            <a:buNone/>
          </a:pPr>
          <a:r>
            <a:rPr lang="en-GB" sz="2500" kern="1200" dirty="0"/>
            <a:t>Lever </a:t>
          </a:r>
          <a14:m xmlns:a14="http://schemas.microsoft.com/office/drawing/2010/main">
            <m:oMath xmlns:m="http://schemas.openxmlformats.org/officeDocument/2006/math">
              <m:sSub>
                <m:sSubPr>
                  <m:ctrlPr>
                    <a:rPr lang="el-GR" sz="2500" b="0" i="1" kern="1200" smtClean="0">
                      <a:latin typeface="Cambria Math" panose="02040503050406030204" pitchFamily="18" charset="0"/>
                    </a:rPr>
                  </m:ctrlPr>
                </m:sSubPr>
                <m:e>
                  <m:r>
                    <a:rPr lang="el-GR" sz="2500" b="0" i="1" kern="1200" smtClean="0">
                      <a:latin typeface="Cambria Math" panose="02040503050406030204" pitchFamily="18" charset="0"/>
                    </a:rPr>
                    <m:t>𝛽</m:t>
                  </m:r>
                </m:e>
                <m:sub>
                  <m:r>
                    <a:rPr lang="en-GB" sz="2500" b="0" i="1" kern="1200" smtClean="0">
                      <a:latin typeface="Cambria Math" panose="02040503050406030204" pitchFamily="18" charset="0"/>
                    </a:rPr>
                    <m:t>𝑢</m:t>
                  </m:r>
                  <m:r>
                    <a:rPr lang="en-GB" sz="2500" b="0" i="1" kern="1200" smtClean="0">
                      <a:latin typeface="Cambria Math" panose="02040503050406030204" pitchFamily="18" charset="0"/>
                    </a:rPr>
                    <m:t>,</m:t>
                  </m:r>
                  <m:r>
                    <a:rPr lang="en-GB" sz="2500" b="0" i="1" kern="1200" smtClean="0">
                      <a:latin typeface="Cambria Math" panose="02040503050406030204" pitchFamily="18" charset="0"/>
                    </a:rPr>
                    <m:t>𝐹</m:t>
                  </m:r>
                </m:sub>
              </m:sSub>
            </m:oMath>
          </a14:m>
          <a:r>
            <a:rPr lang="en-GB" sz="2500" kern="1200" dirty="0"/>
            <a:t> </a:t>
          </a:r>
        </a:p>
      </dsp:txBody>
      <dsp:txXfrm>
        <a:off x="3981736" y="0"/>
        <a:ext cx="2031198" cy="1015381"/>
      </dsp:txXfrm>
    </dsp:sp>
    <dsp:sp modelId="{F6631087-18D1-4F4A-B6EA-2D11D356A0D1}">
      <dsp:nvSpPr>
        <dsp:cNvPr id="0" name=""/>
        <dsp:cNvSpPr/>
      </dsp:nvSpPr>
      <dsp:spPr>
        <a:xfrm>
          <a:off x="5989399" y="0"/>
          <a:ext cx="2656128" cy="1015381"/>
        </a:xfrm>
        <a:prstGeom prst="chevron">
          <a:avLst/>
        </a:prstGeom>
        <a:solidFill>
          <a:schemeClr val="accent4">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0013" tIns="66675" rIns="33338" bIns="66675" numCol="1" spcCol="1270" anchor="ctr" anchorCtr="0">
          <a:noAutofit/>
        </a:bodyPr>
        <a:lstStyle/>
        <a:p>
          <a:pPr marL="0" lvl="0" indent="0" algn="ctr" defTabSz="1111250">
            <a:lnSpc>
              <a:spcPct val="90000"/>
            </a:lnSpc>
            <a:spcBef>
              <a:spcPct val="0"/>
            </a:spcBef>
            <a:spcAft>
              <a:spcPct val="35000"/>
            </a:spcAft>
            <a:buNone/>
          </a:pPr>
          <a14:m xmlns:a14="http://schemas.microsoft.com/office/drawing/2010/main">
            <m:oMathPara xmlns:m="http://schemas.openxmlformats.org/officeDocument/2006/math">
              <m:oMath>
                <m:sSub>
                  <m:sSubPr>
                    <m:ctrlPr>
                      <a:rPr lang="el-GR" sz="2500" b="0" i="1" kern="1200" smtClean="0">
                        <a:latin typeface="Cambria Math" panose="02040503050406030204" pitchFamily="18" charset="0"/>
                      </a:rPr>
                    </m:ctrlPr>
                  </m:sSubPr>
                  <m:e>
                    <m:r>
                      <a:rPr lang="el-GR" sz="2500" b="0" i="1" kern="1200" smtClean="0">
                        <a:latin typeface="Cambria Math" panose="02040503050406030204" pitchFamily="18" charset="0"/>
                      </a:rPr>
                      <m:t>𝛽</m:t>
                    </m:r>
                  </m:e>
                  <m:sub>
                    <m:r>
                      <a:rPr lang="en-GB" sz="2500" b="0" i="1" kern="1200" smtClean="0">
                        <a:latin typeface="Cambria Math" panose="02040503050406030204" pitchFamily="18" charset="0"/>
                      </a:rPr>
                      <m:t>𝑙</m:t>
                    </m:r>
                    <m:r>
                      <a:rPr lang="en-GB" sz="2500" b="0" i="1" kern="1200" smtClean="0">
                        <a:latin typeface="Cambria Math" panose="02040503050406030204" pitchFamily="18" charset="0"/>
                      </a:rPr>
                      <m:t>,</m:t>
                    </m:r>
                    <m:r>
                      <a:rPr lang="en-GB" sz="2500" b="0" i="1" kern="1200" smtClean="0">
                        <a:latin typeface="Cambria Math" panose="02040503050406030204" pitchFamily="18" charset="0"/>
                      </a:rPr>
                      <m:t>𝐹</m:t>
                    </m:r>
                  </m:sub>
                </m:sSub>
              </m:oMath>
            </m:oMathPara>
          </a14:m>
          <a:endParaRPr lang="en-GB" sz="2500" kern="1200" dirty="0"/>
        </a:p>
      </dsp:txBody>
      <dsp:txXfrm>
        <a:off x="6497090" y="0"/>
        <a:ext cx="1640747" cy="1015381"/>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7A116F-9186-48F0-A2C8-F382003BDF22}">
      <dsp:nvSpPr>
        <dsp:cNvPr id="0" name=""/>
        <dsp:cNvSpPr/>
      </dsp:nvSpPr>
      <dsp:spPr>
        <a:xfrm>
          <a:off x="6582733" y="2668575"/>
          <a:ext cx="277490" cy="2521942"/>
        </a:xfrm>
        <a:custGeom>
          <a:avLst/>
          <a:gdLst/>
          <a:ahLst/>
          <a:cxnLst/>
          <a:rect l="0" t="0" r="0" b="0"/>
          <a:pathLst>
            <a:path>
              <a:moveTo>
                <a:pt x="0" y="0"/>
              </a:moveTo>
              <a:lnTo>
                <a:pt x="0" y="2521942"/>
              </a:lnTo>
              <a:lnTo>
                <a:pt x="277490" y="2521942"/>
              </a:lnTo>
            </a:path>
          </a:pathLst>
        </a:custGeom>
        <a:noFill/>
        <a:ln w="11429" cap="flat" cmpd="sng" algn="ctr">
          <a:solidFill>
            <a:schemeClr val="accent4">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A4929BD5-1BE3-41F1-A293-6743952511BF}">
      <dsp:nvSpPr>
        <dsp:cNvPr id="0" name=""/>
        <dsp:cNvSpPr/>
      </dsp:nvSpPr>
      <dsp:spPr>
        <a:xfrm>
          <a:off x="6582733" y="2668575"/>
          <a:ext cx="277490" cy="1569506"/>
        </a:xfrm>
        <a:custGeom>
          <a:avLst/>
          <a:gdLst/>
          <a:ahLst/>
          <a:cxnLst/>
          <a:rect l="0" t="0" r="0" b="0"/>
          <a:pathLst>
            <a:path>
              <a:moveTo>
                <a:pt x="0" y="0"/>
              </a:moveTo>
              <a:lnTo>
                <a:pt x="0" y="1569506"/>
              </a:lnTo>
              <a:lnTo>
                <a:pt x="277490" y="1569506"/>
              </a:lnTo>
            </a:path>
          </a:pathLst>
        </a:custGeom>
        <a:noFill/>
        <a:ln w="11429" cap="flat" cmpd="sng" algn="ctr">
          <a:solidFill>
            <a:schemeClr val="accent4">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C6A13714-3531-4FCF-9EED-0DE252E442BE}">
      <dsp:nvSpPr>
        <dsp:cNvPr id="0" name=""/>
        <dsp:cNvSpPr/>
      </dsp:nvSpPr>
      <dsp:spPr>
        <a:xfrm>
          <a:off x="6582733" y="2668575"/>
          <a:ext cx="277490" cy="617071"/>
        </a:xfrm>
        <a:custGeom>
          <a:avLst/>
          <a:gdLst/>
          <a:ahLst/>
          <a:cxnLst/>
          <a:rect l="0" t="0" r="0" b="0"/>
          <a:pathLst>
            <a:path>
              <a:moveTo>
                <a:pt x="0" y="0"/>
              </a:moveTo>
              <a:lnTo>
                <a:pt x="0" y="617071"/>
              </a:lnTo>
              <a:lnTo>
                <a:pt x="277490" y="617071"/>
              </a:lnTo>
            </a:path>
          </a:pathLst>
        </a:custGeom>
        <a:noFill/>
        <a:ln w="11429" cap="flat" cmpd="sng" algn="ctr">
          <a:solidFill>
            <a:schemeClr val="accent4">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95E81695-FAE9-41B2-AB79-92E391BEE6EC}">
      <dsp:nvSpPr>
        <dsp:cNvPr id="0" name=""/>
        <dsp:cNvSpPr/>
      </dsp:nvSpPr>
      <dsp:spPr>
        <a:xfrm>
          <a:off x="7276989" y="1716139"/>
          <a:ext cx="91440" cy="281706"/>
        </a:xfrm>
        <a:custGeom>
          <a:avLst/>
          <a:gdLst/>
          <a:ahLst/>
          <a:cxnLst/>
          <a:rect l="0" t="0" r="0" b="0"/>
          <a:pathLst>
            <a:path>
              <a:moveTo>
                <a:pt x="45720" y="0"/>
              </a:moveTo>
              <a:lnTo>
                <a:pt x="45720" y="281706"/>
              </a:lnTo>
            </a:path>
          </a:pathLst>
        </a:custGeom>
        <a:noFill/>
        <a:ln w="11429" cap="flat" cmpd="sng" algn="ctr">
          <a:solidFill>
            <a:schemeClr val="accent3">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908F2A5E-A67B-4688-A654-13177173B680}">
      <dsp:nvSpPr>
        <dsp:cNvPr id="0" name=""/>
        <dsp:cNvSpPr/>
      </dsp:nvSpPr>
      <dsp:spPr>
        <a:xfrm>
          <a:off x="5191064" y="763703"/>
          <a:ext cx="2131645" cy="281706"/>
        </a:xfrm>
        <a:custGeom>
          <a:avLst/>
          <a:gdLst/>
          <a:ahLst/>
          <a:cxnLst/>
          <a:rect l="0" t="0" r="0" b="0"/>
          <a:pathLst>
            <a:path>
              <a:moveTo>
                <a:pt x="0" y="0"/>
              </a:moveTo>
              <a:lnTo>
                <a:pt x="0" y="140853"/>
              </a:lnTo>
              <a:lnTo>
                <a:pt x="2131645" y="140853"/>
              </a:lnTo>
              <a:lnTo>
                <a:pt x="2131645" y="281706"/>
              </a:lnTo>
            </a:path>
          </a:pathLst>
        </a:custGeom>
        <a:noFill/>
        <a:ln w="11429" cap="flat" cmpd="sng" algn="ctr">
          <a:solidFill>
            <a:schemeClr val="accent2">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4D40D3AD-1DFF-46A6-8394-137937E19155}">
      <dsp:nvSpPr>
        <dsp:cNvPr id="0" name=""/>
        <dsp:cNvSpPr/>
      </dsp:nvSpPr>
      <dsp:spPr>
        <a:xfrm>
          <a:off x="4451088" y="2668575"/>
          <a:ext cx="277490" cy="1569506"/>
        </a:xfrm>
        <a:custGeom>
          <a:avLst/>
          <a:gdLst/>
          <a:ahLst/>
          <a:cxnLst/>
          <a:rect l="0" t="0" r="0" b="0"/>
          <a:pathLst>
            <a:path>
              <a:moveTo>
                <a:pt x="0" y="0"/>
              </a:moveTo>
              <a:lnTo>
                <a:pt x="0" y="1569506"/>
              </a:lnTo>
              <a:lnTo>
                <a:pt x="277490" y="1569506"/>
              </a:lnTo>
            </a:path>
          </a:pathLst>
        </a:custGeom>
        <a:noFill/>
        <a:ln w="11429" cap="flat" cmpd="sng" algn="ctr">
          <a:solidFill>
            <a:schemeClr val="accent4">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37962DA5-02A6-4DD5-8700-39122738D12A}">
      <dsp:nvSpPr>
        <dsp:cNvPr id="0" name=""/>
        <dsp:cNvSpPr/>
      </dsp:nvSpPr>
      <dsp:spPr>
        <a:xfrm>
          <a:off x="4451088" y="2668575"/>
          <a:ext cx="277490" cy="617071"/>
        </a:xfrm>
        <a:custGeom>
          <a:avLst/>
          <a:gdLst/>
          <a:ahLst/>
          <a:cxnLst/>
          <a:rect l="0" t="0" r="0" b="0"/>
          <a:pathLst>
            <a:path>
              <a:moveTo>
                <a:pt x="0" y="0"/>
              </a:moveTo>
              <a:lnTo>
                <a:pt x="0" y="617071"/>
              </a:lnTo>
              <a:lnTo>
                <a:pt x="277490" y="617071"/>
              </a:lnTo>
            </a:path>
          </a:pathLst>
        </a:custGeom>
        <a:noFill/>
        <a:ln w="11429" cap="flat" cmpd="sng" algn="ctr">
          <a:solidFill>
            <a:schemeClr val="accent4">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268378C0-9133-4311-B344-A8CD28EF2EA0}">
      <dsp:nvSpPr>
        <dsp:cNvPr id="0" name=""/>
        <dsp:cNvSpPr/>
      </dsp:nvSpPr>
      <dsp:spPr>
        <a:xfrm>
          <a:off x="3059419" y="1716139"/>
          <a:ext cx="2131645" cy="281706"/>
        </a:xfrm>
        <a:custGeom>
          <a:avLst/>
          <a:gdLst/>
          <a:ahLst/>
          <a:cxnLst/>
          <a:rect l="0" t="0" r="0" b="0"/>
          <a:pathLst>
            <a:path>
              <a:moveTo>
                <a:pt x="0" y="0"/>
              </a:moveTo>
              <a:lnTo>
                <a:pt x="0" y="140853"/>
              </a:lnTo>
              <a:lnTo>
                <a:pt x="2131645" y="140853"/>
              </a:lnTo>
              <a:lnTo>
                <a:pt x="2131645" y="281706"/>
              </a:lnTo>
            </a:path>
          </a:pathLst>
        </a:custGeom>
        <a:noFill/>
        <a:ln w="11429" cap="flat" cmpd="sng" algn="ctr">
          <a:solidFill>
            <a:schemeClr val="accent3">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8E4511C7-1AD3-4C73-AA7C-0A4F0CD011D7}">
      <dsp:nvSpPr>
        <dsp:cNvPr id="0" name=""/>
        <dsp:cNvSpPr/>
      </dsp:nvSpPr>
      <dsp:spPr>
        <a:xfrm>
          <a:off x="2319443" y="2668575"/>
          <a:ext cx="277490" cy="2521942"/>
        </a:xfrm>
        <a:custGeom>
          <a:avLst/>
          <a:gdLst/>
          <a:ahLst/>
          <a:cxnLst/>
          <a:rect l="0" t="0" r="0" b="0"/>
          <a:pathLst>
            <a:path>
              <a:moveTo>
                <a:pt x="0" y="0"/>
              </a:moveTo>
              <a:lnTo>
                <a:pt x="0" y="2521942"/>
              </a:lnTo>
              <a:lnTo>
                <a:pt x="277490" y="2521942"/>
              </a:lnTo>
            </a:path>
          </a:pathLst>
        </a:custGeom>
        <a:noFill/>
        <a:ln w="11429" cap="flat" cmpd="sng" algn="ctr">
          <a:solidFill>
            <a:schemeClr val="accent4">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D015ED00-0711-4B33-9F11-E88C54A5315B}">
      <dsp:nvSpPr>
        <dsp:cNvPr id="0" name=""/>
        <dsp:cNvSpPr/>
      </dsp:nvSpPr>
      <dsp:spPr>
        <a:xfrm>
          <a:off x="2319443" y="2668575"/>
          <a:ext cx="277490" cy="1569506"/>
        </a:xfrm>
        <a:custGeom>
          <a:avLst/>
          <a:gdLst/>
          <a:ahLst/>
          <a:cxnLst/>
          <a:rect l="0" t="0" r="0" b="0"/>
          <a:pathLst>
            <a:path>
              <a:moveTo>
                <a:pt x="0" y="0"/>
              </a:moveTo>
              <a:lnTo>
                <a:pt x="0" y="1569506"/>
              </a:lnTo>
              <a:lnTo>
                <a:pt x="277490" y="1569506"/>
              </a:lnTo>
            </a:path>
          </a:pathLst>
        </a:custGeom>
        <a:noFill/>
        <a:ln w="11429" cap="flat" cmpd="sng" algn="ctr">
          <a:solidFill>
            <a:schemeClr val="accent4">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37247EB6-BBCD-4D8B-A5BF-74C0A87503FF}">
      <dsp:nvSpPr>
        <dsp:cNvPr id="0" name=""/>
        <dsp:cNvSpPr/>
      </dsp:nvSpPr>
      <dsp:spPr>
        <a:xfrm>
          <a:off x="2319443" y="2668575"/>
          <a:ext cx="277490" cy="617071"/>
        </a:xfrm>
        <a:custGeom>
          <a:avLst/>
          <a:gdLst/>
          <a:ahLst/>
          <a:cxnLst/>
          <a:rect l="0" t="0" r="0" b="0"/>
          <a:pathLst>
            <a:path>
              <a:moveTo>
                <a:pt x="0" y="0"/>
              </a:moveTo>
              <a:lnTo>
                <a:pt x="0" y="617071"/>
              </a:lnTo>
              <a:lnTo>
                <a:pt x="277490" y="617071"/>
              </a:lnTo>
            </a:path>
          </a:pathLst>
        </a:custGeom>
        <a:noFill/>
        <a:ln w="11429" cap="flat" cmpd="sng" algn="ctr">
          <a:solidFill>
            <a:schemeClr val="accent4">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FAC95A7B-542F-4A4B-891F-E2104C0EEA1B}">
      <dsp:nvSpPr>
        <dsp:cNvPr id="0" name=""/>
        <dsp:cNvSpPr/>
      </dsp:nvSpPr>
      <dsp:spPr>
        <a:xfrm>
          <a:off x="3013699" y="1716139"/>
          <a:ext cx="91440" cy="281706"/>
        </a:xfrm>
        <a:custGeom>
          <a:avLst/>
          <a:gdLst/>
          <a:ahLst/>
          <a:cxnLst/>
          <a:rect l="0" t="0" r="0" b="0"/>
          <a:pathLst>
            <a:path>
              <a:moveTo>
                <a:pt x="45720" y="0"/>
              </a:moveTo>
              <a:lnTo>
                <a:pt x="45720" y="281706"/>
              </a:lnTo>
            </a:path>
          </a:pathLst>
        </a:custGeom>
        <a:noFill/>
        <a:ln w="11429" cap="flat" cmpd="sng" algn="ctr">
          <a:solidFill>
            <a:schemeClr val="accent3">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759B9F34-A3A2-453A-947D-B393B61B1127}">
      <dsp:nvSpPr>
        <dsp:cNvPr id="0" name=""/>
        <dsp:cNvSpPr/>
      </dsp:nvSpPr>
      <dsp:spPr>
        <a:xfrm>
          <a:off x="187798" y="2668575"/>
          <a:ext cx="277490" cy="617071"/>
        </a:xfrm>
        <a:custGeom>
          <a:avLst/>
          <a:gdLst/>
          <a:ahLst/>
          <a:cxnLst/>
          <a:rect l="0" t="0" r="0" b="0"/>
          <a:pathLst>
            <a:path>
              <a:moveTo>
                <a:pt x="0" y="0"/>
              </a:moveTo>
              <a:lnTo>
                <a:pt x="0" y="617071"/>
              </a:lnTo>
              <a:lnTo>
                <a:pt x="277490" y="617071"/>
              </a:lnTo>
            </a:path>
          </a:pathLst>
        </a:custGeom>
        <a:noFill/>
        <a:ln w="11429" cap="flat" cmpd="sng" algn="ctr">
          <a:solidFill>
            <a:schemeClr val="accent4">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0C6862F4-974C-4CCC-855F-7F6AE8D250DC}">
      <dsp:nvSpPr>
        <dsp:cNvPr id="0" name=""/>
        <dsp:cNvSpPr/>
      </dsp:nvSpPr>
      <dsp:spPr>
        <a:xfrm>
          <a:off x="927773" y="1716139"/>
          <a:ext cx="2131645" cy="281706"/>
        </a:xfrm>
        <a:custGeom>
          <a:avLst/>
          <a:gdLst/>
          <a:ahLst/>
          <a:cxnLst/>
          <a:rect l="0" t="0" r="0" b="0"/>
          <a:pathLst>
            <a:path>
              <a:moveTo>
                <a:pt x="2131645" y="0"/>
              </a:moveTo>
              <a:lnTo>
                <a:pt x="2131645" y="140853"/>
              </a:lnTo>
              <a:lnTo>
                <a:pt x="0" y="140853"/>
              </a:lnTo>
              <a:lnTo>
                <a:pt x="0" y="281706"/>
              </a:lnTo>
            </a:path>
          </a:pathLst>
        </a:custGeom>
        <a:noFill/>
        <a:ln w="11429" cap="flat" cmpd="sng" algn="ctr">
          <a:solidFill>
            <a:schemeClr val="accent3">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F2A1A8F4-A7E0-42E3-854C-7EB988DAB12D}">
      <dsp:nvSpPr>
        <dsp:cNvPr id="0" name=""/>
        <dsp:cNvSpPr/>
      </dsp:nvSpPr>
      <dsp:spPr>
        <a:xfrm>
          <a:off x="3059419" y="763703"/>
          <a:ext cx="2131645" cy="281706"/>
        </a:xfrm>
        <a:custGeom>
          <a:avLst/>
          <a:gdLst/>
          <a:ahLst/>
          <a:cxnLst/>
          <a:rect l="0" t="0" r="0" b="0"/>
          <a:pathLst>
            <a:path>
              <a:moveTo>
                <a:pt x="2131645" y="0"/>
              </a:moveTo>
              <a:lnTo>
                <a:pt x="2131645" y="140853"/>
              </a:lnTo>
              <a:lnTo>
                <a:pt x="0" y="140853"/>
              </a:lnTo>
              <a:lnTo>
                <a:pt x="0" y="281706"/>
              </a:lnTo>
            </a:path>
          </a:pathLst>
        </a:custGeom>
        <a:noFill/>
        <a:ln w="11429" cap="flat" cmpd="sng" algn="ctr">
          <a:solidFill>
            <a:schemeClr val="accent2">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293A6976-DD1C-412D-97DE-10C70A105CDC}">
      <dsp:nvSpPr>
        <dsp:cNvPr id="0" name=""/>
        <dsp:cNvSpPr/>
      </dsp:nvSpPr>
      <dsp:spPr>
        <a:xfrm>
          <a:off x="4266094" y="92974"/>
          <a:ext cx="1849938" cy="670729"/>
        </a:xfrm>
        <a:prstGeom prst="rect">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kern="1200" dirty="0"/>
            <a:t>Cost of Equity</a:t>
          </a:r>
        </a:p>
      </dsp:txBody>
      <dsp:txXfrm>
        <a:off x="4266094" y="92974"/>
        <a:ext cx="1849938" cy="670729"/>
      </dsp:txXfrm>
    </dsp:sp>
    <dsp:sp modelId="{3A56A07E-F410-4978-B29F-DC062F6BAA44}">
      <dsp:nvSpPr>
        <dsp:cNvPr id="0" name=""/>
        <dsp:cNvSpPr/>
      </dsp:nvSpPr>
      <dsp:spPr>
        <a:xfrm>
          <a:off x="2134449" y="1045410"/>
          <a:ext cx="1849938" cy="670729"/>
        </a:xfrm>
        <a:prstGeom prst="rect">
          <a:avLst/>
        </a:prstGeom>
        <a:solidFill>
          <a:schemeClr val="accent2">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kern="1200" dirty="0"/>
            <a:t>CAPM</a:t>
          </a:r>
        </a:p>
      </dsp:txBody>
      <dsp:txXfrm>
        <a:off x="2134449" y="1045410"/>
        <a:ext cx="1849938" cy="670729"/>
      </dsp:txXfrm>
    </dsp:sp>
    <dsp:sp modelId="{D4B63A77-149B-439D-801D-6187E94AF777}">
      <dsp:nvSpPr>
        <dsp:cNvPr id="0" name=""/>
        <dsp:cNvSpPr/>
      </dsp:nvSpPr>
      <dsp:spPr>
        <a:xfrm>
          <a:off x="2804" y="1997845"/>
          <a:ext cx="1849938" cy="670729"/>
        </a:xfrm>
        <a:prstGeom prst="rect">
          <a:avLst/>
        </a:prstGeom>
        <a:solidFill>
          <a:schemeClr val="accent3">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kern="1200" dirty="0"/>
            <a:t>Risk Free Rate</a:t>
          </a:r>
        </a:p>
      </dsp:txBody>
      <dsp:txXfrm>
        <a:off x="2804" y="1997845"/>
        <a:ext cx="1849938" cy="670729"/>
      </dsp:txXfrm>
    </dsp:sp>
    <dsp:sp modelId="{72493469-739E-4F7B-A5A5-054FD81390AF}">
      <dsp:nvSpPr>
        <dsp:cNvPr id="0" name=""/>
        <dsp:cNvSpPr/>
      </dsp:nvSpPr>
      <dsp:spPr>
        <a:xfrm>
          <a:off x="465289" y="2950281"/>
          <a:ext cx="1773515" cy="670729"/>
        </a:xfrm>
        <a:prstGeom prst="rect">
          <a:avLst/>
        </a:prstGeom>
        <a:solidFill>
          <a:schemeClr val="accent4">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kern="1200" dirty="0"/>
            <a:t>Default Spread</a:t>
          </a:r>
        </a:p>
      </dsp:txBody>
      <dsp:txXfrm>
        <a:off x="465289" y="2950281"/>
        <a:ext cx="1773515" cy="670729"/>
      </dsp:txXfrm>
    </dsp:sp>
    <dsp:sp modelId="{167E4463-084F-40F9-B1D2-51E09FD77823}">
      <dsp:nvSpPr>
        <dsp:cNvPr id="0" name=""/>
        <dsp:cNvSpPr/>
      </dsp:nvSpPr>
      <dsp:spPr>
        <a:xfrm>
          <a:off x="2134449" y="1997845"/>
          <a:ext cx="1849938" cy="670729"/>
        </a:xfrm>
        <a:prstGeom prst="rect">
          <a:avLst/>
        </a:prstGeom>
        <a:solidFill>
          <a:schemeClr val="accent3">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kern="1200" dirty="0"/>
            <a:t>Market Risk Premium</a:t>
          </a:r>
        </a:p>
      </dsp:txBody>
      <dsp:txXfrm>
        <a:off x="2134449" y="1997845"/>
        <a:ext cx="1849938" cy="670729"/>
      </dsp:txXfrm>
    </dsp:sp>
    <dsp:sp modelId="{B19DFB39-105E-4E4D-922A-22B91FE41FE2}">
      <dsp:nvSpPr>
        <dsp:cNvPr id="0" name=""/>
        <dsp:cNvSpPr/>
      </dsp:nvSpPr>
      <dsp:spPr>
        <a:xfrm>
          <a:off x="2596934" y="2950281"/>
          <a:ext cx="1849938" cy="670729"/>
        </a:xfrm>
        <a:prstGeom prst="rect">
          <a:avLst/>
        </a:prstGeom>
        <a:solidFill>
          <a:schemeClr val="accent4">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kern="1200" dirty="0"/>
            <a:t>Historical</a:t>
          </a:r>
        </a:p>
      </dsp:txBody>
      <dsp:txXfrm>
        <a:off x="2596934" y="2950281"/>
        <a:ext cx="1849938" cy="670729"/>
      </dsp:txXfrm>
    </dsp:sp>
    <dsp:sp modelId="{D10E51ED-E9D8-4227-8290-EF98B71EB05A}">
      <dsp:nvSpPr>
        <dsp:cNvPr id="0" name=""/>
        <dsp:cNvSpPr/>
      </dsp:nvSpPr>
      <dsp:spPr>
        <a:xfrm>
          <a:off x="2596934" y="3902717"/>
          <a:ext cx="1849938" cy="670729"/>
        </a:xfrm>
        <a:prstGeom prst="rect">
          <a:avLst/>
        </a:prstGeom>
        <a:solidFill>
          <a:schemeClr val="accent4">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kern="1200" dirty="0"/>
            <a:t>Implied</a:t>
          </a:r>
        </a:p>
      </dsp:txBody>
      <dsp:txXfrm>
        <a:off x="2596934" y="3902717"/>
        <a:ext cx="1849938" cy="670729"/>
      </dsp:txXfrm>
    </dsp:sp>
    <dsp:sp modelId="{83CF1A53-DD0B-4CCC-A46E-4E1EDB9144DE}">
      <dsp:nvSpPr>
        <dsp:cNvPr id="0" name=""/>
        <dsp:cNvSpPr/>
      </dsp:nvSpPr>
      <dsp:spPr>
        <a:xfrm>
          <a:off x="2596934" y="4855153"/>
          <a:ext cx="1817609" cy="670729"/>
        </a:xfrm>
        <a:prstGeom prst="rect">
          <a:avLst/>
        </a:prstGeom>
        <a:solidFill>
          <a:schemeClr val="accent4">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kern="1200" dirty="0"/>
            <a:t>Average Implied</a:t>
          </a:r>
        </a:p>
      </dsp:txBody>
      <dsp:txXfrm>
        <a:off x="2596934" y="4855153"/>
        <a:ext cx="1817609" cy="670729"/>
      </dsp:txXfrm>
    </dsp:sp>
    <dsp:sp modelId="{814A1CD1-7D8A-46DB-BDFE-2F99050EDEFE}">
      <dsp:nvSpPr>
        <dsp:cNvPr id="0" name=""/>
        <dsp:cNvSpPr/>
      </dsp:nvSpPr>
      <dsp:spPr>
        <a:xfrm>
          <a:off x="4266094" y="1997845"/>
          <a:ext cx="1849938" cy="670729"/>
        </a:xfrm>
        <a:prstGeom prst="rect">
          <a:avLst/>
        </a:prstGeom>
        <a:solidFill>
          <a:schemeClr val="accent3">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kern="1200" dirty="0"/>
            <a:t>Beta</a:t>
          </a:r>
        </a:p>
      </dsp:txBody>
      <dsp:txXfrm>
        <a:off x="4266094" y="1997845"/>
        <a:ext cx="1849938" cy="670729"/>
      </dsp:txXfrm>
    </dsp:sp>
    <dsp:sp modelId="{BE788534-4F93-4DFA-9124-73520C82C147}">
      <dsp:nvSpPr>
        <dsp:cNvPr id="0" name=""/>
        <dsp:cNvSpPr/>
      </dsp:nvSpPr>
      <dsp:spPr>
        <a:xfrm>
          <a:off x="4728579" y="2950281"/>
          <a:ext cx="1849938" cy="670729"/>
        </a:xfrm>
        <a:prstGeom prst="rect">
          <a:avLst/>
        </a:prstGeom>
        <a:solidFill>
          <a:schemeClr val="accent4">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kern="1200" dirty="0"/>
            <a:t>Historical</a:t>
          </a:r>
        </a:p>
      </dsp:txBody>
      <dsp:txXfrm>
        <a:off x="4728579" y="2950281"/>
        <a:ext cx="1849938" cy="670729"/>
      </dsp:txXfrm>
    </dsp:sp>
    <dsp:sp modelId="{04137A8A-BBE3-4DBD-A31E-F7674C380D73}">
      <dsp:nvSpPr>
        <dsp:cNvPr id="0" name=""/>
        <dsp:cNvSpPr/>
      </dsp:nvSpPr>
      <dsp:spPr>
        <a:xfrm>
          <a:off x="4728579" y="3902717"/>
          <a:ext cx="1849938" cy="670729"/>
        </a:xfrm>
        <a:prstGeom prst="rect">
          <a:avLst/>
        </a:prstGeom>
        <a:solidFill>
          <a:schemeClr val="accent4">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kern="1200" dirty="0"/>
            <a:t>Bottom Up</a:t>
          </a:r>
        </a:p>
      </dsp:txBody>
      <dsp:txXfrm>
        <a:off x="4728579" y="3902717"/>
        <a:ext cx="1849938" cy="670729"/>
      </dsp:txXfrm>
    </dsp:sp>
    <dsp:sp modelId="{1AA8B693-DF2B-408D-8FD2-D5040E666933}">
      <dsp:nvSpPr>
        <dsp:cNvPr id="0" name=""/>
        <dsp:cNvSpPr/>
      </dsp:nvSpPr>
      <dsp:spPr>
        <a:xfrm>
          <a:off x="6397740" y="1045410"/>
          <a:ext cx="1849938" cy="670729"/>
        </a:xfrm>
        <a:prstGeom prst="rect">
          <a:avLst/>
        </a:prstGeom>
        <a:solidFill>
          <a:schemeClr val="accent2">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kern="1200" dirty="0"/>
            <a:t>Implied Cost of Equity</a:t>
          </a:r>
        </a:p>
      </dsp:txBody>
      <dsp:txXfrm>
        <a:off x="6397740" y="1045410"/>
        <a:ext cx="1849938" cy="670729"/>
      </dsp:txXfrm>
    </dsp:sp>
    <dsp:sp modelId="{4A2325E3-A0FF-4B91-A0F9-86FCF31106C5}">
      <dsp:nvSpPr>
        <dsp:cNvPr id="0" name=""/>
        <dsp:cNvSpPr/>
      </dsp:nvSpPr>
      <dsp:spPr>
        <a:xfrm>
          <a:off x="6397740" y="1997845"/>
          <a:ext cx="1849938" cy="670729"/>
        </a:xfrm>
        <a:prstGeom prst="rect">
          <a:avLst/>
        </a:prstGeom>
        <a:solidFill>
          <a:schemeClr val="accent3">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kern="1200" dirty="0"/>
            <a:t>Growth Models</a:t>
          </a:r>
        </a:p>
      </dsp:txBody>
      <dsp:txXfrm>
        <a:off x="6397740" y="1997845"/>
        <a:ext cx="1849938" cy="670729"/>
      </dsp:txXfrm>
    </dsp:sp>
    <dsp:sp modelId="{34E2F788-5D23-4955-A407-E5D7C715E702}">
      <dsp:nvSpPr>
        <dsp:cNvPr id="0" name=""/>
        <dsp:cNvSpPr/>
      </dsp:nvSpPr>
      <dsp:spPr>
        <a:xfrm>
          <a:off x="6860224" y="2950281"/>
          <a:ext cx="1849938" cy="670729"/>
        </a:xfrm>
        <a:prstGeom prst="rect">
          <a:avLst/>
        </a:prstGeom>
        <a:solidFill>
          <a:schemeClr val="accent4">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kern="1200" dirty="0"/>
            <a:t>No Growth</a:t>
          </a:r>
        </a:p>
      </dsp:txBody>
      <dsp:txXfrm>
        <a:off x="6860224" y="2950281"/>
        <a:ext cx="1849938" cy="670729"/>
      </dsp:txXfrm>
    </dsp:sp>
    <dsp:sp modelId="{7F9E016F-BC2A-4718-8205-9BC1F7BDC6CE}">
      <dsp:nvSpPr>
        <dsp:cNvPr id="0" name=""/>
        <dsp:cNvSpPr/>
      </dsp:nvSpPr>
      <dsp:spPr>
        <a:xfrm>
          <a:off x="6860224" y="3902717"/>
          <a:ext cx="1849938" cy="670729"/>
        </a:xfrm>
        <a:prstGeom prst="rect">
          <a:avLst/>
        </a:prstGeom>
        <a:solidFill>
          <a:schemeClr val="accent4">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kern="1200" dirty="0"/>
            <a:t>Stable Growth</a:t>
          </a:r>
        </a:p>
      </dsp:txBody>
      <dsp:txXfrm>
        <a:off x="6860224" y="3902717"/>
        <a:ext cx="1849938" cy="670729"/>
      </dsp:txXfrm>
    </dsp:sp>
    <dsp:sp modelId="{49C3F3DC-E617-4D81-99B0-41ECE8D3DA9E}">
      <dsp:nvSpPr>
        <dsp:cNvPr id="0" name=""/>
        <dsp:cNvSpPr/>
      </dsp:nvSpPr>
      <dsp:spPr>
        <a:xfrm>
          <a:off x="6860224" y="4855153"/>
          <a:ext cx="1849938" cy="670729"/>
        </a:xfrm>
        <a:prstGeom prst="rect">
          <a:avLst/>
        </a:prstGeom>
        <a:solidFill>
          <a:schemeClr val="accent4">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kern="1200" dirty="0"/>
            <a:t>Stable % of Net Income</a:t>
          </a:r>
        </a:p>
      </dsp:txBody>
      <dsp:txXfrm>
        <a:off x="6860224" y="4855153"/>
        <a:ext cx="1849938" cy="670729"/>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734A9C-09E3-4573-ADA0-D0413E2C81A0}">
      <dsp:nvSpPr>
        <dsp:cNvPr id="0" name=""/>
        <dsp:cNvSpPr/>
      </dsp:nvSpPr>
      <dsp:spPr>
        <a:xfrm>
          <a:off x="4165230" y="1743338"/>
          <a:ext cx="2233922" cy="624251"/>
        </a:xfrm>
        <a:custGeom>
          <a:avLst/>
          <a:gdLst/>
          <a:ahLst/>
          <a:cxnLst/>
          <a:rect l="0" t="0" r="0" b="0"/>
          <a:pathLst>
            <a:path>
              <a:moveTo>
                <a:pt x="0" y="0"/>
              </a:moveTo>
              <a:lnTo>
                <a:pt x="0" y="425408"/>
              </a:lnTo>
              <a:lnTo>
                <a:pt x="2233922" y="425408"/>
              </a:lnTo>
              <a:lnTo>
                <a:pt x="2233922" y="624251"/>
              </a:lnTo>
            </a:path>
          </a:pathLst>
        </a:custGeom>
        <a:noFill/>
        <a:ln w="11429" cap="flat" cmpd="sng" algn="ctr">
          <a:solidFill>
            <a:schemeClr val="accent1">
              <a:shade val="60000"/>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73F23EBA-C349-48CC-8345-37CA90B3A471}">
      <dsp:nvSpPr>
        <dsp:cNvPr id="0" name=""/>
        <dsp:cNvSpPr/>
      </dsp:nvSpPr>
      <dsp:spPr>
        <a:xfrm>
          <a:off x="1692816" y="1743338"/>
          <a:ext cx="2472414" cy="624251"/>
        </a:xfrm>
        <a:custGeom>
          <a:avLst/>
          <a:gdLst/>
          <a:ahLst/>
          <a:cxnLst/>
          <a:rect l="0" t="0" r="0" b="0"/>
          <a:pathLst>
            <a:path>
              <a:moveTo>
                <a:pt x="2472414" y="0"/>
              </a:moveTo>
              <a:lnTo>
                <a:pt x="2472414" y="425408"/>
              </a:lnTo>
              <a:lnTo>
                <a:pt x="0" y="425408"/>
              </a:lnTo>
              <a:lnTo>
                <a:pt x="0" y="624251"/>
              </a:lnTo>
            </a:path>
          </a:pathLst>
        </a:custGeom>
        <a:noFill/>
        <a:ln w="11429" cap="flat" cmpd="sng" algn="ctr">
          <a:solidFill>
            <a:schemeClr val="accent1">
              <a:shade val="60000"/>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EE5EB0BF-0C83-4601-8DEC-E7E29EFA1631}">
      <dsp:nvSpPr>
        <dsp:cNvPr id="0" name=""/>
        <dsp:cNvSpPr/>
      </dsp:nvSpPr>
      <dsp:spPr>
        <a:xfrm>
          <a:off x="1960243" y="3305"/>
          <a:ext cx="4409974" cy="1740032"/>
        </a:xfrm>
        <a:prstGeom prst="roundRect">
          <a:avLst>
            <a:gd name="adj" fmla="val 10000"/>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sp>
    <dsp:sp modelId="{7854AE86-6BBE-4C24-8A55-BE8E0396B292}">
      <dsp:nvSpPr>
        <dsp:cNvPr id="0" name=""/>
        <dsp:cNvSpPr/>
      </dsp:nvSpPr>
      <dsp:spPr>
        <a:xfrm>
          <a:off x="2198734" y="229872"/>
          <a:ext cx="4409974" cy="1740032"/>
        </a:xfrm>
        <a:prstGeom prst="roundRect">
          <a:avLst>
            <a:gd name="adj" fmla="val 10000"/>
          </a:avLst>
        </a:prstGeom>
        <a:solidFill>
          <a:schemeClr val="lt1">
            <a:alpha val="90000"/>
            <a:hueOff val="0"/>
            <a:satOff val="0"/>
            <a:lumOff val="0"/>
            <a:alphaOff val="0"/>
          </a:schemeClr>
        </a:solidFill>
        <a:ln w="11429" cap="flat" cmpd="sng" algn="ctr">
          <a:solidFill>
            <a:schemeClr val="accent1">
              <a:hueOff val="0"/>
              <a:satOff val="0"/>
              <a:lumOff val="0"/>
              <a:alphaOff val="0"/>
            </a:schemeClr>
          </a:solidFill>
          <a:prstDash val="sysDash"/>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dirty="0"/>
            <a:t>New Bonds</a:t>
          </a:r>
        </a:p>
      </dsp:txBody>
      <dsp:txXfrm>
        <a:off x="2249698" y="280836"/>
        <a:ext cx="4308046" cy="1638104"/>
      </dsp:txXfrm>
    </dsp:sp>
    <dsp:sp modelId="{892F2D49-A60E-431E-BCCA-4916CDD7B358}">
      <dsp:nvSpPr>
        <dsp:cNvPr id="0" name=""/>
        <dsp:cNvSpPr/>
      </dsp:nvSpPr>
      <dsp:spPr>
        <a:xfrm>
          <a:off x="-238491" y="2367589"/>
          <a:ext cx="3862615" cy="1362978"/>
        </a:xfrm>
        <a:prstGeom prst="roundRect">
          <a:avLst>
            <a:gd name="adj" fmla="val 10000"/>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sp>
    <dsp:sp modelId="{9EB4076D-0FFF-4B08-9500-31262360EC48}">
      <dsp:nvSpPr>
        <dsp:cNvPr id="0" name=""/>
        <dsp:cNvSpPr/>
      </dsp:nvSpPr>
      <dsp:spPr>
        <a:xfrm>
          <a:off x="0" y="2594156"/>
          <a:ext cx="3862615" cy="1362978"/>
        </a:xfrm>
        <a:prstGeom prst="roundRect">
          <a:avLst>
            <a:gd name="adj" fmla="val 10000"/>
          </a:avLst>
        </a:prstGeom>
        <a:solidFill>
          <a:schemeClr val="lt1">
            <a:alpha val="90000"/>
            <a:hueOff val="0"/>
            <a:satOff val="0"/>
            <a:lumOff val="0"/>
            <a:alphaOff val="0"/>
          </a:schemeClr>
        </a:solidFill>
        <a:ln w="11429" cap="flat" cmpd="sng" algn="ctr">
          <a:solidFill>
            <a:schemeClr val="accent1">
              <a:hueOff val="0"/>
              <a:satOff val="0"/>
              <a:lumOff val="0"/>
              <a:alphaOff val="0"/>
            </a:schemeClr>
          </a:solidFill>
          <a:prstDash val="sysDash"/>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dirty="0"/>
            <a:t>Theoretical</a:t>
          </a:r>
        </a:p>
      </dsp:txBody>
      <dsp:txXfrm>
        <a:off x="39920" y="2634076"/>
        <a:ext cx="3782775" cy="1283138"/>
      </dsp:txXfrm>
    </dsp:sp>
    <dsp:sp modelId="{281B4646-C4EA-41C7-82D7-E6081C3E9C73}">
      <dsp:nvSpPr>
        <dsp:cNvPr id="0" name=""/>
        <dsp:cNvSpPr/>
      </dsp:nvSpPr>
      <dsp:spPr>
        <a:xfrm>
          <a:off x="4467845" y="2367589"/>
          <a:ext cx="3862615" cy="1362978"/>
        </a:xfrm>
        <a:prstGeom prst="roundRect">
          <a:avLst>
            <a:gd name="adj" fmla="val 10000"/>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sp>
    <dsp:sp modelId="{3325FD72-BD32-4907-A9D3-7CDB70732A9E}">
      <dsp:nvSpPr>
        <dsp:cNvPr id="0" name=""/>
        <dsp:cNvSpPr/>
      </dsp:nvSpPr>
      <dsp:spPr>
        <a:xfrm>
          <a:off x="4706336" y="2594156"/>
          <a:ext cx="3862615" cy="1362978"/>
        </a:xfrm>
        <a:prstGeom prst="roundRect">
          <a:avLst>
            <a:gd name="adj" fmla="val 10000"/>
          </a:avLst>
        </a:prstGeom>
        <a:solidFill>
          <a:schemeClr val="lt1">
            <a:alpha val="90000"/>
            <a:hueOff val="0"/>
            <a:satOff val="0"/>
            <a:lumOff val="0"/>
            <a:alphaOff val="0"/>
          </a:schemeClr>
        </a:solidFill>
        <a:ln w="11429" cap="flat" cmpd="sng" algn="ctr">
          <a:solidFill>
            <a:schemeClr val="accent1">
              <a:hueOff val="0"/>
              <a:satOff val="0"/>
              <a:lumOff val="0"/>
              <a:alphaOff val="0"/>
            </a:schemeClr>
          </a:solidFill>
          <a:prstDash val="sysDash"/>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dirty="0"/>
            <a:t>Yield to maturity </a:t>
          </a:r>
        </a:p>
      </dsp:txBody>
      <dsp:txXfrm>
        <a:off x="4746256" y="2634076"/>
        <a:ext cx="3782775" cy="1283138"/>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734A9C-09E3-4573-ADA0-D0413E2C81A0}">
      <dsp:nvSpPr>
        <dsp:cNvPr id="0" name=""/>
        <dsp:cNvSpPr/>
      </dsp:nvSpPr>
      <dsp:spPr>
        <a:xfrm>
          <a:off x="4165230" y="1743338"/>
          <a:ext cx="2233922" cy="624251"/>
        </a:xfrm>
        <a:custGeom>
          <a:avLst/>
          <a:gdLst/>
          <a:ahLst/>
          <a:cxnLst/>
          <a:rect l="0" t="0" r="0" b="0"/>
          <a:pathLst>
            <a:path>
              <a:moveTo>
                <a:pt x="0" y="0"/>
              </a:moveTo>
              <a:lnTo>
                <a:pt x="0" y="425408"/>
              </a:lnTo>
              <a:lnTo>
                <a:pt x="2233922" y="425408"/>
              </a:lnTo>
              <a:lnTo>
                <a:pt x="2233922" y="624251"/>
              </a:lnTo>
            </a:path>
          </a:pathLst>
        </a:custGeom>
        <a:noFill/>
        <a:ln w="11429" cap="flat" cmpd="sng" algn="ctr">
          <a:solidFill>
            <a:schemeClr val="accent1">
              <a:shade val="60000"/>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73F23EBA-C349-48CC-8345-37CA90B3A471}">
      <dsp:nvSpPr>
        <dsp:cNvPr id="0" name=""/>
        <dsp:cNvSpPr/>
      </dsp:nvSpPr>
      <dsp:spPr>
        <a:xfrm>
          <a:off x="1692816" y="1743338"/>
          <a:ext cx="2472414" cy="624251"/>
        </a:xfrm>
        <a:custGeom>
          <a:avLst/>
          <a:gdLst/>
          <a:ahLst/>
          <a:cxnLst/>
          <a:rect l="0" t="0" r="0" b="0"/>
          <a:pathLst>
            <a:path>
              <a:moveTo>
                <a:pt x="2472414" y="0"/>
              </a:moveTo>
              <a:lnTo>
                <a:pt x="2472414" y="425408"/>
              </a:lnTo>
              <a:lnTo>
                <a:pt x="0" y="425408"/>
              </a:lnTo>
              <a:lnTo>
                <a:pt x="0" y="624251"/>
              </a:lnTo>
            </a:path>
          </a:pathLst>
        </a:custGeom>
        <a:noFill/>
        <a:ln w="11429" cap="flat" cmpd="sng" algn="ctr">
          <a:solidFill>
            <a:schemeClr val="accent1">
              <a:shade val="60000"/>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EE5EB0BF-0C83-4601-8DEC-E7E29EFA1631}">
      <dsp:nvSpPr>
        <dsp:cNvPr id="0" name=""/>
        <dsp:cNvSpPr/>
      </dsp:nvSpPr>
      <dsp:spPr>
        <a:xfrm>
          <a:off x="1960243" y="3305"/>
          <a:ext cx="4409974" cy="1740032"/>
        </a:xfrm>
        <a:prstGeom prst="roundRect">
          <a:avLst>
            <a:gd name="adj" fmla="val 10000"/>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sp>
    <dsp:sp modelId="{7854AE86-6BBE-4C24-8A55-BE8E0396B292}">
      <dsp:nvSpPr>
        <dsp:cNvPr id="0" name=""/>
        <dsp:cNvSpPr/>
      </dsp:nvSpPr>
      <dsp:spPr>
        <a:xfrm>
          <a:off x="2198734" y="229872"/>
          <a:ext cx="4409974" cy="1740032"/>
        </a:xfrm>
        <a:prstGeom prst="roundRect">
          <a:avLst>
            <a:gd name="adj" fmla="val 10000"/>
          </a:avLst>
        </a:prstGeom>
        <a:solidFill>
          <a:schemeClr val="lt1">
            <a:alpha val="90000"/>
            <a:hueOff val="0"/>
            <a:satOff val="0"/>
            <a:lumOff val="0"/>
            <a:alphaOff val="0"/>
          </a:schemeClr>
        </a:solidFill>
        <a:ln w="11429" cap="flat" cmpd="sng" algn="ctr">
          <a:solidFill>
            <a:schemeClr val="accent1">
              <a:hueOff val="0"/>
              <a:satOff val="0"/>
              <a:lumOff val="0"/>
              <a:alphaOff val="0"/>
            </a:schemeClr>
          </a:solidFill>
          <a:prstDash val="sysDash"/>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dirty="0"/>
            <a:t>Hybrid Assets</a:t>
          </a:r>
        </a:p>
        <a:p>
          <a:pPr marL="0" lvl="0" indent="0" algn="ctr" defTabSz="1244600">
            <a:lnSpc>
              <a:spcPct val="90000"/>
            </a:lnSpc>
            <a:spcBef>
              <a:spcPct val="0"/>
            </a:spcBef>
            <a:spcAft>
              <a:spcPct val="35000"/>
            </a:spcAft>
            <a:buNone/>
          </a:pPr>
          <a:r>
            <a:rPr lang="en-GB" sz="2800" kern="1200" dirty="0"/>
            <a:t>Split or weight</a:t>
          </a:r>
        </a:p>
      </dsp:txBody>
      <dsp:txXfrm>
        <a:off x="2249698" y="280836"/>
        <a:ext cx="4308046" cy="1638104"/>
      </dsp:txXfrm>
    </dsp:sp>
    <dsp:sp modelId="{892F2D49-A60E-431E-BCCA-4916CDD7B358}">
      <dsp:nvSpPr>
        <dsp:cNvPr id="0" name=""/>
        <dsp:cNvSpPr/>
      </dsp:nvSpPr>
      <dsp:spPr>
        <a:xfrm>
          <a:off x="-238491" y="2367589"/>
          <a:ext cx="3862615" cy="1362978"/>
        </a:xfrm>
        <a:prstGeom prst="roundRect">
          <a:avLst>
            <a:gd name="adj" fmla="val 10000"/>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sp>
    <dsp:sp modelId="{9EB4076D-0FFF-4B08-9500-31262360EC48}">
      <dsp:nvSpPr>
        <dsp:cNvPr id="0" name=""/>
        <dsp:cNvSpPr/>
      </dsp:nvSpPr>
      <dsp:spPr>
        <a:xfrm>
          <a:off x="0" y="2594156"/>
          <a:ext cx="3862615" cy="1362978"/>
        </a:xfrm>
        <a:prstGeom prst="roundRect">
          <a:avLst>
            <a:gd name="adj" fmla="val 10000"/>
          </a:avLst>
        </a:prstGeom>
        <a:solidFill>
          <a:schemeClr val="lt1">
            <a:alpha val="90000"/>
            <a:hueOff val="0"/>
            <a:satOff val="0"/>
            <a:lumOff val="0"/>
            <a:alphaOff val="0"/>
          </a:schemeClr>
        </a:solidFill>
        <a:ln w="11429" cap="flat" cmpd="sng" algn="ctr">
          <a:solidFill>
            <a:schemeClr val="accent1">
              <a:hueOff val="0"/>
              <a:satOff val="0"/>
              <a:lumOff val="0"/>
              <a:alphaOff val="0"/>
            </a:schemeClr>
          </a:solidFill>
          <a:prstDash val="sysDash"/>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dirty="0"/>
            <a:t>Preference Shares</a:t>
          </a:r>
        </a:p>
      </dsp:txBody>
      <dsp:txXfrm>
        <a:off x="39920" y="2634076"/>
        <a:ext cx="3782775" cy="1283138"/>
      </dsp:txXfrm>
    </dsp:sp>
    <dsp:sp modelId="{281B4646-C4EA-41C7-82D7-E6081C3E9C73}">
      <dsp:nvSpPr>
        <dsp:cNvPr id="0" name=""/>
        <dsp:cNvSpPr/>
      </dsp:nvSpPr>
      <dsp:spPr>
        <a:xfrm>
          <a:off x="4467845" y="2367589"/>
          <a:ext cx="3862615" cy="1362978"/>
        </a:xfrm>
        <a:prstGeom prst="roundRect">
          <a:avLst>
            <a:gd name="adj" fmla="val 10000"/>
          </a:avLst>
        </a:prstGeom>
        <a:solidFill>
          <a:schemeClr val="accent1">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sp>
    <dsp:sp modelId="{3325FD72-BD32-4907-A9D3-7CDB70732A9E}">
      <dsp:nvSpPr>
        <dsp:cNvPr id="0" name=""/>
        <dsp:cNvSpPr/>
      </dsp:nvSpPr>
      <dsp:spPr>
        <a:xfrm>
          <a:off x="4706336" y="2594156"/>
          <a:ext cx="3862615" cy="1362978"/>
        </a:xfrm>
        <a:prstGeom prst="roundRect">
          <a:avLst>
            <a:gd name="adj" fmla="val 10000"/>
          </a:avLst>
        </a:prstGeom>
        <a:solidFill>
          <a:schemeClr val="lt1">
            <a:alpha val="90000"/>
            <a:hueOff val="0"/>
            <a:satOff val="0"/>
            <a:lumOff val="0"/>
            <a:alphaOff val="0"/>
          </a:schemeClr>
        </a:solidFill>
        <a:ln w="11429" cap="flat" cmpd="sng" algn="ctr">
          <a:solidFill>
            <a:schemeClr val="accent1">
              <a:hueOff val="0"/>
              <a:satOff val="0"/>
              <a:lumOff val="0"/>
              <a:alphaOff val="0"/>
            </a:schemeClr>
          </a:solidFill>
          <a:prstDash val="sysDash"/>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dirty="0"/>
            <a:t>CoCos</a:t>
          </a:r>
        </a:p>
      </dsp:txBody>
      <dsp:txXfrm>
        <a:off x="4746256" y="2634076"/>
        <a:ext cx="3782775" cy="1283138"/>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C4394B-69BA-48AB-8EAE-A82B804093FC}">
      <dsp:nvSpPr>
        <dsp:cNvPr id="0" name=""/>
        <dsp:cNvSpPr/>
      </dsp:nvSpPr>
      <dsp:spPr>
        <a:xfrm>
          <a:off x="0" y="2197"/>
          <a:ext cx="3496319" cy="1123905"/>
        </a:xfrm>
        <a:prstGeom prst="roundRect">
          <a:avLst>
            <a:gd name="adj" fmla="val 10000"/>
          </a:avLst>
        </a:prstGeom>
        <a:solidFill>
          <a:schemeClr val="accent2">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dirty="0"/>
            <a:t>Senior Secured Debt</a:t>
          </a:r>
        </a:p>
      </dsp:txBody>
      <dsp:txXfrm>
        <a:off x="32918" y="35115"/>
        <a:ext cx="3430483" cy="1058069"/>
      </dsp:txXfrm>
    </dsp:sp>
    <dsp:sp modelId="{7EA690EC-B269-4FE7-BCBC-1227583820B5}">
      <dsp:nvSpPr>
        <dsp:cNvPr id="0" name=""/>
        <dsp:cNvSpPr/>
      </dsp:nvSpPr>
      <dsp:spPr>
        <a:xfrm rot="5400000">
          <a:off x="1537427" y="1154200"/>
          <a:ext cx="421464" cy="505757"/>
        </a:xfrm>
        <a:prstGeom prst="rightArrow">
          <a:avLst>
            <a:gd name="adj1" fmla="val 60000"/>
            <a:gd name="adj2" fmla="val 50000"/>
          </a:avLst>
        </a:prstGeom>
        <a:solidFill>
          <a:schemeClr val="accent2">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n-GB" sz="2800" kern="1200"/>
        </a:p>
      </dsp:txBody>
      <dsp:txXfrm rot="-5400000">
        <a:off x="1596432" y="1196347"/>
        <a:ext cx="303455" cy="295025"/>
      </dsp:txXfrm>
    </dsp:sp>
    <dsp:sp modelId="{BB356C24-6B2E-48B7-8128-24CE7FC172B4}">
      <dsp:nvSpPr>
        <dsp:cNvPr id="0" name=""/>
        <dsp:cNvSpPr/>
      </dsp:nvSpPr>
      <dsp:spPr>
        <a:xfrm>
          <a:off x="0" y="1688055"/>
          <a:ext cx="3496319" cy="1123905"/>
        </a:xfrm>
        <a:prstGeom prst="roundRect">
          <a:avLst>
            <a:gd name="adj" fmla="val 10000"/>
          </a:avLst>
        </a:prstGeom>
        <a:solidFill>
          <a:schemeClr val="accent3">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dirty="0"/>
            <a:t>Senior Unsecured Debt</a:t>
          </a:r>
        </a:p>
      </dsp:txBody>
      <dsp:txXfrm>
        <a:off x="32918" y="1720973"/>
        <a:ext cx="3430483" cy="1058069"/>
      </dsp:txXfrm>
    </dsp:sp>
    <dsp:sp modelId="{00D3E87F-4750-4B29-86C8-C4F8A92FBE3C}">
      <dsp:nvSpPr>
        <dsp:cNvPr id="0" name=""/>
        <dsp:cNvSpPr/>
      </dsp:nvSpPr>
      <dsp:spPr>
        <a:xfrm rot="5400000">
          <a:off x="1537427" y="2840058"/>
          <a:ext cx="421464" cy="505757"/>
        </a:xfrm>
        <a:prstGeom prst="rightArrow">
          <a:avLst>
            <a:gd name="adj1" fmla="val 60000"/>
            <a:gd name="adj2" fmla="val 50000"/>
          </a:avLst>
        </a:prstGeom>
        <a:solidFill>
          <a:schemeClr val="accent3">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n-GB" sz="2800" kern="1200"/>
        </a:p>
      </dsp:txBody>
      <dsp:txXfrm rot="-5400000">
        <a:off x="1596432" y="2882205"/>
        <a:ext cx="303455" cy="295025"/>
      </dsp:txXfrm>
    </dsp:sp>
    <dsp:sp modelId="{5A131A8E-9E13-4C78-A07B-3DB6D14E5F97}">
      <dsp:nvSpPr>
        <dsp:cNvPr id="0" name=""/>
        <dsp:cNvSpPr/>
      </dsp:nvSpPr>
      <dsp:spPr>
        <a:xfrm>
          <a:off x="0" y="3373913"/>
          <a:ext cx="3496319" cy="1123905"/>
        </a:xfrm>
        <a:prstGeom prst="roundRect">
          <a:avLst>
            <a:gd name="adj" fmla="val 10000"/>
          </a:avLst>
        </a:prstGeom>
        <a:solidFill>
          <a:schemeClr val="accent4">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dirty="0"/>
            <a:t>Unsecured Debt/</a:t>
          </a:r>
        </a:p>
        <a:p>
          <a:pPr marL="0" lvl="0" indent="0" algn="ctr" defTabSz="1422400">
            <a:lnSpc>
              <a:spcPct val="90000"/>
            </a:lnSpc>
            <a:spcBef>
              <a:spcPct val="0"/>
            </a:spcBef>
            <a:spcAft>
              <a:spcPct val="35000"/>
            </a:spcAft>
            <a:buNone/>
          </a:pPr>
          <a:r>
            <a:rPr lang="en-GB" sz="3200" kern="1200" dirty="0"/>
            <a:t>Debentures</a:t>
          </a:r>
        </a:p>
      </dsp:txBody>
      <dsp:txXfrm>
        <a:off x="32918" y="3406831"/>
        <a:ext cx="3430483" cy="1058069"/>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24EFD8-10F2-41F8-9F2A-5AD9589158C3}">
      <dsp:nvSpPr>
        <dsp:cNvPr id="0" name=""/>
        <dsp:cNvSpPr/>
      </dsp:nvSpPr>
      <dsp:spPr>
        <a:xfrm>
          <a:off x="245764" y="2197"/>
          <a:ext cx="3747082" cy="1123905"/>
        </a:xfrm>
        <a:prstGeom prst="roundRect">
          <a:avLst>
            <a:gd name="adj" fmla="val 10000"/>
          </a:avLst>
        </a:prstGeom>
        <a:solidFill>
          <a:schemeClr val="accent4">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dirty="0"/>
            <a:t>Shareholder Loans</a:t>
          </a:r>
        </a:p>
      </dsp:txBody>
      <dsp:txXfrm>
        <a:off x="278682" y="35115"/>
        <a:ext cx="3681246" cy="1058069"/>
      </dsp:txXfrm>
    </dsp:sp>
    <dsp:sp modelId="{EFF135F3-F718-4DF0-A5C8-006A4CFB25F4}">
      <dsp:nvSpPr>
        <dsp:cNvPr id="0" name=""/>
        <dsp:cNvSpPr/>
      </dsp:nvSpPr>
      <dsp:spPr>
        <a:xfrm rot="5400000">
          <a:off x="1908573" y="1154200"/>
          <a:ext cx="421464" cy="505757"/>
        </a:xfrm>
        <a:prstGeom prst="rightArrow">
          <a:avLst>
            <a:gd name="adj1" fmla="val 60000"/>
            <a:gd name="adj2" fmla="val 50000"/>
          </a:avLst>
        </a:prstGeom>
        <a:solidFill>
          <a:schemeClr val="accent4">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GB" sz="2400" kern="1200"/>
        </a:p>
      </dsp:txBody>
      <dsp:txXfrm rot="-5400000">
        <a:off x="1967578" y="1196347"/>
        <a:ext cx="303455" cy="295025"/>
      </dsp:txXfrm>
    </dsp:sp>
    <dsp:sp modelId="{0EE7A132-686C-4963-9FB3-F9AEA651D256}">
      <dsp:nvSpPr>
        <dsp:cNvPr id="0" name=""/>
        <dsp:cNvSpPr/>
      </dsp:nvSpPr>
      <dsp:spPr>
        <a:xfrm>
          <a:off x="245764" y="1688055"/>
          <a:ext cx="3747082" cy="1123905"/>
        </a:xfrm>
        <a:prstGeom prst="roundRect">
          <a:avLst>
            <a:gd name="adj" fmla="val 10000"/>
          </a:avLst>
        </a:prstGeom>
        <a:solidFill>
          <a:schemeClr val="accent4">
            <a:hueOff val="4822484"/>
            <a:satOff val="-4333"/>
            <a:lumOff val="-686"/>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dirty="0"/>
            <a:t>Preference Shares/</a:t>
          </a:r>
        </a:p>
        <a:p>
          <a:pPr marL="0" lvl="0" indent="0" algn="ctr" defTabSz="1422400">
            <a:lnSpc>
              <a:spcPct val="90000"/>
            </a:lnSpc>
            <a:spcBef>
              <a:spcPct val="0"/>
            </a:spcBef>
            <a:spcAft>
              <a:spcPct val="35000"/>
            </a:spcAft>
            <a:buNone/>
          </a:pPr>
          <a:r>
            <a:rPr lang="en-GB" sz="3200" kern="1200" dirty="0"/>
            <a:t>Debenture Stock</a:t>
          </a:r>
        </a:p>
      </dsp:txBody>
      <dsp:txXfrm>
        <a:off x="278682" y="1720973"/>
        <a:ext cx="3681246" cy="1058069"/>
      </dsp:txXfrm>
    </dsp:sp>
    <dsp:sp modelId="{C9C84A7C-6390-4633-A2F8-417DE0B306F0}">
      <dsp:nvSpPr>
        <dsp:cNvPr id="0" name=""/>
        <dsp:cNvSpPr/>
      </dsp:nvSpPr>
      <dsp:spPr>
        <a:xfrm rot="5400000">
          <a:off x="1908573" y="2840058"/>
          <a:ext cx="421464" cy="505757"/>
        </a:xfrm>
        <a:prstGeom prst="rightArrow">
          <a:avLst>
            <a:gd name="adj1" fmla="val 60000"/>
            <a:gd name="adj2" fmla="val 50000"/>
          </a:avLst>
        </a:prstGeom>
        <a:solidFill>
          <a:schemeClr val="accent4">
            <a:hueOff val="9644969"/>
            <a:satOff val="-8667"/>
            <a:lumOff val="-1373"/>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GB" sz="2400" kern="1200"/>
        </a:p>
      </dsp:txBody>
      <dsp:txXfrm rot="-5400000">
        <a:off x="1967578" y="2882205"/>
        <a:ext cx="303455" cy="295025"/>
      </dsp:txXfrm>
    </dsp:sp>
    <dsp:sp modelId="{48F2BCE9-C0B8-4B17-BC55-384C807D9095}">
      <dsp:nvSpPr>
        <dsp:cNvPr id="0" name=""/>
        <dsp:cNvSpPr/>
      </dsp:nvSpPr>
      <dsp:spPr>
        <a:xfrm>
          <a:off x="245764" y="3373913"/>
          <a:ext cx="3747082" cy="1123905"/>
        </a:xfrm>
        <a:prstGeom prst="roundRect">
          <a:avLst>
            <a:gd name="adj" fmla="val 10000"/>
          </a:avLst>
        </a:prstGeom>
        <a:solidFill>
          <a:schemeClr val="accent4">
            <a:hueOff val="9644969"/>
            <a:satOff val="-8667"/>
            <a:lumOff val="-1373"/>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dirty="0"/>
            <a:t>Ordinary Equity</a:t>
          </a:r>
        </a:p>
      </dsp:txBody>
      <dsp:txXfrm>
        <a:off x="278682" y="3406831"/>
        <a:ext cx="3681246" cy="1058069"/>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1B3D0E-332F-4317-9CED-803F5D64EC1F}">
      <dsp:nvSpPr>
        <dsp:cNvPr id="0" name=""/>
        <dsp:cNvSpPr/>
      </dsp:nvSpPr>
      <dsp:spPr>
        <a:xfrm>
          <a:off x="6267543" y="4569470"/>
          <a:ext cx="1350618" cy="485375"/>
        </a:xfrm>
        <a:custGeom>
          <a:avLst/>
          <a:gdLst/>
          <a:ahLst/>
          <a:cxnLst/>
          <a:rect l="0" t="0" r="0" b="0"/>
          <a:pathLst>
            <a:path>
              <a:moveTo>
                <a:pt x="0" y="0"/>
              </a:moveTo>
              <a:lnTo>
                <a:pt x="0" y="330769"/>
              </a:lnTo>
              <a:lnTo>
                <a:pt x="1350618" y="330769"/>
              </a:lnTo>
              <a:lnTo>
                <a:pt x="1350618" y="485375"/>
              </a:lnTo>
            </a:path>
          </a:pathLst>
        </a:custGeom>
        <a:noFill/>
        <a:ln w="11429" cap="flat" cmpd="sng" algn="ctr">
          <a:solidFill>
            <a:schemeClr val="accent5">
              <a:hueOff val="0"/>
              <a:satOff val="0"/>
              <a:lumOff val="0"/>
              <a:alphaOff val="0"/>
            </a:schemeClr>
          </a:solidFill>
          <a:prstDash val="sysDash"/>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70C1D25A-5FF7-49E5-B17A-E32E9541F4CC}">
      <dsp:nvSpPr>
        <dsp:cNvPr id="0" name=""/>
        <dsp:cNvSpPr/>
      </dsp:nvSpPr>
      <dsp:spPr>
        <a:xfrm>
          <a:off x="5247653" y="4569470"/>
          <a:ext cx="1019890" cy="485375"/>
        </a:xfrm>
        <a:custGeom>
          <a:avLst/>
          <a:gdLst/>
          <a:ahLst/>
          <a:cxnLst/>
          <a:rect l="0" t="0" r="0" b="0"/>
          <a:pathLst>
            <a:path>
              <a:moveTo>
                <a:pt x="1019890" y="0"/>
              </a:moveTo>
              <a:lnTo>
                <a:pt x="1019890" y="330769"/>
              </a:lnTo>
              <a:lnTo>
                <a:pt x="0" y="330769"/>
              </a:lnTo>
              <a:lnTo>
                <a:pt x="0" y="485375"/>
              </a:lnTo>
            </a:path>
          </a:pathLst>
        </a:custGeom>
        <a:noFill/>
        <a:ln w="11429" cap="flat" cmpd="sng" algn="ctr">
          <a:solidFill>
            <a:schemeClr val="accent5">
              <a:hueOff val="0"/>
              <a:satOff val="0"/>
              <a:lumOff val="0"/>
              <a:alphaOff val="0"/>
            </a:schemeClr>
          </a:solidFill>
          <a:prstDash val="sysDash"/>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F7BCEAE7-1C5E-464E-B3B1-E568EA8B266B}">
      <dsp:nvSpPr>
        <dsp:cNvPr id="0" name=""/>
        <dsp:cNvSpPr/>
      </dsp:nvSpPr>
      <dsp:spPr>
        <a:xfrm>
          <a:off x="6221823" y="2794845"/>
          <a:ext cx="91440" cy="485375"/>
        </a:xfrm>
        <a:custGeom>
          <a:avLst/>
          <a:gdLst/>
          <a:ahLst/>
          <a:cxnLst/>
          <a:rect l="0" t="0" r="0" b="0"/>
          <a:pathLst>
            <a:path>
              <a:moveTo>
                <a:pt x="45720" y="0"/>
              </a:moveTo>
              <a:lnTo>
                <a:pt x="45720" y="485375"/>
              </a:lnTo>
            </a:path>
          </a:pathLst>
        </a:custGeom>
        <a:noFill/>
        <a:ln w="11429" cap="flat" cmpd="sng" algn="ctr">
          <a:solidFill>
            <a:schemeClr val="accent4">
              <a:hueOff val="0"/>
              <a:satOff val="0"/>
              <a:lumOff val="0"/>
              <a:alphaOff val="0"/>
            </a:schemeClr>
          </a:solidFill>
          <a:prstDash val="sysDash"/>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B069B8C5-F299-4AFA-B33A-345CB094A448}">
      <dsp:nvSpPr>
        <dsp:cNvPr id="0" name=""/>
        <dsp:cNvSpPr/>
      </dsp:nvSpPr>
      <dsp:spPr>
        <a:xfrm>
          <a:off x="4062398" y="1249711"/>
          <a:ext cx="2205145" cy="485375"/>
        </a:xfrm>
        <a:custGeom>
          <a:avLst/>
          <a:gdLst/>
          <a:ahLst/>
          <a:cxnLst/>
          <a:rect l="0" t="0" r="0" b="0"/>
          <a:pathLst>
            <a:path>
              <a:moveTo>
                <a:pt x="0" y="0"/>
              </a:moveTo>
              <a:lnTo>
                <a:pt x="0" y="330769"/>
              </a:lnTo>
              <a:lnTo>
                <a:pt x="2205145" y="330769"/>
              </a:lnTo>
              <a:lnTo>
                <a:pt x="2205145" y="485375"/>
              </a:lnTo>
            </a:path>
          </a:pathLst>
        </a:custGeom>
        <a:noFill/>
        <a:ln w="11429" cap="flat" cmpd="sng" algn="ctr">
          <a:solidFill>
            <a:schemeClr val="accent3">
              <a:hueOff val="0"/>
              <a:satOff val="0"/>
              <a:lumOff val="0"/>
              <a:alphaOff val="0"/>
            </a:schemeClr>
          </a:solidFill>
          <a:prstDash val="sysDash"/>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8CCFF209-9E61-4C73-A4D0-A31DA3D99052}">
      <dsp:nvSpPr>
        <dsp:cNvPr id="0" name=""/>
        <dsp:cNvSpPr/>
      </dsp:nvSpPr>
      <dsp:spPr>
        <a:xfrm>
          <a:off x="3897034" y="1249711"/>
          <a:ext cx="165364" cy="485375"/>
        </a:xfrm>
        <a:custGeom>
          <a:avLst/>
          <a:gdLst/>
          <a:ahLst/>
          <a:cxnLst/>
          <a:rect l="0" t="0" r="0" b="0"/>
          <a:pathLst>
            <a:path>
              <a:moveTo>
                <a:pt x="165364" y="0"/>
              </a:moveTo>
              <a:lnTo>
                <a:pt x="165364" y="330769"/>
              </a:lnTo>
              <a:lnTo>
                <a:pt x="0" y="330769"/>
              </a:lnTo>
              <a:lnTo>
                <a:pt x="0" y="485375"/>
              </a:lnTo>
            </a:path>
          </a:pathLst>
        </a:custGeom>
        <a:noFill/>
        <a:ln w="11429" cap="flat" cmpd="sng" algn="ctr">
          <a:solidFill>
            <a:schemeClr val="accent3">
              <a:hueOff val="0"/>
              <a:satOff val="0"/>
              <a:lumOff val="0"/>
              <a:alphaOff val="0"/>
            </a:schemeClr>
          </a:solidFill>
          <a:prstDash val="sysDash"/>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790D0297-B7DB-4D85-9D6A-1EA40104F7E0}">
      <dsp:nvSpPr>
        <dsp:cNvPr id="0" name=""/>
        <dsp:cNvSpPr/>
      </dsp:nvSpPr>
      <dsp:spPr>
        <a:xfrm>
          <a:off x="1857253" y="4569470"/>
          <a:ext cx="1019890" cy="485375"/>
        </a:xfrm>
        <a:custGeom>
          <a:avLst/>
          <a:gdLst/>
          <a:ahLst/>
          <a:cxnLst/>
          <a:rect l="0" t="0" r="0" b="0"/>
          <a:pathLst>
            <a:path>
              <a:moveTo>
                <a:pt x="0" y="0"/>
              </a:moveTo>
              <a:lnTo>
                <a:pt x="0" y="330769"/>
              </a:lnTo>
              <a:lnTo>
                <a:pt x="1019890" y="330769"/>
              </a:lnTo>
              <a:lnTo>
                <a:pt x="1019890" y="485375"/>
              </a:lnTo>
            </a:path>
          </a:pathLst>
        </a:custGeom>
        <a:noFill/>
        <a:ln w="11429" cap="flat" cmpd="sng" algn="ctr">
          <a:solidFill>
            <a:schemeClr val="accent5">
              <a:hueOff val="0"/>
              <a:satOff val="0"/>
              <a:lumOff val="0"/>
              <a:alphaOff val="0"/>
            </a:schemeClr>
          </a:solidFill>
          <a:prstDash val="sysDash"/>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F677A80D-7972-4FEB-B05A-C2C59535C740}">
      <dsp:nvSpPr>
        <dsp:cNvPr id="0" name=""/>
        <dsp:cNvSpPr/>
      </dsp:nvSpPr>
      <dsp:spPr>
        <a:xfrm>
          <a:off x="837362" y="4569470"/>
          <a:ext cx="1019890" cy="485375"/>
        </a:xfrm>
        <a:custGeom>
          <a:avLst/>
          <a:gdLst/>
          <a:ahLst/>
          <a:cxnLst/>
          <a:rect l="0" t="0" r="0" b="0"/>
          <a:pathLst>
            <a:path>
              <a:moveTo>
                <a:pt x="1019890" y="0"/>
              </a:moveTo>
              <a:lnTo>
                <a:pt x="1019890" y="330769"/>
              </a:lnTo>
              <a:lnTo>
                <a:pt x="0" y="330769"/>
              </a:lnTo>
              <a:lnTo>
                <a:pt x="0" y="485375"/>
              </a:lnTo>
            </a:path>
          </a:pathLst>
        </a:custGeom>
        <a:noFill/>
        <a:ln w="11429" cap="flat" cmpd="sng" algn="ctr">
          <a:solidFill>
            <a:schemeClr val="accent5">
              <a:hueOff val="0"/>
              <a:satOff val="0"/>
              <a:lumOff val="0"/>
              <a:alphaOff val="0"/>
            </a:schemeClr>
          </a:solidFill>
          <a:prstDash val="sysDash"/>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E6F9299C-3C55-4986-A28D-E66EA7DBC157}">
      <dsp:nvSpPr>
        <dsp:cNvPr id="0" name=""/>
        <dsp:cNvSpPr/>
      </dsp:nvSpPr>
      <dsp:spPr>
        <a:xfrm>
          <a:off x="1811533" y="2794845"/>
          <a:ext cx="91440" cy="485375"/>
        </a:xfrm>
        <a:custGeom>
          <a:avLst/>
          <a:gdLst/>
          <a:ahLst/>
          <a:cxnLst/>
          <a:rect l="0" t="0" r="0" b="0"/>
          <a:pathLst>
            <a:path>
              <a:moveTo>
                <a:pt x="45720" y="0"/>
              </a:moveTo>
              <a:lnTo>
                <a:pt x="45720" y="485375"/>
              </a:lnTo>
            </a:path>
          </a:pathLst>
        </a:custGeom>
        <a:noFill/>
        <a:ln w="11429" cap="flat" cmpd="sng" algn="ctr">
          <a:solidFill>
            <a:schemeClr val="accent4">
              <a:hueOff val="0"/>
              <a:satOff val="0"/>
              <a:lumOff val="0"/>
              <a:alphaOff val="0"/>
            </a:schemeClr>
          </a:solidFill>
          <a:prstDash val="sysDash"/>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B14D36A9-A27B-41C5-A63C-C7F11F7CD9A3}">
      <dsp:nvSpPr>
        <dsp:cNvPr id="0" name=""/>
        <dsp:cNvSpPr/>
      </dsp:nvSpPr>
      <dsp:spPr>
        <a:xfrm>
          <a:off x="1857253" y="1249711"/>
          <a:ext cx="2205145" cy="485375"/>
        </a:xfrm>
        <a:custGeom>
          <a:avLst/>
          <a:gdLst/>
          <a:ahLst/>
          <a:cxnLst/>
          <a:rect l="0" t="0" r="0" b="0"/>
          <a:pathLst>
            <a:path>
              <a:moveTo>
                <a:pt x="2205145" y="0"/>
              </a:moveTo>
              <a:lnTo>
                <a:pt x="2205145" y="330769"/>
              </a:lnTo>
              <a:lnTo>
                <a:pt x="0" y="330769"/>
              </a:lnTo>
              <a:lnTo>
                <a:pt x="0" y="485375"/>
              </a:lnTo>
            </a:path>
          </a:pathLst>
        </a:custGeom>
        <a:noFill/>
        <a:ln w="11429" cap="flat" cmpd="sng" algn="ctr">
          <a:solidFill>
            <a:schemeClr val="accent3">
              <a:hueOff val="0"/>
              <a:satOff val="0"/>
              <a:lumOff val="0"/>
              <a:alphaOff val="0"/>
            </a:schemeClr>
          </a:solidFill>
          <a:prstDash val="sysDash"/>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E70D1C7E-8F18-4F1C-B67E-F131EAAD7B1D}">
      <dsp:nvSpPr>
        <dsp:cNvPr id="0" name=""/>
        <dsp:cNvSpPr/>
      </dsp:nvSpPr>
      <dsp:spPr>
        <a:xfrm>
          <a:off x="3227942" y="189952"/>
          <a:ext cx="1668911" cy="1059759"/>
        </a:xfrm>
        <a:prstGeom prst="roundRect">
          <a:avLst>
            <a:gd name="adj" fmla="val 10000"/>
          </a:avLst>
        </a:prstGeom>
        <a:solidFill>
          <a:schemeClr val="accent1">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00062A92-E969-4B65-8FED-2FE6B7466D5D}">
      <dsp:nvSpPr>
        <dsp:cNvPr id="0" name=""/>
        <dsp:cNvSpPr/>
      </dsp:nvSpPr>
      <dsp:spPr>
        <a:xfrm>
          <a:off x="3413377" y="366114"/>
          <a:ext cx="1668911" cy="1059759"/>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50800" dist="25400" dir="5400000" rotWithShape="0">
            <a:srgbClr val="000000">
              <a:alpha val="45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dirty="0"/>
            <a:t>Cost of</a:t>
          </a:r>
        </a:p>
        <a:p>
          <a:pPr marL="0" lvl="0" indent="0" algn="ctr" defTabSz="1066800">
            <a:lnSpc>
              <a:spcPct val="90000"/>
            </a:lnSpc>
            <a:spcBef>
              <a:spcPct val="0"/>
            </a:spcBef>
            <a:spcAft>
              <a:spcPct val="35000"/>
            </a:spcAft>
            <a:buNone/>
          </a:pPr>
          <a:r>
            <a:rPr lang="en-GB" sz="2400" kern="1200" dirty="0"/>
            <a:t>Capital</a:t>
          </a:r>
        </a:p>
      </dsp:txBody>
      <dsp:txXfrm>
        <a:off x="3444416" y="397153"/>
        <a:ext cx="1606833" cy="997681"/>
      </dsp:txXfrm>
    </dsp:sp>
    <dsp:sp modelId="{59E98FDB-DFE4-45D7-8A5B-D650119DBBE8}">
      <dsp:nvSpPr>
        <dsp:cNvPr id="0" name=""/>
        <dsp:cNvSpPr/>
      </dsp:nvSpPr>
      <dsp:spPr>
        <a:xfrm>
          <a:off x="1022797" y="1735086"/>
          <a:ext cx="1668911" cy="1059759"/>
        </a:xfrm>
        <a:prstGeom prst="roundRect">
          <a:avLst>
            <a:gd name="adj" fmla="val 10000"/>
          </a:avLst>
        </a:prstGeom>
        <a:solidFill>
          <a:schemeClr val="accent3">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D0DDE592-E7C3-44A9-965D-E820D8F99E9C}">
      <dsp:nvSpPr>
        <dsp:cNvPr id="0" name=""/>
        <dsp:cNvSpPr/>
      </dsp:nvSpPr>
      <dsp:spPr>
        <a:xfrm>
          <a:off x="1208231" y="1911249"/>
          <a:ext cx="1668911" cy="1059759"/>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a:outerShdw blurRad="50800" dist="25400" dir="5400000" rotWithShape="0">
            <a:srgbClr val="000000">
              <a:alpha val="45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dirty="0"/>
            <a:t>Equity</a:t>
          </a:r>
        </a:p>
      </dsp:txBody>
      <dsp:txXfrm>
        <a:off x="1239270" y="1942288"/>
        <a:ext cx="1606833" cy="997681"/>
      </dsp:txXfrm>
    </dsp:sp>
    <dsp:sp modelId="{9737AA0E-8AE7-4C72-BE01-869F288BE8ED}">
      <dsp:nvSpPr>
        <dsp:cNvPr id="0" name=""/>
        <dsp:cNvSpPr/>
      </dsp:nvSpPr>
      <dsp:spPr>
        <a:xfrm>
          <a:off x="41660" y="3280220"/>
          <a:ext cx="3631185" cy="1289249"/>
        </a:xfrm>
        <a:prstGeom prst="roundRect">
          <a:avLst>
            <a:gd name="adj" fmla="val 10000"/>
          </a:avLst>
        </a:prstGeom>
        <a:solidFill>
          <a:schemeClr val="accent4">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DAB724C4-61F9-4EF0-BD7A-093EF1670A27}">
      <dsp:nvSpPr>
        <dsp:cNvPr id="0" name=""/>
        <dsp:cNvSpPr/>
      </dsp:nvSpPr>
      <dsp:spPr>
        <a:xfrm>
          <a:off x="227095" y="3456383"/>
          <a:ext cx="3631185" cy="1289249"/>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a:outerShdw blurRad="50800" dist="25400" dir="5400000" rotWithShape="0">
            <a:srgbClr val="000000">
              <a:alpha val="45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dirty="0"/>
            <a:t>Cost of Equity</a:t>
          </a:r>
        </a:p>
        <a:p>
          <a:pPr marL="0" lvl="0" indent="0" algn="ctr" defTabSz="1066800">
            <a:lnSpc>
              <a:spcPct val="90000"/>
            </a:lnSpc>
            <a:spcBef>
              <a:spcPct val="0"/>
            </a:spcBef>
            <a:spcAft>
              <a:spcPct val="35000"/>
            </a:spcAft>
            <a:buNone/>
          </a:pPr>
          <a:r>
            <a:rPr lang="en-GB" sz="2400" kern="1200" dirty="0" err="1"/>
            <a:t>k</a:t>
          </a:r>
          <a:r>
            <a:rPr lang="en-GB" sz="2400" kern="1200" baseline="-25000" dirty="0" err="1"/>
            <a:t>e</a:t>
          </a:r>
          <a:endParaRPr lang="en-GB" sz="2400" kern="1200" baseline="-25000" dirty="0"/>
        </a:p>
      </dsp:txBody>
      <dsp:txXfrm>
        <a:off x="264856" y="3494144"/>
        <a:ext cx="3555663" cy="1213727"/>
      </dsp:txXfrm>
    </dsp:sp>
    <dsp:sp modelId="{3838D84A-6684-45C7-BBE0-20C916F12C05}">
      <dsp:nvSpPr>
        <dsp:cNvPr id="0" name=""/>
        <dsp:cNvSpPr/>
      </dsp:nvSpPr>
      <dsp:spPr>
        <a:xfrm>
          <a:off x="2906" y="5054845"/>
          <a:ext cx="1668911" cy="1059759"/>
        </a:xfrm>
        <a:prstGeom prst="roundRect">
          <a:avLst>
            <a:gd name="adj" fmla="val 10000"/>
          </a:avLst>
        </a:prstGeom>
        <a:solidFill>
          <a:schemeClr val="accent5">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618F6585-B598-4AC0-99EC-F45B3FA7C76F}">
      <dsp:nvSpPr>
        <dsp:cNvPr id="0" name=""/>
        <dsp:cNvSpPr/>
      </dsp:nvSpPr>
      <dsp:spPr>
        <a:xfrm>
          <a:off x="188341" y="5231008"/>
          <a:ext cx="1668911" cy="1059759"/>
        </a:xfrm>
        <a:prstGeom prst="roundRect">
          <a:avLst>
            <a:gd name="adj" fmla="val 10000"/>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a:outerShdw blurRad="50800" dist="25400" dir="5400000" rotWithShape="0">
            <a:srgbClr val="000000">
              <a:alpha val="45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dirty="0"/>
            <a:t>Growth</a:t>
          </a:r>
        </a:p>
        <a:p>
          <a:pPr marL="0" lvl="0" indent="0" algn="ctr" defTabSz="1066800">
            <a:lnSpc>
              <a:spcPct val="90000"/>
            </a:lnSpc>
            <a:spcBef>
              <a:spcPct val="0"/>
            </a:spcBef>
            <a:spcAft>
              <a:spcPct val="35000"/>
            </a:spcAft>
            <a:buNone/>
          </a:pPr>
          <a:r>
            <a:rPr lang="en-GB" sz="2400" kern="1200" dirty="0"/>
            <a:t>Models</a:t>
          </a:r>
        </a:p>
      </dsp:txBody>
      <dsp:txXfrm>
        <a:off x="219380" y="5262047"/>
        <a:ext cx="1606833" cy="997681"/>
      </dsp:txXfrm>
    </dsp:sp>
    <dsp:sp modelId="{E2376AC1-0861-4495-AE75-0B57B2D4C5AD}">
      <dsp:nvSpPr>
        <dsp:cNvPr id="0" name=""/>
        <dsp:cNvSpPr/>
      </dsp:nvSpPr>
      <dsp:spPr>
        <a:xfrm>
          <a:off x="2042687" y="5054845"/>
          <a:ext cx="1668911" cy="1059759"/>
        </a:xfrm>
        <a:prstGeom prst="roundRect">
          <a:avLst>
            <a:gd name="adj" fmla="val 10000"/>
          </a:avLst>
        </a:prstGeom>
        <a:solidFill>
          <a:schemeClr val="accent5">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49F1F40F-0366-4DCE-BC53-EEF33BE3FD28}">
      <dsp:nvSpPr>
        <dsp:cNvPr id="0" name=""/>
        <dsp:cNvSpPr/>
      </dsp:nvSpPr>
      <dsp:spPr>
        <a:xfrm>
          <a:off x="2228122" y="5231008"/>
          <a:ext cx="1668911" cy="1059759"/>
        </a:xfrm>
        <a:prstGeom prst="roundRect">
          <a:avLst>
            <a:gd name="adj" fmla="val 10000"/>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a:outerShdw blurRad="50800" dist="25400" dir="5400000" rotWithShape="0">
            <a:srgbClr val="000000">
              <a:alpha val="45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dirty="0"/>
            <a:t>CAPM</a:t>
          </a:r>
        </a:p>
      </dsp:txBody>
      <dsp:txXfrm>
        <a:off x="2259161" y="5262047"/>
        <a:ext cx="1606833" cy="997681"/>
      </dsp:txXfrm>
    </dsp:sp>
    <dsp:sp modelId="{3F099442-4D15-4CB0-BECC-75FCAD09B540}">
      <dsp:nvSpPr>
        <dsp:cNvPr id="0" name=""/>
        <dsp:cNvSpPr/>
      </dsp:nvSpPr>
      <dsp:spPr>
        <a:xfrm>
          <a:off x="3062578" y="1735086"/>
          <a:ext cx="1668911" cy="1059759"/>
        </a:xfrm>
        <a:prstGeom prst="roundRect">
          <a:avLst>
            <a:gd name="adj" fmla="val 10000"/>
          </a:avLst>
        </a:prstGeom>
        <a:solidFill>
          <a:schemeClr val="accent3">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534996D1-EA11-4405-8B0A-C6BD8A1D493B}">
      <dsp:nvSpPr>
        <dsp:cNvPr id="0" name=""/>
        <dsp:cNvSpPr/>
      </dsp:nvSpPr>
      <dsp:spPr>
        <a:xfrm>
          <a:off x="3248013" y="1911249"/>
          <a:ext cx="1668911" cy="1059759"/>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a:outerShdw blurRad="50800" dist="25400" dir="5400000" rotWithShape="0">
            <a:srgbClr val="000000">
              <a:alpha val="45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dirty="0"/>
            <a:t>Hybrid Assets</a:t>
          </a:r>
        </a:p>
      </dsp:txBody>
      <dsp:txXfrm>
        <a:off x="3279052" y="1942288"/>
        <a:ext cx="1606833" cy="997681"/>
      </dsp:txXfrm>
    </dsp:sp>
    <dsp:sp modelId="{FB0EC973-08BD-439A-80B4-72EED26568AE}">
      <dsp:nvSpPr>
        <dsp:cNvPr id="0" name=""/>
        <dsp:cNvSpPr/>
      </dsp:nvSpPr>
      <dsp:spPr>
        <a:xfrm>
          <a:off x="5433087" y="1735086"/>
          <a:ext cx="1668911" cy="1059759"/>
        </a:xfrm>
        <a:prstGeom prst="roundRect">
          <a:avLst>
            <a:gd name="adj" fmla="val 10000"/>
          </a:avLst>
        </a:prstGeom>
        <a:solidFill>
          <a:schemeClr val="accent3">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DA441BB8-01DD-4624-B76A-959279122DDA}">
      <dsp:nvSpPr>
        <dsp:cNvPr id="0" name=""/>
        <dsp:cNvSpPr/>
      </dsp:nvSpPr>
      <dsp:spPr>
        <a:xfrm>
          <a:off x="5618522" y="1911249"/>
          <a:ext cx="1668911" cy="1059759"/>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a:outerShdw blurRad="50800" dist="25400" dir="5400000" rotWithShape="0">
            <a:srgbClr val="000000">
              <a:alpha val="45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dirty="0"/>
            <a:t>Debt</a:t>
          </a:r>
        </a:p>
      </dsp:txBody>
      <dsp:txXfrm>
        <a:off x="5649561" y="1942288"/>
        <a:ext cx="1606833" cy="997681"/>
      </dsp:txXfrm>
    </dsp:sp>
    <dsp:sp modelId="{C413E84B-A36D-488E-9FA6-556A018942A3}">
      <dsp:nvSpPr>
        <dsp:cNvPr id="0" name=""/>
        <dsp:cNvSpPr/>
      </dsp:nvSpPr>
      <dsp:spPr>
        <a:xfrm>
          <a:off x="4451951" y="3280220"/>
          <a:ext cx="3631185" cy="1289249"/>
        </a:xfrm>
        <a:prstGeom prst="roundRect">
          <a:avLst>
            <a:gd name="adj" fmla="val 10000"/>
          </a:avLst>
        </a:prstGeom>
        <a:solidFill>
          <a:schemeClr val="accent4">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5ED42C69-8EAB-4D4C-8EAC-5D23CD5CC311}">
      <dsp:nvSpPr>
        <dsp:cNvPr id="0" name=""/>
        <dsp:cNvSpPr/>
      </dsp:nvSpPr>
      <dsp:spPr>
        <a:xfrm>
          <a:off x="4637385" y="3456383"/>
          <a:ext cx="3631185" cy="1289249"/>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a:outerShdw blurRad="50800" dist="25400" dir="5400000" rotWithShape="0">
            <a:srgbClr val="000000">
              <a:alpha val="45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dirty="0"/>
            <a:t>Cost of Bank Borrowing/Bonds</a:t>
          </a:r>
        </a:p>
        <a:p>
          <a:pPr marL="0" lvl="0" indent="0" algn="ctr" defTabSz="1066800">
            <a:lnSpc>
              <a:spcPct val="90000"/>
            </a:lnSpc>
            <a:spcBef>
              <a:spcPct val="0"/>
            </a:spcBef>
            <a:spcAft>
              <a:spcPct val="35000"/>
            </a:spcAft>
            <a:buNone/>
          </a:pPr>
          <a:r>
            <a:rPr lang="en-GB" sz="2400" kern="1200" dirty="0" err="1"/>
            <a:t>k</a:t>
          </a:r>
          <a:r>
            <a:rPr lang="en-GB" sz="2400" kern="1200" baseline="-25000" dirty="0" err="1"/>
            <a:t>d</a:t>
          </a:r>
          <a:endParaRPr lang="en-GB" sz="2400" kern="1200" dirty="0"/>
        </a:p>
      </dsp:txBody>
      <dsp:txXfrm>
        <a:off x="4675146" y="3494144"/>
        <a:ext cx="3555663" cy="1213727"/>
      </dsp:txXfrm>
    </dsp:sp>
    <dsp:sp modelId="{03774A42-4B76-43D0-A86A-50DE738417AA}">
      <dsp:nvSpPr>
        <dsp:cNvPr id="0" name=""/>
        <dsp:cNvSpPr/>
      </dsp:nvSpPr>
      <dsp:spPr>
        <a:xfrm>
          <a:off x="4082469" y="5054845"/>
          <a:ext cx="2330368" cy="1059759"/>
        </a:xfrm>
        <a:prstGeom prst="roundRect">
          <a:avLst>
            <a:gd name="adj" fmla="val 10000"/>
          </a:avLst>
        </a:prstGeom>
        <a:solidFill>
          <a:schemeClr val="accent5">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DC826FD7-6AB4-4510-BF3A-EDEFBD201F71}">
      <dsp:nvSpPr>
        <dsp:cNvPr id="0" name=""/>
        <dsp:cNvSpPr/>
      </dsp:nvSpPr>
      <dsp:spPr>
        <a:xfrm>
          <a:off x="4267903" y="5231008"/>
          <a:ext cx="2330368" cy="1059759"/>
        </a:xfrm>
        <a:prstGeom prst="roundRect">
          <a:avLst>
            <a:gd name="adj" fmla="val 10000"/>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a:outerShdw blurRad="50800" dist="25400" dir="5400000" rotWithShape="0">
            <a:srgbClr val="000000">
              <a:alpha val="45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dirty="0"/>
            <a:t>Interest Rate</a:t>
          </a:r>
        </a:p>
        <a:p>
          <a:pPr marL="0" lvl="0" indent="0" algn="ctr" defTabSz="1066800">
            <a:lnSpc>
              <a:spcPct val="90000"/>
            </a:lnSpc>
            <a:spcBef>
              <a:spcPct val="0"/>
            </a:spcBef>
            <a:spcAft>
              <a:spcPct val="35000"/>
            </a:spcAft>
            <a:buNone/>
          </a:pPr>
          <a:r>
            <a:rPr lang="en-GB" sz="2400" kern="1200" dirty="0"/>
            <a:t>Default Spread</a:t>
          </a:r>
        </a:p>
      </dsp:txBody>
      <dsp:txXfrm>
        <a:off x="4298942" y="5262047"/>
        <a:ext cx="2268290" cy="997681"/>
      </dsp:txXfrm>
    </dsp:sp>
    <dsp:sp modelId="{0A4039F8-D091-4B1C-867C-BFFAC14A0611}">
      <dsp:nvSpPr>
        <dsp:cNvPr id="0" name=""/>
        <dsp:cNvSpPr/>
      </dsp:nvSpPr>
      <dsp:spPr>
        <a:xfrm>
          <a:off x="6783706" y="5054845"/>
          <a:ext cx="1668911" cy="1059759"/>
        </a:xfrm>
        <a:prstGeom prst="roundRect">
          <a:avLst>
            <a:gd name="adj" fmla="val 10000"/>
          </a:avLst>
        </a:prstGeom>
        <a:solidFill>
          <a:schemeClr val="accent5">
            <a:hueOff val="0"/>
            <a:satOff val="0"/>
            <a:lumOff val="0"/>
            <a:alphaOff val="0"/>
          </a:schemeClr>
        </a:solidFill>
        <a:ln>
          <a:noFill/>
        </a:ln>
        <a:effectLst>
          <a:outerShdw blurRad="508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9C0E4F75-90E5-4468-B981-0D0233F22C86}">
      <dsp:nvSpPr>
        <dsp:cNvPr id="0" name=""/>
        <dsp:cNvSpPr/>
      </dsp:nvSpPr>
      <dsp:spPr>
        <a:xfrm>
          <a:off x="6969141" y="5231008"/>
          <a:ext cx="1668911" cy="1059759"/>
        </a:xfrm>
        <a:prstGeom prst="roundRect">
          <a:avLst>
            <a:gd name="adj" fmla="val 10000"/>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a:outerShdw blurRad="50800" dist="25400" dir="5400000" rotWithShape="0">
            <a:srgbClr val="000000">
              <a:alpha val="45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dirty="0"/>
            <a:t>Yield to Maturity</a:t>
          </a:r>
        </a:p>
      </dsp:txBody>
      <dsp:txXfrm>
        <a:off x="7000180" y="5262047"/>
        <a:ext cx="1606833" cy="997681"/>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default#3">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1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8/layout/HalfCircleOrganizationChart">
  <dgm:title val=""/>
  <dgm:desc val=""/>
  <dgm:catLst>
    <dgm:cat type="hierarchy" pri="1500"/>
  </dgm:catLst>
  <dgm:samp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Name0">
    <dgm:varLst>
      <dgm:orgChart val="1"/>
      <dgm:chPref val="1"/>
      <dgm:dir/>
      <dgm:animOne val="branch"/>
      <dgm:animLvl val="lvl"/>
      <dgm:resizeHandles/>
    </dgm:varLst>
    <dgm:choose name="Name1">
      <dgm:if name="Name2" func="var" arg="dir" op="equ" val="norm">
        <dgm:alg type="hierChild">
          <dgm:param type="linDir" val="fromL"/>
        </dgm:alg>
      </dgm:if>
      <dgm:else name="Name3">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2" refType="w" fact="10"/>
      <dgm:constr type="h" for="des" forName="rootComposite2"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forEach name="Name4" axis="ch">
      <dgm:forEach name="Name5" axis="self" ptType="node">
        <dgm:layoutNode name="hierRoot1">
          <dgm:varLst>
            <dgm:hierBranch val="init"/>
          </dgm:varLst>
          <dgm:choose name="Name6">
            <dgm:if name="Name7" func="var" arg="hierBranch" op="equ" val="l">
              <dgm:alg type="hierRoot">
                <dgm:param type="hierAlign" val="tR"/>
              </dgm:alg>
              <dgm:constrLst>
                <dgm:constr type="alignOff" val="0.65"/>
              </dgm:constrLst>
            </dgm:if>
            <dgm:if name="Name8" func="var" arg="hierBranch" op="equ" val="r">
              <dgm:alg type="hierRoot">
                <dgm:param type="hierAlign" val="tL"/>
              </dgm:alg>
              <dgm:constrLst>
                <dgm:constr type="alignOff" val="0.65"/>
              </dgm:constrLst>
            </dgm:if>
            <dgm:if name="Name9" func="var" arg="hierBranch" op="equ" val="hang">
              <dgm:alg type="hierRoot"/>
              <dgm:constrLst>
                <dgm:constr type="alignOff" val="0.65"/>
              </dgm:constrLst>
            </dgm:if>
            <dgm:else name="Name10">
              <dgm:alg type="hierRoot"/>
              <dgm:constrLst>
                <dgm:constr type="alignOff"/>
                <dgm:constr type="bendDist" for="des" ptType="parTrans" refType="sp" fact="0.5"/>
              </dgm:constrLst>
            </dgm:else>
          </dgm:choose>
          <dgm:shape xmlns:r="http://schemas.openxmlformats.org/officeDocument/2006/relationships" r:blip="">
            <dgm:adjLst/>
          </dgm:shape>
          <dgm:presOf/>
          <dgm:layoutNode name="rootComposite1">
            <dgm:alg type="composite"/>
            <dgm:shape xmlns:r="http://schemas.openxmlformats.org/officeDocument/2006/relationships" r:blip="">
              <dgm:adjLst/>
            </dgm:shape>
            <dgm:presOf axis="self" ptType="node" cnt="1"/>
            <dgm:choose name="Name11">
              <dgm:if name="Name12" func="var" arg="hierBranch" op="equ" val="init">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3" func="var" arg="hierBranch" op="equ" val="l">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4" func="var" arg="hierBranch" op="equ" val="r">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else name="Name15">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else>
            </dgm:choose>
            <dgm:layoutNode name="rootText1"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1" styleLbl="parChTrans1D1" moveWith="rootText1">
              <dgm:alg type="sp"/>
              <dgm:shape xmlns:r="http://schemas.openxmlformats.org/officeDocument/2006/relationships" type="arc" r:blip="" zOrderOff="-2">
                <dgm:adjLst>
                  <dgm:adj idx="1" val="-140"/>
                  <dgm:adj idx="2" val="-40"/>
                </dgm:adjLst>
              </dgm:shape>
              <dgm:presOf/>
            </dgm:layoutNode>
            <dgm:layoutNode name="bottomArc1" styleLbl="parChTrans1D1" moveWith="rootText1">
              <dgm:alg type="sp"/>
              <dgm:shape xmlns:r="http://schemas.openxmlformats.org/officeDocument/2006/relationships" type="arc" r:blip="" zOrderOff="-2">
                <dgm:adjLst>
                  <dgm:adj idx="1" val="40"/>
                  <dgm:adj idx="2" val="140"/>
                </dgm:adjLst>
              </dgm:shape>
              <dgm:presOf/>
            </dgm:layoutNode>
            <dgm:layoutNode name="topConnNode1" moveWith="rootText1">
              <dgm:alg type="sp"/>
              <dgm:shape xmlns:r="http://schemas.openxmlformats.org/officeDocument/2006/relationships" type="rect" r:blip="" hideGeom="1">
                <dgm:adjLst/>
              </dgm:shape>
              <dgm:presOf axis="self" ptType="node" cnt="1"/>
            </dgm:layoutNode>
          </dgm:layoutNode>
          <dgm:layoutNode name="hierChild2">
            <dgm:choose name="Name16">
              <dgm:if name="Name17" func="var" arg="hierBranch" op="equ" val="l">
                <dgm:alg type="hierChild">
                  <dgm:param type="chAlign" val="r"/>
                  <dgm:param type="linDir" val="fromT"/>
                </dgm:alg>
              </dgm:if>
              <dgm:if name="Name18" func="var" arg="hierBranch" op="equ" val="r">
                <dgm:alg type="hierChild">
                  <dgm:param type="chAlign" val="l"/>
                  <dgm:param type="linDir" val="fromT"/>
                </dgm:alg>
              </dgm:if>
              <dgm:if name="Name19" func="var" arg="hierBranch" op="equ" val="hang">
                <dgm:choose name="Name20">
                  <dgm:if name="Name21" func="var" arg="dir" op="equ" val="norm">
                    <dgm:alg type="hierChild">
                      <dgm:param type="chAlign" val="l"/>
                      <dgm:param type="linDir" val="fromL"/>
                      <dgm:param type="secChAlign" val="t"/>
                      <dgm:param type="secLinDir" val="fromT"/>
                    </dgm:alg>
                  </dgm:if>
                  <dgm:else name="Name22">
                    <dgm:alg type="hierChild">
                      <dgm:param type="chAlign" val="l"/>
                      <dgm:param type="linDir" val="fromR"/>
                      <dgm:param type="secChAlign" val="t"/>
                      <dgm:param type="secLinDir" val="fromT"/>
                    </dgm:alg>
                  </dgm:else>
                </dgm:choose>
              </dgm:if>
              <dgm:else name="Name23">
                <dgm:choose name="Name24">
                  <dgm:if name="Name25" func="var" arg="dir" op="equ" val="norm">
                    <dgm:alg type="hierChild"/>
                  </dgm:if>
                  <dgm:else name="Name26">
                    <dgm:alg type="hierChild">
                      <dgm:param type="linDir" val="fromR"/>
                    </dgm:alg>
                  </dgm:else>
                </dgm:choose>
              </dgm:else>
            </dgm:choose>
            <dgm:shape xmlns:r="http://schemas.openxmlformats.org/officeDocument/2006/relationships" r:blip="">
              <dgm:adjLst/>
            </dgm:shape>
            <dgm:presOf/>
            <dgm:forEach name="rep2a" axis="ch" ptType="nonAsst">
              <dgm:forEach name="Name27" axis="precedSib" ptType="parTrans" st="-1" cnt="1">
                <dgm:layoutNode name="Name28">
                  <dgm:choose name="Name29">
                    <dgm:if name="Name30" func="var" arg="hierBranch" op="equ" val="std">
                      <dgm:choose name="Name31">
                        <dgm:if name="Name32"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33"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34">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if name="Name35" func="var" arg="hierBranch" op="equ" val="init">
                      <dgm:choose name="Name36">
                        <dgm:if name="Name37" axis="self" func="depth" op="lte" val="2">
                          <dgm:choose name="Name38">
                            <dgm:if name="Name39"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40"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41">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else name="Name42">
                          <dgm:choose name="Name43">
                            <dgm:if name="Name44" axis="par des" func="maxDepth" op="lte" val="1">
                              <dgm:choose name="Name45">
                                <dgm:if name="Name4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4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48">
                                  <dgm:alg type="conn">
                                    <dgm:param type="connRout" val="bend"/>
                                    <dgm:param type="dim" val="1D"/>
                                    <dgm:param type="endSty" val="noArr"/>
                                    <dgm:param type="begPts" val="bCtr"/>
                                    <dgm:param type="endPts" val="bL bR"/>
                                    <dgm:param type="srcNode" val="bottomArc2"/>
                                    <dgm:param type="dstNode" val="topConnNode2"/>
                                  </dgm:alg>
                                </dgm:else>
                              </dgm:choose>
                            </dgm:if>
                            <dgm:else name="Name49">
                              <dgm:choose name="Name50">
                                <dgm:if name="Name51"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52"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53">
                                  <dgm:alg type="conn">
                                    <dgm:param type="connRout" val="bend"/>
                                    <dgm:param type="dim" val="1D"/>
                                    <dgm:param type="endSty" val="noArr"/>
                                    <dgm:param type="begPts" val="bCtr"/>
                                    <dgm:param type="endPts" val="tCtr"/>
                                    <dgm:param type="bendPt" val="end"/>
                                    <dgm:param type="srcNode" val="bottomArc2"/>
                                    <dgm:param type="dstNode" val="topArc2"/>
                                  </dgm:alg>
                                </dgm:else>
                              </dgm:choose>
                            </dgm:else>
                          </dgm:choose>
                        </dgm:else>
                      </dgm:choose>
                    </dgm:if>
                    <dgm:else name="Name54">
                      <dgm:choose name="Name55">
                        <dgm:if name="Name5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5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58">
                          <dgm:alg type="conn">
                            <dgm:param type="connRout" val="bend"/>
                            <dgm:param type="dim" val="1D"/>
                            <dgm:param type="endSty" val="noArr"/>
                            <dgm:param type="begPts" val="bCtr"/>
                            <dgm:param type="endPts" val="bL bR"/>
                            <dgm:param type="srcNode" val="bottomArc2"/>
                            <dgm:param type="dstNode" val="topConnNode2"/>
                          </dgm:alg>
                        </dgm:else>
                      </dgm:choose>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2">
                <dgm:varLst>
                  <dgm:hierBranch val="init"/>
                </dgm:varLst>
                <dgm:choose name="Name59">
                  <dgm:if name="Name60" func="var" arg="hierBranch" op="equ" val="l">
                    <dgm:alg type="hierRoot">
                      <dgm:param type="hierAlign" val="tR"/>
                    </dgm:alg>
                    <dgm:shape xmlns:r="http://schemas.openxmlformats.org/officeDocument/2006/relationships" r:blip="">
                      <dgm:adjLst/>
                    </dgm:shape>
                    <dgm:presOf/>
                    <dgm:constrLst>
                      <dgm:constr type="alignOff" val="0.65"/>
                    </dgm:constrLst>
                  </dgm:if>
                  <dgm:if name="Name61" func="var" arg="hierBranch" op="equ" val="r">
                    <dgm:alg type="hierRoot">
                      <dgm:param type="hierAlign" val="tL"/>
                    </dgm:alg>
                    <dgm:shape xmlns:r="http://schemas.openxmlformats.org/officeDocument/2006/relationships" r:blip="">
                      <dgm:adjLst/>
                    </dgm:shape>
                    <dgm:presOf/>
                    <dgm:constrLst>
                      <dgm:constr type="alignOff" val="0.65"/>
                    </dgm:constrLst>
                  </dgm:if>
                  <dgm:if name="Name62"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3" func="var" arg="hierBranch" op="equ" val="init">
                    <dgm:choose name="Name64">
                      <dgm:if name="Name65" axis="des" func="maxDepth" op="lte" val="1">
                        <dgm:alg type="hierRoot">
                          <dgm:param type="hierAlign" val="tL"/>
                        </dgm:alg>
                        <dgm:shape xmlns:r="http://schemas.openxmlformats.org/officeDocument/2006/relationships" r:blip="">
                          <dgm:adjLst/>
                        </dgm:shape>
                        <dgm:presOf/>
                        <dgm:constrLst>
                          <dgm:constr type="alignOff" val="0.65"/>
                        </dgm:constrLst>
                      </dgm:if>
                      <dgm:else name="Name6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67">
                    <dgm:alg type="hierRoot"/>
                    <dgm:shape xmlns:r="http://schemas.openxmlformats.org/officeDocument/2006/relationships" r:blip="">
                      <dgm:adjLst/>
                    </dgm:shape>
                    <dgm:presOf/>
                    <dgm:constrLst>
                      <dgm:constr type="alignOff" val="0.65"/>
                    </dgm:constrLst>
                  </dgm:else>
                </dgm:choose>
                <dgm:layoutNode name="rootComposite2">
                  <dgm:alg type="composite"/>
                  <dgm:shape xmlns:r="http://schemas.openxmlformats.org/officeDocument/2006/relationships" r:blip="">
                    <dgm:adjLst/>
                  </dgm:shape>
                  <dgm:presOf axis="self" ptType="node" cnt="1"/>
                  <dgm:choose name="Name68">
                    <dgm:if name="Name69" func="var" arg="hierBranch" op="equ" val="init">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0" func="var" arg="hierBranch" op="equ" val="l">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1" func="var" arg="hierBranch" op="equ" val="r">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else name="Name72">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else>
                  </dgm:choose>
                  <dgm:layoutNode name="rootText2"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2" styleLbl="parChTrans1D1" moveWith="rootText2">
                    <dgm:alg type="sp"/>
                    <dgm:shape xmlns:r="http://schemas.openxmlformats.org/officeDocument/2006/relationships" type="arc" r:blip="" zOrderOff="-2">
                      <dgm:adjLst>
                        <dgm:adj idx="1" val="-140"/>
                        <dgm:adj idx="2" val="-40"/>
                      </dgm:adjLst>
                    </dgm:shape>
                    <dgm:presOf/>
                  </dgm:layoutNode>
                  <dgm:layoutNode name="bottomArc2" styleLbl="parChTrans1D1" moveWith="rootText2">
                    <dgm:alg type="sp"/>
                    <dgm:shape xmlns:r="http://schemas.openxmlformats.org/officeDocument/2006/relationships" type="arc" r:blip="" zOrderOff="-2">
                      <dgm:adjLst>
                        <dgm:adj idx="1" val="40"/>
                        <dgm:adj idx="2" val="140"/>
                      </dgm:adjLst>
                    </dgm:shape>
                    <dgm:presOf/>
                  </dgm:layoutNode>
                  <dgm:layoutNode name="topConnNode2" moveWith="rootText2">
                    <dgm:alg type="sp"/>
                    <dgm:shape xmlns:r="http://schemas.openxmlformats.org/officeDocument/2006/relationships" type="rect" r:blip="" hideGeom="1">
                      <dgm:adjLst/>
                    </dgm:shape>
                    <dgm:presOf axis="self" ptType="node" cnt="1"/>
                  </dgm:layoutNode>
                </dgm:layoutNode>
                <dgm:layoutNode name="hierChild4">
                  <dgm:choose name="Name73">
                    <dgm:if name="Name74" func="var" arg="hierBranch" op="equ" val="l">
                      <dgm:alg type="hierChild">
                        <dgm:param type="chAlign" val="r"/>
                        <dgm:param type="linDir" val="fromT"/>
                      </dgm:alg>
                    </dgm:if>
                    <dgm:if name="Name75" func="var" arg="hierBranch" op="equ" val="r">
                      <dgm:alg type="hierChild">
                        <dgm:param type="chAlign" val="l"/>
                        <dgm:param type="linDir" val="fromT"/>
                      </dgm:alg>
                    </dgm:if>
                    <dgm:if name="Name76" func="var" arg="hierBranch" op="equ" val="hang">
                      <dgm:choose name="Name77">
                        <dgm:if name="Name78" func="var" arg="dir" op="equ" val="norm">
                          <dgm:alg type="hierChild">
                            <dgm:param type="chAlign" val="l"/>
                            <dgm:param type="linDir" val="fromL"/>
                            <dgm:param type="secChAlign" val="t"/>
                            <dgm:param type="secLinDir" val="fromT"/>
                          </dgm:alg>
                        </dgm:if>
                        <dgm:else name="Name79">
                          <dgm:alg type="hierChild">
                            <dgm:param type="chAlign" val="l"/>
                            <dgm:param type="linDir" val="fromR"/>
                            <dgm:param type="secChAlign" val="t"/>
                            <dgm:param type="secLinDir" val="fromT"/>
                          </dgm:alg>
                        </dgm:else>
                      </dgm:choose>
                    </dgm:if>
                    <dgm:if name="Name80" func="var" arg="hierBranch" op="equ" val="std">
                      <dgm:choose name="Name81">
                        <dgm:if name="Name82" func="var" arg="dir" op="equ" val="norm">
                          <dgm:alg type="hierChild"/>
                        </dgm:if>
                        <dgm:else name="Name83">
                          <dgm:alg type="hierChild">
                            <dgm:param type="linDir" val="fromR"/>
                          </dgm:alg>
                        </dgm:else>
                      </dgm:choose>
                    </dgm:if>
                    <dgm:if name="Name84" func="var" arg="hierBranch" op="equ" val="init">
                      <dgm:choose name="Name85">
                        <dgm:if name="Name86" axis="des" func="maxDepth" op="lte" val="1">
                          <dgm:alg type="hierChild">
                            <dgm:param type="chAlign" val="l"/>
                            <dgm:param type="linDir" val="fromT"/>
                          </dgm:alg>
                        </dgm:if>
                        <dgm:else name="Name87">
                          <dgm:choose name="Name88">
                            <dgm:if name="Name89" func="var" arg="dir" op="equ" val="norm">
                              <dgm:alg type="hierChild"/>
                            </dgm:if>
                            <dgm:else name="Name90">
                              <dgm:alg type="hierChild">
                                <dgm:param type="linDir" val="fromR"/>
                              </dgm:alg>
                            </dgm:else>
                          </dgm:choose>
                        </dgm:else>
                      </dgm:choose>
                    </dgm:if>
                    <dgm:else name="Name91"/>
                  </dgm:choose>
                  <dgm:shape xmlns:r="http://schemas.openxmlformats.org/officeDocument/2006/relationships" r:blip="">
                    <dgm:adjLst/>
                  </dgm:shape>
                  <dgm:presOf/>
                  <dgm:forEach name="Name92" ref="rep2a"/>
                </dgm:layoutNode>
                <dgm:layoutNode name="hierChild5">
                  <dgm:choose name="Name93">
                    <dgm:if name="Name94" func="var" arg="dir" op="equ" val="norm">
                      <dgm:alg type="hierChild">
                        <dgm:param type="chAlign" val="l"/>
                        <dgm:param type="linDir" val="fromL"/>
                        <dgm:param type="secChAlign" val="t"/>
                        <dgm:param type="secLinDir" val="fromT"/>
                      </dgm:alg>
                    </dgm:if>
                    <dgm:else name="Name95">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96" ref="rep2b"/>
                </dgm:layoutNode>
              </dgm:layoutNode>
            </dgm:forEach>
          </dgm:layoutNode>
          <dgm:layoutNode name="hierChild3">
            <dgm:choose name="Name97">
              <dgm:if name="Name98" func="var" arg="dir" op="equ" val="norm">
                <dgm:alg type="hierChild">
                  <dgm:param type="chAlign" val="l"/>
                  <dgm:param type="linDir" val="fromL"/>
                  <dgm:param type="secChAlign" val="t"/>
                  <dgm:param type="secLinDir" val="fromT"/>
                </dgm:alg>
              </dgm:if>
              <dgm:else name="Name99">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rep2b" axis="ch" ptType="asst">
              <dgm:forEach name="Name100" axis="precedSib" ptType="parTrans" st="-1" cnt="1">
                <dgm:layoutNode name="Name101">
                  <dgm:choose name="Name102">
                    <dgm:if name="Name103" axis="self" func="depth" op="lte" val="2">
                      <dgm:alg type="conn">
                        <dgm:param type="connRout" val="bend"/>
                        <dgm:param type="dim" val="1D"/>
                        <dgm:param type="endSty" val="noArr"/>
                        <dgm:param type="begPts" val="bCtr"/>
                        <dgm:param type="endPts" val="bL bR"/>
                        <dgm:param type="srcNode" val="bottomArc1"/>
                        <dgm:param type="dstNode" val="topConnNode3"/>
                      </dgm:alg>
                    </dgm:if>
                    <dgm:if name="Name104" axis="par" ptType="asst" func="cnt" op="equ" val="1">
                      <dgm:alg type="conn">
                        <dgm:param type="connRout" val="bend"/>
                        <dgm:param type="dim" val="1D"/>
                        <dgm:param type="endSty" val="noArr"/>
                        <dgm:param type="begPts" val="bCtr"/>
                        <dgm:param type="endPts" val="bL bR"/>
                        <dgm:param type="srcNode" val="bottomArc3"/>
                        <dgm:param type="dstNode" val="topConnNode3"/>
                      </dgm:alg>
                    </dgm:if>
                    <dgm:else name="Name105">
                      <dgm:alg type="conn">
                        <dgm:param type="connRout" val="bend"/>
                        <dgm:param type="dim" val="1D"/>
                        <dgm:param type="endSty" val="noArr"/>
                        <dgm:param type="begPts" val="bCtr"/>
                        <dgm:param type="endPts" val="bL bR"/>
                        <dgm:param type="srcNode" val="bottomArc2"/>
                        <dgm:param type="dstNode" val="topConnNode3"/>
                      </dgm:alg>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3">
                <dgm:varLst>
                  <dgm:hierBranch val="init"/>
                </dgm:varLst>
                <dgm:choose name="Name106">
                  <dgm:if name="Name107" func="var" arg="hierBranch" op="equ" val="l">
                    <dgm:alg type="hierRoot">
                      <dgm:param type="hierAlign" val="tR"/>
                    </dgm:alg>
                    <dgm:shape xmlns:r="http://schemas.openxmlformats.org/officeDocument/2006/relationships" r:blip="">
                      <dgm:adjLst/>
                    </dgm:shape>
                    <dgm:presOf/>
                    <dgm:constrLst>
                      <dgm:constr type="alignOff" val="0.65"/>
                    </dgm:constrLst>
                  </dgm:if>
                  <dgm:if name="Name108" func="var" arg="hierBranch" op="equ" val="r">
                    <dgm:alg type="hierRoot">
                      <dgm:param type="hierAlign" val="tL"/>
                    </dgm:alg>
                    <dgm:shape xmlns:r="http://schemas.openxmlformats.org/officeDocument/2006/relationships" r:blip="">
                      <dgm:adjLst/>
                    </dgm:shape>
                    <dgm:presOf/>
                    <dgm:constrLst>
                      <dgm:constr type="alignOff" val="0.65"/>
                    </dgm:constrLst>
                  </dgm:if>
                  <dgm:if name="Name109" func="var" arg="hierBranch" op="equ" val="hang">
                    <dgm:alg type="hierRoot"/>
                    <dgm:shape xmlns:r="http://schemas.openxmlformats.org/officeDocument/2006/relationships" r:blip="">
                      <dgm:adjLst/>
                    </dgm:shape>
                    <dgm:presOf/>
                    <dgm:constrLst>
                      <dgm:constr type="alignOff" val="0.65"/>
                    </dgm:constrLst>
                  </dgm:if>
                  <dgm:if name="Name110"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1" func="var" arg="hierBranch" op="equ" val="init">
                    <dgm:choose name="Name112">
                      <dgm:if name="Name113" axis="des" func="maxDepth" op="lte" val="1">
                        <dgm:alg type="hierRoot">
                          <dgm:param type="hierAlign" val="tL"/>
                        </dgm:alg>
                        <dgm:shape xmlns:r="http://schemas.openxmlformats.org/officeDocument/2006/relationships" r:blip="">
                          <dgm:adjLst/>
                        </dgm:shape>
                        <dgm:presOf/>
                        <dgm:constrLst>
                          <dgm:constr type="alignOff" val="0.65"/>
                        </dgm:constrLst>
                      </dgm:if>
                      <dgm:else name="Name114">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15"/>
                </dgm:choose>
                <dgm:layoutNode name="rootComposite3">
                  <dgm:alg type="composite"/>
                  <dgm:shape xmlns:r="http://schemas.openxmlformats.org/officeDocument/2006/relationships" r:blip="">
                    <dgm:adjLst/>
                  </dgm:shape>
                  <dgm:presOf axis="self" ptType="node" cnt="1"/>
                  <dgm:choose name="Name116">
                    <dgm:if name="Name117" func="var" arg="hierBranch" op="equ" val="init">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8" func="var" arg="hierBranch" op="equ" val="l">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9" func="var" arg="hierBranch" op="equ" val="r">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else name="Name120">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else>
                  </dgm:choose>
                  <dgm:layoutNode name="rootText3"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3" styleLbl="parChTrans1D1" moveWith="rootText3">
                    <dgm:alg type="sp"/>
                    <dgm:shape xmlns:r="http://schemas.openxmlformats.org/officeDocument/2006/relationships" type="arc" r:blip="" zOrderOff="-2">
                      <dgm:adjLst>
                        <dgm:adj idx="1" val="-140"/>
                        <dgm:adj idx="2" val="-40"/>
                      </dgm:adjLst>
                    </dgm:shape>
                    <dgm:presOf/>
                  </dgm:layoutNode>
                  <dgm:layoutNode name="bottomArc3" styleLbl="parChTrans1D1" moveWith="rootText3">
                    <dgm:alg type="sp"/>
                    <dgm:shape xmlns:r="http://schemas.openxmlformats.org/officeDocument/2006/relationships" type="arc" r:blip="" zOrderOff="-2">
                      <dgm:adjLst>
                        <dgm:adj idx="1" val="40"/>
                        <dgm:adj idx="2" val="140"/>
                      </dgm:adjLst>
                    </dgm:shape>
                    <dgm:presOf/>
                  </dgm:layoutNode>
                  <dgm:layoutNode name="topConnNode3" moveWith="rootText3">
                    <dgm:alg type="sp"/>
                    <dgm:shape xmlns:r="http://schemas.openxmlformats.org/officeDocument/2006/relationships" type="rect" r:blip="" hideGeom="1">
                      <dgm:adjLst/>
                    </dgm:shape>
                    <dgm:presOf axis="self" ptType="node" cnt="1"/>
                  </dgm:layoutNode>
                </dgm:layoutNode>
                <dgm:layoutNode name="hierChild6">
                  <dgm:choose name="Name121">
                    <dgm:if name="Name122" func="var" arg="hierBranch" op="equ" val="l">
                      <dgm:alg type="hierChild">
                        <dgm:param type="chAlign" val="r"/>
                        <dgm:param type="linDir" val="fromT"/>
                      </dgm:alg>
                    </dgm:if>
                    <dgm:if name="Name123" func="var" arg="hierBranch" op="equ" val="r">
                      <dgm:alg type="hierChild">
                        <dgm:param type="chAlign" val="l"/>
                        <dgm:param type="linDir" val="fromT"/>
                      </dgm:alg>
                    </dgm:if>
                    <dgm:if name="Name124" func="var" arg="hierBranch" op="equ" val="hang">
                      <dgm:choose name="Name125">
                        <dgm:if name="Name126" func="var" arg="dir" op="equ" val="norm">
                          <dgm:alg type="hierChild">
                            <dgm:param type="chAlign" val="l"/>
                            <dgm:param type="linDir" val="fromL"/>
                            <dgm:param type="secChAlign" val="t"/>
                            <dgm:param type="secLinDir" val="fromT"/>
                          </dgm:alg>
                        </dgm:if>
                        <dgm:else name="Name127">
                          <dgm:alg type="hierChild">
                            <dgm:param type="chAlign" val="l"/>
                            <dgm:param type="linDir" val="fromR"/>
                            <dgm:param type="secChAlign" val="t"/>
                            <dgm:param type="secLinDir" val="fromT"/>
                          </dgm:alg>
                        </dgm:else>
                      </dgm:choose>
                    </dgm:if>
                    <dgm:if name="Name128" func="var" arg="hierBranch" op="equ" val="std">
                      <dgm:choose name="Name129">
                        <dgm:if name="Name130" func="var" arg="dir" op="equ" val="norm">
                          <dgm:alg type="hierChild"/>
                        </dgm:if>
                        <dgm:else name="Name131">
                          <dgm:alg type="hierChild">
                            <dgm:param type="linDir" val="fromR"/>
                          </dgm:alg>
                        </dgm:else>
                      </dgm:choose>
                    </dgm:if>
                    <dgm:if name="Name132" func="var" arg="hierBranch" op="equ" val="init">
                      <dgm:choose name="Name133">
                        <dgm:if name="Name134" axis="des" func="maxDepth" op="lte" val="1">
                          <dgm:alg type="hierChild">
                            <dgm:param type="chAlign" val="l"/>
                            <dgm:param type="linDir" val="fromT"/>
                          </dgm:alg>
                        </dgm:if>
                        <dgm:else name="Name135">
                          <dgm:alg type="hierChild"/>
                        </dgm:else>
                      </dgm:choose>
                    </dgm:if>
                    <dgm:else name="Name136"/>
                  </dgm:choose>
                  <dgm:shape xmlns:r="http://schemas.openxmlformats.org/officeDocument/2006/relationships" r:blip="">
                    <dgm:adjLst/>
                  </dgm:shape>
                  <dgm:presOf/>
                  <dgm:forEach name="Name137" ref="rep2a"/>
                </dgm:layoutNode>
                <dgm:layoutNode name="hierChild7">
                  <dgm:choose name="Name138">
                    <dgm:if name="Name139" func="var" arg="dir" op="equ" val="norm">
                      <dgm:alg type="hierChild">
                        <dgm:param type="chAlign" val="l"/>
                        <dgm:param type="linDir" val="fromL"/>
                        <dgm:param type="secChAlign" val="t"/>
                        <dgm:param type="secLinDir" val="fromT"/>
                      </dgm:alg>
                    </dgm:if>
                    <dgm:else name="Name140">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141" ref="rep2b"/>
                </dgm:layoutNode>
              </dgm:layoutNode>
            </dgm:forEach>
          </dgm:layoutNod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10.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20.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3#1">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1">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4">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3#5">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2#3">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2#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3d2#4">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3d3#6">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3d3#2">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0NoLn">
    <dgm:scene3d>
      <a:camera prst="orthographicFront">
        <a:rot lat="0" lon="0" rev="0"/>
      </a:camera>
      <a:lightRig rig="contrasting" dir="t">
        <a:rot lat="0" lon="0" rev="1200000"/>
      </a:lightRig>
    </dgm:scene3d>
    <dgm:sp3d contourW="19050" prstMaterial="metal">
      <a:bevelT w="88900" h="203200"/>
      <a:bevelB w="165100" h="254000"/>
    </dgm:sp3d>
    <dgm:txPr/>
    <dgm:style>
      <a:lnRef idx="1">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NoLn">
    <dgm:scene3d>
      <a:camera prst="orthographicFront">
        <a:rot lat="0" lon="0" rev="0"/>
      </a:camera>
      <a:lightRig rig="contrasting" dir="t">
        <a:rot lat="0" lon="0" rev="1200000"/>
      </a:lightRig>
    </dgm:scene3d>
    <dgm:sp3d contourW="19050" prstMaterial="metal">
      <a:bevelT w="88900" h="203200"/>
      <a:bevelB w="165100" h="254000"/>
    </dgm:sp3d>
    <dgm:txPr/>
    <dgm:style>
      <a:lnRef idx="1">
        <a:scrgbClr r="0" g="0" b="0"/>
      </a:lnRef>
      <a:fillRef idx="1">
        <a:scrgbClr r="0" g="0" b="0"/>
      </a:fillRef>
      <a:effectRef idx="2">
        <a:scrgbClr r="0" g="0" b="0"/>
      </a:effectRef>
      <a:fontRef idx="minor">
        <a:schemeClr val="lt1"/>
      </a:fontRef>
    </dgm:style>
  </dgm:styleLbl>
  <dgm:styleLbl name="ltNode1NoLn">
    <dgm:scene3d>
      <a:camera prst="orthographicFront">
        <a:rot lat="0" lon="0" rev="0"/>
      </a:camera>
      <a:lightRig rig="contrasting" dir="t">
        <a:rot lat="0" lon="0" rev="1200000"/>
      </a:lightRig>
    </dgm:scene3d>
    <dgm:sp3d contourW="19050" prstMaterial="metal">
      <a:bevelT w="88900" h="203200"/>
      <a:bevelB w="165100" h="254000"/>
    </dgm:sp3d>
    <dgm:txPr/>
    <dgm:style>
      <a:lnRef idx="1">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2NoLn">
    <dgm:scene3d>
      <a:camera prst="orthographicFront">
        <a:rot lat="0" lon="0" rev="0"/>
      </a:camera>
      <a:lightRig rig="contrasting" dir="t">
        <a:rot lat="0" lon="0" rev="1200000"/>
      </a:lightRig>
    </dgm:scene3d>
    <dgm:sp3d contourW="19050" prstMaterial="metal">
      <a:bevelT w="88900" h="203200"/>
      <a:bevelB w="165100" h="254000"/>
    </dgm:sp3d>
    <dgm:txPr/>
    <dgm:style>
      <a:lnRef idx="1">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NoLn">
    <dgm:scene3d>
      <a:camera prst="orthographicFront">
        <a:rot lat="0" lon="0" rev="0"/>
      </a:camera>
      <a:lightRig rig="contrasting" dir="t">
        <a:rot lat="0" lon="0" rev="1200000"/>
      </a:lightRig>
    </dgm:scene3d>
    <dgm:sp3d contourW="19050" prstMaterial="metal">
      <a:bevelT w="88900" h="203200"/>
      <a:bevelB w="165100" h="254000"/>
    </dgm:sp3d>
    <dgm:txPr/>
    <dgm:style>
      <a:lnRef idx="1">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NoLn">
    <dgm:scene3d>
      <a:camera prst="orthographicFront">
        <a:rot lat="0" lon="0" rev="0"/>
      </a:camera>
      <a:lightRig rig="contrasting" dir="t">
        <a:rot lat="0" lon="0" rev="1200000"/>
      </a:lightRig>
    </dgm:scene3d>
    <dgm:sp3d contourW="19050" prstMaterial="metal">
      <a:bevelT w="88900" h="203200"/>
      <a:bevelB w="165100" h="254000"/>
    </dgm:sp3d>
    <dgm:txPr/>
    <dgm:style>
      <a:lnRef idx="1">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1">
        <a:scrgbClr r="0" g="0" b="0"/>
      </a:lnRef>
      <a:fillRef idx="0">
        <a:scrgbClr r="0" g="0" b="0"/>
      </a:fillRef>
      <a:effectRef idx="0">
        <a:scrgbClr r="0" g="0" b="0"/>
      </a:effectRef>
      <a:fontRef idx="minor">
        <a:schemeClr val="lt1"/>
      </a:fontRef>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5#1">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3d3#7">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1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3d2#5">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3d2#6">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3d2#7">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0.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0.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3185348"/>
      </p:ext>
    </p:extLst>
  </p:cSld>
  <p:clrMap bg1="lt1" tx1="dk1" bg2="lt2" tx2="dk2" accent1="accent1" accent2="accent2" accent3="accent3" accent4="accent4" accent5="accent5" accent6="accent6" hlink="hlink" folHlink="folHlink"/>
  <p:hf sldNum="0" hdr="0" ftr="0" dt="0"/>
</p:handoutMaster>
</file>

<file path=ppt/ink/ink1.xml><?xml version="1.0" encoding="utf-8"?>
<inkml:ink xmlns:inkml="http://www.w3.org/2003/InkML">
  <inkml:definitions>
    <inkml:context xml:id="ctx0">
      <inkml:inkSource xml:id="inkSrc0">
        <inkml:traceFormat>
          <inkml:channel name="X" type="integer" max="34422" units="cm"/>
          <inkml:channel name="Y" type="integer" max="19362" units="cm"/>
          <inkml:channel name="F" type="integer" max="4095" units="dev"/>
          <inkml:channel name="T" type="integer" max="2.14748E9" units="dev"/>
        </inkml:traceFormat>
        <inkml:channelProperties>
          <inkml:channelProperty channel="X" name="resolution" value="1000.05811" units="1/cm"/>
          <inkml:channelProperty channel="Y" name="resolution" value="1000.10333" units="1/cm"/>
          <inkml:channelProperty channel="F" name="resolution" value="0" units="1/dev"/>
          <inkml:channelProperty channel="T" name="resolution" value="1" units="1/dev"/>
        </inkml:channelProperties>
      </inkml:inkSource>
      <inkml:timestamp xml:id="ts0" timeString="2021-02-15T14:01:45.564"/>
    </inkml:context>
    <inkml:brush xml:id="br0">
      <inkml:brushProperty name="width" value="0.11667" units="cm"/>
      <inkml:brushProperty name="height" value="0.11667" units="cm"/>
      <inkml:brushProperty name="fitToCurve" value="1"/>
    </inkml:brush>
  </inkml:definitions>
  <inkml:trace contextRef="#ctx0" brushRef="#br0">1551 378 414 0,'-3'-8'158'0,"1"7"-145"0,1-7-49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Rot="1" noChangeAspect="1" noChangeArrowheads="1" noTextEdit="1"/>
          </p:cNvSpPr>
          <p:nvPr>
            <p:ph type="sldImg" idx="2"/>
          </p:nvPr>
        </p:nvSpPr>
        <p:spPr bwMode="auto">
          <a:xfrm>
            <a:off x="3243263" y="514350"/>
            <a:ext cx="3386137" cy="2540000"/>
          </a:xfrm>
          <a:prstGeom prst="rect">
            <a:avLst/>
          </a:prstGeom>
          <a:noFill/>
          <a:ln w="12700">
            <a:solidFill>
              <a:schemeClr val="tx1"/>
            </a:solidFill>
            <a:miter lim="800000"/>
            <a:headEnd/>
            <a:tailEnd/>
          </a:ln>
          <a:effectLst/>
        </p:spPr>
      </p:sp>
      <p:sp>
        <p:nvSpPr>
          <p:cNvPr id="2051" name="Rectangle 3"/>
          <p:cNvSpPr>
            <a:spLocks noGrp="1" noChangeArrowheads="1"/>
          </p:cNvSpPr>
          <p:nvPr>
            <p:ph type="body" sz="quarter" idx="3"/>
          </p:nvPr>
        </p:nvSpPr>
        <p:spPr bwMode="auto">
          <a:xfrm>
            <a:off x="1316357" y="3228895"/>
            <a:ext cx="7239953" cy="3058954"/>
          </a:xfrm>
          <a:prstGeom prst="rect">
            <a:avLst/>
          </a:prstGeom>
          <a:noFill/>
          <a:ln w="12700">
            <a:noFill/>
            <a:miter lim="800000"/>
            <a:headEnd/>
            <a:tailEnd/>
          </a:ln>
          <a:effectLst/>
        </p:spPr>
        <p:txBody>
          <a:bodyPr vert="horz" wrap="square" lIns="90487" tIns="44450" rIns="90487" bIns="44450" numCol="1" anchor="t" anchorCtr="0" compatLnSpc="1">
            <a:prstTxWarp prst="textNoShape">
              <a:avLst/>
            </a:prstTxWarp>
          </a:bodyPr>
          <a:lstStyle/>
          <a:p>
            <a:pPr lvl="0"/>
            <a:r>
              <a:rPr lang="en-US"/>
              <a:t>Click to edit Master notes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9071965"/>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charset="0"/>
        <a:ea typeface="+mn-ea"/>
        <a:cs typeface="+mn-cs"/>
      </a:defRPr>
    </a:lvl1pPr>
    <a:lvl2pPr marL="457200" algn="l" rtl="0" eaLnBrk="0" fontAlgn="base" hangingPunct="0">
      <a:spcBef>
        <a:spcPct val="30000"/>
      </a:spcBef>
      <a:spcAft>
        <a:spcPct val="0"/>
      </a:spcAft>
      <a:defRPr sz="1200" kern="1200">
        <a:solidFill>
          <a:schemeClr val="tx1"/>
        </a:solidFill>
        <a:latin typeface="Times" charset="0"/>
        <a:ea typeface="+mn-ea"/>
        <a:cs typeface="+mn-cs"/>
      </a:defRPr>
    </a:lvl2pPr>
    <a:lvl3pPr marL="914400" algn="l" rtl="0" eaLnBrk="0" fontAlgn="base" hangingPunct="0">
      <a:spcBef>
        <a:spcPct val="30000"/>
      </a:spcBef>
      <a:spcAft>
        <a:spcPct val="0"/>
      </a:spcAft>
      <a:defRPr sz="1200" kern="1200">
        <a:solidFill>
          <a:schemeClr val="tx1"/>
        </a:solidFill>
        <a:latin typeface="Times" charset="0"/>
        <a:ea typeface="+mn-ea"/>
        <a:cs typeface="+mn-cs"/>
      </a:defRPr>
    </a:lvl3pPr>
    <a:lvl4pPr marL="1371600" algn="l" rtl="0" eaLnBrk="0" fontAlgn="base" hangingPunct="0">
      <a:spcBef>
        <a:spcPct val="30000"/>
      </a:spcBef>
      <a:spcAft>
        <a:spcPct val="0"/>
      </a:spcAft>
      <a:defRPr sz="1200" kern="1200">
        <a:solidFill>
          <a:schemeClr val="tx1"/>
        </a:solidFill>
        <a:latin typeface="Times" charset="0"/>
        <a:ea typeface="+mn-ea"/>
        <a:cs typeface="+mn-cs"/>
      </a:defRPr>
    </a:lvl4pPr>
    <a:lvl5pPr marL="1828800" algn="l" rtl="0" eaLnBrk="0" fontAlgn="base" hangingPunct="0">
      <a:spcBef>
        <a:spcPct val="30000"/>
      </a:spcBef>
      <a:spcAft>
        <a:spcPct val="0"/>
      </a:spcAft>
      <a:defRPr sz="1200" kern="1200">
        <a:solidFill>
          <a:schemeClr val="tx1"/>
        </a:solidFill>
        <a:latin typeface="Times"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 Target="../slides/slide37.xml"/><Relationship Id="rId1" Type="http://schemas.openxmlformats.org/officeDocument/2006/relationships/notesMaster" Target="../notesMasters/notesMaster1.xml"/><Relationship Id="rId4" Type="http://schemas.openxmlformats.org/officeDocument/2006/relationships/image" Target="../media/image27.wmf"/></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2"/>
          <p:cNvSpPr>
            <a:spLocks noGrp="1" noRot="1" noChangeAspect="1" noChangeArrowheads="1" noTextEdit="1"/>
          </p:cNvSpPr>
          <p:nvPr>
            <p:ph type="sldImg"/>
          </p:nvPr>
        </p:nvSpPr>
        <p:spPr>
          <a:xfrm>
            <a:off x="3243263" y="514350"/>
            <a:ext cx="3386137" cy="2540000"/>
          </a:xfrm>
          <a:ln/>
        </p:spPr>
      </p:sp>
      <p:sp>
        <p:nvSpPr>
          <p:cNvPr id="3686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502910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Tree>
    <p:extLst>
      <p:ext uri="{BB962C8B-B14F-4D97-AF65-F5344CB8AC3E}">
        <p14:creationId xmlns:p14="http://schemas.microsoft.com/office/powerpoint/2010/main" val="1325471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Rot="1" noChangeAspect="1" noChangeArrowheads="1" noTextEdit="1"/>
          </p:cNvSpPr>
          <p:nvPr>
            <p:ph type="sldImg"/>
          </p:nvPr>
        </p:nvSpPr>
        <p:spPr>
          <a:xfrm>
            <a:off x="3243263" y="514350"/>
            <a:ext cx="3386137" cy="2540000"/>
          </a:xfrm>
          <a:ln/>
        </p:spPr>
      </p:sp>
      <p:sp>
        <p:nvSpPr>
          <p:cNvPr id="379907" name="Rectangle 3"/>
          <p:cNvSpPr>
            <a:spLocks noGrp="1" noChangeArrowheads="1"/>
          </p:cNvSpPr>
          <p:nvPr>
            <p:ph type="body" idx="1"/>
          </p:nvPr>
        </p:nvSpPr>
        <p:spPr/>
        <p:txBody>
          <a:bodyPr/>
          <a:lstStyle/>
          <a:p>
            <a:endParaRPr lang="en-US" dirty="0"/>
          </a:p>
          <a:p>
            <a:pPr lvl="1"/>
            <a:endParaRPr lang="en-US" dirty="0"/>
          </a:p>
        </p:txBody>
      </p:sp>
    </p:spTree>
    <p:extLst>
      <p:ext uri="{BB962C8B-B14F-4D97-AF65-F5344CB8AC3E}">
        <p14:creationId xmlns:p14="http://schemas.microsoft.com/office/powerpoint/2010/main" val="12782560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p:cNvSpPr>
            <a:spLocks noGrp="1" noRot="1" noChangeAspect="1" noChangeArrowheads="1" noTextEdit="1"/>
          </p:cNvSpPr>
          <p:nvPr>
            <p:ph type="sldImg"/>
          </p:nvPr>
        </p:nvSpPr>
        <p:spPr>
          <a:xfrm>
            <a:off x="3243263" y="514350"/>
            <a:ext cx="3386137" cy="2540000"/>
          </a:xfrm>
          <a:ln/>
        </p:spPr>
      </p:sp>
      <p:sp>
        <p:nvSpPr>
          <p:cNvPr id="376835" name="Rectangle 3"/>
          <p:cNvSpPr>
            <a:spLocks noGrp="1" noChangeArrowheads="1"/>
          </p:cNvSpPr>
          <p:nvPr>
            <p:ph type="body" idx="1"/>
          </p:nvPr>
        </p:nvSpPr>
        <p:spPr/>
        <p:txBody>
          <a:bodyPr/>
          <a:lstStyle/>
          <a:p>
            <a:r>
              <a:rPr lang="en-US" dirty="0"/>
              <a:t>It is a principle that is often violated because we often talk about discount rates and </a:t>
            </a:r>
            <a:r>
              <a:rPr lang="en-US" dirty="0" err="1"/>
              <a:t>cashflows</a:t>
            </a:r>
            <a:r>
              <a:rPr lang="en-US" dirty="0"/>
              <a:t> loosely and costs of capital and equity interchangeably. We need to be more precise about words like free cash flow (to whom? The firm? Equity?) and discount rates to avoid these problems.</a:t>
            </a:r>
          </a:p>
          <a:p>
            <a:endParaRPr lang="en-US" dirty="0"/>
          </a:p>
          <a:p>
            <a:endParaRPr lang="en-US" dirty="0"/>
          </a:p>
          <a:p>
            <a:r>
              <a:rPr lang="en-US" dirty="0"/>
              <a:t>While discount rates are a critical ingredient in discounted </a:t>
            </a:r>
            <a:r>
              <a:rPr lang="en-US" dirty="0" err="1"/>
              <a:t>cashflow</a:t>
            </a:r>
            <a:r>
              <a:rPr lang="en-US" dirty="0"/>
              <a:t> valuation, the most significant errors in valuation are often the result of failures to estimate cash flows correctly….</a:t>
            </a:r>
          </a:p>
          <a:p>
            <a:r>
              <a:rPr lang="en-US" dirty="0"/>
              <a:t>As companies increasingly become global, and multiple listings abound (Royal Dutch has six equity listings in different markets) the consistently principle becomes very important. The currency used in estimating cash flows should also be the currency in which you estimate discount rates - Euro discount rates for Euro </a:t>
            </a:r>
            <a:r>
              <a:rPr lang="en-US" dirty="0" err="1"/>
              <a:t>cashflows</a:t>
            </a:r>
            <a:r>
              <a:rPr lang="en-US" dirty="0"/>
              <a:t> and peso discount rates for peso cash flows.</a:t>
            </a:r>
          </a:p>
          <a:p>
            <a:r>
              <a:rPr lang="en-US" dirty="0"/>
              <a:t>Imagine</a:t>
            </a:r>
            <a:r>
              <a:rPr lang="en-US" baseline="0" dirty="0"/>
              <a:t> the example</a:t>
            </a:r>
            <a:r>
              <a:rPr lang="en-US" dirty="0"/>
              <a:t> a valuation of a Mexican company, where the </a:t>
            </a:r>
            <a:r>
              <a:rPr lang="en-US" dirty="0" err="1"/>
              <a:t>cashflows</a:t>
            </a:r>
            <a:r>
              <a:rPr lang="en-US" dirty="0"/>
              <a:t> are in nominal pesos but the discount rate used is the dollar cost of capital of a U.S. acquirer…. As a result, the value would be inflated. (A</a:t>
            </a:r>
            <a:r>
              <a:rPr lang="en-US" baseline="0" dirty="0"/>
              <a:t> discussion of inflation can be found in the introductory notes and the supporting files).</a:t>
            </a:r>
          </a:p>
          <a:p>
            <a:endParaRPr lang="en-GB" baseline="0" dirty="0"/>
          </a:p>
          <a:p>
            <a:endParaRPr lang="en-GB" baseline="0" dirty="0"/>
          </a:p>
          <a:p>
            <a:endParaRPr lang="en-GB" baseline="0" dirty="0"/>
          </a:p>
          <a:p>
            <a:endParaRPr lang="en-GB" baseline="0" dirty="0"/>
          </a:p>
          <a:p>
            <a:r>
              <a:rPr lang="en-US" dirty="0"/>
              <a:t>In general, you should maintain consistency in your definition of debt. If you choose to call something debt in your cost of capital calculation - operating leases, for instance - you should subtract the item out to get to the value of equity.</a:t>
            </a:r>
          </a:p>
          <a:p>
            <a:r>
              <a:rPr lang="en-US" dirty="0"/>
              <a:t>If you do it right, you should get the same value for equity using both approaches. (The requirement is that the debt ratio assumptions should be the same in both approaches)</a:t>
            </a:r>
          </a:p>
          <a:p>
            <a:endParaRPr lang="en-US" dirty="0"/>
          </a:p>
          <a:p>
            <a:endParaRPr lang="en-US" dirty="0"/>
          </a:p>
          <a:p>
            <a:endParaRPr lang="en-US" dirty="0"/>
          </a:p>
          <a:p>
            <a:r>
              <a:rPr lang="en-US" dirty="0"/>
              <a:t>The four pillars of value:</a:t>
            </a:r>
          </a:p>
          <a:p>
            <a:pPr lvl="1"/>
            <a:r>
              <a:rPr lang="en-US" dirty="0" err="1"/>
              <a:t>Cashflows</a:t>
            </a:r>
            <a:endParaRPr lang="en-US" dirty="0"/>
          </a:p>
          <a:p>
            <a:pPr lvl="1"/>
            <a:r>
              <a:rPr lang="en-US" dirty="0"/>
              <a:t>Potential for high growth</a:t>
            </a:r>
          </a:p>
          <a:p>
            <a:pPr lvl="1"/>
            <a:r>
              <a:rPr lang="en-US" dirty="0"/>
              <a:t>Length of the high growth period (before the firm starts growing at the same rate as the economy)</a:t>
            </a:r>
          </a:p>
          <a:p>
            <a:pPr lvl="1"/>
            <a:r>
              <a:rPr lang="en-US" dirty="0"/>
              <a:t>Discount rate</a:t>
            </a:r>
          </a:p>
          <a:p>
            <a:endParaRPr lang="en-US" dirty="0"/>
          </a:p>
          <a:p>
            <a:r>
              <a:rPr lang="en-GB" u="sng" dirty="0"/>
              <a:t>Very</a:t>
            </a:r>
            <a:r>
              <a:rPr lang="en-GB" u="sng" baseline="0" dirty="0"/>
              <a:t> </a:t>
            </a:r>
            <a:r>
              <a:rPr lang="en-GB" u="sng" baseline="0" dirty="0" err="1"/>
              <a:t>very</a:t>
            </a:r>
            <a:r>
              <a:rPr lang="en-GB" u="sng" baseline="0" dirty="0"/>
              <a:t> important (things that we will discuss a lot in the future):</a:t>
            </a:r>
            <a:endParaRPr lang="en-US" u="sng" dirty="0"/>
          </a:p>
          <a:p>
            <a:endParaRPr lang="en-US" dirty="0"/>
          </a:p>
          <a:p>
            <a:r>
              <a:rPr lang="en-US" dirty="0"/>
              <a:t>Note the variations and the need for consistency:</a:t>
            </a:r>
          </a:p>
          <a:p>
            <a:pPr lvl="1"/>
            <a:r>
              <a:rPr lang="en-US" dirty="0"/>
              <a:t>With equity -&gt; </a:t>
            </a:r>
            <a:r>
              <a:rPr lang="en-US" dirty="0" err="1"/>
              <a:t>Cashflows</a:t>
            </a:r>
            <a:r>
              <a:rPr lang="en-US" dirty="0"/>
              <a:t> to equity - &gt; Growth rate in net income -&gt; Discount at the cost of equity</a:t>
            </a:r>
          </a:p>
          <a:p>
            <a:pPr lvl="1"/>
            <a:r>
              <a:rPr lang="en-US" dirty="0"/>
              <a:t>With firm -&gt; </a:t>
            </a:r>
            <a:r>
              <a:rPr lang="en-US" dirty="0" err="1"/>
              <a:t>Cashflows</a:t>
            </a:r>
            <a:r>
              <a:rPr lang="en-US" dirty="0"/>
              <a:t> to firm - &gt; Growth rate in operating income -&gt; Discount at the cost of capital</a:t>
            </a:r>
          </a:p>
          <a:p>
            <a:pPr lvl="1"/>
            <a:endParaRPr lang="en-US" dirty="0"/>
          </a:p>
          <a:p>
            <a:pPr lvl="1"/>
            <a:r>
              <a:rPr lang="en-US" dirty="0"/>
              <a:t>A special comment should refer to how we measure cash flows to the firm.</a:t>
            </a:r>
            <a:r>
              <a:rPr lang="en-US" baseline="0" dirty="0"/>
              <a:t> Usually, we focus on cash flows from operating assets (EBIT or Operating income). This does not include cash. Consequently, in the end we need to add cash to the value of operating assets in order to find the value of the firm (entire firm). From this value, we take out the market value of debt, to reach the market value of Equity (Residual claim).</a:t>
            </a:r>
            <a:endParaRPr lang="en-US" dirty="0"/>
          </a:p>
          <a:p>
            <a:pPr lvl="1">
              <a:buFontTx/>
              <a:buNone/>
            </a:pPr>
            <a:endParaRPr lang="en-US" dirty="0"/>
          </a:p>
          <a:p>
            <a:endParaRPr lang="en-US" dirty="0"/>
          </a:p>
          <a:p>
            <a:endParaRPr lang="en-US" dirty="0"/>
          </a:p>
        </p:txBody>
      </p:sp>
    </p:spTree>
    <p:extLst>
      <p:ext uri="{BB962C8B-B14F-4D97-AF65-F5344CB8AC3E}">
        <p14:creationId xmlns:p14="http://schemas.microsoft.com/office/powerpoint/2010/main" val="2357337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2"/>
          <p:cNvSpPr>
            <a:spLocks noGrp="1" noRot="1" noChangeAspect="1" noChangeArrowheads="1" noTextEdit="1"/>
          </p:cNvSpPr>
          <p:nvPr>
            <p:ph type="sldImg"/>
          </p:nvPr>
        </p:nvSpPr>
        <p:spPr>
          <a:xfrm>
            <a:off x="3243263" y="514350"/>
            <a:ext cx="3386137" cy="2540000"/>
          </a:xfrm>
          <a:ln/>
        </p:spPr>
      </p:sp>
      <p:sp>
        <p:nvSpPr>
          <p:cNvPr id="374787" name="Rectangle 3"/>
          <p:cNvSpPr>
            <a:spLocks noGrp="1" noChangeArrowheads="1"/>
          </p:cNvSpPr>
          <p:nvPr>
            <p:ph type="body" idx="1"/>
          </p:nvPr>
        </p:nvSpPr>
        <p:spPr/>
        <p:txBody>
          <a:bodyPr/>
          <a:lstStyle/>
          <a:p>
            <a:r>
              <a:rPr lang="en-US"/>
              <a:t>Treat these cashflows as  given. In the pages to come, we will talk about estimating these cashflows in detail. Note that we are assuming a perpetual bond with fixed interest payments in each period.</a:t>
            </a:r>
          </a:p>
          <a:p>
            <a:r>
              <a:rPr lang="en-US"/>
              <a:t>The costs of equity and debt are also given. </a:t>
            </a:r>
          </a:p>
        </p:txBody>
      </p:sp>
    </p:spTree>
    <p:extLst>
      <p:ext uri="{BB962C8B-B14F-4D97-AF65-F5344CB8AC3E}">
        <p14:creationId xmlns:p14="http://schemas.microsoft.com/office/powerpoint/2010/main" val="966581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Rectangle 2"/>
          <p:cNvSpPr>
            <a:spLocks noGrp="1" noRot="1" noChangeAspect="1" noChangeArrowheads="1" noTextEdit="1"/>
          </p:cNvSpPr>
          <p:nvPr>
            <p:ph type="sldImg"/>
          </p:nvPr>
        </p:nvSpPr>
        <p:spPr>
          <a:xfrm>
            <a:off x="3243263" y="514350"/>
            <a:ext cx="3386137" cy="2540000"/>
          </a:xfrm>
          <a:ln/>
        </p:spPr>
      </p:sp>
      <p:sp>
        <p:nvSpPr>
          <p:cNvPr id="378883" name="Rectangle 3"/>
          <p:cNvSpPr>
            <a:spLocks noGrp="1" noChangeArrowheads="1"/>
          </p:cNvSpPr>
          <p:nvPr>
            <p:ph type="body" idx="1"/>
          </p:nvPr>
        </p:nvSpPr>
        <p:spPr/>
        <p:txBody>
          <a:bodyPr/>
          <a:lstStyle/>
          <a:p>
            <a:r>
              <a:rPr lang="en-US"/>
              <a:t>The process is not always sequential. It may seem irrational to pick the DCF model after you have estimated the inputs, but you have to get a sense of the cash flows and growth potential before you pick a model.</a:t>
            </a:r>
          </a:p>
        </p:txBody>
      </p:sp>
    </p:spTree>
    <p:extLst>
      <p:ext uri="{BB962C8B-B14F-4D97-AF65-F5344CB8AC3E}">
        <p14:creationId xmlns:p14="http://schemas.microsoft.com/office/powerpoint/2010/main" val="17746321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2104559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Rot="1" noChangeAspect="1" noChangeArrowheads="1" noTextEdit="1"/>
          </p:cNvSpPr>
          <p:nvPr>
            <p:ph type="sldImg"/>
          </p:nvPr>
        </p:nvSpPr>
        <p:spPr>
          <a:xfrm>
            <a:off x="3243263" y="514350"/>
            <a:ext cx="3386137" cy="2540000"/>
          </a:xfrm>
          <a:ln/>
        </p:spPr>
      </p:sp>
      <p:sp>
        <p:nvSpPr>
          <p:cNvPr id="3840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0519879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a:t>
            </a:r>
            <a:r>
              <a:rPr lang="en-GB" baseline="0" dirty="0"/>
              <a:t> the fundamental idea in corporate finance. The cost of capital is not defined by you, but by what others think about you. Further, what others believe about you depends on comparable assets.</a:t>
            </a:r>
            <a:endParaRPr lang="en-GB" dirty="0"/>
          </a:p>
        </p:txBody>
      </p:sp>
    </p:spTree>
    <p:extLst>
      <p:ext uri="{BB962C8B-B14F-4D97-AF65-F5344CB8AC3E}">
        <p14:creationId xmlns:p14="http://schemas.microsoft.com/office/powerpoint/2010/main" val="2310943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2"/>
          <p:cNvSpPr>
            <a:spLocks noGrp="1" noRot="1" noChangeAspect="1" noChangeArrowheads="1"/>
          </p:cNvSpPr>
          <p:nvPr>
            <p:ph type="sldImg"/>
          </p:nvPr>
        </p:nvSpPr>
        <p:spPr>
          <a:xfrm>
            <a:off x="3243263" y="514350"/>
            <a:ext cx="3386137" cy="2540000"/>
          </a:xfrm>
          <a:solidFill>
            <a:srgbClr val="FFFFFF"/>
          </a:solidFill>
          <a:ln/>
        </p:spPr>
      </p:sp>
      <p:sp>
        <p:nvSpPr>
          <p:cNvPr id="156674" name="Rectangle 3"/>
          <p:cNvSpPr>
            <a:spLocks noGrp="1" noChangeArrowheads="1"/>
          </p:cNvSpPr>
          <p:nvPr>
            <p:ph type="body" idx="1"/>
          </p:nvPr>
        </p:nvSpPr>
        <p:spPr>
          <a:solidFill>
            <a:srgbClr val="FFFFFF"/>
          </a:solidFill>
          <a:ln>
            <a:solidFill>
              <a:srgbClr val="000000"/>
            </a:solidFill>
          </a:ln>
        </p:spPr>
        <p:txBody>
          <a:bodyPr/>
          <a:lstStyle/>
          <a:p>
            <a:r>
              <a:rPr lang="en-US" dirty="0">
                <a:latin typeface="Times" pitchFamily="-84" charset="0"/>
              </a:rPr>
              <a:t>Note that risk is neither good nor bad. It is a combination of danger and opportunity - you cannot have one without the other. Consequently, risk is neither something to be avoided nor sought out but carefully balanced. Good business avoid some risks, let others pass through to their investors and actively seek out still others.</a:t>
            </a:r>
          </a:p>
          <a:p>
            <a:r>
              <a:rPr lang="en-US" dirty="0">
                <a:latin typeface="Times" pitchFamily="-84" charset="0"/>
              </a:rPr>
              <a:t>When businesses want opportunity (higher returns), they have to live with the higher risk.</a:t>
            </a:r>
          </a:p>
          <a:p>
            <a:r>
              <a:rPr lang="en-US" dirty="0">
                <a:latin typeface="Times" pitchFamily="-84" charset="0"/>
              </a:rPr>
              <a:t>Any sales pitch that offers returns without risk is a pipe dream. </a:t>
            </a:r>
          </a:p>
          <a:p>
            <a:pPr>
              <a:buFontTx/>
              <a:buChar char="-"/>
            </a:pPr>
            <a:r>
              <a:rPr lang="en-US" dirty="0">
                <a:latin typeface="Times" pitchFamily="-84" charset="0"/>
              </a:rPr>
              <a:t>Bob Citron, treasurer of Orange County (CA), after he lost a chunk of the county</a:t>
            </a:r>
            <a:r>
              <a:rPr lang="ja-JP" altLang="en-US" dirty="0">
                <a:latin typeface="Times" pitchFamily="-84" charset="0"/>
              </a:rPr>
              <a:t>’</a:t>
            </a:r>
            <a:r>
              <a:rPr lang="en-US" altLang="ja-JP" dirty="0">
                <a:latin typeface="Times" pitchFamily="-84" charset="0"/>
              </a:rPr>
              <a:t>s pension fund money after investing in interest rate derivatives claimed that he was </a:t>
            </a:r>
            <a:r>
              <a:rPr lang="ja-JP" altLang="en-US" dirty="0">
                <a:latin typeface="Times" pitchFamily="-84" charset="0"/>
              </a:rPr>
              <a:t>“</a:t>
            </a:r>
            <a:r>
              <a:rPr lang="en-US" altLang="ja-JP" dirty="0">
                <a:latin typeface="Times" pitchFamily="-84" charset="0"/>
              </a:rPr>
              <a:t>not a finance person</a:t>
            </a:r>
            <a:r>
              <a:rPr lang="ja-JP" altLang="en-US" dirty="0">
                <a:latin typeface="Times" pitchFamily="-84" charset="0"/>
              </a:rPr>
              <a:t>”</a:t>
            </a:r>
            <a:r>
              <a:rPr lang="en-US" altLang="ja-JP" dirty="0">
                <a:latin typeface="Times" pitchFamily="-84" charset="0"/>
              </a:rPr>
              <a:t> and that Merrill</a:t>
            </a:r>
            <a:r>
              <a:rPr lang="ja-JP" altLang="en-US" dirty="0">
                <a:latin typeface="Times" pitchFamily="-84" charset="0"/>
              </a:rPr>
              <a:t>’</a:t>
            </a:r>
            <a:r>
              <a:rPr lang="en-US" altLang="ja-JP" dirty="0">
                <a:latin typeface="Times" pitchFamily="-84" charset="0"/>
              </a:rPr>
              <a:t>s market strategist (Charlie Clough) had told him he could make </a:t>
            </a:r>
            <a:r>
              <a:rPr lang="ja-JP" altLang="en-US" dirty="0">
                <a:latin typeface="Times" pitchFamily="-84" charset="0"/>
              </a:rPr>
              <a:t>“</a:t>
            </a:r>
            <a:r>
              <a:rPr lang="en-US" altLang="ja-JP" dirty="0">
                <a:latin typeface="Times" pitchFamily="-84" charset="0"/>
              </a:rPr>
              <a:t>15% with no risk</a:t>
            </a:r>
            <a:r>
              <a:rPr lang="ja-JP" altLang="en-US" dirty="0">
                <a:latin typeface="Times" pitchFamily="-84" charset="0"/>
              </a:rPr>
              <a:t>”</a:t>
            </a:r>
            <a:r>
              <a:rPr lang="en-US" altLang="ja-JP" dirty="0">
                <a:latin typeface="Times" pitchFamily="-84" charset="0"/>
              </a:rPr>
              <a:t>.</a:t>
            </a:r>
          </a:p>
          <a:p>
            <a:pPr>
              <a:buFontTx/>
              <a:buChar char="-"/>
            </a:pPr>
            <a:r>
              <a:rPr lang="en-US" dirty="0">
                <a:latin typeface="Times" pitchFamily="-84" charset="0"/>
              </a:rPr>
              <a:t>Many prominent (and intelligent) people invested with Bernie Madoff because he promised them (through third parties) that he could deliver 8% more than the treasury bill rate, guaranteed. (He was called the Jewish </a:t>
            </a:r>
            <a:r>
              <a:rPr lang="en-US" dirty="0" err="1">
                <a:latin typeface="Times" pitchFamily="-84" charset="0"/>
              </a:rPr>
              <a:t>T.Bill</a:t>
            </a:r>
            <a:r>
              <a:rPr lang="en-US" dirty="0">
                <a:latin typeface="Times" pitchFamily="-84" charset="0"/>
              </a:rPr>
              <a:t>). One investor, interviewed by the NY Times said, </a:t>
            </a:r>
            <a:r>
              <a:rPr lang="ja-JP" altLang="en-US" dirty="0">
                <a:latin typeface="Times" pitchFamily="-84" charset="0"/>
              </a:rPr>
              <a:t>“</a:t>
            </a:r>
            <a:r>
              <a:rPr lang="en-US" altLang="ja-JP" dirty="0">
                <a:latin typeface="Times" pitchFamily="-84" charset="0"/>
              </a:rPr>
              <a:t>I really did not understand what he was doing, but he said was going to do something with calls, something with puts and earn 12% every year. It sounded plausible (and all my friends were investing with him too). </a:t>
            </a:r>
            <a:endParaRPr lang="en-US" dirty="0">
              <a:latin typeface="Times" pitchFamily="-84" charset="0"/>
            </a:endParaRPr>
          </a:p>
        </p:txBody>
      </p:sp>
    </p:spTree>
    <p:extLst>
      <p:ext uri="{BB962C8B-B14F-4D97-AF65-F5344CB8AC3E}">
        <p14:creationId xmlns:p14="http://schemas.microsoft.com/office/powerpoint/2010/main" val="1784706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What</a:t>
            </a:r>
            <a:r>
              <a:rPr lang="en-GB" baseline="0" dirty="0"/>
              <a:t> is investment risk?</a:t>
            </a:r>
          </a:p>
          <a:p>
            <a:endParaRPr lang="en-GB" baseline="0" dirty="0"/>
          </a:p>
          <a:p>
            <a:pPr eaLnBrk="1" hangingPunct="1"/>
            <a:r>
              <a:rPr lang="en-US" sz="3600" dirty="0"/>
              <a:t>Two types of investment risk</a:t>
            </a:r>
          </a:p>
          <a:p>
            <a:pPr lvl="1" eaLnBrk="1" hangingPunct="1"/>
            <a:r>
              <a:rPr lang="en-US" sz="3200" dirty="0">
                <a:solidFill>
                  <a:schemeClr val="hlink"/>
                </a:solidFill>
              </a:rPr>
              <a:t>Stand-alone risk</a:t>
            </a:r>
          </a:p>
          <a:p>
            <a:pPr lvl="1" eaLnBrk="1" hangingPunct="1"/>
            <a:r>
              <a:rPr lang="en-US" sz="3200" dirty="0">
                <a:solidFill>
                  <a:schemeClr val="hlink"/>
                </a:solidFill>
              </a:rPr>
              <a:t>Portfolio risk</a:t>
            </a:r>
            <a:r>
              <a:rPr lang="en-US" sz="3200" dirty="0"/>
              <a:t> </a:t>
            </a:r>
          </a:p>
          <a:p>
            <a:pPr eaLnBrk="1" hangingPunct="1"/>
            <a:r>
              <a:rPr lang="en-US" sz="3600" dirty="0"/>
              <a:t>Investment risk is related to the probability of earning a</a:t>
            </a:r>
            <a:r>
              <a:rPr lang="en-US" sz="3600" b="1" dirty="0">
                <a:solidFill>
                  <a:schemeClr val="hlink"/>
                </a:solidFill>
              </a:rPr>
              <a:t> low</a:t>
            </a:r>
            <a:r>
              <a:rPr lang="en-US" sz="3600" dirty="0"/>
              <a:t> or </a:t>
            </a:r>
            <a:r>
              <a:rPr lang="en-US" sz="3600" b="1" dirty="0">
                <a:solidFill>
                  <a:schemeClr val="hlink"/>
                </a:solidFill>
              </a:rPr>
              <a:t>negative </a:t>
            </a:r>
            <a:r>
              <a:rPr lang="en-US" sz="3600" dirty="0"/>
              <a:t>actual return.</a:t>
            </a:r>
          </a:p>
          <a:p>
            <a:pPr eaLnBrk="1" hangingPunct="1"/>
            <a:r>
              <a:rPr lang="en-US" sz="3600" dirty="0"/>
              <a:t>The greater the chance of </a:t>
            </a:r>
            <a:r>
              <a:rPr lang="en-US" sz="3600" b="1" dirty="0">
                <a:solidFill>
                  <a:schemeClr val="hlink"/>
                </a:solidFill>
              </a:rPr>
              <a:t>lower than</a:t>
            </a:r>
            <a:r>
              <a:rPr lang="en-US" sz="3600" dirty="0"/>
              <a:t> expected or negative returns, the </a:t>
            </a:r>
            <a:r>
              <a:rPr lang="en-US" sz="3600" b="1" dirty="0">
                <a:solidFill>
                  <a:schemeClr val="hlink"/>
                </a:solidFill>
              </a:rPr>
              <a:t>riskier</a:t>
            </a:r>
            <a:r>
              <a:rPr lang="en-US" sz="3600" dirty="0"/>
              <a:t> the investment.</a:t>
            </a:r>
          </a:p>
          <a:p>
            <a:pPr eaLnBrk="1" hangingPunct="1"/>
            <a:endParaRPr lang="en-US" sz="3600" dirty="0"/>
          </a:p>
          <a:p>
            <a:pPr eaLnBrk="1" hangingPunct="1"/>
            <a:endParaRPr lang="en-US" sz="3600" dirty="0"/>
          </a:p>
          <a:p>
            <a:pPr eaLnBrk="1" hangingPunct="1"/>
            <a:r>
              <a:rPr lang="en-US" sz="3600" dirty="0"/>
              <a:t>Practically</a:t>
            </a:r>
          </a:p>
          <a:p>
            <a:pPr eaLnBrk="1" hangingPunct="1"/>
            <a:endParaRPr lang="en-US" sz="3600" dirty="0"/>
          </a:p>
          <a:p>
            <a:pPr eaLnBrk="1" hangingPunct="1"/>
            <a:r>
              <a:rPr lang="en-US" sz="3200" dirty="0"/>
              <a:t>Stock X</a:t>
            </a:r>
          </a:p>
          <a:p>
            <a:pPr lvl="1" eaLnBrk="1" hangingPunct="1"/>
            <a:r>
              <a:rPr lang="en-US" sz="2800" dirty="0"/>
              <a:t>has an expected return equal to 15%</a:t>
            </a:r>
          </a:p>
          <a:p>
            <a:pPr lvl="1" eaLnBrk="1" hangingPunct="1"/>
            <a:r>
              <a:rPr lang="en-US" sz="2800" dirty="0"/>
              <a:t>We can be 90% sure that the return we will get will be between 0 and 30%</a:t>
            </a:r>
          </a:p>
          <a:p>
            <a:pPr eaLnBrk="1" hangingPunct="1"/>
            <a:r>
              <a:rPr lang="en-US" sz="3200" dirty="0"/>
              <a:t>Stock Y </a:t>
            </a:r>
          </a:p>
          <a:p>
            <a:pPr lvl="1" eaLnBrk="1" hangingPunct="1"/>
            <a:r>
              <a:rPr lang="en-US" sz="2800" dirty="0"/>
              <a:t>has and expected return equal to 15%</a:t>
            </a:r>
          </a:p>
          <a:p>
            <a:pPr lvl="1" eaLnBrk="1" hangingPunct="1"/>
            <a:r>
              <a:rPr lang="en-US" sz="2800" dirty="0"/>
              <a:t>We can be 90% sure that the return we will get will be between -60 and 80%</a:t>
            </a:r>
          </a:p>
          <a:p>
            <a:pPr lvl="1" eaLnBrk="1" hangingPunct="1"/>
            <a:endParaRPr lang="en-US" sz="2800" dirty="0"/>
          </a:p>
          <a:p>
            <a:pPr algn="ctr" eaLnBrk="1" hangingPunct="1">
              <a:buNone/>
            </a:pPr>
            <a:r>
              <a:rPr lang="en-US" sz="4000" b="1" dirty="0"/>
              <a:t>Which one would you chose?</a:t>
            </a:r>
            <a:endParaRPr lang="en-US" sz="3200" b="1" dirty="0"/>
          </a:p>
          <a:p>
            <a:pPr eaLnBrk="1" hangingPunct="1"/>
            <a:endParaRPr lang="en-US" sz="3600" dirty="0"/>
          </a:p>
          <a:p>
            <a:endParaRPr lang="en-GB" dirty="0"/>
          </a:p>
          <a:p>
            <a:endParaRPr lang="en-GB" dirty="0"/>
          </a:p>
        </p:txBody>
      </p:sp>
    </p:spTree>
    <p:extLst>
      <p:ext uri="{BB962C8B-B14F-4D97-AF65-F5344CB8AC3E}">
        <p14:creationId xmlns:p14="http://schemas.microsoft.com/office/powerpoint/2010/main" val="13300848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eaLnBrk="1" fontAlgn="auto" hangingPunct="1">
              <a:spcAft>
                <a:spcPts val="0"/>
              </a:spcAft>
              <a:defRPr/>
            </a:pPr>
            <a:r>
              <a:rPr lang="cy-GB" dirty="0"/>
              <a:t>A bit of Theory</a:t>
            </a:r>
            <a:endParaRPr lang="cy-GB" sz="4000" b="1" dirty="0"/>
          </a:p>
          <a:p>
            <a:pPr eaLnBrk="1" hangingPunct="1">
              <a:defRPr/>
            </a:pPr>
            <a:r>
              <a:rPr lang="cy-GB" sz="3200" dirty="0"/>
              <a:t>Risks in individual asset returns have two components:</a:t>
            </a:r>
          </a:p>
          <a:p>
            <a:pPr lvl="1" eaLnBrk="1" hangingPunct="1">
              <a:defRPr/>
            </a:pPr>
            <a:r>
              <a:rPr lang="cy-GB" sz="2400" b="1" dirty="0"/>
              <a:t>Systematic risks </a:t>
            </a:r>
            <a:r>
              <a:rPr lang="cy-GB" sz="2400" dirty="0"/>
              <a:t>– common to all assets. They are non-diversifiable</a:t>
            </a:r>
          </a:p>
          <a:p>
            <a:pPr lvl="1" eaLnBrk="1" hangingPunct="1">
              <a:defRPr/>
            </a:pPr>
            <a:r>
              <a:rPr lang="cy-GB" sz="2400" b="1" dirty="0"/>
              <a:t>Unsystematic risks </a:t>
            </a:r>
            <a:r>
              <a:rPr lang="cy-GB" sz="2400" dirty="0"/>
              <a:t>– specific to individual assets. They are diversifiable</a:t>
            </a:r>
          </a:p>
          <a:p>
            <a:pPr lvl="1" eaLnBrk="1" hangingPunct="1">
              <a:defRPr/>
            </a:pPr>
            <a:r>
              <a:rPr lang="cy-GB" sz="2800" dirty="0"/>
              <a:t>Forming portfolios can eliminate </a:t>
            </a:r>
            <a:r>
              <a:rPr lang="cy-GB" sz="2800" b="1" dirty="0"/>
              <a:t>unsystematic </a:t>
            </a:r>
            <a:r>
              <a:rPr lang="cy-GB" sz="2800" dirty="0"/>
              <a:t>risks(</a:t>
            </a:r>
            <a:r>
              <a:rPr lang="en-GB" sz="2800" b="1" dirty="0">
                <a:solidFill>
                  <a:schemeClr val="accent6"/>
                </a:solidFill>
                <a:cs typeface="Times New Roman" pitchFamily="18" charset="0"/>
              </a:rPr>
              <a:t>Markowitz(1952, 1959</a:t>
            </a:r>
            <a:r>
              <a:rPr lang="en-GB" sz="2800" dirty="0">
                <a:cs typeface="Times New Roman" pitchFamily="18" charset="0"/>
              </a:rPr>
              <a:t>) </a:t>
            </a:r>
          </a:p>
          <a:p>
            <a:pPr eaLnBrk="1" hangingPunct="1">
              <a:defRPr/>
            </a:pPr>
            <a:r>
              <a:rPr lang="cy-GB" sz="2800" dirty="0"/>
              <a:t>Investors are Risk averse (would invest in a riskier asset for extra return)</a:t>
            </a:r>
          </a:p>
          <a:p>
            <a:pPr lvl="1" eaLnBrk="1" hangingPunct="1">
              <a:defRPr/>
            </a:pPr>
            <a:r>
              <a:rPr lang="cy-GB" sz="2400" dirty="0"/>
              <a:t>They choose the highest return for a given risk</a:t>
            </a:r>
          </a:p>
          <a:p>
            <a:pPr lvl="1" eaLnBrk="1" hangingPunct="1">
              <a:defRPr/>
            </a:pPr>
            <a:r>
              <a:rPr lang="cy-GB" sz="2400" dirty="0"/>
              <a:t>The minimum risk for a given return</a:t>
            </a:r>
          </a:p>
          <a:p>
            <a:pPr lvl="1" eaLnBrk="1" hangingPunct="1">
              <a:defRPr/>
            </a:pPr>
            <a:endParaRPr lang="cy-GB" sz="2400" dirty="0"/>
          </a:p>
          <a:p>
            <a:pPr lvl="1" eaLnBrk="1" hangingPunct="1">
              <a:defRPr/>
            </a:pPr>
            <a:endParaRPr lang="cy-GB" sz="2400" dirty="0"/>
          </a:p>
          <a:p>
            <a:pPr lvl="1" eaLnBrk="1" hangingPunct="1">
              <a:defRPr/>
            </a:pPr>
            <a:endParaRPr lang="cy-GB" sz="2400" dirty="0"/>
          </a:p>
          <a:p>
            <a:pPr eaLnBrk="1" hangingPunct="1">
              <a:lnSpc>
                <a:spcPct val="90000"/>
              </a:lnSpc>
            </a:pPr>
            <a:endParaRPr lang="en-US" sz="2800" dirty="0"/>
          </a:p>
          <a:p>
            <a:endParaRPr lang="en-GB" dirty="0"/>
          </a:p>
        </p:txBody>
      </p:sp>
    </p:spTree>
    <p:extLst>
      <p:ext uri="{BB962C8B-B14F-4D97-AF65-F5344CB8AC3E}">
        <p14:creationId xmlns:p14="http://schemas.microsoft.com/office/powerpoint/2010/main" val="38620195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390524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eaLnBrk="1" hangingPunct="1">
              <a:defRPr/>
            </a:pPr>
            <a:endParaRPr lang="cy-GB" sz="2400" dirty="0"/>
          </a:p>
          <a:p>
            <a:pPr lvl="1" eaLnBrk="1" hangingPunct="1">
              <a:defRPr/>
            </a:pPr>
            <a:endParaRPr lang="cy-GB" sz="2400" dirty="0"/>
          </a:p>
          <a:p>
            <a:pPr algn="ctr" eaLnBrk="1" hangingPunct="1"/>
            <a:r>
              <a:rPr lang="en-US" b="1" dirty="0">
                <a:solidFill>
                  <a:schemeClr val="folHlink"/>
                </a:solidFill>
              </a:rPr>
              <a:t>RISK AND DIVERSIFICATION</a:t>
            </a:r>
          </a:p>
          <a:p>
            <a:pPr eaLnBrk="1" hangingPunct="1">
              <a:defRPr/>
            </a:pPr>
            <a:r>
              <a:rPr lang="en-GB" sz="2800" dirty="0"/>
              <a:t>This is a strategy designed to reduce risk by spreading the portfolio across many investments.</a:t>
            </a:r>
            <a:r>
              <a:rPr lang="en-GB" sz="2800" b="1" dirty="0">
                <a:solidFill>
                  <a:schemeClr val="bg2"/>
                </a:solidFill>
                <a:cs typeface="Times New Roman" pitchFamily="18" charset="0"/>
              </a:rPr>
              <a:t> </a:t>
            </a:r>
            <a:r>
              <a:rPr lang="en-GB" sz="2800" b="1" dirty="0">
                <a:solidFill>
                  <a:schemeClr val="accent2">
                    <a:lumMod val="75000"/>
                  </a:schemeClr>
                </a:solidFill>
                <a:cs typeface="Times New Roman" pitchFamily="18" charset="0"/>
              </a:rPr>
              <a:t>Markowitz(1952, 1959</a:t>
            </a:r>
            <a:r>
              <a:rPr lang="en-GB" sz="2800" dirty="0">
                <a:solidFill>
                  <a:schemeClr val="accent2">
                    <a:lumMod val="75000"/>
                  </a:schemeClr>
                </a:solidFill>
                <a:cs typeface="Times New Roman" pitchFamily="18" charset="0"/>
              </a:rPr>
              <a:t>) </a:t>
            </a:r>
            <a:endParaRPr lang="en-GB" sz="2800" dirty="0">
              <a:solidFill>
                <a:schemeClr val="accent2">
                  <a:lumMod val="75000"/>
                </a:schemeClr>
              </a:solidFill>
            </a:endParaRPr>
          </a:p>
          <a:p>
            <a:pPr eaLnBrk="1" hangingPunct="1">
              <a:defRPr/>
            </a:pPr>
            <a:r>
              <a:rPr lang="en-GB" sz="2800" dirty="0"/>
              <a:t>Diversification is believed to reduce variability (risk)</a:t>
            </a:r>
          </a:p>
          <a:p>
            <a:pPr eaLnBrk="1" hangingPunct="1">
              <a:defRPr/>
            </a:pPr>
            <a:r>
              <a:rPr lang="en-GB" sz="2800" dirty="0"/>
              <a:t>Portfolio diversification works because prices of different stocks do not move exactly together.</a:t>
            </a:r>
          </a:p>
          <a:p>
            <a:pPr marL="88900" indent="20638" algn="ctr" eaLnBrk="1" hangingPunct="1">
              <a:buNone/>
              <a:defRPr/>
            </a:pPr>
            <a:r>
              <a:rPr lang="en-GB" sz="3600" b="1" dirty="0"/>
              <a:t>Diversification works best when the returns are negatively correlated.</a:t>
            </a:r>
          </a:p>
          <a:p>
            <a:pPr marL="88900" indent="20638" algn="ctr" eaLnBrk="1" hangingPunct="1">
              <a:buNone/>
              <a:defRPr/>
            </a:pPr>
            <a:endParaRPr lang="en-GB" sz="3600" b="1" dirty="0"/>
          </a:p>
          <a:p>
            <a:pPr marL="88900" indent="20638" algn="ctr" eaLnBrk="1" hangingPunct="1">
              <a:buNone/>
              <a:defRPr/>
            </a:pPr>
            <a:endParaRPr lang="en-GB" sz="3600" b="1" dirty="0"/>
          </a:p>
          <a:p>
            <a:pPr marL="88900" indent="20638" algn="ctr" eaLnBrk="1" hangingPunct="1">
              <a:buNone/>
              <a:defRPr/>
            </a:pPr>
            <a:endParaRPr lang="en-GB" sz="3600" b="1" dirty="0"/>
          </a:p>
          <a:p>
            <a:pPr marL="88900" indent="20638" algn="ctr" eaLnBrk="1" hangingPunct="1">
              <a:buNone/>
              <a:defRPr/>
            </a:pPr>
            <a:endParaRPr lang="en-GB" sz="3600" b="1" dirty="0"/>
          </a:p>
          <a:p>
            <a:pPr marL="88900" indent="20638" algn="ctr" eaLnBrk="1" hangingPunct="1">
              <a:buNone/>
              <a:defRPr/>
            </a:pPr>
            <a:endParaRPr lang="en-GB" sz="3600" b="1" dirty="0"/>
          </a:p>
          <a:p>
            <a:pPr marL="88900" indent="20638" algn="ctr" eaLnBrk="1" hangingPunct="1">
              <a:buNone/>
              <a:defRPr/>
            </a:pPr>
            <a:endParaRPr lang="en-US" sz="3600" b="1" dirty="0"/>
          </a:p>
          <a:p>
            <a:pPr eaLnBrk="1" hangingPunct="1"/>
            <a:r>
              <a:rPr lang="en-US" sz="3600" b="1" dirty="0">
                <a:solidFill>
                  <a:schemeClr val="folHlink"/>
                </a:solidFill>
              </a:rPr>
              <a:t>DIVERSIFICATION-Failure to diversify </a:t>
            </a:r>
          </a:p>
          <a:p>
            <a:pPr eaLnBrk="1" hangingPunct="1">
              <a:lnSpc>
                <a:spcPct val="85000"/>
              </a:lnSpc>
              <a:spcBef>
                <a:spcPct val="15000"/>
              </a:spcBef>
            </a:pPr>
            <a:r>
              <a:rPr lang="en-US" sz="2400" dirty="0"/>
              <a:t>If an investor chooses to hold a one-stock portfolio (exposed to more risk than a diversified investor), would the investor be compensated for the risk they bear?</a:t>
            </a:r>
          </a:p>
          <a:p>
            <a:pPr lvl="1" eaLnBrk="1" hangingPunct="1">
              <a:lnSpc>
                <a:spcPct val="85000"/>
              </a:lnSpc>
              <a:spcBef>
                <a:spcPct val="15000"/>
              </a:spcBef>
            </a:pPr>
            <a:r>
              <a:rPr lang="en-US" sz="2100" dirty="0"/>
              <a:t>NO!</a:t>
            </a:r>
          </a:p>
          <a:p>
            <a:pPr lvl="1" eaLnBrk="1" hangingPunct="1">
              <a:lnSpc>
                <a:spcPct val="85000"/>
              </a:lnSpc>
              <a:spcBef>
                <a:spcPct val="15000"/>
              </a:spcBef>
            </a:pPr>
            <a:r>
              <a:rPr lang="en-US" sz="2100" dirty="0"/>
              <a:t>Stand-alone risk is not important to a well-diversified investor.</a:t>
            </a:r>
          </a:p>
          <a:p>
            <a:pPr lvl="1" eaLnBrk="1" hangingPunct="1">
              <a:lnSpc>
                <a:spcPct val="85000"/>
              </a:lnSpc>
              <a:spcBef>
                <a:spcPct val="15000"/>
              </a:spcBef>
            </a:pPr>
            <a:r>
              <a:rPr lang="en-US" sz="2100" dirty="0"/>
              <a:t>Rational, risk-averse investors are concerned with </a:t>
            </a:r>
            <a:r>
              <a:rPr lang="el-GR" sz="2100" b="1" dirty="0">
                <a:solidFill>
                  <a:schemeClr val="accent2"/>
                </a:solidFill>
              </a:rPr>
              <a:t>σ</a:t>
            </a:r>
            <a:r>
              <a:rPr lang="en-US" sz="2100" b="1" baseline="-25000" dirty="0">
                <a:solidFill>
                  <a:schemeClr val="accent2"/>
                </a:solidFill>
              </a:rPr>
              <a:t>p</a:t>
            </a:r>
            <a:r>
              <a:rPr lang="en-US" sz="2100" b="1" dirty="0">
                <a:solidFill>
                  <a:schemeClr val="accent2"/>
                </a:solidFill>
              </a:rPr>
              <a:t>,</a:t>
            </a:r>
            <a:r>
              <a:rPr lang="en-US" sz="2100" dirty="0"/>
              <a:t> which is based upon </a:t>
            </a:r>
            <a:r>
              <a:rPr lang="en-US" sz="2100" b="1" dirty="0">
                <a:solidFill>
                  <a:schemeClr val="hlink"/>
                </a:solidFill>
              </a:rPr>
              <a:t>market risk.</a:t>
            </a:r>
          </a:p>
          <a:p>
            <a:pPr lvl="1" eaLnBrk="1" hangingPunct="1">
              <a:lnSpc>
                <a:spcPct val="85000"/>
              </a:lnSpc>
              <a:spcBef>
                <a:spcPct val="15000"/>
              </a:spcBef>
            </a:pPr>
            <a:r>
              <a:rPr lang="en-US" sz="2100" dirty="0"/>
              <a:t>There can be only </a:t>
            </a:r>
            <a:r>
              <a:rPr lang="en-US" sz="2100" b="1" dirty="0">
                <a:solidFill>
                  <a:schemeClr val="folHlink"/>
                </a:solidFill>
              </a:rPr>
              <a:t>one price (the market return)</a:t>
            </a:r>
            <a:r>
              <a:rPr lang="en-US" sz="2100" dirty="0"/>
              <a:t> for a given security.</a:t>
            </a:r>
          </a:p>
          <a:p>
            <a:pPr lvl="1" eaLnBrk="1" hangingPunct="1">
              <a:lnSpc>
                <a:spcPct val="85000"/>
              </a:lnSpc>
              <a:spcBef>
                <a:spcPct val="15000"/>
              </a:spcBef>
            </a:pPr>
            <a:endParaRPr lang="en-US" sz="2100" dirty="0"/>
          </a:p>
          <a:p>
            <a:pPr marL="0" lvl="1" indent="0" algn="ctr" eaLnBrk="1" hangingPunct="1">
              <a:lnSpc>
                <a:spcPct val="85000"/>
              </a:lnSpc>
              <a:spcBef>
                <a:spcPct val="15000"/>
              </a:spcBef>
              <a:buNone/>
            </a:pPr>
            <a:r>
              <a:rPr lang="en-US" sz="3600" dirty="0">
                <a:solidFill>
                  <a:srgbClr val="FF0000"/>
                </a:solidFill>
              </a:rPr>
              <a:t>No compensation should be earned for holding </a:t>
            </a:r>
            <a:r>
              <a:rPr lang="en-US" sz="3600" b="1" dirty="0">
                <a:solidFill>
                  <a:srgbClr val="FF0000"/>
                </a:solidFill>
              </a:rPr>
              <a:t>unnecessary,</a:t>
            </a:r>
            <a:r>
              <a:rPr lang="en-US" sz="3600" dirty="0">
                <a:solidFill>
                  <a:srgbClr val="FF0000"/>
                </a:solidFill>
              </a:rPr>
              <a:t> diversifiable risk.</a:t>
            </a:r>
          </a:p>
          <a:p>
            <a:pPr eaLnBrk="1" hangingPunct="1">
              <a:lnSpc>
                <a:spcPct val="90000"/>
              </a:lnSpc>
            </a:pPr>
            <a:endParaRPr lang="en-US" sz="2400" dirty="0"/>
          </a:p>
          <a:p>
            <a:pPr eaLnBrk="1" hangingPunct="1">
              <a:lnSpc>
                <a:spcPct val="90000"/>
              </a:lnSpc>
            </a:pPr>
            <a:endParaRPr lang="en-US" sz="2400" dirty="0"/>
          </a:p>
          <a:p>
            <a:pPr eaLnBrk="1" hangingPunct="1">
              <a:lnSpc>
                <a:spcPct val="90000"/>
              </a:lnSpc>
            </a:pPr>
            <a:endParaRPr lang="en-US" sz="2400" dirty="0"/>
          </a:p>
          <a:p>
            <a:pPr eaLnBrk="1" hangingPunct="1">
              <a:lnSpc>
                <a:spcPct val="90000"/>
              </a:lnSpc>
            </a:pPr>
            <a:endParaRPr lang="en-US" sz="2400" dirty="0"/>
          </a:p>
          <a:p>
            <a:pPr eaLnBrk="1" hangingPunct="1"/>
            <a:r>
              <a:rPr lang="en-US" sz="4000" b="1" dirty="0">
                <a:solidFill>
                  <a:schemeClr val="folHlink"/>
                </a:solidFill>
              </a:rPr>
              <a:t>Breaking down sources of risk</a:t>
            </a:r>
          </a:p>
          <a:p>
            <a:pPr eaLnBrk="1" hangingPunct="1">
              <a:lnSpc>
                <a:spcPct val="90000"/>
              </a:lnSpc>
              <a:buFontTx/>
              <a:buNone/>
            </a:pPr>
            <a:r>
              <a:rPr lang="en-US" sz="2400" dirty="0">
                <a:solidFill>
                  <a:schemeClr val="hlink"/>
                </a:solidFill>
              </a:rPr>
              <a:t>Total Risk = Market risk + Firm-specific risk</a:t>
            </a:r>
          </a:p>
          <a:p>
            <a:pPr eaLnBrk="1" hangingPunct="1">
              <a:lnSpc>
                <a:spcPct val="90000"/>
              </a:lnSpc>
            </a:pPr>
            <a:r>
              <a:rPr lang="en-US" sz="2800" b="1" dirty="0">
                <a:solidFill>
                  <a:schemeClr val="accent2"/>
                </a:solidFill>
              </a:rPr>
              <a:t>Market risk</a:t>
            </a:r>
            <a:r>
              <a:rPr lang="en-US" sz="2800" dirty="0"/>
              <a:t> – portion of a security’s stand-alone risk that cannot be eliminated through diversification.  </a:t>
            </a:r>
          </a:p>
          <a:p>
            <a:pPr eaLnBrk="1" hangingPunct="1">
              <a:lnSpc>
                <a:spcPct val="90000"/>
              </a:lnSpc>
            </a:pPr>
            <a:r>
              <a:rPr lang="en-US" sz="2800" b="1" dirty="0">
                <a:solidFill>
                  <a:schemeClr val="accent2"/>
                </a:solidFill>
              </a:rPr>
              <a:t>Firm-specific risk</a:t>
            </a:r>
            <a:r>
              <a:rPr lang="en-US" sz="2800" dirty="0"/>
              <a:t> – portion of  a security’s stand-alone risk that can be eliminated through proper diversification.</a:t>
            </a:r>
          </a:p>
          <a:p>
            <a:pPr eaLnBrk="1" hangingPunct="1">
              <a:lnSpc>
                <a:spcPct val="90000"/>
              </a:lnSpc>
            </a:pPr>
            <a:r>
              <a:rPr lang="en-GB" sz="2800" b="1" dirty="0">
                <a:solidFill>
                  <a:schemeClr val="accent2"/>
                </a:solidFill>
              </a:rPr>
              <a:t>Investors</a:t>
            </a:r>
            <a:r>
              <a:rPr lang="en-GB" sz="2800" dirty="0">
                <a:solidFill>
                  <a:schemeClr val="accent2"/>
                </a:solidFill>
              </a:rPr>
              <a:t> </a:t>
            </a:r>
            <a:r>
              <a:rPr lang="en-GB" sz="2800" dirty="0"/>
              <a:t>holding a diversified portfolio are mostly concerned with </a:t>
            </a:r>
            <a:r>
              <a:rPr lang="en-GB" sz="2800" b="1" dirty="0"/>
              <a:t>macroeconomic risks </a:t>
            </a:r>
            <a:r>
              <a:rPr lang="en-GB" sz="2800" dirty="0"/>
              <a:t>since </a:t>
            </a:r>
            <a:r>
              <a:rPr lang="en-GB" sz="2800" b="1" dirty="0"/>
              <a:t>micro risks </a:t>
            </a:r>
            <a:r>
              <a:rPr lang="en-GB" sz="2800" dirty="0"/>
              <a:t>are washed out in  diversified portfolio.</a:t>
            </a:r>
            <a:endParaRPr lang="en-US" sz="2800" dirty="0"/>
          </a:p>
          <a:p>
            <a:endParaRPr lang="en-GB" dirty="0"/>
          </a:p>
        </p:txBody>
      </p:sp>
    </p:spTree>
    <p:extLst>
      <p:ext uri="{BB962C8B-B14F-4D97-AF65-F5344CB8AC3E}">
        <p14:creationId xmlns:p14="http://schemas.microsoft.com/office/powerpoint/2010/main" val="8241044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p:cNvSpPr>
            <a:spLocks noGrp="1" noRot="1" noChangeAspect="1" noChangeArrowheads="1" noTextEdit="1"/>
          </p:cNvSpPr>
          <p:nvPr>
            <p:ph type="sldImg"/>
          </p:nvPr>
        </p:nvSpPr>
        <p:spPr>
          <a:xfrm>
            <a:off x="3243263" y="514350"/>
            <a:ext cx="3386137" cy="2540000"/>
          </a:xfrm>
          <a:ln/>
        </p:spPr>
      </p:sp>
      <p:sp>
        <p:nvSpPr>
          <p:cNvPr id="387075" name="Rectangle 3"/>
          <p:cNvSpPr>
            <a:spLocks noGrp="1" noChangeArrowheads="1"/>
          </p:cNvSpPr>
          <p:nvPr>
            <p:ph type="body" idx="1"/>
          </p:nvPr>
        </p:nvSpPr>
        <p:spPr/>
        <p:txBody>
          <a:bodyPr/>
          <a:lstStyle/>
          <a:p>
            <a:r>
              <a:rPr lang="en-US" dirty="0"/>
              <a:t>Re-emphasizes a key assumption that we make in risk and return models in finance. It is not risk that matters, but non-diversifiable risk and the cost of equity will increase as the non-diversifiable risk in an investment increases.</a:t>
            </a:r>
          </a:p>
          <a:p>
            <a:r>
              <a:rPr lang="en-US" dirty="0"/>
              <a:t>This view of the world may pose a problem for us when valuing private companies or closely held, small publicly traded firms, where the marginal investor (owner, venture capitalist….)  may not be diversified.</a:t>
            </a:r>
          </a:p>
          <a:p>
            <a:endParaRPr lang="en-US" dirty="0"/>
          </a:p>
          <a:p>
            <a:r>
              <a:rPr lang="en-US" dirty="0"/>
              <a:t>Please note the difference between</a:t>
            </a:r>
            <a:r>
              <a:rPr lang="en-US" baseline="0" dirty="0"/>
              <a:t> the risk averse investor and the marginal investor. Risk averse investor only bears extra risk when there is extra return. What risk are they asked to be compensated for, though? Only for systematic risk. Another major point is that they are not price takers (when they trade, they change prices).</a:t>
            </a:r>
          </a:p>
          <a:p>
            <a:endParaRPr lang="en-US" baseline="0" dirty="0"/>
          </a:p>
          <a:p>
            <a:r>
              <a:rPr lang="en-US" baseline="0" dirty="0"/>
              <a:t>More specifically,</a:t>
            </a:r>
          </a:p>
          <a:p>
            <a:endParaRPr lang="en-US" baseline="0" dirty="0"/>
          </a:p>
          <a:p>
            <a:pPr fontAlgn="base"/>
            <a:r>
              <a:rPr lang="en-GB" sz="1200" b="0" i="0" kern="1200" dirty="0">
                <a:solidFill>
                  <a:schemeClr val="tx1"/>
                </a:solidFill>
                <a:latin typeface="Times" charset="0"/>
                <a:ea typeface="+mn-ea"/>
                <a:cs typeface="+mn-cs"/>
              </a:rPr>
              <a:t>The argument that diversification reduces an investor’s exposure to risk is clear both intuitively and statistically, but risk and return models in finance go further. The models look at risk through the eyes of the investor most likely to be trading on the investment at any point in time, i.e. the marginal investor. They argue that this investor, who sets prices for investments, is well diversified; thus, the only risk that he or she cares about is the risk added on to a diversified portfolio or market risk. This argument can be justified simply. The risk in an investment will always be perceived to be higher for an undiversified investor than for a diversified one, since the latter does not shoulder any firm-specific risk and the former does. If both investors have the same expectations about future earnings and cash flows on an asset, the diversified investor will be willing to pay a higher price for that asset because of his or her perception of lower risk. Consequently, the asset, over time, will end up being held by diversified investors.</a:t>
            </a:r>
          </a:p>
          <a:p>
            <a:br>
              <a:rPr lang="en-GB" sz="1200" b="0" i="0" kern="1200" dirty="0">
                <a:solidFill>
                  <a:schemeClr val="tx1"/>
                </a:solidFill>
                <a:effectLst/>
                <a:latin typeface="Times" charset="0"/>
                <a:ea typeface="+mn-ea"/>
                <a:cs typeface="+mn-cs"/>
              </a:rPr>
            </a:br>
            <a:r>
              <a:rPr lang="en-GB" sz="1200" b="0" i="0" kern="1200" dirty="0">
                <a:solidFill>
                  <a:schemeClr val="tx1"/>
                </a:solidFill>
                <a:latin typeface="Times" charset="0"/>
                <a:ea typeface="+mn-ea"/>
                <a:cs typeface="+mn-cs"/>
              </a:rPr>
              <a:t>The marginal investor in a firm is the investor who is most likely to be the buyer or seller on the next trade and to influence the stock price. Generally speaking, the marginal investor in a stock has to own a lot of stock and also trade a lot. Since trading is required, the largest investor may not be the marginal investor, especially if he or she is a founder/manager of the firm (Michael Dell at Dell Computers or Bill Gates at Microsoft) In all risk and return models in finance, we assume that the marginal investor is well diversified. </a:t>
            </a:r>
            <a:endParaRPr lang="en-US" dirty="0"/>
          </a:p>
        </p:txBody>
      </p:sp>
    </p:spTree>
    <p:extLst>
      <p:ext uri="{BB962C8B-B14F-4D97-AF65-F5344CB8AC3E}">
        <p14:creationId xmlns:p14="http://schemas.microsoft.com/office/powerpoint/2010/main" val="19789861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Investors are willing to lend money to a company and expect</a:t>
            </a:r>
            <a:r>
              <a:rPr lang="en-GB" baseline="0" dirty="0"/>
              <a:t> a return that compensates them for the risk they bear</a:t>
            </a:r>
          </a:p>
          <a:p>
            <a:r>
              <a:rPr lang="en-GB" baseline="0" dirty="0"/>
              <a:t>This return is paid by the company. Consequently, investors expected return is the cost of capital of the company</a:t>
            </a:r>
          </a:p>
          <a:p>
            <a:r>
              <a:rPr lang="en-GB" baseline="0" dirty="0"/>
              <a:t>The cost (in the form of Dividends/Coupons/Discounted Value etc.) of any form of capital is determined by investors’ expectations.</a:t>
            </a:r>
            <a:endParaRPr lang="en-GB" dirty="0"/>
          </a:p>
        </p:txBody>
      </p:sp>
    </p:spTree>
    <p:extLst>
      <p:ext uri="{BB962C8B-B14F-4D97-AF65-F5344CB8AC3E}">
        <p14:creationId xmlns:p14="http://schemas.microsoft.com/office/powerpoint/2010/main" val="7838754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a:t>This approach </a:t>
            </a:r>
            <a:r>
              <a:rPr lang="en-GB" b="1" dirty="0"/>
              <a:t>Assumes</a:t>
            </a:r>
            <a:r>
              <a:rPr lang="en-GB" b="1" baseline="0" dirty="0"/>
              <a:t> that the market is efficient on the long term</a:t>
            </a:r>
            <a:r>
              <a:rPr lang="en-GB" baseline="0" dirty="0"/>
              <a:t>. The price you see today summarizes all expectations and it reflects the required return of the investors. Given that companies tend to stick to a dividend policy, we can have reasonable forecasts of the future CF. The  price today should be determined by the required return. </a:t>
            </a:r>
          </a:p>
          <a:p>
            <a:endParaRPr lang="en-GB" baseline="0" dirty="0"/>
          </a:p>
          <a:p>
            <a:r>
              <a:rPr lang="en-GB" baseline="0" dirty="0"/>
              <a:t>The above line of thoughts is consistent when we need to use the cost of capital as discount rate. The (implied) rate we find above is current and it shows what the cost of borrowing today would be. Given that the valuation is a forward looking process to find a current value, it makes sense to use forward looking required returns.</a:t>
            </a:r>
            <a:endParaRPr lang="en-GB" dirty="0"/>
          </a:p>
          <a:p>
            <a:endParaRPr lang="en-GB" dirty="0"/>
          </a:p>
          <a:p>
            <a:r>
              <a:rPr lang="en-GB" dirty="0"/>
              <a:t>In the 2-stage growth model it might be quite tricky to solv</a:t>
            </a:r>
            <a:r>
              <a:rPr lang="en-GB" baseline="0" dirty="0"/>
              <a:t>e for cost of equity. In this case the easiest approach is to apply different discount rates. When you reach two that you are sure that cost of equity is in between, you can apply the interpolation method (More information on the appendix, in the end of this slide series.)</a:t>
            </a:r>
          </a:p>
          <a:p>
            <a:endParaRPr lang="en-GB" baseline="0" dirty="0"/>
          </a:p>
          <a:p>
            <a:endParaRPr lang="en-GB" dirty="0"/>
          </a:p>
        </p:txBody>
      </p:sp>
    </p:spTree>
    <p:extLst>
      <p:ext uri="{BB962C8B-B14F-4D97-AF65-F5344CB8AC3E}">
        <p14:creationId xmlns:p14="http://schemas.microsoft.com/office/powerpoint/2010/main" val="41666061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243263" y="514350"/>
            <a:ext cx="3386137" cy="2540000"/>
          </a:xfrm>
        </p:spPr>
      </p:sp>
      <p:sp>
        <p:nvSpPr>
          <p:cNvPr id="3" name="Notes Placeholder 2"/>
          <p:cNvSpPr>
            <a:spLocks noGrp="1"/>
          </p:cNvSpPr>
          <p:nvPr>
            <p:ph type="body" idx="1"/>
          </p:nvPr>
        </p:nvSpPr>
        <p:spPr/>
        <p:txBody>
          <a:bodyPr>
            <a:normAutofit fontScale="77500" lnSpcReduction="20000"/>
          </a:bodyPr>
          <a:lstStyle/>
          <a:p>
            <a:r>
              <a:rPr lang="en-GB" u="sng" dirty="0"/>
              <a:t>Risk Free Rate</a:t>
            </a:r>
          </a:p>
          <a:p>
            <a:r>
              <a:rPr lang="en-GB" dirty="0"/>
              <a:t>Represents the time value of money</a:t>
            </a:r>
          </a:p>
          <a:p>
            <a:r>
              <a:rPr lang="en-GB" dirty="0"/>
              <a:t>It is the expected return of a risk free asset</a:t>
            </a:r>
          </a:p>
          <a:p>
            <a:r>
              <a:rPr lang="en-GB" dirty="0"/>
              <a:t>It is approximated using the Treasury bond interest rate (considered to be risk free)</a:t>
            </a:r>
          </a:p>
          <a:p>
            <a:r>
              <a:rPr lang="en-GB" dirty="0"/>
              <a:t>It is exogenous determined (changes for reasons irrelevant to asset’s price changes) and it can change many times each day. However in calculations assumed to be constant (at least for a period)</a:t>
            </a:r>
          </a:p>
          <a:p>
            <a:endParaRPr lang="en-GB" dirty="0"/>
          </a:p>
          <a:p>
            <a:r>
              <a:rPr lang="en-GB" u="sng" dirty="0"/>
              <a:t>Market Risk Premium</a:t>
            </a:r>
          </a:p>
          <a:p>
            <a:r>
              <a:rPr lang="en-GB" dirty="0"/>
              <a:t>Considering the risk-return relation, it represents the average extra return (over the risk free rate) of the market’s portfolio</a:t>
            </a:r>
          </a:p>
          <a:p>
            <a:r>
              <a:rPr lang="en-GB" dirty="0"/>
              <a:t>All assets traded in a market require an extra return for bearing extra risk, when investing in them. The average extra risk is the Market Risk Premium</a:t>
            </a:r>
          </a:p>
          <a:p>
            <a:r>
              <a:rPr lang="en-GB" dirty="0"/>
              <a:t>Market’s portfolio is assumed to have b=1</a:t>
            </a:r>
          </a:p>
          <a:p>
            <a:r>
              <a:rPr lang="en-GB" dirty="0"/>
              <a:t>In other words, it is the systematic (can be diversified or compensated) risk of the market portfolio</a:t>
            </a:r>
          </a:p>
          <a:p>
            <a:r>
              <a:rPr lang="en-GB" dirty="0"/>
              <a:t>It is exogenous and it can change many times a day</a:t>
            </a:r>
          </a:p>
          <a:p>
            <a:endParaRPr lang="en-GB" dirty="0"/>
          </a:p>
          <a:p>
            <a:r>
              <a:rPr lang="en-GB" u="sng" dirty="0"/>
              <a:t>Corporate Risk Premium</a:t>
            </a:r>
          </a:p>
          <a:p>
            <a:r>
              <a:rPr lang="en-GB" dirty="0"/>
              <a:t>Represents the extra return required for investing in a specific asset</a:t>
            </a:r>
          </a:p>
          <a:p>
            <a:r>
              <a:rPr lang="en-GB" dirty="0"/>
              <a:t>It is the systematic risk related to a specific investment</a:t>
            </a:r>
          </a:p>
          <a:p>
            <a:r>
              <a:rPr lang="en-GB" dirty="0"/>
              <a:t>The amount of risk included in a specific asset is measured (approximated) by beta </a:t>
            </a:r>
          </a:p>
          <a:p>
            <a:endParaRPr lang="en-GB" dirty="0"/>
          </a:p>
        </p:txBody>
      </p:sp>
    </p:spTree>
    <p:extLst>
      <p:ext uri="{BB962C8B-B14F-4D97-AF65-F5344CB8AC3E}">
        <p14:creationId xmlns:p14="http://schemas.microsoft.com/office/powerpoint/2010/main" val="41653739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buFont typeface="Wingdings" pitchFamily="2" charset="2"/>
              <a:buNone/>
            </a:pPr>
            <a:r>
              <a:rPr lang="en-US" sz="1200" dirty="0"/>
              <a:t> 	</a:t>
            </a:r>
            <a:r>
              <a:rPr lang="en-US" sz="1200" baseline="0" dirty="0"/>
              <a:t>       </a:t>
            </a:r>
            <a:r>
              <a:rPr lang="en-US" sz="1200" dirty="0"/>
              <a:t>R%                   E(R)%             </a:t>
            </a:r>
          </a:p>
          <a:p>
            <a:pPr eaLnBrk="1" hangingPunct="1">
              <a:lnSpc>
                <a:spcPct val="80000"/>
              </a:lnSpc>
            </a:pPr>
            <a:r>
              <a:rPr lang="en-US" sz="1200" dirty="0"/>
              <a:t>HT                      17.1                 17.4             undervalued</a:t>
            </a:r>
          </a:p>
          <a:p>
            <a:pPr eaLnBrk="1" hangingPunct="1">
              <a:lnSpc>
                <a:spcPct val="80000"/>
              </a:lnSpc>
            </a:pPr>
            <a:r>
              <a:rPr lang="en-US" sz="1200" dirty="0" err="1"/>
              <a:t>Mkt</a:t>
            </a:r>
            <a:r>
              <a:rPr lang="en-US" sz="1200" dirty="0"/>
              <a:t>                    15.0                 15.0             fairly valued </a:t>
            </a:r>
          </a:p>
          <a:p>
            <a:pPr eaLnBrk="1" hangingPunct="1">
              <a:lnSpc>
                <a:spcPct val="80000"/>
              </a:lnSpc>
            </a:pPr>
            <a:r>
              <a:rPr lang="en-US" sz="1200" dirty="0"/>
              <a:t>PM                     14.2                 13.8            overvalued</a:t>
            </a:r>
          </a:p>
          <a:p>
            <a:pPr eaLnBrk="1" hangingPunct="1">
              <a:lnSpc>
                <a:spcPct val="80000"/>
              </a:lnSpc>
            </a:pPr>
            <a:r>
              <a:rPr lang="en-US" sz="1200" dirty="0"/>
              <a:t>T-Bill                   8.0                   8.0            fairly valued</a:t>
            </a:r>
          </a:p>
          <a:p>
            <a:pPr eaLnBrk="1" hangingPunct="1">
              <a:lnSpc>
                <a:spcPct val="80000"/>
              </a:lnSpc>
            </a:pPr>
            <a:r>
              <a:rPr lang="en-US" sz="1200" dirty="0" err="1"/>
              <a:t>Coll</a:t>
            </a:r>
            <a:r>
              <a:rPr lang="en-US" sz="1200" dirty="0"/>
              <a:t>                     1.9                    1.7            overvalued </a:t>
            </a:r>
            <a:endParaRPr lang="en-GB" dirty="0"/>
          </a:p>
        </p:txBody>
      </p:sp>
    </p:spTree>
    <p:extLst>
      <p:ext uri="{BB962C8B-B14F-4D97-AF65-F5344CB8AC3E}">
        <p14:creationId xmlns:p14="http://schemas.microsoft.com/office/powerpoint/2010/main" val="30084765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Rot="1" noChangeAspect="1" noChangeArrowheads="1" noTextEdit="1"/>
          </p:cNvSpPr>
          <p:nvPr>
            <p:ph type="sldImg"/>
          </p:nvPr>
        </p:nvSpPr>
        <p:spPr>
          <a:xfrm>
            <a:off x="3243263" y="514350"/>
            <a:ext cx="3386137" cy="2540000"/>
          </a:xfrm>
          <a:ln/>
        </p:spPr>
      </p:sp>
      <p:sp>
        <p:nvSpPr>
          <p:cNvPr id="39014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7258205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834" name="Slide Image Placeholder 1"/>
          <p:cNvSpPr>
            <a:spLocks noGrp="1" noRot="1" noChangeAspect="1" noTextEdit="1"/>
          </p:cNvSpPr>
          <p:nvPr>
            <p:ph type="sldImg"/>
          </p:nvPr>
        </p:nvSpPr>
        <p:spPr>
          <a:xfrm>
            <a:off x="3243263" y="514350"/>
            <a:ext cx="3386137" cy="2540000"/>
          </a:xfrm>
          <a:ln/>
        </p:spPr>
      </p:sp>
      <p:sp>
        <p:nvSpPr>
          <p:cNvPr id="760835" name="Notes Placeholder 2"/>
          <p:cNvSpPr>
            <a:spLocks noGrp="1"/>
          </p:cNvSpPr>
          <p:nvPr>
            <p:ph type="body" idx="1"/>
          </p:nvPr>
        </p:nvSpPr>
        <p:spPr>
          <a:noFill/>
          <a:ln w="9525"/>
        </p:spPr>
        <p:txBody>
          <a:bodyPr/>
          <a:lstStyle/>
          <a:p>
            <a:r>
              <a:rPr lang="en-US" dirty="0">
                <a:latin typeface="Times" pitchFamily="3" charset="0"/>
              </a:rPr>
              <a:t>Since we are valuing </a:t>
            </a:r>
            <a:r>
              <a:rPr lang="en-US" dirty="0" err="1">
                <a:latin typeface="Times" pitchFamily="3" charset="0"/>
              </a:rPr>
              <a:t>cashflows</a:t>
            </a:r>
            <a:r>
              <a:rPr lang="en-US" dirty="0">
                <a:latin typeface="Times" pitchFamily="3" charset="0"/>
              </a:rPr>
              <a:t> for the long term, we want a long-term </a:t>
            </a:r>
            <a:r>
              <a:rPr lang="en-US" dirty="0" err="1">
                <a:latin typeface="Times" pitchFamily="3" charset="0"/>
              </a:rPr>
              <a:t>riskfree</a:t>
            </a:r>
            <a:r>
              <a:rPr lang="en-US" dirty="0">
                <a:latin typeface="Times" pitchFamily="3" charset="0"/>
              </a:rPr>
              <a:t> rate (so, rule out the 6-month </a:t>
            </a:r>
            <a:r>
              <a:rPr lang="en-US" dirty="0" err="1">
                <a:latin typeface="Times" pitchFamily="3" charset="0"/>
              </a:rPr>
              <a:t>T.Bill</a:t>
            </a:r>
            <a:r>
              <a:rPr lang="en-US" dirty="0">
                <a:latin typeface="Times" pitchFamily="3" charset="0"/>
              </a:rPr>
              <a:t> rate). Since the valuation is in US dollars (a nominal rate), we can also rule out the TIPS rate (Please note that if you use deflated cash flows,</a:t>
            </a:r>
            <a:r>
              <a:rPr lang="en-US" baseline="0" dirty="0">
                <a:latin typeface="Times" pitchFamily="3" charset="0"/>
              </a:rPr>
              <a:t> then this might be your rate)</a:t>
            </a:r>
            <a:r>
              <a:rPr lang="en-US" dirty="0">
                <a:latin typeface="Times" pitchFamily="3" charset="0"/>
              </a:rPr>
              <a:t>. In theory, the 30-year rate should be the best choice. In practice, You might decide</a:t>
            </a:r>
            <a:r>
              <a:rPr lang="en-US" baseline="0" dirty="0">
                <a:latin typeface="Times" pitchFamily="3" charset="0"/>
              </a:rPr>
              <a:t> to</a:t>
            </a:r>
            <a:r>
              <a:rPr lang="en-US" dirty="0">
                <a:latin typeface="Times" pitchFamily="3" charset="0"/>
              </a:rPr>
              <a:t> go with the 10-year bond for the following reasons:</a:t>
            </a:r>
          </a:p>
          <a:p>
            <a:pPr>
              <a:buFontTx/>
              <a:buAutoNum type="arabicPeriod"/>
            </a:pPr>
            <a:r>
              <a:rPr lang="en-US" dirty="0">
                <a:latin typeface="Times" pitchFamily="3" charset="0"/>
              </a:rPr>
              <a:t>It is the most liquid of the treasuries and there is always a fresh auction rate from the previous Monday,</a:t>
            </a:r>
          </a:p>
          <a:p>
            <a:pPr>
              <a:buFontTx/>
              <a:buAutoNum type="arabicPeriod"/>
            </a:pPr>
            <a:r>
              <a:rPr lang="en-US" dirty="0">
                <a:latin typeface="Times" pitchFamily="3" charset="0"/>
              </a:rPr>
              <a:t>Getting other inputs such as equity risk premiums and default spreads is easier with a 10-year rate than a 30-year rate</a:t>
            </a:r>
          </a:p>
          <a:p>
            <a:pPr>
              <a:buFontTx/>
              <a:buAutoNum type="arabicPeriod"/>
            </a:pPr>
            <a:r>
              <a:rPr lang="en-US" dirty="0">
                <a:latin typeface="Times" pitchFamily="3" charset="0"/>
              </a:rPr>
              <a:t>The term structure flattens out by the time you get to the 10-year rate…..</a:t>
            </a:r>
          </a:p>
          <a:p>
            <a:r>
              <a:rPr lang="en-US" dirty="0">
                <a:latin typeface="Times" pitchFamily="3" charset="0"/>
              </a:rPr>
              <a:t>In September 2011, none of the above may be a legitimate answer, though.. After all, S&amp;P had just downgraded sovereign rating for the US from AAA to AA+… suggesting an uptick of default risk…</a:t>
            </a:r>
          </a:p>
          <a:p>
            <a:r>
              <a:rPr lang="en-US" dirty="0">
                <a:latin typeface="Times" pitchFamily="3" charset="0"/>
              </a:rPr>
              <a:t>Same</a:t>
            </a:r>
            <a:r>
              <a:rPr lang="en-US" baseline="0" dirty="0">
                <a:latin typeface="Times" pitchFamily="3" charset="0"/>
              </a:rPr>
              <a:t> in January 2015. ECB has launched a massive QE program and therefore bond yields universally (more in countries that are closely linked to Euro) have decreased drastically. This does not necessarily mean that the overall risk of these countries is lower.</a:t>
            </a:r>
            <a:endParaRPr lang="en-US" dirty="0">
              <a:latin typeface="Times" pitchFamily="3" charset="0"/>
            </a:endParaRPr>
          </a:p>
          <a:p>
            <a:endParaRPr lang="en-US" dirty="0">
              <a:latin typeface="Times" pitchFamily="3" charset="0"/>
            </a:endParaRPr>
          </a:p>
          <a:p>
            <a:endParaRPr lang="en-US" dirty="0">
              <a:latin typeface="Times" pitchFamily="3" charset="0"/>
            </a:endParaRPr>
          </a:p>
          <a:p>
            <a:r>
              <a:rPr lang="en-US" dirty="0">
                <a:latin typeface="Times" pitchFamily="3" charset="0"/>
              </a:rPr>
              <a:t>Data</a:t>
            </a:r>
            <a:r>
              <a:rPr lang="en-US" baseline="0" dirty="0">
                <a:latin typeface="Times" pitchFamily="3" charset="0"/>
              </a:rPr>
              <a:t> can be found here</a:t>
            </a:r>
          </a:p>
          <a:p>
            <a:endParaRPr lang="en-US" baseline="0" dirty="0">
              <a:latin typeface="Times" pitchFamily="3" charset="0"/>
            </a:endParaRPr>
          </a:p>
          <a:p>
            <a:r>
              <a:rPr lang="en-US" dirty="0">
                <a:latin typeface="Times" pitchFamily="3" charset="0"/>
              </a:rPr>
              <a:t>http://www.treasury.gov/resource-center/data-chart-center/interest-rates/Pages/TextView.aspx?data=yield</a:t>
            </a:r>
          </a:p>
          <a:p>
            <a:endParaRPr lang="en-US" dirty="0">
              <a:latin typeface="Times" pitchFamily="3" charset="0"/>
            </a:endParaRPr>
          </a:p>
          <a:p>
            <a:r>
              <a:rPr lang="en-US" dirty="0">
                <a:latin typeface="Times" pitchFamily="3" charset="0"/>
              </a:rPr>
              <a:t>http://www.bloomberg.com/markets/rates-bonds/government-bonds/us/</a:t>
            </a:r>
          </a:p>
          <a:p>
            <a:endParaRPr lang="en-US" dirty="0">
              <a:latin typeface="Times" pitchFamily="3" charset="0"/>
            </a:endParaRPr>
          </a:p>
          <a:p>
            <a:r>
              <a:rPr lang="en-US" dirty="0">
                <a:latin typeface="Times" pitchFamily="3" charset="0"/>
              </a:rPr>
              <a:t>http://money.cnn.com/data/bonds/</a:t>
            </a:r>
          </a:p>
          <a:p>
            <a:endParaRPr lang="en-GB" dirty="0">
              <a:latin typeface="Times" pitchFamily="3" charset="0"/>
            </a:endParaRPr>
          </a:p>
          <a:p>
            <a:r>
              <a:rPr lang="en-US" dirty="0">
                <a:latin typeface="Times" pitchFamily="3" charset="0"/>
              </a:rPr>
              <a:t>http://news.morningstar.com/TreasuryYield/bonds.aspx</a:t>
            </a:r>
          </a:p>
        </p:txBody>
      </p:sp>
    </p:spTree>
    <p:extLst>
      <p:ext uri="{BB962C8B-B14F-4D97-AF65-F5344CB8AC3E}">
        <p14:creationId xmlns:p14="http://schemas.microsoft.com/office/powerpoint/2010/main" val="20213417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Source for the data</a:t>
            </a:r>
          </a:p>
          <a:p>
            <a:endParaRPr lang="en-GB" dirty="0"/>
          </a:p>
          <a:p>
            <a:r>
              <a:rPr lang="en-GB" dirty="0"/>
              <a:t>http://www.tradingeconomics.com/united-states/government-bond-yield</a:t>
            </a:r>
          </a:p>
          <a:p>
            <a:endParaRPr lang="en-GB" dirty="0"/>
          </a:p>
          <a:p>
            <a:r>
              <a:rPr lang="en-GB" dirty="0"/>
              <a:t>There is no</a:t>
            </a:r>
            <a:r>
              <a:rPr lang="en-GB" baseline="0" dirty="0"/>
              <a:t> direct answer as to when the yields reflect a risk free entity. This is actually the wrong question. As we have said before,, there is no risk free entity. We do a comparable analysis. We take the one with the least possible probability of default and we consider it less risky compared to all other securities in the same currency. This does not mean that it is risk free and it is expressed in real (rather than in nominal) values.</a:t>
            </a:r>
          </a:p>
          <a:p>
            <a:endParaRPr lang="en-GB" baseline="0" dirty="0"/>
          </a:p>
          <a:p>
            <a:r>
              <a:rPr lang="en-GB" baseline="0" dirty="0"/>
              <a:t>The answer and the use of an appropriate rate depends on what assumptions we make.</a:t>
            </a:r>
          </a:p>
          <a:p>
            <a:endParaRPr lang="en-GB" baseline="0" dirty="0"/>
          </a:p>
          <a:p>
            <a:r>
              <a:rPr lang="en-GB" baseline="0" dirty="0"/>
              <a:t>If we assume that the market NOW reflects all the information at the moment and does not misprices this asset, we should take the current one.</a:t>
            </a:r>
          </a:p>
          <a:p>
            <a:r>
              <a:rPr lang="en-GB" baseline="0" dirty="0"/>
              <a:t>If we consider that on average over time the market gives a correct valuation, then we take a (simple, weighted, etc.) average</a:t>
            </a:r>
          </a:p>
          <a:p>
            <a:r>
              <a:rPr lang="en-GB" baseline="0" dirty="0"/>
              <a:t>If we think that now the market is affected by a major macroeconomic event (like the stop of a quantitative easing program, or contagious effects etc.),, then we might consider a historical, rather than a current yield.</a:t>
            </a:r>
            <a:endParaRPr lang="en-GB" dirty="0"/>
          </a:p>
        </p:txBody>
      </p:sp>
    </p:spTree>
    <p:extLst>
      <p:ext uri="{BB962C8B-B14F-4D97-AF65-F5344CB8AC3E}">
        <p14:creationId xmlns:p14="http://schemas.microsoft.com/office/powerpoint/2010/main" val="35633770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1858" name="Slide Image Placeholder 1"/>
          <p:cNvSpPr>
            <a:spLocks noGrp="1" noRot="1" noChangeAspect="1" noTextEdit="1"/>
          </p:cNvSpPr>
          <p:nvPr>
            <p:ph type="sldImg"/>
          </p:nvPr>
        </p:nvSpPr>
        <p:spPr>
          <a:xfrm>
            <a:off x="3243263" y="514350"/>
            <a:ext cx="3386137" cy="2540000"/>
          </a:xfrm>
          <a:ln/>
        </p:spPr>
      </p:sp>
      <p:sp>
        <p:nvSpPr>
          <p:cNvPr id="761859" name="Notes Placeholder 2"/>
          <p:cNvSpPr>
            <a:spLocks noGrp="1"/>
          </p:cNvSpPr>
          <p:nvPr>
            <p:ph type="body" idx="1"/>
          </p:nvPr>
        </p:nvSpPr>
        <p:spPr>
          <a:noFill/>
          <a:ln w="9525"/>
        </p:spPr>
        <p:txBody>
          <a:bodyPr/>
          <a:lstStyle/>
          <a:p>
            <a:r>
              <a:rPr lang="en-US" dirty="0">
                <a:latin typeface="Times" pitchFamily="3" charset="0"/>
              </a:rPr>
              <a:t>The only reason for differences in rates across these securities is default risk. Consequently, it makes sense to use the lowest of the rates (Germany) as the risk free rete, if you are valuing a company in Euros. </a:t>
            </a:r>
          </a:p>
          <a:p>
            <a:endParaRPr lang="en-US" dirty="0">
              <a:latin typeface="Times" pitchFamily="3" charset="0"/>
            </a:endParaRPr>
          </a:p>
          <a:p>
            <a:r>
              <a:rPr lang="en-US" dirty="0">
                <a:latin typeface="Times" pitchFamily="3" charset="0"/>
              </a:rPr>
              <a:t>We have discussed that we</a:t>
            </a:r>
            <a:r>
              <a:rPr lang="en-US" baseline="0" dirty="0">
                <a:latin typeface="Times" pitchFamily="3" charset="0"/>
              </a:rPr>
              <a:t> cannot theoretically justify the existence of a risk free asset. However, we can think of the lowest return as the safest, which in relative terms is less risky than any other asset. Consequently, investments in any other (riskier) asset requires a premium.</a:t>
            </a:r>
          </a:p>
          <a:p>
            <a:endParaRPr lang="en-US" baseline="0" dirty="0">
              <a:latin typeface="Times" pitchFamily="3" charset="0"/>
            </a:endParaRPr>
          </a:p>
          <a:p>
            <a:endParaRPr lang="en-US" baseline="0" dirty="0">
              <a:latin typeface="Times" pitchFamily="3" charset="0"/>
            </a:endParaRPr>
          </a:p>
          <a:p>
            <a:r>
              <a:rPr lang="en-US" baseline="0" dirty="0">
                <a:latin typeface="Times" pitchFamily="3" charset="0"/>
              </a:rPr>
              <a:t>More recent data can be found here</a:t>
            </a:r>
          </a:p>
          <a:p>
            <a:endParaRPr lang="en-US" baseline="0" dirty="0">
              <a:latin typeface="Times" pitchFamily="3" charset="0"/>
            </a:endParaRPr>
          </a:p>
          <a:p>
            <a:r>
              <a:rPr lang="en-US" dirty="0">
                <a:latin typeface="Times" pitchFamily="3" charset="0"/>
              </a:rPr>
              <a:t>http://markets.ft.com/research/Markets/Bonds</a:t>
            </a:r>
          </a:p>
          <a:p>
            <a:r>
              <a:rPr lang="en-US" dirty="0">
                <a:latin typeface="Times" pitchFamily="3" charset="0"/>
              </a:rPr>
              <a:t>http://www.calculatedriskblog.com/p/european-bond-yields.html</a:t>
            </a:r>
          </a:p>
          <a:p>
            <a:r>
              <a:rPr lang="en-US" dirty="0">
                <a:latin typeface="Times" pitchFamily="3" charset="0"/>
              </a:rPr>
              <a:t>https://www.ecb.europa.eu/stats/money/yc/html/index.en.html</a:t>
            </a:r>
          </a:p>
          <a:p>
            <a:endParaRPr lang="en-US" dirty="0">
              <a:latin typeface="Times" pitchFamily="3" charset="0"/>
            </a:endParaRPr>
          </a:p>
          <a:p>
            <a:endParaRPr lang="en-US" dirty="0">
              <a:latin typeface="Times" pitchFamily="3" charset="0"/>
            </a:endParaRPr>
          </a:p>
          <a:p>
            <a:endParaRPr lang="en-US" dirty="0">
              <a:latin typeface="Times" pitchFamily="3" charset="0"/>
            </a:endParaRPr>
          </a:p>
          <a:p>
            <a:r>
              <a:rPr lang="en-US" dirty="0">
                <a:latin typeface="Times" pitchFamily="3" charset="0"/>
              </a:rPr>
              <a:t>A very interesting</a:t>
            </a:r>
            <a:r>
              <a:rPr lang="en-US" baseline="0" dirty="0">
                <a:latin typeface="Times" pitchFamily="3" charset="0"/>
              </a:rPr>
              <a:t> story about the QE program announced January 2015 by ECB</a:t>
            </a:r>
          </a:p>
          <a:p>
            <a:endParaRPr lang="en-US" baseline="0" dirty="0">
              <a:latin typeface="Times" pitchFamily="3" charset="0"/>
            </a:endParaRPr>
          </a:p>
          <a:p>
            <a:r>
              <a:rPr lang="en-US" dirty="0">
                <a:latin typeface="Times" pitchFamily="3" charset="0"/>
              </a:rPr>
              <a:t>http://www.cnbc.com/id/102353935</a:t>
            </a:r>
          </a:p>
        </p:txBody>
      </p:sp>
    </p:spTree>
    <p:extLst>
      <p:ext uri="{BB962C8B-B14F-4D97-AF65-F5344CB8AC3E}">
        <p14:creationId xmlns:p14="http://schemas.microsoft.com/office/powerpoint/2010/main" val="33926963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problem evidently highlighted in this</a:t>
            </a:r>
            <a:r>
              <a:rPr lang="en-GB" baseline="0" dirty="0"/>
              <a:t> graph is what we call contagious effects. The Greek bonds have become very risky. Therefore, investors “flee” to “safe” assets. This has as a result the increase (decrease) of the price of the safe (risky) assets. Therefore, their yields decrease (increase). </a:t>
            </a:r>
          </a:p>
          <a:p>
            <a:endParaRPr lang="en-GB" baseline="0" dirty="0"/>
          </a:p>
          <a:p>
            <a:r>
              <a:rPr lang="en-GB" baseline="0" dirty="0"/>
              <a:t>When are the rates clean of contagious effects?</a:t>
            </a:r>
          </a:p>
          <a:p>
            <a:endParaRPr lang="en-GB" dirty="0"/>
          </a:p>
          <a:p>
            <a:r>
              <a:rPr lang="en-GB" dirty="0"/>
              <a:t>This is a very</a:t>
            </a:r>
            <a:r>
              <a:rPr lang="en-GB" baseline="0" dirty="0"/>
              <a:t> tricky question. Again there is no clear answer. We need to make an assumption. Especially for 2015, the yields are heavily depending on the QE program of ECB + the impact o riskier securities of the European periphery. This means that the estimate of the German bond yield is significantly lower than it should be, based on the fundamentals of the country. What we choose depends on what we believe/expect/assume</a:t>
            </a:r>
          </a:p>
          <a:p>
            <a:endParaRPr lang="en-GB" baseline="0" dirty="0"/>
          </a:p>
          <a:p>
            <a:r>
              <a:rPr lang="en-GB" baseline="0" dirty="0"/>
              <a:t>One school of thought follows the idea that we need to evaluate the business today and so we take the (today’s) estimate of the least risky asset.</a:t>
            </a:r>
          </a:p>
          <a:p>
            <a:r>
              <a:rPr lang="en-GB" baseline="0" dirty="0"/>
              <a:t>Another school of thought focuses on the fact that the evaluation is a forward looking process. What we try to do is the price that the asset should be valued at. If we consider that the current condition of the market is temporary (this is like assuming that the market soon will move towards a known direction, i.e., the end of the QE program), then we might better consider a longer term average rate.</a:t>
            </a:r>
          </a:p>
          <a:p>
            <a:endParaRPr lang="en-GB" baseline="0" dirty="0"/>
          </a:p>
          <a:p>
            <a:r>
              <a:rPr lang="en-GB" baseline="0" dirty="0"/>
              <a:t>Again, I hope that you started realising that everything depends on our assumptions</a:t>
            </a:r>
          </a:p>
        </p:txBody>
      </p:sp>
    </p:spTree>
    <p:extLst>
      <p:ext uri="{BB962C8B-B14F-4D97-AF65-F5344CB8AC3E}">
        <p14:creationId xmlns:p14="http://schemas.microsoft.com/office/powerpoint/2010/main" val="3586796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2882" name="Slide Image Placeholder 1"/>
          <p:cNvSpPr>
            <a:spLocks noGrp="1" noRot="1" noChangeAspect="1" noTextEdit="1"/>
          </p:cNvSpPr>
          <p:nvPr>
            <p:ph type="sldImg"/>
          </p:nvPr>
        </p:nvSpPr>
        <p:spPr>
          <a:xfrm>
            <a:off x="3243263" y="514350"/>
            <a:ext cx="3386137" cy="2540000"/>
          </a:xfrm>
          <a:ln/>
        </p:spPr>
      </p:sp>
      <p:sp>
        <p:nvSpPr>
          <p:cNvPr id="762883" name="Notes Placeholder 2"/>
          <p:cNvSpPr>
            <a:spLocks noGrp="1"/>
          </p:cNvSpPr>
          <p:nvPr>
            <p:ph type="body" idx="1"/>
          </p:nvPr>
        </p:nvSpPr>
        <p:spPr>
          <a:noFill/>
          <a:ln w="9525"/>
        </p:spPr>
        <p:txBody>
          <a:bodyPr/>
          <a:lstStyle/>
          <a:p>
            <a:r>
              <a:rPr lang="en-US" dirty="0">
                <a:latin typeface="Times" pitchFamily="3" charset="0"/>
              </a:rPr>
              <a:t>The government bond rate is not </a:t>
            </a:r>
            <a:r>
              <a:rPr lang="en-US" dirty="0" err="1">
                <a:latin typeface="Times" pitchFamily="3" charset="0"/>
              </a:rPr>
              <a:t>riskfree</a:t>
            </a:r>
            <a:r>
              <a:rPr lang="en-US" dirty="0">
                <a:latin typeface="Times" pitchFamily="3" charset="0"/>
              </a:rPr>
              <a:t>. To get to a </a:t>
            </a:r>
            <a:r>
              <a:rPr lang="en-US" dirty="0" err="1">
                <a:latin typeface="Times" pitchFamily="3" charset="0"/>
              </a:rPr>
              <a:t>riskfree</a:t>
            </a:r>
            <a:r>
              <a:rPr lang="en-US" dirty="0">
                <a:latin typeface="Times" pitchFamily="3" charset="0"/>
              </a:rPr>
              <a:t> rate, you would subtract out the default spread from the nominal bond rate to get to a </a:t>
            </a:r>
            <a:r>
              <a:rPr lang="en-US" dirty="0" err="1">
                <a:latin typeface="Times" pitchFamily="3" charset="0"/>
              </a:rPr>
              <a:t>riskfree</a:t>
            </a:r>
            <a:r>
              <a:rPr lang="en-US" dirty="0">
                <a:latin typeface="Times" pitchFamily="3" charset="0"/>
              </a:rPr>
              <a:t> rate.</a:t>
            </a:r>
          </a:p>
          <a:p>
            <a:endParaRPr lang="en-US" dirty="0">
              <a:latin typeface="Times" pitchFamily="3" charset="0"/>
            </a:endParaRPr>
          </a:p>
          <a:p>
            <a:endParaRPr lang="en-US" dirty="0">
              <a:latin typeface="Times" pitchFamily="3" charset="0"/>
            </a:endParaRPr>
          </a:p>
          <a:p>
            <a:r>
              <a:rPr lang="en-US" dirty="0">
                <a:latin typeface="Times" pitchFamily="3" charset="0"/>
              </a:rPr>
              <a:t>We can find default</a:t>
            </a:r>
            <a:r>
              <a:rPr lang="en-US" baseline="0" dirty="0">
                <a:latin typeface="Times" pitchFamily="3" charset="0"/>
              </a:rPr>
              <a:t> rate </a:t>
            </a:r>
            <a:r>
              <a:rPr lang="en-US" baseline="0" dirty="0" err="1">
                <a:latin typeface="Times" pitchFamily="3" charset="0"/>
              </a:rPr>
              <a:t>premia</a:t>
            </a:r>
            <a:endParaRPr lang="en-US" baseline="0" dirty="0">
              <a:latin typeface="Times" pitchFamily="3" charset="0"/>
            </a:endParaRPr>
          </a:p>
          <a:p>
            <a:r>
              <a:rPr lang="en-US" baseline="0" dirty="0">
                <a:latin typeface="Times" pitchFamily="3" charset="0"/>
              </a:rPr>
              <a:t>http://pages.stern.nyu.edu/~adamodar/New_Home_Page/datafile/ctryprem.html</a:t>
            </a:r>
          </a:p>
          <a:p>
            <a:endParaRPr lang="en-US" baseline="0" dirty="0">
              <a:latin typeface="Times" pitchFamily="3"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Helvetica" pitchFamily="3" charset="0"/>
              </a:rPr>
              <a:t>http://countryeconomy.com/risk-premium</a:t>
            </a:r>
          </a:p>
          <a:p>
            <a:endParaRPr lang="en-US" dirty="0">
              <a:latin typeface="Times" pitchFamily="3" charset="0"/>
            </a:endParaRPr>
          </a:p>
          <a:p>
            <a:r>
              <a:rPr lang="en-US" dirty="0">
                <a:latin typeface="Times" pitchFamily="3" charset="0"/>
              </a:rPr>
              <a:t>Or</a:t>
            </a:r>
            <a:r>
              <a:rPr lang="en-US" baseline="0" dirty="0">
                <a:latin typeface="Times" pitchFamily="3" charset="0"/>
              </a:rPr>
              <a:t> in the CDS market </a:t>
            </a:r>
          </a:p>
          <a:p>
            <a:endParaRPr lang="en-US" baseline="0" dirty="0">
              <a:latin typeface="Times" pitchFamily="3" charset="0"/>
            </a:endParaRPr>
          </a:p>
          <a:p>
            <a:r>
              <a:rPr lang="en-US" baseline="0" dirty="0">
                <a:latin typeface="Times" pitchFamily="3" charset="0"/>
              </a:rPr>
              <a:t>Or in country ratings </a:t>
            </a:r>
          </a:p>
          <a:p>
            <a:endParaRPr lang="en-US" baseline="0" dirty="0">
              <a:latin typeface="Times" pitchFamily="3" charset="0"/>
            </a:endParaRPr>
          </a:p>
          <a:p>
            <a:r>
              <a:rPr lang="en-US" dirty="0">
                <a:latin typeface="Times" pitchFamily="3" charset="0"/>
              </a:rPr>
              <a:t>http://www.tradingeconomics.com/country-list/rating</a:t>
            </a:r>
          </a:p>
          <a:p>
            <a:r>
              <a:rPr lang="en-US" dirty="0">
                <a:latin typeface="Times" pitchFamily="3" charset="0"/>
              </a:rPr>
              <a:t>http://countryeconomy.com/ratings</a:t>
            </a:r>
          </a:p>
          <a:p>
            <a:r>
              <a:rPr lang="en-US" dirty="0">
                <a:latin typeface="Times" pitchFamily="3" charset="0"/>
              </a:rPr>
              <a:t>https://en.wikipedia.org/wiki/List_of_countries_by_credit_rating</a:t>
            </a:r>
          </a:p>
          <a:p>
            <a:r>
              <a:rPr lang="en-US" dirty="0">
                <a:latin typeface="Times" pitchFamily="3" charset="0"/>
              </a:rPr>
              <a:t>http://www.learningace.com/doc/917159/a1ac9eb840f25669ff6bef45119a22a3/bond-ratings-and-default-spreads-for-different-countries</a:t>
            </a:r>
          </a:p>
          <a:p>
            <a:endParaRPr lang="en-US" dirty="0">
              <a:latin typeface="Times" pitchFamily="3" charset="0"/>
            </a:endParaRPr>
          </a:p>
        </p:txBody>
      </p:sp>
    </p:spTree>
    <p:extLst>
      <p:ext uri="{BB962C8B-B14F-4D97-AF65-F5344CB8AC3E}">
        <p14:creationId xmlns:p14="http://schemas.microsoft.com/office/powerpoint/2010/main" val="15211639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Rot="1" noChangeAspect="1" noChangeArrowheads="1" noTextEdit="1"/>
          </p:cNvSpPr>
          <p:nvPr>
            <p:ph type="sldImg"/>
          </p:nvPr>
        </p:nvSpPr>
        <p:spPr>
          <a:xfrm>
            <a:off x="3243263" y="514350"/>
            <a:ext cx="3386137" cy="2540000"/>
          </a:xfrm>
          <a:ln/>
        </p:spPr>
      </p:sp>
      <p:sp>
        <p:nvSpPr>
          <p:cNvPr id="391174" name="Rectangle 6"/>
          <p:cNvSpPr>
            <a:spLocks noGrp="1" noChangeArrowheads="1"/>
          </p:cNvSpPr>
          <p:nvPr>
            <p:ph type="body" idx="1"/>
          </p:nvPr>
        </p:nvSpPr>
        <p:spPr/>
        <p:txBody>
          <a:bodyPr/>
          <a:lstStyle/>
          <a:p>
            <a:endParaRPr lang="en-US" dirty="0"/>
          </a:p>
          <a:p>
            <a:r>
              <a:rPr lang="en-US" dirty="0"/>
              <a:t>In general, while many practitioners use the last approach (working with a different, more stable currency) to avoid having to deal with inflation in the local currency, they shift the problem of making these estimates to the </a:t>
            </a:r>
            <a:r>
              <a:rPr lang="en-US" dirty="0" err="1"/>
              <a:t>cashflows</a:t>
            </a:r>
            <a:r>
              <a:rPr lang="en-US" dirty="0"/>
              <a:t> from the discount rates.</a:t>
            </a:r>
          </a:p>
          <a:p>
            <a:endParaRPr lang="en-US" dirty="0"/>
          </a:p>
          <a:p>
            <a:r>
              <a:rPr lang="en-US" dirty="0"/>
              <a:t>However, in case you choose</a:t>
            </a:r>
            <a:r>
              <a:rPr lang="en-US" baseline="0" dirty="0"/>
              <a:t> the first approach, you might find it difficult to find the default spread. In that case you might want to consider an interchange between sovereign default spread and </a:t>
            </a:r>
            <a:r>
              <a:rPr lang="en-US" baseline="0" dirty="0" err="1"/>
              <a:t>cds</a:t>
            </a:r>
            <a:r>
              <a:rPr lang="en-US" baseline="0" dirty="0"/>
              <a:t>. </a:t>
            </a:r>
            <a:r>
              <a:rPr lang="en-US" dirty="0">
                <a:latin typeface="Times" pitchFamily="3" charset="0"/>
              </a:rPr>
              <a:t>The advantage of the CDS market is that the spreads are available on a lot more countries and are constantly updated.</a:t>
            </a:r>
          </a:p>
          <a:p>
            <a:endParaRPr lang="en-US" dirty="0">
              <a:latin typeface="Times" pitchFamily="3" charset="0"/>
            </a:endParaRPr>
          </a:p>
          <a:p>
            <a:r>
              <a:rPr lang="en-US" dirty="0">
                <a:latin typeface="Times" pitchFamily="3" charset="0"/>
              </a:rPr>
              <a:t>You can find a further discussion of CDS</a:t>
            </a:r>
            <a:r>
              <a:rPr lang="en-US" baseline="0" dirty="0">
                <a:latin typeface="Times" pitchFamily="3" charset="0"/>
              </a:rPr>
              <a:t> here</a:t>
            </a:r>
          </a:p>
          <a:p>
            <a:endParaRPr lang="en-US" baseline="0" dirty="0">
              <a:latin typeface="Times" pitchFamily="3" charset="0"/>
            </a:endParaRPr>
          </a:p>
          <a:p>
            <a:r>
              <a:rPr lang="en-US" dirty="0"/>
              <a:t>https://en.wikipedia.org/wiki/Credit_default_swap</a:t>
            </a:r>
          </a:p>
          <a:p>
            <a:endParaRPr lang="en-US" dirty="0"/>
          </a:p>
          <a:p>
            <a:r>
              <a:rPr lang="en-US" dirty="0"/>
              <a:t>You can find data</a:t>
            </a:r>
            <a:r>
              <a:rPr lang="en-US" baseline="0" dirty="0"/>
              <a:t> here</a:t>
            </a:r>
          </a:p>
          <a:p>
            <a:endParaRPr lang="en-US" baseline="0" dirty="0"/>
          </a:p>
          <a:p>
            <a:r>
              <a:rPr lang="en-US" dirty="0"/>
              <a:t>http://www.isdacdsmarketplace.com/</a:t>
            </a:r>
          </a:p>
          <a:p>
            <a:endParaRPr lang="en-US" dirty="0"/>
          </a:p>
          <a:p>
            <a:endParaRPr lang="en-GB" dirty="0"/>
          </a:p>
          <a:p>
            <a:endParaRPr lang="en-GB" dirty="0"/>
          </a:p>
          <a:p>
            <a:endParaRPr lang="en-GB" dirty="0"/>
          </a:p>
          <a:p>
            <a:r>
              <a:rPr lang="en-GB" dirty="0"/>
              <a:t>Another approach to estimate the risk free rate when</a:t>
            </a:r>
            <a:r>
              <a:rPr lang="en-GB" baseline="0" dirty="0"/>
              <a:t> there are no default free entities is the use of forward rates. (Purchasing parity or big mac index)</a:t>
            </a:r>
          </a:p>
          <a:p>
            <a:endParaRPr lang="en-GB" baseline="0" dirty="0"/>
          </a:p>
          <a:p>
            <a:endParaRPr lang="en-GB" baseline="0" dirty="0"/>
          </a:p>
          <a:p>
            <a:r>
              <a:rPr lang="en-US" baseline="0" dirty="0"/>
              <a:t>Use forward rates and the riskless rate in an index currency (say Euros or dollars) to estimate the riskless rate in the local currency.</a:t>
            </a:r>
            <a:r>
              <a:rPr lang="en-GB" baseline="0" dirty="0"/>
              <a:t>  For example: </a:t>
            </a:r>
            <a:r>
              <a:rPr lang="en-US" baseline="0" dirty="0"/>
              <a:t>If the current spot rate is 38.10 Thai Baht per US dollar, the ten-year forward rate is 61.36 Baht per dollar and the current ten-year US treasury bond rate is 5%, the ten-year Thai risk free rate (in nominal Baht) can be estimated as follows</a:t>
            </a:r>
          </a:p>
          <a:p>
            <a:endParaRPr lang="en-GB" baseline="0" dirty="0"/>
          </a:p>
          <a:p>
            <a:endParaRPr lang="en-GB" baseline="0" dirty="0"/>
          </a:p>
          <a:p>
            <a:r>
              <a:rPr lang="en-GB" dirty="0"/>
              <a:t>Forward</a:t>
            </a:r>
            <a:r>
              <a:rPr lang="en-GB" baseline="0" dirty="0"/>
              <a:t> = Spot [(1+ Local Rate) / (1+ Foreign Rate)]</a:t>
            </a:r>
          </a:p>
          <a:p>
            <a:r>
              <a:rPr lang="en-GB" baseline="0" dirty="0"/>
              <a:t>61.36 = 38.1[(1+ Local Rate) / (1 + 0.05)]</a:t>
            </a:r>
          </a:p>
          <a:p>
            <a:r>
              <a:rPr lang="en-GB" baseline="0" dirty="0"/>
              <a:t>Local Rate is 10.12% </a:t>
            </a:r>
            <a:endParaRPr lang="en-GB" dirty="0"/>
          </a:p>
          <a:p>
            <a:endParaRPr lang="en-US" baseline="0" dirty="0"/>
          </a:p>
          <a:p>
            <a:endParaRPr lang="en-GB" baseline="0" dirty="0"/>
          </a:p>
          <a:p>
            <a:endParaRPr lang="en-US" baseline="0" dirty="0"/>
          </a:p>
          <a:p>
            <a:endParaRPr lang="en-US" dirty="0"/>
          </a:p>
        </p:txBody>
      </p:sp>
      <p:graphicFrame>
        <p:nvGraphicFramePr>
          <p:cNvPr id="391175" name="Object 7"/>
          <p:cNvGraphicFramePr>
            <a:graphicFrameLocks noChangeAspect="1"/>
          </p:cNvGraphicFramePr>
          <p:nvPr/>
        </p:nvGraphicFramePr>
        <p:xfrm>
          <a:off x="2961802" y="4701726"/>
          <a:ext cx="3510280" cy="321001"/>
        </p:xfrm>
        <a:graphic>
          <a:graphicData uri="http://schemas.openxmlformats.org/presentationml/2006/ole">
            <mc:AlternateContent xmlns:mc="http://schemas.openxmlformats.org/markup-compatibility/2006">
              <mc:Choice xmlns:v="urn:schemas-microsoft-com:vml" Requires="v">
                <p:oleObj name="Equation" r:id="rId3" imgW="2438400" imgH="431800" progId="Equation.3">
                  <p:embed/>
                </p:oleObj>
              </mc:Choice>
              <mc:Fallback>
                <p:oleObj name="Equation" r:id="rId3" imgW="2438400" imgH="431800" progId="Equation.3">
                  <p:embed/>
                  <p:pic>
                    <p:nvPicPr>
                      <p:cNvPr id="391175"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1802" y="4701726"/>
                        <a:ext cx="3510280" cy="321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6592321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Country risk (default) premiums are taken from Damodaran</a:t>
            </a:r>
          </a:p>
          <a:p>
            <a:endParaRPr lang="en-GB" dirty="0"/>
          </a:p>
          <a:p>
            <a:r>
              <a:rPr lang="en-GB" dirty="0"/>
              <a:t>https://pages.stern.nyu.edu/~adamodar/New_Home_Page/datafile/ctryprem.html</a:t>
            </a:r>
          </a:p>
          <a:p>
            <a:endParaRPr lang="en-GB" dirty="0"/>
          </a:p>
          <a:p>
            <a:r>
              <a:rPr lang="en-GB" dirty="0"/>
              <a:t>Please note that the default rates refer to the country (probability the country will default)</a:t>
            </a:r>
          </a:p>
          <a:p>
            <a:r>
              <a:rPr lang="en-GB" dirty="0"/>
              <a:t>The equity risk premia refer to the private sector (probability that the private sector (e.g., listed firms) will default)</a:t>
            </a:r>
          </a:p>
          <a:p>
            <a:endParaRPr lang="en-GB" dirty="0"/>
          </a:p>
        </p:txBody>
      </p:sp>
    </p:spTree>
    <p:extLst>
      <p:ext uri="{BB962C8B-B14F-4D97-AF65-F5344CB8AC3E}">
        <p14:creationId xmlns:p14="http://schemas.microsoft.com/office/powerpoint/2010/main" val="33681620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Data for the graph</a:t>
            </a:r>
          </a:p>
          <a:p>
            <a:r>
              <a:rPr lang="fr-FR" dirty="0"/>
              <a:t>www.stern.nyu.edu/~adamodar/pc/datasets/currencyriskfree2019.xls</a:t>
            </a:r>
          </a:p>
          <a:p>
            <a:r>
              <a:rPr lang="en-GB" dirty="0"/>
              <a:t>http://aswathdamodaran.blogspot.com/2020/02/data-update-4-country-risk-and-currency.html (keep</a:t>
            </a:r>
            <a:r>
              <a:rPr lang="en-GB" baseline="0" dirty="0"/>
              <a:t> an eye for the update; usually around mid Feb).</a:t>
            </a:r>
            <a:endParaRPr lang="en-GB" dirty="0"/>
          </a:p>
          <a:p>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err="1">
                <a:latin typeface="Times" pitchFamily="-84" charset="0"/>
              </a:rPr>
              <a:t>Riskfree</a:t>
            </a:r>
            <a:r>
              <a:rPr lang="en-US" dirty="0">
                <a:latin typeface="Times" pitchFamily="-84" charset="0"/>
              </a:rPr>
              <a:t> rates should vary primarily because of differences in expected inflation. Whatever you gain by using a low </a:t>
            </a:r>
            <a:r>
              <a:rPr lang="en-US" dirty="0" err="1">
                <a:latin typeface="Times" pitchFamily="-84" charset="0"/>
              </a:rPr>
              <a:t>riskfree</a:t>
            </a:r>
            <a:r>
              <a:rPr lang="en-US" dirty="0">
                <a:latin typeface="Times" pitchFamily="-84" charset="0"/>
              </a:rPr>
              <a:t> rate currency in your discount rate, you will lose in your expected growth rate.</a:t>
            </a:r>
          </a:p>
          <a:p>
            <a:endParaRPr lang="en-GB" dirty="0"/>
          </a:p>
          <a:p>
            <a:r>
              <a:rPr lang="en-GB" dirty="0">
                <a:latin typeface="Times" pitchFamily="-84" charset="0"/>
              </a:rPr>
              <a:t>You</a:t>
            </a:r>
            <a:r>
              <a:rPr lang="en-GB" baseline="0" dirty="0">
                <a:latin typeface="Times" pitchFamily="-84" charset="0"/>
              </a:rPr>
              <a:t> can also find a very nice discussion of the impact of inflation on risk free rates.</a:t>
            </a:r>
            <a:endParaRPr lang="en-US" dirty="0">
              <a:latin typeface="Times" pitchFamily="-84" charset="0"/>
            </a:endParaRPr>
          </a:p>
          <a:p>
            <a:endParaRPr lang="en-GB" dirty="0">
              <a:latin typeface="Times" pitchFamily="-84" charset="0"/>
            </a:endParaRPr>
          </a:p>
          <a:p>
            <a:endParaRPr lang="en-GB" dirty="0">
              <a:latin typeface="Times" pitchFamily="-84" charset="0"/>
            </a:endParaRPr>
          </a:p>
          <a:p>
            <a:r>
              <a:rPr lang="en-GB" dirty="0">
                <a:latin typeface="Times" pitchFamily="-84" charset="0"/>
              </a:rPr>
              <a:t>An interesting story on how the countries are</a:t>
            </a:r>
            <a:r>
              <a:rPr lang="en-GB" baseline="0" dirty="0">
                <a:latin typeface="Times" pitchFamily="-84" charset="0"/>
              </a:rPr>
              <a:t> interlinked and how this affects the value of the currency and thus inflation. Even more, we try to forecast the risk free rate. Inflation is important and we need to estimate its future value. The Fed has determined this for China. Try to think; how could somebody foresee or anticipate this move, without taking a bet against the market?</a:t>
            </a:r>
          </a:p>
          <a:p>
            <a:endParaRPr lang="en-GB" baseline="0" dirty="0">
              <a:latin typeface="Times" pitchFamily="-84" charset="0"/>
            </a:endParaRPr>
          </a:p>
          <a:p>
            <a:r>
              <a:rPr lang="en-US" dirty="0">
                <a:latin typeface="Times" pitchFamily="-84" charset="0"/>
              </a:rPr>
              <a:t>http://www.telegraph.co.uk/finance/economics/12141369/Dollar-tumbles-as-Fed-rescues-China-in-the-nick-of-time.html</a:t>
            </a:r>
          </a:p>
          <a:p>
            <a:endParaRPr lang="fr-FR" dirty="0"/>
          </a:p>
          <a:p>
            <a:r>
              <a:rPr lang="fr-FR" dirty="0"/>
              <a:t>Inflation affects </a:t>
            </a:r>
            <a:r>
              <a:rPr lang="fr-FR" dirty="0" err="1"/>
              <a:t>even</a:t>
            </a:r>
            <a:r>
              <a:rPr lang="fr-FR" dirty="0"/>
              <a:t> the value of crypto-</a:t>
            </a:r>
            <a:r>
              <a:rPr lang="fr-FR" dirty="0" err="1"/>
              <a:t>currencies</a:t>
            </a:r>
            <a:r>
              <a:rPr lang="fr-FR" baseline="0" dirty="0"/>
              <a:t> https://www.marketplace.org/2022/01/06/why-interest-rates-stocks-crypto-are-sometimes-correlated/</a:t>
            </a:r>
            <a:endParaRPr lang="fr-FR" dirty="0"/>
          </a:p>
        </p:txBody>
      </p:sp>
    </p:spTree>
    <p:extLst>
      <p:ext uri="{BB962C8B-B14F-4D97-AF65-F5344CB8AC3E}">
        <p14:creationId xmlns:p14="http://schemas.microsoft.com/office/powerpoint/2010/main" val="12118731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Rot="1" noChangeAspect="1" noChangeArrowheads="1" noTextEdit="1"/>
          </p:cNvSpPr>
          <p:nvPr>
            <p:ph type="sldImg"/>
          </p:nvPr>
        </p:nvSpPr>
        <p:spPr>
          <a:xfrm>
            <a:off x="3243263" y="514350"/>
            <a:ext cx="3386137" cy="2540000"/>
          </a:xfrm>
          <a:ln/>
        </p:spPr>
      </p:sp>
      <p:sp>
        <p:nvSpPr>
          <p:cNvPr id="392195" name="Rectangle 3"/>
          <p:cNvSpPr>
            <a:spLocks noGrp="1" noChangeArrowheads="1"/>
          </p:cNvSpPr>
          <p:nvPr>
            <p:ph type="body" idx="1"/>
          </p:nvPr>
        </p:nvSpPr>
        <p:spPr/>
        <p:txBody>
          <a:bodyPr/>
          <a:lstStyle/>
          <a:p>
            <a:r>
              <a:rPr lang="en-US"/>
              <a:t>The correct riskfree rate is the treasury bond rate. The C-Bond has a default spread component -the additional country risk can be built into the equity risk premium..</a:t>
            </a:r>
          </a:p>
        </p:txBody>
      </p:sp>
    </p:spTree>
    <p:extLst>
      <p:ext uri="{BB962C8B-B14F-4D97-AF65-F5344CB8AC3E}">
        <p14:creationId xmlns:p14="http://schemas.microsoft.com/office/powerpoint/2010/main" val="38925697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p:cNvSpPr>
            <a:spLocks noGrp="1" noRot="1" noChangeAspect="1" noChangeArrowheads="1" noTextEdit="1"/>
          </p:cNvSpPr>
          <p:nvPr>
            <p:ph type="sldImg"/>
          </p:nvPr>
        </p:nvSpPr>
        <p:spPr>
          <a:xfrm>
            <a:off x="3243263" y="514350"/>
            <a:ext cx="3386137" cy="2540000"/>
          </a:xfrm>
          <a:ln/>
        </p:spPr>
      </p:sp>
      <p:sp>
        <p:nvSpPr>
          <p:cNvPr id="393219" name="Rectangle 3"/>
          <p:cNvSpPr>
            <a:spLocks noGrp="1" noChangeArrowheads="1"/>
          </p:cNvSpPr>
          <p:nvPr>
            <p:ph type="body" idx="1"/>
          </p:nvPr>
        </p:nvSpPr>
        <p:spPr/>
        <p:txBody>
          <a:bodyPr/>
          <a:lstStyle/>
          <a:p>
            <a:r>
              <a:rPr lang="en-US" dirty="0"/>
              <a:t>Data taken from (keep an eye for an update</a:t>
            </a:r>
            <a:r>
              <a:rPr lang="en-US" baseline="0" dirty="0"/>
              <a:t>; around mid Feb)</a:t>
            </a:r>
            <a:endParaRPr lang="en-US" dirty="0"/>
          </a:p>
          <a:p>
            <a:endParaRPr lang="en-US" dirty="0"/>
          </a:p>
          <a:p>
            <a:r>
              <a:rPr lang="en-US" dirty="0"/>
              <a:t>https://seekingalpha.com/article/4400268-data-update-2-for-2021-price-of-risk</a:t>
            </a:r>
          </a:p>
          <a:p>
            <a:endParaRPr lang="en-US" dirty="0"/>
          </a:p>
          <a:p>
            <a:endParaRPr lang="en-US" dirty="0"/>
          </a:p>
          <a:p>
            <a:endParaRPr lang="en-US" dirty="0"/>
          </a:p>
          <a:p>
            <a:endParaRPr lang="en-US" dirty="0"/>
          </a:p>
          <a:p>
            <a:r>
              <a:rPr lang="en-US" dirty="0"/>
              <a:t>While everyone uses historical risk premiums, the actual premium in use can vary depending upon</a:t>
            </a:r>
          </a:p>
          <a:p>
            <a:pPr lvl="1">
              <a:buFontTx/>
              <a:buChar char="•"/>
            </a:pPr>
            <a:r>
              <a:rPr lang="en-US" dirty="0"/>
              <a:t>How far back you go in time</a:t>
            </a:r>
          </a:p>
          <a:p>
            <a:pPr lvl="1">
              <a:buFontTx/>
              <a:buChar char="•"/>
            </a:pPr>
            <a:r>
              <a:rPr lang="en-US" dirty="0"/>
              <a:t>Whether you </a:t>
            </a:r>
            <a:r>
              <a:rPr lang="en-US" dirty="0" err="1"/>
              <a:t>T.Bills</a:t>
            </a:r>
            <a:r>
              <a:rPr lang="en-US" dirty="0"/>
              <a:t> or </a:t>
            </a:r>
            <a:r>
              <a:rPr lang="en-US" dirty="0" err="1"/>
              <a:t>T.Bonds</a:t>
            </a:r>
            <a:endParaRPr lang="en-US" dirty="0"/>
          </a:p>
          <a:p>
            <a:pPr lvl="1">
              <a:buFontTx/>
              <a:buChar char="•"/>
            </a:pPr>
            <a:r>
              <a:rPr lang="en-US" dirty="0"/>
              <a:t>Whether you use arithmetic or geometric averages</a:t>
            </a:r>
          </a:p>
          <a:p>
            <a:pPr>
              <a:buFontTx/>
              <a:buChar char="•"/>
            </a:pPr>
            <a:r>
              <a:rPr lang="en-US" dirty="0"/>
              <a:t>This table was developed using data that is publicly accessible on the S&amp;P 500, treasury bills and 10-year treasury bonds on the Federal Reserve of St. Louis web site.</a:t>
            </a:r>
          </a:p>
          <a:p>
            <a:pPr algn="ctr"/>
            <a:endParaRPr lang="en-US" dirty="0"/>
          </a:p>
          <a:p>
            <a:pPr algn="ctr"/>
            <a:r>
              <a:rPr lang="en-US" dirty="0"/>
              <a:t>An interesting issue that has been raised by some researchers is that there may be a selection bias here. The U.S. stock market was undoubtedly the most successful equity market of the 20th century. Not surprisingly, you find that it earned a healthy premium over riskless rates. A more realistic estimate of the premium would require looking at the ten largest equity markets in the early part of the century and estimating the average premium you would have earned over all ten markets. A study at the London Business School that did this found an average equity risk premium of only 4% across these markets.</a:t>
            </a:r>
          </a:p>
          <a:p>
            <a:pPr algn="ctr"/>
            <a:endParaRPr lang="en-GB" dirty="0"/>
          </a:p>
          <a:p>
            <a:pPr algn="l"/>
            <a:r>
              <a:rPr lang="en-GB" dirty="0"/>
              <a:t>Data is taken</a:t>
            </a:r>
            <a:r>
              <a:rPr lang="en-GB" baseline="0" dirty="0"/>
              <a:t> from </a:t>
            </a:r>
          </a:p>
          <a:p>
            <a:pPr algn="l"/>
            <a:endParaRPr lang="en-GB" baseline="0" dirty="0"/>
          </a:p>
          <a:p>
            <a:pPr algn="l"/>
            <a:r>
              <a:rPr lang="en-US" dirty="0"/>
              <a:t>www.stern.nyu.edu/~adamodar/pc/datasets/histretSP.xls</a:t>
            </a:r>
          </a:p>
          <a:p>
            <a:pPr algn="ctr"/>
            <a:endParaRPr lang="en-US" b="1" dirty="0"/>
          </a:p>
          <a:p>
            <a:pPr algn="ctr"/>
            <a:endParaRPr lang="en-US" b="1" dirty="0"/>
          </a:p>
          <a:p>
            <a:pPr algn="ctr"/>
            <a:endParaRPr lang="en-US" b="1" dirty="0"/>
          </a:p>
          <a:p>
            <a:endParaRPr lang="en-US" dirty="0"/>
          </a:p>
          <a:p>
            <a:r>
              <a:rPr lang="en-US" dirty="0"/>
              <a:t>If you choose to</a:t>
            </a:r>
            <a:r>
              <a:rPr lang="en-US" baseline="0" dirty="0"/>
              <a:t> use historical premiums:</a:t>
            </a:r>
            <a:endParaRPr lang="en-US" dirty="0"/>
          </a:p>
          <a:p>
            <a:endParaRPr lang="en-US" dirty="0"/>
          </a:p>
          <a:p>
            <a:pPr marL="171450" indent="-171450">
              <a:buFont typeface="Arial" panose="020B0604020202020204" pitchFamily="34" charset="0"/>
              <a:buChar char="•"/>
            </a:pPr>
            <a:r>
              <a:rPr lang="en-US" dirty="0"/>
              <a:t>Go back as far as you can. </a:t>
            </a:r>
          </a:p>
          <a:p>
            <a:pPr marL="171450" indent="-171450">
              <a:buFont typeface="Arial" panose="020B0604020202020204" pitchFamily="34" charset="0"/>
              <a:buChar char="•"/>
            </a:pPr>
            <a:r>
              <a:rPr lang="en-US" dirty="0"/>
              <a:t>Be consistent in your use of the risk free rate. Since we argued for long term bond rates, the premium should be the one over </a:t>
            </a:r>
            <a:r>
              <a:rPr lang="en-US" dirty="0" err="1"/>
              <a:t>T.Bonds</a:t>
            </a:r>
            <a:endParaRPr lang="en-US" dirty="0"/>
          </a:p>
          <a:p>
            <a:pPr marL="171450" indent="-171450">
              <a:buFont typeface="Arial" panose="020B0604020202020204" pitchFamily="34" charset="0"/>
              <a:buChar char="•"/>
            </a:pPr>
            <a:r>
              <a:rPr lang="en-US" dirty="0"/>
              <a:t>Use the geometric risk premium. It is closer to how investors think about risk premiums over long periods.</a:t>
            </a:r>
          </a:p>
          <a:p>
            <a:endParaRPr lang="en-US" dirty="0"/>
          </a:p>
          <a:p>
            <a:endParaRPr lang="en-US" dirty="0"/>
          </a:p>
          <a:p>
            <a:endParaRPr lang="en-US" dirty="0"/>
          </a:p>
          <a:p>
            <a:r>
              <a:rPr lang="en-US" dirty="0"/>
              <a:t>The noise in stock prices is such that you need 100-150 years of data to arrive at reasonably small standard errors. It is pointless estimating risk premiums with 10-20 years of data.</a:t>
            </a:r>
          </a:p>
          <a:p>
            <a:r>
              <a:rPr lang="en-US" dirty="0"/>
              <a:t>Consistent with our argument of using a treasury bond rate as a </a:t>
            </a:r>
            <a:r>
              <a:rPr lang="en-US" dirty="0" err="1"/>
              <a:t>riskfree</a:t>
            </a:r>
            <a:r>
              <a:rPr lang="en-US" dirty="0"/>
              <a:t> rate, we would estimate the premium over the treasury bond rate.</a:t>
            </a:r>
          </a:p>
          <a:p>
            <a:r>
              <a:rPr lang="en-US" dirty="0"/>
              <a:t>If you wanted a risk premium for the next year, you would use the arithmetic average - it is the single best estimate of next year’s premium. If you want a risk premium to use in a cost of equity which will be compounded over time, you should use a geometric average.</a:t>
            </a:r>
          </a:p>
          <a:p>
            <a:pPr algn="l"/>
            <a:endParaRPr lang="en-US" b="1" dirty="0"/>
          </a:p>
        </p:txBody>
      </p:sp>
    </p:spTree>
    <p:extLst>
      <p:ext uri="{BB962C8B-B14F-4D97-AF65-F5344CB8AC3E}">
        <p14:creationId xmlns:p14="http://schemas.microsoft.com/office/powerpoint/2010/main" val="1534325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Rot="1" noChangeAspect="1" noChangeArrowheads="1" noTextEdit="1"/>
          </p:cNvSpPr>
          <p:nvPr>
            <p:ph type="sldImg"/>
          </p:nvPr>
        </p:nvSpPr>
        <p:spPr>
          <a:xfrm>
            <a:off x="3243263" y="514350"/>
            <a:ext cx="3386137" cy="2540000"/>
          </a:xfrm>
          <a:ln/>
        </p:spPr>
      </p:sp>
      <p:sp>
        <p:nvSpPr>
          <p:cNvPr id="403459" name="Rectangle 3"/>
          <p:cNvSpPr>
            <a:spLocks noGrp="1" noChangeArrowheads="1"/>
          </p:cNvSpPr>
          <p:nvPr>
            <p:ph type="body" idx="1"/>
          </p:nvPr>
        </p:nvSpPr>
        <p:spPr/>
        <p:txBody>
          <a:bodyPr/>
          <a:lstStyle/>
          <a:p>
            <a:pPr marL="228600" indent="-228600"/>
            <a:r>
              <a:rPr lang="en-US" dirty="0"/>
              <a:t>The simplest analogy is to a bond. If you know the price of a bond, you can compute the yield to maturity as the discount rate that makes the present value of the expected </a:t>
            </a:r>
            <a:r>
              <a:rPr lang="en-US" dirty="0" err="1"/>
              <a:t>cashflows</a:t>
            </a:r>
            <a:r>
              <a:rPr lang="en-US" dirty="0"/>
              <a:t> on the bond equal to the price of the bond. Similarly, if you know the current market value of equities in the aggregate (or of an equity index), you can compute the discount rate that makes the present value of the expected </a:t>
            </a:r>
            <a:r>
              <a:rPr lang="en-US" dirty="0" err="1"/>
              <a:t>cashflows</a:t>
            </a:r>
            <a:r>
              <a:rPr lang="en-US" dirty="0"/>
              <a:t> on  the index equal to the price of the index today. </a:t>
            </a:r>
          </a:p>
          <a:p>
            <a:pPr marL="228600" indent="-228600"/>
            <a:r>
              <a:rPr lang="en-US" dirty="0"/>
              <a:t>There are two practical problems:</a:t>
            </a:r>
          </a:p>
          <a:p>
            <a:pPr marL="228600" indent="-228600">
              <a:buFontTx/>
              <a:buAutoNum type="arabicPeriod"/>
            </a:pPr>
            <a:r>
              <a:rPr lang="en-US" dirty="0"/>
              <a:t>Unlike a bond, the </a:t>
            </a:r>
            <a:r>
              <a:rPr lang="en-US" dirty="0" err="1"/>
              <a:t>cashflows</a:t>
            </a:r>
            <a:r>
              <a:rPr lang="en-US" dirty="0"/>
              <a:t> on stocks are not promised but expected - you need an expected growth rate.</a:t>
            </a:r>
          </a:p>
          <a:p>
            <a:pPr marL="228600" indent="-228600">
              <a:buFontTx/>
              <a:buAutoNum type="arabicPeriod"/>
            </a:pPr>
            <a:r>
              <a:rPr lang="en-US" dirty="0"/>
              <a:t>Unlike a bond, stocks have infinite lives. You have to consider </a:t>
            </a:r>
            <a:r>
              <a:rPr lang="en-US" dirty="0" err="1"/>
              <a:t>cashflows</a:t>
            </a:r>
            <a:r>
              <a:rPr lang="en-US" dirty="0"/>
              <a:t> forever.</a:t>
            </a:r>
          </a:p>
        </p:txBody>
      </p:sp>
    </p:spTree>
    <p:extLst>
      <p:ext uri="{BB962C8B-B14F-4D97-AF65-F5344CB8AC3E}">
        <p14:creationId xmlns:p14="http://schemas.microsoft.com/office/powerpoint/2010/main" val="30954476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6818" name="Rectangle 2"/>
          <p:cNvSpPr>
            <a:spLocks noGrp="1" noRot="1" noChangeAspect="1" noChangeArrowheads="1" noTextEdit="1"/>
          </p:cNvSpPr>
          <p:nvPr>
            <p:ph type="sldImg"/>
          </p:nvPr>
        </p:nvSpPr>
        <p:spPr>
          <a:xfrm>
            <a:off x="3243263" y="514350"/>
            <a:ext cx="3386137" cy="2540000"/>
          </a:xfrm>
          <a:ln/>
        </p:spPr>
      </p:sp>
      <p:sp>
        <p:nvSpPr>
          <p:cNvPr id="1186819" name="Rectangle 3"/>
          <p:cNvSpPr>
            <a:spLocks noGrp="1" noChangeArrowheads="1"/>
          </p:cNvSpPr>
          <p:nvPr>
            <p:ph type="body" idx="1"/>
          </p:nvPr>
        </p:nvSpPr>
        <p:spPr/>
        <p:txBody>
          <a:bodyPr/>
          <a:lstStyle/>
          <a:p>
            <a:r>
              <a:rPr lang="en-US" dirty="0"/>
              <a:t>The best analogy is to pricing a bond. If you know the price of a standard coupon bond, you can estimate the yield to maturity as the discount rate that equates the present value of the </a:t>
            </a:r>
            <a:r>
              <a:rPr lang="en-US" dirty="0" err="1"/>
              <a:t>cashflows</a:t>
            </a:r>
            <a:r>
              <a:rPr lang="en-US" dirty="0"/>
              <a:t> to the price of the bond today. We are doing the same with stocks collectively, and estimating the discount rate that will make the present value of the </a:t>
            </a:r>
            <a:r>
              <a:rPr lang="en-US" dirty="0" err="1"/>
              <a:t>cashflows</a:t>
            </a:r>
            <a:r>
              <a:rPr lang="en-US" dirty="0"/>
              <a:t> on stocks (dividends and stock buybacks) equal to the index level today. </a:t>
            </a:r>
          </a:p>
          <a:p>
            <a:endParaRPr lang="en-US" dirty="0"/>
          </a:p>
          <a:p>
            <a:endParaRPr lang="en-US" dirty="0"/>
          </a:p>
          <a:p>
            <a:r>
              <a:rPr lang="en-US" dirty="0"/>
              <a:t>Implied Risk Premium Dynamics</a:t>
            </a:r>
          </a:p>
          <a:p>
            <a:endParaRPr lang="en-US" dirty="0"/>
          </a:p>
          <a:p>
            <a:endParaRPr lang="en-US" dirty="0"/>
          </a:p>
          <a:p>
            <a:endParaRPr lang="en-US" dirty="0"/>
          </a:p>
          <a:p>
            <a:pPr>
              <a:lnSpc>
                <a:spcPct val="90000"/>
              </a:lnSpc>
            </a:pPr>
            <a:r>
              <a:rPr lang="en-US" dirty="0"/>
              <a:t>Assume that the index jumps 10% on January 2 and that nothing else changes. What will happen to the implied equity risk premium?</a:t>
            </a:r>
          </a:p>
          <a:p>
            <a:pPr lvl="1">
              <a:lnSpc>
                <a:spcPct val="90000"/>
              </a:lnSpc>
              <a:buFont typeface="Monotype Sorts" charset="2"/>
              <a:buChar char="o"/>
            </a:pPr>
            <a:r>
              <a:rPr lang="en-US" dirty="0"/>
              <a:t>Implied equity risk premium will decrease</a:t>
            </a:r>
          </a:p>
          <a:p>
            <a:pPr>
              <a:lnSpc>
                <a:spcPct val="90000"/>
              </a:lnSpc>
            </a:pPr>
            <a:r>
              <a:rPr lang="en-US" dirty="0"/>
              <a:t>Assume that the earnings jump 10% on January 2 and that nothing else changes. What will happen to the implied equity risk premium?</a:t>
            </a:r>
          </a:p>
          <a:p>
            <a:pPr lvl="1">
              <a:lnSpc>
                <a:spcPct val="90000"/>
              </a:lnSpc>
              <a:buFont typeface="Monotype Sorts" charset="2"/>
              <a:buChar char="o"/>
            </a:pPr>
            <a:r>
              <a:rPr lang="en-US" dirty="0"/>
              <a:t>Implied equity risk premium will increase </a:t>
            </a:r>
          </a:p>
          <a:p>
            <a:pPr>
              <a:lnSpc>
                <a:spcPct val="90000"/>
              </a:lnSpc>
            </a:pPr>
            <a:r>
              <a:rPr lang="en-US" dirty="0"/>
              <a:t>Assume that the </a:t>
            </a:r>
            <a:r>
              <a:rPr lang="en-US" dirty="0" err="1"/>
              <a:t>riskfree</a:t>
            </a:r>
            <a:r>
              <a:rPr lang="en-US" dirty="0"/>
              <a:t> rate increases to 5% on January 2 and that nothing else changes. What will happen to the implied equity risk premium?</a:t>
            </a:r>
          </a:p>
          <a:p>
            <a:pPr lvl="1">
              <a:lnSpc>
                <a:spcPct val="90000"/>
              </a:lnSpc>
              <a:buFont typeface="Monotype Sorts" charset="2"/>
              <a:buChar char="o"/>
            </a:pPr>
            <a:r>
              <a:rPr lang="en-US" dirty="0"/>
              <a:t>Implied equity risk premium will decrease</a:t>
            </a:r>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All three tend to move at the same time though in different directions. For instance, as the economy strengthens, earnings and earnings growth will increase (which should push up premiums) and interest rates will increase(which will push down premiums). The net effect will show up in the index.</a:t>
            </a:r>
          </a:p>
          <a:p>
            <a:endParaRPr lang="en-US" dirty="0"/>
          </a:p>
        </p:txBody>
      </p:sp>
    </p:spTree>
    <p:extLst>
      <p:ext uri="{BB962C8B-B14F-4D97-AF65-F5344CB8AC3E}">
        <p14:creationId xmlns:p14="http://schemas.microsoft.com/office/powerpoint/2010/main" val="18921880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Data for</a:t>
            </a:r>
            <a:r>
              <a:rPr lang="en-GB" baseline="0" dirty="0"/>
              <a:t> the graph</a:t>
            </a:r>
          </a:p>
          <a:p>
            <a:endParaRPr lang="en-GB" baseline="0" dirty="0"/>
          </a:p>
          <a:p>
            <a:r>
              <a:rPr lang="fr-FR" dirty="0"/>
              <a:t>http://pages.stern.nyu.edu/~adamodar/New_Home_Page/datafile/implpr.html</a:t>
            </a:r>
          </a:p>
          <a:p>
            <a:r>
              <a:rPr lang="fr-FR" dirty="0"/>
              <a:t>https://seekingalpha.com/article/4400268-data-update-2-for-2021-price-of-risk</a:t>
            </a:r>
          </a:p>
        </p:txBody>
      </p:sp>
    </p:spTree>
    <p:extLst>
      <p:ext uri="{BB962C8B-B14F-4D97-AF65-F5344CB8AC3E}">
        <p14:creationId xmlns:p14="http://schemas.microsoft.com/office/powerpoint/2010/main" val="18245538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0562" name="Rectangle 2"/>
          <p:cNvSpPr>
            <a:spLocks noGrp="1" noRot="1" noChangeAspect="1" noChangeArrowheads="1"/>
          </p:cNvSpPr>
          <p:nvPr>
            <p:ph type="sldImg"/>
          </p:nvPr>
        </p:nvSpPr>
        <p:spPr bwMode="auto">
          <a:xfrm>
            <a:off x="3243263" y="514350"/>
            <a:ext cx="3386137" cy="2540000"/>
          </a:xfrm>
          <a:prstGeom prst="rect">
            <a:avLst/>
          </a:prstGeom>
          <a:solidFill>
            <a:srgbClr val="FFFFFF"/>
          </a:solidFill>
          <a:ln>
            <a:solidFill>
              <a:srgbClr val="000000"/>
            </a:solidFill>
            <a:miter lim="800000"/>
            <a:headEnd/>
            <a:tailEnd/>
          </a:ln>
        </p:spPr>
      </p:sp>
      <p:sp>
        <p:nvSpPr>
          <p:cNvPr id="1090563" name="Rectangle 3"/>
          <p:cNvSpPr>
            <a:spLocks noGrp="1" noChangeArrowheads="1"/>
          </p:cNvSpPr>
          <p:nvPr>
            <p:ph type="body" idx="1"/>
          </p:nvPr>
        </p:nvSpPr>
        <p:spPr bwMode="auto">
          <a:xfrm>
            <a:off x="1316357" y="3228895"/>
            <a:ext cx="7239953" cy="3058954"/>
          </a:xfrm>
          <a:prstGeom prst="rect">
            <a:avLst/>
          </a:prstGeom>
          <a:solidFill>
            <a:srgbClr val="FFFFFF"/>
          </a:solidFill>
          <a:ln>
            <a:solidFill>
              <a:srgbClr val="000000"/>
            </a:solidFill>
            <a:miter lim="800000"/>
            <a:headEnd/>
            <a:tailEnd/>
          </a:ln>
        </p:spPr>
        <p:txBody>
          <a:bodyPr/>
          <a:lstStyle/>
          <a:p>
            <a:r>
              <a:rPr lang="en-US"/>
              <a:t>Whenever the historical premium is higher than the current implied equity risk premium, you will be using a much higher discount rate than the market and consequently ending up with a much lower present value for stocks.</a:t>
            </a:r>
          </a:p>
          <a:p>
            <a:r>
              <a:rPr lang="en-US"/>
              <a:t>If you are required to be market neutral (as is the case with equity research analysits, equity mutual fund managers, acquisitions), where you are asked to value an individual stock and not pass judgment on the market, the best number to use is the current implied equity risk premium. </a:t>
            </a:r>
          </a:p>
        </p:txBody>
      </p:sp>
    </p:spTree>
    <p:extLst>
      <p:ext uri="{BB962C8B-B14F-4D97-AF65-F5344CB8AC3E}">
        <p14:creationId xmlns:p14="http://schemas.microsoft.com/office/powerpoint/2010/main" val="3247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3874" name="Rectangle 2"/>
          <p:cNvSpPr>
            <a:spLocks noGrp="1" noRot="1" noChangeAspect="1" noChangeArrowheads="1"/>
          </p:cNvSpPr>
          <p:nvPr>
            <p:ph type="sldImg"/>
          </p:nvPr>
        </p:nvSpPr>
        <p:spPr bwMode="auto">
          <a:xfrm>
            <a:off x="3243263" y="514350"/>
            <a:ext cx="3386137" cy="2540000"/>
          </a:xfrm>
          <a:prstGeom prst="rect">
            <a:avLst/>
          </a:prstGeom>
          <a:solidFill>
            <a:srgbClr val="FFFFFF"/>
          </a:solidFill>
          <a:ln>
            <a:solidFill>
              <a:srgbClr val="000000"/>
            </a:solidFill>
            <a:miter lim="800000"/>
            <a:headEnd/>
            <a:tailEnd/>
          </a:ln>
        </p:spPr>
      </p:sp>
      <p:sp>
        <p:nvSpPr>
          <p:cNvPr id="1103875" name="Rectangle 3"/>
          <p:cNvSpPr>
            <a:spLocks noGrp="1" noChangeArrowheads="1"/>
          </p:cNvSpPr>
          <p:nvPr>
            <p:ph type="body" idx="1"/>
          </p:nvPr>
        </p:nvSpPr>
        <p:spPr bwMode="auto">
          <a:xfrm>
            <a:off x="1316357" y="3228895"/>
            <a:ext cx="7239953" cy="3058954"/>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219611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2" name="Rectangle 2"/>
          <p:cNvSpPr>
            <a:spLocks noGrp="1" noRot="1" noChangeAspect="1" noChangeArrowheads="1" noTextEdit="1"/>
          </p:cNvSpPr>
          <p:nvPr>
            <p:ph type="sldImg"/>
          </p:nvPr>
        </p:nvSpPr>
        <p:spPr>
          <a:xfrm>
            <a:off x="3243263" y="514350"/>
            <a:ext cx="3386137" cy="2540000"/>
          </a:xfrm>
          <a:ln/>
        </p:spPr>
      </p:sp>
      <p:sp>
        <p:nvSpPr>
          <p:cNvPr id="573443" name="Rectangle 3"/>
          <p:cNvSpPr>
            <a:spLocks noGrp="1" noChangeArrowheads="1"/>
          </p:cNvSpPr>
          <p:nvPr>
            <p:ph type="body" idx="1"/>
          </p:nvPr>
        </p:nvSpPr>
        <p:spPr/>
        <p:txBody>
          <a:bodyPr/>
          <a:lstStyle/>
          <a:p>
            <a:r>
              <a:rPr lang="en-US" dirty="0"/>
              <a:t>Data for the graph</a:t>
            </a:r>
          </a:p>
          <a:p>
            <a:endParaRPr lang="en-US" dirty="0"/>
          </a:p>
          <a:p>
            <a:r>
              <a:rPr lang="fr-FR" dirty="0"/>
              <a:t>https://seekingalpha.com/article/4400268-data-update-2-for-2021-price-of-risk</a:t>
            </a:r>
          </a:p>
          <a:p>
            <a:endParaRPr lang="fr-FR" dirty="0"/>
          </a:p>
          <a:p>
            <a:endParaRPr lang="en-US" dirty="0"/>
          </a:p>
          <a:p>
            <a:r>
              <a:rPr lang="en-US" dirty="0"/>
              <a:t>The problem with using the risk premium in the United States is that there is a survivor bias - the U.S, was the most successful equity market of the 20th century…</a:t>
            </a:r>
          </a:p>
          <a:p>
            <a:r>
              <a:rPr lang="en-US" dirty="0"/>
              <a:t>In “The Triumph of the Optimists”, </a:t>
            </a:r>
            <a:r>
              <a:rPr lang="en-US" dirty="0" err="1"/>
              <a:t>Dimson</a:t>
            </a:r>
            <a:r>
              <a:rPr lang="en-US" dirty="0"/>
              <a:t> and his co-authors examined risk premiums in the largest equity markets of the 20th century and concluded that the average equity risk premium across these markets is about 4%.</a:t>
            </a:r>
          </a:p>
          <a:p>
            <a:endParaRPr lang="en-US" dirty="0"/>
          </a:p>
          <a:p>
            <a:r>
              <a:rPr lang="en-US" dirty="0"/>
              <a:t>We could use this as</a:t>
            </a:r>
            <a:r>
              <a:rPr lang="en-US" baseline="0" dirty="0"/>
              <a:t> a reference. However, the Market premiums do change and exhibit trends. Think for example the market premium in 2007, 2009 and 2014. Before the crisis there was a period of irrational optimism and equities were earning a lot more than less risky government bonds. During the crisis, some government bonds were considered as safe options and the premium was a lot smaller. During the post crisis period equities rallied for a period and very high market premiums were observed.</a:t>
            </a:r>
          </a:p>
          <a:p>
            <a:br>
              <a:rPr lang="en-US" baseline="0" dirty="0"/>
            </a:br>
            <a:r>
              <a:rPr lang="en-US" baseline="0" dirty="0"/>
              <a:t>Since we are forward looking, we should not ignore market trends.</a:t>
            </a:r>
          </a:p>
        </p:txBody>
      </p:sp>
    </p:spTree>
    <p:extLst>
      <p:ext uri="{BB962C8B-B14F-4D97-AF65-F5344CB8AC3E}">
        <p14:creationId xmlns:p14="http://schemas.microsoft.com/office/powerpoint/2010/main" val="33012674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Data for this and the previous</a:t>
            </a:r>
            <a:r>
              <a:rPr lang="en-GB" baseline="0" dirty="0"/>
              <a:t> slide is taken from </a:t>
            </a:r>
          </a:p>
          <a:p>
            <a:endParaRPr lang="en-GB" baseline="0" dirty="0"/>
          </a:p>
          <a:p>
            <a:r>
              <a:rPr lang="en-US" dirty="0"/>
              <a:t>www.stern.nyu.edu/~adamodar/pc/datasets/histimpl.xls</a:t>
            </a:r>
          </a:p>
        </p:txBody>
      </p:sp>
    </p:spTree>
    <p:extLst>
      <p:ext uri="{BB962C8B-B14F-4D97-AF65-F5344CB8AC3E}">
        <p14:creationId xmlns:p14="http://schemas.microsoft.com/office/powerpoint/2010/main" val="38369516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Market risk premium for a developing economy should include an additional element of risk (on top of the market (systematic) risk involved in advanced economies)</a:t>
            </a:r>
          </a:p>
          <a:p>
            <a:pPr lvl="1"/>
            <a:endParaRPr lang="en-GB" dirty="0"/>
          </a:p>
          <a:p>
            <a:pPr lvl="1"/>
            <a:r>
              <a:rPr lang="en-GB" dirty="0"/>
              <a:t>If the mature market fails, it is really likely that the developing market will fail too. So they face a “Base” market risk. The premium required for this type of risk is called Base Market Risk Premium (Base Premium)</a:t>
            </a:r>
          </a:p>
          <a:p>
            <a:pPr lvl="1"/>
            <a:endParaRPr lang="en-GB" dirty="0"/>
          </a:p>
          <a:p>
            <a:pPr lvl="1"/>
            <a:r>
              <a:rPr lang="en-GB" dirty="0"/>
              <a:t>However, there is an additional element of risk; the risk of the developing market to fail. This would not necessarily cause a “Base” market failure.  Therefore, it is country specific. The premium required for this type of risk is called Country Risk Premium (CRP)</a:t>
            </a:r>
          </a:p>
          <a:p>
            <a:endParaRPr lang="en-GB" dirty="0"/>
          </a:p>
        </p:txBody>
      </p:sp>
    </p:spTree>
    <p:extLst>
      <p:ext uri="{BB962C8B-B14F-4D97-AF65-F5344CB8AC3E}">
        <p14:creationId xmlns:p14="http://schemas.microsoft.com/office/powerpoint/2010/main" val="25671300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1890" name="Rectangle 2"/>
          <p:cNvSpPr>
            <a:spLocks noGrp="1" noRot="1" noChangeAspect="1" noChangeArrowheads="1" noTextEdit="1"/>
          </p:cNvSpPr>
          <p:nvPr>
            <p:ph type="sldImg"/>
          </p:nvPr>
        </p:nvSpPr>
        <p:spPr>
          <a:xfrm>
            <a:off x="3243263" y="514350"/>
            <a:ext cx="3386137" cy="2540000"/>
          </a:xfrm>
          <a:ln/>
        </p:spPr>
      </p:sp>
      <p:sp>
        <p:nvSpPr>
          <p:cNvPr id="1061891" name="Rectangle 3"/>
          <p:cNvSpPr>
            <a:spLocks noGrp="1" noChangeArrowheads="1"/>
          </p:cNvSpPr>
          <p:nvPr>
            <p:ph type="body" idx="1"/>
          </p:nvPr>
        </p:nvSpPr>
        <p:spPr/>
        <p:txBody>
          <a:bodyPr/>
          <a:lstStyle/>
          <a:p>
            <a:r>
              <a:rPr lang="en-US" dirty="0"/>
              <a:t>Many analysts use the default spread on the country bond as a measure of the extra risk premium to charge for that market. In fact, many leave this default spread in the riskless rate, thus adding it as a constant to every company in that market. Some double count it, by including it both in the riskless rate and by using a larger risk premium.</a:t>
            </a:r>
          </a:p>
          <a:p>
            <a:endParaRPr lang="en-GB" dirty="0"/>
          </a:p>
          <a:p>
            <a:r>
              <a:rPr lang="en-GB" dirty="0"/>
              <a:t>Another thing</a:t>
            </a:r>
            <a:r>
              <a:rPr lang="en-GB" baseline="0" dirty="0"/>
              <a:t> to note is that the country risk premium is not necessarily equal to the default spread. It might be higher or lower, depending on whether the private sector faces the same risks like the public. What is this suppose to mean? The DRP is the premium added on the risk free rate that shows how much riskier an economy (country/government) is. The Country premium measures how much riskier the market (private sector) is and the premium might be higher or lower. It is at our discretion to choose whether we want to use it or not. In the end of the day it depends on our perception about risk (systematic) that needs to be rewarded.</a:t>
            </a:r>
          </a:p>
          <a:p>
            <a:endParaRPr lang="en-GB" baseline="0" dirty="0"/>
          </a:p>
          <a:p>
            <a:endParaRPr lang="en-GB" baseline="0" dirty="0"/>
          </a:p>
          <a:p>
            <a:endParaRPr lang="en-GB" baseline="0" dirty="0"/>
          </a:p>
          <a:p>
            <a:r>
              <a:rPr lang="en-GB" baseline="0" dirty="0"/>
              <a:t>A discussion on Equity and country risk </a:t>
            </a:r>
            <a:r>
              <a:rPr lang="en-GB" baseline="0" dirty="0" err="1"/>
              <a:t>premia</a:t>
            </a:r>
            <a:endParaRPr lang="en-GB" baseline="0" dirty="0"/>
          </a:p>
          <a:p>
            <a:endParaRPr lang="en-GB" baseline="0" dirty="0"/>
          </a:p>
          <a:p>
            <a:r>
              <a:rPr lang="en-GB" baseline="0" dirty="0"/>
              <a:t>http://www1.worldbank.org/finance/assets/images/Equity_Risk_Premiums.pdf</a:t>
            </a:r>
          </a:p>
          <a:p>
            <a:endParaRPr lang="en-GB" baseline="0" dirty="0"/>
          </a:p>
          <a:p>
            <a:endParaRPr lang="en-GB" baseline="0" dirty="0"/>
          </a:p>
          <a:p>
            <a:r>
              <a:rPr lang="en-GB" baseline="0" dirty="0"/>
              <a:t>A critique against Country Risk </a:t>
            </a:r>
            <a:r>
              <a:rPr lang="en-GB" baseline="0" dirty="0" err="1"/>
              <a:t>Premia</a:t>
            </a:r>
            <a:endParaRPr lang="en-GB" baseline="0" dirty="0"/>
          </a:p>
          <a:p>
            <a:endParaRPr lang="en-GB" baseline="0" dirty="0"/>
          </a:p>
          <a:p>
            <a:r>
              <a:rPr lang="en-GB" baseline="0" dirty="0"/>
              <a:t>http://papers.ssrn.com/sol3/papers.cfm?abstract_id=1651466</a:t>
            </a:r>
          </a:p>
          <a:p>
            <a:endParaRPr lang="en-GB" baseline="0" dirty="0"/>
          </a:p>
          <a:p>
            <a:endParaRPr lang="en-GB" baseline="0" dirty="0"/>
          </a:p>
          <a:p>
            <a:r>
              <a:rPr lang="en-GB" baseline="0" dirty="0"/>
              <a:t>I hope you understand that we are talking about the future and making “fair” estimates. It obviously depends on the “point of view”.</a:t>
            </a:r>
          </a:p>
          <a:p>
            <a:endParaRPr lang="en-GB" baseline="0" dirty="0"/>
          </a:p>
          <a:p>
            <a:endParaRPr lang="en-GB" baseline="0" dirty="0"/>
          </a:p>
          <a:p>
            <a:endParaRPr lang="en-GB" baseline="0" dirty="0"/>
          </a:p>
          <a:p>
            <a:endParaRPr lang="en-US" dirty="0"/>
          </a:p>
          <a:p>
            <a:endParaRPr lang="en-US" dirty="0"/>
          </a:p>
          <a:p>
            <a:endParaRPr lang="en-US" dirty="0"/>
          </a:p>
          <a:p>
            <a:r>
              <a:rPr lang="en-US" dirty="0"/>
              <a:t>More data</a:t>
            </a:r>
            <a:r>
              <a:rPr lang="en-US" baseline="0" dirty="0"/>
              <a:t> can be found here</a:t>
            </a:r>
          </a:p>
          <a:p>
            <a:endParaRPr lang="en-US" baseline="0" dirty="0"/>
          </a:p>
          <a:p>
            <a:r>
              <a:rPr lang="en-US" dirty="0"/>
              <a:t>http://pages.stern.nyu.edu/~adamodar/</a:t>
            </a:r>
          </a:p>
          <a:p>
            <a:endParaRPr lang="en-GB" dirty="0"/>
          </a:p>
          <a:p>
            <a:r>
              <a:rPr lang="en-US" dirty="0"/>
              <a:t>http://pages.stern.nyu.edu/~adamodar/New_Home_Page/datafile/ctryprem.html</a:t>
            </a:r>
          </a:p>
        </p:txBody>
      </p:sp>
    </p:spTree>
    <p:extLst>
      <p:ext uri="{BB962C8B-B14F-4D97-AF65-F5344CB8AC3E}">
        <p14:creationId xmlns:p14="http://schemas.microsoft.com/office/powerpoint/2010/main" val="34016948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Slide Image Placeholder 1"/>
          <p:cNvSpPr>
            <a:spLocks noGrp="1" noRot="1" noChangeAspect="1"/>
          </p:cNvSpPr>
          <p:nvPr>
            <p:ph type="sldImg"/>
          </p:nvPr>
        </p:nvSpPr>
        <p:spPr>
          <a:xfrm>
            <a:off x="3243263" y="514350"/>
            <a:ext cx="3386137" cy="2540000"/>
          </a:xfrm>
          <a:ln/>
        </p:spPr>
      </p:sp>
      <p:sp>
        <p:nvSpPr>
          <p:cNvPr id="110594"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Helvetica" pitchFamily="3" charset="0"/>
              </a:rPr>
              <a:t>Updates:</a:t>
            </a:r>
          </a:p>
          <a:p>
            <a:endParaRPr lang="en-GB" dirty="0">
              <a:latin typeface="Helvetica" pitchFamily="3" charset="0"/>
            </a:endParaRPr>
          </a:p>
          <a:p>
            <a:r>
              <a:rPr lang="en-GB" dirty="0">
                <a:latin typeface="Helvetica" pitchFamily="3" charset="0"/>
              </a:rPr>
              <a:t>http://pages.stern.nyu.edu/~adamodar/New_Home_Page/datafile/ctryprem.html</a:t>
            </a:r>
          </a:p>
          <a:p>
            <a:r>
              <a:rPr lang="en-GB" dirty="0">
                <a:latin typeface="Helvetica" pitchFamily="3" charset="0"/>
              </a:rPr>
              <a:t>or</a:t>
            </a:r>
          </a:p>
          <a:p>
            <a:endParaRPr lang="en-US" dirty="0">
              <a:latin typeface="Helvetica" pitchFamily="3" charset="0"/>
            </a:endParaRPr>
          </a:p>
          <a:p>
            <a:r>
              <a:rPr lang="en-US" dirty="0">
                <a:latin typeface="Helvetica" pitchFamily="3" charset="0"/>
              </a:rPr>
              <a:t>http://countryeconomy.com/risk-premium</a:t>
            </a:r>
          </a:p>
          <a:p>
            <a:endParaRPr lang="en-US" dirty="0">
              <a:latin typeface="Helvetica" pitchFamily="3" charset="0"/>
            </a:endParaRPr>
          </a:p>
          <a:p>
            <a:endParaRPr lang="en-US" dirty="0">
              <a:latin typeface="Helvetica" pitchFamily="3" charset="0"/>
            </a:endParaRPr>
          </a:p>
          <a:p>
            <a:r>
              <a:rPr lang="en-US" dirty="0">
                <a:latin typeface="Helvetica" pitchFamily="3" charset="0"/>
              </a:rPr>
              <a:t>http://pages.stern.nyu.edu/~adamodar/New_Home_Page/datafile/ctryprem.html (</a:t>
            </a:r>
            <a:r>
              <a:rPr lang="en-US" dirty="0" err="1">
                <a:latin typeface="Helvetica" pitchFamily="3" charset="0"/>
              </a:rPr>
              <a:t>Pr</a:t>
            </a:r>
            <a:r>
              <a:rPr lang="en-US" dirty="0">
                <a:latin typeface="Helvetica" pitchFamily="3" charset="0"/>
              </a:rPr>
              <a:t> </a:t>
            </a:r>
            <a:r>
              <a:rPr lang="en-US" dirty="0" err="1">
                <a:latin typeface="Helvetica" pitchFamily="3" charset="0"/>
              </a:rPr>
              <a:t>Damodaran</a:t>
            </a:r>
            <a:r>
              <a:rPr lang="en-US" dirty="0">
                <a:latin typeface="Helvetica" pitchFamily="3" charset="0"/>
              </a:rPr>
              <a:t> (Stern</a:t>
            </a:r>
            <a:r>
              <a:rPr lang="en-US" baseline="0" dirty="0">
                <a:latin typeface="Helvetica" pitchFamily="3" charset="0"/>
              </a:rPr>
              <a:t> BS) advises world bank on CRP)</a:t>
            </a:r>
            <a:endParaRPr lang="en-US" dirty="0">
              <a:latin typeface="Helvetica" pitchFamily="3" charset="0"/>
            </a:endParaRPr>
          </a:p>
          <a:p>
            <a:endParaRPr lang="en-GB" dirty="0">
              <a:latin typeface="Helvetica" pitchFamily="3" charset="0"/>
            </a:endParaRPr>
          </a:p>
          <a:p>
            <a:r>
              <a:rPr lang="en-GB" dirty="0">
                <a:latin typeface="Helvetica" pitchFamily="3" charset="0"/>
              </a:rPr>
              <a:t>An excellent,</a:t>
            </a:r>
            <a:r>
              <a:rPr lang="en-GB" baseline="0" dirty="0">
                <a:latin typeface="Helvetica" pitchFamily="3" charset="0"/>
              </a:rPr>
              <a:t> very detailed measurement of CRP can be found in EIKON (search for ERP)</a:t>
            </a:r>
            <a:endParaRPr lang="en-US" dirty="0">
              <a:latin typeface="Helvetica" pitchFamily="3" charset="0"/>
            </a:endParaRPr>
          </a:p>
          <a:p>
            <a:endParaRPr lang="en-US" dirty="0">
              <a:latin typeface="Helvetica" pitchFamily="3" charset="0"/>
            </a:endParaRPr>
          </a:p>
          <a:p>
            <a:endParaRPr lang="en-US" dirty="0">
              <a:latin typeface="Helvetica" pitchFamily="3" charset="0"/>
            </a:endParaRPr>
          </a:p>
          <a:p>
            <a:r>
              <a:rPr lang="en-US" dirty="0">
                <a:latin typeface="Helvetica" pitchFamily="3" charset="0"/>
              </a:rPr>
              <a:t>A very interesting critique about the usefulness of the CDS market</a:t>
            </a:r>
            <a:r>
              <a:rPr lang="en-US" baseline="0" dirty="0">
                <a:latin typeface="Helvetica" pitchFamily="3" charset="0"/>
              </a:rPr>
              <a:t> in estimating the overall riskiness, considering liquidity and speculation</a:t>
            </a:r>
          </a:p>
          <a:p>
            <a:endParaRPr lang="en-US" baseline="0" dirty="0">
              <a:latin typeface="Helvetica" pitchFamily="3" charset="0"/>
            </a:endParaRPr>
          </a:p>
          <a:p>
            <a:r>
              <a:rPr lang="en-US" dirty="0">
                <a:latin typeface="Helvetica" pitchFamily="3" charset="0"/>
              </a:rPr>
              <a:t>http://www.euromoney.com/Article/3118876/Country-Risk-Is-this-the-end-for-CDS-spreads-as-a-useful-measure-of-sovereign-risk.html</a:t>
            </a:r>
          </a:p>
          <a:p>
            <a:endParaRPr lang="en-US" dirty="0">
              <a:latin typeface="Helvetica" pitchFamily="3" charset="0"/>
            </a:endParaRPr>
          </a:p>
        </p:txBody>
      </p:sp>
    </p:spTree>
    <p:extLst>
      <p:ext uri="{BB962C8B-B14F-4D97-AF65-F5344CB8AC3E}">
        <p14:creationId xmlns:p14="http://schemas.microsoft.com/office/powerpoint/2010/main" val="337594153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Data</a:t>
            </a:r>
          </a:p>
          <a:p>
            <a:endParaRPr lang="en-GB" dirty="0"/>
          </a:p>
          <a:p>
            <a:r>
              <a:rPr lang="en-GB" dirty="0"/>
              <a:t>https://pages.stern.nyu.edu/~adamodar/pc/implprem/ERPJuly25.xlsx</a:t>
            </a:r>
          </a:p>
          <a:p>
            <a:endParaRPr lang="en-GB" dirty="0"/>
          </a:p>
          <a:p>
            <a:r>
              <a:rPr lang="en-GB" dirty="0"/>
              <a:t>More info</a:t>
            </a:r>
          </a:p>
          <a:p>
            <a:endParaRPr lang="en-GB" dirty="0"/>
          </a:p>
          <a:p>
            <a:endParaRPr lang="en-GB" dirty="0"/>
          </a:p>
          <a:p>
            <a:endParaRPr lang="en-GB" dirty="0"/>
          </a:p>
          <a:p>
            <a:endParaRPr lang="en-GB" dirty="0"/>
          </a:p>
          <a:p>
            <a:r>
              <a:rPr lang="en-GB" dirty="0"/>
              <a:t>https://pages.stern.nyu.edu/~adamodar/New_Home_Page/datafile/ctryprem.html</a:t>
            </a:r>
          </a:p>
        </p:txBody>
      </p:sp>
    </p:spTree>
    <p:extLst>
      <p:ext uri="{BB962C8B-B14F-4D97-AF65-F5344CB8AC3E}">
        <p14:creationId xmlns:p14="http://schemas.microsoft.com/office/powerpoint/2010/main" val="10133641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3938" name="Rectangle 2"/>
          <p:cNvSpPr>
            <a:spLocks noGrp="1" noRot="1" noChangeAspect="1" noChangeArrowheads="1" noTextEdit="1"/>
          </p:cNvSpPr>
          <p:nvPr>
            <p:ph type="sldImg"/>
          </p:nvPr>
        </p:nvSpPr>
        <p:spPr>
          <a:xfrm>
            <a:off x="3243263" y="514350"/>
            <a:ext cx="3386137" cy="2540000"/>
          </a:xfrm>
          <a:ln/>
        </p:spPr>
      </p:sp>
      <p:sp>
        <p:nvSpPr>
          <p:cNvPr id="1063939" name="Rectangle 3"/>
          <p:cNvSpPr>
            <a:spLocks noGrp="1" noChangeArrowheads="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en-US" dirty="0"/>
              <a:t>While many analysts use the first approach, it strikes us as unreasonable to tar all companies - large and small, domestic and export oriented - with the same brush. Implicitly, this is what you are assuming when you use the local Government’s dollar borrowing rate as your </a:t>
            </a:r>
            <a:r>
              <a:rPr lang="en-US" dirty="0" err="1"/>
              <a:t>riskfree</a:t>
            </a:r>
            <a:r>
              <a:rPr lang="en-US" dirty="0"/>
              <a:t> rate.</a:t>
            </a:r>
          </a:p>
          <a:p>
            <a:pPr marL="0" marR="0" lvl="1" indent="0" algn="l" defTabSz="914400" rtl="0" eaLnBrk="0" fontAlgn="base" latinLnBrk="0" hangingPunct="0">
              <a:lnSpc>
                <a:spcPct val="100000"/>
              </a:lnSpc>
              <a:spcBef>
                <a:spcPct val="30000"/>
              </a:spcBef>
              <a:spcAft>
                <a:spcPct val="0"/>
              </a:spcAft>
              <a:buClrTx/>
              <a:buSzTx/>
              <a:buFontTx/>
              <a:buNone/>
              <a:tabLst/>
              <a:defRPr/>
            </a:pPr>
            <a:endParaRPr lang="en-US" dirty="0"/>
          </a:p>
          <a:p>
            <a:r>
              <a:rPr lang="en-US" dirty="0"/>
              <a:t>The second approach tends to work well for all but the most extreme examples - firms that derive the bulk of their revenues outside an emerging market.</a:t>
            </a:r>
          </a:p>
          <a:p>
            <a:r>
              <a:rPr lang="en-US" dirty="0"/>
              <a:t>For companies that derive most of their revenues from markets other than their domestic market, the third approach offers the most promise, though we are left with the question of how to estimate lambda. Lambda will look a lot like beta, averaging one across all stocks. A stock with a lambda greater than one is more exposed to country risk than the average stock.</a:t>
            </a:r>
          </a:p>
        </p:txBody>
      </p:sp>
    </p:spTree>
    <p:extLst>
      <p:ext uri="{BB962C8B-B14F-4D97-AF65-F5344CB8AC3E}">
        <p14:creationId xmlns:p14="http://schemas.microsoft.com/office/powerpoint/2010/main" val="311102266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62" name="Rectangle 2"/>
          <p:cNvSpPr>
            <a:spLocks noGrp="1" noRot="1" noChangeAspect="1" noChangeArrowheads="1" noTextEdit="1"/>
          </p:cNvSpPr>
          <p:nvPr>
            <p:ph type="sldImg"/>
          </p:nvPr>
        </p:nvSpPr>
        <p:spPr>
          <a:xfrm>
            <a:off x="3243263" y="514350"/>
            <a:ext cx="3386137" cy="2540000"/>
          </a:xfrm>
          <a:ln/>
        </p:spPr>
      </p:sp>
      <p:sp>
        <p:nvSpPr>
          <p:cNvPr id="1064963" name="Rectangle 3"/>
          <p:cNvSpPr>
            <a:spLocks noGrp="1" noChangeArrowheads="1"/>
          </p:cNvSpPr>
          <p:nvPr>
            <p:ph type="body" idx="1"/>
          </p:nvPr>
        </p:nvSpPr>
        <p:spPr/>
        <p:txBody>
          <a:bodyPr/>
          <a:lstStyle/>
          <a:p>
            <a:r>
              <a:rPr lang="en-US"/>
              <a:t>This is not meant to be an all inclusive list. While there are undoubtedly other factors to consider, you also have to be able to obtain this information not only on your firm but on other firms in the market. In fact, of the three items listed above, revenue sources may be the only publicly available information on companies.</a:t>
            </a:r>
          </a:p>
        </p:txBody>
      </p:sp>
    </p:spTree>
    <p:extLst>
      <p:ext uri="{BB962C8B-B14F-4D97-AF65-F5344CB8AC3E}">
        <p14:creationId xmlns:p14="http://schemas.microsoft.com/office/powerpoint/2010/main" val="10258158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986" name="Rectangle 2"/>
          <p:cNvSpPr>
            <a:spLocks noGrp="1" noRot="1" noChangeAspect="1" noChangeArrowheads="1" noTextEdit="1"/>
          </p:cNvSpPr>
          <p:nvPr>
            <p:ph type="sldImg"/>
          </p:nvPr>
        </p:nvSpPr>
        <p:spPr>
          <a:xfrm>
            <a:off x="3243263" y="514350"/>
            <a:ext cx="3386137" cy="2540000"/>
          </a:xfrm>
          <a:ln/>
        </p:spPr>
      </p:sp>
      <p:sp>
        <p:nvSpPr>
          <p:cNvPr id="1065987" name="Rectangle 3"/>
          <p:cNvSpPr>
            <a:spLocks noGrp="1" noChangeArrowheads="1"/>
          </p:cNvSpPr>
          <p:nvPr>
            <p:ph type="body" idx="1"/>
          </p:nvPr>
        </p:nvSpPr>
        <p:spPr/>
        <p:txBody>
          <a:bodyPr/>
          <a:lstStyle/>
          <a:p>
            <a:r>
              <a:rPr lang="en-US"/>
              <a:t>This is a simplistic approach, but it is the easiest one to use. You can usually get the percent of revenues that your firm gets in the country from its annual report. </a:t>
            </a:r>
          </a:p>
          <a:p>
            <a:r>
              <a:rPr lang="en-US"/>
              <a:t>Notice that Embraer has a lambda close to zero since it gets so little of its revenues in Brazil. Since its factories and work force are still in Brazil, this estimate seems to be too low.</a:t>
            </a:r>
          </a:p>
        </p:txBody>
      </p:sp>
    </p:spTree>
    <p:extLst>
      <p:ext uri="{BB962C8B-B14F-4D97-AF65-F5344CB8AC3E}">
        <p14:creationId xmlns:p14="http://schemas.microsoft.com/office/powerpoint/2010/main" val="258520137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9058" name="Rectangle 2"/>
          <p:cNvSpPr>
            <a:spLocks noGrp="1" noRot="1" noChangeAspect="1" noChangeArrowheads="1" noTextEdit="1"/>
          </p:cNvSpPr>
          <p:nvPr>
            <p:ph type="sldImg"/>
          </p:nvPr>
        </p:nvSpPr>
        <p:spPr>
          <a:xfrm>
            <a:off x="3243263" y="514350"/>
            <a:ext cx="3386137" cy="2540000"/>
          </a:xfrm>
          <a:ln/>
        </p:spPr>
      </p:sp>
      <p:sp>
        <p:nvSpPr>
          <p:cNvPr id="1069059" name="Rectangle 3"/>
          <p:cNvSpPr>
            <a:spLocks noGrp="1" noChangeArrowheads="1"/>
          </p:cNvSpPr>
          <p:nvPr>
            <p:ph type="body" idx="1"/>
          </p:nvPr>
        </p:nvSpPr>
        <p:spPr/>
        <p:txBody>
          <a:bodyPr/>
          <a:lstStyle/>
          <a:p>
            <a:r>
              <a:rPr lang="en-US" dirty="0"/>
              <a:t>Applies all three approaches to estimating the dollar cost of equity for </a:t>
            </a:r>
            <a:r>
              <a:rPr lang="en-US" dirty="0" err="1"/>
              <a:t>Embraer</a:t>
            </a:r>
            <a:r>
              <a:rPr lang="en-US" dirty="0"/>
              <a:t>. Note how much lower the cost of equity is with the lambda approach. Clearly, it will have a big impact on what value you arrive at for </a:t>
            </a:r>
            <a:r>
              <a:rPr lang="en-US" dirty="0" err="1"/>
              <a:t>Embraer</a:t>
            </a:r>
            <a:r>
              <a:rPr lang="en-US" dirty="0"/>
              <a:t>.</a:t>
            </a:r>
          </a:p>
          <a:p>
            <a:endParaRPr lang="en-US" dirty="0"/>
          </a:p>
          <a:p>
            <a:endParaRPr lang="en-US" dirty="0"/>
          </a:p>
          <a:p>
            <a:r>
              <a:rPr lang="en-US" dirty="0"/>
              <a:t>Valuing Emerging Market Companies with significant exposure in developed markets</a:t>
            </a:r>
          </a:p>
          <a:p>
            <a:endParaRPr lang="en-US" dirty="0"/>
          </a:p>
          <a:p>
            <a:endParaRPr lang="en-US" dirty="0"/>
          </a:p>
          <a:p>
            <a:pPr marL="381000" indent="-381000"/>
            <a:r>
              <a:rPr lang="en-US" dirty="0"/>
              <a:t>The conventional practice in investment banking is to add the country equity risk premium on to the cost of equity for every emerging market company, notwithstanding its exposure to emerging market risk. </a:t>
            </a:r>
          </a:p>
          <a:p>
            <a:pPr marL="655320" lvl="1" indent="-381000"/>
            <a:r>
              <a:rPr lang="en-US" dirty="0"/>
              <a:t>Thus, </a:t>
            </a:r>
            <a:r>
              <a:rPr lang="en-US" dirty="0" err="1"/>
              <a:t>Embraer</a:t>
            </a:r>
            <a:r>
              <a:rPr lang="en-US" dirty="0"/>
              <a:t> would have been valued with a cost of equity of 17.34% even though it gets only 3% of its revenues in Brazil. </a:t>
            </a:r>
          </a:p>
          <a:p>
            <a:pPr marL="198120" lvl="0" indent="-381000"/>
            <a:endParaRPr lang="en-US" dirty="0"/>
          </a:p>
          <a:p>
            <a:pPr marL="198120" lvl="0" indent="-381000"/>
            <a:endParaRPr lang="en-US" dirty="0"/>
          </a:p>
          <a:p>
            <a:pPr marL="198120" lvl="0" indent="-381000"/>
            <a:r>
              <a:rPr lang="en-US" dirty="0"/>
              <a:t>Q. As an investor, which of the following consequences do you see from this approach?</a:t>
            </a:r>
          </a:p>
          <a:p>
            <a:pPr marL="381000" indent="-381000">
              <a:buFont typeface="Times" charset="0"/>
              <a:buNone/>
            </a:pPr>
            <a:r>
              <a:rPr lang="en-US" dirty="0"/>
              <a:t>A.</a:t>
            </a:r>
            <a:r>
              <a:rPr lang="en-US" baseline="0" dirty="0"/>
              <a:t> </a:t>
            </a:r>
            <a:r>
              <a:rPr lang="en-US" dirty="0"/>
              <a:t>Emerging market companies with substantial exposure in developed markets will be significantly under valued by equity research analysts.</a:t>
            </a:r>
          </a:p>
          <a:p>
            <a:pPr marL="198120" lvl="0" indent="-381000">
              <a:buFont typeface="Wingdings" charset="2"/>
              <a:buNone/>
            </a:pPr>
            <a:endParaRPr lang="en-US" dirty="0"/>
          </a:p>
          <a:p>
            <a:pPr marL="198120" lvl="0" indent="-381000">
              <a:buFont typeface="Wingdings" charset="2"/>
              <a:buNone/>
            </a:pPr>
            <a:endParaRPr lang="en-US" dirty="0"/>
          </a:p>
          <a:p>
            <a:pPr marL="198120" lvl="0" indent="-381000">
              <a:buFont typeface="Wingdings" charset="2"/>
              <a:buNone/>
            </a:pPr>
            <a:r>
              <a:rPr lang="en-US" dirty="0"/>
              <a:t>Q. Can you construct an investment strategy to take advantage of the </a:t>
            </a:r>
            <a:r>
              <a:rPr lang="en-US" dirty="0" err="1"/>
              <a:t>mis</a:t>
            </a:r>
            <a:r>
              <a:rPr lang="en-US" dirty="0"/>
              <a:t>-valuation?</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A. Analysts will routinely undervalue these companies because they will be using too high a discount rate. A good strategy to follow would be to buy these companies, preferably after a crisis in the emerging market in question. Investors tend not to be discriminating during crises and mark down all stocks in an emerging market and correct themselves later.</a:t>
            </a:r>
          </a:p>
          <a:p>
            <a:endParaRPr lang="en-US" dirty="0"/>
          </a:p>
        </p:txBody>
      </p:sp>
    </p:spTree>
    <p:extLst>
      <p:ext uri="{BB962C8B-B14F-4D97-AF65-F5344CB8AC3E}">
        <p14:creationId xmlns:p14="http://schemas.microsoft.com/office/powerpoint/2010/main" val="341687654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p:cNvSpPr>
            <a:spLocks noGrp="1" noRot="1" noChangeAspect="1" noChangeArrowheads="1" noTextEdit="1"/>
          </p:cNvSpPr>
          <p:nvPr>
            <p:ph type="sldImg"/>
          </p:nvPr>
        </p:nvSpPr>
        <p:spPr>
          <a:xfrm>
            <a:off x="3243263" y="514350"/>
            <a:ext cx="3386137" cy="2540000"/>
          </a:xfrm>
          <a:ln/>
        </p:spPr>
      </p:sp>
      <p:sp>
        <p:nvSpPr>
          <p:cNvPr id="408579" name="Rectangle 3"/>
          <p:cNvSpPr>
            <a:spLocks noGrp="1" noChangeArrowheads="1"/>
          </p:cNvSpPr>
          <p:nvPr>
            <p:ph type="body" idx="1"/>
          </p:nvPr>
        </p:nvSpPr>
        <p:spPr/>
        <p:txBody>
          <a:bodyPr/>
          <a:lstStyle/>
          <a:p>
            <a:r>
              <a:rPr lang="en-US" dirty="0"/>
              <a:t>Apart from</a:t>
            </a:r>
            <a:r>
              <a:rPr lang="en-US" baseline="0" dirty="0"/>
              <a:t> the excel way, you can and are advised to use Bloomberg.</a:t>
            </a:r>
          </a:p>
          <a:p>
            <a:endParaRPr lang="en-US" baseline="0" dirty="0"/>
          </a:p>
          <a:p>
            <a:r>
              <a:rPr lang="en-US" baseline="0" dirty="0"/>
              <a:t>Some brief instructions</a:t>
            </a:r>
          </a:p>
          <a:p>
            <a:endParaRPr lang="en-US" b="0" baseline="0" dirty="0"/>
          </a:p>
          <a:p>
            <a:r>
              <a:rPr lang="en-US" b="0" dirty="0"/>
              <a:t>http://libguides.babson.edu/content.php?pid=10456&amp;sid=69436</a:t>
            </a:r>
          </a:p>
          <a:p>
            <a:endParaRPr lang="en-US" dirty="0"/>
          </a:p>
          <a:p>
            <a:endParaRPr lang="en-US" dirty="0"/>
          </a:p>
          <a:p>
            <a:endParaRPr lang="en-US" dirty="0"/>
          </a:p>
          <a:p>
            <a:r>
              <a:rPr lang="en-US" dirty="0"/>
              <a:t>Please </a:t>
            </a:r>
            <a:r>
              <a:rPr lang="en-US" b="1" dirty="0"/>
              <a:t>NOTE</a:t>
            </a:r>
          </a:p>
          <a:p>
            <a:endParaRPr lang="en-US" dirty="0"/>
          </a:p>
          <a:p>
            <a:r>
              <a:rPr lang="en-US" dirty="0"/>
              <a:t>The standard approach for estimating betas- regressions - leads to flawed and backward looking estimates of risk.</a:t>
            </a:r>
          </a:p>
          <a:p>
            <a:endParaRPr lang="en-US" dirty="0"/>
          </a:p>
          <a:p>
            <a:r>
              <a:rPr lang="en-US" dirty="0"/>
              <a:t>Regression</a:t>
            </a:r>
            <a:r>
              <a:rPr lang="en-US" baseline="0" dirty="0"/>
              <a:t> betas suffer from the following</a:t>
            </a:r>
          </a:p>
          <a:p>
            <a:endParaRPr lang="en-US" baseline="0" dirty="0"/>
          </a:p>
          <a:p>
            <a:r>
              <a:rPr lang="en-GB" dirty="0" err="1"/>
              <a:t>i</a:t>
            </a:r>
            <a:r>
              <a:rPr lang="en-GB" dirty="0"/>
              <a:t>. The Noise</a:t>
            </a:r>
            <a:r>
              <a:rPr lang="en-GB" baseline="0" dirty="0"/>
              <a:t> Problem</a:t>
            </a:r>
          </a:p>
          <a:p>
            <a:endParaRPr lang="en-GB"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High standard errors</a:t>
            </a:r>
            <a:r>
              <a:rPr lang="en-US" baseline="0" dirty="0"/>
              <a:t> mean, that these betas are still the best estimates (best average), but the average error is also high. In other words, it is the best description of the average behavior in the market, but this description is not good enough.</a:t>
            </a:r>
            <a:endParaRPr lang="en-US" dirty="0"/>
          </a:p>
          <a:p>
            <a:endParaRPr lang="en-GB" dirty="0"/>
          </a:p>
          <a:p>
            <a:endParaRPr lang="en-GB" dirty="0"/>
          </a:p>
          <a:p>
            <a:r>
              <a:rPr lang="en-GB" dirty="0"/>
              <a:t>The index Effect</a:t>
            </a:r>
          </a:p>
          <a:p>
            <a:endParaRPr lang="en-GB" dirty="0"/>
          </a:p>
          <a:p>
            <a:r>
              <a:rPr lang="en-US" dirty="0"/>
              <a:t>Think of Nokia. Nokia dominates the </a:t>
            </a:r>
            <a:r>
              <a:rPr lang="en-US" dirty="0" err="1"/>
              <a:t>Helisinki</a:t>
            </a:r>
            <a:r>
              <a:rPr lang="en-US" dirty="0"/>
              <a:t> index (it was 70% of the index at the time of this regression). Consequently,</a:t>
            </a:r>
            <a:r>
              <a:rPr lang="en-US" baseline="0" dirty="0"/>
              <a:t> in contrast to the noise problem, standard errors will be very small. Beta is still the average and it describes well behavior in the market, but it also consist 70% of the market.</a:t>
            </a:r>
            <a:endParaRPr lang="en-US" dirty="0"/>
          </a:p>
          <a:p>
            <a:r>
              <a:rPr lang="en-US" dirty="0"/>
              <a:t>The reason it is misleading is because Nokia’s largest single investor was Barclays, which manages one of the worlds’ largest global index funds. Barclays would not view the beta of this regression as a good measure of risk. (They would probably prefer a beta estimate against a global equity index like the Morgan Stanley Capital Index).</a:t>
            </a:r>
          </a:p>
          <a:p>
            <a:endParaRPr lang="en-GB" dirty="0"/>
          </a:p>
          <a:p>
            <a:endParaRPr lang="en-GB" dirty="0"/>
          </a:p>
          <a:p>
            <a:r>
              <a:rPr lang="en-GB" dirty="0"/>
              <a:t>The index Game</a:t>
            </a:r>
          </a:p>
          <a:p>
            <a:endParaRPr lang="en-GB" dirty="0"/>
          </a:p>
          <a:p>
            <a:r>
              <a:rPr lang="en-US" dirty="0"/>
              <a:t>Furthermore,</a:t>
            </a:r>
            <a:r>
              <a:rPr lang="en-US" baseline="0" dirty="0"/>
              <a:t> you can choose an index that minimizes beta estimates, as well standard errors. This way firms appear to be less risky. However…..</a:t>
            </a:r>
            <a:endParaRPr lang="en-US" dirty="0"/>
          </a:p>
          <a:p>
            <a:endParaRPr lang="en-US" dirty="0"/>
          </a:p>
          <a:p>
            <a:r>
              <a:rPr lang="en-US" dirty="0"/>
              <a:t>Don’t play it… You can get almost any beta for any company if you play the game long enough.</a:t>
            </a:r>
          </a:p>
          <a:p>
            <a:r>
              <a:rPr lang="en-US" dirty="0"/>
              <a:t>And don’t fall into the trap of picking an index to suit a particular investor. Just because you are analyzing </a:t>
            </a:r>
            <a:r>
              <a:rPr lang="en-US" dirty="0" err="1"/>
              <a:t>Aracruz</a:t>
            </a:r>
            <a:r>
              <a:rPr lang="en-US" dirty="0"/>
              <a:t> for a US investor does not change the marginal investor and cannot be used as a justification for staying with the S&amp;P.</a:t>
            </a:r>
          </a:p>
          <a:p>
            <a:endParaRPr lang="en-GB" dirty="0"/>
          </a:p>
          <a:p>
            <a:endParaRPr lang="en-US" dirty="0"/>
          </a:p>
        </p:txBody>
      </p:sp>
    </p:spTree>
    <p:extLst>
      <p:ext uri="{BB962C8B-B14F-4D97-AF65-F5344CB8AC3E}">
        <p14:creationId xmlns:p14="http://schemas.microsoft.com/office/powerpoint/2010/main" val="121593608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Grp="1" noRot="1" noChangeAspect="1" noChangeArrowheads="1" noTextEdit="1"/>
          </p:cNvSpPr>
          <p:nvPr>
            <p:ph type="sldImg"/>
          </p:nvPr>
        </p:nvSpPr>
        <p:spPr>
          <a:xfrm>
            <a:off x="3243263" y="514350"/>
            <a:ext cx="3386137" cy="2540000"/>
          </a:xfrm>
          <a:ln/>
        </p:spPr>
      </p:sp>
      <p:sp>
        <p:nvSpPr>
          <p:cNvPr id="413699" name="Rectangle 3"/>
          <p:cNvSpPr>
            <a:spLocks noGrp="1" noChangeArrowheads="1"/>
          </p:cNvSpPr>
          <p:nvPr>
            <p:ph type="body" idx="1"/>
          </p:nvPr>
        </p:nvSpPr>
        <p:spPr/>
        <p:txBody>
          <a:bodyPr/>
          <a:lstStyle/>
          <a:p>
            <a:r>
              <a:rPr lang="en-US" dirty="0"/>
              <a:t>Changing the regression parameters, which is what we do in the first approach, will yield such a large range of betas (with large standard errors) that it will leave you more confused about the true beta of a firm rather than less confused.</a:t>
            </a:r>
          </a:p>
          <a:p>
            <a:r>
              <a:rPr lang="en-US" dirty="0"/>
              <a:t>While you can use standard deviations to compute a relative standard deviation, you are assuming that market risk and total risk are perfectly correlated. With accounting earnings, the biggest limitation is that you will have relatively few observations in your regression.</a:t>
            </a:r>
          </a:p>
          <a:p>
            <a:r>
              <a:rPr lang="en-US" dirty="0"/>
              <a:t>We prefer bottom-up betas….</a:t>
            </a:r>
          </a:p>
        </p:txBody>
      </p:sp>
    </p:spTree>
    <p:extLst>
      <p:ext uri="{BB962C8B-B14F-4D97-AF65-F5344CB8AC3E}">
        <p14:creationId xmlns:p14="http://schemas.microsoft.com/office/powerpoint/2010/main" val="257942698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p:cNvSpPr>
            <a:spLocks noGrp="1" noRot="1" noChangeAspect="1" noChangeArrowheads="1" noTextEdit="1"/>
          </p:cNvSpPr>
          <p:nvPr>
            <p:ph type="sldImg"/>
          </p:nvPr>
        </p:nvSpPr>
        <p:spPr>
          <a:xfrm>
            <a:off x="3243263" y="514350"/>
            <a:ext cx="3386137" cy="2540000"/>
          </a:xfrm>
          <a:ln/>
        </p:spPr>
      </p:sp>
      <p:sp>
        <p:nvSpPr>
          <p:cNvPr id="411651" name="Rectangle 3"/>
          <p:cNvSpPr>
            <a:spLocks noGrp="1" noChangeArrowheads="1"/>
          </p:cNvSpPr>
          <p:nvPr>
            <p:ph type="body" idx="1"/>
          </p:nvPr>
        </p:nvSpPr>
        <p:spPr/>
        <p:txBody>
          <a:bodyPr/>
          <a:lstStyle/>
          <a:p>
            <a:r>
              <a:rPr lang="en-US"/>
              <a:t>These are the three fundamentals that drive betas. </a:t>
            </a:r>
          </a:p>
          <a:p>
            <a:pPr>
              <a:buFontTx/>
              <a:buChar char="•"/>
            </a:pPr>
            <a:r>
              <a:rPr lang="en-US"/>
              <a:t>Firms that produce luxury goods (such as Gucci and Tiffanys) should have higher betas than firms that cater to more basic needs (Walmart). These firms tend to have revenues that are much more sensitive to changes in economic conditions.</a:t>
            </a:r>
          </a:p>
          <a:p>
            <a:pPr>
              <a:buFontTx/>
              <a:buChar char="•"/>
            </a:pPr>
            <a:r>
              <a:rPr lang="en-US"/>
              <a:t>Firms in businesses with high fixed cost structures (like airlines) should have higher betas than firms with more flexible cost structures.</a:t>
            </a:r>
          </a:p>
          <a:p>
            <a:pPr>
              <a:buFontTx/>
              <a:buChar char="•"/>
            </a:pPr>
            <a:r>
              <a:rPr lang="en-US"/>
              <a:t>Firms that borrow more money will have higher equity betas than otherwise similar firms that do not borrow money.</a:t>
            </a:r>
          </a:p>
        </p:txBody>
      </p:sp>
    </p:spTree>
    <p:extLst>
      <p:ext uri="{BB962C8B-B14F-4D97-AF65-F5344CB8AC3E}">
        <p14:creationId xmlns:p14="http://schemas.microsoft.com/office/powerpoint/2010/main" val="200882662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0386" name="Rectangle 2"/>
          <p:cNvSpPr>
            <a:spLocks noGrp="1" noRot="1" noChangeAspect="1" noChangeArrowheads="1" noTextEdit="1"/>
          </p:cNvSpPr>
          <p:nvPr>
            <p:ph type="sldImg"/>
          </p:nvPr>
        </p:nvSpPr>
        <p:spPr>
          <a:xfrm>
            <a:off x="3243263" y="514350"/>
            <a:ext cx="3386137" cy="2540000"/>
          </a:xfrm>
          <a:ln/>
        </p:spPr>
      </p:sp>
      <p:sp>
        <p:nvSpPr>
          <p:cNvPr id="1040387" name="Rectangle 3"/>
          <p:cNvSpPr>
            <a:spLocks noGrp="1" noChangeArrowheads="1"/>
          </p:cNvSpPr>
          <p:nvPr>
            <p:ph type="body" idx="1"/>
          </p:nvPr>
        </p:nvSpPr>
        <p:spPr/>
        <p:txBody>
          <a:bodyPr/>
          <a:lstStyle/>
          <a:p>
            <a:r>
              <a:rPr lang="en-US" dirty="0"/>
              <a:t>A more up to date reference (check</a:t>
            </a:r>
            <a:r>
              <a:rPr lang="en-US" baseline="0" dirty="0"/>
              <a:t> it for an update)</a:t>
            </a:r>
            <a:endParaRPr lang="en-US" dirty="0"/>
          </a:p>
          <a:p>
            <a:endParaRPr lang="en-US" dirty="0"/>
          </a:p>
          <a:p>
            <a:r>
              <a:rPr lang="en-US" dirty="0"/>
              <a:t>http://pages.stern.nyu.edu/~adamodar/New_Home_Page/dataarchived.html#variables</a:t>
            </a:r>
          </a:p>
          <a:p>
            <a:endParaRPr lang="en-US" dirty="0"/>
          </a:p>
          <a:p>
            <a:r>
              <a:rPr lang="en-US" dirty="0"/>
              <a:t>Look for “Total beta by industry sector” and select the country and year of interest</a:t>
            </a:r>
          </a:p>
          <a:p>
            <a:endParaRPr lang="en-US" dirty="0"/>
          </a:p>
          <a:p>
            <a:r>
              <a:rPr lang="en-US" dirty="0"/>
              <a:t>https://pages.stern.nyu.edu/~adamodar/New_Home_Page/datafile/Betas.html</a:t>
            </a:r>
          </a:p>
          <a:p>
            <a:endParaRPr lang="en-US" dirty="0"/>
          </a:p>
          <a:p>
            <a:endParaRPr lang="en-US" dirty="0"/>
          </a:p>
          <a:p>
            <a:endParaRPr lang="en-US" dirty="0"/>
          </a:p>
          <a:p>
            <a:endParaRPr lang="en-US" dirty="0"/>
          </a:p>
          <a:p>
            <a:r>
              <a:rPr lang="en-US" b="1" dirty="0"/>
              <a:t>Adjusting for operating leverage</a:t>
            </a:r>
          </a:p>
          <a:p>
            <a:endParaRPr lang="en-US" dirty="0"/>
          </a:p>
          <a:p>
            <a:r>
              <a:rPr lang="en-US" dirty="0"/>
              <a:t>Within any business, firms with lower fixed costs (as a percentage of total costs) should have lower unlevered betas. If you can compute fixed and variable costs for each firm in a sector, you can break down the unlevered beta into business and operating leverage components.</a:t>
            </a:r>
          </a:p>
          <a:p>
            <a:pPr marL="274320" lvl="1" indent="0" algn="ctr">
              <a:buNone/>
            </a:pPr>
            <a:r>
              <a:rPr lang="en-US" sz="3000" b="1" dirty="0">
                <a:solidFill>
                  <a:schemeClr val="tx1"/>
                </a:solidFill>
              </a:rPr>
              <a:t>Unlevered beta=</a:t>
            </a:r>
          </a:p>
          <a:p>
            <a:pPr marL="274320" lvl="1" indent="0" algn="ctr">
              <a:buNone/>
            </a:pPr>
            <a:r>
              <a:rPr lang="en-US" sz="3000" b="1" dirty="0">
                <a:solidFill>
                  <a:schemeClr val="tx1"/>
                </a:solidFill>
              </a:rPr>
              <a:t> Pure business beta *</a:t>
            </a:r>
          </a:p>
          <a:p>
            <a:pPr marL="274320" lvl="1" indent="0" algn="ctr">
              <a:buNone/>
            </a:pPr>
            <a:r>
              <a:rPr lang="en-US" sz="3000" b="1" dirty="0">
                <a:solidFill>
                  <a:schemeClr val="tx1"/>
                </a:solidFill>
              </a:rPr>
              <a:t> (1 + (Fixed costs/ Variable costs))</a:t>
            </a:r>
          </a:p>
          <a:p>
            <a:r>
              <a:rPr lang="en-US" dirty="0"/>
              <a:t>The biggest problem with doing this is informational. It is difficult to get information on fixed and variable costs for individual firms.</a:t>
            </a:r>
          </a:p>
          <a:p>
            <a:r>
              <a:rPr lang="en-US" dirty="0"/>
              <a:t> In practice, we tend to assume that the operating leverage of firms within a business are similar and use the same unlevered beta for every firm. </a:t>
            </a:r>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The standard practice of using the same unlevered beta for all firms will overstate betas for firms that have low fixed costs because of strategic decisions that they have made over time (such as Southwest in the Airline business) and understate betas for smaller firms in large infrastructure businesses where fixed costs tend to be much higher early in a firm’s life cycle.</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Tree>
    <p:extLst>
      <p:ext uri="{BB962C8B-B14F-4D97-AF65-F5344CB8AC3E}">
        <p14:creationId xmlns:p14="http://schemas.microsoft.com/office/powerpoint/2010/main" val="179721258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a:t>
            </a:r>
            <a:r>
              <a:rPr lang="en-GB" baseline="0" dirty="0"/>
              <a:t> can find the annual report of SNCF (2013) here</a:t>
            </a:r>
          </a:p>
          <a:p>
            <a:endParaRPr lang="en-GB" baseline="0" dirty="0"/>
          </a:p>
          <a:p>
            <a:r>
              <a:rPr lang="en-GB" baseline="0" dirty="0"/>
              <a:t>http://www.sncf.com/ressources/reports/sncf_rf_gb_simple_0.pdf</a:t>
            </a:r>
          </a:p>
          <a:p>
            <a:endParaRPr lang="en-GB" baseline="0" dirty="0"/>
          </a:p>
          <a:p>
            <a:r>
              <a:rPr lang="en-GB" baseline="0" dirty="0"/>
              <a:t>Unbelievably difficult to find meaningful information. This is a characteristic example of efforts to divert attention from vital information. SNCF has had a rather unprofitable year to due to decreased number of passengers, high (market value of) loans and increased labour costs. The annual report is written in a way to divert attention to new investments, as well as changes in macroeconomic conditions, such as in page 18</a:t>
            </a:r>
          </a:p>
          <a:p>
            <a:endParaRPr lang="en-GB" baseline="0" dirty="0"/>
          </a:p>
          <a:p>
            <a:r>
              <a:rPr lang="en-GB" baseline="0" dirty="0"/>
              <a:t>http://www.sncf.com/ressources/reports/sncf_group_2013_annual_results_pres.13.02.2014_eng.pdf</a:t>
            </a:r>
          </a:p>
          <a:p>
            <a:endParaRPr lang="en-GB" baseline="0" dirty="0"/>
          </a:p>
          <a:p>
            <a:endParaRPr lang="en-GB" baseline="0" dirty="0"/>
          </a:p>
          <a:p>
            <a:r>
              <a:rPr lang="en-GB" baseline="0" dirty="0"/>
              <a:t>The most up to date data is taken from Thomson Reuters EIKON for the SNCF Group (SNCF </a:t>
            </a:r>
            <a:r>
              <a:rPr lang="en-GB" baseline="0" dirty="0" err="1"/>
              <a:t>Mobilites</a:t>
            </a:r>
            <a:r>
              <a:rPr lang="en-GB" baseline="0" dirty="0"/>
              <a:t> EPIC).</a:t>
            </a:r>
          </a:p>
          <a:p>
            <a:endParaRPr lang="en-GB" baseline="0" dirty="0"/>
          </a:p>
          <a:p>
            <a:r>
              <a:rPr lang="en-GB" baseline="0" dirty="0"/>
              <a:t>Debt to equity has improved drastically post 2016</a:t>
            </a:r>
          </a:p>
          <a:p>
            <a:endParaRPr lang="en-GB" baseline="0" dirty="0"/>
          </a:p>
          <a:p>
            <a:pPr marL="0" marR="0" lvl="0" indent="0" algn="l" defTabSz="914400" rtl="0" eaLnBrk="1" fontAlgn="t" latinLnBrk="0" hangingPunct="1">
              <a:lnSpc>
                <a:spcPct val="100000"/>
              </a:lnSpc>
              <a:spcBef>
                <a:spcPct val="30000"/>
              </a:spcBef>
              <a:spcAft>
                <a:spcPct val="0"/>
              </a:spcAft>
              <a:buClrTx/>
              <a:buSzTx/>
              <a:buFontTx/>
              <a:buNone/>
              <a:tabLst/>
              <a:defRPr/>
            </a:pPr>
            <a:r>
              <a:rPr lang="en-GB" sz="1200" b="1" i="0" u="none" strike="noStrike" kern="1200" dirty="0">
                <a:solidFill>
                  <a:schemeClr val="tx1"/>
                </a:solidFill>
                <a:effectLst/>
                <a:latin typeface="Times" charset="0"/>
                <a:ea typeface="+mn-ea"/>
                <a:cs typeface="+mn-cs"/>
              </a:rPr>
              <a:t>2016: </a:t>
            </a:r>
            <a:r>
              <a:rPr lang="en-GB" sz="1200" b="0" i="0" u="none" strike="noStrike" kern="1200" dirty="0">
                <a:solidFill>
                  <a:schemeClr val="tx1"/>
                </a:solidFill>
                <a:effectLst/>
                <a:latin typeface="Times" charset="0"/>
                <a:ea typeface="+mn-ea"/>
                <a:cs typeface="+mn-cs"/>
              </a:rPr>
              <a:t>4.41</a:t>
            </a:r>
            <a:endParaRPr lang="fr-FR" sz="1200" b="0" i="0" u="none" strike="noStrike" kern="1200" dirty="0">
              <a:solidFill>
                <a:schemeClr val="tx1"/>
              </a:solidFill>
              <a:effectLst/>
              <a:latin typeface="Times" charset="0"/>
              <a:ea typeface="+mn-ea"/>
              <a:cs typeface="+mn-cs"/>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GB" sz="1200" b="1" i="0" u="none" strike="noStrike" kern="1200" dirty="0">
                <a:solidFill>
                  <a:schemeClr val="tx1"/>
                </a:solidFill>
                <a:effectLst/>
                <a:latin typeface="Times" charset="0"/>
                <a:ea typeface="+mn-ea"/>
                <a:cs typeface="+mn-cs"/>
              </a:rPr>
              <a:t>2017: </a:t>
            </a:r>
            <a:r>
              <a:rPr lang="en-GB" sz="1200" b="0" i="0" u="none" strike="noStrike" kern="1200" dirty="0">
                <a:solidFill>
                  <a:schemeClr val="tx1"/>
                </a:solidFill>
                <a:effectLst/>
                <a:latin typeface="Times" charset="0"/>
                <a:ea typeface="+mn-ea"/>
                <a:cs typeface="+mn-cs"/>
              </a:rPr>
              <a:t>4.06</a:t>
            </a:r>
            <a:endParaRPr lang="fr-FR" sz="1200" b="0" i="0" u="none" strike="noStrike" kern="1200" dirty="0">
              <a:solidFill>
                <a:schemeClr val="tx1"/>
              </a:solidFill>
              <a:effectLst/>
              <a:latin typeface="Times" charset="0"/>
              <a:ea typeface="+mn-ea"/>
              <a:cs typeface="+mn-cs"/>
            </a:endParaRPr>
          </a:p>
          <a:p>
            <a:pPr rtl="0" eaLnBrk="1" fontAlgn="t" latinLnBrk="0" hangingPunct="1"/>
            <a:r>
              <a:rPr lang="en-GB" sz="1200" b="1" i="0" u="none" strike="noStrike" kern="1200" dirty="0">
                <a:solidFill>
                  <a:schemeClr val="tx1"/>
                </a:solidFill>
                <a:effectLst/>
                <a:latin typeface="Times" charset="0"/>
                <a:ea typeface="+mn-ea"/>
                <a:cs typeface="+mn-cs"/>
              </a:rPr>
              <a:t>2018: </a:t>
            </a:r>
            <a:r>
              <a:rPr lang="en-GB" sz="1200" b="0" i="0" u="none" strike="noStrike" kern="1200" dirty="0">
                <a:solidFill>
                  <a:schemeClr val="tx1"/>
                </a:solidFill>
                <a:effectLst/>
                <a:latin typeface="Times" charset="0"/>
                <a:ea typeface="+mn-ea"/>
                <a:cs typeface="+mn-cs"/>
              </a:rPr>
              <a:t>2.1</a:t>
            </a:r>
          </a:p>
          <a:p>
            <a:pPr rtl="0" eaLnBrk="1" fontAlgn="t" latinLnBrk="0" hangingPunct="1"/>
            <a:endParaRPr lang="en-GB" sz="1200" b="0" i="0" u="none" strike="noStrike" kern="1200" dirty="0">
              <a:solidFill>
                <a:schemeClr val="tx1"/>
              </a:solidFill>
              <a:effectLst/>
              <a:latin typeface="Times" charset="0"/>
              <a:ea typeface="+mn-ea"/>
              <a:cs typeface="+mn-cs"/>
            </a:endParaRPr>
          </a:p>
          <a:p>
            <a:pPr rtl="0" eaLnBrk="1" fontAlgn="t" latinLnBrk="0" hangingPunct="1"/>
            <a:r>
              <a:rPr lang="en-GB" sz="1200" b="0" i="0" u="none" strike="noStrike" kern="1200" dirty="0">
                <a:solidFill>
                  <a:schemeClr val="tx1"/>
                </a:solidFill>
                <a:effectLst/>
                <a:latin typeface="Times" charset="0"/>
                <a:ea typeface="+mn-ea"/>
                <a:cs typeface="+mn-cs"/>
              </a:rPr>
              <a:t>The tax rate is significantly lower this year due to lower income at about 5%</a:t>
            </a:r>
          </a:p>
          <a:p>
            <a:pPr rtl="0" eaLnBrk="1" fontAlgn="t" latinLnBrk="0" hangingPunct="1"/>
            <a:endParaRPr lang="en-GB" sz="1200" b="0" i="0" u="none" strike="noStrike" kern="1200" dirty="0">
              <a:solidFill>
                <a:schemeClr val="tx1"/>
              </a:solidFill>
              <a:effectLst/>
              <a:latin typeface="Times" charset="0"/>
              <a:ea typeface="+mn-ea"/>
              <a:cs typeface="+mn-cs"/>
            </a:endParaRPr>
          </a:p>
          <a:p>
            <a:pPr rtl="0" eaLnBrk="1" fontAlgn="t" latinLnBrk="0" hangingPunct="1"/>
            <a:r>
              <a:rPr lang="en-GB" sz="1200" b="0" i="0" u="none" strike="noStrike" kern="1200" dirty="0">
                <a:solidFill>
                  <a:schemeClr val="tx1"/>
                </a:solidFill>
                <a:effectLst/>
                <a:latin typeface="Times" charset="0"/>
                <a:ea typeface="+mn-ea"/>
                <a:cs typeface="+mn-cs"/>
              </a:rPr>
              <a:t>After 2018 there was a heavy</a:t>
            </a:r>
            <a:r>
              <a:rPr lang="en-GB" sz="1200" b="0" i="0" u="none" strike="noStrike" kern="1200" baseline="0" dirty="0">
                <a:solidFill>
                  <a:schemeClr val="tx1"/>
                </a:solidFill>
                <a:effectLst/>
                <a:latin typeface="Times" charset="0"/>
                <a:ea typeface="+mn-ea"/>
                <a:cs typeface="+mn-cs"/>
              </a:rPr>
              <a:t> impact of strikes, market reforms and coronavirus and equity is negative. Therefore, this procedure is rather inappropriate in estimating beta. Further info for SNCF investor relations can be found here:</a:t>
            </a:r>
          </a:p>
          <a:p>
            <a:pPr rtl="0" eaLnBrk="1" fontAlgn="t" latinLnBrk="0" hangingPunct="1"/>
            <a:endParaRPr lang="en-GB" sz="1200" b="0" i="0" u="none" strike="noStrike" kern="1200" baseline="0" dirty="0">
              <a:solidFill>
                <a:schemeClr val="tx1"/>
              </a:solidFill>
              <a:effectLst/>
              <a:latin typeface="Times" charset="0"/>
              <a:ea typeface="+mn-ea"/>
              <a:cs typeface="+mn-cs"/>
            </a:endParaRPr>
          </a:p>
          <a:p>
            <a:pPr rtl="0" eaLnBrk="1" fontAlgn="t" latinLnBrk="0" hangingPunct="1"/>
            <a:r>
              <a:rPr lang="fr-FR" sz="1200" b="0" i="0" u="none" strike="noStrike" kern="1200" dirty="0">
                <a:solidFill>
                  <a:schemeClr val="tx1"/>
                </a:solidFill>
                <a:effectLst/>
                <a:latin typeface="Times" charset="0"/>
                <a:ea typeface="+mn-ea"/>
                <a:cs typeface="+mn-cs"/>
              </a:rPr>
              <a:t>https://medias.sncf.com/sncfcom/finances/Groupe_SNCF/SNCF_GROUPE_Investor_Presentation_jan.2020.pdf</a:t>
            </a:r>
          </a:p>
          <a:p>
            <a:pPr rtl="0" eaLnBrk="1" fontAlgn="t" latinLnBrk="0" hangingPunct="1"/>
            <a:r>
              <a:rPr lang="fr-FR" sz="1200" b="0" i="0" u="none" strike="noStrike" kern="1200" dirty="0">
                <a:solidFill>
                  <a:schemeClr val="tx1"/>
                </a:solidFill>
                <a:effectLst/>
                <a:latin typeface="Times" charset="0"/>
                <a:ea typeface="+mn-ea"/>
                <a:cs typeface="+mn-cs"/>
              </a:rPr>
              <a:t>http://medias.sncf.com/sncfcom/pdf/finance/ratings/Fitch_Ratings_SNCF_Mobilites_16.10.2018.pdf</a:t>
            </a:r>
          </a:p>
          <a:p>
            <a:pPr rtl="0" eaLnBrk="1" fontAlgn="t" latinLnBrk="0" hangingPunct="1"/>
            <a:r>
              <a:rPr lang="fr-FR" sz="1200" b="0" i="0" u="none" strike="noStrike" kern="1200" dirty="0">
                <a:solidFill>
                  <a:schemeClr val="tx1"/>
                </a:solidFill>
                <a:effectLst/>
                <a:latin typeface="Times" charset="0"/>
                <a:ea typeface="+mn-ea"/>
                <a:cs typeface="+mn-cs"/>
              </a:rPr>
              <a:t>https://www.sncf-reseau.com/sites/default/files/2019-02/SNCF%20RESEAU%20REFORME%20-%20INVESTOR%20PRESENTATION%202019.pdf</a:t>
            </a:r>
          </a:p>
          <a:p>
            <a:endParaRPr lang="en-GB" baseline="0" dirty="0"/>
          </a:p>
          <a:p>
            <a:endParaRPr lang="en-GB" baseline="0" dirty="0"/>
          </a:p>
          <a:p>
            <a:endParaRPr lang="en-GB" baseline="0" dirty="0"/>
          </a:p>
          <a:p>
            <a:endParaRPr lang="en-GB" baseline="0" dirty="0"/>
          </a:p>
          <a:p>
            <a:endParaRPr lang="en-GB" baseline="0" dirty="0"/>
          </a:p>
        </p:txBody>
      </p:sp>
    </p:spTree>
    <p:extLst>
      <p:ext uri="{BB962C8B-B14F-4D97-AF65-F5344CB8AC3E}">
        <p14:creationId xmlns:p14="http://schemas.microsoft.com/office/powerpoint/2010/main" val="398055619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p:cNvSpPr>
            <a:spLocks noGrp="1" noRot="1" noChangeAspect="1" noChangeArrowheads="1" noTextEdit="1"/>
          </p:cNvSpPr>
          <p:nvPr>
            <p:ph type="sldImg"/>
          </p:nvPr>
        </p:nvSpPr>
        <p:spPr>
          <a:xfrm>
            <a:off x="3243263" y="514350"/>
            <a:ext cx="3386137" cy="2540000"/>
          </a:xfrm>
          <a:ln/>
        </p:spPr>
      </p:sp>
      <p:sp>
        <p:nvSpPr>
          <p:cNvPr id="414723" name="Rectangle 3"/>
          <p:cNvSpPr>
            <a:spLocks noGrp="1" noChangeArrowheads="1"/>
          </p:cNvSpPr>
          <p:nvPr>
            <p:ph type="body" idx="1"/>
          </p:nvPr>
        </p:nvSpPr>
        <p:spPr/>
        <p:txBody>
          <a:bodyPr/>
          <a:lstStyle/>
          <a:p>
            <a:pPr marL="228600" indent="-228600"/>
            <a:r>
              <a:rPr lang="en-US" dirty="0"/>
              <a:t>Three measurement issues come up:</a:t>
            </a:r>
          </a:p>
          <a:p>
            <a:pPr marL="228600" indent="-228600">
              <a:buFontTx/>
              <a:buAutoNum type="arabicPeriod"/>
            </a:pPr>
            <a:r>
              <a:rPr lang="en-US" dirty="0"/>
              <a:t>How broadly or narrowly do we define comparable firms?</a:t>
            </a:r>
          </a:p>
          <a:p>
            <a:pPr marL="685800" lvl="1" indent="-228600">
              <a:buFontTx/>
              <a:buAutoNum type="arabicPeriod"/>
            </a:pPr>
            <a:r>
              <a:rPr lang="en-US" dirty="0"/>
              <a:t>We would argue for a broader rather than a narrow definition, because the savings in standard error increase with the number of firms.</a:t>
            </a:r>
          </a:p>
          <a:p>
            <a:pPr marL="228600" indent="-228600">
              <a:buFontTx/>
              <a:buAutoNum type="arabicPeriod"/>
            </a:pPr>
            <a:r>
              <a:rPr lang="en-US" dirty="0"/>
              <a:t>How do we deal with differences in operating leverage and business mix that may persist across these firms?</a:t>
            </a:r>
          </a:p>
          <a:p>
            <a:pPr marL="685800" lvl="1" indent="-228600">
              <a:buFontTx/>
              <a:buChar char="•"/>
            </a:pPr>
            <a:r>
              <a:rPr lang="en-US" dirty="0"/>
              <a:t>Assume that there are no differences in operating leverage and business mix or that the differences average out.</a:t>
            </a:r>
          </a:p>
          <a:p>
            <a:pPr marL="685800" lvl="1" indent="-228600">
              <a:buFontTx/>
              <a:buChar char="•"/>
            </a:pPr>
            <a:r>
              <a:rPr lang="en-US" dirty="0"/>
              <a:t>Adjust for the differences quantitatively. For instance, you could decompose the unlevered beta further into a business beta and the operating leverage effect:</a:t>
            </a:r>
          </a:p>
          <a:p>
            <a:pPr marL="685800" lvl="1" indent="-228600">
              <a:buFontTx/>
              <a:buChar char="•"/>
            </a:pPr>
            <a:r>
              <a:rPr lang="en-US" dirty="0"/>
              <a:t>Unlevered beta = Business beta (1 + (Fixed Cost/Variable costs))</a:t>
            </a:r>
          </a:p>
          <a:p>
            <a:pPr marL="228600" indent="-228600">
              <a:buFontTx/>
              <a:buAutoNum type="arabicPeriod"/>
            </a:pPr>
            <a:r>
              <a:rPr lang="en-US" dirty="0"/>
              <a:t>How do we compute an average - simple or weighted?</a:t>
            </a:r>
          </a:p>
          <a:p>
            <a:pPr marL="228600" indent="-228600">
              <a:buFontTx/>
              <a:buChar char="•"/>
            </a:pPr>
            <a:r>
              <a:rPr lang="en-US" dirty="0"/>
              <a:t>You should prefer simple averages. Otherwise, your betas reflect those of the largest and most stable firms in the business.</a:t>
            </a:r>
          </a:p>
        </p:txBody>
      </p:sp>
    </p:spTree>
    <p:extLst>
      <p:ext uri="{BB962C8B-B14F-4D97-AF65-F5344CB8AC3E}">
        <p14:creationId xmlns:p14="http://schemas.microsoft.com/office/powerpoint/2010/main" val="351080138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Annual Reports</a:t>
            </a:r>
            <a:r>
              <a:rPr lang="en-GB" dirty="0"/>
              <a:t> can be found here</a:t>
            </a:r>
          </a:p>
          <a:p>
            <a:endParaRPr lang="en-GB" dirty="0"/>
          </a:p>
          <a:p>
            <a:r>
              <a:rPr lang="en-GB" dirty="0"/>
              <a:t>http://thewaltdisneycompany.com/investors/financial-information/annual-report</a:t>
            </a:r>
          </a:p>
          <a:p>
            <a:endParaRPr lang="en-GB" dirty="0"/>
          </a:p>
          <a:p>
            <a:r>
              <a:rPr lang="en-GB" dirty="0"/>
              <a:t>Annual Report 2012,</a:t>
            </a:r>
            <a:r>
              <a:rPr lang="en-GB" baseline="0" dirty="0"/>
              <a:t> p 31</a:t>
            </a:r>
          </a:p>
          <a:p>
            <a:endParaRPr lang="en-GB" baseline="0" dirty="0"/>
          </a:p>
          <a:p>
            <a:endParaRPr lang="en-GB" baseline="0" dirty="0"/>
          </a:p>
          <a:p>
            <a:endParaRPr lang="en-GB" baseline="0" dirty="0"/>
          </a:p>
          <a:p>
            <a:endParaRPr lang="en-GB" baseline="0" dirty="0"/>
          </a:p>
          <a:p>
            <a:r>
              <a:rPr lang="en-GB" baseline="0" dirty="0"/>
              <a:t>Some information on how you can extract </a:t>
            </a:r>
            <a:r>
              <a:rPr lang="en-GB" b="1" baseline="0" dirty="0"/>
              <a:t>data from Bloomberg</a:t>
            </a:r>
          </a:p>
          <a:p>
            <a:endParaRPr lang="en-GB" baseline="0" dirty="0"/>
          </a:p>
          <a:p>
            <a:r>
              <a:rPr lang="en-GB" baseline="0" dirty="0"/>
              <a:t>http://researchguides.library.yorku.ca/bloomberg/industry</a:t>
            </a:r>
          </a:p>
          <a:p>
            <a:r>
              <a:rPr lang="en-GB" baseline="0" dirty="0"/>
              <a:t>https://www.claremontmckenna.edu/fei/bloomberg/BloombergTutorialFinal.pdf</a:t>
            </a:r>
          </a:p>
          <a:p>
            <a:endParaRPr lang="en-GB" baseline="0" dirty="0"/>
          </a:p>
          <a:p>
            <a:endParaRPr lang="en-GB" baseline="0" dirty="0"/>
          </a:p>
          <a:p>
            <a:endParaRPr lang="en-GB" baseline="0" dirty="0"/>
          </a:p>
          <a:p>
            <a:r>
              <a:rPr lang="en-US" dirty="0"/>
              <a:t>The unlevered betas (corrected for cash) and the enterprise value to sales ratios were obtained by looking at comparable firms in each of Disney’s businesses.  The weightings</a:t>
            </a:r>
            <a:r>
              <a:rPr lang="en-US" baseline="0" dirty="0"/>
              <a:t> are computed as following. The value is estimated using the multiple Value/Revenue of comparable firms in the four industries (Media and TV broadcasting, Theme Parks, etc.). </a:t>
            </a:r>
          </a:p>
          <a:p>
            <a:endParaRPr lang="en-GB" baseline="0" dirty="0"/>
          </a:p>
          <a:p>
            <a:r>
              <a:rPr lang="en-GB" baseline="0" dirty="0"/>
              <a:t>Let s say that the Value/Revenue is 10. This means that a firm derives $10 of value out of each $1 of revenue. Consequently, for Media and TV the value derived is 19,436 x 3.41. We do the same for Theme parks, Movies and Toys and then compute the weightings.</a:t>
            </a:r>
          </a:p>
          <a:p>
            <a:endParaRPr lang="en-GB" baseline="0" dirty="0"/>
          </a:p>
          <a:p>
            <a:endParaRPr lang="en-GB" baseline="0" dirty="0"/>
          </a:p>
          <a:p>
            <a:endParaRPr lang="en-GB" baseline="0" dirty="0"/>
          </a:p>
          <a:p>
            <a:endParaRPr lang="en-GB" baseline="0" dirty="0"/>
          </a:p>
          <a:p>
            <a:endParaRPr lang="en-GB" baseline="0" dirty="0"/>
          </a:p>
          <a:p>
            <a:endParaRPr lang="en-GB" baseline="0" dirty="0"/>
          </a:p>
          <a:p>
            <a:endParaRPr lang="en-GB" baseline="0" dirty="0"/>
          </a:p>
          <a:p>
            <a:endParaRPr lang="en-US" dirty="0"/>
          </a:p>
          <a:p>
            <a:endParaRPr lang="en-US" dirty="0"/>
          </a:p>
          <a:p>
            <a:endParaRPr lang="en-US" dirty="0"/>
          </a:p>
          <a:p>
            <a:r>
              <a:rPr lang="en-US" dirty="0"/>
              <a:t>Please </a:t>
            </a:r>
            <a:r>
              <a:rPr lang="en-US" b="1" dirty="0"/>
              <a:t>NOTE</a:t>
            </a:r>
            <a:r>
              <a:rPr lang="en-US" dirty="0"/>
              <a:t>:</a:t>
            </a:r>
            <a:r>
              <a:rPr lang="en-US" baseline="0" dirty="0"/>
              <a:t> </a:t>
            </a:r>
            <a:r>
              <a:rPr lang="en-US" dirty="0"/>
              <a:t>Should you adjust betas for a company’s cash holdings?</a:t>
            </a:r>
          </a:p>
          <a:p>
            <a:endParaRPr lang="en-US" dirty="0"/>
          </a:p>
          <a:p>
            <a:r>
              <a:rPr lang="en-US" dirty="0"/>
              <a:t>It depends on how you will approach valuation. If you are valuing the non-cash or operating assets of the firm first and adding the cash back at the end (which is the conventional practice in firm valuation), you should not adjust the equity beta for the cash holdings of the firm. If you are valuing cash as part of the firm, which is what you implicitly do when you use net income as your base for estimating dividends or free </a:t>
            </a:r>
            <a:r>
              <a:rPr lang="en-US" dirty="0" err="1"/>
              <a:t>cashflows</a:t>
            </a:r>
            <a:r>
              <a:rPr lang="en-US" dirty="0"/>
              <a:t> to equity, you should adjust the beta for the cash holdings of the firm. Very simply, the beta for the firm inclusive of cash will be</a:t>
            </a:r>
          </a:p>
          <a:p>
            <a:r>
              <a:rPr lang="en-US" dirty="0"/>
              <a:t>Beta of non-cash assets (Non-cash Assets/ Firm Value) + 0 (Cash/ Firm Value). </a:t>
            </a:r>
            <a:endParaRPr lang="en-US" b="1" baseline="0" dirty="0"/>
          </a:p>
          <a:p>
            <a:endParaRPr lang="en-US" baseline="0" dirty="0"/>
          </a:p>
          <a:p>
            <a:endParaRPr lang="en-US" baseline="0" dirty="0"/>
          </a:p>
          <a:p>
            <a:endParaRPr lang="en-US" baseline="0" dirty="0"/>
          </a:p>
          <a:p>
            <a:endParaRPr lang="en-US" baseline="0" dirty="0"/>
          </a:p>
          <a:p>
            <a:r>
              <a:rPr lang="en-US" baseline="0" dirty="0"/>
              <a:t>Debt to Equity is derived as follows.  </a:t>
            </a:r>
          </a:p>
          <a:p>
            <a:endParaRPr lang="en-US" baseline="0" dirty="0"/>
          </a:p>
          <a:p>
            <a:r>
              <a:rPr lang="en-US" baseline="0" dirty="0"/>
              <a:t>Market value of Equity=Share price x number of shares</a:t>
            </a:r>
          </a:p>
          <a:p>
            <a:r>
              <a:rPr lang="en-US" baseline="0" dirty="0"/>
              <a:t>Market Value of Debt (p. 57) is $18,586m </a:t>
            </a:r>
          </a:p>
          <a:p>
            <a:endParaRPr lang="en-US" dirty="0"/>
          </a:p>
          <a:p>
            <a:r>
              <a:rPr lang="en-US" dirty="0"/>
              <a:t>p.34</a:t>
            </a:r>
            <a:r>
              <a:rPr lang="en-US" baseline="0" dirty="0"/>
              <a:t> number of shares = Total Dividend/Dividend per share = 1.1b/0.6=1,833,333,333.</a:t>
            </a:r>
          </a:p>
          <a:p>
            <a:r>
              <a:rPr lang="en-US" baseline="0" dirty="0"/>
              <a:t>Average share price for 2012 $50.</a:t>
            </a:r>
          </a:p>
          <a:p>
            <a:r>
              <a:rPr lang="en-US" baseline="0" dirty="0"/>
              <a:t>Market Value of Equity = $91,667m</a:t>
            </a:r>
          </a:p>
          <a:p>
            <a:endParaRPr lang="en-US" baseline="0" dirty="0"/>
          </a:p>
          <a:p>
            <a:r>
              <a:rPr lang="en-US" baseline="0" dirty="0"/>
              <a:t>D/E= 20.28%</a:t>
            </a:r>
          </a:p>
          <a:p>
            <a:endParaRPr lang="en-US" baseline="0" dirty="0"/>
          </a:p>
          <a:p>
            <a:endParaRPr lang="en-GB" dirty="0"/>
          </a:p>
          <a:p>
            <a:r>
              <a:rPr lang="en-GB" dirty="0"/>
              <a:t>Tax Rate p. 37 =33.3%</a:t>
            </a:r>
          </a:p>
        </p:txBody>
      </p:sp>
    </p:spTree>
    <p:extLst>
      <p:ext uri="{BB962C8B-B14F-4D97-AF65-F5344CB8AC3E}">
        <p14:creationId xmlns:p14="http://schemas.microsoft.com/office/powerpoint/2010/main" val="373812992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Annual Reports</a:t>
            </a:r>
            <a:r>
              <a:rPr lang="en-GB" dirty="0"/>
              <a:t> can be found here</a:t>
            </a:r>
          </a:p>
          <a:p>
            <a:endParaRPr lang="en-GB" dirty="0"/>
          </a:p>
          <a:p>
            <a:r>
              <a:rPr lang="en-GB" dirty="0"/>
              <a:t>http://thewaltdisneycompany.com/investors/financial-information/annual-report</a:t>
            </a:r>
          </a:p>
          <a:p>
            <a:endParaRPr lang="en-GB" dirty="0"/>
          </a:p>
          <a:p>
            <a:r>
              <a:rPr lang="en-GB" dirty="0"/>
              <a:t>Annual Report 2012,</a:t>
            </a:r>
            <a:r>
              <a:rPr lang="en-GB" baseline="0" dirty="0"/>
              <a:t> p 31</a:t>
            </a:r>
          </a:p>
          <a:p>
            <a:endParaRPr lang="en-GB" baseline="0" dirty="0"/>
          </a:p>
          <a:p>
            <a:endParaRPr lang="en-GB" baseline="0" dirty="0"/>
          </a:p>
          <a:p>
            <a:endParaRPr lang="en-GB" baseline="0" dirty="0"/>
          </a:p>
          <a:p>
            <a:endParaRPr lang="en-GB" baseline="0" dirty="0"/>
          </a:p>
          <a:p>
            <a:r>
              <a:rPr lang="en-GB" baseline="0" dirty="0"/>
              <a:t>Some information on how you can extract </a:t>
            </a:r>
            <a:r>
              <a:rPr lang="en-GB" b="1" baseline="0" dirty="0"/>
              <a:t>data from Bloomberg</a:t>
            </a:r>
          </a:p>
          <a:p>
            <a:endParaRPr lang="en-GB" baseline="0" dirty="0"/>
          </a:p>
          <a:p>
            <a:r>
              <a:rPr lang="en-GB" baseline="0" dirty="0"/>
              <a:t>http://researchguides.library.yorku.ca/bloomberg/industry</a:t>
            </a:r>
          </a:p>
          <a:p>
            <a:r>
              <a:rPr lang="en-GB" baseline="0" dirty="0"/>
              <a:t>https://www.claremontmckenna.edu/fei/bloomberg/BloombergTutorialFinal.pdf</a:t>
            </a:r>
          </a:p>
          <a:p>
            <a:endParaRPr lang="en-GB" baseline="0" dirty="0"/>
          </a:p>
          <a:p>
            <a:endParaRPr lang="en-GB" baseline="0" dirty="0"/>
          </a:p>
          <a:p>
            <a:endParaRPr lang="en-GB" baseline="0" dirty="0"/>
          </a:p>
          <a:p>
            <a:r>
              <a:rPr lang="en-US" dirty="0"/>
              <a:t>The unlevered betas (corrected for cash) and the enterprise value to sales ratios were obtained by looking at comparable firms in each of Disney’s businesses.  The weightings</a:t>
            </a:r>
            <a:r>
              <a:rPr lang="en-US" baseline="0" dirty="0"/>
              <a:t> are computed as following. The value is estimated using the multiple Value/Revenue of comparable firms in the four industries (Media and TV broadcasting, Theme Parks, etc.). </a:t>
            </a:r>
          </a:p>
          <a:p>
            <a:endParaRPr lang="en-GB" baseline="0" dirty="0"/>
          </a:p>
          <a:p>
            <a:r>
              <a:rPr lang="en-GB" baseline="0" dirty="0"/>
              <a:t>Let s say that the Value/Revenue is 10. This means that a firm derives $10 of value out of each $1 of revenue. Consequently, for Media and TV the value derived is 19,436 x 3.41. We do the same for Theme parks, Movies and Toys and then compute the weightings.</a:t>
            </a:r>
          </a:p>
          <a:p>
            <a:endParaRPr lang="en-GB" baseline="0" dirty="0"/>
          </a:p>
          <a:p>
            <a:endParaRPr lang="en-GB" baseline="0" dirty="0"/>
          </a:p>
          <a:p>
            <a:endParaRPr lang="en-GB" baseline="0" dirty="0"/>
          </a:p>
          <a:p>
            <a:endParaRPr lang="en-GB" baseline="0" dirty="0"/>
          </a:p>
          <a:p>
            <a:endParaRPr lang="en-GB" baseline="0" dirty="0"/>
          </a:p>
          <a:p>
            <a:endParaRPr lang="en-GB" baseline="0" dirty="0"/>
          </a:p>
          <a:p>
            <a:endParaRPr lang="en-GB" baseline="0" dirty="0"/>
          </a:p>
          <a:p>
            <a:endParaRPr lang="en-US" dirty="0"/>
          </a:p>
          <a:p>
            <a:endParaRPr lang="en-US" dirty="0"/>
          </a:p>
          <a:p>
            <a:endParaRPr lang="en-US" dirty="0"/>
          </a:p>
          <a:p>
            <a:r>
              <a:rPr lang="en-US" dirty="0"/>
              <a:t>Please </a:t>
            </a:r>
            <a:r>
              <a:rPr lang="en-US" b="1" dirty="0"/>
              <a:t>NOTE</a:t>
            </a:r>
            <a:r>
              <a:rPr lang="en-US" dirty="0"/>
              <a:t>:</a:t>
            </a:r>
            <a:r>
              <a:rPr lang="en-US" baseline="0" dirty="0"/>
              <a:t> </a:t>
            </a:r>
            <a:r>
              <a:rPr lang="en-US" dirty="0"/>
              <a:t>Should you adjust betas for a company’s cash holdings?</a:t>
            </a:r>
          </a:p>
          <a:p>
            <a:endParaRPr lang="en-US" dirty="0"/>
          </a:p>
          <a:p>
            <a:r>
              <a:rPr lang="en-US" dirty="0"/>
              <a:t>It depends on how you will approach valuation. If you are valuing the non-cash or operating assets of the firm first and adding the cash back at the end (which is the conventional practice in firm valuation), you should not adjust the equity beta for the cash holdings of the firm. If you are valuing cash as part of the firm, which is what you implicitly do when you use net income as your base for estimating dividends or free </a:t>
            </a:r>
            <a:r>
              <a:rPr lang="en-US" dirty="0" err="1"/>
              <a:t>cashflows</a:t>
            </a:r>
            <a:r>
              <a:rPr lang="en-US" dirty="0"/>
              <a:t> to equity, you should adjust the beta for the cash holdings of the firm. Very simply, the beta for the firm inclusive of cash will be</a:t>
            </a:r>
          </a:p>
          <a:p>
            <a:r>
              <a:rPr lang="en-US" dirty="0"/>
              <a:t>Beta of non-cash assets (Non-cash Assets/ Firm Value) + 0 (Cash/ Firm Value). </a:t>
            </a:r>
            <a:endParaRPr lang="en-US" b="1" baseline="0" dirty="0"/>
          </a:p>
          <a:p>
            <a:endParaRPr lang="en-US" baseline="0" dirty="0"/>
          </a:p>
          <a:p>
            <a:endParaRPr lang="en-US" baseline="0" dirty="0"/>
          </a:p>
          <a:p>
            <a:endParaRPr lang="en-US" baseline="0" dirty="0"/>
          </a:p>
          <a:p>
            <a:endParaRPr lang="en-US" baseline="0" dirty="0"/>
          </a:p>
          <a:p>
            <a:r>
              <a:rPr lang="en-US" baseline="0" dirty="0"/>
              <a:t>Debt to Equity is derived as follows.  </a:t>
            </a:r>
          </a:p>
          <a:p>
            <a:endParaRPr lang="en-US" baseline="0" dirty="0"/>
          </a:p>
          <a:p>
            <a:r>
              <a:rPr lang="en-US" baseline="0" dirty="0"/>
              <a:t>Market value of Equity=Share price x number of shares</a:t>
            </a:r>
          </a:p>
          <a:p>
            <a:r>
              <a:rPr lang="en-US" baseline="0" dirty="0"/>
              <a:t>Market Value of Debt (p. 57) is $18,586m </a:t>
            </a:r>
          </a:p>
          <a:p>
            <a:endParaRPr lang="en-US" dirty="0"/>
          </a:p>
          <a:p>
            <a:r>
              <a:rPr lang="en-US" dirty="0"/>
              <a:t>p.34</a:t>
            </a:r>
            <a:r>
              <a:rPr lang="en-US" baseline="0" dirty="0"/>
              <a:t> number of shares = Total Dividend/Dividend per share = 1.1b/0.6=1,833,333,333.</a:t>
            </a:r>
          </a:p>
          <a:p>
            <a:r>
              <a:rPr lang="en-US" baseline="0" dirty="0"/>
              <a:t>Average share price for 2012 $50.</a:t>
            </a:r>
          </a:p>
          <a:p>
            <a:r>
              <a:rPr lang="en-US" baseline="0" dirty="0"/>
              <a:t>Market Value of Equity = $91,667m</a:t>
            </a:r>
          </a:p>
          <a:p>
            <a:endParaRPr lang="en-US" baseline="0" dirty="0"/>
          </a:p>
          <a:p>
            <a:r>
              <a:rPr lang="en-US" baseline="0" dirty="0"/>
              <a:t>D/E= 20.28%</a:t>
            </a:r>
          </a:p>
          <a:p>
            <a:endParaRPr lang="en-US" baseline="0" dirty="0"/>
          </a:p>
          <a:p>
            <a:endParaRPr lang="en-GB" dirty="0"/>
          </a:p>
          <a:p>
            <a:r>
              <a:rPr lang="en-GB" dirty="0"/>
              <a:t>Tax Rate p. 37 =33.3%</a:t>
            </a:r>
          </a:p>
        </p:txBody>
      </p:sp>
    </p:spTree>
    <p:extLst>
      <p:ext uri="{BB962C8B-B14F-4D97-AF65-F5344CB8AC3E}">
        <p14:creationId xmlns:p14="http://schemas.microsoft.com/office/powerpoint/2010/main" val="84435628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2130" name="Rectangle 2"/>
          <p:cNvSpPr>
            <a:spLocks noGrp="1" noRot="1" noChangeAspect="1" noChangeArrowheads="1" noTextEdit="1"/>
          </p:cNvSpPr>
          <p:nvPr>
            <p:ph type="sldImg"/>
          </p:nvPr>
        </p:nvSpPr>
        <p:spPr>
          <a:xfrm>
            <a:off x="3243263" y="514350"/>
            <a:ext cx="3386137" cy="2540000"/>
          </a:xfrm>
          <a:ln/>
        </p:spPr>
      </p:sp>
      <p:sp>
        <p:nvSpPr>
          <p:cNvPr id="1072131" name="Rectangle 3"/>
          <p:cNvSpPr>
            <a:spLocks noGrp="1" noChangeArrowheads="1"/>
          </p:cNvSpPr>
          <p:nvPr>
            <p:ph type="body" idx="1"/>
          </p:nvPr>
        </p:nvSpPr>
        <p:spPr/>
        <p:txBody>
          <a:bodyPr/>
          <a:lstStyle/>
          <a:p>
            <a:r>
              <a:rPr lang="en-US" dirty="0"/>
              <a:t>While we still use regression betas to compute bottom-up betas, the law of large numbers works in your favor. The average of a large number of imprecise betas is more precise than any one regression beta. The reason we </a:t>
            </a:r>
            <a:r>
              <a:rPr lang="en-US" dirty="0" err="1"/>
              <a:t>unlever</a:t>
            </a:r>
            <a:r>
              <a:rPr lang="en-US" dirty="0"/>
              <a:t> and </a:t>
            </a:r>
            <a:r>
              <a:rPr lang="en-US" dirty="0" err="1"/>
              <a:t>relever</a:t>
            </a:r>
            <a:r>
              <a:rPr lang="en-US" dirty="0"/>
              <a:t> is because different firms may have different debt ratios.</a:t>
            </a:r>
          </a:p>
          <a:p>
            <a:r>
              <a:rPr lang="en-US" dirty="0"/>
              <a:t>Even if a company is in a single business and has not changed its business over time, the bottom up beta should dominate a regression beta. If a company has changed its business mix, the argument for bottom up betas becomes irrefutable.</a:t>
            </a:r>
          </a:p>
        </p:txBody>
      </p:sp>
    </p:spTree>
    <p:extLst>
      <p:ext uri="{BB962C8B-B14F-4D97-AF65-F5344CB8AC3E}">
        <p14:creationId xmlns:p14="http://schemas.microsoft.com/office/powerpoint/2010/main" val="156381551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2"/>
          <p:cNvSpPr>
            <a:spLocks noGrp="1" noChangeArrowheads="1"/>
          </p:cNvSpPr>
          <p:nvPr>
            <p:ph type="body" idx="1"/>
          </p:nvPr>
        </p:nvSpPr>
        <p:spPr/>
        <p:txBody>
          <a:bodyPr/>
          <a:lstStyle/>
          <a:p>
            <a:r>
              <a:rPr lang="en-US" dirty="0"/>
              <a:t>Big Picture of Cost of Equity</a:t>
            </a:r>
          </a:p>
        </p:txBody>
      </p:sp>
      <p:sp>
        <p:nvSpPr>
          <p:cNvPr id="477187" name="Rectangle 3"/>
          <p:cNvSpPr>
            <a:spLocks noGrp="1" noRot="1" noChangeAspect="1" noChangeArrowheads="1" noTextEdit="1"/>
          </p:cNvSpPr>
          <p:nvPr>
            <p:ph type="sldImg"/>
          </p:nvPr>
        </p:nvSpPr>
        <p:spPr>
          <a:xfrm>
            <a:off x="3243263" y="514350"/>
            <a:ext cx="3386137" cy="2540000"/>
          </a:xfrm>
          <a:ln/>
        </p:spPr>
      </p:sp>
    </p:spTree>
    <p:extLst>
      <p:ext uri="{BB962C8B-B14F-4D97-AF65-F5344CB8AC3E}">
        <p14:creationId xmlns:p14="http://schemas.microsoft.com/office/powerpoint/2010/main" val="150064765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2"/>
          <p:cNvSpPr>
            <a:spLocks noGrp="1" noRot="1" noChangeAspect="1" noChangeArrowheads="1" noTextEdit="1"/>
          </p:cNvSpPr>
          <p:nvPr>
            <p:ph type="sldImg"/>
          </p:nvPr>
        </p:nvSpPr>
        <p:spPr>
          <a:xfrm>
            <a:off x="3243263" y="514350"/>
            <a:ext cx="3386137" cy="2540000"/>
          </a:xfrm>
          <a:ln/>
        </p:spPr>
      </p:sp>
      <p:sp>
        <p:nvSpPr>
          <p:cNvPr id="479235" name="Rectangle 3"/>
          <p:cNvSpPr>
            <a:spLocks noGrp="1" noChangeArrowheads="1"/>
          </p:cNvSpPr>
          <p:nvPr>
            <p:ph type="body" idx="1"/>
          </p:nvPr>
        </p:nvSpPr>
        <p:spPr/>
        <p:txBody>
          <a:bodyPr/>
          <a:lstStyle/>
          <a:p>
            <a:r>
              <a:rPr lang="en-US" dirty="0"/>
              <a:t>The cost of debt is not the rate at which you borrowed money historically. That is why you cannot use the book cost of debt in the cost of capital calculation. </a:t>
            </a:r>
          </a:p>
          <a:p>
            <a:r>
              <a:rPr lang="en-US" dirty="0"/>
              <a:t>While many companies have bonds outstanding, corporate bonds often have special features attached to them and are not liquid, making it difficult to use the yield to maturity as the cost of debt. </a:t>
            </a:r>
          </a:p>
          <a:p>
            <a:r>
              <a:rPr lang="en-US" dirty="0"/>
              <a:t>While ratings are often useful tools for coming up with the cost of debt, there can be problems:</a:t>
            </a:r>
          </a:p>
          <a:p>
            <a:pPr lvl="1">
              <a:buFontTx/>
              <a:buChar char="•"/>
            </a:pPr>
            <a:r>
              <a:rPr lang="en-US" dirty="0"/>
              <a:t>A firm can have multiple ratings. You need a rating across all of a firm’s debt, not just its safest…</a:t>
            </a:r>
          </a:p>
          <a:p>
            <a:pPr lvl="1">
              <a:buFontTx/>
              <a:buChar char="•"/>
            </a:pPr>
            <a:r>
              <a:rPr lang="en-US" dirty="0"/>
              <a:t>A firm’s bonds can be structured in such a way that they can be safer than the rest of the firm’s debt - they can be more senior or secured than the other debt of the firm.</a:t>
            </a:r>
          </a:p>
          <a:p>
            <a:endParaRPr lang="en-US" dirty="0"/>
          </a:p>
          <a:p>
            <a:endParaRPr lang="en-US" dirty="0"/>
          </a:p>
          <a:p>
            <a:r>
              <a:rPr lang="en-US" dirty="0"/>
              <a:t>A further note on default spread computations: </a:t>
            </a:r>
            <a:r>
              <a:rPr lang="en-US" b="1" dirty="0"/>
              <a:t>COUNTRY</a:t>
            </a:r>
            <a:r>
              <a:rPr lang="en-US" b="1" baseline="0" dirty="0"/>
              <a:t> RISK</a:t>
            </a:r>
            <a:endParaRPr lang="en-US" b="1" dirty="0"/>
          </a:p>
          <a:p>
            <a:endParaRPr lang="en-US" dirty="0"/>
          </a:p>
          <a:p>
            <a:endParaRPr lang="en-US" dirty="0"/>
          </a:p>
          <a:p>
            <a:r>
              <a:rPr lang="en-US" dirty="0"/>
              <a:t>Cost of Debt computations</a:t>
            </a:r>
          </a:p>
          <a:p>
            <a:r>
              <a:rPr lang="en-US" dirty="0"/>
              <a:t>Country Risk</a:t>
            </a:r>
          </a:p>
          <a:p>
            <a:pPr lvl="1"/>
            <a:r>
              <a:rPr lang="en-US" dirty="0"/>
              <a:t>in countries with low bond ratings and high default risk might bear the burden of country default risk, especially if they are smaller or have all of their revenues within the country.</a:t>
            </a:r>
          </a:p>
          <a:p>
            <a:pPr lvl="1"/>
            <a:r>
              <a:rPr lang="en-US" dirty="0"/>
              <a:t>Larger companies that derive a significant portion of their revenues in global markets may be less exposed to country default risk. In other words, they may be able to borrow at a rate lower than the government.</a:t>
            </a:r>
          </a:p>
          <a:p>
            <a:pPr>
              <a:lnSpc>
                <a:spcPct val="90000"/>
              </a:lnSpc>
            </a:pPr>
            <a:endParaRPr lang="en-US" sz="1800" dirty="0"/>
          </a:p>
          <a:p>
            <a:pPr>
              <a:lnSpc>
                <a:spcPct val="90000"/>
              </a:lnSpc>
            </a:pPr>
            <a:r>
              <a:rPr lang="en-US" dirty="0"/>
              <a:t>Decision on Country Default spread-proportion</a:t>
            </a:r>
          </a:p>
          <a:p>
            <a:pPr lvl="1">
              <a:lnSpc>
                <a:spcPct val="90000"/>
              </a:lnSpc>
            </a:pPr>
            <a:r>
              <a:rPr lang="en-US" dirty="0"/>
              <a:t>The synthetic rating for Embraer is A-.default spread of 1.00%</a:t>
            </a:r>
          </a:p>
          <a:p>
            <a:pPr lvl="1">
              <a:lnSpc>
                <a:spcPct val="90000"/>
              </a:lnSpc>
            </a:pPr>
            <a:r>
              <a:rPr lang="en-US" dirty="0"/>
              <a:t>We use a risk free rate of 4.29% and</a:t>
            </a:r>
          </a:p>
          <a:p>
            <a:pPr lvl="1">
              <a:lnSpc>
                <a:spcPct val="90000"/>
              </a:lnSpc>
            </a:pPr>
            <a:r>
              <a:rPr lang="en-US" dirty="0"/>
              <a:t>add in two thirds of the country default spread of 6.01%:</a:t>
            </a:r>
          </a:p>
          <a:p>
            <a:pPr>
              <a:lnSpc>
                <a:spcPct val="90000"/>
              </a:lnSpc>
              <a:buFont typeface="Monotype Sorts" charset="2"/>
              <a:buNone/>
            </a:pPr>
            <a:r>
              <a:rPr lang="en-US" dirty="0"/>
              <a:t> Cost of debt </a:t>
            </a:r>
          </a:p>
          <a:p>
            <a:pPr lvl="1">
              <a:lnSpc>
                <a:spcPct val="90000"/>
              </a:lnSpc>
              <a:buFont typeface="Monotype Sorts" charset="2"/>
              <a:buNone/>
            </a:pPr>
            <a:r>
              <a:rPr lang="en-US" dirty="0"/>
              <a:t>= </a:t>
            </a:r>
            <a:r>
              <a:rPr lang="en-US" dirty="0" err="1"/>
              <a:t>Riskfree</a:t>
            </a:r>
            <a:r>
              <a:rPr lang="en-US" dirty="0"/>
              <a:t> rate + 2/3(Brazil country default spread) + Company default spread =4.29% + 4.00%+ 1.00% = 9.29%</a:t>
            </a:r>
          </a:p>
          <a:p>
            <a:endParaRPr lang="en-US" dirty="0"/>
          </a:p>
          <a:p>
            <a:endParaRPr lang="en-US" dirty="0"/>
          </a:p>
          <a:p>
            <a:r>
              <a:rPr lang="en-US" dirty="0"/>
              <a:t>When estimating the cost of debt for an emerging market company, you have to decide whether to add the country default spread to the company default spread when estimating the cost of debt. </a:t>
            </a:r>
          </a:p>
          <a:p>
            <a:r>
              <a:rPr lang="en-US" dirty="0"/>
              <a:t>For smaller, less well known firms, it is safer to assume that firms cannot borrow at a rate lower than the countries in which they are incorporated. For larger firms, you could make the argument that firms can borrow at lower rates. In practical terms, you could ignore the country default spread or add only a fraction of that spread.</a:t>
            </a:r>
          </a:p>
          <a:p>
            <a:endParaRPr lang="en-US" dirty="0"/>
          </a:p>
        </p:txBody>
      </p:sp>
    </p:spTree>
    <p:extLst>
      <p:ext uri="{BB962C8B-B14F-4D97-AF65-F5344CB8AC3E}">
        <p14:creationId xmlns:p14="http://schemas.microsoft.com/office/powerpoint/2010/main" val="356583963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78" name="Rectangle 2"/>
          <p:cNvSpPr>
            <a:spLocks noGrp="1" noRot="1" noChangeAspect="1" noChangeArrowheads="1" noTextEdit="1"/>
          </p:cNvSpPr>
          <p:nvPr>
            <p:ph type="sldImg"/>
          </p:nvPr>
        </p:nvSpPr>
        <p:spPr>
          <a:xfrm>
            <a:off x="3243263" y="514350"/>
            <a:ext cx="3386137" cy="2540000"/>
          </a:xfrm>
          <a:ln/>
        </p:spPr>
      </p:sp>
      <p:sp>
        <p:nvSpPr>
          <p:cNvPr id="1048579" name="Rectangle 3"/>
          <p:cNvSpPr>
            <a:spLocks noGrp="1" noChangeArrowheads="1"/>
          </p:cNvSpPr>
          <p:nvPr>
            <p:ph type="body" idx="1"/>
          </p:nvPr>
        </p:nvSpPr>
        <p:spPr/>
        <p:txBody>
          <a:bodyPr/>
          <a:lstStyle/>
          <a:p>
            <a:r>
              <a:rPr lang="en-US" dirty="0"/>
              <a:t>More up</a:t>
            </a:r>
            <a:r>
              <a:rPr lang="en-US" baseline="0" dirty="0"/>
              <a:t> to date data</a:t>
            </a:r>
          </a:p>
          <a:p>
            <a:endParaRPr lang="en-GB" baseline="0" dirty="0"/>
          </a:p>
          <a:p>
            <a:r>
              <a:rPr lang="en-GB" baseline="0" dirty="0"/>
              <a:t>http://people.stern.nyu.edu/adamodar/New_Home_Page/datafile/ratings.html</a:t>
            </a:r>
          </a:p>
          <a:p>
            <a:endParaRPr lang="en-US" dirty="0"/>
          </a:p>
          <a:p>
            <a:r>
              <a:rPr lang="en-US" dirty="0"/>
              <a:t>This is a simplistic approach but it uses the ratio that explains the largest proportion of the differences between ratings at non-financial service U.S. companies - I tried the 8 ratios that S&amp;P said it depends upon the most to rate companies (which are available on its web site) and correlated them with bond ratings in 1999. </a:t>
            </a:r>
          </a:p>
          <a:p>
            <a:r>
              <a:rPr lang="en-US" dirty="0"/>
              <a:t>You could expand this approach to incorporate other ratios and create a score - similar to the Altman Z score - but you have to decide on whether the trade off is worth it - more complexity for less transparency.</a:t>
            </a:r>
          </a:p>
          <a:p>
            <a:endParaRPr lang="en-US" dirty="0"/>
          </a:p>
          <a:p>
            <a:endParaRPr lang="en-US" dirty="0"/>
          </a:p>
          <a:p>
            <a:r>
              <a:rPr lang="en-US" dirty="0"/>
              <a:t>An excellent reading on credit ratings</a:t>
            </a:r>
          </a:p>
          <a:p>
            <a:endParaRPr lang="en-US" dirty="0"/>
          </a:p>
          <a:p>
            <a:r>
              <a:rPr lang="en-US" dirty="0"/>
              <a:t>https://wiki.treasurers.org/wiki/Corporate_credit_ratings:_a_quick_guide</a:t>
            </a:r>
          </a:p>
          <a:p>
            <a:endParaRPr lang="en-US" dirty="0"/>
          </a:p>
          <a:p>
            <a:endParaRPr lang="en-US" dirty="0"/>
          </a:p>
          <a:p>
            <a:endParaRPr lang="en-US" dirty="0"/>
          </a:p>
          <a:p>
            <a:r>
              <a:rPr lang="en-US" b="1" dirty="0"/>
              <a:t>Problems with Interest Coverage Ratios and Synthetic</a:t>
            </a:r>
            <a:r>
              <a:rPr lang="en-US" b="1" baseline="0" dirty="0"/>
              <a:t> Ratings</a:t>
            </a:r>
            <a:endParaRPr lang="en-US" b="1" dirty="0"/>
          </a:p>
          <a:p>
            <a:endParaRPr lang="en-US" dirty="0"/>
          </a:p>
          <a:p>
            <a:r>
              <a:rPr lang="en-US" dirty="0"/>
              <a:t>The relationship between interest coverage ratios and ratings, developed using US companies, tends to travel well, as long as we are analyzing large manufacturing firms in markets with interest rates close to the US interest rate</a:t>
            </a:r>
          </a:p>
          <a:p>
            <a:r>
              <a:rPr lang="en-US" dirty="0"/>
              <a:t>They are more problematic when looking at smaller companies in markets with higher interest rates than the US.</a:t>
            </a:r>
          </a:p>
          <a:p>
            <a:endParaRPr lang="en-US" dirty="0"/>
          </a:p>
          <a:p>
            <a:endParaRPr lang="en-US" dirty="0"/>
          </a:p>
          <a:p>
            <a:r>
              <a:rPr lang="en-US" dirty="0"/>
              <a:t>To develop an interest coverage ratio/ratings table, you need lots of rated firms and objective ratings agencies. This is most feasible in the United States. As long as interest rates in another country are similar to those in the United States, the ratings yielded by the table are fairly reasonable. When interest rates are high, interest coverage ratios will come under downward pressure and the table may need to be adjusted to reflect this. </a:t>
            </a:r>
          </a:p>
          <a:p>
            <a:endParaRPr lang="en-US" dirty="0"/>
          </a:p>
        </p:txBody>
      </p:sp>
    </p:spTree>
    <p:extLst>
      <p:ext uri="{BB962C8B-B14F-4D97-AF65-F5344CB8AC3E}">
        <p14:creationId xmlns:p14="http://schemas.microsoft.com/office/powerpoint/2010/main" val="76635377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243263" y="514350"/>
            <a:ext cx="3386137" cy="2540000"/>
          </a:xfrm>
        </p:spPr>
      </p:sp>
      <p:sp>
        <p:nvSpPr>
          <p:cNvPr id="3" name="Notes Placeholder 2"/>
          <p:cNvSpPr>
            <a:spLocks noGrp="1"/>
          </p:cNvSpPr>
          <p:nvPr>
            <p:ph type="body" idx="1"/>
          </p:nvPr>
        </p:nvSpPr>
        <p:spPr/>
        <p:txBody>
          <a:bodyPr/>
          <a:lstStyle/>
          <a:p>
            <a:r>
              <a:rPr lang="en-US" dirty="0"/>
              <a:t>You could read this interesting article</a:t>
            </a:r>
          </a:p>
          <a:p>
            <a:endParaRPr lang="en-US" dirty="0"/>
          </a:p>
          <a:p>
            <a:r>
              <a:rPr lang="en-US" dirty="0"/>
              <a:t>http://www.investopedia.com/articles/fundamental/03/061103.asp</a:t>
            </a:r>
          </a:p>
          <a:p>
            <a:endParaRPr lang="en-US" dirty="0"/>
          </a:p>
          <a:p>
            <a:endParaRPr lang="en-US" dirty="0"/>
          </a:p>
          <a:p>
            <a:r>
              <a:rPr lang="en-US" dirty="0"/>
              <a:t>The weights used to compute the cost of capital should be the market value weights for debt and equity.</a:t>
            </a:r>
          </a:p>
          <a:p>
            <a:endParaRPr lang="en-US" dirty="0"/>
          </a:p>
          <a:p>
            <a:r>
              <a:rPr lang="en-US" dirty="0"/>
              <a:t>The market value of</a:t>
            </a:r>
            <a:r>
              <a:rPr lang="en-US" baseline="0" dirty="0"/>
              <a:t> equity can be found by multiplying the share price times the number of shares. </a:t>
            </a:r>
            <a:r>
              <a:rPr lang="en-US" dirty="0"/>
              <a:t>There is an element of circularity that is introduced into every valuation by doing this, since the values that we attach to the firm and equity at the end of the analysis are different from the values we gave them at the beginning. If we iterate</a:t>
            </a:r>
            <a:r>
              <a:rPr lang="en-US" baseline="0" dirty="0"/>
              <a:t> the process two or three times we can reach a stable D/E ratio and market value of equity.</a:t>
            </a:r>
          </a:p>
          <a:p>
            <a:endParaRPr lang="en-US" baseline="0" dirty="0"/>
          </a:p>
          <a:p>
            <a:endParaRPr lang="en-US" baseline="0" dirty="0"/>
          </a:p>
          <a:p>
            <a:r>
              <a:rPr lang="en-US" baseline="0" dirty="0"/>
              <a:t>The market value of debt is usually very close to the book value. However, if the company holds long corporate bonds and its financial situation has changed a lot, the market value should not be expected to be the same. In this case we can treat the total borrowing as a single bond. The face value of the bond is the total book value. The coupons should be equal the current (or the average if you want) interest payment. The yield to maturity should be the cost of debt, which could be reported or estimated based on default spreads.</a:t>
            </a:r>
          </a:p>
          <a:p>
            <a:endParaRPr lang="en-US" dirty="0"/>
          </a:p>
          <a:p>
            <a:endParaRPr lang="en-US" dirty="0"/>
          </a:p>
          <a:p>
            <a:r>
              <a:rPr lang="en-US" b="1" dirty="0"/>
              <a:t>As a general rule, the debt that you should subtract from firm value to arrive at the value of equity should be the same debt that you used to compute the cost of capital.</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b="1"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The rationale for using market values is simple. You are considering how much someone who would buy the company today should be willing to pay for the company. Since he or she can buy equity and debt at today’s market value, you use those as weights. However, you could very well push the market values towards your estimated values in the process of buying the company. If this is a concern, you can iterate the weights in the cost of capital calculation to make the values used in the weights converge on the values estimated in the analysis.</a:t>
            </a:r>
          </a:p>
          <a:p>
            <a:endParaRPr lang="en-GB" dirty="0"/>
          </a:p>
        </p:txBody>
      </p:sp>
    </p:spTree>
    <p:extLst>
      <p:ext uri="{BB962C8B-B14F-4D97-AF65-F5344CB8AC3E}">
        <p14:creationId xmlns:p14="http://schemas.microsoft.com/office/powerpoint/2010/main" val="353277435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2"/>
          <p:cNvSpPr>
            <a:spLocks noGrp="1" noRot="1" noChangeAspect="1" noChangeArrowheads="1" noTextEdit="1"/>
          </p:cNvSpPr>
          <p:nvPr>
            <p:ph type="sldImg"/>
          </p:nvPr>
        </p:nvSpPr>
        <p:spPr>
          <a:xfrm>
            <a:off x="3243263" y="514350"/>
            <a:ext cx="3386137" cy="2540000"/>
          </a:xfrm>
          <a:ln/>
        </p:spPr>
      </p:sp>
      <p:sp>
        <p:nvSpPr>
          <p:cNvPr id="430083" name="Rectangle 3"/>
          <p:cNvSpPr>
            <a:spLocks noGrp="1" noChangeArrowheads="1"/>
          </p:cNvSpPr>
          <p:nvPr>
            <p:ph type="body" idx="1"/>
          </p:nvPr>
        </p:nvSpPr>
        <p:spPr/>
        <p:txBody>
          <a:bodyPr/>
          <a:lstStyle/>
          <a:p>
            <a:r>
              <a:rPr lang="en-US" dirty="0"/>
              <a:t>Keep your cost of capital simple. If possible, consolidate all of your capital into either debt or equity. With convertible bonds, this is fairly simple to do. With preferred, you do have a problem since its non-tax deductible status makes it unlike debt and it certainly is not equity. Here, you would make the exception and allow for a third source of capital. (In practice, I would do this only if preferred stock were more than 5% of capital in market value terms. Otherwise, you should ignore it for purposes of analysis).</a:t>
            </a:r>
          </a:p>
          <a:p>
            <a:r>
              <a:rPr lang="en-US" dirty="0"/>
              <a:t>The cost of preferred stock is the preferred dividend yield.</a:t>
            </a:r>
          </a:p>
          <a:p>
            <a:endParaRPr lang="en-US" dirty="0"/>
          </a:p>
          <a:p>
            <a:endParaRPr lang="en-US" dirty="0"/>
          </a:p>
          <a:p>
            <a:pPr marL="228600" indent="-228600"/>
            <a:r>
              <a:rPr lang="en-US" dirty="0"/>
              <a:t>Decomposing a</a:t>
            </a:r>
            <a:r>
              <a:rPr lang="en-US" baseline="0" dirty="0"/>
              <a:t> convertible bond</a:t>
            </a:r>
          </a:p>
          <a:p>
            <a:pPr marL="228600" indent="-228600"/>
            <a:endParaRPr lang="en-US" baseline="0" dirty="0"/>
          </a:p>
          <a:p>
            <a:r>
              <a:rPr lang="en-US" dirty="0"/>
              <a:t>Assume that the firm that you are analyzing has $125 million in face value of convertible debt with a stated interest rate of 4%, a 10 year maturity and a market value of $140 million. If the firm has a bond rating of A and the interest rate on A-rated straight bond is 8%, you can break down the value of the convertible bond into straight debt and equity portions.</a:t>
            </a:r>
          </a:p>
          <a:p>
            <a:pPr lvl="1"/>
            <a:r>
              <a:rPr lang="en-US" dirty="0"/>
              <a:t>Straight debt =PV 0f Future CF</a:t>
            </a:r>
          </a:p>
          <a:p>
            <a:pPr marL="594360" lvl="2" indent="0">
              <a:buNone/>
            </a:pPr>
            <a:r>
              <a:rPr lang="en-US" dirty="0"/>
              <a:t>= (4% of $125 million) (PV of annuity, 10 years, 8%) + 125 million/1.08</a:t>
            </a:r>
            <a:r>
              <a:rPr lang="en-US" baseline="30000" dirty="0"/>
              <a:t>10</a:t>
            </a:r>
            <a:r>
              <a:rPr lang="en-US" dirty="0"/>
              <a:t> = </a:t>
            </a:r>
            <a:r>
              <a:rPr lang="en-US" b="1" dirty="0"/>
              <a:t>$91.45 million </a:t>
            </a:r>
          </a:p>
          <a:p>
            <a:pPr lvl="1"/>
            <a:r>
              <a:rPr lang="en-US" dirty="0"/>
              <a:t>Equity portion =Residual Market value</a:t>
            </a:r>
          </a:p>
          <a:p>
            <a:pPr marL="594360" lvl="2" indent="0">
              <a:buNone/>
            </a:pPr>
            <a:r>
              <a:rPr lang="en-US" dirty="0"/>
              <a:t>= $140 million - $91.45 million = </a:t>
            </a:r>
            <a:r>
              <a:rPr lang="en-US" b="1" dirty="0"/>
              <a:t>$48.55 million</a:t>
            </a:r>
          </a:p>
          <a:p>
            <a:pPr marL="228600" indent="-228600"/>
            <a:endParaRPr lang="en-US" dirty="0"/>
          </a:p>
          <a:p>
            <a:pPr marL="228600" indent="-228600"/>
            <a:endParaRPr lang="en-US" dirty="0"/>
          </a:p>
          <a:p>
            <a:pPr marL="228600" indent="-228600"/>
            <a:r>
              <a:rPr lang="en-US" dirty="0"/>
              <a:t>The alternative approach is to use an option pricing model to value the conversion option and use that value as the value of the equity portion. </a:t>
            </a:r>
          </a:p>
          <a:p>
            <a:pPr marL="228600" indent="-228600"/>
            <a:r>
              <a:rPr lang="en-US" dirty="0"/>
              <a:t>In practice, here are a few problems that you may run into:</a:t>
            </a:r>
          </a:p>
          <a:p>
            <a:pPr marL="228600" indent="-228600">
              <a:buFont typeface="Arial" charset="0"/>
              <a:buAutoNum type="arabicPeriod"/>
            </a:pPr>
            <a:r>
              <a:rPr lang="en-US" dirty="0"/>
              <a:t>The bond may not be traded. The best solution here is to value the conversion option. If this is not feasible, use the face value as market value.</a:t>
            </a:r>
          </a:p>
          <a:p>
            <a:pPr marL="228600" indent="-228600">
              <a:buFont typeface="Arial" charset="0"/>
              <a:buAutoNum type="arabicPeriod"/>
            </a:pPr>
            <a:r>
              <a:rPr lang="en-US" dirty="0"/>
              <a:t>The value of the straight bond exceeds the market price. If this happens, treat the entire bond as debt since equity options cannot have a negative value.</a:t>
            </a:r>
          </a:p>
          <a:p>
            <a:pPr marL="228600" indent="-228600">
              <a:buFont typeface="Arial" charset="0"/>
              <a:buAutoNum type="arabicPeriod"/>
            </a:pPr>
            <a:r>
              <a:rPr lang="en-US" dirty="0"/>
              <a:t>The firm is not rated and has no straight debt. You have to use a synthetic rating to get a cost of debt.</a:t>
            </a:r>
          </a:p>
          <a:p>
            <a:endParaRPr lang="en-US" dirty="0"/>
          </a:p>
        </p:txBody>
      </p:sp>
    </p:spTree>
    <p:extLst>
      <p:ext uri="{BB962C8B-B14F-4D97-AF65-F5344CB8AC3E}">
        <p14:creationId xmlns:p14="http://schemas.microsoft.com/office/powerpoint/2010/main" val="290401866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Things that</a:t>
            </a:r>
            <a:r>
              <a:rPr lang="en-GB" baseline="0" dirty="0"/>
              <a:t> we need to remember</a:t>
            </a:r>
          </a:p>
          <a:p>
            <a:endParaRPr lang="en-GB" baseline="0" dirty="0"/>
          </a:p>
          <a:p>
            <a:r>
              <a:rPr lang="en-GB" sz="3200" dirty="0"/>
              <a:t>Why Debt?</a:t>
            </a:r>
          </a:p>
          <a:p>
            <a:pPr lvl="1"/>
            <a:r>
              <a:rPr lang="en-GB" sz="3200" dirty="0"/>
              <a:t>Cheaper</a:t>
            </a:r>
          </a:p>
          <a:p>
            <a:r>
              <a:rPr lang="en-GB" sz="3200" dirty="0"/>
              <a:t>Why Cheaper?</a:t>
            </a:r>
          </a:p>
          <a:p>
            <a:pPr lvl="1"/>
            <a:r>
              <a:rPr lang="en-GB" sz="3200" dirty="0"/>
              <a:t>Less risky</a:t>
            </a:r>
          </a:p>
          <a:p>
            <a:pPr lvl="1"/>
            <a:r>
              <a:rPr lang="en-GB" sz="3200" dirty="0"/>
              <a:t>Seniority: It comes before equity</a:t>
            </a:r>
          </a:p>
          <a:p>
            <a:pPr lvl="1"/>
            <a:r>
              <a:rPr lang="en-GB" sz="3200" dirty="0"/>
              <a:t>Cash Flows: Coupons are certain, Dividends are </a:t>
            </a:r>
          </a:p>
          <a:p>
            <a:pPr lvl="1"/>
            <a:r>
              <a:rPr lang="en-GB" sz="3200" dirty="0"/>
              <a:t> Tax benefit: Interest payments are tax deductible, Dividends are not</a:t>
            </a:r>
          </a:p>
          <a:p>
            <a:endParaRPr lang="en-GB" dirty="0"/>
          </a:p>
        </p:txBody>
      </p:sp>
    </p:spTree>
    <p:extLst>
      <p:ext uri="{BB962C8B-B14F-4D97-AF65-F5344CB8AC3E}">
        <p14:creationId xmlns:p14="http://schemas.microsoft.com/office/powerpoint/2010/main" val="336212613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aseline="0" dirty="0"/>
          </a:p>
        </p:txBody>
      </p:sp>
    </p:spTree>
    <p:extLst>
      <p:ext uri="{BB962C8B-B14F-4D97-AF65-F5344CB8AC3E}">
        <p14:creationId xmlns:p14="http://schemas.microsoft.com/office/powerpoint/2010/main" val="242942452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6994422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4433309E-B56D-43F0-A0A1-66360D09FD89}" type="datetime1">
              <a:rPr lang="en-US" smtClean="0"/>
              <a:t>9/28/2026</a:t>
            </a:fld>
            <a:endParaRPr lang="en-US"/>
          </a:p>
        </p:txBody>
      </p:sp>
      <p:sp>
        <p:nvSpPr>
          <p:cNvPr id="17" name="Footer Placeholder 16"/>
          <p:cNvSpPr>
            <a:spLocks noGrp="1"/>
          </p:cNvSpPr>
          <p:nvPr>
            <p:ph type="ftr" sz="quarter" idx="11"/>
          </p:nvPr>
        </p:nvSpPr>
        <p:spPr/>
        <p:txBody>
          <a:bodyPr/>
          <a:lstStyle/>
          <a:p>
            <a:r>
              <a:rPr kumimoji="0" lang="en-US"/>
              <a:t>Aswath Damodaran</a:t>
            </a:r>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‹Nº›</a:t>
            </a:fld>
            <a:endParaRPr kumimoji="0" lang="en-US" dirty="0">
              <a:solidFill>
                <a:schemeClr val="accent3">
                  <a:shade val="75000"/>
                </a:schemeClr>
              </a:solidFill>
            </a:endParaRPr>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fld id="{FCCE4C41-2B0F-4E1A-83FE-BB53E8485E92}" type="datetime1">
              <a:rPr lang="en-US" smtClean="0"/>
              <a:t>9/28/2026</a:t>
            </a:fld>
            <a:endParaRPr lang="en-US"/>
          </a:p>
        </p:txBody>
      </p:sp>
      <p:sp>
        <p:nvSpPr>
          <p:cNvPr id="5" name="Footer Placeholder 4"/>
          <p:cNvSpPr>
            <a:spLocks noGrp="1"/>
          </p:cNvSpPr>
          <p:nvPr>
            <p:ph type="ftr" sz="quarter" idx="11"/>
          </p:nvPr>
        </p:nvSpPr>
        <p:spPr/>
        <p:txBody>
          <a:bodyPr/>
          <a:lstStyle/>
          <a:p>
            <a:r>
              <a:rPr kumimoji="0" lang="en-US"/>
              <a:t>Aswath Damodaran</a:t>
            </a:r>
          </a:p>
        </p:txBody>
      </p:sp>
      <p:sp>
        <p:nvSpPr>
          <p:cNvPr id="6" name="Slide Number Placeholder 5"/>
          <p:cNvSpPr>
            <a:spLocks noGrp="1"/>
          </p:cNvSpPr>
          <p:nvPr>
            <p:ph type="sldNum" sz="quarter" idx="12"/>
          </p:nvPr>
        </p:nvSpPr>
        <p:spPr>
          <a:xfrm>
            <a:off x="4361688" y="1026372"/>
            <a:ext cx="457200" cy="441325"/>
          </a:xfrm>
        </p:spPr>
        <p:txBody>
          <a:bodyPr/>
          <a:lstStyle/>
          <a:p>
            <a:fld id="{2C6B1FF6-39B9-40F5-8B67-33C6354A3D4F}" type="slidenum">
              <a:rPr kumimoji="0" lang="en-US" smtClean="0"/>
              <a:pPr/>
              <a:t>‹Nº›</a:t>
            </a:fld>
            <a:endParaRPr kumimoji="0" lang="en-US" dirty="0"/>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r>
              <a:rPr kumimoji="0" lang="en-US"/>
              <a:t>Aswath Damodaran</a:t>
            </a:r>
          </a:p>
        </p:txBody>
      </p:sp>
      <p:sp>
        <p:nvSpPr>
          <p:cNvPr id="4" name="Date Placeholder 3"/>
          <p:cNvSpPr>
            <a:spLocks noGrp="1"/>
          </p:cNvSpPr>
          <p:nvPr>
            <p:ph type="dt" sz="half" idx="10"/>
          </p:nvPr>
        </p:nvSpPr>
        <p:spPr/>
        <p:txBody>
          <a:bodyPr/>
          <a:lstStyle/>
          <a:p>
            <a:fld id="{6A7D3A26-7D97-4D25-8380-85B8FEC944DE}" type="datetime1">
              <a:rPr lang="en-US" smtClean="0"/>
              <a:t>9/28/2026</a:t>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‹Nº›</a:t>
            </a:fld>
            <a:endParaRPr kumimoji="0" lang="en-US" dirty="0">
              <a:solidFill>
                <a:schemeClr val="accent3">
                  <a:shade val="75000"/>
                </a:schemeClr>
              </a:solidFill>
            </a:endParaRPr>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a:t>Click to edit Master title style</a:t>
            </a:r>
          </a:p>
        </p:txBody>
      </p:sp>
      <p:sp>
        <p:nvSpPr>
          <p:cNvPr id="5" name="Date Placeholder 4"/>
          <p:cNvSpPr>
            <a:spLocks noGrp="1"/>
          </p:cNvSpPr>
          <p:nvPr>
            <p:ph type="dt" sz="half" idx="10"/>
          </p:nvPr>
        </p:nvSpPr>
        <p:spPr>
          <a:xfrm>
            <a:off x="5791200" y="6409944"/>
            <a:ext cx="3044952" cy="365760"/>
          </a:xfrm>
        </p:spPr>
        <p:txBody>
          <a:bodyPr/>
          <a:lstStyle/>
          <a:p>
            <a:fld id="{79F7BFCA-1881-46F1-AB53-44787EF0914E}" type="datetime1">
              <a:rPr lang="en-US" smtClean="0"/>
              <a:t>9/28/2026</a:t>
            </a:fld>
            <a:endParaRPr lang="en-US"/>
          </a:p>
        </p:txBody>
      </p:sp>
      <p:sp>
        <p:nvSpPr>
          <p:cNvPr id="6" name="Footer Placeholder 5"/>
          <p:cNvSpPr>
            <a:spLocks noGrp="1"/>
          </p:cNvSpPr>
          <p:nvPr>
            <p:ph type="ftr" sz="quarter" idx="11"/>
          </p:nvPr>
        </p:nvSpPr>
        <p:spPr/>
        <p:txBody>
          <a:bodyPr/>
          <a:lstStyle/>
          <a:p>
            <a:r>
              <a:rPr kumimoji="0" lang="en-US"/>
              <a:t>Aswath Damodaran</a:t>
            </a:r>
            <a:endParaRPr kumimoji="0" lang="en-US" dirty="0"/>
          </a:p>
        </p:txBody>
      </p:sp>
      <p:sp>
        <p:nvSpPr>
          <p:cNvPr id="7" name="Slide Number Placeholder 6"/>
          <p:cNvSpPr>
            <a:spLocks noGrp="1"/>
          </p:cNvSpPr>
          <p:nvPr>
            <p:ph type="sldNum" sz="quarter" idx="12"/>
          </p:nvPr>
        </p:nvSpPr>
        <p:spPr/>
        <p:txBody>
          <a:bodyPr/>
          <a:lstStyle/>
          <a:p>
            <a:fld id="{2C6B1FF6-39B9-40F5-8B67-33C6354A3D4F}" type="slidenum">
              <a:rPr kumimoji="0" lang="en-US" smtClean="0"/>
              <a:pPr/>
              <a:t>‹Nº›</a:t>
            </a:fld>
            <a:endParaRPr kumimoji="0"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5796CF25-D8DA-44ED-876C-29A30A9A4010}" type="datetime1">
              <a:rPr lang="en-US" smtClean="0"/>
              <a:t>9/28/2026</a:t>
            </a:fld>
            <a:endParaRPr lang="en-US"/>
          </a:p>
        </p:txBody>
      </p:sp>
      <p:sp>
        <p:nvSpPr>
          <p:cNvPr id="8" name="Footer Placeholder 7"/>
          <p:cNvSpPr>
            <a:spLocks noGrp="1"/>
          </p:cNvSpPr>
          <p:nvPr>
            <p:ph type="ftr" sz="quarter" idx="11"/>
          </p:nvPr>
        </p:nvSpPr>
        <p:spPr>
          <a:xfrm>
            <a:off x="304800" y="6409944"/>
            <a:ext cx="3581400" cy="365760"/>
          </a:xfrm>
        </p:spPr>
        <p:txBody>
          <a:bodyPr/>
          <a:lstStyle/>
          <a:p>
            <a:r>
              <a:rPr kumimoji="0" lang="en-US"/>
              <a:t>Aswath Damodaran</a:t>
            </a:r>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pPr algn="ctr" eaLnBrk="1" latinLnBrk="0" hangingPunct="1"/>
            <a:fld id="{2C6B1FF6-39B9-40F5-8B67-33C6354A3D4F}" type="slidenum">
              <a:rPr kumimoji="0" lang="en-US" smtClean="0"/>
              <a:pPr algn="ctr" eaLnBrk="1" latinLnBrk="0" hangingPunct="1"/>
              <a:t>‹Nº›</a:t>
            </a:fld>
            <a:endParaRPr kumimoji="0" lang="en-US" dirty="0"/>
          </a:p>
        </p:txBody>
      </p:sp>
      <p:sp>
        <p:nvSpPr>
          <p:cNvPr id="23" name="Title 22"/>
          <p:cNvSpPr>
            <a:spLocks noGrp="1"/>
          </p:cNvSpPr>
          <p:nvPr>
            <p:ph type="title"/>
          </p:nvPr>
        </p:nvSpPr>
        <p:spPr/>
        <p:txBody>
          <a:bodyPr rtlCol="0" anchor="b" anchorCtr="0"/>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646E263D-EE39-4C6F-BA04-22609AC726EB}" type="datetime1">
              <a:rPr lang="en-US" smtClean="0"/>
              <a:t>9/28/2026</a:t>
            </a:fld>
            <a:endParaRPr lang="en-US"/>
          </a:p>
        </p:txBody>
      </p:sp>
      <p:sp>
        <p:nvSpPr>
          <p:cNvPr id="4" name="Footer Placeholder 3"/>
          <p:cNvSpPr>
            <a:spLocks noGrp="1"/>
          </p:cNvSpPr>
          <p:nvPr>
            <p:ph type="ftr" sz="quarter" idx="11"/>
          </p:nvPr>
        </p:nvSpPr>
        <p:spPr/>
        <p:txBody>
          <a:bodyPr/>
          <a:lstStyle/>
          <a:p>
            <a:r>
              <a:rPr kumimoji="0" lang="en-US"/>
              <a:t>Aswath Damodaran</a:t>
            </a:r>
            <a:endParaRPr kumimoji="0" lang="en-US" dirty="0"/>
          </a:p>
        </p:txBody>
      </p:sp>
      <p:sp>
        <p:nvSpPr>
          <p:cNvPr id="5" name="Slide Number Placeholder 4"/>
          <p:cNvSpPr>
            <a:spLocks noGrp="1"/>
          </p:cNvSpPr>
          <p:nvPr>
            <p:ph type="sldNum" sz="quarter" idx="12"/>
          </p:nvPr>
        </p:nvSpPr>
        <p:spPr>
          <a:xfrm>
            <a:off x="4343400" y="1036020"/>
            <a:ext cx="457200" cy="441325"/>
          </a:xfrm>
        </p:spPr>
        <p:txBody>
          <a:bodyPr/>
          <a:lstStyle/>
          <a:p>
            <a:fld id="{2C6B1FF6-39B9-40F5-8B67-33C6354A3D4F}" type="slidenum">
              <a:rPr kumimoji="0" lang="en-US" smtClean="0"/>
              <a:pPr/>
              <a:t>‹Nº›</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8D246445-8EF1-4299-92AB-B66FFC9C5098}" type="datetime1">
              <a:rPr lang="en-US" smtClean="0"/>
              <a:t>9/28/2026</a:t>
            </a:fld>
            <a:endParaRPr lang="en-US"/>
          </a:p>
        </p:txBody>
      </p:sp>
      <p:sp>
        <p:nvSpPr>
          <p:cNvPr id="3" name="Footer Placeholder 2"/>
          <p:cNvSpPr>
            <a:spLocks noGrp="1"/>
          </p:cNvSpPr>
          <p:nvPr>
            <p:ph type="ftr" sz="quarter" idx="11"/>
          </p:nvPr>
        </p:nvSpPr>
        <p:spPr/>
        <p:txBody>
          <a:bodyPr/>
          <a:lstStyle/>
          <a:p>
            <a:r>
              <a:rPr kumimoji="0" lang="en-US"/>
              <a:t>Aswath Damodaran</a:t>
            </a:r>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2C6B1FF6-39B9-40F5-8B67-33C6354A3D4F}" type="slidenum">
              <a:rPr kumimoji="0" lang="en-US" smtClean="0"/>
              <a:pPr/>
              <a:t>‹Nº›</a:t>
            </a:fld>
            <a:endParaRPr kumimoji="0" lang="en-US" dirty="0">
              <a:solidFill>
                <a:srgbClr val="FFFFFF"/>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a:t>Click to edit Master title style</a:t>
            </a:r>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2C6B1FF6-39B9-40F5-8B67-33C6354A3D4F}" type="slidenum">
              <a:rPr kumimoji="0" lang="en-US" smtClean="0"/>
              <a:pPr/>
              <a:t>‹Nº›</a:t>
            </a:fld>
            <a:endParaRPr kumimoji="0" lang="en-US" dirty="0">
              <a:solidFill>
                <a:schemeClr val="accent3">
                  <a:shade val="75000"/>
                </a:schemeClr>
              </a:solidFill>
            </a:endParaRPr>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8E939C5C-5E54-4CA0-9EC1-9FAB712AC016}" type="datetime1">
              <a:rPr lang="en-US" smtClean="0"/>
              <a:t>9/28/2026</a:t>
            </a:fld>
            <a:endParaRPr lang="en-US"/>
          </a:p>
        </p:txBody>
      </p:sp>
      <p:sp>
        <p:nvSpPr>
          <p:cNvPr id="6" name="Footer Placeholder 5"/>
          <p:cNvSpPr>
            <a:spLocks noGrp="1"/>
          </p:cNvSpPr>
          <p:nvPr>
            <p:ph type="ftr" sz="quarter" idx="11"/>
          </p:nvPr>
        </p:nvSpPr>
        <p:spPr>
          <a:xfrm>
            <a:off x="301752" y="6410848"/>
            <a:ext cx="3383280" cy="365760"/>
          </a:xfrm>
        </p:spPr>
        <p:txBody>
          <a:bodyPr/>
          <a:lstStyle/>
          <a:p>
            <a:r>
              <a:rPr kumimoji="0" lang="en-US"/>
              <a:t>Aswath Damodaran</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2C6B1FF6-39B9-40F5-8B67-33C6354A3D4F}" type="slidenum">
              <a:rPr kumimoji="0" lang="en-US" smtClean="0"/>
              <a:pPr/>
              <a:t>‹Nº›</a:t>
            </a:fld>
            <a:endParaRPr kumimoji="0" lang="en-US" dirty="0"/>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a:t>Click to edit Master title style</a:t>
            </a:r>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CF920F36-EC97-4BB6-9298-8811FA2C0FB6}" type="datetime1">
              <a:rPr lang="en-US" smtClean="0"/>
              <a:t>9/28/2026</a:t>
            </a:fld>
            <a:endParaRPr lang="en-US" dirty="0"/>
          </a:p>
        </p:txBody>
      </p:sp>
      <p:sp>
        <p:nvSpPr>
          <p:cNvPr id="6" name="Footer Placeholder 5"/>
          <p:cNvSpPr>
            <a:spLocks noGrp="1"/>
          </p:cNvSpPr>
          <p:nvPr>
            <p:ph type="ftr" sz="quarter" idx="11"/>
          </p:nvPr>
        </p:nvSpPr>
        <p:spPr>
          <a:xfrm>
            <a:off x="301752" y="6410848"/>
            <a:ext cx="3584448" cy="365760"/>
          </a:xfrm>
        </p:spPr>
        <p:txBody>
          <a:bodyPr/>
          <a:lstStyle/>
          <a:p>
            <a:r>
              <a:rPr kumimoji="0" lang="en-US"/>
              <a:t>Aswath Damodaran</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AD6A713-6C7A-42D6-87A6-06F5A32A8AAB}" type="datetime1">
              <a:rPr lang="en-US" smtClean="0"/>
              <a:t>9/28/2026</a:t>
            </a:fld>
            <a:endParaRPr lang="en-US"/>
          </a:p>
        </p:txBody>
      </p:sp>
      <p:sp>
        <p:nvSpPr>
          <p:cNvPr id="5" name="Footer Placeholder 4"/>
          <p:cNvSpPr>
            <a:spLocks noGrp="1"/>
          </p:cNvSpPr>
          <p:nvPr>
            <p:ph type="ftr" sz="quarter" idx="11"/>
          </p:nvPr>
        </p:nvSpPr>
        <p:spPr/>
        <p:txBody>
          <a:bodyPr/>
          <a:lstStyle/>
          <a:p>
            <a:r>
              <a:rPr kumimoji="0" lang="en-US"/>
              <a:t>Aswath Damodaran</a:t>
            </a:r>
          </a:p>
        </p:txBody>
      </p:sp>
      <p:sp>
        <p:nvSpPr>
          <p:cNvPr id="6" name="Slide Number Placeholder 5"/>
          <p:cNvSpPr>
            <a:spLocks noGrp="1"/>
          </p:cNvSpPr>
          <p:nvPr>
            <p:ph type="sldNum" sz="quarter" idx="12"/>
          </p:nvPr>
        </p:nvSpPr>
        <p:spPr/>
        <p:txBody>
          <a:bodyPr/>
          <a:lstStyle/>
          <a:p>
            <a:fld id="{2C6B1FF6-39B9-40F5-8B67-33C6354A3D4F}" type="slidenum">
              <a:rPr kumimoji="0" lang="en-US" smtClean="0"/>
              <a:pPr/>
              <a:t>‹Nº›</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2C6B1FF6-39B9-40F5-8B67-33C6354A3D4F}" type="slidenum">
              <a:rPr kumimoji="0" lang="en-US" smtClean="0"/>
              <a:pPr/>
              <a:t>‹Nº›</a:t>
            </a:fld>
            <a:endParaRPr kumimoji="0" lang="en-US" dirty="0"/>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E887CB8-5FD9-4770-95A0-80193316C2C0}" type="datetime1">
              <a:rPr lang="en-US" smtClean="0"/>
              <a:t>9/28/2026</a:t>
            </a:fld>
            <a:endParaRPr lang="en-US"/>
          </a:p>
        </p:txBody>
      </p:sp>
      <p:sp>
        <p:nvSpPr>
          <p:cNvPr id="5" name="Footer Placeholder 4"/>
          <p:cNvSpPr>
            <a:spLocks noGrp="1"/>
          </p:cNvSpPr>
          <p:nvPr>
            <p:ph type="ftr" sz="quarter" idx="11"/>
          </p:nvPr>
        </p:nvSpPr>
        <p:spPr/>
        <p:txBody>
          <a:bodyPr/>
          <a:lstStyle/>
          <a:p>
            <a:r>
              <a:rPr kumimoji="0" lang="en-US"/>
              <a:t>Aswath Damodaran</a:t>
            </a:r>
          </a:p>
        </p:txBody>
      </p:sp>
      <p:sp>
        <p:nvSpPr>
          <p:cNvPr id="2" name="Vertical Title 1"/>
          <p:cNvSpPr>
            <a:spLocks noGrp="1"/>
          </p:cNvSpPr>
          <p:nvPr>
            <p:ph type="title" orient="vert"/>
          </p:nvPr>
        </p:nvSpPr>
        <p:spPr>
          <a:xfrm>
            <a:off x="7391400" y="304801"/>
            <a:ext cx="1447800" cy="5851525"/>
          </a:xfrm>
        </p:spPr>
        <p:txBody>
          <a:bodyPr vert="eaVert"/>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pPr algn="r" eaLnBrk="1" latinLnBrk="0" hangingPunct="1"/>
            <a:fld id="{9B2FC524-83DE-4758-AAD4-EB6FF4AD2F6C}" type="datetime1">
              <a:rPr lang="en-US" smtClean="0"/>
              <a:t>9/28/2026</a:t>
            </a:fld>
            <a:endParaRPr lang="en-US" sz="1400" dirty="0">
              <a:solidFill>
                <a:srgbClr val="FFFFFF"/>
              </a:solidFill>
            </a:endParaRPr>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pPr algn="l" eaLnBrk="1" latinLnBrk="0" hangingPunct="1"/>
            <a:r>
              <a:rPr kumimoji="0" lang="en-US">
                <a:solidFill>
                  <a:srgbClr val="FFFFFF"/>
                </a:solidFill>
              </a:rPr>
              <a:t>Aswath Damodaran</a:t>
            </a:r>
            <a:endParaRPr kumimoji="0" lang="en-US" dirty="0">
              <a:solidFill>
                <a:srgbClr val="FFFFFF"/>
              </a:solidFill>
            </a:endParaRPr>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lgn="ctr" eaLnBrk="1" latinLnBrk="0" hangingPunct="1"/>
            <a:fld id="{2C6B1FF6-39B9-40F5-8B67-33C6354A3D4F}" type="slidenum">
              <a:rPr kumimoji="0" lang="en-US" smtClean="0"/>
              <a:pPr algn="ctr" eaLnBrk="1" latinLnBrk="0" hangingPunct="1"/>
              <a:t>‹Nº›</a:t>
            </a:fld>
            <a:endParaRPr kumimoji="0" lang="en-US" sz="1600" dirty="0">
              <a:solidFill>
                <a:schemeClr val="accent3">
                  <a:shade val="75000"/>
                </a:schemeClr>
              </a:solidFill>
            </a:endParaRPr>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hf sldNum="0" hdr="0" ftr="0" dt="0"/>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1/relationships/webextension" Target="../webextensions/webextension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1/relationships/webextension" Target="../webextensions/webextension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6.wmf"/><Relationship Id="rId5" Type="http://schemas.openxmlformats.org/officeDocument/2006/relationships/oleObject" Target="../embeddings/oleObject2.bin"/><Relationship Id="rId10" Type="http://schemas.openxmlformats.org/officeDocument/2006/relationships/image" Target="../media/image8.wmf"/><Relationship Id="rId4" Type="http://schemas.openxmlformats.org/officeDocument/2006/relationships/image" Target="../media/image5.wmf"/><Relationship Id="rId9" Type="http://schemas.openxmlformats.org/officeDocument/2006/relationships/oleObject" Target="../embeddings/oleObject4.bin"/></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0.wmf"/><Relationship Id="rId4" Type="http://schemas.openxmlformats.org/officeDocument/2006/relationships/package" Target="../embeddings/Microsoft_Word_Document1.docx"/></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3.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2.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4.wmf"/><Relationship Id="rId5" Type="http://schemas.openxmlformats.org/officeDocument/2006/relationships/oleObject" Target="../embeddings/oleObject5.bin"/><Relationship Id="rId4" Type="http://schemas.openxmlformats.org/officeDocument/2006/relationships/image" Target="../media/image13.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6.bin"/><Relationship Id="rId7" Type="http://schemas.openxmlformats.org/officeDocument/2006/relationships/image" Target="../media/image18.jpe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7.wmf"/><Relationship Id="rId5" Type="http://schemas.openxmlformats.org/officeDocument/2006/relationships/oleObject" Target="../embeddings/oleObject7.bin"/><Relationship Id="rId4" Type="http://schemas.openxmlformats.org/officeDocument/2006/relationships/image" Target="../media/image16.wmf"/></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1/relationships/webextension" Target="../webextensions/webextension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6.wmf"/></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1/relationships/webextension" Target="../webextensions/webextension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30.wmf"/><Relationship Id="rId5" Type="http://schemas.openxmlformats.org/officeDocument/2006/relationships/image" Target="../media/image29.wmf"/><Relationship Id="rId4" Type="http://schemas.openxmlformats.org/officeDocument/2006/relationships/oleObject" Target="../embeddings/oleObject10.bin"/></Relationships>
</file>

<file path=ppt/slides/_rels/slide46.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35.wmf"/><Relationship Id="rId4" Type="http://schemas.openxmlformats.org/officeDocument/2006/relationships/image" Target="../media/image34.wmf"/></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51.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37.png"/><Relationship Id="rId4" Type="http://schemas.openxmlformats.org/officeDocument/2006/relationships/image" Target="../media/image38.wmf"/></Relationships>
</file>

<file path=ppt/slides/_rels/slide5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410.png"/><Relationship Id="rId4" Type="http://schemas.openxmlformats.org/officeDocument/2006/relationships/image" Target="../media/image400.png"/></Relationships>
</file>

<file path=ppt/slides/_rels/slide58.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42.wmf"/><Relationship Id="rId5" Type="http://schemas.openxmlformats.org/officeDocument/2006/relationships/oleObject" Target="../embeddings/oleObject14.bin"/><Relationship Id="rId4" Type="http://schemas.openxmlformats.org/officeDocument/2006/relationships/image" Target="../media/image41.wmf"/></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openxmlformats.org/officeDocument/2006/relationships/diagramLayout" Target="../diagrams/layout17.xml"/><Relationship Id="rId3" Type="http://schemas.openxmlformats.org/officeDocument/2006/relationships/diagramLayout" Target="../diagrams/layout17.xml"/><Relationship Id="rId7" Type="http://schemas.openxmlformats.org/officeDocument/2006/relationships/diagramData" Target="../diagrams/data18.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10" Type="http://schemas.openxmlformats.org/officeDocument/2006/relationships/diagramColors" Target="../diagrams/colors17.xml"/><Relationship Id="rId4" Type="http://schemas.openxmlformats.org/officeDocument/2006/relationships/diagramQuickStyle" Target="../diagrams/quickStyle17.xml"/><Relationship Id="rId9" Type="http://schemas.openxmlformats.org/officeDocument/2006/relationships/diagramQuickStyle" Target="../diagrams/quickStyle17.xml"/></Relationships>
</file>

<file path=ppt/slides/_rels/slide62.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1/relationships/webextension" Target="../webextensions/webextension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43.wmf"/></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8.xml"/><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66.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19.xml"/><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6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8" Type="http://schemas.openxmlformats.org/officeDocument/2006/relationships/diagramLayout" Target="../diagrams/layout21.xml"/><Relationship Id="rId13" Type="http://schemas.openxmlformats.org/officeDocument/2006/relationships/diagramLayout" Target="../diagrams/layout210.xml"/><Relationship Id="rId18" Type="http://schemas.openxmlformats.org/officeDocument/2006/relationships/diagramQuickStyle" Target="../diagrams/quickStyle22.xml"/><Relationship Id="rId3" Type="http://schemas.openxmlformats.org/officeDocument/2006/relationships/diagramLayout" Target="../diagrams/layout20.xml"/><Relationship Id="rId21" Type="http://schemas.openxmlformats.org/officeDocument/2006/relationships/diagramData" Target="../diagrams/data220.xml"/><Relationship Id="rId7" Type="http://schemas.openxmlformats.org/officeDocument/2006/relationships/diagramData" Target="../diagrams/data22.xml"/><Relationship Id="rId12" Type="http://schemas.openxmlformats.org/officeDocument/2006/relationships/diagramData" Target="../diagrams/data221.xml"/><Relationship Id="rId17" Type="http://schemas.openxmlformats.org/officeDocument/2006/relationships/diagramLayout" Target="../diagrams/layout22.xml"/><Relationship Id="rId2" Type="http://schemas.openxmlformats.org/officeDocument/2006/relationships/diagramData" Target="../diagrams/data21.xml"/><Relationship Id="rId16" Type="http://schemas.openxmlformats.org/officeDocument/2006/relationships/diagramData" Target="../diagrams/data23.xml"/><Relationship Id="rId20" Type="http://schemas.microsoft.com/office/2007/relationships/diagramDrawing" Target="../diagrams/drawing22.xml"/><Relationship Id="rId1" Type="http://schemas.openxmlformats.org/officeDocument/2006/relationships/slideLayout" Target="../slideLayouts/slideLayout7.xml"/><Relationship Id="rId6" Type="http://schemas.microsoft.com/office/2007/relationships/diagramDrawing" Target="../diagrams/drawing20.xml"/><Relationship Id="rId11" Type="http://schemas.microsoft.com/office/2007/relationships/diagramDrawing" Target="../diagrams/drawing21.xml"/><Relationship Id="rId24" Type="http://schemas.openxmlformats.org/officeDocument/2006/relationships/diagramColors" Target="../diagrams/colors220.xml"/><Relationship Id="rId5" Type="http://schemas.openxmlformats.org/officeDocument/2006/relationships/diagramColors" Target="../diagrams/colors20.xml"/><Relationship Id="rId15" Type="http://schemas.openxmlformats.org/officeDocument/2006/relationships/diagramColors" Target="../diagrams/colors210.xml"/><Relationship Id="rId23" Type="http://schemas.openxmlformats.org/officeDocument/2006/relationships/diagramQuickStyle" Target="../diagrams/quickStyle220.xml"/><Relationship Id="rId10" Type="http://schemas.openxmlformats.org/officeDocument/2006/relationships/diagramColors" Target="../diagrams/colors21.xml"/><Relationship Id="rId19" Type="http://schemas.openxmlformats.org/officeDocument/2006/relationships/diagramColors" Target="../diagrams/colors22.xml"/><Relationship Id="rId4" Type="http://schemas.openxmlformats.org/officeDocument/2006/relationships/diagramQuickStyle" Target="../diagrams/quickStyle20.xml"/><Relationship Id="rId9" Type="http://schemas.openxmlformats.org/officeDocument/2006/relationships/diagramQuickStyle" Target="../diagrams/quickStyle21.xml"/><Relationship Id="rId14" Type="http://schemas.openxmlformats.org/officeDocument/2006/relationships/diagramQuickStyle" Target="../diagrams/quickStyle210.xml"/><Relationship Id="rId22" Type="http://schemas.openxmlformats.org/officeDocument/2006/relationships/diagramLayout" Target="../diagrams/layout220.xml"/></Relationships>
</file>

<file path=ppt/slides/_rels/slide69.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1/relationships/webextension" Target="../webextensions/webextension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3.xml"/><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75.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1/relationships/webextension" Target="../webextensions/webextension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5.xml"/><Relationship Id="rId1" Type="http://schemas.openxmlformats.org/officeDocument/2006/relationships/slideLayout" Target="../slideLayouts/slideLayout3.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77.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45.wmf"/></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46.wmf"/></Relationships>
</file>

<file path=ppt/slides/_rels/slide7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1/relationships/webextension" Target="../webextensions/webextension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8" Type="http://schemas.openxmlformats.org/officeDocument/2006/relationships/image" Target="../media/image50.wmf"/><Relationship Id="rId3" Type="http://schemas.openxmlformats.org/officeDocument/2006/relationships/oleObject" Target="../embeddings/oleObject17.bin"/><Relationship Id="rId7" Type="http://schemas.openxmlformats.org/officeDocument/2006/relationships/package" Target="../embeddings/Microsoft_Word_Document3.docx"/><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49.wmf"/><Relationship Id="rId11" Type="http://schemas.openxmlformats.org/officeDocument/2006/relationships/image" Target="../media/image60.emf"/><Relationship Id="rId5" Type="http://schemas.openxmlformats.org/officeDocument/2006/relationships/package" Target="../embeddings/Microsoft_Word_Document2.docx"/><Relationship Id="rId4" Type="http://schemas.openxmlformats.org/officeDocument/2006/relationships/image" Target="../media/image48.wmf"/><Relationship Id="rId9" Type="http://schemas.openxmlformats.org/officeDocument/2006/relationships/customXml" Target="../ink/ink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oleObject" Target="../embeddings/oleObject18.bin"/><Relationship Id="rId1" Type="http://schemas.openxmlformats.org/officeDocument/2006/relationships/slideLayout" Target="../slideLayouts/slideLayout2.xml"/><Relationship Id="rId4" Type="http://schemas.openxmlformats.org/officeDocument/2006/relationships/image" Target="../media/image51.wmf"/></Relationships>
</file>

<file path=ppt/slides/_rels/slide89.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1/relationships/webextension" Target="../webextensions/webextension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6.xml"/><Relationship Id="rId1" Type="http://schemas.openxmlformats.org/officeDocument/2006/relationships/slideLayout" Target="../slideLayouts/slideLayout3.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oleObject" Target="../embeddings/oleObject20.bin"/><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oleObject" Target="../embeddings/oleObject21.bin"/><Relationship Id="rId1" Type="http://schemas.openxmlformats.org/officeDocument/2006/relationships/slideLayout" Target="../slideLayouts/slideLayout2.xml"/><Relationship Id="rId5" Type="http://schemas.openxmlformats.org/officeDocument/2006/relationships/image" Target="../media/image54.wmf"/><Relationship Id="rId4" Type="http://schemas.openxmlformats.org/officeDocument/2006/relationships/oleObject" Target="../embeddings/oleObject22.bin"/></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oleObject" Target="../embeddings/oleObject23.bin"/><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8" Type="http://schemas.openxmlformats.org/officeDocument/2006/relationships/diagramLayout" Target="../diagrams/layout27.xml"/><Relationship Id="rId3" Type="http://schemas.openxmlformats.org/officeDocument/2006/relationships/diagramLayout" Target="../diagrams/layout26.xml"/><Relationship Id="rId7" Type="http://schemas.openxmlformats.org/officeDocument/2006/relationships/diagramData" Target="../diagrams/data28.xml"/><Relationship Id="rId2" Type="http://schemas.openxmlformats.org/officeDocument/2006/relationships/diagramData" Target="../diagrams/data27.xml"/><Relationship Id="rId1" Type="http://schemas.openxmlformats.org/officeDocument/2006/relationships/slideLayout" Target="../slideLayouts/slideLayout2.xml"/><Relationship Id="rId6" Type="http://schemas.microsoft.com/office/2007/relationships/diagramDrawing" Target="../diagrams/drawing26.xml"/><Relationship Id="rId11" Type="http://schemas.microsoft.com/office/2007/relationships/diagramDrawing" Target="../diagrams/drawing27.xml"/><Relationship Id="rId5" Type="http://schemas.openxmlformats.org/officeDocument/2006/relationships/diagramColors" Target="../diagrams/colors26.xml"/><Relationship Id="rId10" Type="http://schemas.openxmlformats.org/officeDocument/2006/relationships/diagramColors" Target="../diagrams/colors27.xml"/><Relationship Id="rId4" Type="http://schemas.openxmlformats.org/officeDocument/2006/relationships/diagramQuickStyle" Target="../diagrams/quickStyle26.xml"/><Relationship Id="rId9" Type="http://schemas.openxmlformats.org/officeDocument/2006/relationships/diagramQuickStyle" Target="../diagrams/quickStyle27.xml"/></Relationships>
</file>

<file path=ppt/slides/_rels/slide9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package" Target="../embeddings/Microsoft_Word_Document4.docx"/><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57.wmf"/></Relationships>
</file>

<file path=ppt/slides/_rels/slide99.xml.rels><?xml version="1.0" encoding="UTF-8" standalone="yes"?>
<Relationships xmlns="http://schemas.openxmlformats.org/package/2006/relationships"><Relationship Id="rId3" Type="http://schemas.openxmlformats.org/officeDocument/2006/relationships/diagramData" Target="../diagrams/data29.xml"/><Relationship Id="rId7" Type="http://schemas.microsoft.com/office/2007/relationships/diagramDrawing" Target="../diagrams/drawing28.xml"/><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diagramColors" Target="../diagrams/colors28.xml"/><Relationship Id="rId5" Type="http://schemas.openxmlformats.org/officeDocument/2006/relationships/diagramQuickStyle" Target="../diagrams/quickStyle28.xml"/><Relationship Id="rId4" Type="http://schemas.openxmlformats.org/officeDocument/2006/relationships/diagramLayout" Target="../diagrams/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type="subTitle" idx="1"/>
          </p:nvPr>
        </p:nvSpPr>
        <p:spPr>
          <a:xfrm>
            <a:off x="795536" y="2780928"/>
            <a:ext cx="7592888" cy="3672408"/>
          </a:xfrm>
          <a:noFill/>
          <a:ln/>
        </p:spPr>
        <p:txBody>
          <a:bodyPr>
            <a:normAutofit fontScale="77500" lnSpcReduction="20000"/>
          </a:bodyPr>
          <a:lstStyle/>
          <a:p>
            <a:pPr marL="342900" indent="-342900"/>
            <a:r>
              <a:rPr lang="en-US" sz="2400" dirty="0"/>
              <a:t>Part I: Discount Rates</a:t>
            </a:r>
          </a:p>
          <a:p>
            <a:pPr marL="342900" indent="-342900" algn="l">
              <a:buFont typeface="Arial" pitchFamily="34" charset="0"/>
              <a:buChar char="•"/>
            </a:pPr>
            <a:r>
              <a:rPr lang="en-US" sz="2000" dirty="0" err="1"/>
              <a:t>Damodaran</a:t>
            </a:r>
            <a:r>
              <a:rPr lang="en-US" sz="2000" dirty="0"/>
              <a:t> on Valuation</a:t>
            </a:r>
          </a:p>
          <a:p>
            <a:pPr marL="800100" lvl="1" indent="-342900" algn="l">
              <a:buFont typeface="Arial" pitchFamily="34" charset="0"/>
              <a:buChar char="•"/>
            </a:pPr>
            <a:r>
              <a:rPr lang="en-US" sz="2600" dirty="0"/>
              <a:t>Risk Free Rates (Ch 7)</a:t>
            </a:r>
          </a:p>
          <a:p>
            <a:pPr marL="800100" lvl="1" indent="-342900" algn="l">
              <a:buFont typeface="Arial" pitchFamily="34" charset="0"/>
              <a:buChar char="•"/>
            </a:pPr>
            <a:r>
              <a:rPr lang="en-US" sz="2600" dirty="0"/>
              <a:t>Risk Premiums (Ch 7)</a:t>
            </a:r>
          </a:p>
          <a:p>
            <a:pPr marL="800100" lvl="1" indent="-342900" algn="l">
              <a:buFont typeface="Arial" pitchFamily="34" charset="0"/>
              <a:buChar char="•"/>
            </a:pPr>
            <a:r>
              <a:rPr lang="en-US" sz="2600" dirty="0"/>
              <a:t>Risk Parameters (Ch 8)</a:t>
            </a:r>
          </a:p>
          <a:p>
            <a:pPr marL="800100" lvl="1" indent="-342900" algn="l">
              <a:buFont typeface="Arial" pitchFamily="34" charset="0"/>
              <a:buChar char="•"/>
            </a:pPr>
            <a:r>
              <a:rPr lang="en-US" sz="2600" dirty="0"/>
              <a:t>Cost of Financing (WACC) (Ch 8)</a:t>
            </a:r>
          </a:p>
          <a:p>
            <a:pPr marL="342900" indent="-342900" algn="l">
              <a:buFont typeface="Arial" pitchFamily="34" charset="0"/>
              <a:buChar char="•"/>
            </a:pPr>
            <a:r>
              <a:rPr lang="en-US" sz="2000" dirty="0"/>
              <a:t>Hillier Et al. (2010)</a:t>
            </a:r>
          </a:p>
          <a:p>
            <a:pPr marL="800100" lvl="1" indent="-342900" algn="l">
              <a:buFont typeface="Arial" pitchFamily="34" charset="0"/>
              <a:buChar char="•"/>
            </a:pPr>
            <a:r>
              <a:rPr lang="en-US" sz="2600" dirty="0"/>
              <a:t>Read Financial Statements (</a:t>
            </a:r>
            <a:r>
              <a:rPr lang="en-US" sz="2600" dirty="0" err="1"/>
              <a:t>Ch</a:t>
            </a:r>
            <a:r>
              <a:rPr lang="en-US" sz="2600" dirty="0"/>
              <a:t> 3)</a:t>
            </a:r>
          </a:p>
          <a:p>
            <a:pPr marL="800100" lvl="1" indent="-342900" algn="l">
              <a:buFont typeface="Arial" pitchFamily="34" charset="0"/>
              <a:buChar char="•"/>
            </a:pPr>
            <a:r>
              <a:rPr lang="en-US" sz="2600" dirty="0"/>
              <a:t>DCF (</a:t>
            </a:r>
            <a:r>
              <a:rPr lang="en-US" sz="2600" dirty="0" err="1"/>
              <a:t>Ch</a:t>
            </a:r>
            <a:r>
              <a:rPr lang="en-US" sz="2600" dirty="0"/>
              <a:t> 4)</a:t>
            </a:r>
          </a:p>
          <a:p>
            <a:pPr marL="800100" lvl="1" indent="-342900" algn="l">
              <a:buFont typeface="Arial" pitchFamily="34" charset="0"/>
              <a:buChar char="•"/>
            </a:pPr>
            <a:r>
              <a:rPr lang="en-US" sz="2600" dirty="0"/>
              <a:t>Value Bonds and Stocks (</a:t>
            </a:r>
            <a:r>
              <a:rPr lang="en-US" sz="2600" dirty="0" err="1"/>
              <a:t>Ch</a:t>
            </a:r>
            <a:r>
              <a:rPr lang="en-US" sz="2600" dirty="0"/>
              <a:t> 5)</a:t>
            </a:r>
          </a:p>
          <a:p>
            <a:pPr marL="800100" lvl="1" indent="-342900" algn="l">
              <a:buFont typeface="Arial" pitchFamily="34" charset="0"/>
              <a:buChar char="•"/>
            </a:pPr>
            <a:r>
              <a:rPr lang="en-US" sz="2600" dirty="0"/>
              <a:t>Risk and Return-Pricing Models (Part III)</a:t>
            </a:r>
          </a:p>
          <a:p>
            <a:pPr marL="342900" indent="-342900"/>
            <a:r>
              <a:rPr lang="en-US" sz="2400" dirty="0" err="1"/>
              <a:t>Kalaitzoglou</a:t>
            </a:r>
            <a:r>
              <a:rPr lang="en-US" sz="2400" dirty="0"/>
              <a:t> </a:t>
            </a:r>
            <a:r>
              <a:rPr lang="en-US" sz="2400" dirty="0" err="1"/>
              <a:t>Iordanis</a:t>
            </a:r>
            <a:endParaRPr lang="en-US" sz="2400" dirty="0"/>
          </a:p>
        </p:txBody>
      </p:sp>
      <p:sp>
        <p:nvSpPr>
          <p:cNvPr id="25602" name="Rectangle 2"/>
          <p:cNvSpPr>
            <a:spLocks noGrp="1" noChangeArrowheads="1"/>
          </p:cNvSpPr>
          <p:nvPr>
            <p:ph type="ctrTitle"/>
          </p:nvPr>
        </p:nvSpPr>
        <p:spPr>
          <a:xfrm>
            <a:off x="683568" y="485800"/>
            <a:ext cx="7772400" cy="1719064"/>
          </a:xfrm>
          <a:noFill/>
          <a:ln/>
        </p:spPr>
        <p:txBody>
          <a:bodyPr>
            <a:noAutofit/>
          </a:bodyPr>
          <a:lstStyle/>
          <a:p>
            <a:r>
              <a:rPr lang="en-US" sz="4000" dirty="0"/>
              <a:t>Company Valuation: </a:t>
            </a:r>
            <a:br>
              <a:rPr lang="en-US" sz="4000" dirty="0"/>
            </a:br>
            <a:r>
              <a:rPr lang="en-US" sz="4000" dirty="0"/>
              <a:t>1</a:t>
            </a:r>
            <a:r>
              <a:rPr lang="en-US" sz="4000" baseline="30000" dirty="0"/>
              <a:t>st</a:t>
            </a:r>
            <a:r>
              <a:rPr lang="en-US" sz="4000" dirty="0"/>
              <a:t> Valuation Method</a:t>
            </a:r>
            <a:br>
              <a:rPr lang="en-US" sz="4000" dirty="0"/>
            </a:br>
            <a:r>
              <a:rPr lang="en-US" sz="4000" dirty="0"/>
              <a:t>Discounted Cash Flow Valuation</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Recap: What we have seen so far</a:t>
            </a:r>
          </a:p>
        </p:txBody>
      </p:sp>
      <p:graphicFrame>
        <p:nvGraphicFramePr>
          <p:cNvPr id="7" name="Content Placeholder 6"/>
          <p:cNvGraphicFramePr>
            <a:graphicFrameLocks noGrp="1"/>
          </p:cNvGraphicFramePr>
          <p:nvPr>
            <p:ph sz="quarter" idx="1"/>
          </p:nvPr>
        </p:nvGraphicFramePr>
        <p:xfrm>
          <a:off x="179512" y="1340768"/>
          <a:ext cx="8784976" cy="54452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Oval 2"/>
          <p:cNvSpPr/>
          <p:nvPr/>
        </p:nvSpPr>
        <p:spPr>
          <a:xfrm>
            <a:off x="35496" y="4509120"/>
            <a:ext cx="3024336" cy="2304256"/>
          </a:xfrm>
          <a:prstGeom prst="ellipse">
            <a:avLst/>
          </a:prstGeom>
          <a:no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Grp="1" noChangeArrowheads="1"/>
          </p:cNvSpPr>
          <p:nvPr>
            <p:ph type="title"/>
          </p:nvPr>
        </p:nvSpPr>
        <p:spPr/>
        <p:txBody>
          <a:bodyPr/>
          <a:lstStyle/>
          <a:p>
            <a:r>
              <a:rPr lang="en-US" dirty="0"/>
              <a:t>Generic DCF Valuation Model</a:t>
            </a:r>
          </a:p>
        </p:txBody>
      </p:sp>
      <p:sp>
        <p:nvSpPr>
          <p:cNvPr id="4" name="Content Placeholder 3"/>
          <p:cNvSpPr>
            <a:spLocks noGrp="1"/>
          </p:cNvSpPr>
          <p:nvPr>
            <p:ph sz="quarter" idx="1"/>
          </p:nvPr>
        </p:nvSpPr>
        <p:spPr/>
        <p:txBody>
          <a:bodyPr>
            <a:normAutofit lnSpcReduction="10000"/>
          </a:bodyPr>
          <a:lstStyle/>
          <a:p>
            <a:r>
              <a:rPr lang="en-GB" dirty="0"/>
              <a:t>Hillier et al. (</a:t>
            </a:r>
            <a:r>
              <a:rPr lang="en-GB" dirty="0" err="1"/>
              <a:t>Ch</a:t>
            </a:r>
            <a:r>
              <a:rPr lang="en-GB" dirty="0"/>
              <a:t> 3)</a:t>
            </a:r>
          </a:p>
          <a:p>
            <a:r>
              <a:rPr lang="en-GB" dirty="0"/>
              <a:t>Fixed Period</a:t>
            </a:r>
          </a:p>
          <a:p>
            <a:pPr lvl="1"/>
            <a:r>
              <a:rPr lang="en-GB" dirty="0"/>
              <a:t>Questions 4, 6 and 7</a:t>
            </a:r>
          </a:p>
          <a:p>
            <a:r>
              <a:rPr lang="en-GB" dirty="0"/>
              <a:t>No Growth</a:t>
            </a:r>
          </a:p>
          <a:p>
            <a:pPr lvl="1"/>
            <a:r>
              <a:rPr lang="en-GB" dirty="0"/>
              <a:t>Questions 8 and 10</a:t>
            </a:r>
          </a:p>
          <a:p>
            <a:r>
              <a:rPr lang="en-GB" dirty="0"/>
              <a:t>Constant Growth</a:t>
            </a:r>
          </a:p>
          <a:p>
            <a:pPr lvl="1"/>
            <a:r>
              <a:rPr lang="en-GB" dirty="0"/>
              <a:t>See the constant growth stage in Question 14 </a:t>
            </a:r>
          </a:p>
          <a:p>
            <a:r>
              <a:rPr lang="en-GB" dirty="0"/>
              <a:t>Two stage Growth</a:t>
            </a:r>
          </a:p>
          <a:p>
            <a:pPr lvl="1"/>
            <a:r>
              <a:rPr lang="en-GB" dirty="0"/>
              <a:t>Question 14</a:t>
            </a:r>
          </a:p>
          <a:p>
            <a:r>
              <a:rPr lang="en-GB" dirty="0"/>
              <a:t>Three stage Growth</a:t>
            </a:r>
          </a:p>
          <a:p>
            <a:pPr lvl="1"/>
            <a:r>
              <a:rPr lang="en-GB" dirty="0"/>
              <a:t>In Case studies (session 8)</a:t>
            </a:r>
          </a:p>
        </p:txBody>
      </p:sp>
      <p:graphicFrame>
        <p:nvGraphicFramePr>
          <p:cNvPr id="5" name="Object 4"/>
          <p:cNvGraphicFramePr>
            <a:graphicFrameLocks noChangeAspect="1"/>
          </p:cNvGraphicFramePr>
          <p:nvPr>
            <p:extLst>
              <p:ext uri="{D42A27DB-BD31-4B8C-83A1-F6EECF244321}">
                <p14:modId xmlns:p14="http://schemas.microsoft.com/office/powerpoint/2010/main" val="3952495324"/>
              </p:ext>
            </p:extLst>
          </p:nvPr>
        </p:nvGraphicFramePr>
        <p:xfrm>
          <a:off x="7116763" y="4797425"/>
          <a:ext cx="1682750" cy="1419225"/>
        </p:xfrm>
        <a:graphic>
          <a:graphicData uri="http://schemas.openxmlformats.org/presentationml/2006/ole">
            <mc:AlternateContent xmlns:mc="http://schemas.openxmlformats.org/markup-compatibility/2006">
              <mc:Choice xmlns:v="urn:schemas-microsoft-com:vml" Requires="v">
                <p:oleObj name="Document" showAsIcon="1" r:id="rId3" imgW="914400" imgH="771480" progId="Word.Document.12">
                  <p:embed/>
                </p:oleObj>
              </mc:Choice>
              <mc:Fallback>
                <p:oleObj name="Document" showAsIcon="1" r:id="rId3" imgW="914400" imgH="771480" progId="Word.Document.12">
                  <p:embed/>
                  <p:pic>
                    <p:nvPicPr>
                      <p:cNvPr id="5" name="Object 4"/>
                      <p:cNvPicPr>
                        <a:picLocks noChangeAspect="1" noChangeArrowheads="1"/>
                      </p:cNvPicPr>
                      <p:nvPr/>
                    </p:nvPicPr>
                    <p:blipFill>
                      <a:blip r:embed="rId4"/>
                      <a:srcRect/>
                      <a:stretch>
                        <a:fillRect/>
                      </a:stretch>
                    </p:blipFill>
                    <p:spPr bwMode="auto">
                      <a:xfrm>
                        <a:off x="7116763" y="4797425"/>
                        <a:ext cx="1682750" cy="1419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D0751-5610-439F-A51F-4CAD170939B1}"/>
              </a:ext>
            </a:extLst>
          </p:cNvPr>
          <p:cNvSpPr>
            <a:spLocks noGrp="1"/>
          </p:cNvSpPr>
          <p:nvPr>
            <p:ph type="title"/>
          </p:nvPr>
        </p:nvSpPr>
        <p:spPr/>
        <p:txBody>
          <a:bodyPr>
            <a:normAutofit fontScale="90000"/>
          </a:bodyPr>
          <a:lstStyle/>
          <a:p>
            <a:r>
              <a:rPr lang="en-GB" dirty="0"/>
              <a:t>Simplest Valuation: Present value of a growing perpetuity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09AD19-0588-1100-1E86-D35F852DBA6C}"/>
                  </a:ext>
                </a:extLst>
              </p:cNvPr>
              <p:cNvSpPr>
                <a:spLocks noGrp="1"/>
              </p:cNvSpPr>
              <p:nvPr>
                <p:ph sz="quarter" idx="1"/>
              </p:nvPr>
            </p:nvSpPr>
            <p:spPr>
              <a:xfrm>
                <a:off x="1509708" y="3394189"/>
                <a:ext cx="6120680" cy="1624518"/>
              </a:xfrm>
            </p:spPr>
            <p:txBody>
              <a:bodyPr>
                <a:noAutofit/>
              </a:bodyPr>
              <a:lstStyle/>
              <a:p>
                <a:pPr marL="0" indent="0" algn="ctr">
                  <a:buNone/>
                </a:pPr>
                <a14:m>
                  <m:oMathPara xmlns:m="http://schemas.openxmlformats.org/officeDocument/2006/math">
                    <m:oMath>
                      <m:r>
                        <a:rPr lang="en-GB" sz="3200" b="0" i="1" smtClean="0">
                          <a:latin typeface="Cambria Math" panose="02040503050406030204" pitchFamily="18" charset="0"/>
                        </a:rPr>
                        <m:t>𝑉𝑎𝑙𝑢𝑒</m:t>
                      </m:r>
                      <m:r>
                        <a:rPr lang="en-GB" sz="3200" b="0" i="1" smtClean="0">
                          <a:latin typeface="Cambria Math" panose="02040503050406030204" pitchFamily="18" charset="0"/>
                        </a:rPr>
                        <m:t>=</m:t>
                      </m:r>
                      <m:sSub>
                        <m:sSubPr>
                          <m:ctrlPr>
                            <a:rPr lang="en-GB" sz="3200" i="1">
                              <a:latin typeface="Cambria Math" panose="02040503050406030204" pitchFamily="18" charset="0"/>
                            </a:rPr>
                          </m:ctrlPr>
                        </m:sSubPr>
                        <m:e>
                          <m:r>
                            <a:rPr lang="en-GB" sz="3200" i="1">
                              <a:latin typeface="Cambria Math" panose="02040503050406030204" pitchFamily="18" charset="0"/>
                            </a:rPr>
                            <m:t>𝑃𝑉</m:t>
                          </m:r>
                        </m:e>
                        <m:sub>
                          <m:r>
                            <a:rPr lang="en-GB" sz="3200" b="0" i="1" smtClean="0">
                              <a:latin typeface="Cambria Math" panose="02040503050406030204" pitchFamily="18" charset="0"/>
                            </a:rPr>
                            <m:t>𝐶𝐹</m:t>
                          </m:r>
                        </m:sub>
                      </m:sSub>
                      <m:r>
                        <a:rPr lang="en-GB" sz="3200" b="0" i="1" smtClean="0">
                          <a:latin typeface="Cambria Math" panose="02040503050406030204" pitchFamily="18" charset="0"/>
                        </a:rPr>
                        <m:t>=</m:t>
                      </m:r>
                      <m:f>
                        <m:fPr>
                          <m:ctrlPr>
                            <a:rPr lang="en-GB" sz="3200" b="0" i="1" smtClean="0">
                              <a:latin typeface="Cambria Math" panose="02040503050406030204" pitchFamily="18" charset="0"/>
                            </a:rPr>
                          </m:ctrlPr>
                        </m:fPr>
                        <m:num>
                          <m:limUpp>
                            <m:limUppPr>
                              <m:ctrlPr>
                                <a:rPr lang="en-GB" sz="3200" i="1">
                                  <a:latin typeface="Cambria Math" panose="02040503050406030204" pitchFamily="18" charset="0"/>
                                </a:rPr>
                              </m:ctrlPr>
                            </m:limUppPr>
                            <m:e>
                              <m:groupChr>
                                <m:groupChrPr>
                                  <m:chr m:val="⏞"/>
                                  <m:pos m:val="top"/>
                                  <m:vertJc m:val="bot"/>
                                  <m:ctrlPr>
                                    <a:rPr lang="en-GB" sz="3200" i="1">
                                      <a:latin typeface="Cambria Math" panose="02040503050406030204" pitchFamily="18" charset="0"/>
                                    </a:rPr>
                                  </m:ctrlPr>
                                </m:groupChrPr>
                                <m:e>
                                  <m:sSub>
                                    <m:sSubPr>
                                      <m:ctrlPr>
                                        <a:rPr lang="en-GB" sz="3200" i="1">
                                          <a:latin typeface="Cambria Math" panose="02040503050406030204" pitchFamily="18" charset="0"/>
                                        </a:rPr>
                                      </m:ctrlPr>
                                    </m:sSubPr>
                                    <m:e>
                                      <m:r>
                                        <a:rPr lang="en-GB" sz="3200" i="1">
                                          <a:latin typeface="Cambria Math" panose="02040503050406030204" pitchFamily="18" charset="0"/>
                                        </a:rPr>
                                        <m:t>𝐶𝐹</m:t>
                                      </m:r>
                                    </m:e>
                                    <m:sub>
                                      <m:r>
                                        <a:rPr lang="en-GB" sz="3200" i="1">
                                          <a:latin typeface="Cambria Math" panose="02040503050406030204" pitchFamily="18" charset="0"/>
                                        </a:rPr>
                                        <m:t>0</m:t>
                                      </m:r>
                                    </m:sub>
                                  </m:sSub>
                                  <m:r>
                                    <a:rPr lang="en-GB" sz="3200" i="1">
                                      <a:latin typeface="Cambria Math" panose="02040503050406030204" pitchFamily="18" charset="0"/>
                                    </a:rPr>
                                    <m:t>(1+</m:t>
                                  </m:r>
                                  <m:r>
                                    <a:rPr lang="en-GB" sz="3200" i="1">
                                      <a:latin typeface="Cambria Math" panose="02040503050406030204" pitchFamily="18" charset="0"/>
                                    </a:rPr>
                                    <m:t>𝑔</m:t>
                                  </m:r>
                                  <m:r>
                                    <a:rPr lang="en-GB" sz="3200" i="1">
                                      <a:latin typeface="Cambria Math" panose="02040503050406030204" pitchFamily="18" charset="0"/>
                                    </a:rPr>
                                    <m:t>)</m:t>
                                  </m:r>
                                </m:e>
                              </m:groupChr>
                            </m:e>
                            <m:lim>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𝐶𝐹</m:t>
                                  </m:r>
                                </m:e>
                                <m:sub>
                                  <m:r>
                                    <a:rPr lang="en-GB" sz="3200" b="0" i="1" smtClean="0">
                                      <a:latin typeface="Cambria Math" panose="02040503050406030204" pitchFamily="18" charset="0"/>
                                    </a:rPr>
                                    <m:t>1</m:t>
                                  </m:r>
                                </m:sub>
                              </m:sSub>
                            </m:lim>
                          </m:limUpp>
                        </m:num>
                        <m:den>
                          <m:r>
                            <a:rPr lang="en-GB" sz="3200" b="0" i="1" smtClean="0">
                              <a:latin typeface="Cambria Math" panose="02040503050406030204" pitchFamily="18" charset="0"/>
                            </a:rPr>
                            <m:t>𝑑𝑟</m:t>
                          </m:r>
                          <m:r>
                            <a:rPr lang="en-GB" sz="3200" b="0" i="1" smtClean="0">
                              <a:latin typeface="Cambria Math" panose="02040503050406030204" pitchFamily="18" charset="0"/>
                            </a:rPr>
                            <m:t>−</m:t>
                          </m:r>
                          <m:r>
                            <a:rPr lang="en-GB" sz="3200" b="0" i="1" smtClean="0">
                              <a:latin typeface="Cambria Math" panose="02040503050406030204" pitchFamily="18" charset="0"/>
                            </a:rPr>
                            <m:t>𝑔</m:t>
                          </m:r>
                        </m:den>
                      </m:f>
                    </m:oMath>
                  </m:oMathPara>
                </a14:m>
                <a:endParaRPr lang="en-GB" sz="3200" dirty="0"/>
              </a:p>
            </p:txBody>
          </p:sp>
        </mc:Choice>
        <mc:Fallback xmlns="">
          <p:sp>
            <p:nvSpPr>
              <p:cNvPr id="3" name="Content Placeholder 2">
                <a:extLst>
                  <a:ext uri="{FF2B5EF4-FFF2-40B4-BE49-F238E27FC236}">
                    <a16:creationId xmlns:a16="http://schemas.microsoft.com/office/drawing/2014/main" id="{1109AD19-0588-1100-1E86-D35F852DBA6C}"/>
                  </a:ext>
                </a:extLst>
              </p:cNvPr>
              <p:cNvSpPr>
                <a:spLocks noGrp="1" noRot="1" noChangeAspect="1" noMove="1" noResize="1" noEditPoints="1" noAdjustHandles="1" noChangeArrowheads="1" noChangeShapeType="1" noTextEdit="1"/>
              </p:cNvSpPr>
              <p:nvPr>
                <p:ph sz="quarter" idx="1"/>
              </p:nvPr>
            </p:nvSpPr>
            <p:spPr>
              <a:xfrm>
                <a:off x="1509708" y="3394189"/>
                <a:ext cx="6120680" cy="1624518"/>
              </a:xfrm>
              <a:blipFill>
                <a:blip r:embed="rId2"/>
                <a:stretch>
                  <a:fillRect/>
                </a:stretch>
              </a:blipFill>
            </p:spPr>
            <p:txBody>
              <a:bodyPr/>
              <a:lstStyle/>
              <a:p>
                <a:r>
                  <a:rPr lang="en-GB">
                    <a:noFill/>
                  </a:rPr>
                  <a:t> </a:t>
                </a:r>
              </a:p>
            </p:txBody>
          </p:sp>
        </mc:Fallback>
      </mc:AlternateContent>
      <p:sp>
        <p:nvSpPr>
          <p:cNvPr id="4" name="Rectangle: Rounded Corners 3">
            <a:extLst>
              <a:ext uri="{FF2B5EF4-FFF2-40B4-BE49-F238E27FC236}">
                <a16:creationId xmlns:a16="http://schemas.microsoft.com/office/drawing/2014/main" id="{4C098A0F-B19B-FE34-0F5F-618CA15BC072}"/>
              </a:ext>
            </a:extLst>
          </p:cNvPr>
          <p:cNvSpPr/>
          <p:nvPr/>
        </p:nvSpPr>
        <p:spPr>
          <a:xfrm>
            <a:off x="611560" y="1639899"/>
            <a:ext cx="2736304" cy="1805731"/>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GB" dirty="0"/>
              <a:t>DCF Input I:</a:t>
            </a:r>
          </a:p>
          <a:p>
            <a:pPr algn="ctr"/>
            <a:r>
              <a:rPr lang="en-GB" dirty="0"/>
              <a:t>Which CF should I discount?</a:t>
            </a:r>
          </a:p>
        </p:txBody>
      </p:sp>
      <p:sp>
        <p:nvSpPr>
          <p:cNvPr id="6" name="Rectangle: Rounded Corners 5">
            <a:extLst>
              <a:ext uri="{FF2B5EF4-FFF2-40B4-BE49-F238E27FC236}">
                <a16:creationId xmlns:a16="http://schemas.microsoft.com/office/drawing/2014/main" id="{B2F95E63-4061-4718-2B49-7ABFA0302CB8}"/>
              </a:ext>
            </a:extLst>
          </p:cNvPr>
          <p:cNvSpPr/>
          <p:nvPr/>
        </p:nvSpPr>
        <p:spPr>
          <a:xfrm>
            <a:off x="5652120" y="1618461"/>
            <a:ext cx="3236456" cy="1657698"/>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GB" dirty="0"/>
              <a:t>DCF Input II:</a:t>
            </a:r>
          </a:p>
          <a:p>
            <a:pPr algn="ctr"/>
            <a:r>
              <a:rPr lang="en-GB" dirty="0"/>
              <a:t>How fast do I expect this CF to grow into the future (infinity)</a:t>
            </a:r>
          </a:p>
        </p:txBody>
      </p:sp>
      <p:sp>
        <p:nvSpPr>
          <p:cNvPr id="8" name="Rectangle: Rounded Corners 7">
            <a:extLst>
              <a:ext uri="{FF2B5EF4-FFF2-40B4-BE49-F238E27FC236}">
                <a16:creationId xmlns:a16="http://schemas.microsoft.com/office/drawing/2014/main" id="{1E2E8054-5F57-A037-30D3-C644AD2B48E3}"/>
              </a:ext>
            </a:extLst>
          </p:cNvPr>
          <p:cNvSpPr/>
          <p:nvPr/>
        </p:nvSpPr>
        <p:spPr>
          <a:xfrm>
            <a:off x="971600" y="5136737"/>
            <a:ext cx="7344816" cy="12961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DCF Input III:</a:t>
            </a:r>
          </a:p>
          <a:p>
            <a:pPr algn="ctr"/>
            <a:r>
              <a:rPr lang="en-GB" dirty="0"/>
              <a:t>How risky is this CF? What discount rate (dr) should I use?</a:t>
            </a:r>
          </a:p>
        </p:txBody>
      </p:sp>
      <p:cxnSp>
        <p:nvCxnSpPr>
          <p:cNvPr id="10" name="Straight Arrow Connector 9">
            <a:extLst>
              <a:ext uri="{FF2B5EF4-FFF2-40B4-BE49-F238E27FC236}">
                <a16:creationId xmlns:a16="http://schemas.microsoft.com/office/drawing/2014/main" id="{CD1DC8E5-8BC1-0D45-A927-750B77C5A307}"/>
              </a:ext>
            </a:extLst>
          </p:cNvPr>
          <p:cNvCxnSpPr>
            <a:cxnSpLocks/>
          </p:cNvCxnSpPr>
          <p:nvPr/>
        </p:nvCxnSpPr>
        <p:spPr>
          <a:xfrm flipH="1" flipV="1">
            <a:off x="3419872" y="3212976"/>
            <a:ext cx="1584176" cy="7920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B6D4DCE7-9B1A-F9F9-D5AE-EDDAFC1EEF5B}"/>
              </a:ext>
            </a:extLst>
          </p:cNvPr>
          <p:cNvCxnSpPr>
            <a:cxnSpLocks/>
          </p:cNvCxnSpPr>
          <p:nvPr/>
        </p:nvCxnSpPr>
        <p:spPr>
          <a:xfrm flipV="1">
            <a:off x="6876256" y="3365376"/>
            <a:ext cx="826140" cy="7116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D53CBFAF-B31C-044B-C726-B5C8D5A794DE}"/>
              </a:ext>
            </a:extLst>
          </p:cNvPr>
          <p:cNvCxnSpPr>
            <a:cxnSpLocks/>
          </p:cNvCxnSpPr>
          <p:nvPr/>
        </p:nvCxnSpPr>
        <p:spPr>
          <a:xfrm flipH="1">
            <a:off x="4788024" y="4797152"/>
            <a:ext cx="504056" cy="28803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CA8B532B-1B31-2261-2934-7ED21DDF8E28}"/>
              </a:ext>
            </a:extLst>
          </p:cNvPr>
          <p:cNvSpPr/>
          <p:nvPr/>
        </p:nvSpPr>
        <p:spPr>
          <a:xfrm>
            <a:off x="5292080" y="4437112"/>
            <a:ext cx="648072" cy="530154"/>
          </a:xfrm>
          <a:prstGeom prst="ellipse">
            <a:avLst/>
          </a:prstGeom>
          <a:noFill/>
          <a:ln>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240743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58101-E028-9B65-095C-BE083873FE93}"/>
              </a:ext>
            </a:extLst>
          </p:cNvPr>
          <p:cNvSpPr>
            <a:spLocks noGrp="1"/>
          </p:cNvSpPr>
          <p:nvPr>
            <p:ph type="title"/>
          </p:nvPr>
        </p:nvSpPr>
        <p:spPr/>
        <p:txBody>
          <a:bodyPr/>
          <a:lstStyle/>
          <a:p>
            <a:r>
              <a:rPr lang="en-GB" dirty="0"/>
              <a:t>What is a discount rate?</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4" name="Content Placeholder 3">
                <a:extLst>
                  <a:ext uri="{FF2B5EF4-FFF2-40B4-BE49-F238E27FC236}">
                    <a16:creationId xmlns:a16="http://schemas.microsoft.com/office/drawing/2014/main" id="{43BA974E-538F-CFBA-2A1B-A2380A55F238}"/>
                  </a:ext>
                </a:extLst>
              </p:cNvPr>
              <p:cNvGraphicFramePr>
                <a:graphicFrameLocks noGrp="1"/>
              </p:cNvGraphicFramePr>
              <p:nvPr>
                <p:ph sz="quarter" idx="1"/>
                <p:extLst>
                  <p:ext uri="{D42A27DB-BD31-4B8C-83A1-F6EECF244321}">
                    <p14:modId xmlns:p14="http://schemas.microsoft.com/office/powerpoint/2010/main" val="1073494337"/>
                  </p:ext>
                </p:extLst>
              </p:nvPr>
            </p:nvGraphicFramePr>
            <p:xfrm>
              <a:off x="301624" y="1527174"/>
              <a:ext cx="8590855" cy="5102225"/>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4" name="Content Placeholder 3">
                <a:extLst>
                  <a:ext uri="{FF2B5EF4-FFF2-40B4-BE49-F238E27FC236}">
                    <a16:creationId xmlns:a16="http://schemas.microsoft.com/office/drawing/2014/main" id="{43BA974E-538F-CFBA-2A1B-A2380A55F238}"/>
                  </a:ext>
                </a:extLst>
              </p:cNvPr>
              <p:cNvPicPr>
                <a:picLocks noGrp="1" noRot="1" noChangeAspect="1" noMove="1" noResize="1" noEditPoints="1" noAdjustHandles="1" noChangeArrowheads="1" noChangeShapeType="1"/>
              </p:cNvPicPr>
              <p:nvPr/>
            </p:nvPicPr>
            <p:blipFill>
              <a:blip r:embed="rId3"/>
              <a:stretch>
                <a:fillRect/>
              </a:stretch>
            </p:blipFill>
            <p:spPr>
              <a:xfrm>
                <a:off x="301624" y="1527174"/>
                <a:ext cx="8590855" cy="5102225"/>
              </a:xfrm>
              <a:prstGeom prst="rect">
                <a:avLst/>
              </a:prstGeom>
            </p:spPr>
          </p:pic>
        </mc:Fallback>
      </mc:AlternateContent>
    </p:spTree>
    <p:extLst>
      <p:ext uri="{BB962C8B-B14F-4D97-AF65-F5344CB8AC3E}">
        <p14:creationId xmlns:p14="http://schemas.microsoft.com/office/powerpoint/2010/main" val="3638042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noFill/>
          <a:ln/>
        </p:spPr>
        <p:txBody>
          <a:bodyPr>
            <a:normAutofit/>
          </a:bodyPr>
          <a:lstStyle/>
          <a:p>
            <a:r>
              <a:rPr lang="en-US" sz="4000" b="1" u="sng" dirty="0">
                <a:solidFill>
                  <a:schemeClr val="tx1"/>
                </a:solidFill>
              </a:rPr>
              <a:t>First Principle of Valuation</a:t>
            </a: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3090689858"/>
              </p:ext>
            </p:extLst>
          </p:nvPr>
        </p:nvGraphicFramePr>
        <p:xfrm>
          <a:off x="179512" y="1124744"/>
          <a:ext cx="8784976" cy="55446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9"/>
          <p:cNvGraphicFramePr>
            <a:graphicFrameLocks noGrp="1"/>
          </p:cNvGraphicFramePr>
          <p:nvPr>
            <p:ph sz="quarter" idx="4294967295"/>
            <p:extLst>
              <p:ext uri="{D42A27DB-BD31-4B8C-83A1-F6EECF244321}">
                <p14:modId xmlns:p14="http://schemas.microsoft.com/office/powerpoint/2010/main" val="265891135"/>
              </p:ext>
            </p:extLst>
          </p:nvPr>
        </p:nvGraphicFramePr>
        <p:xfrm>
          <a:off x="179512" y="260648"/>
          <a:ext cx="8712968" cy="62373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301752" y="365792"/>
            <a:ext cx="8534400" cy="758952"/>
          </a:xfrm>
          <a:noFill/>
          <a:ln/>
        </p:spPr>
        <p:txBody>
          <a:bodyPr>
            <a:normAutofit fontScale="90000"/>
          </a:bodyPr>
          <a:lstStyle/>
          <a:p>
            <a:r>
              <a:rPr lang="en-US" dirty="0"/>
              <a:t>Mix and Match Example</a:t>
            </a:r>
            <a:br>
              <a:rPr lang="en-US" dirty="0"/>
            </a:br>
            <a:r>
              <a:rPr lang="en-US" dirty="0"/>
              <a:t>Cash Flows and Discount Rates</a:t>
            </a:r>
          </a:p>
        </p:txBody>
      </p:sp>
      <p:sp>
        <p:nvSpPr>
          <p:cNvPr id="31747" name="Rectangle 3"/>
          <p:cNvSpPr>
            <a:spLocks noGrp="1" noChangeArrowheads="1"/>
          </p:cNvSpPr>
          <p:nvPr>
            <p:ph sz="quarter" idx="1"/>
          </p:nvPr>
        </p:nvSpPr>
        <p:spPr>
          <a:xfrm>
            <a:off x="301752" y="1527048"/>
            <a:ext cx="8503920" cy="677816"/>
          </a:xfrm>
          <a:noFill/>
          <a:ln/>
        </p:spPr>
        <p:txBody>
          <a:bodyPr>
            <a:normAutofit fontScale="85000" lnSpcReduction="10000"/>
          </a:bodyPr>
          <a:lstStyle/>
          <a:p>
            <a:pPr>
              <a:lnSpc>
                <a:spcPct val="90000"/>
              </a:lnSpc>
              <a:tabLst>
                <a:tab pos="1879600" algn="l"/>
                <a:tab pos="3436938" algn="l"/>
                <a:tab pos="5148263" algn="l"/>
              </a:tabLst>
            </a:pPr>
            <a:r>
              <a:rPr lang="en-US" dirty="0"/>
              <a:t>Assume that you are analyzing a  company with the following </a:t>
            </a:r>
            <a:r>
              <a:rPr lang="en-US" dirty="0" err="1"/>
              <a:t>cashflows</a:t>
            </a:r>
            <a:r>
              <a:rPr lang="en-US" dirty="0"/>
              <a:t> for the next five years. What is the value of Equity</a:t>
            </a:r>
          </a:p>
        </p:txBody>
      </p:sp>
      <p:graphicFrame>
        <p:nvGraphicFramePr>
          <p:cNvPr id="4" name="Object 3"/>
          <p:cNvGraphicFramePr>
            <a:graphicFrameLocks noChangeAspect="1"/>
          </p:cNvGraphicFramePr>
          <p:nvPr>
            <p:extLst>
              <p:ext uri="{D42A27DB-BD31-4B8C-83A1-F6EECF244321}">
                <p14:modId xmlns:p14="http://schemas.microsoft.com/office/powerpoint/2010/main" val="2468476749"/>
              </p:ext>
            </p:extLst>
          </p:nvPr>
        </p:nvGraphicFramePr>
        <p:xfrm>
          <a:off x="7308304" y="260648"/>
          <a:ext cx="1619672" cy="1366598"/>
        </p:xfrm>
        <a:graphic>
          <a:graphicData uri="http://schemas.openxmlformats.org/presentationml/2006/ole">
            <mc:AlternateContent xmlns:mc="http://schemas.openxmlformats.org/markup-compatibility/2006">
              <mc:Choice xmlns:v="urn:schemas-microsoft-com:vml" Requires="v">
                <p:oleObj name="Worksheet" showAsIcon="1" r:id="rId3" imgW="914400" imgH="771480" progId="Excel.Sheet.12">
                  <p:embed/>
                </p:oleObj>
              </mc:Choice>
              <mc:Fallback>
                <p:oleObj name="Worksheet" showAsIcon="1" r:id="rId3" imgW="914400" imgH="771480" progId="Excel.Sheet.12">
                  <p:embed/>
                  <p:pic>
                    <p:nvPicPr>
                      <p:cNvPr id="4" name="Object 3"/>
                      <p:cNvPicPr>
                        <a:picLocks noChangeAspect="1" noChangeArrowheads="1"/>
                      </p:cNvPicPr>
                      <p:nvPr/>
                    </p:nvPicPr>
                    <p:blipFill>
                      <a:blip r:embed="rId4"/>
                      <a:srcRect/>
                      <a:stretch>
                        <a:fillRect/>
                      </a:stretch>
                    </p:blipFill>
                    <p:spPr bwMode="auto">
                      <a:xfrm>
                        <a:off x="7308304" y="260648"/>
                        <a:ext cx="1619672" cy="13665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122794868"/>
              </p:ext>
            </p:extLst>
          </p:nvPr>
        </p:nvGraphicFramePr>
        <p:xfrm>
          <a:off x="395536" y="2276872"/>
          <a:ext cx="8424936" cy="4374501"/>
        </p:xfrm>
        <a:graphic>
          <a:graphicData uri="http://schemas.openxmlformats.org/drawingml/2006/table">
            <a:tbl>
              <a:tblPr>
                <a:tableStyleId>{8EC20E35-A176-4012-BC5E-935CFFF8708E}</a:tableStyleId>
              </a:tblPr>
              <a:tblGrid>
                <a:gridCol w="2106234">
                  <a:extLst>
                    <a:ext uri="{9D8B030D-6E8A-4147-A177-3AD203B41FA5}">
                      <a16:colId xmlns:a16="http://schemas.microsoft.com/office/drawing/2014/main" val="20000"/>
                    </a:ext>
                  </a:extLst>
                </a:gridCol>
                <a:gridCol w="2106234">
                  <a:extLst>
                    <a:ext uri="{9D8B030D-6E8A-4147-A177-3AD203B41FA5}">
                      <a16:colId xmlns:a16="http://schemas.microsoft.com/office/drawing/2014/main" val="20001"/>
                    </a:ext>
                  </a:extLst>
                </a:gridCol>
                <a:gridCol w="2106234">
                  <a:extLst>
                    <a:ext uri="{9D8B030D-6E8A-4147-A177-3AD203B41FA5}">
                      <a16:colId xmlns:a16="http://schemas.microsoft.com/office/drawing/2014/main" val="20002"/>
                    </a:ext>
                  </a:extLst>
                </a:gridCol>
                <a:gridCol w="2106234">
                  <a:extLst>
                    <a:ext uri="{9D8B030D-6E8A-4147-A177-3AD203B41FA5}">
                      <a16:colId xmlns:a16="http://schemas.microsoft.com/office/drawing/2014/main" val="20003"/>
                    </a:ext>
                  </a:extLst>
                </a:gridCol>
              </a:tblGrid>
              <a:tr h="704101">
                <a:tc>
                  <a:txBody>
                    <a:bodyPr/>
                    <a:lstStyle/>
                    <a:p>
                      <a:pPr algn="l" rtl="0" fontAlgn="ctr"/>
                      <a:r>
                        <a:rPr lang="en-GB" sz="2000" u="none" strike="noStrike" dirty="0">
                          <a:effectLst/>
                        </a:rPr>
                        <a:t>Year</a:t>
                      </a:r>
                      <a:endParaRPr lang="en-GB" sz="2000" b="0" i="1" u="none" strike="noStrike" dirty="0">
                        <a:solidFill>
                          <a:srgbClr val="000000"/>
                        </a:solidFill>
                        <a:effectLst/>
                        <a:latin typeface="Calibri" pitchFamily="34" charset="0"/>
                      </a:endParaRPr>
                    </a:p>
                  </a:txBody>
                  <a:tcPr marL="257175" marR="9525" marT="9525" marB="0" anchor="ctr"/>
                </a:tc>
                <a:tc>
                  <a:txBody>
                    <a:bodyPr/>
                    <a:lstStyle/>
                    <a:p>
                      <a:pPr algn="l" rtl="0" fontAlgn="ctr"/>
                      <a:r>
                        <a:rPr lang="en-GB" sz="2000" u="none" strike="noStrike">
                          <a:effectLst/>
                        </a:rPr>
                        <a:t>CF to Equity</a:t>
                      </a:r>
                      <a:endParaRPr lang="en-GB" sz="2000" b="0" i="1" u="none" strike="noStrike">
                        <a:solidFill>
                          <a:srgbClr val="000000"/>
                        </a:solidFill>
                        <a:effectLst/>
                        <a:latin typeface="Calibri" pitchFamily="34" charset="0"/>
                      </a:endParaRPr>
                    </a:p>
                  </a:txBody>
                  <a:tcPr marL="257175" marR="9525" marT="9525" marB="0" anchor="ctr"/>
                </a:tc>
                <a:tc>
                  <a:txBody>
                    <a:bodyPr/>
                    <a:lstStyle/>
                    <a:p>
                      <a:pPr algn="l" rtl="0" fontAlgn="ctr"/>
                      <a:r>
                        <a:rPr lang="en-GB" sz="2000" u="none" strike="noStrike" dirty="0">
                          <a:effectLst/>
                        </a:rPr>
                        <a:t>Interest </a:t>
                      </a:r>
                      <a:r>
                        <a:rPr lang="en-GB" sz="2000" u="none" strike="noStrike" dirty="0" err="1">
                          <a:effectLst/>
                        </a:rPr>
                        <a:t>Exp</a:t>
                      </a:r>
                      <a:r>
                        <a:rPr lang="en-GB" sz="2000" u="none" strike="noStrike" dirty="0">
                          <a:effectLst/>
                        </a:rPr>
                        <a:t> </a:t>
                      </a:r>
                    </a:p>
                    <a:p>
                      <a:pPr algn="l" rtl="0" fontAlgn="ctr"/>
                      <a:r>
                        <a:rPr lang="en-GB" sz="2000" u="none" strike="noStrike" dirty="0">
                          <a:effectLst/>
                        </a:rPr>
                        <a:t>(1-tax rate)</a:t>
                      </a:r>
                      <a:endParaRPr lang="en-GB" sz="2000" b="0" i="1" u="none" strike="noStrike" dirty="0">
                        <a:solidFill>
                          <a:srgbClr val="000000"/>
                        </a:solidFill>
                        <a:effectLst/>
                        <a:latin typeface="Calibri" pitchFamily="34" charset="0"/>
                      </a:endParaRPr>
                    </a:p>
                  </a:txBody>
                  <a:tcPr marL="257175" marR="9525" marT="9525" marB="0" anchor="ctr"/>
                </a:tc>
                <a:tc>
                  <a:txBody>
                    <a:bodyPr/>
                    <a:lstStyle/>
                    <a:p>
                      <a:pPr algn="l" rtl="0" fontAlgn="ctr"/>
                      <a:r>
                        <a:rPr lang="en-GB" sz="2000" u="none" strike="noStrike" dirty="0">
                          <a:effectLst/>
                        </a:rPr>
                        <a:t>CF to Firm</a:t>
                      </a:r>
                      <a:endParaRPr lang="en-GB" sz="2000" b="0" i="1" u="none" strike="noStrike" dirty="0">
                        <a:solidFill>
                          <a:srgbClr val="000000"/>
                        </a:solidFill>
                        <a:effectLst/>
                        <a:latin typeface="Calibri" pitchFamily="34" charset="0"/>
                      </a:endParaRPr>
                    </a:p>
                  </a:txBody>
                  <a:tcPr marL="257175" marR="9525" marT="9525" marB="0" anchor="ctr"/>
                </a:tc>
                <a:extLst>
                  <a:ext uri="{0D108BD9-81ED-4DB2-BD59-A6C34878D82A}">
                    <a16:rowId xmlns:a16="http://schemas.microsoft.com/office/drawing/2014/main" val="10000"/>
                  </a:ext>
                </a:extLst>
              </a:tr>
              <a:tr h="202328">
                <a:tc>
                  <a:txBody>
                    <a:bodyPr/>
                    <a:lstStyle/>
                    <a:p>
                      <a:pPr algn="l" rtl="0" fontAlgn="ctr"/>
                      <a:r>
                        <a:rPr lang="en-GB" sz="2000" u="none" strike="noStrike">
                          <a:effectLst/>
                        </a:rPr>
                        <a:t>1</a:t>
                      </a:r>
                      <a:endParaRPr lang="en-GB" sz="2000" b="0" i="0" u="none" strike="noStrike">
                        <a:solidFill>
                          <a:srgbClr val="000000"/>
                        </a:solidFill>
                        <a:effectLst/>
                        <a:latin typeface="Calibri" pitchFamily="34" charset="0"/>
                      </a:endParaRPr>
                    </a:p>
                  </a:txBody>
                  <a:tcPr marL="257175" marR="9525" marT="9525" marB="0" anchor="ctr"/>
                </a:tc>
                <a:tc>
                  <a:txBody>
                    <a:bodyPr/>
                    <a:lstStyle/>
                    <a:p>
                      <a:pPr algn="l" rtl="0" fontAlgn="ctr"/>
                      <a:r>
                        <a:rPr lang="en-GB" sz="2000" u="none" strike="noStrike">
                          <a:effectLst/>
                        </a:rPr>
                        <a:t>$ 50</a:t>
                      </a:r>
                      <a:endParaRPr lang="en-GB" sz="2000" b="0" i="0" u="none" strike="noStrike">
                        <a:solidFill>
                          <a:srgbClr val="000000"/>
                        </a:solidFill>
                        <a:effectLst/>
                        <a:latin typeface="Calibri" pitchFamily="34" charset="0"/>
                      </a:endParaRPr>
                    </a:p>
                  </a:txBody>
                  <a:tcPr marL="257175" marR="9525" marT="9525" marB="0" anchor="ctr"/>
                </a:tc>
                <a:tc>
                  <a:txBody>
                    <a:bodyPr/>
                    <a:lstStyle/>
                    <a:p>
                      <a:pPr algn="l" rtl="0" fontAlgn="ctr"/>
                      <a:r>
                        <a:rPr lang="en-GB" sz="2000" u="none" strike="noStrike">
                          <a:effectLst/>
                        </a:rPr>
                        <a:t>$ 40</a:t>
                      </a:r>
                      <a:endParaRPr lang="en-GB" sz="2000" b="0" i="0" u="none" strike="noStrike">
                        <a:solidFill>
                          <a:srgbClr val="000000"/>
                        </a:solidFill>
                        <a:effectLst/>
                        <a:latin typeface="Calibri" pitchFamily="34" charset="0"/>
                      </a:endParaRPr>
                    </a:p>
                  </a:txBody>
                  <a:tcPr marL="257175" marR="9525" marT="9525" marB="0" anchor="ctr"/>
                </a:tc>
                <a:tc>
                  <a:txBody>
                    <a:bodyPr/>
                    <a:lstStyle/>
                    <a:p>
                      <a:pPr algn="l" rtl="0" fontAlgn="ctr"/>
                      <a:r>
                        <a:rPr lang="en-GB" sz="2000" u="none" strike="noStrike">
                          <a:effectLst/>
                        </a:rPr>
                        <a:t>$ 90</a:t>
                      </a:r>
                      <a:endParaRPr lang="en-GB" sz="2000" b="0" i="0" u="none" strike="noStrike">
                        <a:solidFill>
                          <a:srgbClr val="000000"/>
                        </a:solidFill>
                        <a:effectLst/>
                        <a:latin typeface="Calibri" pitchFamily="34" charset="0"/>
                      </a:endParaRPr>
                    </a:p>
                  </a:txBody>
                  <a:tcPr marL="257175" marR="9525" marT="9525" marB="0" anchor="ctr"/>
                </a:tc>
                <a:extLst>
                  <a:ext uri="{0D108BD9-81ED-4DB2-BD59-A6C34878D82A}">
                    <a16:rowId xmlns:a16="http://schemas.microsoft.com/office/drawing/2014/main" val="10001"/>
                  </a:ext>
                </a:extLst>
              </a:tr>
              <a:tr h="202328">
                <a:tc>
                  <a:txBody>
                    <a:bodyPr/>
                    <a:lstStyle/>
                    <a:p>
                      <a:pPr algn="l" rtl="0" fontAlgn="ctr"/>
                      <a:r>
                        <a:rPr lang="en-GB" sz="2000" u="none" strike="noStrike">
                          <a:effectLst/>
                        </a:rPr>
                        <a:t>2</a:t>
                      </a:r>
                      <a:endParaRPr lang="en-GB" sz="2000" b="0" i="0" u="none" strike="noStrike">
                        <a:solidFill>
                          <a:srgbClr val="000000"/>
                        </a:solidFill>
                        <a:effectLst/>
                        <a:latin typeface="Calibri" pitchFamily="34" charset="0"/>
                      </a:endParaRPr>
                    </a:p>
                  </a:txBody>
                  <a:tcPr marL="257175" marR="9525" marT="9525" marB="0" anchor="ctr"/>
                </a:tc>
                <a:tc>
                  <a:txBody>
                    <a:bodyPr/>
                    <a:lstStyle/>
                    <a:p>
                      <a:pPr algn="l" rtl="0" fontAlgn="ctr"/>
                      <a:r>
                        <a:rPr lang="en-GB" sz="2000" u="none" strike="noStrike">
                          <a:effectLst/>
                        </a:rPr>
                        <a:t>$ 60</a:t>
                      </a:r>
                      <a:endParaRPr lang="en-GB" sz="2000" b="0" i="0" u="none" strike="noStrike">
                        <a:solidFill>
                          <a:srgbClr val="000000"/>
                        </a:solidFill>
                        <a:effectLst/>
                        <a:latin typeface="Calibri" pitchFamily="34" charset="0"/>
                      </a:endParaRPr>
                    </a:p>
                  </a:txBody>
                  <a:tcPr marL="257175" marR="9525" marT="9525" marB="0" anchor="ctr"/>
                </a:tc>
                <a:tc>
                  <a:txBody>
                    <a:bodyPr/>
                    <a:lstStyle/>
                    <a:p>
                      <a:pPr algn="l" rtl="0" fontAlgn="ctr"/>
                      <a:r>
                        <a:rPr lang="en-GB" sz="2000" u="none" strike="noStrike">
                          <a:effectLst/>
                        </a:rPr>
                        <a:t>$ 40</a:t>
                      </a:r>
                      <a:endParaRPr lang="en-GB" sz="2000" b="0" i="0" u="none" strike="noStrike">
                        <a:solidFill>
                          <a:srgbClr val="000000"/>
                        </a:solidFill>
                        <a:effectLst/>
                        <a:latin typeface="Calibri" pitchFamily="34" charset="0"/>
                      </a:endParaRPr>
                    </a:p>
                  </a:txBody>
                  <a:tcPr marL="257175" marR="9525" marT="9525" marB="0" anchor="ctr"/>
                </a:tc>
                <a:tc>
                  <a:txBody>
                    <a:bodyPr/>
                    <a:lstStyle/>
                    <a:p>
                      <a:pPr algn="l" rtl="0" fontAlgn="ctr"/>
                      <a:r>
                        <a:rPr lang="en-GB" sz="2000" u="none" strike="noStrike">
                          <a:effectLst/>
                        </a:rPr>
                        <a:t>$ 100</a:t>
                      </a:r>
                      <a:endParaRPr lang="en-GB" sz="2000" b="0" i="0" u="none" strike="noStrike">
                        <a:solidFill>
                          <a:srgbClr val="000000"/>
                        </a:solidFill>
                        <a:effectLst/>
                        <a:latin typeface="Calibri" pitchFamily="34" charset="0"/>
                      </a:endParaRPr>
                    </a:p>
                  </a:txBody>
                  <a:tcPr marL="257175" marR="9525" marT="9525" marB="0" anchor="ctr"/>
                </a:tc>
                <a:extLst>
                  <a:ext uri="{0D108BD9-81ED-4DB2-BD59-A6C34878D82A}">
                    <a16:rowId xmlns:a16="http://schemas.microsoft.com/office/drawing/2014/main" val="10002"/>
                  </a:ext>
                </a:extLst>
              </a:tr>
              <a:tr h="202328">
                <a:tc>
                  <a:txBody>
                    <a:bodyPr/>
                    <a:lstStyle/>
                    <a:p>
                      <a:pPr algn="l" rtl="0" fontAlgn="ctr"/>
                      <a:r>
                        <a:rPr lang="en-GB" sz="2000" u="none" strike="noStrike">
                          <a:effectLst/>
                        </a:rPr>
                        <a:t>3</a:t>
                      </a:r>
                      <a:endParaRPr lang="en-GB" sz="2000" b="0" i="0" u="none" strike="noStrike">
                        <a:solidFill>
                          <a:srgbClr val="000000"/>
                        </a:solidFill>
                        <a:effectLst/>
                        <a:latin typeface="Calibri" pitchFamily="34" charset="0"/>
                      </a:endParaRPr>
                    </a:p>
                  </a:txBody>
                  <a:tcPr marL="257175" marR="9525" marT="9525" marB="0" anchor="ctr"/>
                </a:tc>
                <a:tc>
                  <a:txBody>
                    <a:bodyPr/>
                    <a:lstStyle/>
                    <a:p>
                      <a:pPr algn="l" rtl="0" fontAlgn="ctr"/>
                      <a:r>
                        <a:rPr lang="en-GB" sz="2000" u="none" strike="noStrike">
                          <a:effectLst/>
                        </a:rPr>
                        <a:t>$ 68</a:t>
                      </a:r>
                      <a:endParaRPr lang="en-GB" sz="2000" b="0" i="0" u="none" strike="noStrike">
                        <a:solidFill>
                          <a:srgbClr val="000000"/>
                        </a:solidFill>
                        <a:effectLst/>
                        <a:latin typeface="Calibri" pitchFamily="34" charset="0"/>
                      </a:endParaRPr>
                    </a:p>
                  </a:txBody>
                  <a:tcPr marL="257175" marR="9525" marT="9525" marB="0" anchor="ctr"/>
                </a:tc>
                <a:tc>
                  <a:txBody>
                    <a:bodyPr/>
                    <a:lstStyle/>
                    <a:p>
                      <a:pPr algn="l" rtl="0" fontAlgn="ctr"/>
                      <a:r>
                        <a:rPr lang="en-GB" sz="2000" u="none" strike="noStrike">
                          <a:effectLst/>
                        </a:rPr>
                        <a:t>$ 40</a:t>
                      </a:r>
                      <a:endParaRPr lang="en-GB" sz="2000" b="0" i="0" u="none" strike="noStrike">
                        <a:solidFill>
                          <a:srgbClr val="000000"/>
                        </a:solidFill>
                        <a:effectLst/>
                        <a:latin typeface="Calibri" pitchFamily="34" charset="0"/>
                      </a:endParaRPr>
                    </a:p>
                  </a:txBody>
                  <a:tcPr marL="257175" marR="9525" marT="9525" marB="0" anchor="ctr"/>
                </a:tc>
                <a:tc>
                  <a:txBody>
                    <a:bodyPr/>
                    <a:lstStyle/>
                    <a:p>
                      <a:pPr algn="l" rtl="0" fontAlgn="ctr"/>
                      <a:r>
                        <a:rPr lang="en-GB" sz="2000" u="none" strike="noStrike">
                          <a:effectLst/>
                        </a:rPr>
                        <a:t>$ 108</a:t>
                      </a:r>
                      <a:endParaRPr lang="en-GB" sz="2000" b="0" i="0" u="none" strike="noStrike">
                        <a:solidFill>
                          <a:srgbClr val="000000"/>
                        </a:solidFill>
                        <a:effectLst/>
                        <a:latin typeface="Calibri" pitchFamily="34" charset="0"/>
                      </a:endParaRPr>
                    </a:p>
                  </a:txBody>
                  <a:tcPr marL="257175" marR="9525" marT="9525" marB="0" anchor="ctr"/>
                </a:tc>
                <a:extLst>
                  <a:ext uri="{0D108BD9-81ED-4DB2-BD59-A6C34878D82A}">
                    <a16:rowId xmlns:a16="http://schemas.microsoft.com/office/drawing/2014/main" val="10003"/>
                  </a:ext>
                </a:extLst>
              </a:tr>
              <a:tr h="202328">
                <a:tc>
                  <a:txBody>
                    <a:bodyPr/>
                    <a:lstStyle/>
                    <a:p>
                      <a:pPr algn="l" rtl="0" fontAlgn="ctr"/>
                      <a:r>
                        <a:rPr lang="en-GB" sz="2000" u="none" strike="noStrike">
                          <a:effectLst/>
                        </a:rPr>
                        <a:t>4</a:t>
                      </a:r>
                      <a:endParaRPr lang="en-GB" sz="2000" b="0" i="0" u="none" strike="noStrike">
                        <a:solidFill>
                          <a:srgbClr val="000000"/>
                        </a:solidFill>
                        <a:effectLst/>
                        <a:latin typeface="Calibri" pitchFamily="34" charset="0"/>
                      </a:endParaRPr>
                    </a:p>
                  </a:txBody>
                  <a:tcPr marL="257175" marR="9525" marT="9525" marB="0" anchor="ctr"/>
                </a:tc>
                <a:tc>
                  <a:txBody>
                    <a:bodyPr/>
                    <a:lstStyle/>
                    <a:p>
                      <a:pPr algn="l" rtl="0" fontAlgn="ctr"/>
                      <a:r>
                        <a:rPr lang="en-GB" sz="2000" u="none" strike="noStrike">
                          <a:effectLst/>
                        </a:rPr>
                        <a:t>$ 76.2</a:t>
                      </a:r>
                      <a:endParaRPr lang="en-GB" sz="2000" b="0" i="0" u="none" strike="noStrike">
                        <a:solidFill>
                          <a:srgbClr val="000000"/>
                        </a:solidFill>
                        <a:effectLst/>
                        <a:latin typeface="Calibri" pitchFamily="34" charset="0"/>
                      </a:endParaRPr>
                    </a:p>
                  </a:txBody>
                  <a:tcPr marL="257175" marR="9525" marT="9525" marB="0" anchor="ctr"/>
                </a:tc>
                <a:tc>
                  <a:txBody>
                    <a:bodyPr/>
                    <a:lstStyle/>
                    <a:p>
                      <a:pPr algn="l" rtl="0" fontAlgn="ctr"/>
                      <a:r>
                        <a:rPr lang="en-GB" sz="2000" u="none" strike="noStrike">
                          <a:effectLst/>
                        </a:rPr>
                        <a:t>$ 40</a:t>
                      </a:r>
                      <a:endParaRPr lang="en-GB" sz="2000" b="0" i="0" u="none" strike="noStrike">
                        <a:solidFill>
                          <a:srgbClr val="000000"/>
                        </a:solidFill>
                        <a:effectLst/>
                        <a:latin typeface="Calibri" pitchFamily="34" charset="0"/>
                      </a:endParaRPr>
                    </a:p>
                  </a:txBody>
                  <a:tcPr marL="257175" marR="9525" marT="9525" marB="0" anchor="ctr"/>
                </a:tc>
                <a:tc>
                  <a:txBody>
                    <a:bodyPr/>
                    <a:lstStyle/>
                    <a:p>
                      <a:pPr algn="l" rtl="0" fontAlgn="ctr"/>
                      <a:r>
                        <a:rPr lang="en-GB" sz="2000" u="none" strike="noStrike">
                          <a:effectLst/>
                        </a:rPr>
                        <a:t>$ 116.2</a:t>
                      </a:r>
                      <a:endParaRPr lang="en-GB" sz="2000" b="0" i="0" u="none" strike="noStrike">
                        <a:solidFill>
                          <a:srgbClr val="000000"/>
                        </a:solidFill>
                        <a:effectLst/>
                        <a:latin typeface="Calibri" pitchFamily="34" charset="0"/>
                      </a:endParaRPr>
                    </a:p>
                  </a:txBody>
                  <a:tcPr marL="257175" marR="9525" marT="9525" marB="0" anchor="ctr"/>
                </a:tc>
                <a:extLst>
                  <a:ext uri="{0D108BD9-81ED-4DB2-BD59-A6C34878D82A}">
                    <a16:rowId xmlns:a16="http://schemas.microsoft.com/office/drawing/2014/main" val="10004"/>
                  </a:ext>
                </a:extLst>
              </a:tr>
              <a:tr h="358795">
                <a:tc>
                  <a:txBody>
                    <a:bodyPr/>
                    <a:lstStyle/>
                    <a:p>
                      <a:pPr algn="l" rtl="0" fontAlgn="ctr"/>
                      <a:r>
                        <a:rPr lang="en-GB" sz="2000" u="none" strike="noStrike">
                          <a:effectLst/>
                        </a:rPr>
                        <a:t>5</a:t>
                      </a:r>
                      <a:endParaRPr lang="en-GB" sz="2000" b="0" i="0" u="none" strike="noStrike">
                        <a:solidFill>
                          <a:srgbClr val="000000"/>
                        </a:solidFill>
                        <a:effectLst/>
                        <a:latin typeface="Calibri" pitchFamily="34" charset="0"/>
                      </a:endParaRPr>
                    </a:p>
                  </a:txBody>
                  <a:tcPr marL="257175" marR="9525" marT="9525" marB="0" anchor="ctr"/>
                </a:tc>
                <a:tc>
                  <a:txBody>
                    <a:bodyPr/>
                    <a:lstStyle/>
                    <a:p>
                      <a:pPr algn="l" rtl="0" fontAlgn="ctr"/>
                      <a:r>
                        <a:rPr lang="en-GB" sz="2000" u="none" strike="noStrike" dirty="0">
                          <a:effectLst/>
                        </a:rPr>
                        <a:t>$ 83.49</a:t>
                      </a:r>
                      <a:endParaRPr lang="en-GB" sz="2000" b="0" i="0" u="none" strike="noStrike" dirty="0">
                        <a:solidFill>
                          <a:srgbClr val="000000"/>
                        </a:solidFill>
                        <a:effectLst/>
                        <a:latin typeface="Calibri" pitchFamily="34" charset="0"/>
                      </a:endParaRPr>
                    </a:p>
                  </a:txBody>
                  <a:tcPr marL="257175" marR="9525" marT="9525" marB="0" anchor="ctr"/>
                </a:tc>
                <a:tc>
                  <a:txBody>
                    <a:bodyPr/>
                    <a:lstStyle/>
                    <a:p>
                      <a:pPr algn="l" rtl="0" fontAlgn="ctr"/>
                      <a:r>
                        <a:rPr lang="en-GB" sz="2000" u="none" strike="noStrike">
                          <a:effectLst/>
                        </a:rPr>
                        <a:t>$ 40</a:t>
                      </a:r>
                      <a:endParaRPr lang="en-GB" sz="2000" b="0" i="0" u="none" strike="noStrike">
                        <a:solidFill>
                          <a:srgbClr val="000000"/>
                        </a:solidFill>
                        <a:effectLst/>
                        <a:latin typeface="Calibri" pitchFamily="34" charset="0"/>
                      </a:endParaRPr>
                    </a:p>
                  </a:txBody>
                  <a:tcPr marL="257175" marR="9525" marT="9525" marB="0" anchor="ctr"/>
                </a:tc>
                <a:tc>
                  <a:txBody>
                    <a:bodyPr/>
                    <a:lstStyle/>
                    <a:p>
                      <a:pPr algn="l" rtl="0" fontAlgn="ctr"/>
                      <a:r>
                        <a:rPr lang="en-GB" sz="2000" u="none" strike="noStrike" dirty="0">
                          <a:effectLst/>
                        </a:rPr>
                        <a:t>$ 123.49</a:t>
                      </a:r>
                      <a:endParaRPr lang="en-GB" sz="2000" b="0" i="0" u="none" strike="noStrike" dirty="0">
                        <a:solidFill>
                          <a:srgbClr val="000000"/>
                        </a:solidFill>
                        <a:effectLst/>
                        <a:latin typeface="Calibri" pitchFamily="34" charset="0"/>
                      </a:endParaRPr>
                    </a:p>
                  </a:txBody>
                  <a:tcPr marL="257175" marR="9525" marT="9525" marB="0" anchor="ctr"/>
                </a:tc>
                <a:extLst>
                  <a:ext uri="{0D108BD9-81ED-4DB2-BD59-A6C34878D82A}">
                    <a16:rowId xmlns:a16="http://schemas.microsoft.com/office/drawing/2014/main" val="10005"/>
                  </a:ext>
                </a:extLst>
              </a:tr>
              <a:tr h="358795">
                <a:tc>
                  <a:txBody>
                    <a:bodyPr/>
                    <a:lstStyle/>
                    <a:p>
                      <a:pPr algn="l" rtl="0" fontAlgn="ctr"/>
                      <a:r>
                        <a:rPr lang="en-GB" sz="2000" u="none" strike="noStrike" dirty="0">
                          <a:effectLst/>
                        </a:rPr>
                        <a:t>Terminal Value (End</a:t>
                      </a:r>
                      <a:r>
                        <a:rPr lang="en-GB" sz="2000" u="none" strike="noStrike" baseline="0" dirty="0">
                          <a:effectLst/>
                        </a:rPr>
                        <a:t> of 5y)</a:t>
                      </a:r>
                      <a:endParaRPr lang="en-GB" sz="2000" b="0" i="0" u="none" strike="noStrike" dirty="0">
                        <a:solidFill>
                          <a:srgbClr val="000000"/>
                        </a:solidFill>
                        <a:effectLst/>
                        <a:latin typeface="Calibri" pitchFamily="34" charset="0"/>
                      </a:endParaRPr>
                    </a:p>
                  </a:txBody>
                  <a:tcPr marL="257175" marR="9525" marT="9525" marB="0" anchor="ctr"/>
                </a:tc>
                <a:tc>
                  <a:txBody>
                    <a:bodyPr/>
                    <a:lstStyle/>
                    <a:p>
                      <a:pPr algn="l" rtl="0" fontAlgn="ctr"/>
                      <a:r>
                        <a:rPr lang="en-GB" sz="2000" u="none" strike="noStrike" dirty="0">
                          <a:effectLst/>
                        </a:rPr>
                        <a:t>$1603</a:t>
                      </a:r>
                      <a:endParaRPr lang="en-GB" sz="2000" b="0" i="0" u="none" strike="noStrike" dirty="0">
                        <a:solidFill>
                          <a:srgbClr val="000000"/>
                        </a:solidFill>
                        <a:effectLst/>
                        <a:latin typeface="Calibri" pitchFamily="34" charset="0"/>
                      </a:endParaRPr>
                    </a:p>
                  </a:txBody>
                  <a:tcPr marL="257175" marR="9525" marT="9525" marB="0" anchor="ctr"/>
                </a:tc>
                <a:tc>
                  <a:txBody>
                    <a:bodyPr/>
                    <a:lstStyle/>
                    <a:p>
                      <a:pPr algn="l" rtl="0" fontAlgn="ctr"/>
                      <a:endParaRPr lang="en-GB" sz="2000" b="0" i="0" u="none" strike="noStrike" dirty="0">
                        <a:solidFill>
                          <a:srgbClr val="000000"/>
                        </a:solidFill>
                        <a:effectLst/>
                        <a:latin typeface="Calibri" pitchFamily="34" charset="0"/>
                      </a:endParaRPr>
                    </a:p>
                  </a:txBody>
                  <a:tcPr marL="257175" marR="9525" marT="9525" marB="0" anchor="ctr"/>
                </a:tc>
                <a:tc>
                  <a:txBody>
                    <a:bodyPr/>
                    <a:lstStyle/>
                    <a:p>
                      <a:pPr algn="l" rtl="0" fontAlgn="ctr"/>
                      <a:r>
                        <a:rPr lang="en-GB" sz="2000" u="none" strike="noStrike" dirty="0">
                          <a:effectLst/>
                        </a:rPr>
                        <a:t>$2363.008</a:t>
                      </a:r>
                      <a:endParaRPr lang="en-GB" sz="2000" b="0" i="0" u="none" strike="noStrike" dirty="0">
                        <a:solidFill>
                          <a:srgbClr val="000000"/>
                        </a:solidFill>
                        <a:effectLst/>
                        <a:latin typeface="Calibri" pitchFamily="34" charset="0"/>
                      </a:endParaRPr>
                    </a:p>
                  </a:txBody>
                  <a:tcPr marL="257175" marR="9525" marT="9525" marB="0" anchor="ctr"/>
                </a:tc>
                <a:extLst>
                  <a:ext uri="{0D108BD9-81ED-4DB2-BD59-A6C34878D82A}">
                    <a16:rowId xmlns:a16="http://schemas.microsoft.com/office/drawing/2014/main" val="10006"/>
                  </a:ext>
                </a:extLst>
              </a:tr>
              <a:tr h="358795">
                <a:tc>
                  <a:txBody>
                    <a:bodyPr/>
                    <a:lstStyle/>
                    <a:p>
                      <a:pPr algn="l" rtl="0" fontAlgn="ctr"/>
                      <a:endParaRPr lang="en-GB" sz="2000" b="0" i="0" u="none" strike="noStrike" dirty="0">
                        <a:solidFill>
                          <a:srgbClr val="000000"/>
                        </a:solidFill>
                        <a:effectLst/>
                        <a:latin typeface="Calibri" pitchFamily="34" charset="0"/>
                      </a:endParaRPr>
                    </a:p>
                  </a:txBody>
                  <a:tcPr marL="257175" marR="9525" marT="9525" marB="0" anchor="ctr"/>
                </a:tc>
                <a:tc>
                  <a:txBody>
                    <a:bodyPr/>
                    <a:lstStyle/>
                    <a:p>
                      <a:pPr algn="l" rtl="0" fontAlgn="ctr"/>
                      <a:endParaRPr lang="en-GB" sz="2000" b="0" i="0" u="none" strike="noStrike" dirty="0">
                        <a:solidFill>
                          <a:srgbClr val="000000"/>
                        </a:solidFill>
                        <a:effectLst/>
                        <a:latin typeface="Calibri" pitchFamily="34" charset="0"/>
                      </a:endParaRPr>
                    </a:p>
                  </a:txBody>
                  <a:tcPr marL="257175" marR="9525" marT="9525" marB="0" anchor="ctr"/>
                </a:tc>
                <a:tc>
                  <a:txBody>
                    <a:bodyPr/>
                    <a:lstStyle/>
                    <a:p>
                      <a:pPr algn="l" rtl="0" fontAlgn="ctr"/>
                      <a:endParaRPr lang="en-GB" sz="2000" b="0" i="0" u="none" strike="noStrike" dirty="0">
                        <a:solidFill>
                          <a:srgbClr val="000000"/>
                        </a:solidFill>
                        <a:effectLst/>
                        <a:latin typeface="Calibri" pitchFamily="34" charset="0"/>
                      </a:endParaRPr>
                    </a:p>
                  </a:txBody>
                  <a:tcPr marL="257175" marR="9525" marT="9525" marB="0" anchor="ctr"/>
                </a:tc>
                <a:tc>
                  <a:txBody>
                    <a:bodyPr/>
                    <a:lstStyle/>
                    <a:p>
                      <a:pPr algn="l" rtl="0" fontAlgn="ctr"/>
                      <a:endParaRPr lang="en-GB" sz="2000" b="0" i="0" u="none" strike="noStrike" dirty="0">
                        <a:solidFill>
                          <a:srgbClr val="000000"/>
                        </a:solidFill>
                        <a:effectLst/>
                        <a:latin typeface="Calibri" pitchFamily="34" charset="0"/>
                      </a:endParaRPr>
                    </a:p>
                  </a:txBody>
                  <a:tcPr marL="257175" marR="9525" marT="9525" marB="0" anchor="ctr"/>
                </a:tc>
                <a:extLst>
                  <a:ext uri="{0D108BD9-81ED-4DB2-BD59-A6C34878D82A}">
                    <a16:rowId xmlns:a16="http://schemas.microsoft.com/office/drawing/2014/main" val="10007"/>
                  </a:ext>
                </a:extLst>
              </a:tr>
              <a:tr h="358795">
                <a:tc>
                  <a:txBody>
                    <a:bodyPr/>
                    <a:lstStyle/>
                    <a:p>
                      <a:pPr algn="l" rtl="0" fontAlgn="ctr"/>
                      <a:r>
                        <a:rPr lang="en-GB" sz="2000" u="none" strike="noStrike" dirty="0">
                          <a:effectLst/>
                        </a:rPr>
                        <a:t>Cost</a:t>
                      </a:r>
                      <a:r>
                        <a:rPr lang="en-GB" sz="2000" u="none" strike="noStrike" baseline="0" dirty="0">
                          <a:effectLst/>
                        </a:rPr>
                        <a:t> of Equity</a:t>
                      </a:r>
                      <a:endParaRPr lang="en-GB" sz="2000" b="0" i="0" u="none" strike="noStrike" dirty="0">
                        <a:solidFill>
                          <a:srgbClr val="000000"/>
                        </a:solidFill>
                        <a:effectLst/>
                        <a:latin typeface="Calibri" pitchFamily="34" charset="0"/>
                      </a:endParaRPr>
                    </a:p>
                  </a:txBody>
                  <a:tcPr marL="257175" marR="9525" marT="9525" marB="0" anchor="ctr"/>
                </a:tc>
                <a:tc>
                  <a:txBody>
                    <a:bodyPr/>
                    <a:lstStyle/>
                    <a:p>
                      <a:pPr algn="l" rtl="0" fontAlgn="ctr"/>
                      <a:r>
                        <a:rPr lang="en-GB" sz="2000" u="none" strike="noStrike" dirty="0">
                          <a:effectLst/>
                        </a:rPr>
                        <a:t>13.625%</a:t>
                      </a:r>
                      <a:endParaRPr lang="en-GB" sz="2000" b="0" i="0" u="none" strike="noStrike" dirty="0">
                        <a:solidFill>
                          <a:srgbClr val="000000"/>
                        </a:solidFill>
                        <a:effectLst/>
                        <a:latin typeface="Calibri" pitchFamily="34" charset="0"/>
                      </a:endParaRPr>
                    </a:p>
                  </a:txBody>
                  <a:tcPr marL="257175" marR="9525" marT="9525" marB="0" anchor="ctr"/>
                </a:tc>
                <a:tc>
                  <a:txBody>
                    <a:bodyPr/>
                    <a:lstStyle/>
                    <a:p>
                      <a:pPr algn="l" rtl="0" fontAlgn="ctr"/>
                      <a:r>
                        <a:rPr lang="en-GB" sz="2000" u="none" strike="noStrike" dirty="0">
                          <a:effectLst/>
                        </a:rPr>
                        <a:t>Cost of Debt</a:t>
                      </a:r>
                      <a:endParaRPr lang="en-GB" sz="2000" b="0" i="0" u="none" strike="noStrike" dirty="0">
                        <a:solidFill>
                          <a:srgbClr val="000000"/>
                        </a:solidFill>
                        <a:effectLst/>
                        <a:latin typeface="Calibri" pitchFamily="34" charset="0"/>
                      </a:endParaRPr>
                    </a:p>
                  </a:txBody>
                  <a:tcPr marL="257175" marR="9525" marT="9525" marB="0" anchor="ctr"/>
                </a:tc>
                <a:tc>
                  <a:txBody>
                    <a:bodyPr/>
                    <a:lstStyle/>
                    <a:p>
                      <a:pPr algn="l" rtl="0" fontAlgn="ctr"/>
                      <a:r>
                        <a:rPr lang="en-GB" sz="2000" u="none" strike="noStrike" dirty="0">
                          <a:effectLst/>
                        </a:rPr>
                        <a:t>10%</a:t>
                      </a:r>
                      <a:endParaRPr lang="en-GB" sz="2000" b="0" i="0" u="none" strike="noStrike" dirty="0">
                        <a:solidFill>
                          <a:srgbClr val="000000"/>
                        </a:solidFill>
                        <a:effectLst/>
                        <a:latin typeface="Calibri" pitchFamily="34" charset="0"/>
                      </a:endParaRPr>
                    </a:p>
                  </a:txBody>
                  <a:tcPr marL="257175" marR="9525" marT="9525" marB="0" anchor="ctr"/>
                </a:tc>
                <a:extLst>
                  <a:ext uri="{0D108BD9-81ED-4DB2-BD59-A6C34878D82A}">
                    <a16:rowId xmlns:a16="http://schemas.microsoft.com/office/drawing/2014/main" val="10008"/>
                  </a:ext>
                </a:extLst>
              </a:tr>
              <a:tr h="358795">
                <a:tc>
                  <a:txBody>
                    <a:bodyPr/>
                    <a:lstStyle/>
                    <a:p>
                      <a:pPr algn="l" rtl="0" fontAlgn="ctr"/>
                      <a:r>
                        <a:rPr lang="en-GB" sz="2000" u="none" strike="noStrike" dirty="0">
                          <a:effectLst/>
                        </a:rPr>
                        <a:t>Tax Rate</a:t>
                      </a:r>
                      <a:endParaRPr lang="en-GB" sz="2000" b="0" i="0" u="none" strike="noStrike" dirty="0">
                        <a:solidFill>
                          <a:srgbClr val="000000"/>
                        </a:solidFill>
                        <a:effectLst/>
                        <a:latin typeface="Calibri" pitchFamily="34" charset="0"/>
                      </a:endParaRPr>
                    </a:p>
                  </a:txBody>
                  <a:tcPr marL="257175" marR="9525" marT="9525" marB="0" anchor="ctr"/>
                </a:tc>
                <a:tc>
                  <a:txBody>
                    <a:bodyPr/>
                    <a:lstStyle/>
                    <a:p>
                      <a:pPr algn="l" rtl="0" fontAlgn="ctr"/>
                      <a:r>
                        <a:rPr lang="en-GB" sz="2000" u="none" strike="noStrike" dirty="0">
                          <a:effectLst/>
                        </a:rPr>
                        <a:t>50%</a:t>
                      </a:r>
                      <a:endParaRPr lang="en-GB" sz="2000" b="0" i="0" u="none" strike="noStrike" dirty="0">
                        <a:solidFill>
                          <a:srgbClr val="000000"/>
                        </a:solidFill>
                        <a:effectLst/>
                        <a:latin typeface="Calibri" pitchFamily="34" charset="0"/>
                      </a:endParaRPr>
                    </a:p>
                  </a:txBody>
                  <a:tcPr marL="257175" marR="9525" marT="9525" marB="0" anchor="ctr"/>
                </a:tc>
                <a:tc>
                  <a:txBody>
                    <a:bodyPr/>
                    <a:lstStyle/>
                    <a:p>
                      <a:pPr algn="l" rtl="0" fontAlgn="ctr"/>
                      <a:endParaRPr lang="en-GB" sz="2000" b="0" i="0" u="none" strike="noStrike" dirty="0">
                        <a:solidFill>
                          <a:srgbClr val="000000"/>
                        </a:solidFill>
                        <a:effectLst/>
                        <a:latin typeface="Calibri" pitchFamily="34" charset="0"/>
                      </a:endParaRPr>
                    </a:p>
                  </a:txBody>
                  <a:tcPr marL="257175" marR="9525" marT="9525" marB="0" anchor="ctr"/>
                </a:tc>
                <a:tc>
                  <a:txBody>
                    <a:bodyPr/>
                    <a:lstStyle/>
                    <a:p>
                      <a:pPr algn="l" rtl="0" fontAlgn="ctr"/>
                      <a:endParaRPr lang="en-GB" sz="2000" b="0" i="0" u="none" strike="noStrike" dirty="0">
                        <a:solidFill>
                          <a:srgbClr val="000000"/>
                        </a:solidFill>
                        <a:effectLst/>
                        <a:latin typeface="Calibri" pitchFamily="34" charset="0"/>
                      </a:endParaRPr>
                    </a:p>
                  </a:txBody>
                  <a:tcPr marL="257175" marR="9525" marT="9525" marB="0" anchor="ctr"/>
                </a:tc>
                <a:extLst>
                  <a:ext uri="{0D108BD9-81ED-4DB2-BD59-A6C34878D82A}">
                    <a16:rowId xmlns:a16="http://schemas.microsoft.com/office/drawing/2014/main" val="10009"/>
                  </a:ext>
                </a:extLst>
              </a:tr>
              <a:tr h="358795">
                <a:tc>
                  <a:txBody>
                    <a:bodyPr/>
                    <a:lstStyle/>
                    <a:p>
                      <a:pPr algn="l" rtl="0" fontAlgn="ctr"/>
                      <a:r>
                        <a:rPr lang="en-GB" sz="2000" b="0" i="0" u="none" strike="noStrike" dirty="0">
                          <a:solidFill>
                            <a:srgbClr val="000000"/>
                          </a:solidFill>
                          <a:effectLst/>
                          <a:latin typeface="Calibri" pitchFamily="34" charset="0"/>
                        </a:rPr>
                        <a:t>MV Equity</a:t>
                      </a:r>
                    </a:p>
                  </a:txBody>
                  <a:tcPr marL="257175" marR="9525" marT="9525" marB="0" anchor="ctr"/>
                </a:tc>
                <a:tc>
                  <a:txBody>
                    <a:bodyPr/>
                    <a:lstStyle/>
                    <a:p>
                      <a:pPr algn="l" rtl="0" fontAlgn="ctr"/>
                      <a:r>
                        <a:rPr lang="en-GB" sz="2000" b="0" i="0" u="none" strike="noStrike" dirty="0">
                          <a:solidFill>
                            <a:srgbClr val="000000"/>
                          </a:solidFill>
                          <a:effectLst/>
                          <a:latin typeface="Calibri" pitchFamily="34" charset="0"/>
                        </a:rPr>
                        <a:t>$1,073</a:t>
                      </a:r>
                    </a:p>
                  </a:txBody>
                  <a:tcPr marL="257175" marR="9525" marT="9525" marB="0" anchor="ctr"/>
                </a:tc>
                <a:tc>
                  <a:txBody>
                    <a:bodyPr/>
                    <a:lstStyle/>
                    <a:p>
                      <a:pPr algn="l" rtl="0" fontAlgn="ctr"/>
                      <a:r>
                        <a:rPr lang="en-GB" sz="2000" b="0" i="0" u="none" strike="noStrike" dirty="0">
                          <a:solidFill>
                            <a:srgbClr val="000000"/>
                          </a:solidFill>
                          <a:effectLst/>
                          <a:latin typeface="Calibri" pitchFamily="34" charset="0"/>
                        </a:rPr>
                        <a:t>MV Debt</a:t>
                      </a:r>
                    </a:p>
                  </a:txBody>
                  <a:tcPr marL="257175" marR="9525" marT="9525" marB="0" anchor="ctr"/>
                </a:tc>
                <a:tc>
                  <a:txBody>
                    <a:bodyPr/>
                    <a:lstStyle/>
                    <a:p>
                      <a:pPr algn="l" rtl="0" fontAlgn="ctr"/>
                      <a:r>
                        <a:rPr lang="en-GB" sz="2000" b="0" i="0" u="none" strike="noStrike" dirty="0">
                          <a:solidFill>
                            <a:srgbClr val="000000"/>
                          </a:solidFill>
                          <a:effectLst/>
                          <a:latin typeface="Calibri" pitchFamily="34" charset="0"/>
                        </a:rPr>
                        <a:t>$800</a:t>
                      </a:r>
                    </a:p>
                  </a:txBody>
                  <a:tcPr marL="257175" marR="9525" marT="9525" marB="0" anchor="ctr"/>
                </a:tc>
                <a:extLst>
                  <a:ext uri="{0D108BD9-81ED-4DB2-BD59-A6C34878D82A}">
                    <a16:rowId xmlns:a16="http://schemas.microsoft.com/office/drawing/2014/main" val="10010"/>
                  </a:ext>
                </a:extLst>
              </a:tr>
            </a:tbl>
          </a:graphicData>
        </a:graphic>
      </p:graphicFrame>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301752" y="44624"/>
            <a:ext cx="8534400" cy="504056"/>
          </a:xfrm>
          <a:noFill/>
          <a:ln/>
        </p:spPr>
        <p:txBody>
          <a:bodyPr>
            <a:normAutofit fontScale="90000"/>
          </a:bodyPr>
          <a:lstStyle/>
          <a:p>
            <a:r>
              <a:rPr lang="en-US" dirty="0"/>
              <a:t>Discounted Cash Flow Valuation: The Steps</a:t>
            </a: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1720147754"/>
              </p:ext>
            </p:extLst>
          </p:nvPr>
        </p:nvGraphicFramePr>
        <p:xfrm>
          <a:off x="179512" y="764704"/>
          <a:ext cx="8784976" cy="58326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Future Plan</a:t>
            </a: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2690965908"/>
              </p:ext>
            </p:extLst>
          </p:nvPr>
        </p:nvGraphicFramePr>
        <p:xfrm>
          <a:off x="301625" y="1412777"/>
          <a:ext cx="7222703" cy="53285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Left Arrow 5"/>
          <p:cNvSpPr/>
          <p:nvPr/>
        </p:nvSpPr>
        <p:spPr>
          <a:xfrm>
            <a:off x="7704856" y="2987660"/>
            <a:ext cx="1094100" cy="2880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p:cNvSpPr txBox="1"/>
          <p:nvPr/>
        </p:nvSpPr>
        <p:spPr>
          <a:xfrm>
            <a:off x="7452320" y="2165955"/>
            <a:ext cx="1583160" cy="830997"/>
          </a:xfrm>
          <a:prstGeom prst="rect">
            <a:avLst/>
          </a:prstGeom>
          <a:noFill/>
        </p:spPr>
        <p:txBody>
          <a:bodyPr wrap="square" rtlCol="0">
            <a:spAutoFit/>
          </a:bodyPr>
          <a:lstStyle/>
          <a:p>
            <a:pPr algn="ctr"/>
            <a:r>
              <a:rPr lang="en-GB" dirty="0"/>
              <a:t>This Session</a:t>
            </a:r>
          </a:p>
        </p:txBody>
      </p:sp>
      <p:sp>
        <p:nvSpPr>
          <p:cNvPr id="8" name="Rounded Rectangle 7"/>
          <p:cNvSpPr/>
          <p:nvPr/>
        </p:nvSpPr>
        <p:spPr>
          <a:xfrm>
            <a:off x="323528" y="2348880"/>
            <a:ext cx="7128792" cy="1656184"/>
          </a:xfrm>
          <a:prstGeom prst="roundRect">
            <a:avLst/>
          </a:prstGeom>
          <a:solidFill>
            <a:schemeClr val="accent4">
              <a:lumMod val="60000"/>
              <a:lumOff val="40000"/>
              <a:alpha val="18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ctrTitle"/>
          </p:nvPr>
        </p:nvSpPr>
        <p:spPr>
          <a:xfrm>
            <a:off x="611560" y="989856"/>
            <a:ext cx="7772400" cy="1143000"/>
          </a:xfrm>
          <a:noFill/>
          <a:ln/>
        </p:spPr>
        <p:txBody>
          <a:bodyPr>
            <a:noAutofit/>
          </a:bodyPr>
          <a:lstStyle/>
          <a:p>
            <a:pPr lvl="0">
              <a:defRPr/>
            </a:pPr>
            <a:r>
              <a:rPr lang="en-US" sz="6000" dirty="0"/>
              <a:t>Part I: Discounted Cash Flows</a:t>
            </a:r>
          </a:p>
        </p:txBody>
      </p:sp>
      <p:sp>
        <p:nvSpPr>
          <p:cNvPr id="5" name="Rectangle 2"/>
          <p:cNvSpPr txBox="1">
            <a:spLocks noChangeArrowheads="1"/>
          </p:cNvSpPr>
          <p:nvPr/>
        </p:nvSpPr>
        <p:spPr>
          <a:xfrm>
            <a:off x="685800" y="2420888"/>
            <a:ext cx="8134672" cy="4032448"/>
          </a:xfrm>
          <a:prstGeom prst="rect">
            <a:avLst/>
          </a:prstGeom>
          <a:noFill/>
          <a:ln/>
        </p:spPr>
        <p:txBody>
          <a:bodyPr vert="horz" anchor="b">
            <a:normAutofit fontScale="70000" lnSpcReduction="20000"/>
          </a:bodyPr>
          <a:lstStyle/>
          <a:p>
            <a:pPr marL="857250" lvl="0" indent="-857250" algn="ctr" eaLnBrk="1" fontAlgn="auto" hangingPunct="1">
              <a:spcAft>
                <a:spcPts val="0"/>
              </a:spcAft>
            </a:pPr>
            <a:r>
              <a:rPr lang="en-US" sz="5700" dirty="0"/>
              <a:t>The Inputs</a:t>
            </a:r>
          </a:p>
          <a:p>
            <a:pPr marL="742950" marR="0" lvl="0" indent="-742950" defTabSz="914400" rtl="0" eaLnBrk="1" fontAlgn="auto" latinLnBrk="0" hangingPunct="1">
              <a:lnSpc>
                <a:spcPct val="100000"/>
              </a:lnSpc>
              <a:spcBef>
                <a:spcPct val="0"/>
              </a:spcBef>
              <a:spcAft>
                <a:spcPts val="0"/>
              </a:spcAft>
              <a:buClrTx/>
              <a:buSzTx/>
              <a:buFont typeface="+mj-lt"/>
              <a:buAutoNum type="arabicPeriod"/>
              <a:tabLst/>
              <a:defRPr/>
            </a:pPr>
            <a:r>
              <a:rPr kumimoji="0" lang="en-US" sz="4200" b="1" i="0" u="none" strike="noStrike" kern="1200" cap="none" spc="0" normalizeH="0" baseline="0" noProof="0" dirty="0">
                <a:ln>
                  <a:noFill/>
                </a:ln>
                <a:solidFill>
                  <a:srgbClr val="FF0000"/>
                </a:solidFill>
                <a:effectLst/>
                <a:uLnTx/>
                <a:uFillTx/>
                <a:latin typeface="+mj-lt"/>
                <a:ea typeface="+mj-ea"/>
                <a:cs typeface="+mj-cs"/>
              </a:rPr>
              <a:t>Estimating Discount Rates</a:t>
            </a:r>
          </a:p>
          <a:p>
            <a:pPr marL="1200150" lvl="1" indent="-742950" eaLnBrk="1" fontAlgn="auto" hangingPunct="1">
              <a:spcAft>
                <a:spcPts val="0"/>
              </a:spcAft>
              <a:buFont typeface="+mj-lt"/>
              <a:buAutoNum type="alphaUcPeriod"/>
              <a:defRPr/>
            </a:pPr>
            <a:r>
              <a:rPr lang="en-US" sz="4200" b="1" noProof="0" dirty="0">
                <a:solidFill>
                  <a:srgbClr val="FF0000"/>
                </a:solidFill>
                <a:latin typeface="+mj-lt"/>
                <a:ea typeface="+mj-ea"/>
                <a:cs typeface="+mj-cs"/>
              </a:rPr>
              <a:t>Cost of Equity</a:t>
            </a:r>
          </a:p>
          <a:p>
            <a:pPr marL="1657350" lvl="2" indent="-742950" eaLnBrk="1" fontAlgn="auto" hangingPunct="1">
              <a:spcAft>
                <a:spcPts val="0"/>
              </a:spcAft>
              <a:buFont typeface="+mj-lt"/>
              <a:buAutoNum type="alphaLcPeriod"/>
              <a:defRPr/>
            </a:pPr>
            <a:r>
              <a:rPr lang="en-US" sz="4200" b="1" dirty="0">
                <a:solidFill>
                  <a:srgbClr val="FF0000"/>
                </a:solidFill>
                <a:latin typeface="+mj-lt"/>
                <a:ea typeface="+mj-ea"/>
                <a:cs typeface="+mj-cs"/>
              </a:rPr>
              <a:t>Implied Rate</a:t>
            </a:r>
          </a:p>
          <a:p>
            <a:pPr marL="1657350" lvl="2" indent="-742950" eaLnBrk="1" fontAlgn="auto" hangingPunct="1">
              <a:spcAft>
                <a:spcPts val="0"/>
              </a:spcAft>
              <a:buFont typeface="+mj-lt"/>
              <a:buAutoNum type="alphaLcPeriod"/>
              <a:defRPr/>
            </a:pPr>
            <a:r>
              <a:rPr lang="en-US" sz="4200" b="1" noProof="0" dirty="0">
                <a:solidFill>
                  <a:srgbClr val="FF0000"/>
                </a:solidFill>
                <a:latin typeface="+mj-lt"/>
                <a:ea typeface="+mj-ea"/>
                <a:cs typeface="+mj-cs"/>
              </a:rPr>
              <a:t>CAPM</a:t>
            </a:r>
          </a:p>
          <a:p>
            <a:pPr marL="1200150" lvl="1" indent="-742950" eaLnBrk="1" fontAlgn="auto" hangingPunct="1">
              <a:spcAft>
                <a:spcPts val="0"/>
              </a:spcAft>
              <a:buFont typeface="+mj-lt"/>
              <a:buAutoNum type="alphaUcPeriod"/>
              <a:defRPr/>
            </a:pPr>
            <a:r>
              <a:rPr lang="en-US" sz="4200" b="1" noProof="0" dirty="0">
                <a:solidFill>
                  <a:srgbClr val="FF0000"/>
                </a:solidFill>
                <a:latin typeface="+mj-lt"/>
                <a:ea typeface="+mj-ea"/>
                <a:cs typeface="+mj-cs"/>
              </a:rPr>
              <a:t>Cost of Debt</a:t>
            </a:r>
          </a:p>
          <a:p>
            <a:pPr marL="1657350" lvl="2" indent="-742950" eaLnBrk="1" fontAlgn="auto" hangingPunct="1">
              <a:spcAft>
                <a:spcPts val="0"/>
              </a:spcAft>
              <a:buFont typeface="+mj-lt"/>
              <a:buAutoNum type="alphaLcPeriod"/>
              <a:defRPr/>
            </a:pPr>
            <a:r>
              <a:rPr lang="en-US" sz="4200" b="1" dirty="0">
                <a:solidFill>
                  <a:srgbClr val="FF0000"/>
                </a:solidFill>
                <a:latin typeface="+mj-lt"/>
                <a:ea typeface="+mj-ea"/>
                <a:cs typeface="+mj-cs"/>
              </a:rPr>
              <a:t>Cost of Bonds</a:t>
            </a:r>
            <a:endParaRPr lang="en-US" sz="4200" b="1" noProof="0" dirty="0">
              <a:solidFill>
                <a:srgbClr val="FF0000"/>
              </a:solidFill>
              <a:latin typeface="+mj-lt"/>
              <a:ea typeface="+mj-ea"/>
              <a:cs typeface="+mj-cs"/>
            </a:endParaRPr>
          </a:p>
          <a:p>
            <a:pPr marL="1657350" lvl="2" indent="-742950" eaLnBrk="1" fontAlgn="auto" hangingPunct="1">
              <a:spcAft>
                <a:spcPts val="0"/>
              </a:spcAft>
              <a:buFont typeface="+mj-lt"/>
              <a:buAutoNum type="alphaLcPeriod"/>
              <a:defRPr/>
            </a:pPr>
            <a:r>
              <a:rPr kumimoji="0" lang="en-US" sz="4200" b="1" i="0" u="none" strike="noStrike" kern="1200" cap="none" spc="0" normalizeH="0" baseline="0" dirty="0">
                <a:ln>
                  <a:noFill/>
                </a:ln>
                <a:solidFill>
                  <a:srgbClr val="FF0000"/>
                </a:solidFill>
                <a:effectLst/>
                <a:uLnTx/>
                <a:uFillTx/>
                <a:latin typeface="+mj-lt"/>
                <a:ea typeface="+mj-ea"/>
                <a:cs typeface="+mj-cs"/>
              </a:rPr>
              <a:t>Cost</a:t>
            </a:r>
            <a:r>
              <a:rPr kumimoji="0" lang="en-US" sz="4200" b="1" i="0" u="none" strike="noStrike" kern="1200" cap="none" spc="0" normalizeH="0" dirty="0">
                <a:ln>
                  <a:noFill/>
                </a:ln>
                <a:solidFill>
                  <a:srgbClr val="FF0000"/>
                </a:solidFill>
                <a:effectLst/>
                <a:uLnTx/>
                <a:uFillTx/>
                <a:latin typeface="+mj-lt"/>
                <a:ea typeface="+mj-ea"/>
                <a:cs typeface="+mj-cs"/>
              </a:rPr>
              <a:t> of Hybrid Financing</a:t>
            </a:r>
            <a:endParaRPr kumimoji="0" lang="en-US" sz="4200" b="1" i="0" u="none" strike="noStrike" kern="1200" cap="none" spc="0" normalizeH="0" baseline="0" noProof="0" dirty="0">
              <a:ln>
                <a:noFill/>
              </a:ln>
              <a:solidFill>
                <a:srgbClr val="FF0000"/>
              </a:solidFill>
              <a:effectLst/>
              <a:uLnTx/>
              <a:uFillTx/>
              <a:latin typeface="+mj-lt"/>
              <a:ea typeface="+mj-ea"/>
              <a:cs typeface="+mj-cs"/>
            </a:endParaRPr>
          </a:p>
          <a:p>
            <a:pPr marL="742950" marR="0" lvl="0" indent="-742950" defTabSz="914400" rtl="0" eaLnBrk="1" fontAlgn="auto" latinLnBrk="0" hangingPunct="1">
              <a:lnSpc>
                <a:spcPct val="100000"/>
              </a:lnSpc>
              <a:spcBef>
                <a:spcPct val="0"/>
              </a:spcBef>
              <a:spcAft>
                <a:spcPts val="0"/>
              </a:spcAft>
              <a:buClrTx/>
              <a:buSzTx/>
              <a:buFont typeface="+mj-lt"/>
              <a:buAutoNum type="arabicPeriod"/>
              <a:tabLst/>
              <a:defRPr/>
            </a:pPr>
            <a:r>
              <a:rPr lang="en-US" sz="4200" dirty="0">
                <a:solidFill>
                  <a:schemeClr val="accent1"/>
                </a:solidFill>
                <a:latin typeface="+mj-lt"/>
                <a:ea typeface="+mj-ea"/>
                <a:cs typeface="+mj-cs"/>
              </a:rPr>
              <a:t>Estimating Cash Flows</a:t>
            </a:r>
          </a:p>
          <a:p>
            <a:pPr marL="742950" marR="0" lvl="0" indent="-742950" defTabSz="914400" rtl="0" eaLnBrk="1" fontAlgn="auto" latinLnBrk="0" hangingPunct="1">
              <a:lnSpc>
                <a:spcPct val="100000"/>
              </a:lnSpc>
              <a:spcBef>
                <a:spcPct val="0"/>
              </a:spcBef>
              <a:spcAft>
                <a:spcPts val="0"/>
              </a:spcAft>
              <a:buClrTx/>
              <a:buSzTx/>
              <a:buFont typeface="+mj-lt"/>
              <a:buAutoNum type="arabicPeriod"/>
              <a:tabLst/>
              <a:defRPr/>
            </a:pPr>
            <a:r>
              <a:rPr kumimoji="0" lang="en-US" sz="4200" b="0" i="0" u="none" strike="noStrike" kern="1200" cap="none" spc="0" normalizeH="0" baseline="0" noProof="0" dirty="0">
                <a:ln>
                  <a:noFill/>
                </a:ln>
                <a:solidFill>
                  <a:schemeClr val="accent1"/>
                </a:solidFill>
                <a:effectLst/>
                <a:uLnTx/>
                <a:uFillTx/>
                <a:latin typeface="+mj-lt"/>
                <a:ea typeface="+mj-ea"/>
                <a:cs typeface="+mj-cs"/>
              </a:rPr>
              <a:t>Estimating Growth</a:t>
            </a:r>
          </a:p>
        </p:txBody>
      </p:sp>
      <p:sp>
        <p:nvSpPr>
          <p:cNvPr id="6" name="Oval 5"/>
          <p:cNvSpPr/>
          <p:nvPr/>
        </p:nvSpPr>
        <p:spPr>
          <a:xfrm>
            <a:off x="179512" y="2708920"/>
            <a:ext cx="8676456" cy="3240360"/>
          </a:xfrm>
          <a:prstGeom prst="ellipse">
            <a:avLst/>
          </a:prstGeom>
          <a:solidFill>
            <a:srgbClr val="00B0F0">
              <a:alpha val="15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95FCF-8DB1-2A30-5729-B60EFC9888CE}"/>
              </a:ext>
            </a:extLst>
          </p:cNvPr>
          <p:cNvSpPr>
            <a:spLocks noGrp="1"/>
          </p:cNvSpPr>
          <p:nvPr>
            <p:ph type="title"/>
          </p:nvPr>
        </p:nvSpPr>
        <p:spPr/>
        <p:txBody>
          <a:bodyPr/>
          <a:lstStyle/>
          <a:p>
            <a:r>
              <a:rPr lang="en-GB" dirty="0"/>
              <a:t>Carrefour vs SpaceX</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4" name="Content Placeholder 3">
                <a:extLst>
                  <a:ext uri="{FF2B5EF4-FFF2-40B4-BE49-F238E27FC236}">
                    <a16:creationId xmlns:a16="http://schemas.microsoft.com/office/drawing/2014/main" id="{8C93DD93-FBA0-5E8F-29A9-AC815C408E3E}"/>
                  </a:ext>
                </a:extLst>
              </p:cNvPr>
              <p:cNvGraphicFramePr>
                <a:graphicFrameLocks noGrp="1"/>
              </p:cNvGraphicFramePr>
              <p:nvPr>
                <p:ph sz="quarter" idx="1"/>
                <p:extLst>
                  <p:ext uri="{D42A27DB-BD31-4B8C-83A1-F6EECF244321}">
                    <p14:modId xmlns:p14="http://schemas.microsoft.com/office/powerpoint/2010/main" val="2402242700"/>
                  </p:ext>
                </p:extLst>
              </p:nvPr>
            </p:nvGraphicFramePr>
            <p:xfrm>
              <a:off x="107504" y="1527174"/>
              <a:ext cx="8698359" cy="5070177"/>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4" name="Content Placeholder 3">
                <a:extLst>
                  <a:ext uri="{FF2B5EF4-FFF2-40B4-BE49-F238E27FC236}">
                    <a16:creationId xmlns:a16="http://schemas.microsoft.com/office/drawing/2014/main" id="{8C93DD93-FBA0-5E8F-29A9-AC815C408E3E}"/>
                  </a:ext>
                </a:extLst>
              </p:cNvPr>
              <p:cNvPicPr>
                <a:picLocks noGrp="1" noRot="1" noChangeAspect="1" noMove="1" noResize="1" noEditPoints="1" noAdjustHandles="1" noChangeArrowheads="1" noChangeShapeType="1"/>
              </p:cNvPicPr>
              <p:nvPr/>
            </p:nvPicPr>
            <p:blipFill>
              <a:blip r:embed="rId3"/>
              <a:stretch>
                <a:fillRect/>
              </a:stretch>
            </p:blipFill>
            <p:spPr>
              <a:xfrm>
                <a:off x="107504" y="1527174"/>
                <a:ext cx="8698359" cy="5070177"/>
              </a:xfrm>
              <a:prstGeom prst="rect">
                <a:avLst/>
              </a:prstGeom>
            </p:spPr>
          </p:pic>
        </mc:Fallback>
      </mc:AlternateContent>
    </p:spTree>
    <p:extLst>
      <p:ext uri="{BB962C8B-B14F-4D97-AF65-F5344CB8AC3E}">
        <p14:creationId xmlns:p14="http://schemas.microsoft.com/office/powerpoint/2010/main" val="25021664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6288" y="332656"/>
            <a:ext cx="8506192" cy="782960"/>
          </a:xfrm>
        </p:spPr>
        <p:txBody>
          <a:bodyPr>
            <a:noAutofit/>
          </a:bodyPr>
          <a:lstStyle/>
          <a:p>
            <a:pPr algn="ctr"/>
            <a:r>
              <a:rPr lang="en-GB" sz="2800" b="1" dirty="0"/>
              <a:t>The return of the investor is the cost of capital for the company</a:t>
            </a:r>
          </a:p>
        </p:txBody>
      </p:sp>
      <p:graphicFrame>
        <p:nvGraphicFramePr>
          <p:cNvPr id="4" name="Content Placeholder 3"/>
          <p:cNvGraphicFramePr>
            <a:graphicFrameLocks/>
          </p:cNvGraphicFramePr>
          <p:nvPr>
            <p:extLst>
              <p:ext uri="{D42A27DB-BD31-4B8C-83A1-F6EECF244321}">
                <p14:modId xmlns:p14="http://schemas.microsoft.com/office/powerpoint/2010/main" val="2609184844"/>
              </p:ext>
            </p:extLst>
          </p:nvPr>
        </p:nvGraphicFramePr>
        <p:xfrm>
          <a:off x="395536" y="1743546"/>
          <a:ext cx="8429625" cy="43497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784442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2"/>
          <p:cNvSpPr>
            <a:spLocks noGrp="1" noChangeArrowheads="1"/>
          </p:cNvSpPr>
          <p:nvPr>
            <p:ph type="title"/>
          </p:nvPr>
        </p:nvSpPr>
        <p:spPr>
          <a:xfrm>
            <a:off x="612775" y="228600"/>
            <a:ext cx="8153400" cy="680120"/>
          </a:xfrm>
        </p:spPr>
        <p:txBody>
          <a:bodyPr/>
          <a:lstStyle/>
          <a:p>
            <a:pPr eaLnBrk="1" hangingPunct="1"/>
            <a:r>
              <a:rPr lang="en-US" dirty="0"/>
              <a:t>BUT: What is Risk?</a:t>
            </a:r>
          </a:p>
        </p:txBody>
      </p:sp>
      <p:sp>
        <p:nvSpPr>
          <p:cNvPr id="142338" name="Rectangle 3"/>
          <p:cNvSpPr>
            <a:spLocks noGrp="1" noChangeArrowheads="1"/>
          </p:cNvSpPr>
          <p:nvPr>
            <p:ph sz="quarter" idx="1"/>
          </p:nvPr>
        </p:nvSpPr>
        <p:spPr>
          <a:xfrm>
            <a:off x="612775" y="1600200"/>
            <a:ext cx="8153400" cy="4495800"/>
          </a:xfrm>
        </p:spPr>
        <p:txBody>
          <a:bodyPr>
            <a:normAutofit/>
          </a:bodyPr>
          <a:lstStyle/>
          <a:p>
            <a:pPr eaLnBrk="1" hangingPunct="1">
              <a:lnSpc>
                <a:spcPct val="90000"/>
              </a:lnSpc>
            </a:pPr>
            <a:r>
              <a:rPr lang="en-US" dirty="0"/>
              <a:t>Risk, in traditional terms, is viewed as a </a:t>
            </a:r>
            <a:r>
              <a:rPr lang="ja-JP" altLang="en-US" dirty="0"/>
              <a:t>‘</a:t>
            </a:r>
            <a:r>
              <a:rPr lang="en-US" altLang="ja-JP" dirty="0"/>
              <a:t>negative</a:t>
            </a:r>
            <a:r>
              <a:rPr lang="ja-JP" altLang="en-US" dirty="0"/>
              <a:t>’</a:t>
            </a:r>
            <a:r>
              <a:rPr lang="en-US" altLang="ja-JP" dirty="0"/>
              <a:t>. Webster</a:t>
            </a:r>
            <a:r>
              <a:rPr lang="ja-JP" altLang="en-US" dirty="0"/>
              <a:t>’</a:t>
            </a:r>
            <a:r>
              <a:rPr lang="en-US" altLang="ja-JP" dirty="0"/>
              <a:t>s dictionary, for instance, defines risk as </a:t>
            </a:r>
            <a:r>
              <a:rPr lang="ja-JP" altLang="en-US" dirty="0"/>
              <a:t>“</a:t>
            </a:r>
            <a:r>
              <a:rPr lang="en-US" altLang="ja-JP" dirty="0"/>
              <a:t>exposing to danger or hazard</a:t>
            </a:r>
            <a:r>
              <a:rPr lang="ja-JP" altLang="en-US" dirty="0"/>
              <a:t>”</a:t>
            </a:r>
            <a:r>
              <a:rPr lang="en-US" altLang="ja-JP" dirty="0"/>
              <a:t>. The Chinese symbols for risk, reproduced below, give a much better description of risk</a:t>
            </a:r>
          </a:p>
          <a:p>
            <a:pPr marL="319088" lvl="1" indent="0" algn="ctr" eaLnBrk="1" hangingPunct="1">
              <a:lnSpc>
                <a:spcPct val="90000"/>
              </a:lnSpc>
              <a:buFont typeface="Wingdings 2" pitchFamily="18" charset="2"/>
              <a:buNone/>
            </a:pPr>
            <a:r>
              <a:rPr lang="en-US" altLang="en-US" sz="4000" dirty="0" err="1"/>
              <a:t>危機</a:t>
            </a:r>
            <a:endParaRPr lang="en-US" sz="4000" dirty="0"/>
          </a:p>
          <a:p>
            <a:pPr eaLnBrk="1" hangingPunct="1">
              <a:lnSpc>
                <a:spcPct val="90000"/>
              </a:lnSpc>
            </a:pPr>
            <a:r>
              <a:rPr lang="en-US" dirty="0"/>
              <a:t>The first symbol is the symbol for </a:t>
            </a:r>
            <a:r>
              <a:rPr lang="ja-JP" altLang="en-US" dirty="0"/>
              <a:t>“</a:t>
            </a:r>
            <a:r>
              <a:rPr lang="en-US" altLang="ja-JP" dirty="0"/>
              <a:t>danger</a:t>
            </a:r>
            <a:r>
              <a:rPr lang="ja-JP" altLang="en-US" dirty="0"/>
              <a:t>”</a:t>
            </a:r>
            <a:r>
              <a:rPr lang="en-US" altLang="ja-JP" dirty="0"/>
              <a:t>, while the second is the symbol for </a:t>
            </a:r>
            <a:r>
              <a:rPr lang="ja-JP" altLang="en-US" dirty="0"/>
              <a:t>“</a:t>
            </a:r>
            <a:r>
              <a:rPr lang="en-US" altLang="ja-JP" dirty="0"/>
              <a:t>opportunity</a:t>
            </a:r>
            <a:r>
              <a:rPr lang="ja-JP" altLang="en-US" dirty="0"/>
              <a:t>”</a:t>
            </a:r>
            <a:r>
              <a:rPr lang="en-US" altLang="ja-JP" dirty="0"/>
              <a:t>, making risk a mix of danger and opportunity. You cannot have one, without the other.</a:t>
            </a:r>
            <a:endParaRPr lang="en-US" dirty="0"/>
          </a:p>
        </p:txBody>
      </p:sp>
    </p:spTree>
    <p:extLst>
      <p:ext uri="{BB962C8B-B14F-4D97-AF65-F5344CB8AC3E}">
        <p14:creationId xmlns:p14="http://schemas.microsoft.com/office/powerpoint/2010/main" val="2815830343"/>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p:cNvSpPr>
            <a:spLocks noGrp="1" noChangeArrowheads="1"/>
          </p:cNvSpPr>
          <p:nvPr>
            <p:ph type="title"/>
          </p:nvPr>
        </p:nvSpPr>
        <p:spPr>
          <a:xfrm>
            <a:off x="179512" y="260648"/>
            <a:ext cx="8712968" cy="864096"/>
          </a:xfrm>
        </p:spPr>
        <p:txBody>
          <a:bodyPr>
            <a:noAutofit/>
          </a:bodyPr>
          <a:lstStyle/>
          <a:p>
            <a:pPr algn="ctr" eaLnBrk="1" hangingPunct="1"/>
            <a:r>
              <a:rPr lang="en-US" sz="2400" dirty="0"/>
              <a:t>Risk is measured by the </a:t>
            </a:r>
            <a:r>
              <a:rPr lang="en-US" sz="3600" dirty="0"/>
              <a:t>Standard Deviation </a:t>
            </a:r>
            <a:r>
              <a:rPr lang="en-US" sz="2400" dirty="0"/>
              <a:t>of returns of a security.</a:t>
            </a:r>
          </a:p>
        </p:txBody>
      </p:sp>
      <p:grpSp>
        <p:nvGrpSpPr>
          <p:cNvPr id="2" name="Group 4"/>
          <p:cNvGrpSpPr>
            <a:grpSpLocks/>
          </p:cNvGrpSpPr>
          <p:nvPr/>
        </p:nvGrpSpPr>
        <p:grpSpPr bwMode="auto">
          <a:xfrm>
            <a:off x="1242764" y="1772817"/>
            <a:ext cx="7001644" cy="2728950"/>
            <a:chOff x="564" y="2112"/>
            <a:chExt cx="4728" cy="2026"/>
          </a:xfrm>
        </p:grpSpPr>
        <p:graphicFrame>
          <p:nvGraphicFramePr>
            <p:cNvPr id="24582" name="Object 5"/>
            <p:cNvGraphicFramePr>
              <a:graphicFrameLocks/>
            </p:cNvGraphicFramePr>
            <p:nvPr/>
          </p:nvGraphicFramePr>
          <p:xfrm>
            <a:off x="1344" y="2112"/>
            <a:ext cx="2362" cy="1248"/>
          </p:xfrm>
          <a:graphic>
            <a:graphicData uri="http://schemas.openxmlformats.org/presentationml/2006/ole">
              <mc:AlternateContent xmlns:mc="http://schemas.openxmlformats.org/markup-compatibility/2006">
                <mc:Choice xmlns:v="urn:schemas-microsoft-com:vml" Requires="v">
                  <p:oleObj name="VISIO" r:id="rId3" imgW="3749675" imgH="3889375" progId="">
                    <p:embed/>
                  </p:oleObj>
                </mc:Choice>
                <mc:Fallback>
                  <p:oleObj name="VISIO" r:id="rId3" imgW="3749675" imgH="3889375" progId="">
                    <p:embed/>
                    <p:pic>
                      <p:nvPicPr>
                        <p:cNvPr id="24582" name="Object 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4" y="2112"/>
                          <a:ext cx="2362" cy="1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583" name="Object 6"/>
            <p:cNvGraphicFramePr>
              <a:graphicFrameLocks/>
            </p:cNvGraphicFramePr>
            <p:nvPr/>
          </p:nvGraphicFramePr>
          <p:xfrm>
            <a:off x="622" y="2640"/>
            <a:ext cx="3815" cy="720"/>
          </p:xfrm>
          <a:graphic>
            <a:graphicData uri="http://schemas.openxmlformats.org/presentationml/2006/ole">
              <mc:AlternateContent xmlns:mc="http://schemas.openxmlformats.org/markup-compatibility/2006">
                <mc:Choice xmlns:v="urn:schemas-microsoft-com:vml" Requires="v">
                  <p:oleObj name="VISIO" r:id="rId5" imgW="6056313" imgH="1879600" progId="">
                    <p:embed/>
                  </p:oleObj>
                </mc:Choice>
                <mc:Fallback>
                  <p:oleObj name="VISIO" r:id="rId5" imgW="6056313" imgH="1879600" progId="">
                    <p:embed/>
                    <p:pic>
                      <p:nvPicPr>
                        <p:cNvPr id="24583" name="Object 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2" y="2640"/>
                          <a:ext cx="3815" cy="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584" name="Line 7"/>
            <p:cNvSpPr>
              <a:spLocks noChangeShapeType="1"/>
            </p:cNvSpPr>
            <p:nvPr/>
          </p:nvSpPr>
          <p:spPr bwMode="auto">
            <a:xfrm>
              <a:off x="1859" y="2112"/>
              <a:ext cx="0" cy="1219"/>
            </a:xfrm>
            <a:prstGeom prst="line">
              <a:avLst/>
            </a:prstGeom>
            <a:noFill/>
            <a:ln w="25400">
              <a:solidFill>
                <a:schemeClr val="tx1"/>
              </a:solidFill>
              <a:round/>
              <a:headEnd type="none" w="sm" len="sm"/>
              <a:tailEnd type="none" w="sm" len="sm"/>
            </a:ln>
          </p:spPr>
          <p:txBody>
            <a:bodyPr wrap="none" anchor="ctr"/>
            <a:lstStyle/>
            <a:p>
              <a:endParaRPr lang="en-GB"/>
            </a:p>
          </p:txBody>
        </p:sp>
        <p:sp>
          <p:nvSpPr>
            <p:cNvPr id="24585" name="Line 8"/>
            <p:cNvSpPr>
              <a:spLocks noChangeShapeType="1"/>
            </p:cNvSpPr>
            <p:nvPr/>
          </p:nvSpPr>
          <p:spPr bwMode="auto">
            <a:xfrm>
              <a:off x="564" y="3331"/>
              <a:ext cx="3791" cy="0"/>
            </a:xfrm>
            <a:prstGeom prst="line">
              <a:avLst/>
            </a:prstGeom>
            <a:noFill/>
            <a:ln w="25400">
              <a:solidFill>
                <a:schemeClr val="tx1"/>
              </a:solidFill>
              <a:round/>
              <a:headEnd type="none" w="sm" len="sm"/>
              <a:tailEnd type="none" w="sm" len="sm"/>
            </a:ln>
          </p:spPr>
          <p:txBody>
            <a:bodyPr wrap="none" anchor="ctr"/>
            <a:lstStyle/>
            <a:p>
              <a:endParaRPr lang="en-GB"/>
            </a:p>
          </p:txBody>
        </p:sp>
        <p:sp>
          <p:nvSpPr>
            <p:cNvPr id="24586" name="Line 9"/>
            <p:cNvSpPr>
              <a:spLocks noChangeShapeType="1"/>
            </p:cNvSpPr>
            <p:nvPr/>
          </p:nvSpPr>
          <p:spPr bwMode="auto">
            <a:xfrm>
              <a:off x="2531" y="2208"/>
              <a:ext cx="0" cy="1123"/>
            </a:xfrm>
            <a:prstGeom prst="line">
              <a:avLst/>
            </a:prstGeom>
            <a:noFill/>
            <a:ln w="25400">
              <a:solidFill>
                <a:schemeClr val="tx1"/>
              </a:solidFill>
              <a:prstDash val="lgDash"/>
              <a:round/>
              <a:headEnd type="none" w="sm" len="sm"/>
              <a:tailEnd type="none" w="sm" len="sm"/>
            </a:ln>
          </p:spPr>
          <p:txBody>
            <a:bodyPr wrap="none" anchor="ctr"/>
            <a:lstStyle/>
            <a:p>
              <a:endParaRPr lang="en-GB"/>
            </a:p>
          </p:txBody>
        </p:sp>
        <p:sp>
          <p:nvSpPr>
            <p:cNvPr id="24587" name="Rectangle 10"/>
            <p:cNvSpPr>
              <a:spLocks noChangeArrowheads="1"/>
            </p:cNvSpPr>
            <p:nvPr/>
          </p:nvSpPr>
          <p:spPr bwMode="auto">
            <a:xfrm>
              <a:off x="1632" y="3840"/>
              <a:ext cx="2405" cy="298"/>
            </a:xfrm>
            <a:prstGeom prst="rect">
              <a:avLst/>
            </a:prstGeom>
            <a:noFill/>
            <a:ln w="9525">
              <a:noFill/>
              <a:miter lim="800000"/>
              <a:headEnd/>
              <a:tailEnd/>
            </a:ln>
          </p:spPr>
          <p:txBody>
            <a:bodyPr wrap="none" lIns="92075" tIns="46038" rIns="92075" bIns="46038">
              <a:spAutoFit/>
            </a:bodyPr>
            <a:lstStyle/>
            <a:p>
              <a:pPr eaLnBrk="0" hangingPunct="0"/>
              <a:r>
                <a:rPr lang="en-US" sz="2000" b="1" dirty="0"/>
                <a:t>Expected Rate of Return E(</a:t>
              </a:r>
              <a:r>
                <a:rPr lang="en-US" sz="2000" b="1" dirty="0" err="1"/>
                <a:t>Ri</a:t>
              </a:r>
              <a:r>
                <a:rPr lang="en-US" sz="2000" b="1" dirty="0"/>
                <a:t>)</a:t>
              </a:r>
            </a:p>
          </p:txBody>
        </p:sp>
        <p:sp>
          <p:nvSpPr>
            <p:cNvPr id="24588" name="AutoShape 11"/>
            <p:cNvSpPr>
              <a:spLocks noChangeArrowheads="1"/>
            </p:cNvSpPr>
            <p:nvPr/>
          </p:nvSpPr>
          <p:spPr bwMode="auto">
            <a:xfrm>
              <a:off x="2496" y="3552"/>
              <a:ext cx="130" cy="264"/>
            </a:xfrm>
            <a:prstGeom prst="upArrow">
              <a:avLst>
                <a:gd name="adj1" fmla="val 50000"/>
                <a:gd name="adj2" fmla="val 101510"/>
              </a:avLst>
            </a:prstGeom>
            <a:solidFill>
              <a:schemeClr val="folHlink"/>
            </a:solidFill>
            <a:ln w="12700">
              <a:solidFill>
                <a:schemeClr val="tx1"/>
              </a:solidFill>
              <a:miter lim="800000"/>
              <a:headEnd/>
              <a:tailEnd/>
            </a:ln>
          </p:spPr>
          <p:txBody>
            <a:bodyPr wrap="none" anchor="ctr"/>
            <a:lstStyle/>
            <a:p>
              <a:endParaRPr lang="cy-GB"/>
            </a:p>
          </p:txBody>
        </p:sp>
        <p:sp>
          <p:nvSpPr>
            <p:cNvPr id="24589" name="Rectangle 12"/>
            <p:cNvSpPr>
              <a:spLocks noChangeArrowheads="1"/>
            </p:cNvSpPr>
            <p:nvPr/>
          </p:nvSpPr>
          <p:spPr bwMode="auto">
            <a:xfrm>
              <a:off x="4368" y="3120"/>
              <a:ext cx="924" cy="442"/>
            </a:xfrm>
            <a:prstGeom prst="rect">
              <a:avLst/>
            </a:prstGeom>
            <a:noFill/>
            <a:ln w="9525">
              <a:noFill/>
              <a:miter lim="800000"/>
              <a:headEnd/>
              <a:tailEnd/>
            </a:ln>
          </p:spPr>
          <p:txBody>
            <a:bodyPr wrap="none" lIns="92075" tIns="46038" rIns="92075" bIns="46038">
              <a:spAutoFit/>
            </a:bodyPr>
            <a:lstStyle/>
            <a:p>
              <a:pPr eaLnBrk="0" hangingPunct="0"/>
              <a:r>
                <a:rPr lang="en-US" sz="2000" b="1"/>
                <a:t>Rate of</a:t>
              </a:r>
            </a:p>
            <a:p>
              <a:pPr eaLnBrk="0" hangingPunct="0"/>
              <a:r>
                <a:rPr lang="en-US" sz="2000" b="1"/>
                <a:t>Return (%)</a:t>
              </a:r>
            </a:p>
          </p:txBody>
        </p:sp>
        <p:sp>
          <p:nvSpPr>
            <p:cNvPr id="24590" name="Rectangle 13"/>
            <p:cNvSpPr>
              <a:spLocks noChangeArrowheads="1"/>
            </p:cNvSpPr>
            <p:nvPr/>
          </p:nvSpPr>
          <p:spPr bwMode="auto">
            <a:xfrm>
              <a:off x="3769" y="3331"/>
              <a:ext cx="383" cy="250"/>
            </a:xfrm>
            <a:prstGeom prst="rect">
              <a:avLst/>
            </a:prstGeom>
            <a:noFill/>
            <a:ln w="9525">
              <a:noFill/>
              <a:miter lim="800000"/>
              <a:headEnd/>
              <a:tailEnd/>
            </a:ln>
          </p:spPr>
          <p:txBody>
            <a:bodyPr wrap="none" lIns="92075" tIns="46038" rIns="92075" bIns="46038">
              <a:spAutoFit/>
            </a:bodyPr>
            <a:lstStyle/>
            <a:p>
              <a:pPr eaLnBrk="0" hangingPunct="0"/>
              <a:r>
                <a:rPr lang="en-US" sz="2000" b="1" dirty="0"/>
                <a:t>100</a:t>
              </a:r>
            </a:p>
          </p:txBody>
        </p:sp>
        <p:sp>
          <p:nvSpPr>
            <p:cNvPr id="24591" name="Rectangle 14"/>
            <p:cNvSpPr>
              <a:spLocks noChangeArrowheads="1"/>
            </p:cNvSpPr>
            <p:nvPr/>
          </p:nvSpPr>
          <p:spPr bwMode="auto">
            <a:xfrm>
              <a:off x="2425" y="3331"/>
              <a:ext cx="294" cy="250"/>
            </a:xfrm>
            <a:prstGeom prst="rect">
              <a:avLst/>
            </a:prstGeom>
            <a:noFill/>
            <a:ln w="9525">
              <a:noFill/>
              <a:miter lim="800000"/>
              <a:headEnd/>
              <a:tailEnd/>
            </a:ln>
          </p:spPr>
          <p:txBody>
            <a:bodyPr wrap="none" lIns="92075" tIns="46038" rIns="92075" bIns="46038">
              <a:spAutoFit/>
            </a:bodyPr>
            <a:lstStyle/>
            <a:p>
              <a:pPr eaLnBrk="0" hangingPunct="0"/>
              <a:r>
                <a:rPr lang="en-US" sz="2000" b="1"/>
                <a:t>15</a:t>
              </a:r>
            </a:p>
          </p:txBody>
        </p:sp>
        <p:sp>
          <p:nvSpPr>
            <p:cNvPr id="24592" name="Rectangle 15"/>
            <p:cNvSpPr>
              <a:spLocks noChangeArrowheads="1"/>
            </p:cNvSpPr>
            <p:nvPr/>
          </p:nvSpPr>
          <p:spPr bwMode="auto">
            <a:xfrm>
              <a:off x="1753" y="3331"/>
              <a:ext cx="205" cy="250"/>
            </a:xfrm>
            <a:prstGeom prst="rect">
              <a:avLst/>
            </a:prstGeom>
            <a:noFill/>
            <a:ln w="9525">
              <a:noFill/>
              <a:miter lim="800000"/>
              <a:headEnd/>
              <a:tailEnd/>
            </a:ln>
          </p:spPr>
          <p:txBody>
            <a:bodyPr wrap="none" lIns="92075" tIns="46038" rIns="92075" bIns="46038">
              <a:spAutoFit/>
            </a:bodyPr>
            <a:lstStyle/>
            <a:p>
              <a:pPr eaLnBrk="0" hangingPunct="0"/>
              <a:r>
                <a:rPr lang="en-US" sz="2000" b="1"/>
                <a:t>0</a:t>
              </a:r>
            </a:p>
          </p:txBody>
        </p:sp>
        <p:sp>
          <p:nvSpPr>
            <p:cNvPr id="24593" name="Rectangle 16"/>
            <p:cNvSpPr>
              <a:spLocks noChangeArrowheads="1"/>
            </p:cNvSpPr>
            <p:nvPr/>
          </p:nvSpPr>
          <p:spPr bwMode="auto">
            <a:xfrm>
              <a:off x="649" y="3331"/>
              <a:ext cx="347" cy="250"/>
            </a:xfrm>
            <a:prstGeom prst="rect">
              <a:avLst/>
            </a:prstGeom>
            <a:noFill/>
            <a:ln w="9525">
              <a:noFill/>
              <a:miter lim="800000"/>
              <a:headEnd/>
              <a:tailEnd/>
            </a:ln>
          </p:spPr>
          <p:txBody>
            <a:bodyPr wrap="none" lIns="92075" tIns="46038" rIns="92075" bIns="46038">
              <a:spAutoFit/>
            </a:bodyPr>
            <a:lstStyle/>
            <a:p>
              <a:pPr eaLnBrk="0" hangingPunct="0"/>
              <a:r>
                <a:rPr lang="en-US" sz="2000" b="1"/>
                <a:t>-70</a:t>
              </a:r>
            </a:p>
          </p:txBody>
        </p:sp>
        <p:sp>
          <p:nvSpPr>
            <p:cNvPr id="24594" name="Rectangle 17"/>
            <p:cNvSpPr>
              <a:spLocks noChangeArrowheads="1"/>
            </p:cNvSpPr>
            <p:nvPr/>
          </p:nvSpPr>
          <p:spPr bwMode="auto">
            <a:xfrm>
              <a:off x="2880" y="2304"/>
              <a:ext cx="624" cy="258"/>
            </a:xfrm>
            <a:prstGeom prst="rect">
              <a:avLst/>
            </a:prstGeom>
            <a:solidFill>
              <a:schemeClr val="accent1"/>
            </a:solidFill>
            <a:ln w="12700">
              <a:solidFill>
                <a:schemeClr val="accent1"/>
              </a:solidFill>
              <a:miter lim="800000"/>
              <a:headEnd/>
              <a:tailEnd/>
            </a:ln>
          </p:spPr>
          <p:txBody>
            <a:bodyPr lIns="92075" tIns="46038" rIns="92075" bIns="46038">
              <a:spAutoFit/>
            </a:bodyPr>
            <a:lstStyle/>
            <a:p>
              <a:pPr eaLnBrk="0" hangingPunct="0"/>
              <a:r>
                <a:rPr lang="en-US" sz="2000" b="1" dirty="0"/>
                <a:t>Firm X</a:t>
              </a:r>
            </a:p>
          </p:txBody>
        </p:sp>
        <p:sp>
          <p:nvSpPr>
            <p:cNvPr id="24595" name="Rectangle 18"/>
            <p:cNvSpPr>
              <a:spLocks noChangeArrowheads="1"/>
            </p:cNvSpPr>
            <p:nvPr/>
          </p:nvSpPr>
          <p:spPr bwMode="auto">
            <a:xfrm>
              <a:off x="672" y="2976"/>
              <a:ext cx="613" cy="250"/>
            </a:xfrm>
            <a:prstGeom prst="rect">
              <a:avLst/>
            </a:prstGeom>
            <a:solidFill>
              <a:schemeClr val="accent2"/>
            </a:solidFill>
            <a:ln w="12700">
              <a:noFill/>
              <a:miter lim="800000"/>
              <a:headEnd/>
              <a:tailEnd/>
            </a:ln>
          </p:spPr>
          <p:txBody>
            <a:bodyPr wrap="none" lIns="92075" tIns="46038" rIns="92075" bIns="46038">
              <a:spAutoFit/>
            </a:bodyPr>
            <a:lstStyle/>
            <a:p>
              <a:pPr eaLnBrk="0" hangingPunct="0"/>
              <a:r>
                <a:rPr lang="en-US" sz="2000" b="1">
                  <a:solidFill>
                    <a:schemeClr val="hlink"/>
                  </a:solidFill>
                </a:rPr>
                <a:t>Firm Y</a:t>
              </a:r>
            </a:p>
          </p:txBody>
        </p:sp>
      </p:grpSp>
      <p:graphicFrame>
        <p:nvGraphicFramePr>
          <p:cNvPr id="3" name="Object 10"/>
          <p:cNvGraphicFramePr>
            <a:graphicFrameLocks noGrp="1" noChangeAspect="1"/>
          </p:cNvGraphicFramePr>
          <p:nvPr/>
        </p:nvGraphicFramePr>
        <p:xfrm>
          <a:off x="2254250" y="4868515"/>
          <a:ext cx="4564063" cy="720725"/>
        </p:xfrm>
        <a:graphic>
          <a:graphicData uri="http://schemas.openxmlformats.org/presentationml/2006/ole">
            <mc:AlternateContent xmlns:mc="http://schemas.openxmlformats.org/markup-compatibility/2006">
              <mc:Choice xmlns:v="urn:schemas-microsoft-com:vml" Requires="v">
                <p:oleObj name="Equation" r:id="rId7" imgW="1688760" imgH="266400" progId="Equation.3">
                  <p:embed/>
                </p:oleObj>
              </mc:Choice>
              <mc:Fallback>
                <p:oleObj name="Equation" r:id="rId7" imgW="1688760" imgH="266400" progId="Equation.3">
                  <p:embed/>
                  <p:pic>
                    <p:nvPicPr>
                      <p:cNvPr id="3" name="Object 10"/>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54250" y="4868515"/>
                        <a:ext cx="4564063" cy="720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11"/>
          <p:cNvGraphicFramePr>
            <a:graphicFrameLocks noGrp="1" noChangeAspect="1"/>
          </p:cNvGraphicFramePr>
          <p:nvPr>
            <p:extLst>
              <p:ext uri="{D42A27DB-BD31-4B8C-83A1-F6EECF244321}">
                <p14:modId xmlns:p14="http://schemas.microsoft.com/office/powerpoint/2010/main" val="2714278621"/>
              </p:ext>
            </p:extLst>
          </p:nvPr>
        </p:nvGraphicFramePr>
        <p:xfrm>
          <a:off x="2987824" y="5733256"/>
          <a:ext cx="2819400" cy="711200"/>
        </p:xfrm>
        <a:graphic>
          <a:graphicData uri="http://schemas.openxmlformats.org/presentationml/2006/ole">
            <mc:AlternateContent xmlns:mc="http://schemas.openxmlformats.org/markup-compatibility/2006">
              <mc:Choice xmlns:v="urn:schemas-microsoft-com:vml" Requires="v">
                <p:oleObj name="Equation" r:id="rId9" imgW="888840" imgH="241200" progId="Equation.3">
                  <p:embed/>
                </p:oleObj>
              </mc:Choice>
              <mc:Fallback>
                <p:oleObj name="Equation" r:id="rId9" imgW="888840" imgH="241200" progId="Equation.3">
                  <p:embed/>
                  <p:pic>
                    <p:nvPicPr>
                      <p:cNvPr id="4" name="Object 11"/>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87824" y="5733256"/>
                        <a:ext cx="2819400" cy="71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4721500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Title 1"/>
          <p:cNvSpPr>
            <a:spLocks noGrp="1"/>
          </p:cNvSpPr>
          <p:nvPr>
            <p:ph type="title"/>
          </p:nvPr>
        </p:nvSpPr>
        <p:spPr/>
        <p:txBody>
          <a:bodyPr/>
          <a:lstStyle/>
          <a:p>
            <a:r>
              <a:rPr lang="en-GB" dirty="0"/>
              <a:t>Diversification and types of risk</a:t>
            </a: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1055858681"/>
              </p:ext>
            </p:extLst>
          </p:nvPr>
        </p:nvGraphicFramePr>
        <p:xfrm>
          <a:off x="355600" y="1665288"/>
          <a:ext cx="8429625" cy="43497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413031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Different Types of Risk</a:t>
            </a:r>
          </a:p>
        </p:txBody>
      </p:sp>
      <p:pic>
        <p:nvPicPr>
          <p:cNvPr id="4"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8403" t="5436" r="-8403"/>
          <a:stretch/>
        </p:blipFill>
        <p:spPr>
          <a:xfrm>
            <a:off x="251520" y="1556792"/>
            <a:ext cx="8700107" cy="4536504"/>
          </a:xfrm>
          <a:prstGeom prst="rect">
            <a:avLst/>
          </a:prstGeom>
        </p:spPr>
      </p:pic>
      <p:graphicFrame>
        <p:nvGraphicFramePr>
          <p:cNvPr id="5" name="Object 4"/>
          <p:cNvGraphicFramePr>
            <a:graphicFrameLocks noChangeAspect="1"/>
          </p:cNvGraphicFramePr>
          <p:nvPr>
            <p:extLst>
              <p:ext uri="{D42A27DB-BD31-4B8C-83A1-F6EECF244321}">
                <p14:modId xmlns:p14="http://schemas.microsoft.com/office/powerpoint/2010/main" val="579479176"/>
              </p:ext>
            </p:extLst>
          </p:nvPr>
        </p:nvGraphicFramePr>
        <p:xfrm>
          <a:off x="7270967" y="332656"/>
          <a:ext cx="1621513" cy="1368152"/>
        </p:xfrm>
        <a:graphic>
          <a:graphicData uri="http://schemas.openxmlformats.org/presentationml/2006/ole">
            <mc:AlternateContent xmlns:mc="http://schemas.openxmlformats.org/markup-compatibility/2006">
              <mc:Choice xmlns:v="urn:schemas-microsoft-com:vml" Requires="v">
                <p:oleObj name="Document" showAsIcon="1" r:id="rId4" imgW="914400" imgH="771480" progId="Word.Document.12">
                  <p:embed/>
                </p:oleObj>
              </mc:Choice>
              <mc:Fallback>
                <p:oleObj name="Document" showAsIcon="1" r:id="rId4" imgW="914400" imgH="771480" progId="Word.Document.12">
                  <p:embed/>
                  <p:pic>
                    <p:nvPicPr>
                      <p:cNvPr id="5" name="Object 4"/>
                      <p:cNvPicPr/>
                      <p:nvPr/>
                    </p:nvPicPr>
                    <p:blipFill>
                      <a:blip r:embed="rId5"/>
                      <a:stretch>
                        <a:fillRect/>
                      </a:stretch>
                    </p:blipFill>
                    <p:spPr>
                      <a:xfrm>
                        <a:off x="7270967" y="332656"/>
                        <a:ext cx="1621513" cy="1368152"/>
                      </a:xfrm>
                      <a:prstGeom prst="rect">
                        <a:avLst/>
                      </a:prstGeom>
                    </p:spPr>
                  </p:pic>
                </p:oleObj>
              </mc:Fallback>
            </mc:AlternateContent>
          </a:graphicData>
        </a:graphic>
      </p:graphicFrame>
    </p:spTree>
    <p:extLst>
      <p:ext uri="{BB962C8B-B14F-4D97-AF65-F5344CB8AC3E}">
        <p14:creationId xmlns:p14="http://schemas.microsoft.com/office/powerpoint/2010/main" val="26528168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Title 1"/>
          <p:cNvSpPr>
            <a:spLocks noGrp="1"/>
          </p:cNvSpPr>
          <p:nvPr>
            <p:ph type="title"/>
          </p:nvPr>
        </p:nvSpPr>
        <p:spPr/>
        <p:txBody>
          <a:bodyPr/>
          <a:lstStyle/>
          <a:p>
            <a:r>
              <a:rPr lang="en-GB"/>
              <a:t>Diversification: An Example</a:t>
            </a:r>
          </a:p>
        </p:txBody>
      </p:sp>
      <p:pic>
        <p:nvPicPr>
          <p:cNvPr id="148484" name="Picture 4"/>
          <p:cNvPicPr>
            <a:picLocks noChangeAspect="1" noChangeArrowheads="1"/>
          </p:cNvPicPr>
          <p:nvPr/>
        </p:nvPicPr>
        <p:blipFill>
          <a:blip r:embed="rId3" cstate="print"/>
          <a:srcRect/>
          <a:stretch>
            <a:fillRect/>
          </a:stretch>
        </p:blipFill>
        <p:spPr bwMode="auto">
          <a:xfrm>
            <a:off x="179512" y="1475060"/>
            <a:ext cx="6911975" cy="5194300"/>
          </a:xfrm>
          <a:prstGeom prst="rect">
            <a:avLst/>
          </a:prstGeom>
          <a:noFill/>
          <a:ln w="9525">
            <a:noFill/>
            <a:miter lim="800000"/>
            <a:headEnd/>
            <a:tailEnd/>
          </a:ln>
          <a:effectLst/>
        </p:spPr>
      </p:pic>
      <p:sp>
        <p:nvSpPr>
          <p:cNvPr id="11" name="TextBox 10"/>
          <p:cNvSpPr txBox="1"/>
          <p:nvPr/>
        </p:nvSpPr>
        <p:spPr>
          <a:xfrm>
            <a:off x="5580112" y="1258490"/>
            <a:ext cx="3384376" cy="2389406"/>
          </a:xfrm>
          <a:prstGeom prst="cloudCallout">
            <a:avLst>
              <a:gd name="adj1" fmla="val -24977"/>
              <a:gd name="adj2" fmla="val 76709"/>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GB" dirty="0"/>
              <a:t>Diversification can reduce Unsystematic risk</a:t>
            </a:r>
          </a:p>
        </p:txBody>
      </p:sp>
    </p:spTree>
    <p:extLst>
      <p:ext uri="{BB962C8B-B14F-4D97-AF65-F5344CB8AC3E}">
        <p14:creationId xmlns:p14="http://schemas.microsoft.com/office/powerpoint/2010/main" val="12409330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Grp="1" noChangeArrowheads="1"/>
          </p:cNvSpPr>
          <p:nvPr>
            <p:ph type="title"/>
          </p:nvPr>
        </p:nvSpPr>
        <p:spPr/>
        <p:txBody>
          <a:bodyPr>
            <a:normAutofit fontScale="90000"/>
          </a:bodyPr>
          <a:lstStyle/>
          <a:p>
            <a:r>
              <a:rPr lang="en-US" dirty="0"/>
              <a:t>Cost of Equity </a:t>
            </a:r>
            <a:br>
              <a:rPr lang="en-US" dirty="0"/>
            </a:br>
            <a:r>
              <a:rPr lang="en-US" sz="2000" dirty="0">
                <a:solidFill>
                  <a:schemeClr val="accent1">
                    <a:lumMod val="75000"/>
                  </a:schemeClr>
                </a:solidFill>
              </a:rPr>
              <a:t>{Risk and Return (CH 4)}</a:t>
            </a:r>
            <a:endParaRPr lang="en-US" dirty="0">
              <a:solidFill>
                <a:schemeClr val="accent1">
                  <a:lumMod val="75000"/>
                </a:schemeClr>
              </a:solidFill>
            </a:endParaRPr>
          </a:p>
        </p:txBody>
      </p:sp>
      <p:graphicFrame>
        <p:nvGraphicFramePr>
          <p:cNvPr id="4" name="Content Placeholder 3"/>
          <p:cNvGraphicFramePr>
            <a:graphicFrameLocks noGrp="1"/>
          </p:cNvGraphicFramePr>
          <p:nvPr>
            <p:ph sz="quarter" idx="1"/>
          </p:nvPr>
        </p:nvGraphicFramePr>
        <p:xfrm>
          <a:off x="301752" y="1124744"/>
          <a:ext cx="8503920" cy="51125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60648"/>
            <a:ext cx="8842248" cy="824136"/>
          </a:xfrm>
        </p:spPr>
        <p:txBody>
          <a:bodyPr>
            <a:normAutofit fontScale="90000"/>
          </a:bodyPr>
          <a:lstStyle/>
          <a:p>
            <a:r>
              <a:rPr lang="en-GB" sz="2800" dirty="0"/>
              <a:t>Risk in a firm is reflected on its cost of capital.</a:t>
            </a:r>
            <a:br>
              <a:rPr lang="en-GB" sz="2800" dirty="0"/>
            </a:br>
            <a:r>
              <a:rPr lang="en-GB" sz="2800" dirty="0"/>
              <a:t>Therefore, Discount Rate should be at least as much as that.</a:t>
            </a: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2457839004"/>
              </p:ext>
            </p:extLst>
          </p:nvPr>
        </p:nvGraphicFramePr>
        <p:xfrm>
          <a:off x="179512" y="1340768"/>
          <a:ext cx="8784975" cy="54304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314118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DF50C2D2-24D9-FA43-136F-5C1A8A893E78}"/>
              </a:ext>
            </a:extLst>
          </p:cNvPr>
          <p:cNvSpPr>
            <a:spLocks noGrp="1"/>
          </p:cNvSpPr>
          <p:nvPr>
            <p:ph type="body" idx="1"/>
          </p:nvPr>
        </p:nvSpPr>
        <p:spPr>
          <a:xfrm>
            <a:off x="1368426" y="533400"/>
            <a:ext cx="6480174" cy="469776"/>
          </a:xfrm>
        </p:spPr>
        <p:txBody>
          <a:bodyPr/>
          <a:lstStyle/>
          <a:p>
            <a:r>
              <a:rPr lang="en-GB" dirty="0"/>
              <a:t>Cost of borrowing using new equity</a:t>
            </a:r>
          </a:p>
        </p:txBody>
      </p:sp>
      <p:sp>
        <p:nvSpPr>
          <p:cNvPr id="6" name="Title 5">
            <a:extLst>
              <a:ext uri="{FF2B5EF4-FFF2-40B4-BE49-F238E27FC236}">
                <a16:creationId xmlns:a16="http://schemas.microsoft.com/office/drawing/2014/main" id="{0D9F5F21-E323-F54E-32F2-BDA73B9B9E0F}"/>
              </a:ext>
            </a:extLst>
          </p:cNvPr>
          <p:cNvSpPr>
            <a:spLocks noGrp="1"/>
          </p:cNvSpPr>
          <p:nvPr>
            <p:ph type="title"/>
          </p:nvPr>
        </p:nvSpPr>
        <p:spPr>
          <a:xfrm>
            <a:off x="722313" y="533400"/>
            <a:ext cx="7772400" cy="1095400"/>
          </a:xfrm>
        </p:spPr>
        <p:txBody>
          <a:bodyPr/>
          <a:lstStyle/>
          <a:p>
            <a:r>
              <a:rPr lang="en-GB" dirty="0"/>
              <a:t>Cost of Equity</a:t>
            </a:r>
          </a:p>
        </p:txBody>
      </p:sp>
      <p:graphicFrame>
        <p:nvGraphicFramePr>
          <p:cNvPr id="9" name="Diagram 8">
            <a:extLst>
              <a:ext uri="{FF2B5EF4-FFF2-40B4-BE49-F238E27FC236}">
                <a16:creationId xmlns:a16="http://schemas.microsoft.com/office/drawing/2014/main" id="{0751422E-8592-A794-6C5E-70F3F7C5A25C}"/>
              </a:ext>
            </a:extLst>
          </p:cNvPr>
          <p:cNvGraphicFramePr/>
          <p:nvPr>
            <p:extLst>
              <p:ext uri="{D42A27DB-BD31-4B8C-83A1-F6EECF244321}">
                <p14:modId xmlns:p14="http://schemas.microsoft.com/office/powerpoint/2010/main" val="471835534"/>
              </p:ext>
            </p:extLst>
          </p:nvPr>
        </p:nvGraphicFramePr>
        <p:xfrm>
          <a:off x="324037" y="2082286"/>
          <a:ext cx="8568952" cy="39604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295221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332656"/>
            <a:ext cx="8534400" cy="758952"/>
          </a:xfrm>
        </p:spPr>
        <p:txBody>
          <a:bodyPr>
            <a:normAutofit fontScale="90000"/>
          </a:bodyPr>
          <a:lstStyle/>
          <a:p>
            <a:r>
              <a:rPr lang="en-GB" b="1" u="sng" dirty="0"/>
              <a:t>Cost of Equity-First Approach</a:t>
            </a:r>
            <a:br>
              <a:rPr lang="en-GB" dirty="0"/>
            </a:br>
            <a:r>
              <a:rPr lang="en-GB" dirty="0"/>
              <a:t>a. Implied Rates-Growth Models</a:t>
            </a:r>
          </a:p>
        </p:txBody>
      </p:sp>
      <p:sp>
        <p:nvSpPr>
          <p:cNvPr id="3" name="Content Placeholder 2"/>
          <p:cNvSpPr>
            <a:spLocks noGrp="1"/>
          </p:cNvSpPr>
          <p:nvPr>
            <p:ph sz="quarter" idx="1"/>
          </p:nvPr>
        </p:nvSpPr>
        <p:spPr/>
        <p:txBody>
          <a:bodyPr/>
          <a:lstStyle/>
          <a:p>
            <a:r>
              <a:rPr lang="en-GB" dirty="0"/>
              <a:t>No Growth</a:t>
            </a:r>
          </a:p>
          <a:p>
            <a:endParaRPr lang="en-GB" dirty="0"/>
          </a:p>
          <a:p>
            <a:endParaRPr lang="en-GB" dirty="0"/>
          </a:p>
          <a:p>
            <a:r>
              <a:rPr lang="en-GB" dirty="0"/>
              <a:t>Stable Growth or Gordon Growth model</a:t>
            </a:r>
          </a:p>
          <a:p>
            <a:endParaRPr lang="en-GB" dirty="0"/>
          </a:p>
          <a:p>
            <a:endParaRPr lang="en-GB" dirty="0"/>
          </a:p>
          <a:p>
            <a:r>
              <a:rPr lang="en-GB" dirty="0"/>
              <a:t>2-Stage Growth</a:t>
            </a:r>
          </a:p>
        </p:txBody>
      </p:sp>
      <p:pic>
        <p:nvPicPr>
          <p:cNvPr id="1305602" name="Picture 2"/>
          <p:cNvPicPr>
            <a:picLocks noChangeAspect="1" noChangeArrowheads="1"/>
          </p:cNvPicPr>
          <p:nvPr/>
        </p:nvPicPr>
        <p:blipFill>
          <a:blip r:embed="rId3" cstate="print"/>
          <a:srcRect/>
          <a:stretch>
            <a:fillRect/>
          </a:stretch>
        </p:blipFill>
        <p:spPr bwMode="auto">
          <a:xfrm>
            <a:off x="3059113" y="2133600"/>
            <a:ext cx="2089150" cy="825500"/>
          </a:xfrm>
          <a:prstGeom prst="rect">
            <a:avLst/>
          </a:prstGeom>
          <a:noFill/>
        </p:spPr>
      </p:pic>
      <p:pic>
        <p:nvPicPr>
          <p:cNvPr id="1305603" name="Picture 3"/>
          <p:cNvPicPr>
            <a:picLocks noChangeAspect="1" noChangeArrowheads="1"/>
          </p:cNvPicPr>
          <p:nvPr/>
        </p:nvPicPr>
        <p:blipFill>
          <a:blip r:embed="rId4" cstate="print"/>
          <a:srcRect/>
          <a:stretch>
            <a:fillRect/>
          </a:stretch>
        </p:blipFill>
        <p:spPr bwMode="auto">
          <a:xfrm>
            <a:off x="1547813" y="3573463"/>
            <a:ext cx="5222875" cy="825500"/>
          </a:xfrm>
          <a:prstGeom prst="rect">
            <a:avLst/>
          </a:prstGeom>
          <a:noFill/>
        </p:spPr>
      </p:pic>
      <p:graphicFrame>
        <p:nvGraphicFramePr>
          <p:cNvPr id="1305605" name="Object 5"/>
          <p:cNvGraphicFramePr>
            <a:graphicFrameLocks/>
          </p:cNvGraphicFramePr>
          <p:nvPr>
            <p:extLst>
              <p:ext uri="{D42A27DB-BD31-4B8C-83A1-F6EECF244321}">
                <p14:modId xmlns:p14="http://schemas.microsoft.com/office/powerpoint/2010/main" val="3790888027"/>
              </p:ext>
            </p:extLst>
          </p:nvPr>
        </p:nvGraphicFramePr>
        <p:xfrm>
          <a:off x="2490788" y="4973638"/>
          <a:ext cx="3873500" cy="1738312"/>
        </p:xfrm>
        <a:graphic>
          <a:graphicData uri="http://schemas.openxmlformats.org/presentationml/2006/ole">
            <mc:AlternateContent xmlns:mc="http://schemas.openxmlformats.org/markup-compatibility/2006">
              <mc:Choice xmlns:v="urn:schemas-microsoft-com:vml" Requires="v">
                <p:oleObj name="Equation" r:id="rId5" imgW="2298600" imgH="1054080" progId="Equation.3">
                  <p:embed/>
                </p:oleObj>
              </mc:Choice>
              <mc:Fallback>
                <p:oleObj name="Equation" r:id="rId5" imgW="2298600" imgH="1054080" progId="Equation.3">
                  <p:embed/>
                  <p:pic>
                    <p:nvPicPr>
                      <p:cNvPr id="1305605" name="Object 5"/>
                      <p:cNvPicPr>
                        <a:picLocks noChangeArrowheads="1"/>
                      </p:cNvPicPr>
                      <p:nvPr/>
                    </p:nvPicPr>
                    <p:blipFill>
                      <a:blip r:embed="rId6"/>
                      <a:srcRect/>
                      <a:stretch>
                        <a:fillRect/>
                      </a:stretch>
                    </p:blipFill>
                    <p:spPr bwMode="auto">
                      <a:xfrm>
                        <a:off x="2490788" y="4973638"/>
                        <a:ext cx="3873500" cy="1738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0" name="Straight Arrow Connector 9"/>
          <p:cNvCxnSpPr/>
          <p:nvPr/>
        </p:nvCxnSpPr>
        <p:spPr>
          <a:xfrm flipH="1">
            <a:off x="5220072" y="1988840"/>
            <a:ext cx="936104" cy="2880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2771800" y="2852936"/>
            <a:ext cx="648072" cy="720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2843808" y="2276872"/>
            <a:ext cx="288032" cy="14401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051720" y="1916832"/>
            <a:ext cx="936104" cy="461665"/>
          </a:xfrm>
          <a:prstGeom prst="rect">
            <a:avLst/>
          </a:prstGeom>
          <a:noFill/>
        </p:spPr>
        <p:txBody>
          <a:bodyPr wrap="square" rtlCol="0">
            <a:spAutoFit/>
          </a:bodyPr>
          <a:lstStyle/>
          <a:p>
            <a:r>
              <a:rPr lang="en-GB" dirty="0"/>
              <a:t>Price</a:t>
            </a:r>
          </a:p>
        </p:txBody>
      </p:sp>
      <p:sp>
        <p:nvSpPr>
          <p:cNvPr id="17" name="TextBox 16"/>
          <p:cNvSpPr txBox="1"/>
          <p:nvPr/>
        </p:nvSpPr>
        <p:spPr>
          <a:xfrm>
            <a:off x="899592" y="2636912"/>
            <a:ext cx="2088232" cy="461665"/>
          </a:xfrm>
          <a:prstGeom prst="rect">
            <a:avLst/>
          </a:prstGeom>
          <a:noFill/>
        </p:spPr>
        <p:txBody>
          <a:bodyPr wrap="square" rtlCol="0">
            <a:spAutoFit/>
          </a:bodyPr>
          <a:lstStyle/>
          <a:p>
            <a:r>
              <a:rPr lang="en-GB" dirty="0"/>
              <a:t>Cost of Equity</a:t>
            </a:r>
          </a:p>
        </p:txBody>
      </p:sp>
      <p:sp>
        <p:nvSpPr>
          <p:cNvPr id="18" name="TextBox 17"/>
          <p:cNvSpPr txBox="1"/>
          <p:nvPr/>
        </p:nvSpPr>
        <p:spPr>
          <a:xfrm>
            <a:off x="6156176" y="1700808"/>
            <a:ext cx="1512168" cy="461665"/>
          </a:xfrm>
          <a:prstGeom prst="rect">
            <a:avLst/>
          </a:prstGeom>
          <a:noFill/>
        </p:spPr>
        <p:txBody>
          <a:bodyPr wrap="square" rtlCol="0">
            <a:spAutoFit/>
          </a:bodyPr>
          <a:lstStyle/>
          <a:p>
            <a:r>
              <a:rPr lang="en-GB" dirty="0"/>
              <a:t>Dividend</a:t>
            </a:r>
          </a:p>
        </p:txBody>
      </p:sp>
      <p:cxnSp>
        <p:nvCxnSpPr>
          <p:cNvPr id="19" name="Straight Arrow Connector 18"/>
          <p:cNvCxnSpPr/>
          <p:nvPr/>
        </p:nvCxnSpPr>
        <p:spPr>
          <a:xfrm flipH="1">
            <a:off x="6228184" y="3356992"/>
            <a:ext cx="936104" cy="2880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7164288" y="3068960"/>
            <a:ext cx="1512168" cy="461665"/>
          </a:xfrm>
          <a:prstGeom prst="rect">
            <a:avLst/>
          </a:prstGeom>
          <a:noFill/>
        </p:spPr>
        <p:txBody>
          <a:bodyPr wrap="square" rtlCol="0">
            <a:spAutoFit/>
          </a:bodyPr>
          <a:lstStyle/>
          <a:p>
            <a:r>
              <a:rPr lang="en-GB" dirty="0"/>
              <a:t>Growth</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1"/>
          <p:cNvSpPr>
            <a:spLocks noGrp="1" noChangeArrowheads="1"/>
          </p:cNvSpPr>
          <p:nvPr>
            <p:ph type="title"/>
          </p:nvPr>
        </p:nvSpPr>
        <p:spPr>
          <a:xfrm>
            <a:off x="914400" y="116632"/>
            <a:ext cx="7772400" cy="720080"/>
          </a:xfrm>
        </p:spPr>
        <p:txBody>
          <a:bodyPr lIns="64291" tIns="32146" rIns="64291">
            <a:normAutofit/>
          </a:bodyPr>
          <a:lstStyle/>
          <a:p>
            <a:pPr eaLnBrk="1" hangingPunct="1">
              <a:defRPr/>
            </a:pPr>
            <a:r>
              <a:rPr lang="en-US" dirty="0"/>
              <a:t>Examples</a:t>
            </a:r>
          </a:p>
        </p:txBody>
      </p:sp>
      <p:sp>
        <p:nvSpPr>
          <p:cNvPr id="33795" name="Rectangle 2"/>
          <p:cNvSpPr>
            <a:spLocks noGrp="1" noChangeArrowheads="1"/>
          </p:cNvSpPr>
          <p:nvPr>
            <p:ph idx="1"/>
          </p:nvPr>
        </p:nvSpPr>
        <p:spPr>
          <a:xfrm>
            <a:off x="35496" y="1556792"/>
            <a:ext cx="9036496" cy="3600400"/>
          </a:xfrm>
        </p:spPr>
        <p:txBody>
          <a:bodyPr lIns="64291" tIns="32146" rIns="64291" bIns="32146">
            <a:normAutofit fontScale="92500" lnSpcReduction="10000"/>
          </a:bodyPr>
          <a:lstStyle/>
          <a:p>
            <a:pPr marL="625024">
              <a:spcBef>
                <a:spcPts val="1292"/>
              </a:spcBef>
              <a:buBlip>
                <a:blip r:embed="rId2"/>
              </a:buBlip>
            </a:pPr>
            <a:r>
              <a:rPr lang="en-US" sz="2200" dirty="0"/>
              <a:t>Jordan plc follows a constant dividend policy of 50p annual dividend. Investors are willing to pay today £7 for Jordan’s shares. What is Jordan’s cost of equity capital (required return)?</a:t>
            </a:r>
          </a:p>
          <a:p>
            <a:pPr marL="625024">
              <a:spcBef>
                <a:spcPts val="1292"/>
              </a:spcBef>
              <a:buBlip>
                <a:blip r:embed="rId2"/>
              </a:buBlip>
            </a:pPr>
            <a:endParaRPr lang="en-US" sz="2200" dirty="0"/>
          </a:p>
          <a:p>
            <a:pPr marL="625024">
              <a:spcBef>
                <a:spcPts val="1292"/>
              </a:spcBef>
              <a:buBlip>
                <a:blip r:embed="rId2"/>
              </a:buBlip>
            </a:pPr>
            <a:endParaRPr lang="en-US" sz="2200" dirty="0"/>
          </a:p>
          <a:p>
            <a:pPr marL="625024">
              <a:spcBef>
                <a:spcPts val="1292"/>
              </a:spcBef>
              <a:buBlip>
                <a:blip r:embed="rId2"/>
              </a:buBlip>
            </a:pPr>
            <a:r>
              <a:rPr lang="en-US" sz="2400" dirty="0"/>
              <a:t>Suppose that Coventry </a:t>
            </a:r>
            <a:r>
              <a:rPr lang="en-US" sz="2400" dirty="0" err="1"/>
              <a:t>plc</a:t>
            </a:r>
            <a:r>
              <a:rPr lang="en-US" sz="2400" dirty="0"/>
              <a:t> just paid a10p dividend per share. The management team wants to maintain a constant dividend growth, equal to 5% a year. Investors are willing to pay £2 to buy Coventry’s share. What is the required return (cost of equity capital) of Coventry’s share?</a:t>
            </a:r>
          </a:p>
          <a:p>
            <a:pPr marL="625024">
              <a:spcBef>
                <a:spcPts val="1292"/>
              </a:spcBef>
              <a:buBlip>
                <a:blip r:embed="rId2"/>
              </a:buBlip>
            </a:pPr>
            <a:endParaRPr lang="en-US" sz="2200" dirty="0"/>
          </a:p>
        </p:txBody>
      </p:sp>
      <p:graphicFrame>
        <p:nvGraphicFramePr>
          <p:cNvPr id="7" name="Object 6"/>
          <p:cNvGraphicFramePr>
            <a:graphicFrameLocks noChangeAspect="1"/>
          </p:cNvGraphicFramePr>
          <p:nvPr>
            <p:extLst>
              <p:ext uri="{D42A27DB-BD31-4B8C-83A1-F6EECF244321}">
                <p14:modId xmlns:p14="http://schemas.microsoft.com/office/powerpoint/2010/main" val="2272018048"/>
              </p:ext>
            </p:extLst>
          </p:nvPr>
        </p:nvGraphicFramePr>
        <p:xfrm>
          <a:off x="2286327" y="2492896"/>
          <a:ext cx="4589929" cy="936104"/>
        </p:xfrm>
        <a:graphic>
          <a:graphicData uri="http://schemas.openxmlformats.org/presentationml/2006/ole">
            <mc:AlternateContent xmlns:mc="http://schemas.openxmlformats.org/markup-compatibility/2006">
              <mc:Choice xmlns:v="urn:schemas-microsoft-com:vml" Requires="v">
                <p:oleObj name="Equation" r:id="rId3" imgW="1930320" imgH="393480" progId="Equation.3">
                  <p:embed/>
                </p:oleObj>
              </mc:Choice>
              <mc:Fallback>
                <p:oleObj name="Equation" r:id="rId3" imgW="1930320" imgH="393480" progId="Equation.3">
                  <p:embed/>
                  <p:pic>
                    <p:nvPicPr>
                      <p:cNvPr id="7"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327" y="2492896"/>
                        <a:ext cx="4589929" cy="9361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1"/>
          <p:cNvGraphicFramePr>
            <a:graphicFrameLocks noChangeAspect="1"/>
          </p:cNvGraphicFramePr>
          <p:nvPr>
            <p:extLst>
              <p:ext uri="{D42A27DB-BD31-4B8C-83A1-F6EECF244321}">
                <p14:modId xmlns:p14="http://schemas.microsoft.com/office/powerpoint/2010/main" val="58055402"/>
              </p:ext>
            </p:extLst>
          </p:nvPr>
        </p:nvGraphicFramePr>
        <p:xfrm>
          <a:off x="1187623" y="5085846"/>
          <a:ext cx="6840761" cy="1655522"/>
        </p:xfrm>
        <a:graphic>
          <a:graphicData uri="http://schemas.openxmlformats.org/presentationml/2006/ole">
            <mc:AlternateContent xmlns:mc="http://schemas.openxmlformats.org/markup-compatibility/2006">
              <mc:Choice xmlns:v="urn:schemas-microsoft-com:vml" Requires="v">
                <p:oleObj name="Equation" r:id="rId5" imgW="3467100" imgH="838200" progId="Equation.3">
                  <p:embed/>
                </p:oleObj>
              </mc:Choice>
              <mc:Fallback>
                <p:oleObj name="Equation" r:id="rId5" imgW="3467100" imgH="838200" progId="Equation.3">
                  <p:embed/>
                  <p:pic>
                    <p:nvPicPr>
                      <p:cNvPr id="2"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7623" y="5085846"/>
                        <a:ext cx="6840761" cy="1655522"/>
                      </a:xfrm>
                      <a:prstGeom prst="rect">
                        <a:avLst/>
                      </a:prstGeom>
                      <a:blipFill dpi="0" rotWithShape="0">
                        <a:blip r:embed="rId7"/>
                        <a:srcRect/>
                        <a:tile tx="0" ty="0" sx="100000" sy="100000" flip="none" algn="tl"/>
                      </a:blipFill>
                      <a:ln>
                        <a:noFill/>
                      </a:ln>
                    </p:spPr>
                  </p:pic>
                </p:oleObj>
              </mc:Fallback>
            </mc:AlternateContent>
          </a:graphicData>
        </a:graphic>
      </p:graphicFrame>
    </p:spTree>
    <p:extLst>
      <p:ext uri="{BB962C8B-B14F-4D97-AF65-F5344CB8AC3E}">
        <p14:creationId xmlns:p14="http://schemas.microsoft.com/office/powerpoint/2010/main" val="13625679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79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D334A-A2BA-A0DE-9076-8010335FC454}"/>
              </a:ext>
            </a:extLst>
          </p:cNvPr>
          <p:cNvSpPr>
            <a:spLocks noGrp="1"/>
          </p:cNvSpPr>
          <p:nvPr>
            <p:ph type="title"/>
          </p:nvPr>
        </p:nvSpPr>
        <p:spPr/>
        <p:txBody>
          <a:bodyPr/>
          <a:lstStyle/>
          <a:p>
            <a:r>
              <a:rPr lang="en-GB" dirty="0"/>
              <a:t>Cost of equity for Nestle</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4" name="Content Placeholder 3">
                <a:extLst>
                  <a:ext uri="{FF2B5EF4-FFF2-40B4-BE49-F238E27FC236}">
                    <a16:creationId xmlns:a16="http://schemas.microsoft.com/office/drawing/2014/main" id="{EA435620-794E-B0B0-D4C9-42E3967A90D9}"/>
                  </a:ext>
                </a:extLst>
              </p:cNvPr>
              <p:cNvGraphicFramePr>
                <a:graphicFrameLocks noGrp="1"/>
              </p:cNvGraphicFramePr>
              <p:nvPr>
                <p:ph sz="quarter" idx="1"/>
                <p:extLst>
                  <p:ext uri="{D42A27DB-BD31-4B8C-83A1-F6EECF244321}">
                    <p14:modId xmlns:p14="http://schemas.microsoft.com/office/powerpoint/2010/main" val="2962182854"/>
                  </p:ext>
                </p:extLst>
              </p:nvPr>
            </p:nvGraphicFramePr>
            <p:xfrm>
              <a:off x="35496" y="1527174"/>
              <a:ext cx="8770367" cy="5102225"/>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4" name="Content Placeholder 3">
                <a:extLst>
                  <a:ext uri="{FF2B5EF4-FFF2-40B4-BE49-F238E27FC236}">
                    <a16:creationId xmlns:a16="http://schemas.microsoft.com/office/drawing/2014/main" id="{EA435620-794E-B0B0-D4C9-42E3967A90D9}"/>
                  </a:ext>
                </a:extLst>
              </p:cNvPr>
              <p:cNvPicPr>
                <a:picLocks noGrp="1" noRot="1" noChangeAspect="1" noMove="1" noResize="1" noEditPoints="1" noAdjustHandles="1" noChangeArrowheads="1" noChangeShapeType="1"/>
              </p:cNvPicPr>
              <p:nvPr/>
            </p:nvPicPr>
            <p:blipFill>
              <a:blip r:embed="rId3"/>
              <a:stretch>
                <a:fillRect/>
              </a:stretch>
            </p:blipFill>
            <p:spPr>
              <a:xfrm>
                <a:off x="35496" y="1527174"/>
                <a:ext cx="8770367" cy="5102225"/>
              </a:xfrm>
              <a:prstGeom prst="rect">
                <a:avLst/>
              </a:prstGeom>
            </p:spPr>
          </p:pic>
        </mc:Fallback>
      </mc:AlternateContent>
    </p:spTree>
    <p:extLst>
      <p:ext uri="{BB962C8B-B14F-4D97-AF65-F5344CB8AC3E}">
        <p14:creationId xmlns:p14="http://schemas.microsoft.com/office/powerpoint/2010/main" val="28365964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196050"/>
            <a:ext cx="8229600" cy="928694"/>
          </a:xfrm>
        </p:spPr>
        <p:txBody>
          <a:bodyPr>
            <a:normAutofit fontScale="90000"/>
          </a:bodyPr>
          <a:lstStyle/>
          <a:p>
            <a:r>
              <a:rPr lang="en-GB" b="1" u="sng" dirty="0"/>
              <a:t>Cost of Equity-Second Approach</a:t>
            </a:r>
            <a:br>
              <a:rPr lang="en-GB" u="sng" dirty="0"/>
            </a:br>
            <a:r>
              <a:rPr lang="en-GB" u="sng" dirty="0"/>
              <a:t>b. CAPM (CH 4)</a:t>
            </a:r>
          </a:p>
        </p:txBody>
      </p:sp>
      <p:sp>
        <p:nvSpPr>
          <p:cNvPr id="3" name="Content Placeholder 2"/>
          <p:cNvSpPr>
            <a:spLocks noGrp="1"/>
          </p:cNvSpPr>
          <p:nvPr>
            <p:ph idx="1"/>
          </p:nvPr>
        </p:nvSpPr>
        <p:spPr>
          <a:xfrm>
            <a:off x="251520" y="3212976"/>
            <a:ext cx="8712968" cy="3427313"/>
          </a:xfrm>
        </p:spPr>
        <p:txBody>
          <a:bodyPr>
            <a:normAutofit/>
          </a:bodyPr>
          <a:lstStyle/>
          <a:p>
            <a:pPr>
              <a:buNone/>
            </a:pPr>
            <a:r>
              <a:rPr lang="en-GB" u="sng" dirty="0"/>
              <a:t>Asset Returns (</a:t>
            </a:r>
            <a:r>
              <a:rPr lang="en-GB" u="sng" dirty="0" err="1"/>
              <a:t>rj</a:t>
            </a:r>
            <a:r>
              <a:rPr lang="en-GB" u="sng" dirty="0"/>
              <a:t>) depend on:</a:t>
            </a:r>
          </a:p>
          <a:p>
            <a:pPr marL="571500" indent="-571500">
              <a:buFont typeface="+mj-lt"/>
              <a:buAutoNum type="romanLcPeriod"/>
            </a:pPr>
            <a:r>
              <a:rPr lang="en-GB" dirty="0"/>
              <a:t>The Risk Free Rate of return (</a:t>
            </a:r>
            <a:r>
              <a:rPr lang="en-GB" dirty="0" err="1"/>
              <a:t>rf</a:t>
            </a:r>
            <a:r>
              <a:rPr lang="en-GB" dirty="0"/>
              <a:t>)</a:t>
            </a:r>
          </a:p>
          <a:p>
            <a:pPr marL="548640" lvl="2">
              <a:buClr>
                <a:schemeClr val="accent1"/>
              </a:buClr>
              <a:buSzPct val="85000"/>
              <a:buFont typeface="Wingdings 2"/>
              <a:buChar char=""/>
            </a:pPr>
            <a:r>
              <a:rPr lang="en-US" u="sng" dirty="0"/>
              <a:t>Short term government security rates</a:t>
            </a:r>
            <a:r>
              <a:rPr lang="en-US" dirty="0"/>
              <a:t> are used as risk free rates</a:t>
            </a:r>
          </a:p>
          <a:p>
            <a:pPr marL="571500" indent="-571500">
              <a:buFont typeface="+mj-lt"/>
              <a:buAutoNum type="romanLcPeriod"/>
            </a:pPr>
            <a:r>
              <a:rPr lang="en-GB" dirty="0"/>
              <a:t>The Market Equity Risk Premium (</a:t>
            </a:r>
            <a:r>
              <a:rPr lang="en-GB" dirty="0" err="1"/>
              <a:t>rm-rf</a:t>
            </a:r>
            <a:r>
              <a:rPr lang="en-GB" dirty="0"/>
              <a:t>)</a:t>
            </a:r>
          </a:p>
          <a:p>
            <a:pPr marL="548640" lvl="2">
              <a:buClr>
                <a:schemeClr val="accent1"/>
              </a:buClr>
              <a:buSzPct val="85000"/>
              <a:buFont typeface="Wingdings 2"/>
              <a:buChar char=""/>
            </a:pPr>
            <a:r>
              <a:rPr lang="en-US" u="sng" dirty="0"/>
              <a:t>Historical risk premiums</a:t>
            </a:r>
            <a:r>
              <a:rPr lang="en-US" dirty="0"/>
              <a:t> are used for the risk premium</a:t>
            </a:r>
          </a:p>
          <a:p>
            <a:pPr marL="571500" indent="-571500">
              <a:buFont typeface="+mj-lt"/>
              <a:buAutoNum type="romanLcPeriod"/>
            </a:pPr>
            <a:r>
              <a:rPr lang="en-GB" dirty="0"/>
              <a:t>The Corporate Risk Premium </a:t>
            </a:r>
            <a:r>
              <a:rPr lang="el-GR" dirty="0"/>
              <a:t>β</a:t>
            </a:r>
            <a:r>
              <a:rPr lang="en-GB" dirty="0"/>
              <a:t> x (</a:t>
            </a:r>
            <a:r>
              <a:rPr lang="en-GB" dirty="0" err="1"/>
              <a:t>rm-rf</a:t>
            </a:r>
            <a:r>
              <a:rPr lang="en-GB" dirty="0"/>
              <a:t>)</a:t>
            </a:r>
          </a:p>
          <a:p>
            <a:pPr marL="548640" lvl="2">
              <a:buClr>
                <a:schemeClr val="accent1"/>
              </a:buClr>
              <a:buSzPct val="85000"/>
              <a:buFont typeface="Wingdings 2"/>
              <a:buChar char=""/>
            </a:pPr>
            <a:r>
              <a:rPr lang="en-US" dirty="0"/>
              <a:t>Betas are estimated by </a:t>
            </a:r>
            <a:r>
              <a:rPr lang="en-US" u="sng" dirty="0"/>
              <a:t>regressing stock returns against market returns</a:t>
            </a:r>
            <a:endParaRPr lang="en-US" dirty="0"/>
          </a:p>
        </p:txBody>
      </p:sp>
      <mc:AlternateContent xmlns:mc="http://schemas.openxmlformats.org/markup-compatibility/2006" xmlns:a14="http://schemas.microsoft.com/office/drawing/2010/main">
        <mc:Choice Requires="a14">
          <p:sp>
            <p:nvSpPr>
              <p:cNvPr id="4" name="TextBox 3"/>
              <p:cNvSpPr txBox="1"/>
              <p:nvPr/>
            </p:nvSpPr>
            <p:spPr>
              <a:xfrm>
                <a:off x="1274014" y="1556792"/>
                <a:ext cx="6667979" cy="1680588"/>
              </a:xfrm>
              <a:prstGeom prst="rect">
                <a:avLst/>
              </a:prstGeom>
              <a:noFill/>
            </p:spPr>
            <p:txBody>
              <a:bodyPr wrap="none" lIns="0" tIns="0" rIns="0" bIns="0" rtlCol="0">
                <a:spAutoFit/>
              </a:bodyPr>
              <a:lstStyle/>
              <a:p>
                <a:pPr/>
                <a14:m>
                  <m:oMathPara xmlns:m="http://schemas.openxmlformats.org/officeDocument/2006/math">
                    <m:oMath>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𝑅</m:t>
                          </m:r>
                        </m:e>
                        <m:sub>
                          <m:r>
                            <a:rPr lang="en-GB" sz="3600" b="0" i="1" smtClean="0">
                              <a:latin typeface="Cambria Math" panose="02040503050406030204" pitchFamily="18" charset="0"/>
                            </a:rPr>
                            <m:t>𝑖</m:t>
                          </m:r>
                        </m:sub>
                      </m:sSub>
                      <m:r>
                        <a:rPr lang="en-GB" sz="3600" b="0" i="1" smtClean="0">
                          <a:latin typeface="Cambria Math" panose="02040503050406030204" pitchFamily="18" charset="0"/>
                        </a:rPr>
                        <m:t>=</m:t>
                      </m:r>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𝑅</m:t>
                          </m:r>
                        </m:e>
                        <m:sub>
                          <m:r>
                            <a:rPr lang="en-GB" sz="3600" b="0" i="1" smtClean="0">
                              <a:latin typeface="Cambria Math" panose="02040503050406030204" pitchFamily="18" charset="0"/>
                            </a:rPr>
                            <m:t>𝑓</m:t>
                          </m:r>
                        </m:sub>
                      </m:sSub>
                      <m:r>
                        <a:rPr lang="en-GB" sz="3600" b="0" i="1" smtClean="0">
                          <a:latin typeface="Cambria Math" panose="02040503050406030204" pitchFamily="18" charset="0"/>
                        </a:rPr>
                        <m:t>+</m:t>
                      </m:r>
                      <m:limLow>
                        <m:limLowPr>
                          <m:ctrlPr>
                            <a:rPr lang="en-GB" sz="3600" i="1">
                              <a:latin typeface="Cambria Math" panose="02040503050406030204" pitchFamily="18" charset="0"/>
                            </a:rPr>
                          </m:ctrlPr>
                        </m:limLowPr>
                        <m:e>
                          <m:groupChr>
                            <m:groupChrPr>
                              <m:chr m:val="⏟"/>
                              <m:pos m:val="bot"/>
                              <m:vertJc m:val="top"/>
                              <m:ctrlPr>
                                <a:rPr lang="el-GR" sz="3600" i="1">
                                  <a:latin typeface="Cambria Math" panose="02040503050406030204" pitchFamily="18" charset="0"/>
                                </a:rPr>
                              </m:ctrlPr>
                            </m:groupChrPr>
                            <m:e>
                              <m:sSub>
                                <m:sSubPr>
                                  <m:ctrlPr>
                                    <a:rPr lang="el-GR" sz="3600" i="1">
                                      <a:latin typeface="Cambria Math" panose="02040503050406030204" pitchFamily="18" charset="0"/>
                                    </a:rPr>
                                  </m:ctrlPr>
                                </m:sSubPr>
                                <m:e>
                                  <m:r>
                                    <a:rPr lang="el-GR" sz="3600" i="1">
                                      <a:latin typeface="Cambria Math" panose="02040503050406030204" pitchFamily="18" charset="0"/>
                                    </a:rPr>
                                    <m:t>𝛽</m:t>
                                  </m:r>
                                </m:e>
                                <m:sub>
                                  <m:r>
                                    <a:rPr lang="en-GB" sz="3600" i="1">
                                      <a:latin typeface="Cambria Math" panose="02040503050406030204" pitchFamily="18" charset="0"/>
                                    </a:rPr>
                                    <m:t>𝑖</m:t>
                                  </m:r>
                                </m:sub>
                              </m:sSub>
                              <m:r>
                                <a:rPr lang="en-GB" sz="3600" i="1">
                                  <a:latin typeface="Cambria Math" panose="02040503050406030204" pitchFamily="18" charset="0"/>
                                </a:rPr>
                                <m:t>∗</m:t>
                              </m:r>
                              <m:limUpp>
                                <m:limUppPr>
                                  <m:ctrlPr>
                                    <a:rPr lang="en-GB" sz="3600" i="1">
                                      <a:latin typeface="Cambria Math" panose="02040503050406030204" pitchFamily="18" charset="0"/>
                                    </a:rPr>
                                  </m:ctrlPr>
                                </m:limUppPr>
                                <m:e>
                                  <m:groupChr>
                                    <m:groupChrPr>
                                      <m:chr m:val="⏞"/>
                                      <m:pos m:val="top"/>
                                      <m:vertJc m:val="bot"/>
                                      <m:ctrlPr>
                                        <a:rPr lang="en-GB" sz="3600" i="1">
                                          <a:latin typeface="Cambria Math" panose="02040503050406030204" pitchFamily="18" charset="0"/>
                                        </a:rPr>
                                      </m:ctrlPr>
                                    </m:groupChrPr>
                                    <m:e>
                                      <m:d>
                                        <m:dPr>
                                          <m:ctrlPr>
                                            <a:rPr lang="en-GB" sz="3600" i="1">
                                              <a:latin typeface="Cambria Math" panose="02040503050406030204" pitchFamily="18" charset="0"/>
                                            </a:rPr>
                                          </m:ctrlPr>
                                        </m:dPr>
                                        <m:e>
                                          <m:sSub>
                                            <m:sSubPr>
                                              <m:ctrlPr>
                                                <a:rPr lang="en-GB" sz="3600" i="1">
                                                  <a:latin typeface="Cambria Math" panose="02040503050406030204" pitchFamily="18" charset="0"/>
                                                </a:rPr>
                                              </m:ctrlPr>
                                            </m:sSubPr>
                                            <m:e>
                                              <m:r>
                                                <a:rPr lang="en-GB" sz="3600" i="1">
                                                  <a:latin typeface="Cambria Math" panose="02040503050406030204" pitchFamily="18" charset="0"/>
                                                </a:rPr>
                                                <m:t>𝑅</m:t>
                                              </m:r>
                                            </m:e>
                                            <m:sub>
                                              <m:r>
                                                <a:rPr lang="en-GB" sz="3600" i="1">
                                                  <a:latin typeface="Cambria Math" panose="02040503050406030204" pitchFamily="18" charset="0"/>
                                                </a:rPr>
                                                <m:t>𝑀</m:t>
                                              </m:r>
                                            </m:sub>
                                          </m:sSub>
                                          <m:r>
                                            <a:rPr lang="en-GB" sz="3600" i="1">
                                              <a:latin typeface="Cambria Math" panose="02040503050406030204" pitchFamily="18" charset="0"/>
                                            </a:rPr>
                                            <m:t>−</m:t>
                                          </m:r>
                                          <m:sSub>
                                            <m:sSubPr>
                                              <m:ctrlPr>
                                                <a:rPr lang="en-GB" sz="3600" i="1">
                                                  <a:latin typeface="Cambria Math" panose="02040503050406030204" pitchFamily="18" charset="0"/>
                                                </a:rPr>
                                              </m:ctrlPr>
                                            </m:sSubPr>
                                            <m:e>
                                              <m:r>
                                                <a:rPr lang="en-GB" sz="3600" i="1">
                                                  <a:latin typeface="Cambria Math" panose="02040503050406030204" pitchFamily="18" charset="0"/>
                                                </a:rPr>
                                                <m:t>𝑅</m:t>
                                              </m:r>
                                            </m:e>
                                            <m:sub>
                                              <m:r>
                                                <a:rPr lang="en-GB" sz="3600" i="1">
                                                  <a:latin typeface="Cambria Math" panose="02040503050406030204" pitchFamily="18" charset="0"/>
                                                </a:rPr>
                                                <m:t>𝑓</m:t>
                                              </m:r>
                                            </m:sub>
                                          </m:sSub>
                                        </m:e>
                                      </m:d>
                                    </m:e>
                                  </m:groupChr>
                                </m:e>
                                <m:lim>
                                  <m:r>
                                    <a:rPr lang="en-GB" sz="3600" i="1">
                                      <a:latin typeface="Cambria Math" panose="02040503050406030204" pitchFamily="18" charset="0"/>
                                    </a:rPr>
                                    <m:t>𝑀𝑎𝑟𝑘𝑒𝑡</m:t>
                                  </m:r>
                                  <m:r>
                                    <a:rPr lang="en-GB" sz="3600" i="1">
                                      <a:latin typeface="Cambria Math" panose="02040503050406030204" pitchFamily="18" charset="0"/>
                                    </a:rPr>
                                    <m:t> </m:t>
                                  </m:r>
                                  <m:r>
                                    <a:rPr lang="en-GB" sz="3600" i="1">
                                      <a:latin typeface="Cambria Math" panose="02040503050406030204" pitchFamily="18" charset="0"/>
                                    </a:rPr>
                                    <m:t>𝑅𝑖𝑠𝑘</m:t>
                                  </m:r>
                                  <m:r>
                                    <a:rPr lang="en-GB" sz="3600" i="1">
                                      <a:latin typeface="Cambria Math" panose="02040503050406030204" pitchFamily="18" charset="0"/>
                                    </a:rPr>
                                    <m:t> </m:t>
                                  </m:r>
                                  <m:r>
                                    <a:rPr lang="en-GB" sz="3600" i="1">
                                      <a:latin typeface="Cambria Math" panose="02040503050406030204" pitchFamily="18" charset="0"/>
                                    </a:rPr>
                                    <m:t>𝑃𝑟𝑒𝑚𝑖𝑢𝑚</m:t>
                                  </m:r>
                                </m:lim>
                              </m:limUpp>
                            </m:e>
                          </m:groupChr>
                        </m:e>
                        <m:lim>
                          <m:r>
                            <a:rPr lang="en-GB" sz="3600" b="0" i="1" smtClean="0">
                              <a:latin typeface="Cambria Math" panose="02040503050406030204" pitchFamily="18" charset="0"/>
                            </a:rPr>
                            <m:t>𝐸𝑞𝑢𝑖𝑡𝑦</m:t>
                          </m:r>
                          <m:r>
                            <a:rPr lang="en-GB" sz="3600" b="0" i="1" smtClean="0">
                              <a:latin typeface="Cambria Math" panose="02040503050406030204" pitchFamily="18" charset="0"/>
                            </a:rPr>
                            <m:t> </m:t>
                          </m:r>
                          <m:r>
                            <a:rPr lang="en-GB" sz="3600" b="0" i="1" smtClean="0">
                              <a:latin typeface="Cambria Math" panose="02040503050406030204" pitchFamily="18" charset="0"/>
                            </a:rPr>
                            <m:t>𝑅𝑖𝑠𝑘</m:t>
                          </m:r>
                          <m:r>
                            <a:rPr lang="en-GB" sz="3600" b="0" i="1" smtClean="0">
                              <a:latin typeface="Cambria Math" panose="02040503050406030204" pitchFamily="18" charset="0"/>
                            </a:rPr>
                            <m:t> </m:t>
                          </m:r>
                          <m:r>
                            <a:rPr lang="en-GB" sz="3600" b="0" i="1" smtClean="0">
                              <a:latin typeface="Cambria Math" panose="02040503050406030204" pitchFamily="18" charset="0"/>
                            </a:rPr>
                            <m:t>𝑃𝑟𝑒𝑚𝑖𝑢𝑚</m:t>
                          </m:r>
                        </m:lim>
                      </m:limLow>
                    </m:oMath>
                  </m:oMathPara>
                </a14:m>
                <a:endParaRPr lang="en-GB" sz="3600" dirty="0"/>
              </a:p>
            </p:txBody>
          </p:sp>
        </mc:Choice>
        <mc:Fallback xmlns="">
          <p:sp>
            <p:nvSpPr>
              <p:cNvPr id="4" name="TextBox 3"/>
              <p:cNvSpPr txBox="1">
                <a:spLocks noRot="1" noChangeAspect="1" noMove="1" noResize="1" noEditPoints="1" noAdjustHandles="1" noChangeArrowheads="1" noChangeShapeType="1" noTextEdit="1"/>
              </p:cNvSpPr>
              <p:nvPr/>
            </p:nvSpPr>
            <p:spPr>
              <a:xfrm>
                <a:off x="1274014" y="1556792"/>
                <a:ext cx="6667979" cy="1680588"/>
              </a:xfrm>
              <a:prstGeom prst="rect">
                <a:avLst/>
              </a:prstGeom>
              <a:blipFill>
                <a:blip r:embed="rId3"/>
                <a:stretch>
                  <a:fillRect/>
                </a:stretch>
              </a:blipFill>
            </p:spPr>
            <p:txBody>
              <a:bodyPr/>
              <a:lstStyle/>
              <a:p>
                <a:r>
                  <a:rPr lang="en-GB">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301752" y="404664"/>
            <a:ext cx="8534400" cy="758952"/>
          </a:xfrm>
        </p:spPr>
        <p:txBody>
          <a:bodyPr>
            <a:normAutofit fontScale="90000"/>
          </a:bodyPr>
          <a:lstStyle/>
          <a:p>
            <a:pPr eaLnBrk="1" hangingPunct="1"/>
            <a:r>
              <a:rPr lang="en-GB" sz="3800" b="1" dirty="0"/>
              <a:t>Comparing Expected return and asset betas</a:t>
            </a:r>
            <a:endParaRPr lang="en-US" sz="3800" b="1" dirty="0"/>
          </a:p>
        </p:txBody>
      </p:sp>
      <p:sp>
        <p:nvSpPr>
          <p:cNvPr id="20483" name="Rectangle 3"/>
          <p:cNvSpPr>
            <a:spLocks noGrp="1" noChangeArrowheads="1"/>
          </p:cNvSpPr>
          <p:nvPr>
            <p:ph type="body" idx="1"/>
          </p:nvPr>
        </p:nvSpPr>
        <p:spPr>
          <a:xfrm>
            <a:off x="457200" y="1816224"/>
            <a:ext cx="8229600" cy="4925144"/>
          </a:xfrm>
        </p:spPr>
        <p:txBody>
          <a:bodyPr>
            <a:normAutofit lnSpcReduction="10000"/>
          </a:bodyPr>
          <a:lstStyle/>
          <a:p>
            <a:pPr eaLnBrk="1" hangingPunct="1">
              <a:lnSpc>
                <a:spcPct val="90000"/>
              </a:lnSpc>
              <a:buFont typeface="Wingdings" pitchFamily="2" charset="2"/>
              <a:buNone/>
            </a:pPr>
            <a:r>
              <a:rPr lang="en-US" sz="2600" u="sng" dirty="0"/>
              <a:t>Security</a:t>
            </a:r>
            <a:r>
              <a:rPr lang="en-US" sz="2600" dirty="0"/>
              <a:t>	    </a:t>
            </a:r>
            <a:r>
              <a:rPr lang="en-US" sz="2600" u="sng" dirty="0"/>
              <a:t>Actual Return</a:t>
            </a:r>
            <a:r>
              <a:rPr lang="en-US" sz="2600" dirty="0"/>
              <a:t>		</a:t>
            </a:r>
            <a:r>
              <a:rPr lang="en-US" sz="2600" u="sng" dirty="0"/>
              <a:t> Beta </a:t>
            </a:r>
          </a:p>
          <a:p>
            <a:pPr eaLnBrk="1" hangingPunct="1">
              <a:lnSpc>
                <a:spcPct val="90000"/>
              </a:lnSpc>
              <a:buFont typeface="Wingdings" pitchFamily="2" charset="2"/>
              <a:buNone/>
            </a:pPr>
            <a:r>
              <a:rPr lang="en-US" sz="2600" dirty="0"/>
              <a:t>HT			 17.4%		 1.30</a:t>
            </a:r>
          </a:p>
          <a:p>
            <a:pPr eaLnBrk="1" hangingPunct="1">
              <a:lnSpc>
                <a:spcPct val="90000"/>
              </a:lnSpc>
              <a:buFont typeface="Wingdings" pitchFamily="2" charset="2"/>
              <a:buNone/>
            </a:pPr>
            <a:r>
              <a:rPr lang="en-US" sz="2600" b="1" dirty="0" err="1">
                <a:solidFill>
                  <a:srgbClr val="C00000"/>
                </a:solidFill>
              </a:rPr>
              <a:t>Mkt</a:t>
            </a:r>
            <a:r>
              <a:rPr lang="en-US" sz="2600" b="1" dirty="0">
                <a:solidFill>
                  <a:srgbClr val="C00000"/>
                </a:solidFill>
              </a:rPr>
              <a:t>       		 15.0			 1.00</a:t>
            </a:r>
          </a:p>
          <a:p>
            <a:pPr eaLnBrk="1" hangingPunct="1">
              <a:lnSpc>
                <a:spcPct val="90000"/>
              </a:lnSpc>
              <a:buFont typeface="Wingdings" pitchFamily="2" charset="2"/>
              <a:buNone/>
            </a:pPr>
            <a:r>
              <a:rPr lang="en-US" sz="2600" dirty="0"/>
              <a:t>PM			 13.8			 0.89</a:t>
            </a:r>
          </a:p>
          <a:p>
            <a:pPr eaLnBrk="1" hangingPunct="1">
              <a:lnSpc>
                <a:spcPct val="90000"/>
              </a:lnSpc>
              <a:buFont typeface="Wingdings" pitchFamily="2" charset="2"/>
              <a:buNone/>
            </a:pPr>
            <a:r>
              <a:rPr lang="en-US" sz="2600" b="1" dirty="0">
                <a:solidFill>
                  <a:srgbClr val="C00000"/>
                </a:solidFill>
              </a:rPr>
              <a:t>T-Bills		  </a:t>
            </a:r>
            <a:r>
              <a:rPr lang="en-US" sz="1900" b="1" dirty="0">
                <a:solidFill>
                  <a:srgbClr val="C00000"/>
                </a:solidFill>
              </a:rPr>
              <a:t> </a:t>
            </a:r>
            <a:r>
              <a:rPr lang="en-US" sz="2600" b="1" dirty="0">
                <a:solidFill>
                  <a:srgbClr val="C00000"/>
                </a:solidFill>
              </a:rPr>
              <a:t>8.0			 0.00</a:t>
            </a:r>
          </a:p>
          <a:p>
            <a:pPr eaLnBrk="1" hangingPunct="1">
              <a:lnSpc>
                <a:spcPct val="90000"/>
              </a:lnSpc>
              <a:buFont typeface="Wingdings" pitchFamily="2" charset="2"/>
              <a:buNone/>
            </a:pPr>
            <a:r>
              <a:rPr lang="en-US" sz="2600" dirty="0"/>
              <a:t>COLL   </a:t>
            </a:r>
            <a:r>
              <a:rPr lang="en-US" sz="1900" dirty="0"/>
              <a:t>                                 </a:t>
            </a:r>
            <a:r>
              <a:rPr lang="en-US" sz="2600" dirty="0"/>
              <a:t>1.7			-0.87</a:t>
            </a:r>
          </a:p>
          <a:p>
            <a:pPr eaLnBrk="1" hangingPunct="1">
              <a:lnSpc>
                <a:spcPct val="90000"/>
              </a:lnSpc>
              <a:buFont typeface="Wingdings" pitchFamily="2" charset="2"/>
              <a:buNone/>
            </a:pPr>
            <a:endParaRPr lang="en-US" sz="2600" dirty="0"/>
          </a:p>
          <a:p>
            <a:pPr eaLnBrk="1" hangingPunct="1">
              <a:lnSpc>
                <a:spcPct val="90000"/>
              </a:lnSpc>
              <a:buFont typeface="Wingdings" pitchFamily="2" charset="2"/>
              <a:buNone/>
            </a:pPr>
            <a:r>
              <a:rPr lang="en-US" sz="2600" dirty="0"/>
              <a:t>Riskier securities have higher returns, so the rank order is OK.</a:t>
            </a:r>
          </a:p>
          <a:p>
            <a:pPr eaLnBrk="1" hangingPunct="1">
              <a:lnSpc>
                <a:spcPct val="90000"/>
              </a:lnSpc>
              <a:buFont typeface="Wingdings" pitchFamily="2" charset="2"/>
              <a:buNone/>
            </a:pPr>
            <a:endParaRPr lang="en-US" sz="2600" dirty="0"/>
          </a:p>
          <a:p>
            <a:pPr eaLnBrk="1" hangingPunct="1">
              <a:lnSpc>
                <a:spcPct val="90000"/>
              </a:lnSpc>
              <a:buFont typeface="Wingdings" pitchFamily="2" charset="2"/>
              <a:buNone/>
            </a:pPr>
            <a:r>
              <a:rPr lang="en-US" sz="4000" b="1" dirty="0"/>
              <a:t>Find the expected returns</a:t>
            </a:r>
          </a:p>
          <a:p>
            <a:pPr eaLnBrk="1" hangingPunct="1">
              <a:lnSpc>
                <a:spcPct val="90000"/>
              </a:lnSpc>
            </a:pPr>
            <a:endParaRPr lang="en-US" sz="2600" dirty="0"/>
          </a:p>
        </p:txBody>
      </p:sp>
    </p:spTree>
    <p:extLst>
      <p:ext uri="{BB962C8B-B14F-4D97-AF65-F5344CB8AC3E}">
        <p14:creationId xmlns:p14="http://schemas.microsoft.com/office/powerpoint/2010/main" val="22081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483">
                                            <p:txEl>
                                              <p:pRg st="9" end="9"/>
                                            </p:txEl>
                                          </p:spTgt>
                                        </p:tgtEl>
                                        <p:attrNameLst>
                                          <p:attrName>style.visibility</p:attrName>
                                        </p:attrNameLst>
                                      </p:cBhvr>
                                      <p:to>
                                        <p:strVal val="visible"/>
                                      </p:to>
                                    </p:set>
                                    <p:anim calcmode="lin" valueType="num">
                                      <p:cBhvr additive="base">
                                        <p:cTn id="7" dur="500" fill="hold"/>
                                        <p:tgtEl>
                                          <p:spTgt spid="20483">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normAutofit fontScale="90000"/>
          </a:bodyPr>
          <a:lstStyle/>
          <a:p>
            <a:pPr eaLnBrk="1" hangingPunct="1"/>
            <a:r>
              <a:rPr lang="en-GB" sz="3800" b="1" dirty="0"/>
              <a:t>Calculating Required Rates of Return</a:t>
            </a:r>
            <a:endParaRPr lang="en-US" sz="3800" b="1" dirty="0"/>
          </a:p>
        </p:txBody>
      </p:sp>
      <p:sp>
        <p:nvSpPr>
          <p:cNvPr id="21507" name="Rectangle 3"/>
          <p:cNvSpPr>
            <a:spLocks noGrp="1" noChangeArrowheads="1"/>
          </p:cNvSpPr>
          <p:nvPr>
            <p:ph type="body" idx="1"/>
          </p:nvPr>
        </p:nvSpPr>
        <p:spPr/>
        <p:txBody>
          <a:bodyPr/>
          <a:lstStyle/>
          <a:p>
            <a:pPr eaLnBrk="1" hangingPunct="1">
              <a:lnSpc>
                <a:spcPct val="90000"/>
              </a:lnSpc>
              <a:buFont typeface="Wingdings" pitchFamily="2" charset="2"/>
              <a:buNone/>
            </a:pPr>
            <a:r>
              <a:rPr lang="en-US" b="1" dirty="0"/>
              <a:t>R</a:t>
            </a:r>
            <a:r>
              <a:rPr lang="en-US" b="1" baseline="-25000" dirty="0"/>
              <a:t>HT</a:t>
            </a:r>
            <a:r>
              <a:rPr lang="en-US" sz="1500" b="1" dirty="0"/>
              <a:t> </a:t>
            </a:r>
            <a:r>
              <a:rPr lang="en-US" sz="1500" dirty="0"/>
              <a:t> </a:t>
            </a:r>
            <a:r>
              <a:rPr lang="en-US" sz="2600" dirty="0"/>
              <a:t>	 = 8.0% + (15.0% - 8.0%)(1.30)</a:t>
            </a:r>
          </a:p>
          <a:p>
            <a:pPr eaLnBrk="1" hangingPunct="1">
              <a:lnSpc>
                <a:spcPct val="90000"/>
              </a:lnSpc>
              <a:buFont typeface="Wingdings" pitchFamily="2" charset="2"/>
              <a:buNone/>
            </a:pPr>
            <a:r>
              <a:rPr lang="en-US" sz="2600" dirty="0"/>
              <a:t>	        = 8.0% + (7.0%)(1.30)</a:t>
            </a:r>
          </a:p>
          <a:p>
            <a:pPr eaLnBrk="1" hangingPunct="1">
              <a:lnSpc>
                <a:spcPct val="90000"/>
              </a:lnSpc>
              <a:buFont typeface="Wingdings" pitchFamily="2" charset="2"/>
              <a:buNone/>
            </a:pPr>
            <a:r>
              <a:rPr lang="en-US" sz="2600" dirty="0"/>
              <a:t>         	 = </a:t>
            </a:r>
            <a:r>
              <a:rPr lang="en-US" sz="2600" b="1" dirty="0"/>
              <a:t>17.10%</a:t>
            </a:r>
          </a:p>
          <a:p>
            <a:pPr eaLnBrk="1" hangingPunct="1">
              <a:lnSpc>
                <a:spcPct val="90000"/>
              </a:lnSpc>
              <a:buFont typeface="Wingdings" pitchFamily="2" charset="2"/>
              <a:buNone/>
            </a:pPr>
            <a:r>
              <a:rPr lang="en-US" sz="2600" dirty="0"/>
              <a:t>          </a:t>
            </a:r>
          </a:p>
          <a:p>
            <a:pPr eaLnBrk="1" hangingPunct="1">
              <a:lnSpc>
                <a:spcPct val="90000"/>
              </a:lnSpc>
              <a:buFont typeface="Wingdings" pitchFamily="2" charset="2"/>
              <a:buNone/>
            </a:pPr>
            <a:r>
              <a:rPr lang="en-US" sz="2600"/>
              <a:t>  </a:t>
            </a:r>
            <a:r>
              <a:rPr lang="en-US" sz="2600" b="1"/>
              <a:t>R</a:t>
            </a:r>
            <a:r>
              <a:rPr lang="en-US" sz="1500" b="1"/>
              <a:t>Mkt</a:t>
            </a:r>
            <a:r>
              <a:rPr lang="en-US" sz="1500"/>
              <a:t>         </a:t>
            </a:r>
            <a:r>
              <a:rPr lang="en-US" sz="2600"/>
              <a:t>  = 8.0% + (7.0%)(1.00)	= </a:t>
            </a:r>
            <a:r>
              <a:rPr lang="en-US" sz="2600" b="1"/>
              <a:t>15.00%</a:t>
            </a:r>
            <a:endParaRPr lang="en-US" sz="2600" b="1" baseline="-25000"/>
          </a:p>
          <a:p>
            <a:pPr eaLnBrk="1" hangingPunct="1">
              <a:lnSpc>
                <a:spcPct val="90000"/>
              </a:lnSpc>
              <a:buFont typeface="Wingdings" pitchFamily="2" charset="2"/>
              <a:buNone/>
            </a:pPr>
            <a:r>
              <a:rPr lang="en-US" b="1"/>
              <a:t>  R</a:t>
            </a:r>
            <a:r>
              <a:rPr lang="en-US" sz="1500" b="1"/>
              <a:t>PM            </a:t>
            </a:r>
            <a:r>
              <a:rPr lang="en-US" sz="2600" b="1"/>
              <a:t> </a:t>
            </a:r>
            <a:r>
              <a:rPr lang="en-US" sz="2600"/>
              <a:t>= 8.0% + (7.0%)(0.89)	= </a:t>
            </a:r>
            <a:r>
              <a:rPr lang="en-US" sz="2600" b="1"/>
              <a:t>14.23%</a:t>
            </a:r>
          </a:p>
          <a:p>
            <a:pPr eaLnBrk="1" hangingPunct="1">
              <a:lnSpc>
                <a:spcPct val="90000"/>
              </a:lnSpc>
              <a:buFont typeface="Wingdings" pitchFamily="2" charset="2"/>
              <a:buNone/>
            </a:pPr>
            <a:r>
              <a:rPr lang="en-US" sz="3900" b="1" baseline="-25000"/>
              <a:t>  R</a:t>
            </a:r>
            <a:r>
              <a:rPr lang="en-US" sz="1500" b="1" baseline="-25000"/>
              <a:t>T-bill</a:t>
            </a:r>
            <a:r>
              <a:rPr lang="en-US" sz="2600"/>
              <a:t>	       = 8.0% + (7.0%)(0.00)	=  </a:t>
            </a:r>
            <a:r>
              <a:rPr lang="en-US" sz="1900"/>
              <a:t> </a:t>
            </a:r>
            <a:r>
              <a:rPr lang="en-US" sz="2600" b="1"/>
              <a:t>8.00%</a:t>
            </a:r>
            <a:endParaRPr lang="en-US" sz="2600" b="1" baseline="-25000"/>
          </a:p>
          <a:p>
            <a:pPr eaLnBrk="1" hangingPunct="1">
              <a:lnSpc>
                <a:spcPct val="90000"/>
              </a:lnSpc>
              <a:buFont typeface="Wingdings" pitchFamily="2" charset="2"/>
              <a:buNone/>
            </a:pPr>
            <a:r>
              <a:rPr lang="en-US"/>
              <a:t> </a:t>
            </a:r>
            <a:r>
              <a:rPr lang="en-US" b="1"/>
              <a:t> R</a:t>
            </a:r>
            <a:r>
              <a:rPr lang="en-US" sz="1700" b="1"/>
              <a:t>coll            </a:t>
            </a:r>
            <a:r>
              <a:rPr lang="en-US" sz="2600"/>
              <a:t>= 8.0% + (7.0%)(-0.87)	=  </a:t>
            </a:r>
            <a:r>
              <a:rPr lang="en-US" sz="1900"/>
              <a:t> </a:t>
            </a:r>
            <a:r>
              <a:rPr lang="en-US" sz="2600" b="1"/>
              <a:t>1.91%</a:t>
            </a:r>
            <a:endParaRPr lang="en-US" sz="2600" b="1" dirty="0"/>
          </a:p>
        </p:txBody>
      </p:sp>
    </p:spTree>
    <p:extLst>
      <p:ext uri="{BB962C8B-B14F-4D97-AF65-F5344CB8AC3E}">
        <p14:creationId xmlns:p14="http://schemas.microsoft.com/office/powerpoint/2010/main" val="2970949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1507">
                                            <p:txEl>
                                              <p:pRg st="4" end="4"/>
                                            </p:txEl>
                                          </p:spTgt>
                                        </p:tgtEl>
                                        <p:attrNameLst>
                                          <p:attrName>style.visibility</p:attrName>
                                        </p:attrNameLst>
                                      </p:cBhvr>
                                      <p:to>
                                        <p:strVal val="visible"/>
                                      </p:to>
                                    </p:set>
                                    <p:animEffect transition="in" filter="box(in)">
                                      <p:cBhvr>
                                        <p:cTn id="7" dur="500"/>
                                        <p:tgtEl>
                                          <p:spTgt spid="21507">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1507">
                                            <p:txEl>
                                              <p:pRg st="5" end="5"/>
                                            </p:txEl>
                                          </p:spTgt>
                                        </p:tgtEl>
                                        <p:attrNameLst>
                                          <p:attrName>style.visibility</p:attrName>
                                        </p:attrNameLst>
                                      </p:cBhvr>
                                      <p:to>
                                        <p:strVal val="visible"/>
                                      </p:to>
                                    </p:set>
                                    <p:animEffect transition="in" filter="box(in)">
                                      <p:cBhvr>
                                        <p:cTn id="12" dur="500"/>
                                        <p:tgtEl>
                                          <p:spTgt spid="21507">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1507">
                                            <p:txEl>
                                              <p:pRg st="6" end="6"/>
                                            </p:txEl>
                                          </p:spTgt>
                                        </p:tgtEl>
                                        <p:attrNameLst>
                                          <p:attrName>style.visibility</p:attrName>
                                        </p:attrNameLst>
                                      </p:cBhvr>
                                      <p:to>
                                        <p:strVal val="visible"/>
                                      </p:to>
                                    </p:set>
                                    <p:animEffect transition="in" filter="box(in)">
                                      <p:cBhvr>
                                        <p:cTn id="17" dur="500"/>
                                        <p:tgtEl>
                                          <p:spTgt spid="21507">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1507">
                                            <p:txEl>
                                              <p:pRg st="7" end="7"/>
                                            </p:txEl>
                                          </p:spTgt>
                                        </p:tgtEl>
                                        <p:attrNameLst>
                                          <p:attrName>style.visibility</p:attrName>
                                        </p:attrNameLst>
                                      </p:cBhvr>
                                      <p:to>
                                        <p:strVal val="visible"/>
                                      </p:to>
                                    </p:set>
                                    <p:animEffect transition="in" filter="box(in)">
                                      <p:cBhvr>
                                        <p:cTn id="22" dur="500"/>
                                        <p:tgtEl>
                                          <p:spTgt spid="2150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590872" y="188640"/>
            <a:ext cx="8229600" cy="864394"/>
          </a:xfrm>
        </p:spPr>
        <p:txBody>
          <a:bodyPr>
            <a:noAutofit/>
          </a:bodyPr>
          <a:lstStyle/>
          <a:p>
            <a:pPr algn="ctr" eaLnBrk="1" hangingPunct="1"/>
            <a:r>
              <a:rPr lang="en-GB" sz="2800" b="1" dirty="0">
                <a:solidFill>
                  <a:schemeClr val="tx1"/>
                </a:solidFill>
              </a:rPr>
              <a:t>SML: Security Market Line</a:t>
            </a:r>
            <a:br>
              <a:rPr lang="en-GB" sz="2800" b="1" dirty="0">
                <a:solidFill>
                  <a:schemeClr val="tx1"/>
                </a:solidFill>
              </a:rPr>
            </a:br>
            <a:r>
              <a:rPr lang="en-GB" sz="2000" b="1" dirty="0">
                <a:solidFill>
                  <a:schemeClr val="tx1"/>
                </a:solidFill>
              </a:rPr>
              <a:t>Depicting CAPM Graphically beta and Expected Return </a:t>
            </a:r>
            <a:endParaRPr lang="en-US" sz="2800" b="1" dirty="0">
              <a:solidFill>
                <a:schemeClr val="tx1"/>
              </a:solidFill>
            </a:endParaRPr>
          </a:p>
        </p:txBody>
      </p:sp>
      <p:grpSp>
        <p:nvGrpSpPr>
          <p:cNvPr id="2" name="Group 4"/>
          <p:cNvGrpSpPr>
            <a:grpSpLocks/>
          </p:cNvGrpSpPr>
          <p:nvPr/>
        </p:nvGrpSpPr>
        <p:grpSpPr bwMode="auto">
          <a:xfrm>
            <a:off x="755650" y="1628800"/>
            <a:ext cx="7639050" cy="4521204"/>
            <a:chOff x="399" y="1680"/>
            <a:chExt cx="4812" cy="2848"/>
          </a:xfrm>
        </p:grpSpPr>
        <p:sp>
          <p:nvSpPr>
            <p:cNvPr id="25605" name="Rectangle 5"/>
            <p:cNvSpPr>
              <a:spLocks noChangeArrowheads="1"/>
            </p:cNvSpPr>
            <p:nvPr/>
          </p:nvSpPr>
          <p:spPr bwMode="auto">
            <a:xfrm>
              <a:off x="1732" y="2741"/>
              <a:ext cx="236" cy="576"/>
            </a:xfrm>
            <a:prstGeom prst="rect">
              <a:avLst/>
            </a:prstGeom>
            <a:noFill/>
            <a:ln w="9525">
              <a:noFill/>
              <a:miter lim="800000"/>
              <a:headEnd/>
              <a:tailEnd/>
            </a:ln>
          </p:spPr>
          <p:txBody>
            <a:bodyPr wrap="none" lIns="92075" tIns="46038" rIns="92075" bIns="46038">
              <a:spAutoFit/>
            </a:bodyPr>
            <a:lstStyle/>
            <a:p>
              <a:pPr algn="ctr" eaLnBrk="0" hangingPunct="0"/>
              <a:r>
                <a:rPr lang="en-US" sz="5400" b="1">
                  <a:solidFill>
                    <a:schemeClr val="hlink"/>
                  </a:solidFill>
                </a:rPr>
                <a:t>.</a:t>
              </a:r>
            </a:p>
          </p:txBody>
        </p:sp>
        <p:sp>
          <p:nvSpPr>
            <p:cNvPr id="25606" name="Rectangle 6"/>
            <p:cNvSpPr>
              <a:spLocks noChangeArrowheads="1"/>
            </p:cNvSpPr>
            <p:nvPr/>
          </p:nvSpPr>
          <p:spPr bwMode="auto">
            <a:xfrm>
              <a:off x="1000" y="3211"/>
              <a:ext cx="236" cy="576"/>
            </a:xfrm>
            <a:prstGeom prst="rect">
              <a:avLst/>
            </a:prstGeom>
            <a:noFill/>
            <a:ln w="9525">
              <a:noFill/>
              <a:miter lim="800000"/>
              <a:headEnd/>
              <a:tailEnd/>
            </a:ln>
          </p:spPr>
          <p:txBody>
            <a:bodyPr wrap="none" lIns="92075" tIns="46038" rIns="92075" bIns="46038">
              <a:spAutoFit/>
            </a:bodyPr>
            <a:lstStyle/>
            <a:p>
              <a:pPr algn="ctr" eaLnBrk="0" hangingPunct="0"/>
              <a:r>
                <a:rPr lang="en-US" sz="5400" b="1">
                  <a:solidFill>
                    <a:schemeClr val="accent2"/>
                  </a:solidFill>
                </a:rPr>
                <a:t>.</a:t>
              </a:r>
            </a:p>
          </p:txBody>
        </p:sp>
        <p:sp>
          <p:nvSpPr>
            <p:cNvPr id="25607" name="Line 7"/>
            <p:cNvSpPr>
              <a:spLocks noChangeShapeType="1"/>
            </p:cNvSpPr>
            <p:nvPr/>
          </p:nvSpPr>
          <p:spPr bwMode="auto">
            <a:xfrm flipV="1">
              <a:off x="447" y="1950"/>
              <a:ext cx="3743" cy="1919"/>
            </a:xfrm>
            <a:prstGeom prst="line">
              <a:avLst/>
            </a:prstGeom>
            <a:ln>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endParaRPr lang="en-GB"/>
            </a:p>
          </p:txBody>
        </p:sp>
        <p:sp>
          <p:nvSpPr>
            <p:cNvPr id="25608" name="Rectangle 8"/>
            <p:cNvSpPr>
              <a:spLocks noChangeArrowheads="1"/>
            </p:cNvSpPr>
            <p:nvPr/>
          </p:nvSpPr>
          <p:spPr bwMode="auto">
            <a:xfrm>
              <a:off x="960" y="3696"/>
              <a:ext cx="532" cy="288"/>
            </a:xfrm>
            <a:prstGeom prst="rect">
              <a:avLst/>
            </a:prstGeom>
            <a:noFill/>
            <a:ln w="9525">
              <a:noFill/>
              <a:miter lim="800000"/>
              <a:headEnd/>
              <a:tailEnd/>
            </a:ln>
          </p:spPr>
          <p:txBody>
            <a:bodyPr wrap="none" lIns="92075" tIns="46038" rIns="92075" bIns="46038">
              <a:spAutoFit/>
            </a:bodyPr>
            <a:lstStyle/>
            <a:p>
              <a:pPr algn="ctr" eaLnBrk="0" hangingPunct="0"/>
              <a:r>
                <a:rPr lang="en-US" sz="2400" b="1">
                  <a:solidFill>
                    <a:schemeClr val="accent2"/>
                  </a:solidFill>
                </a:rPr>
                <a:t>Coll.</a:t>
              </a:r>
            </a:p>
          </p:txBody>
        </p:sp>
        <p:sp>
          <p:nvSpPr>
            <p:cNvPr id="25609" name="Rectangle 9"/>
            <p:cNvSpPr>
              <a:spLocks noChangeArrowheads="1"/>
            </p:cNvSpPr>
            <p:nvPr/>
          </p:nvSpPr>
          <p:spPr bwMode="auto">
            <a:xfrm>
              <a:off x="2824" y="2059"/>
              <a:ext cx="236" cy="576"/>
            </a:xfrm>
            <a:prstGeom prst="rect">
              <a:avLst/>
            </a:prstGeom>
            <a:noFill/>
            <a:ln w="9525">
              <a:noFill/>
              <a:miter lim="800000"/>
              <a:headEnd/>
              <a:tailEnd/>
            </a:ln>
          </p:spPr>
          <p:txBody>
            <a:bodyPr wrap="none" lIns="92075" tIns="46038" rIns="92075" bIns="46038">
              <a:spAutoFit/>
            </a:bodyPr>
            <a:lstStyle/>
            <a:p>
              <a:pPr algn="ctr" eaLnBrk="0" hangingPunct="0"/>
              <a:r>
                <a:rPr lang="en-US" sz="5400" b="1">
                  <a:solidFill>
                    <a:schemeClr val="tx2"/>
                  </a:solidFill>
                </a:rPr>
                <a:t>.</a:t>
              </a:r>
            </a:p>
          </p:txBody>
        </p:sp>
        <p:sp>
          <p:nvSpPr>
            <p:cNvPr id="25610" name="Rectangle 10"/>
            <p:cNvSpPr>
              <a:spLocks noChangeArrowheads="1"/>
            </p:cNvSpPr>
            <p:nvPr/>
          </p:nvSpPr>
          <p:spPr bwMode="auto">
            <a:xfrm>
              <a:off x="2581" y="2216"/>
              <a:ext cx="372" cy="288"/>
            </a:xfrm>
            <a:prstGeom prst="rect">
              <a:avLst/>
            </a:prstGeom>
            <a:noFill/>
            <a:ln w="9525">
              <a:noFill/>
              <a:miter lim="800000"/>
              <a:headEnd/>
              <a:tailEnd/>
            </a:ln>
          </p:spPr>
          <p:txBody>
            <a:bodyPr wrap="none" lIns="92075" tIns="46038" rIns="92075" bIns="46038">
              <a:spAutoFit/>
            </a:bodyPr>
            <a:lstStyle/>
            <a:p>
              <a:pPr algn="ctr" eaLnBrk="0" hangingPunct="0"/>
              <a:r>
                <a:rPr lang="en-US" sz="2400" b="1">
                  <a:solidFill>
                    <a:schemeClr val="tx2"/>
                  </a:solidFill>
                </a:rPr>
                <a:t>HT</a:t>
              </a:r>
            </a:p>
          </p:txBody>
        </p:sp>
        <p:sp>
          <p:nvSpPr>
            <p:cNvPr id="25611" name="Rectangle 11"/>
            <p:cNvSpPr>
              <a:spLocks noChangeArrowheads="1"/>
            </p:cNvSpPr>
            <p:nvPr/>
          </p:nvSpPr>
          <p:spPr bwMode="auto">
            <a:xfrm>
              <a:off x="1882" y="3139"/>
              <a:ext cx="681" cy="288"/>
            </a:xfrm>
            <a:prstGeom prst="rect">
              <a:avLst/>
            </a:prstGeom>
            <a:noFill/>
            <a:ln w="9525">
              <a:noFill/>
              <a:miter lim="800000"/>
              <a:headEnd/>
              <a:tailEnd/>
            </a:ln>
          </p:spPr>
          <p:txBody>
            <a:bodyPr wrap="none" lIns="92075" tIns="46038" rIns="92075" bIns="46038">
              <a:spAutoFit/>
            </a:bodyPr>
            <a:lstStyle/>
            <a:p>
              <a:pPr algn="ctr" eaLnBrk="0" hangingPunct="0"/>
              <a:r>
                <a:rPr lang="en-US" sz="2400" b="1">
                  <a:solidFill>
                    <a:schemeClr val="hlink"/>
                  </a:solidFill>
                </a:rPr>
                <a:t>T-bills</a:t>
              </a:r>
            </a:p>
          </p:txBody>
        </p:sp>
        <p:sp>
          <p:nvSpPr>
            <p:cNvPr id="25612" name="Rectangle 12"/>
            <p:cNvSpPr>
              <a:spLocks noChangeArrowheads="1"/>
            </p:cNvSpPr>
            <p:nvPr/>
          </p:nvSpPr>
          <p:spPr bwMode="auto">
            <a:xfrm>
              <a:off x="2606" y="2357"/>
              <a:ext cx="236" cy="576"/>
            </a:xfrm>
            <a:prstGeom prst="rect">
              <a:avLst/>
            </a:prstGeom>
            <a:noFill/>
            <a:ln w="9525">
              <a:noFill/>
              <a:miter lim="800000"/>
              <a:headEnd/>
              <a:tailEnd/>
            </a:ln>
          </p:spPr>
          <p:txBody>
            <a:bodyPr wrap="none" lIns="92075" tIns="46038" rIns="92075" bIns="46038">
              <a:spAutoFit/>
            </a:bodyPr>
            <a:lstStyle/>
            <a:p>
              <a:pPr algn="ctr" eaLnBrk="0" hangingPunct="0"/>
              <a:r>
                <a:rPr lang="en-US" sz="5400" b="1"/>
                <a:t>.</a:t>
              </a:r>
            </a:p>
          </p:txBody>
        </p:sp>
        <p:sp>
          <p:nvSpPr>
            <p:cNvPr id="25613" name="Rectangle 13"/>
            <p:cNvSpPr>
              <a:spLocks noChangeArrowheads="1"/>
            </p:cNvSpPr>
            <p:nvPr/>
          </p:nvSpPr>
          <p:spPr bwMode="auto">
            <a:xfrm>
              <a:off x="2939" y="2972"/>
              <a:ext cx="1723" cy="466"/>
            </a:xfrm>
            <a:prstGeom prst="rect">
              <a:avLst/>
            </a:prstGeom>
            <a:noFill/>
            <a:ln w="9525">
              <a:noFill/>
              <a:miter lim="800000"/>
              <a:headEnd/>
              <a:tailEnd/>
            </a:ln>
          </p:spPr>
          <p:txBody>
            <a:bodyPr wrap="square" lIns="92075" tIns="46038" rIns="92075" bIns="46038">
              <a:spAutoFit/>
            </a:bodyPr>
            <a:lstStyle/>
            <a:p>
              <a:pPr algn="ctr" eaLnBrk="0" hangingPunct="0"/>
              <a:r>
                <a:rPr lang="en-US" sz="2400" b="1" dirty="0"/>
                <a:t>PM</a:t>
              </a:r>
              <a:endParaRPr lang="en-US" b="1" dirty="0"/>
            </a:p>
            <a:p>
              <a:pPr algn="ctr" eaLnBrk="0" hangingPunct="0"/>
              <a:r>
                <a:rPr lang="en-US" b="1" dirty="0"/>
                <a:t>Overvalued-Sell</a:t>
              </a:r>
            </a:p>
          </p:txBody>
        </p:sp>
        <p:sp>
          <p:nvSpPr>
            <p:cNvPr id="25614" name="Rectangle 14"/>
            <p:cNvSpPr>
              <a:spLocks noChangeArrowheads="1"/>
            </p:cNvSpPr>
            <p:nvPr/>
          </p:nvSpPr>
          <p:spPr bwMode="auto">
            <a:xfrm>
              <a:off x="4176" y="1776"/>
              <a:ext cx="521" cy="288"/>
            </a:xfrm>
            <a:prstGeom prst="rect">
              <a:avLst/>
            </a:prstGeom>
            <a:noFill/>
            <a:ln w="9525">
              <a:noFill/>
              <a:miter lim="800000"/>
              <a:headEnd/>
              <a:tailEnd/>
            </a:ln>
          </p:spPr>
          <p:txBody>
            <a:bodyPr wrap="none" lIns="92075" tIns="46038" rIns="92075" bIns="46038">
              <a:spAutoFit/>
            </a:bodyPr>
            <a:lstStyle/>
            <a:p>
              <a:pPr algn="ctr" eaLnBrk="0" hangingPunct="0"/>
              <a:r>
                <a:rPr lang="en-US" sz="2400" b="1"/>
                <a:t>SML</a:t>
              </a:r>
            </a:p>
          </p:txBody>
        </p:sp>
        <p:sp>
          <p:nvSpPr>
            <p:cNvPr id="25615" name="Line 15"/>
            <p:cNvSpPr>
              <a:spLocks noChangeShapeType="1"/>
            </p:cNvSpPr>
            <p:nvPr/>
          </p:nvSpPr>
          <p:spPr bwMode="auto">
            <a:xfrm>
              <a:off x="1838" y="1968"/>
              <a:ext cx="0" cy="1920"/>
            </a:xfrm>
            <a:prstGeom prst="line">
              <a:avLst/>
            </a:prstGeom>
            <a:noFill/>
            <a:ln w="12700">
              <a:solidFill>
                <a:schemeClr val="tx1"/>
              </a:solidFill>
              <a:round/>
              <a:headEnd type="none" w="sm" len="sm"/>
              <a:tailEnd type="none" w="sm" len="sm"/>
            </a:ln>
          </p:spPr>
          <p:txBody>
            <a:bodyPr wrap="none" anchor="ctr"/>
            <a:lstStyle/>
            <a:p>
              <a:endParaRPr lang="en-GB"/>
            </a:p>
          </p:txBody>
        </p:sp>
        <p:sp>
          <p:nvSpPr>
            <p:cNvPr id="25616" name="Line 16"/>
            <p:cNvSpPr>
              <a:spLocks noChangeShapeType="1"/>
            </p:cNvSpPr>
            <p:nvPr/>
          </p:nvSpPr>
          <p:spPr bwMode="auto">
            <a:xfrm>
              <a:off x="399" y="3677"/>
              <a:ext cx="4032" cy="0"/>
            </a:xfrm>
            <a:prstGeom prst="line">
              <a:avLst/>
            </a:prstGeom>
            <a:noFill/>
            <a:ln w="12700">
              <a:solidFill>
                <a:schemeClr val="tx1"/>
              </a:solidFill>
              <a:round/>
              <a:headEnd type="none" w="sm" len="sm"/>
              <a:tailEnd type="none" w="sm" len="sm"/>
            </a:ln>
          </p:spPr>
          <p:txBody>
            <a:bodyPr wrap="none" anchor="ctr"/>
            <a:lstStyle/>
            <a:p>
              <a:endParaRPr lang="en-GB"/>
            </a:p>
          </p:txBody>
        </p:sp>
        <p:sp>
          <p:nvSpPr>
            <p:cNvPr id="25617" name="Rectangle 17"/>
            <p:cNvSpPr>
              <a:spLocks noChangeArrowheads="1"/>
            </p:cNvSpPr>
            <p:nvPr/>
          </p:nvSpPr>
          <p:spPr bwMode="auto">
            <a:xfrm>
              <a:off x="940" y="2527"/>
              <a:ext cx="917" cy="757"/>
            </a:xfrm>
            <a:prstGeom prst="rect">
              <a:avLst/>
            </a:prstGeom>
            <a:noFill/>
            <a:ln w="9525">
              <a:noFill/>
              <a:miter lim="800000"/>
              <a:headEnd/>
              <a:tailEnd/>
            </a:ln>
          </p:spPr>
          <p:txBody>
            <a:bodyPr wrap="none" lIns="92075" tIns="46038" rIns="92075" bIns="46038">
              <a:spAutoFit/>
            </a:bodyPr>
            <a:lstStyle/>
            <a:p>
              <a:pPr eaLnBrk="0" hangingPunct="0"/>
              <a:r>
                <a:rPr lang="en-US" sz="2400" b="1"/>
                <a:t>R</a:t>
              </a:r>
              <a:r>
                <a:rPr lang="en-US" sz="2400" b="1" baseline="-25000"/>
                <a:t>Mkt</a:t>
              </a:r>
              <a:r>
                <a:rPr lang="en-US" sz="2400" b="1"/>
                <a:t> = 15</a:t>
              </a:r>
            </a:p>
            <a:p>
              <a:pPr eaLnBrk="0" hangingPunct="0"/>
              <a:endParaRPr lang="en-US" sz="2400" b="1"/>
            </a:p>
            <a:p>
              <a:pPr eaLnBrk="0" hangingPunct="0"/>
              <a:r>
                <a:rPr lang="en-US" sz="2400" b="1"/>
                <a:t>  R</a:t>
              </a:r>
              <a:r>
                <a:rPr lang="en-US" sz="2400" b="1" baseline="-25000"/>
                <a:t>F</a:t>
              </a:r>
              <a:r>
                <a:rPr lang="en-US" sz="2400" b="1"/>
                <a:t> =   8</a:t>
              </a:r>
            </a:p>
          </p:txBody>
        </p:sp>
        <p:sp>
          <p:nvSpPr>
            <p:cNvPr id="25618" name="Rectangle 18"/>
            <p:cNvSpPr>
              <a:spLocks noChangeArrowheads="1"/>
            </p:cNvSpPr>
            <p:nvPr/>
          </p:nvSpPr>
          <p:spPr bwMode="auto">
            <a:xfrm>
              <a:off x="638" y="3667"/>
              <a:ext cx="4416" cy="250"/>
            </a:xfrm>
            <a:prstGeom prst="rect">
              <a:avLst/>
            </a:prstGeom>
            <a:noFill/>
            <a:ln w="9525">
              <a:noFill/>
              <a:miter lim="800000"/>
              <a:headEnd/>
              <a:tailEnd/>
            </a:ln>
          </p:spPr>
          <p:txBody>
            <a:bodyPr lIns="92075" tIns="46038" rIns="92075" bIns="46038">
              <a:spAutoFit/>
            </a:bodyPr>
            <a:lstStyle/>
            <a:p>
              <a:pPr eaLnBrk="0" hangingPunct="0"/>
              <a:r>
                <a:rPr lang="en-US" sz="2000" b="1"/>
                <a:t>-1  	          0		       1	                 2	</a:t>
              </a:r>
            </a:p>
          </p:txBody>
        </p:sp>
        <p:sp>
          <p:nvSpPr>
            <p:cNvPr id="25619" name="Line 19"/>
            <p:cNvSpPr>
              <a:spLocks noChangeShapeType="1"/>
            </p:cNvSpPr>
            <p:nvPr/>
          </p:nvSpPr>
          <p:spPr bwMode="auto">
            <a:xfrm>
              <a:off x="1839" y="2669"/>
              <a:ext cx="959" cy="0"/>
            </a:xfrm>
            <a:prstGeom prst="line">
              <a:avLst/>
            </a:prstGeom>
            <a:noFill/>
            <a:ln w="25400">
              <a:solidFill>
                <a:schemeClr val="tx1"/>
              </a:solidFill>
              <a:prstDash val="lgDash"/>
              <a:round/>
              <a:headEnd type="none" w="sm" len="sm"/>
              <a:tailEnd type="none" w="sm" len="sm"/>
            </a:ln>
          </p:spPr>
          <p:txBody>
            <a:bodyPr wrap="none" anchor="ctr"/>
            <a:lstStyle/>
            <a:p>
              <a:endParaRPr lang="en-GB"/>
            </a:p>
          </p:txBody>
        </p:sp>
        <p:sp>
          <p:nvSpPr>
            <p:cNvPr id="25620" name="Line 20"/>
            <p:cNvSpPr>
              <a:spLocks noChangeShapeType="1"/>
            </p:cNvSpPr>
            <p:nvPr/>
          </p:nvSpPr>
          <p:spPr bwMode="auto">
            <a:xfrm>
              <a:off x="2798" y="2670"/>
              <a:ext cx="0" cy="1007"/>
            </a:xfrm>
            <a:prstGeom prst="line">
              <a:avLst/>
            </a:prstGeom>
            <a:noFill/>
            <a:ln w="25400">
              <a:solidFill>
                <a:schemeClr val="tx1"/>
              </a:solidFill>
              <a:prstDash val="lgDash"/>
              <a:round/>
              <a:headEnd type="none" w="sm" len="sm"/>
              <a:tailEnd type="none" w="sm" len="sm"/>
            </a:ln>
          </p:spPr>
          <p:txBody>
            <a:bodyPr wrap="none" anchor="ctr"/>
            <a:lstStyle/>
            <a:p>
              <a:endParaRPr lang="en-GB"/>
            </a:p>
          </p:txBody>
        </p:sp>
        <p:sp>
          <p:nvSpPr>
            <p:cNvPr id="25621" name="Rectangle 21"/>
            <p:cNvSpPr>
              <a:spLocks noChangeArrowheads="1"/>
            </p:cNvSpPr>
            <p:nvPr/>
          </p:nvSpPr>
          <p:spPr bwMode="auto">
            <a:xfrm>
              <a:off x="2697" y="2257"/>
              <a:ext cx="236" cy="576"/>
            </a:xfrm>
            <a:prstGeom prst="rect">
              <a:avLst/>
            </a:prstGeom>
            <a:noFill/>
            <a:ln w="9525">
              <a:noFill/>
              <a:miter lim="800000"/>
              <a:headEnd/>
              <a:tailEnd/>
            </a:ln>
          </p:spPr>
          <p:txBody>
            <a:bodyPr wrap="none" lIns="92075" tIns="46038" rIns="92075" bIns="46038">
              <a:spAutoFit/>
            </a:bodyPr>
            <a:lstStyle/>
            <a:p>
              <a:pPr algn="ctr" eaLnBrk="0" hangingPunct="0"/>
              <a:r>
                <a:rPr lang="en-US" sz="5400" b="1"/>
                <a:t>.</a:t>
              </a:r>
            </a:p>
          </p:txBody>
        </p:sp>
        <p:sp>
          <p:nvSpPr>
            <p:cNvPr id="25622" name="Rectangle 22"/>
            <p:cNvSpPr>
              <a:spLocks noChangeArrowheads="1"/>
            </p:cNvSpPr>
            <p:nvPr/>
          </p:nvSpPr>
          <p:spPr bwMode="auto">
            <a:xfrm>
              <a:off x="1008" y="4198"/>
              <a:ext cx="3700" cy="330"/>
            </a:xfrm>
            <a:prstGeom prst="rect">
              <a:avLst/>
            </a:prstGeom>
            <a:noFill/>
            <a:ln w="31750">
              <a:solidFill>
                <a:schemeClr val="folHlink"/>
              </a:solidFill>
              <a:miter lim="800000"/>
              <a:headEnd/>
              <a:tailEnd/>
            </a:ln>
          </p:spPr>
          <p:txBody>
            <a:bodyPr wrap="square" lIns="92075" tIns="46038" rIns="92075" bIns="46038">
              <a:spAutoFit/>
            </a:bodyPr>
            <a:lstStyle/>
            <a:p>
              <a:pPr eaLnBrk="0" hangingPunct="0"/>
              <a:r>
                <a:rPr lang="en-US" sz="2800" b="1" dirty="0">
                  <a:solidFill>
                    <a:schemeClr val="folHlink"/>
                  </a:solidFill>
                </a:rPr>
                <a:t>SML:  </a:t>
              </a:r>
              <a:r>
                <a:rPr lang="en-US" sz="2800" b="1" dirty="0" err="1">
                  <a:solidFill>
                    <a:schemeClr val="folHlink"/>
                  </a:solidFill>
                </a:rPr>
                <a:t>R</a:t>
              </a:r>
              <a:r>
                <a:rPr lang="en-US" sz="2800" b="1" baseline="-25000" dirty="0" err="1">
                  <a:solidFill>
                    <a:schemeClr val="folHlink"/>
                  </a:solidFill>
                </a:rPr>
                <a:t>i</a:t>
              </a:r>
              <a:r>
                <a:rPr lang="en-US" sz="2800" b="1" dirty="0">
                  <a:solidFill>
                    <a:schemeClr val="folHlink"/>
                  </a:solidFill>
                </a:rPr>
                <a:t> = 8% + (15% – 8%) x </a:t>
              </a:r>
              <a:r>
                <a:rPr lang="el-GR" sz="2800" b="1" dirty="0">
                  <a:solidFill>
                    <a:schemeClr val="folHlink"/>
                  </a:solidFill>
                  <a:cs typeface="Arial" charset="0"/>
                </a:rPr>
                <a:t>β</a:t>
              </a:r>
              <a:r>
                <a:rPr lang="en-US" sz="2800" b="1" baseline="-25000" dirty="0" err="1">
                  <a:solidFill>
                    <a:schemeClr val="folHlink"/>
                  </a:solidFill>
                </a:rPr>
                <a:t>i</a:t>
              </a:r>
              <a:r>
                <a:rPr lang="en-US" sz="2800" b="1" dirty="0">
                  <a:solidFill>
                    <a:schemeClr val="folHlink"/>
                  </a:solidFill>
                </a:rPr>
                <a:t> </a:t>
              </a:r>
            </a:p>
          </p:txBody>
        </p:sp>
        <p:sp>
          <p:nvSpPr>
            <p:cNvPr id="25623" name="Rectangle 23"/>
            <p:cNvSpPr>
              <a:spLocks noChangeArrowheads="1"/>
            </p:cNvSpPr>
            <p:nvPr/>
          </p:nvSpPr>
          <p:spPr bwMode="auto">
            <a:xfrm>
              <a:off x="1440" y="1680"/>
              <a:ext cx="643" cy="288"/>
            </a:xfrm>
            <a:prstGeom prst="rect">
              <a:avLst/>
            </a:prstGeom>
            <a:noFill/>
            <a:ln w="9525">
              <a:noFill/>
              <a:miter lim="800000"/>
              <a:headEnd/>
              <a:tailEnd/>
            </a:ln>
          </p:spPr>
          <p:txBody>
            <a:bodyPr wrap="none" lIns="92075" tIns="46038" rIns="92075" bIns="46038">
              <a:spAutoFit/>
            </a:bodyPr>
            <a:lstStyle/>
            <a:p>
              <a:pPr eaLnBrk="0" hangingPunct="0"/>
              <a:r>
                <a:rPr lang="en-US" sz="2400" b="1"/>
                <a:t>R</a:t>
              </a:r>
              <a:r>
                <a:rPr lang="en-US" sz="2400" b="1" baseline="-25000"/>
                <a:t>i</a:t>
              </a:r>
              <a:r>
                <a:rPr lang="en-US" sz="2400" b="1"/>
                <a:t> (%)</a:t>
              </a:r>
            </a:p>
          </p:txBody>
        </p:sp>
        <p:sp>
          <p:nvSpPr>
            <p:cNvPr id="25624" name="Rectangle 24"/>
            <p:cNvSpPr>
              <a:spLocks noChangeArrowheads="1"/>
            </p:cNvSpPr>
            <p:nvPr/>
          </p:nvSpPr>
          <p:spPr bwMode="auto">
            <a:xfrm>
              <a:off x="4430" y="3552"/>
              <a:ext cx="781" cy="288"/>
            </a:xfrm>
            <a:prstGeom prst="rect">
              <a:avLst/>
            </a:prstGeom>
            <a:noFill/>
            <a:ln w="9525">
              <a:noFill/>
              <a:miter lim="800000"/>
              <a:headEnd/>
              <a:tailEnd/>
            </a:ln>
          </p:spPr>
          <p:txBody>
            <a:bodyPr wrap="none" lIns="92075" tIns="46038" rIns="92075" bIns="46038">
              <a:spAutoFit/>
            </a:bodyPr>
            <a:lstStyle/>
            <a:p>
              <a:pPr eaLnBrk="0" hangingPunct="0"/>
              <a:r>
                <a:rPr lang="en-US" sz="2400" b="1"/>
                <a:t>Risk, </a:t>
              </a:r>
              <a:r>
                <a:rPr lang="el-GR" sz="2400" b="1">
                  <a:cs typeface="Arial" charset="0"/>
                </a:rPr>
                <a:t>β</a:t>
              </a:r>
              <a:r>
                <a:rPr lang="en-US" sz="2400" b="1" baseline="-25000"/>
                <a:t>i</a:t>
              </a:r>
            </a:p>
          </p:txBody>
        </p:sp>
        <p:sp>
          <p:nvSpPr>
            <p:cNvPr id="25625" name="Line 25"/>
            <p:cNvSpPr>
              <a:spLocks noChangeShapeType="1"/>
            </p:cNvSpPr>
            <p:nvPr/>
          </p:nvSpPr>
          <p:spPr bwMode="auto">
            <a:xfrm flipH="1" flipV="1">
              <a:off x="2750" y="2813"/>
              <a:ext cx="432" cy="336"/>
            </a:xfrm>
            <a:prstGeom prst="line">
              <a:avLst/>
            </a:prstGeom>
            <a:noFill/>
            <a:ln w="38100">
              <a:solidFill>
                <a:schemeClr val="tx1"/>
              </a:solidFill>
              <a:round/>
              <a:headEnd/>
              <a:tailEnd type="triangle" w="med" len="sm"/>
            </a:ln>
          </p:spPr>
          <p:txBody>
            <a:bodyPr wrap="none" anchor="ctr"/>
            <a:lstStyle/>
            <a:p>
              <a:endParaRPr lang="en-GB"/>
            </a:p>
          </p:txBody>
        </p:sp>
      </p:grpSp>
      <p:sp>
        <p:nvSpPr>
          <p:cNvPr id="26" name="Line 25"/>
          <p:cNvSpPr>
            <a:spLocks noChangeShapeType="1"/>
          </p:cNvSpPr>
          <p:nvPr/>
        </p:nvSpPr>
        <p:spPr bwMode="auto">
          <a:xfrm flipH="1">
            <a:off x="4860032" y="2622104"/>
            <a:ext cx="2232248" cy="288032"/>
          </a:xfrm>
          <a:prstGeom prst="line">
            <a:avLst/>
          </a:prstGeom>
          <a:noFill/>
          <a:ln w="38100">
            <a:solidFill>
              <a:schemeClr val="tx1"/>
            </a:solidFill>
            <a:round/>
            <a:headEnd/>
            <a:tailEnd type="triangle" w="med" len="sm"/>
          </a:ln>
        </p:spPr>
        <p:txBody>
          <a:bodyPr wrap="none" anchor="ctr"/>
          <a:lstStyle/>
          <a:p>
            <a:endParaRPr lang="en-GB"/>
          </a:p>
        </p:txBody>
      </p:sp>
      <p:sp>
        <p:nvSpPr>
          <p:cNvPr id="27" name="Rectangle 13"/>
          <p:cNvSpPr>
            <a:spLocks noChangeArrowheads="1"/>
          </p:cNvSpPr>
          <p:nvPr/>
        </p:nvSpPr>
        <p:spPr bwMode="auto">
          <a:xfrm>
            <a:off x="6819797" y="2334072"/>
            <a:ext cx="2072683" cy="708528"/>
          </a:xfrm>
          <a:prstGeom prst="rect">
            <a:avLst/>
          </a:prstGeom>
          <a:noFill/>
          <a:ln w="9525">
            <a:noFill/>
            <a:miter lim="800000"/>
            <a:headEnd/>
            <a:tailEnd/>
          </a:ln>
        </p:spPr>
        <p:txBody>
          <a:bodyPr wrap="none" lIns="92075" tIns="46038" rIns="92075" bIns="46038">
            <a:spAutoFit/>
          </a:bodyPr>
          <a:lstStyle/>
          <a:p>
            <a:pPr algn="ctr" eaLnBrk="0" hangingPunct="0"/>
            <a:r>
              <a:rPr lang="en-US" sz="2400" b="1" dirty="0"/>
              <a:t>HT</a:t>
            </a:r>
            <a:endParaRPr lang="en-US" sz="1600" b="1" dirty="0"/>
          </a:p>
          <a:p>
            <a:pPr algn="ctr" eaLnBrk="0" hangingPunct="0"/>
            <a:r>
              <a:rPr lang="en-US" sz="1600" b="1" dirty="0"/>
              <a:t>Undervalued-Buy</a:t>
            </a:r>
          </a:p>
        </p:txBody>
      </p:sp>
    </p:spTree>
    <p:extLst>
      <p:ext uri="{BB962C8B-B14F-4D97-AF65-F5344CB8AC3E}">
        <p14:creationId xmlns:p14="http://schemas.microsoft.com/office/powerpoint/2010/main" val="30860686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a:xfrm>
            <a:off x="301752" y="365792"/>
            <a:ext cx="8534400" cy="758952"/>
          </a:xfrm>
          <a:noFill/>
          <a:ln/>
        </p:spPr>
        <p:txBody>
          <a:bodyPr anchor="b">
            <a:normAutofit fontScale="90000"/>
          </a:bodyPr>
          <a:lstStyle/>
          <a:p>
            <a:r>
              <a:rPr lang="en-US" dirty="0" err="1"/>
              <a:t>i</a:t>
            </a:r>
            <a:r>
              <a:rPr lang="en-US" dirty="0"/>
              <a:t>. Risk Free Rate</a:t>
            </a:r>
            <a:br>
              <a:rPr lang="en-US" dirty="0"/>
            </a:br>
            <a:r>
              <a:rPr lang="en-US" dirty="0"/>
              <a:t>Short term Governments are not risk free….</a:t>
            </a:r>
          </a:p>
        </p:txBody>
      </p:sp>
      <p:sp>
        <p:nvSpPr>
          <p:cNvPr id="211971" name="Rectangle 3"/>
          <p:cNvSpPr>
            <a:spLocks noGrp="1" noChangeArrowheads="1"/>
          </p:cNvSpPr>
          <p:nvPr>
            <p:ph sz="quarter" idx="1"/>
          </p:nvPr>
        </p:nvSpPr>
        <p:spPr>
          <a:xfrm>
            <a:off x="301752" y="1527048"/>
            <a:ext cx="8503920" cy="4926288"/>
          </a:xfrm>
          <a:noFill/>
          <a:ln/>
        </p:spPr>
        <p:txBody>
          <a:bodyPr>
            <a:normAutofit fontScale="92500" lnSpcReduction="10000"/>
          </a:bodyPr>
          <a:lstStyle/>
          <a:p>
            <a:r>
              <a:rPr lang="en-US" dirty="0"/>
              <a:t>On a risk free asset, the actual return is equal to the expected return. Therefore, there is no variance around the expected return.</a:t>
            </a:r>
          </a:p>
          <a:p>
            <a:r>
              <a:rPr lang="en-US" dirty="0"/>
              <a:t>For an investment to be risk free, then, it has to have</a:t>
            </a:r>
          </a:p>
          <a:p>
            <a:pPr lvl="1"/>
            <a:r>
              <a:rPr lang="en-US" u="sng" dirty="0"/>
              <a:t>No default risk</a:t>
            </a:r>
            <a:endParaRPr lang="en-US" dirty="0"/>
          </a:p>
          <a:p>
            <a:pPr lvl="1"/>
            <a:r>
              <a:rPr lang="en-US" u="sng" dirty="0"/>
              <a:t>No reinvestment risk</a:t>
            </a:r>
            <a:endParaRPr lang="en-US" dirty="0"/>
          </a:p>
          <a:p>
            <a:r>
              <a:rPr lang="en-US" dirty="0"/>
              <a:t>Thus, the risk free rates in valuation will depend upon </a:t>
            </a:r>
            <a:r>
              <a:rPr lang="en-US" b="1" dirty="0"/>
              <a:t>when</a:t>
            </a:r>
            <a:r>
              <a:rPr lang="en-US" dirty="0"/>
              <a:t> the cash flow is expected to occur and will vary across time.</a:t>
            </a:r>
          </a:p>
          <a:p>
            <a:r>
              <a:rPr lang="en-US" dirty="0"/>
              <a:t>In valuation, the time horizon is generally infinite, leading to the conclusion that a </a:t>
            </a:r>
            <a:r>
              <a:rPr lang="en-US" b="1" dirty="0"/>
              <a:t>long-term risk free </a:t>
            </a:r>
            <a:r>
              <a:rPr lang="en-US" dirty="0"/>
              <a:t>rate will always be preferable to a short term rate, if you have to pick one.</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Risk Free Rate: 4 different cases</a:t>
            </a: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3430447133"/>
              </p:ext>
            </p:extLst>
          </p:nvPr>
        </p:nvGraphicFramePr>
        <p:xfrm>
          <a:off x="301625" y="1196752"/>
          <a:ext cx="8504238" cy="5400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084430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1"/>
          <p:cNvSpPr>
            <a:spLocks noGrp="1"/>
          </p:cNvSpPr>
          <p:nvPr>
            <p:ph type="title"/>
          </p:nvPr>
        </p:nvSpPr>
        <p:spPr/>
        <p:txBody>
          <a:bodyPr/>
          <a:lstStyle/>
          <a:p>
            <a:pPr eaLnBrk="1" hangingPunct="1"/>
            <a:r>
              <a:rPr lang="en-US" dirty="0"/>
              <a:t>Case 1: A </a:t>
            </a:r>
            <a:r>
              <a:rPr lang="en-US" dirty="0" err="1"/>
              <a:t>riskfree</a:t>
            </a:r>
            <a:r>
              <a:rPr lang="en-US" dirty="0"/>
              <a:t> rate in US dollars!</a:t>
            </a:r>
          </a:p>
        </p:txBody>
      </p:sp>
      <p:sp>
        <p:nvSpPr>
          <p:cNvPr id="108547" name="Content Placeholder 2"/>
          <p:cNvSpPr>
            <a:spLocks noGrp="1"/>
          </p:cNvSpPr>
          <p:nvPr>
            <p:ph idx="1"/>
          </p:nvPr>
        </p:nvSpPr>
        <p:spPr>
          <a:xfrm>
            <a:off x="301752" y="1527048"/>
            <a:ext cx="8503920" cy="3054080"/>
          </a:xfrm>
        </p:spPr>
        <p:txBody>
          <a:bodyPr>
            <a:normAutofit fontScale="92500" lnSpcReduction="20000"/>
          </a:bodyPr>
          <a:lstStyle/>
          <a:p>
            <a:pPr eaLnBrk="1" hangingPunct="1"/>
            <a:r>
              <a:rPr lang="en-US" dirty="0"/>
              <a:t>In valuation, we estimate cash flows forever (or at least for very long time periods). The right risk free rate to use in valuing a company in US dollars would be</a:t>
            </a:r>
          </a:p>
          <a:p>
            <a:pPr eaLnBrk="1" hangingPunct="1">
              <a:buFont typeface="Times" pitchFamily="3" charset="0"/>
              <a:buAutoNum type="alphaLcParenR"/>
            </a:pPr>
            <a:r>
              <a:rPr lang="en-US" dirty="0"/>
              <a:t>A three-month Treasury bill rate</a:t>
            </a:r>
          </a:p>
          <a:p>
            <a:pPr eaLnBrk="1" hangingPunct="1">
              <a:buFont typeface="Times" pitchFamily="3" charset="0"/>
              <a:buAutoNum type="alphaLcParenR"/>
            </a:pPr>
            <a:r>
              <a:rPr lang="en-US" dirty="0"/>
              <a:t>A ten-year Treasury bond rate</a:t>
            </a:r>
          </a:p>
          <a:p>
            <a:pPr eaLnBrk="1" hangingPunct="1">
              <a:buFont typeface="Times" pitchFamily="3" charset="0"/>
              <a:buAutoNum type="alphaLcParenR"/>
            </a:pPr>
            <a:r>
              <a:rPr lang="en-US" dirty="0"/>
              <a:t>A thirty-year Treasury bond rate</a:t>
            </a:r>
          </a:p>
          <a:p>
            <a:pPr eaLnBrk="1" hangingPunct="1">
              <a:buFont typeface="Times" pitchFamily="3" charset="0"/>
              <a:buAutoNum type="alphaLcParenR"/>
            </a:pPr>
            <a:r>
              <a:rPr lang="en-US" dirty="0"/>
              <a:t>A TIPs (inflation-indexed treasury) rate</a:t>
            </a:r>
          </a:p>
          <a:p>
            <a:pPr eaLnBrk="1" hangingPunct="1">
              <a:buFont typeface="Times" pitchFamily="3" charset="0"/>
              <a:buAutoNum type="alphaLcParenR"/>
            </a:pPr>
            <a:r>
              <a:rPr lang="en-US" dirty="0"/>
              <a:t>None of the above</a:t>
            </a:r>
          </a:p>
        </p:txBody>
      </p:sp>
      <p:graphicFrame>
        <p:nvGraphicFramePr>
          <p:cNvPr id="6" name="Chart 5"/>
          <p:cNvGraphicFramePr/>
          <p:nvPr/>
        </p:nvGraphicFramePr>
        <p:xfrm>
          <a:off x="2362200" y="4114800"/>
          <a:ext cx="4572000" cy="2743200"/>
        </p:xfrm>
        <a:graphic>
          <a:graphicData uri="http://schemas.openxmlformats.org/drawingml/2006/chart">
            <c:chart xmlns:c="http://schemas.openxmlformats.org/drawingml/2006/chart" xmlns:r="http://schemas.openxmlformats.org/officeDocument/2006/relationships" r:id="rId3"/>
          </a:graphicData>
        </a:graphic>
      </p:graphicFrame>
      <p:pic>
        <p:nvPicPr>
          <p:cNvPr id="108549" name="Picture 2"/>
          <p:cNvPicPr>
            <a:picLocks noChangeAspect="1"/>
          </p:cNvPicPr>
          <p:nvPr/>
        </p:nvPicPr>
        <p:blipFill>
          <a:blip r:embed="rId4" cstate="print"/>
          <a:srcRect/>
          <a:stretch>
            <a:fillRect/>
          </a:stretch>
        </p:blipFill>
        <p:spPr bwMode="auto">
          <a:xfrm>
            <a:off x="5181600" y="4030736"/>
            <a:ext cx="3875080" cy="2638624"/>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When should we consider the rate to be risk free</a:t>
            </a:r>
          </a:p>
        </p:txBody>
      </p:sp>
      <p:sp>
        <p:nvSpPr>
          <p:cNvPr id="3" name="Content Placeholder 2"/>
          <p:cNvSpPr>
            <a:spLocks noGrp="1"/>
          </p:cNvSpPr>
          <p:nvPr>
            <p:ph sz="quarter" idx="1"/>
          </p:nvPr>
        </p:nvSpPr>
        <p:spPr>
          <a:xfrm>
            <a:off x="301752" y="1471626"/>
            <a:ext cx="8503920" cy="618384"/>
          </a:xfrm>
        </p:spPr>
        <p:txBody>
          <a:bodyPr/>
          <a:lstStyle/>
          <a:p>
            <a:r>
              <a:rPr lang="en-GB" dirty="0"/>
              <a:t>1 year history of 1oy bond yields</a:t>
            </a:r>
          </a:p>
        </p:txBody>
      </p:sp>
      <p:pic>
        <p:nvPicPr>
          <p:cNvPr id="6" name="Picture 5">
            <a:extLst>
              <a:ext uri="{FF2B5EF4-FFF2-40B4-BE49-F238E27FC236}">
                <a16:creationId xmlns:a16="http://schemas.microsoft.com/office/drawing/2014/main" id="{2733EC6B-2827-257C-2EE1-B182BF9799BC}"/>
              </a:ext>
            </a:extLst>
          </p:cNvPr>
          <p:cNvPicPr>
            <a:picLocks noChangeAspect="1"/>
          </p:cNvPicPr>
          <p:nvPr/>
        </p:nvPicPr>
        <p:blipFill>
          <a:blip r:embed="rId3"/>
          <a:srcRect l="7476" t="31800" r="35825" b="17800"/>
          <a:stretch>
            <a:fillRect/>
          </a:stretch>
        </p:blipFill>
        <p:spPr>
          <a:xfrm>
            <a:off x="328036" y="2060848"/>
            <a:ext cx="8584632" cy="4292316"/>
          </a:xfrm>
          <a:prstGeom prst="rect">
            <a:avLst/>
          </a:prstGeom>
        </p:spPr>
      </p:pic>
    </p:spTree>
    <p:extLst>
      <p:ext uri="{BB962C8B-B14F-4D97-AF65-F5344CB8AC3E}">
        <p14:creationId xmlns:p14="http://schemas.microsoft.com/office/powerpoint/2010/main" val="30195171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04248" y="332656"/>
            <a:ext cx="2088232" cy="2808312"/>
          </a:xfrm>
        </p:spPr>
        <p:txBody>
          <a:bodyPr>
            <a:noAutofit/>
          </a:bodyPr>
          <a:lstStyle/>
          <a:p>
            <a:r>
              <a:rPr lang="en-GB" sz="3200" dirty="0"/>
              <a:t>What if we consider 5 or 10 years history</a:t>
            </a:r>
          </a:p>
        </p:txBody>
      </p:sp>
      <p:pic>
        <p:nvPicPr>
          <p:cNvPr id="19" name="Picture 18">
            <a:extLst>
              <a:ext uri="{FF2B5EF4-FFF2-40B4-BE49-F238E27FC236}">
                <a16:creationId xmlns:a16="http://schemas.microsoft.com/office/drawing/2014/main" id="{850C6173-12A6-D29B-64A0-0C76E9E86E08}"/>
              </a:ext>
            </a:extLst>
          </p:cNvPr>
          <p:cNvPicPr>
            <a:picLocks noChangeAspect="1"/>
          </p:cNvPicPr>
          <p:nvPr/>
        </p:nvPicPr>
        <p:blipFill>
          <a:blip r:embed="rId2"/>
          <a:srcRect l="9051" t="31801" r="35824" b="19200"/>
          <a:stretch>
            <a:fillRect/>
          </a:stretch>
        </p:blipFill>
        <p:spPr>
          <a:xfrm>
            <a:off x="2843808" y="3645024"/>
            <a:ext cx="6192688" cy="3096344"/>
          </a:xfrm>
          <a:prstGeom prst="rect">
            <a:avLst/>
          </a:prstGeom>
        </p:spPr>
      </p:pic>
      <p:cxnSp>
        <p:nvCxnSpPr>
          <p:cNvPr id="14" name="Straight Arrow Connector 13"/>
          <p:cNvCxnSpPr>
            <a:cxnSpLocks/>
          </p:cNvCxnSpPr>
          <p:nvPr/>
        </p:nvCxnSpPr>
        <p:spPr>
          <a:xfrm flipH="1">
            <a:off x="7308304" y="2060848"/>
            <a:ext cx="792088" cy="18722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AB2D4815-0198-333C-A8B6-D744C0827392}"/>
              </a:ext>
            </a:extLst>
          </p:cNvPr>
          <p:cNvPicPr>
            <a:picLocks noChangeAspect="1"/>
          </p:cNvPicPr>
          <p:nvPr/>
        </p:nvPicPr>
        <p:blipFill>
          <a:blip r:embed="rId3"/>
          <a:srcRect l="8263" t="32500" r="35825" b="19201"/>
          <a:stretch>
            <a:fillRect/>
          </a:stretch>
        </p:blipFill>
        <p:spPr>
          <a:xfrm>
            <a:off x="107504" y="428413"/>
            <a:ext cx="6175121" cy="3000587"/>
          </a:xfrm>
          <a:prstGeom prst="rect">
            <a:avLst/>
          </a:prstGeom>
        </p:spPr>
      </p:pic>
      <p:cxnSp>
        <p:nvCxnSpPr>
          <p:cNvPr id="8" name="Straight Arrow Connector 7"/>
          <p:cNvCxnSpPr>
            <a:cxnSpLocks/>
            <a:endCxn id="2" idx="1"/>
          </p:cNvCxnSpPr>
          <p:nvPr/>
        </p:nvCxnSpPr>
        <p:spPr>
          <a:xfrm flipH="1">
            <a:off x="6804248" y="1556792"/>
            <a:ext cx="1440160" cy="1800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30160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1"/>
          <p:cNvSpPr>
            <a:spLocks noGrp="1"/>
          </p:cNvSpPr>
          <p:nvPr>
            <p:ph type="title"/>
          </p:nvPr>
        </p:nvSpPr>
        <p:spPr/>
        <p:txBody>
          <a:bodyPr/>
          <a:lstStyle/>
          <a:p>
            <a:pPr eaLnBrk="1" hangingPunct="1"/>
            <a:r>
              <a:rPr lang="en-US" dirty="0"/>
              <a:t>Case 2: A </a:t>
            </a:r>
            <a:r>
              <a:rPr lang="en-US" dirty="0" err="1"/>
              <a:t>Riskfree</a:t>
            </a:r>
            <a:r>
              <a:rPr lang="en-US" dirty="0"/>
              <a:t> Rate in Euros (2010)</a:t>
            </a:r>
          </a:p>
        </p:txBody>
      </p:sp>
      <p:pic>
        <p:nvPicPr>
          <p:cNvPr id="109571" name="Content Placeholder 2"/>
          <p:cNvPicPr>
            <a:picLocks noGrp="1" noChangeAspect="1"/>
          </p:cNvPicPr>
          <p:nvPr>
            <p:ph idx="1"/>
          </p:nvPr>
        </p:nvPicPr>
        <p:blipFill>
          <a:blip r:embed="rId3" cstate="print"/>
          <a:srcRect l="-12944" r="-12944"/>
          <a:stretch>
            <a:fillRect/>
          </a:stretch>
        </p:blipFill>
        <p:spPr/>
      </p:pic>
      <p:cxnSp>
        <p:nvCxnSpPr>
          <p:cNvPr id="5" name="Straight Arrow Connector 4"/>
          <p:cNvCxnSpPr/>
          <p:nvPr/>
        </p:nvCxnSpPr>
        <p:spPr bwMode="auto">
          <a:xfrm flipH="1">
            <a:off x="7315200" y="3810000"/>
            <a:ext cx="838200" cy="1371600"/>
          </a:xfrm>
          <a:prstGeom prst="straightConnector1">
            <a:avLst/>
          </a:prstGeom>
          <a:solidFill>
            <a:schemeClr val="accent1"/>
          </a:solidFill>
          <a:ln w="12700" cap="flat" cmpd="sng" algn="ctr">
            <a:solidFill>
              <a:schemeClr val="tx1"/>
            </a:solidFill>
            <a:prstDash val="solid"/>
            <a:round/>
            <a:headEnd type="none" w="med" len="med"/>
            <a:tailEnd type="arrow"/>
          </a:ln>
          <a:effectLst/>
        </p:spPr>
      </p:cxnSp>
      <p:sp>
        <p:nvSpPr>
          <p:cNvPr id="6" name="TextBox 5"/>
          <p:cNvSpPr txBox="1"/>
          <p:nvPr/>
        </p:nvSpPr>
        <p:spPr>
          <a:xfrm>
            <a:off x="8077200" y="2057400"/>
            <a:ext cx="1066800" cy="3046988"/>
          </a:xfrm>
          <a:prstGeom prst="rect">
            <a:avLst/>
          </a:prstGeom>
          <a:noFill/>
        </p:spPr>
        <p:txBody>
          <a:bodyPr wrap="square" rtlCol="0">
            <a:spAutoFit/>
          </a:bodyPr>
          <a:lstStyle/>
          <a:p>
            <a:pPr algn="ctr"/>
            <a:r>
              <a:rPr lang="en-GB" dirty="0"/>
              <a:t>???</a:t>
            </a:r>
          </a:p>
          <a:p>
            <a:pPr algn="ctr"/>
            <a:r>
              <a:rPr lang="en-GB" dirty="0"/>
              <a:t>Does Greece have a risk free rate</a:t>
            </a:r>
          </a:p>
          <a:p>
            <a:pPr algn="ctr"/>
            <a:r>
              <a:rPr lang="en-GB" dirty="0"/>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Even Worse</a:t>
            </a:r>
          </a:p>
        </p:txBody>
      </p:sp>
      <p:sp>
        <p:nvSpPr>
          <p:cNvPr id="3" name="Content Placeholder 2"/>
          <p:cNvSpPr>
            <a:spLocks noGrp="1"/>
          </p:cNvSpPr>
          <p:nvPr>
            <p:ph sz="quarter" idx="1"/>
          </p:nvPr>
        </p:nvSpPr>
        <p:spPr>
          <a:xfrm>
            <a:off x="301752" y="1527048"/>
            <a:ext cx="8503920" cy="749824"/>
          </a:xfrm>
        </p:spPr>
        <p:txBody>
          <a:bodyPr>
            <a:normAutofit fontScale="92500"/>
          </a:bodyPr>
          <a:lstStyle/>
          <a:p>
            <a:r>
              <a:rPr lang="en-GB" dirty="0"/>
              <a:t>When do we consider the German bond to be risk free</a:t>
            </a:r>
          </a:p>
        </p:txBody>
      </p:sp>
      <p:pic>
        <p:nvPicPr>
          <p:cNvPr id="1402884" name="Picture 4" descr="http://www.tradingeconomics.com/charts/greece-government-bond-yield.png?s=gggb10yr&amp;d1=20060101&amp;d2=20151231&amp;URL2=/germany/government-bond-yield&amp;title=fals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752" y="2276872"/>
            <a:ext cx="8494728" cy="3888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84162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p:cNvSpPr>
            <a:spLocks noGrp="1"/>
          </p:cNvSpPr>
          <p:nvPr>
            <p:ph type="title"/>
          </p:nvPr>
        </p:nvSpPr>
        <p:spPr>
          <a:xfrm>
            <a:off x="323528" y="332656"/>
            <a:ext cx="8534400" cy="758952"/>
          </a:xfrm>
        </p:spPr>
        <p:txBody>
          <a:bodyPr>
            <a:normAutofit fontScale="90000"/>
          </a:bodyPr>
          <a:lstStyle/>
          <a:p>
            <a:pPr eaLnBrk="1" hangingPunct="1"/>
            <a:r>
              <a:rPr lang="en-US" dirty="0"/>
              <a:t>Case 3: Local Currency</a:t>
            </a:r>
            <a:br>
              <a:rPr lang="en-US" dirty="0"/>
            </a:br>
            <a:r>
              <a:rPr lang="en-US" dirty="0"/>
              <a:t>A </a:t>
            </a:r>
            <a:r>
              <a:rPr lang="en-US" dirty="0" err="1"/>
              <a:t>Riskfree</a:t>
            </a:r>
            <a:r>
              <a:rPr lang="en-US" dirty="0"/>
              <a:t> Rate in Indian Rupees</a:t>
            </a:r>
          </a:p>
        </p:txBody>
      </p:sp>
      <p:sp>
        <p:nvSpPr>
          <p:cNvPr id="110595" name="Content Placeholder 2"/>
          <p:cNvSpPr>
            <a:spLocks noGrp="1"/>
          </p:cNvSpPr>
          <p:nvPr>
            <p:ph idx="1"/>
          </p:nvPr>
        </p:nvSpPr>
        <p:spPr/>
        <p:txBody>
          <a:bodyPr>
            <a:normAutofit fontScale="85000" lnSpcReduction="20000"/>
          </a:bodyPr>
          <a:lstStyle/>
          <a:p>
            <a:r>
              <a:rPr lang="en-US"/>
              <a:t>The Indian government had 10-year Rupee bonds outstanding, with a yield to maturity of about 8.5% on January 1, 2012. </a:t>
            </a:r>
          </a:p>
          <a:p>
            <a:r>
              <a:rPr lang="en-US"/>
              <a:t>In January 2012, the Indian government had a </a:t>
            </a:r>
            <a:r>
              <a:rPr lang="en-US" u="sng"/>
              <a:t>local currency </a:t>
            </a:r>
            <a:r>
              <a:rPr lang="en-US"/>
              <a:t>sovereign rating of Baa3. The typical default spread (over a default free rate) for Baa3 rated country bonds in early 2012 was 2%.</a:t>
            </a:r>
          </a:p>
          <a:p>
            <a:r>
              <a:rPr lang="en-US"/>
              <a:t>The riskfree rate in Indian Rupees is</a:t>
            </a:r>
          </a:p>
          <a:p>
            <a:pPr>
              <a:buFont typeface="Times" pitchFamily="3" charset="0"/>
              <a:buAutoNum type="alphaLcParenR"/>
            </a:pPr>
            <a:r>
              <a:rPr lang="en-US"/>
              <a:t>The yield to maturity on the 10-year bond (8.5%)</a:t>
            </a:r>
          </a:p>
          <a:p>
            <a:pPr>
              <a:buFont typeface="Times" pitchFamily="3" charset="0"/>
              <a:buAutoNum type="alphaLcParenR"/>
            </a:pPr>
            <a:r>
              <a:rPr lang="en-US"/>
              <a:t>The yield to maturity on the 10-year bond + Default spread (10.5%)</a:t>
            </a:r>
          </a:p>
          <a:p>
            <a:pPr>
              <a:buFont typeface="Times" pitchFamily="3" charset="0"/>
              <a:buAutoNum type="alphaLcParenR"/>
            </a:pPr>
            <a:r>
              <a:rPr lang="en-US"/>
              <a:t>The yield to maturity on the 10-year bond – Default spread (6.5%)</a:t>
            </a:r>
          </a:p>
          <a:p>
            <a:pPr>
              <a:buFont typeface="Times" pitchFamily="3" charset="0"/>
              <a:buAutoNum type="alphaLcParenR"/>
            </a:pPr>
            <a:r>
              <a:rPr lang="en-US"/>
              <a:t>None of the above</a:t>
            </a:r>
          </a:p>
          <a:p>
            <a:pPr eaLnBrk="1" hangingPunct="1">
              <a:buFont typeface="Monotype Sorts" pitchFamily="3" charset="2"/>
              <a:buNone/>
            </a:pP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noChangeArrowheads="1"/>
          </p:cNvSpPr>
          <p:nvPr>
            <p:ph type="title"/>
          </p:nvPr>
        </p:nvSpPr>
        <p:spPr>
          <a:xfrm>
            <a:off x="301752" y="365792"/>
            <a:ext cx="8534400" cy="758952"/>
          </a:xfrm>
        </p:spPr>
        <p:txBody>
          <a:bodyPr>
            <a:normAutofit fontScale="90000"/>
          </a:bodyPr>
          <a:lstStyle/>
          <a:p>
            <a:r>
              <a:rPr lang="en-US" dirty="0"/>
              <a:t>Estimating a </a:t>
            </a:r>
            <a:r>
              <a:rPr lang="en-US" dirty="0" err="1"/>
              <a:t>Riskfree</a:t>
            </a:r>
            <a:r>
              <a:rPr lang="en-US" dirty="0"/>
              <a:t> Rate when there are no default free entities….</a:t>
            </a:r>
          </a:p>
        </p:txBody>
      </p:sp>
      <p:sp>
        <p:nvSpPr>
          <p:cNvPr id="212995" name="Rectangle 3"/>
          <p:cNvSpPr>
            <a:spLocks noGrp="1" noChangeArrowheads="1"/>
          </p:cNvSpPr>
          <p:nvPr>
            <p:ph sz="quarter" idx="1"/>
          </p:nvPr>
        </p:nvSpPr>
        <p:spPr>
          <a:xfrm>
            <a:off x="298380" y="1556792"/>
            <a:ext cx="8503920" cy="4752528"/>
          </a:xfrm>
        </p:spPr>
        <p:txBody>
          <a:bodyPr>
            <a:normAutofit lnSpcReduction="10000"/>
          </a:bodyPr>
          <a:lstStyle/>
          <a:p>
            <a:r>
              <a:rPr lang="en-US" dirty="0"/>
              <a:t>Estimate a range for the </a:t>
            </a:r>
            <a:r>
              <a:rPr lang="en-US" dirty="0" err="1"/>
              <a:t>riskfree</a:t>
            </a:r>
            <a:r>
              <a:rPr lang="en-US" dirty="0"/>
              <a:t> rate in local terms:</a:t>
            </a:r>
          </a:p>
          <a:p>
            <a:pPr lvl="1"/>
            <a:r>
              <a:rPr lang="en-US" dirty="0"/>
              <a:t>Subtract default spread from local government bond rate:</a:t>
            </a:r>
          </a:p>
          <a:p>
            <a:pPr lvl="1">
              <a:buFontTx/>
              <a:buNone/>
            </a:pPr>
            <a:r>
              <a:rPr lang="en-US" dirty="0"/>
              <a:t>Government bond rate in local currency terms - Default spread for Government in local currency</a:t>
            </a:r>
          </a:p>
          <a:p>
            <a:pPr lvl="1"/>
            <a:r>
              <a:rPr lang="en-GB" dirty="0"/>
              <a:t>For example: </a:t>
            </a:r>
            <a:r>
              <a:rPr lang="en-US" dirty="0"/>
              <a:t>The Mexican peso bond rate is 11.5% and that the rating assigned to the Mexican government is A. If the default spread for A rated bonds is 1.5%, the riskless peso bond rate would be.</a:t>
            </a:r>
          </a:p>
          <a:p>
            <a:pPr lvl="1"/>
            <a:endParaRPr lang="en-GB" dirty="0"/>
          </a:p>
          <a:p>
            <a:pPr lvl="1">
              <a:buFontTx/>
              <a:buNone/>
            </a:pPr>
            <a:endParaRPr lang="en-GB" dirty="0"/>
          </a:p>
          <a:p>
            <a:pPr lvl="1">
              <a:buFontTx/>
              <a:buNone/>
            </a:pPr>
            <a:endParaRPr lang="en-US" dirty="0"/>
          </a:p>
          <a:p>
            <a:r>
              <a:rPr lang="en-US" dirty="0"/>
              <a:t>Do the analysis in a currency where you can get a </a:t>
            </a:r>
            <a:r>
              <a:rPr lang="en-US" dirty="0" err="1"/>
              <a:t>riskfree</a:t>
            </a:r>
            <a:r>
              <a:rPr lang="en-US" dirty="0"/>
              <a:t> rate, say US dollars.</a:t>
            </a:r>
          </a:p>
        </p:txBody>
      </p:sp>
      <p:graphicFrame>
        <p:nvGraphicFramePr>
          <p:cNvPr id="5" name="Object 4"/>
          <p:cNvGraphicFramePr>
            <a:graphicFrameLocks noChangeAspect="1"/>
          </p:cNvGraphicFramePr>
          <p:nvPr>
            <p:extLst>
              <p:ext uri="{D42A27DB-BD31-4B8C-83A1-F6EECF244321}">
                <p14:modId xmlns:p14="http://schemas.microsoft.com/office/powerpoint/2010/main" val="2399486681"/>
              </p:ext>
            </p:extLst>
          </p:nvPr>
        </p:nvGraphicFramePr>
        <p:xfrm>
          <a:off x="1897692" y="4437112"/>
          <a:ext cx="5305295" cy="761097"/>
        </p:xfrm>
        <a:graphic>
          <a:graphicData uri="http://schemas.openxmlformats.org/presentationml/2006/ole">
            <mc:AlternateContent xmlns:mc="http://schemas.openxmlformats.org/markup-compatibility/2006">
              <mc:Choice xmlns:v="urn:schemas-microsoft-com:vml" Requires="v">
                <p:oleObj name="Equation" r:id="rId3" imgW="3009900" imgH="431800" progId="Equation.3">
                  <p:embed/>
                </p:oleObj>
              </mc:Choice>
              <mc:Fallback>
                <p:oleObj name="Equation" r:id="rId3" imgW="3009900" imgH="431800" progId="Equation.3">
                  <p:embed/>
                  <p:pic>
                    <p:nvPicPr>
                      <p:cNvPr id="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7692" y="4437112"/>
                        <a:ext cx="5305295" cy="7610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299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299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3AEC0-9E17-C213-6E70-7ABAA4890A35}"/>
              </a:ext>
            </a:extLst>
          </p:cNvPr>
          <p:cNvSpPr>
            <a:spLocks noGrp="1"/>
          </p:cNvSpPr>
          <p:nvPr>
            <p:ph type="title"/>
          </p:nvPr>
        </p:nvSpPr>
        <p:spPr/>
        <p:txBody>
          <a:bodyPr/>
          <a:lstStyle/>
          <a:p>
            <a:r>
              <a:rPr lang="en-GB" dirty="0"/>
              <a:t>???s Greece less risky than the US???</a:t>
            </a:r>
          </a:p>
        </p:txBody>
      </p:sp>
      <p:sp>
        <p:nvSpPr>
          <p:cNvPr id="3" name="Content Placeholder 2">
            <a:extLst>
              <a:ext uri="{FF2B5EF4-FFF2-40B4-BE49-F238E27FC236}">
                <a16:creationId xmlns:a16="http://schemas.microsoft.com/office/drawing/2014/main" id="{A0CF7A8F-8E16-C9CA-0D7F-32800F388C6E}"/>
              </a:ext>
            </a:extLst>
          </p:cNvPr>
          <p:cNvSpPr>
            <a:spLocks noGrp="1"/>
          </p:cNvSpPr>
          <p:nvPr>
            <p:ph sz="quarter" idx="1"/>
          </p:nvPr>
        </p:nvSpPr>
        <p:spPr>
          <a:xfrm>
            <a:off x="301752" y="1916832"/>
            <a:ext cx="8503920" cy="4182216"/>
          </a:xfrm>
        </p:spPr>
        <p:txBody>
          <a:bodyPr/>
          <a:lstStyle/>
          <a:p>
            <a:pPr algn="ctr"/>
            <a:r>
              <a:rPr lang="en-GB" dirty="0"/>
              <a:t>Risk Free Rate Greece =</a:t>
            </a:r>
          </a:p>
          <a:p>
            <a:pPr lvl="1" algn="ctr"/>
            <a:r>
              <a:rPr lang="en-GB" dirty="0"/>
              <a:t>Bond yield-Default premium</a:t>
            </a:r>
          </a:p>
          <a:p>
            <a:pPr lvl="1" algn="ctr"/>
            <a:r>
              <a:rPr lang="en-GB" dirty="0"/>
              <a:t>3.43-2.48 = 0.95% (that is January)</a:t>
            </a:r>
          </a:p>
          <a:p>
            <a:pPr lvl="1" algn="ctr"/>
            <a:r>
              <a:rPr lang="en-GB" dirty="0"/>
              <a:t>How Much is it now?</a:t>
            </a:r>
          </a:p>
          <a:p>
            <a:pPr lvl="1" algn="ctr"/>
            <a:endParaRPr lang="en-GB" dirty="0"/>
          </a:p>
          <a:p>
            <a:pPr lvl="1" algn="ctr"/>
            <a:endParaRPr lang="en-GB" dirty="0"/>
          </a:p>
          <a:p>
            <a:pPr algn="ctr"/>
            <a:r>
              <a:rPr lang="en-GB" dirty="0"/>
              <a:t>Risk Free Rate US =</a:t>
            </a:r>
          </a:p>
          <a:p>
            <a:pPr lvl="1" algn="ctr"/>
            <a:r>
              <a:rPr lang="en-GB" dirty="0"/>
              <a:t>Bond yield</a:t>
            </a:r>
          </a:p>
          <a:p>
            <a:pPr lvl="1" algn="ctr"/>
            <a:r>
              <a:rPr lang="en-GB" dirty="0"/>
              <a:t>4.19%</a:t>
            </a:r>
          </a:p>
        </p:txBody>
      </p:sp>
    </p:spTree>
    <p:extLst>
      <p:ext uri="{BB962C8B-B14F-4D97-AF65-F5344CB8AC3E}">
        <p14:creationId xmlns:p14="http://schemas.microsoft.com/office/powerpoint/2010/main" val="39343896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12AF44B-87A1-59CE-C246-41039910BFAB}"/>
              </a:ext>
            </a:extLst>
          </p:cNvPr>
          <p:cNvPicPr>
            <a:picLocks noChangeAspect="1"/>
          </p:cNvPicPr>
          <p:nvPr/>
        </p:nvPicPr>
        <p:blipFill>
          <a:blip r:embed="rId3"/>
          <a:srcRect l="19288" t="9400" r="15350" b="5202"/>
          <a:stretch>
            <a:fillRect/>
          </a:stretch>
        </p:blipFill>
        <p:spPr>
          <a:xfrm>
            <a:off x="971600" y="1412776"/>
            <a:ext cx="7272808" cy="5345077"/>
          </a:xfrm>
          <a:prstGeom prst="rect">
            <a:avLst/>
          </a:prstGeom>
        </p:spPr>
      </p:pic>
      <p:sp>
        <p:nvSpPr>
          <p:cNvPr id="2" name="Title 1"/>
          <p:cNvSpPr>
            <a:spLocks noGrp="1"/>
          </p:cNvSpPr>
          <p:nvPr>
            <p:ph type="title"/>
          </p:nvPr>
        </p:nvSpPr>
        <p:spPr>
          <a:xfrm>
            <a:off x="301752" y="469848"/>
            <a:ext cx="8534400" cy="654896"/>
          </a:xfrm>
        </p:spPr>
        <p:txBody>
          <a:bodyPr>
            <a:normAutofit fontScale="90000"/>
          </a:bodyPr>
          <a:lstStyle/>
          <a:p>
            <a:r>
              <a:rPr lang="en-US" dirty="0"/>
              <a:t>Why do risk free rates vary across currencies?</a:t>
            </a:r>
            <a:br>
              <a:rPr lang="en-US" dirty="0"/>
            </a:br>
            <a:r>
              <a:rPr lang="en-US" dirty="0"/>
              <a:t>2021 Risk free rates</a:t>
            </a:r>
            <a:endParaRPr lang="fr-FR" dirty="0"/>
          </a:p>
        </p:txBody>
      </p:sp>
      <p:sp>
        <p:nvSpPr>
          <p:cNvPr id="5" name="Rounded Rectangle 4"/>
          <p:cNvSpPr/>
          <p:nvPr/>
        </p:nvSpPr>
        <p:spPr>
          <a:xfrm>
            <a:off x="1691680" y="2987317"/>
            <a:ext cx="4824536" cy="4890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GB" sz="2000" b="0" i="0" dirty="0">
                <a:latin typeface="Cambria Math" panose="02040503050406030204" pitchFamily="18" charset="0"/>
              </a:rPr>
              <a:t>𝐹𝑖𝑠𝑘 𝐹𝑟𝑒𝑒 𝑅𝑎𝑡𝑒=10𝑦 𝑏𝑜𝑛𝑑 𝑦𝑖𝑒𝑙𝑑 −𝐷𝑅𝑃</a:t>
            </a:r>
            <a:endParaRPr lang="fr-FR" sz="1200" dirty="0"/>
          </a:p>
        </p:txBody>
      </p:sp>
    </p:spTree>
    <p:extLst>
      <p:ext uri="{BB962C8B-B14F-4D97-AF65-F5344CB8AC3E}">
        <p14:creationId xmlns:p14="http://schemas.microsoft.com/office/powerpoint/2010/main" val="35102542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a:xfrm>
            <a:off x="301752" y="404664"/>
            <a:ext cx="8534400" cy="758952"/>
          </a:xfrm>
        </p:spPr>
        <p:txBody>
          <a:bodyPr>
            <a:normAutofit fontScale="90000"/>
          </a:bodyPr>
          <a:lstStyle/>
          <a:p>
            <a:r>
              <a:rPr lang="en-US" dirty="0"/>
              <a:t>Case 4: International Companies from Emerging Economies</a:t>
            </a:r>
          </a:p>
        </p:txBody>
      </p:sp>
      <p:sp>
        <p:nvSpPr>
          <p:cNvPr id="214019" name="Rectangle 3"/>
          <p:cNvSpPr>
            <a:spLocks noGrp="1" noChangeArrowheads="1"/>
          </p:cNvSpPr>
          <p:nvPr>
            <p:ph sz="quarter" idx="1"/>
          </p:nvPr>
        </p:nvSpPr>
        <p:spPr>
          <a:xfrm>
            <a:off x="301752" y="1484784"/>
            <a:ext cx="8503920" cy="4926288"/>
          </a:xfrm>
        </p:spPr>
        <p:txBody>
          <a:bodyPr>
            <a:normAutofit lnSpcReduction="10000"/>
          </a:bodyPr>
          <a:lstStyle/>
          <a:p>
            <a:pPr marL="381000" indent="-381000"/>
            <a:r>
              <a:rPr lang="en-US" dirty="0"/>
              <a:t>You are valuing </a:t>
            </a:r>
            <a:r>
              <a:rPr lang="en-US" dirty="0" err="1"/>
              <a:t>Embraer</a:t>
            </a:r>
            <a:r>
              <a:rPr lang="en-US" dirty="0"/>
              <a:t>, a Brazilian company, in U.S. dollars and are attempting to estimate a risk free rate to use in the analysis. The risk free rate that you should use is</a:t>
            </a:r>
          </a:p>
          <a:p>
            <a:pPr marL="731520" lvl="1" indent="-457200">
              <a:buFont typeface="+mj-lt"/>
              <a:buAutoNum type="alphaLcPeriod"/>
            </a:pPr>
            <a:r>
              <a:rPr lang="en-US" dirty="0"/>
              <a:t>The interest rate on a  Brazilian Real denominated long term bond issued by the Brazilian Government (15%)</a:t>
            </a:r>
          </a:p>
          <a:p>
            <a:pPr marL="731520" lvl="1" indent="-457200">
              <a:buFont typeface="+mj-lt"/>
              <a:buAutoNum type="alphaLcPeriod"/>
            </a:pPr>
            <a:r>
              <a:rPr lang="en-US" dirty="0"/>
              <a:t>The interest rate on a US $ denominated long term bond issued by the Brazilian Government (C-Bond) (10.30%)</a:t>
            </a:r>
          </a:p>
          <a:p>
            <a:pPr marL="731520" lvl="1" indent="-457200">
              <a:buFont typeface="+mj-lt"/>
              <a:buAutoNum type="alphaLcPeriod"/>
            </a:pPr>
            <a:r>
              <a:rPr lang="en-US" dirty="0"/>
              <a:t>The interest rate on a US $ denominated Brazilian Brady bond (which is partially backed by the US Government) (10.15%)</a:t>
            </a:r>
          </a:p>
          <a:p>
            <a:pPr marL="731520" lvl="1" indent="-457200">
              <a:buFont typeface="+mj-lt"/>
              <a:buAutoNum type="alphaLcPeriod"/>
            </a:pPr>
            <a:r>
              <a:rPr lang="en-US" dirty="0"/>
              <a:t>The interest rate on a dollar denominated bond issued by </a:t>
            </a:r>
            <a:r>
              <a:rPr lang="en-US" dirty="0" err="1"/>
              <a:t>Embraer</a:t>
            </a:r>
            <a:r>
              <a:rPr lang="en-US" dirty="0"/>
              <a:t> (9.25%)</a:t>
            </a:r>
          </a:p>
          <a:p>
            <a:pPr marL="731520" lvl="1" indent="-457200">
              <a:buFont typeface="+mj-lt"/>
              <a:buAutoNum type="alphaLcPeriod"/>
            </a:pPr>
            <a:r>
              <a:rPr lang="en-US" dirty="0"/>
              <a:t>The interest rate on a US treasury bond (4.29%)</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2E833-C6D6-6B69-5C29-9963EF6CE9A4}"/>
              </a:ext>
            </a:extLst>
          </p:cNvPr>
          <p:cNvSpPr>
            <a:spLocks noGrp="1"/>
          </p:cNvSpPr>
          <p:nvPr>
            <p:ph type="title"/>
          </p:nvPr>
        </p:nvSpPr>
        <p:spPr/>
        <p:txBody>
          <a:bodyPr/>
          <a:lstStyle/>
          <a:p>
            <a:r>
              <a:rPr lang="en-GB" dirty="0"/>
              <a:t>What is the rf for Nestle?</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4" name="Content Placeholder 3">
                <a:extLst>
                  <a:ext uri="{FF2B5EF4-FFF2-40B4-BE49-F238E27FC236}">
                    <a16:creationId xmlns:a16="http://schemas.microsoft.com/office/drawing/2014/main" id="{5F685E82-B1A2-3C3E-E1DA-93DA21DA8E45}"/>
                  </a:ext>
                </a:extLst>
              </p:cNvPr>
              <p:cNvGraphicFramePr>
                <a:graphicFrameLocks noGrp="1"/>
              </p:cNvGraphicFramePr>
              <p:nvPr>
                <p:ph sz="quarter" idx="1"/>
                <p:extLst>
                  <p:ext uri="{D42A27DB-BD31-4B8C-83A1-F6EECF244321}">
                    <p14:modId xmlns:p14="http://schemas.microsoft.com/office/powerpoint/2010/main" val="3350643161"/>
                  </p:ext>
                </p:extLst>
              </p:nvPr>
            </p:nvGraphicFramePr>
            <p:xfrm>
              <a:off x="107504" y="1527174"/>
              <a:ext cx="8698359" cy="5142185"/>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4" name="Content Placeholder 3">
                <a:extLst>
                  <a:ext uri="{FF2B5EF4-FFF2-40B4-BE49-F238E27FC236}">
                    <a16:creationId xmlns:a16="http://schemas.microsoft.com/office/drawing/2014/main" id="{5F685E82-B1A2-3C3E-E1DA-93DA21DA8E45}"/>
                  </a:ext>
                </a:extLst>
              </p:cNvPr>
              <p:cNvPicPr>
                <a:picLocks noGrp="1" noRot="1" noChangeAspect="1" noMove="1" noResize="1" noEditPoints="1" noAdjustHandles="1" noChangeArrowheads="1" noChangeShapeType="1"/>
              </p:cNvPicPr>
              <p:nvPr/>
            </p:nvPicPr>
            <p:blipFill>
              <a:blip r:embed="rId3"/>
              <a:stretch>
                <a:fillRect/>
              </a:stretch>
            </p:blipFill>
            <p:spPr>
              <a:xfrm>
                <a:off x="107504" y="1527174"/>
                <a:ext cx="8698359" cy="5142185"/>
              </a:xfrm>
              <a:prstGeom prst="rect">
                <a:avLst/>
              </a:prstGeom>
            </p:spPr>
          </p:pic>
        </mc:Fallback>
      </mc:AlternateContent>
    </p:spTree>
    <p:extLst>
      <p:ext uri="{BB962C8B-B14F-4D97-AF65-F5344CB8AC3E}">
        <p14:creationId xmlns:p14="http://schemas.microsoft.com/office/powerpoint/2010/main" val="31697970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ii. Market Equity Risk Premiums</a:t>
            </a: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4282370698"/>
              </p:ext>
            </p:extLst>
          </p:nvPr>
        </p:nvGraphicFramePr>
        <p:xfrm>
          <a:off x="301752" y="1196752"/>
          <a:ext cx="8503920" cy="53285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23632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323528" y="365792"/>
            <a:ext cx="8534400" cy="758952"/>
          </a:xfrm>
          <a:noFill/>
          <a:ln/>
        </p:spPr>
        <p:txBody>
          <a:bodyPr anchor="b">
            <a:normAutofit fontScale="90000"/>
          </a:bodyPr>
          <a:lstStyle/>
          <a:p>
            <a:r>
              <a:rPr lang="en-US" dirty="0"/>
              <a:t>A. A Backward looking Market Risk Premium</a:t>
            </a:r>
            <a:br>
              <a:rPr lang="en-US" dirty="0"/>
            </a:br>
            <a:r>
              <a:rPr lang="en-US" dirty="0"/>
              <a:t>Everyone uses historical premiums, but..</a:t>
            </a:r>
          </a:p>
        </p:txBody>
      </p:sp>
      <p:sp>
        <p:nvSpPr>
          <p:cNvPr id="215043" name="Rectangle 3"/>
          <p:cNvSpPr>
            <a:spLocks noGrp="1" noChangeArrowheads="1"/>
          </p:cNvSpPr>
          <p:nvPr>
            <p:ph sz="quarter" idx="1"/>
          </p:nvPr>
        </p:nvSpPr>
        <p:spPr>
          <a:xfrm>
            <a:off x="539552" y="1484784"/>
            <a:ext cx="8208912" cy="2808312"/>
          </a:xfrm>
          <a:noFill/>
          <a:ln/>
        </p:spPr>
        <p:txBody>
          <a:bodyPr>
            <a:noAutofit/>
          </a:bodyPr>
          <a:lstStyle/>
          <a:p>
            <a:pPr>
              <a:lnSpc>
                <a:spcPct val="90000"/>
              </a:lnSpc>
              <a:tabLst>
                <a:tab pos="2281238" algn="l"/>
                <a:tab pos="3198813" algn="l"/>
              </a:tabLst>
            </a:pPr>
            <a:r>
              <a:rPr lang="en-US" sz="2000" dirty="0"/>
              <a:t>The historical premium is the premium that stocks have historically earned over riskless securities. They measure</a:t>
            </a:r>
          </a:p>
          <a:p>
            <a:pPr lvl="1">
              <a:lnSpc>
                <a:spcPct val="90000"/>
              </a:lnSpc>
              <a:tabLst>
                <a:tab pos="2281238" algn="l"/>
                <a:tab pos="3198813" algn="l"/>
              </a:tabLst>
            </a:pPr>
            <a:r>
              <a:rPr lang="en-US" sz="1500" dirty="0"/>
              <a:t>Risk aversion</a:t>
            </a:r>
          </a:p>
          <a:p>
            <a:pPr lvl="1">
              <a:lnSpc>
                <a:spcPct val="90000"/>
              </a:lnSpc>
              <a:tabLst>
                <a:tab pos="2281238" algn="l"/>
                <a:tab pos="3198813" algn="l"/>
              </a:tabLst>
            </a:pPr>
            <a:r>
              <a:rPr lang="en-US" sz="1500" dirty="0"/>
              <a:t>Riskiness of average security in a market</a:t>
            </a:r>
          </a:p>
          <a:p>
            <a:pPr>
              <a:lnSpc>
                <a:spcPct val="90000"/>
              </a:lnSpc>
              <a:tabLst>
                <a:tab pos="2281238" algn="l"/>
                <a:tab pos="3198813" algn="l"/>
              </a:tabLst>
            </a:pPr>
            <a:r>
              <a:rPr lang="en-US" sz="2000" dirty="0"/>
              <a:t>Practitioners never seem to agree on the premium; it is sensitive to </a:t>
            </a:r>
          </a:p>
          <a:p>
            <a:pPr lvl="1">
              <a:lnSpc>
                <a:spcPct val="90000"/>
              </a:lnSpc>
              <a:tabLst>
                <a:tab pos="2281238" algn="l"/>
                <a:tab pos="3198813" algn="l"/>
              </a:tabLst>
            </a:pPr>
            <a:r>
              <a:rPr lang="en-US" sz="1600" dirty="0"/>
              <a:t>How far back you go in history…</a:t>
            </a:r>
          </a:p>
          <a:p>
            <a:pPr lvl="1">
              <a:lnSpc>
                <a:spcPct val="90000"/>
              </a:lnSpc>
              <a:tabLst>
                <a:tab pos="2281238" algn="l"/>
                <a:tab pos="3198813" algn="l"/>
              </a:tabLst>
            </a:pPr>
            <a:r>
              <a:rPr lang="en-US" sz="1600" dirty="0"/>
              <a:t>Whether you use </a:t>
            </a:r>
            <a:r>
              <a:rPr lang="en-US" sz="1600" dirty="0" err="1"/>
              <a:t>T.bill</a:t>
            </a:r>
            <a:r>
              <a:rPr lang="en-US" sz="1600" dirty="0"/>
              <a:t> rates or </a:t>
            </a:r>
            <a:r>
              <a:rPr lang="en-US" sz="1600" dirty="0" err="1"/>
              <a:t>T.Bond</a:t>
            </a:r>
            <a:r>
              <a:rPr lang="en-US" sz="1600" dirty="0"/>
              <a:t> rates</a:t>
            </a:r>
          </a:p>
          <a:p>
            <a:pPr lvl="1">
              <a:lnSpc>
                <a:spcPct val="90000"/>
              </a:lnSpc>
              <a:tabLst>
                <a:tab pos="2281238" algn="l"/>
                <a:tab pos="3198813" algn="l"/>
              </a:tabLst>
            </a:pPr>
            <a:r>
              <a:rPr lang="en-US" sz="1600" dirty="0"/>
              <a:t>Whether you use geometric or arithmetic averages.</a:t>
            </a:r>
          </a:p>
          <a:p>
            <a:pPr>
              <a:lnSpc>
                <a:spcPct val="90000"/>
              </a:lnSpc>
              <a:tabLst>
                <a:tab pos="2281238" algn="l"/>
                <a:tab pos="3198813" algn="l"/>
              </a:tabLst>
            </a:pPr>
            <a:r>
              <a:rPr lang="en-US" sz="2000" dirty="0"/>
              <a:t>For instance, looking at the US:</a:t>
            </a:r>
          </a:p>
          <a:p>
            <a:pPr>
              <a:lnSpc>
                <a:spcPct val="90000"/>
              </a:lnSpc>
              <a:tabLst>
                <a:tab pos="2281238" algn="l"/>
                <a:tab pos="3198813" algn="l"/>
              </a:tabLst>
            </a:pPr>
            <a:endParaRPr lang="en-US" sz="2000" dirty="0"/>
          </a:p>
          <a:p>
            <a:pPr>
              <a:lnSpc>
                <a:spcPct val="90000"/>
              </a:lnSpc>
              <a:buFont typeface="Monotype Sorts" charset="2"/>
              <a:buNone/>
              <a:tabLst>
                <a:tab pos="2281238" algn="l"/>
                <a:tab pos="3198813" algn="l"/>
              </a:tabLst>
            </a:pPr>
            <a:endParaRPr lang="en-US" sz="2000" dirty="0"/>
          </a:p>
        </p:txBody>
      </p:sp>
      <p:graphicFrame>
        <p:nvGraphicFramePr>
          <p:cNvPr id="5" name="Table 4"/>
          <p:cNvGraphicFramePr>
            <a:graphicFrameLocks noGrp="1"/>
          </p:cNvGraphicFramePr>
          <p:nvPr>
            <p:extLst>
              <p:ext uri="{D42A27DB-BD31-4B8C-83A1-F6EECF244321}">
                <p14:modId xmlns:p14="http://schemas.microsoft.com/office/powerpoint/2010/main" val="3058166129"/>
              </p:ext>
            </p:extLst>
          </p:nvPr>
        </p:nvGraphicFramePr>
        <p:xfrm>
          <a:off x="395535" y="4149080"/>
          <a:ext cx="8496945" cy="2194560"/>
        </p:xfrm>
        <a:graphic>
          <a:graphicData uri="http://schemas.openxmlformats.org/drawingml/2006/table">
            <a:tbl>
              <a:tblPr/>
              <a:tblGrid>
                <a:gridCol w="2692373">
                  <a:extLst>
                    <a:ext uri="{9D8B030D-6E8A-4147-A177-3AD203B41FA5}">
                      <a16:colId xmlns:a16="http://schemas.microsoft.com/office/drawing/2014/main" val="1628042725"/>
                    </a:ext>
                  </a:extLst>
                </a:gridCol>
                <a:gridCol w="1369003">
                  <a:extLst>
                    <a:ext uri="{9D8B030D-6E8A-4147-A177-3AD203B41FA5}">
                      <a16:colId xmlns:a16="http://schemas.microsoft.com/office/drawing/2014/main" val="224559834"/>
                    </a:ext>
                  </a:extLst>
                </a:gridCol>
                <a:gridCol w="1533283">
                  <a:extLst>
                    <a:ext uri="{9D8B030D-6E8A-4147-A177-3AD203B41FA5}">
                      <a16:colId xmlns:a16="http://schemas.microsoft.com/office/drawing/2014/main" val="1574530302"/>
                    </a:ext>
                  </a:extLst>
                </a:gridCol>
                <a:gridCol w="1369003">
                  <a:extLst>
                    <a:ext uri="{9D8B030D-6E8A-4147-A177-3AD203B41FA5}">
                      <a16:colId xmlns:a16="http://schemas.microsoft.com/office/drawing/2014/main" val="346224032"/>
                    </a:ext>
                  </a:extLst>
                </a:gridCol>
                <a:gridCol w="1533283">
                  <a:extLst>
                    <a:ext uri="{9D8B030D-6E8A-4147-A177-3AD203B41FA5}">
                      <a16:colId xmlns:a16="http://schemas.microsoft.com/office/drawing/2014/main" val="1824306541"/>
                    </a:ext>
                  </a:extLst>
                </a:gridCol>
              </a:tblGrid>
              <a:tr h="198555">
                <a:tc>
                  <a:txBody>
                    <a:bodyPr/>
                    <a:lstStyle/>
                    <a:p>
                      <a:pPr algn="l" fontAlgn="b"/>
                      <a:r>
                        <a:rPr lang="en-GB" sz="1600" b="0" i="0" u="none" strike="noStrike">
                          <a:effectLst/>
                          <a:latin typeface="Geneva"/>
                        </a:rPr>
                        <a:t> </a:t>
                      </a:r>
                    </a:p>
                  </a:txBody>
                  <a:tcPr marL="0" marR="0" marT="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b"/>
                      <a:r>
                        <a:rPr lang="en-GB" sz="1600" b="0" i="1" u="none" strike="noStrike">
                          <a:effectLst/>
                          <a:latin typeface="Geneva"/>
                        </a:rPr>
                        <a:t>Arithmetic Average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GB"/>
                    </a:p>
                  </a:txBody>
                  <a:tcPr/>
                </a:tc>
                <a:tc gridSpan="2">
                  <a:txBody>
                    <a:bodyPr/>
                    <a:lstStyle/>
                    <a:p>
                      <a:pPr algn="ctr" fontAlgn="b"/>
                      <a:r>
                        <a:rPr lang="en-GB" sz="1600" b="0" i="1" u="none" strike="noStrike">
                          <a:effectLst/>
                          <a:latin typeface="Geneva"/>
                        </a:rPr>
                        <a:t>Geometric Average</a:t>
                      </a:r>
                    </a:p>
                  </a:txBody>
                  <a:tcPr marL="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192356520"/>
                  </a:ext>
                </a:extLst>
              </a:tr>
              <a:tr h="381225">
                <a:tc>
                  <a:txBody>
                    <a:bodyPr/>
                    <a:lstStyle/>
                    <a:p>
                      <a:pPr algn="l" fontAlgn="b"/>
                      <a:r>
                        <a:rPr lang="en-GB" sz="1600" b="0" i="0" u="none" strike="noStrike">
                          <a:effectLst/>
                          <a:latin typeface="Geneva"/>
                        </a:rPr>
                        <a:t> </a:t>
                      </a:r>
                    </a:p>
                  </a:txBody>
                  <a:tcPr marL="0" marR="0" marT="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600" b="0" i="0" u="none" strike="noStrike">
                          <a:effectLst/>
                          <a:latin typeface="Geneva"/>
                        </a:rPr>
                        <a:t>Stocks - T. Bills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600" b="0" i="0" u="none" strike="noStrike">
                          <a:effectLst/>
                          <a:latin typeface="Geneva"/>
                        </a:rPr>
                        <a:t>Stocks - T. Bonds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600" b="0" i="0" u="none" strike="noStrike">
                          <a:effectLst/>
                          <a:latin typeface="Geneva"/>
                        </a:rPr>
                        <a:t>Stocks - T. Bills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600" b="0" i="0" u="none" strike="noStrike">
                          <a:effectLst/>
                          <a:latin typeface="Geneva"/>
                        </a:rPr>
                        <a:t>Stocks - T. Bonds</a:t>
                      </a:r>
                    </a:p>
                  </a:txBody>
                  <a:tcPr marL="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6569905"/>
                  </a:ext>
                </a:extLst>
              </a:tr>
              <a:tr h="198555">
                <a:tc>
                  <a:txBody>
                    <a:bodyPr/>
                    <a:lstStyle/>
                    <a:p>
                      <a:pPr algn="l" fontAlgn="b"/>
                      <a:r>
                        <a:rPr lang="en-GB" sz="1600" b="0" i="0" u="none" strike="noStrike">
                          <a:effectLst/>
                          <a:latin typeface="Geneva"/>
                        </a:rPr>
                        <a:t>1928-2020</a:t>
                      </a:r>
                    </a:p>
                  </a:txBody>
                  <a:tcPr marL="0" marR="0" marT="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600" b="0" i="0" u="none" strike="noStrike">
                          <a:effectLst/>
                          <a:latin typeface="Geneva"/>
                        </a:rPr>
                        <a:t>8.28%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600" b="0" i="0" u="none" strike="noStrike">
                          <a:effectLst/>
                          <a:latin typeface="Geneva"/>
                        </a:rPr>
                        <a:t>6.43%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600" b="0" i="0" u="none" strike="noStrike">
                          <a:effectLst/>
                          <a:latin typeface="Geneva"/>
                        </a:rPr>
                        <a:t>6.47%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600" b="0" i="0" u="none" strike="noStrike">
                          <a:effectLst/>
                          <a:latin typeface="Geneva"/>
                        </a:rPr>
                        <a:t>4.84%</a:t>
                      </a:r>
                    </a:p>
                  </a:txBody>
                  <a:tcPr marL="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36107155"/>
                  </a:ext>
                </a:extLst>
              </a:tr>
              <a:tr h="198555">
                <a:tc>
                  <a:txBody>
                    <a:bodyPr/>
                    <a:lstStyle/>
                    <a:p>
                      <a:pPr algn="l" fontAlgn="b"/>
                      <a:r>
                        <a:rPr lang="en-GB" sz="1600" b="0" i="0" u="none" strike="noStrike">
                          <a:solidFill>
                            <a:srgbClr val="FF0000"/>
                          </a:solidFill>
                          <a:effectLst/>
                          <a:latin typeface="Geneva"/>
                        </a:rPr>
                        <a:t>Std Error</a:t>
                      </a:r>
                    </a:p>
                  </a:txBody>
                  <a:tcPr marL="0" marR="0" marT="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600" b="0" i="1" u="none" strike="noStrike">
                          <a:solidFill>
                            <a:srgbClr val="FF0000"/>
                          </a:solidFill>
                          <a:effectLst/>
                          <a:latin typeface="Geneva"/>
                        </a:rPr>
                        <a:t>2.06%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600" b="0" i="1" u="none" strike="noStrike">
                          <a:solidFill>
                            <a:srgbClr val="FF0000"/>
                          </a:solidFill>
                          <a:effectLst/>
                          <a:latin typeface="Geneva"/>
                        </a:rPr>
                        <a:t>2.18%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600" b="0" i="0" u="none" strike="noStrike">
                          <a:effectLst/>
                          <a:latin typeface="Geneva"/>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600" b="0" i="0" u="none" strike="noStrike">
                          <a:effectLst/>
                          <a:latin typeface="Geneva"/>
                        </a:rPr>
                        <a:t> </a:t>
                      </a:r>
                    </a:p>
                  </a:txBody>
                  <a:tcPr marL="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968664"/>
                  </a:ext>
                </a:extLst>
              </a:tr>
              <a:tr h="198555">
                <a:tc>
                  <a:txBody>
                    <a:bodyPr/>
                    <a:lstStyle/>
                    <a:p>
                      <a:pPr algn="l" fontAlgn="b"/>
                      <a:r>
                        <a:rPr lang="en-GB" sz="1600" b="0" i="0" u="none" strike="noStrike">
                          <a:effectLst/>
                          <a:latin typeface="Geneva"/>
                        </a:rPr>
                        <a:t>1971-2020</a:t>
                      </a:r>
                    </a:p>
                  </a:txBody>
                  <a:tcPr marL="0" marR="0" marT="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600" b="0" i="0" u="none" strike="noStrike">
                          <a:effectLst/>
                          <a:latin typeface="Geneva"/>
                        </a:rPr>
                        <a:t>7.67%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600" b="0" i="0" u="none" strike="noStrike">
                          <a:effectLst/>
                          <a:latin typeface="Geneva"/>
                        </a:rPr>
                        <a:t>4.90%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600" b="0" i="0" u="none" strike="noStrike">
                          <a:effectLst/>
                          <a:latin typeface="Geneva"/>
                        </a:rPr>
                        <a:t>6.35%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600" b="0" i="0" u="none" strike="noStrike">
                          <a:effectLst/>
                          <a:latin typeface="Geneva"/>
                        </a:rPr>
                        <a:t>3.91%</a:t>
                      </a:r>
                    </a:p>
                  </a:txBody>
                  <a:tcPr marL="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906102"/>
                  </a:ext>
                </a:extLst>
              </a:tr>
              <a:tr h="198555">
                <a:tc>
                  <a:txBody>
                    <a:bodyPr/>
                    <a:lstStyle/>
                    <a:p>
                      <a:pPr algn="l" fontAlgn="b"/>
                      <a:r>
                        <a:rPr lang="en-GB" sz="1600" b="0" i="0" u="none" strike="noStrike">
                          <a:solidFill>
                            <a:srgbClr val="FF0000"/>
                          </a:solidFill>
                          <a:effectLst/>
                          <a:latin typeface="Geneva"/>
                        </a:rPr>
                        <a:t>Std Error</a:t>
                      </a:r>
                    </a:p>
                  </a:txBody>
                  <a:tcPr marL="0" marR="0" marT="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600" b="0" i="1" u="none" strike="noStrike">
                          <a:solidFill>
                            <a:srgbClr val="FF0000"/>
                          </a:solidFill>
                          <a:effectLst/>
                          <a:latin typeface="Geneva"/>
                        </a:rPr>
                        <a:t>2.38%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600" b="0" i="1" u="none" strike="noStrike">
                          <a:solidFill>
                            <a:srgbClr val="FF0000"/>
                          </a:solidFill>
                          <a:effectLst/>
                          <a:latin typeface="Geneva"/>
                        </a:rPr>
                        <a:t>2.70%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600" b="0" i="0" u="none" strike="noStrike">
                          <a:effectLst/>
                          <a:latin typeface="Geneva"/>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600" b="0" i="0" u="none" strike="noStrike">
                          <a:effectLst/>
                          <a:latin typeface="Geneva"/>
                        </a:rPr>
                        <a:t> </a:t>
                      </a:r>
                    </a:p>
                  </a:txBody>
                  <a:tcPr marL="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98427564"/>
                  </a:ext>
                </a:extLst>
              </a:tr>
              <a:tr h="198555">
                <a:tc>
                  <a:txBody>
                    <a:bodyPr/>
                    <a:lstStyle/>
                    <a:p>
                      <a:pPr algn="l" fontAlgn="b"/>
                      <a:r>
                        <a:rPr lang="en-GB" sz="1600" b="0" i="0" u="none" strike="noStrike">
                          <a:effectLst/>
                          <a:latin typeface="Geneva"/>
                        </a:rPr>
                        <a:t>2011-2020</a:t>
                      </a:r>
                    </a:p>
                  </a:txBody>
                  <a:tcPr marL="0" marR="0" marT="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600" b="0" i="0" u="none" strike="noStrike">
                          <a:effectLst/>
                          <a:latin typeface="Geneva"/>
                        </a:rPr>
                        <a:t>13.83%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600" b="0" i="0" u="none" strike="noStrike">
                          <a:effectLst/>
                          <a:latin typeface="Geneva"/>
                        </a:rPr>
                        <a:t>9.70%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600" b="0" i="0" u="none" strike="noStrike">
                          <a:effectLst/>
                          <a:latin typeface="Geneva"/>
                        </a:rPr>
                        <a:t>13.24%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600" b="0" i="0" u="none" strike="noStrike">
                          <a:effectLst/>
                          <a:latin typeface="Geneva"/>
                        </a:rPr>
                        <a:t>9.35%</a:t>
                      </a:r>
                    </a:p>
                  </a:txBody>
                  <a:tcPr marL="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09052801"/>
                  </a:ext>
                </a:extLst>
              </a:tr>
              <a:tr h="202526">
                <a:tc>
                  <a:txBody>
                    <a:bodyPr/>
                    <a:lstStyle/>
                    <a:p>
                      <a:pPr algn="l" fontAlgn="b"/>
                      <a:r>
                        <a:rPr lang="en-GB" sz="1600" b="0" i="0" u="none" strike="noStrike">
                          <a:solidFill>
                            <a:srgbClr val="FF0000"/>
                          </a:solidFill>
                          <a:effectLst/>
                          <a:latin typeface="Geneva"/>
                        </a:rPr>
                        <a:t>Std Error</a:t>
                      </a:r>
                    </a:p>
                  </a:txBody>
                  <a:tcPr marL="0" marR="0" marT="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GB" sz="1600" b="0" i="1" u="none" strike="noStrike">
                          <a:solidFill>
                            <a:srgbClr val="FF0000"/>
                          </a:solidFill>
                          <a:effectLst/>
                          <a:latin typeface="Geneva"/>
                        </a:rPr>
                        <a:t>3.88%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GB" sz="1600" b="0" i="1" u="none" strike="noStrike">
                          <a:solidFill>
                            <a:srgbClr val="FF0000"/>
                          </a:solidFill>
                          <a:effectLst/>
                          <a:latin typeface="Geneva"/>
                        </a:rPr>
                        <a:t>4.87%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GB" sz="1600" b="0" i="0" u="none" strike="noStrike">
                          <a:effectLst/>
                          <a:latin typeface="Geneva"/>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GB" sz="1600" b="0" i="0" u="none" strike="noStrike" dirty="0">
                          <a:effectLst/>
                          <a:latin typeface="Geneva"/>
                        </a:rPr>
                        <a:t> </a:t>
                      </a:r>
                    </a:p>
                  </a:txBody>
                  <a:tcPr marL="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74920613"/>
                  </a:ext>
                </a:extLst>
              </a:tr>
            </a:tbl>
          </a:graphicData>
        </a:graphic>
      </p:graphicFrame>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ChangeArrowheads="1"/>
          </p:cNvSpPr>
          <p:nvPr>
            <p:ph type="title"/>
          </p:nvPr>
        </p:nvSpPr>
        <p:spPr>
          <a:xfrm>
            <a:off x="301752" y="332656"/>
            <a:ext cx="8534400" cy="758952"/>
          </a:xfrm>
          <a:noFill/>
          <a:ln/>
        </p:spPr>
        <p:txBody>
          <a:bodyPr>
            <a:normAutofit fontScale="90000"/>
          </a:bodyPr>
          <a:lstStyle/>
          <a:p>
            <a:r>
              <a:rPr lang="en-US" dirty="0"/>
              <a:t>B. A Forward Looking Market Risk Premium</a:t>
            </a:r>
            <a:br>
              <a:rPr lang="en-US" dirty="0"/>
            </a:br>
            <a:r>
              <a:rPr lang="en-US" dirty="0"/>
              <a:t>Implied Equity Premiums</a:t>
            </a:r>
          </a:p>
        </p:txBody>
      </p:sp>
      <p:sp>
        <p:nvSpPr>
          <p:cNvPr id="224259" name="Rectangle 3"/>
          <p:cNvSpPr>
            <a:spLocks noGrp="1" noChangeArrowheads="1"/>
          </p:cNvSpPr>
          <p:nvPr>
            <p:ph sz="quarter" idx="1"/>
          </p:nvPr>
        </p:nvSpPr>
        <p:spPr>
          <a:xfrm>
            <a:off x="301752" y="1527048"/>
            <a:ext cx="8503920" cy="4926288"/>
          </a:xfrm>
          <a:noFill/>
          <a:ln/>
        </p:spPr>
        <p:txBody>
          <a:bodyPr>
            <a:noAutofit/>
          </a:bodyPr>
          <a:lstStyle/>
          <a:p>
            <a:r>
              <a:rPr lang="en-US" sz="3200" dirty="0"/>
              <a:t>If we assume that stocks are correctly priced in the aggregate and we can estimate the expected cash flows from buying stocks, </a:t>
            </a:r>
          </a:p>
          <a:p>
            <a:pPr lvl="1"/>
            <a:r>
              <a:rPr lang="en-US" sz="2800" dirty="0"/>
              <a:t>We can estimate the expected rate of return on stocks by computing an internal rate of return. </a:t>
            </a:r>
          </a:p>
          <a:p>
            <a:pPr lvl="1"/>
            <a:r>
              <a:rPr lang="en-US" sz="2800" dirty="0"/>
              <a:t>Subtracting out the </a:t>
            </a:r>
            <a:r>
              <a:rPr lang="en-US" sz="2800" dirty="0" err="1"/>
              <a:t>riskfree</a:t>
            </a:r>
            <a:r>
              <a:rPr lang="en-US" sz="2800" dirty="0"/>
              <a:t> rate should yield an implied equity risk premium.</a:t>
            </a:r>
          </a:p>
          <a:p>
            <a:r>
              <a:rPr lang="en-US" sz="3200" dirty="0"/>
              <a:t>This implied equity premium is a forward looking number and can be updated as often as you want</a:t>
            </a:r>
          </a:p>
        </p:txBody>
      </p:sp>
    </p:spTree>
    <p:extLst>
      <p:ext uri="{BB962C8B-B14F-4D97-AF65-F5344CB8AC3E}">
        <p14:creationId xmlns:p14="http://schemas.microsoft.com/office/powerpoint/2010/main" val="732637419"/>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4770" name="Rectangle 2"/>
          <p:cNvSpPr>
            <a:spLocks noGrp="1" noChangeArrowheads="1"/>
          </p:cNvSpPr>
          <p:nvPr>
            <p:ph type="title"/>
          </p:nvPr>
        </p:nvSpPr>
        <p:spPr>
          <a:noFill/>
          <a:ln/>
        </p:spPr>
        <p:txBody>
          <a:bodyPr/>
          <a:lstStyle/>
          <a:p>
            <a:r>
              <a:rPr lang="en-US" dirty="0"/>
              <a:t>Implied Equity Premiums</a:t>
            </a:r>
          </a:p>
        </p:txBody>
      </p:sp>
      <p:sp>
        <p:nvSpPr>
          <p:cNvPr id="1184771" name="Rectangle 3"/>
          <p:cNvSpPr>
            <a:spLocks noGrp="1" noChangeArrowheads="1"/>
          </p:cNvSpPr>
          <p:nvPr>
            <p:ph sz="quarter" idx="1"/>
          </p:nvPr>
        </p:nvSpPr>
        <p:spPr>
          <a:xfrm>
            <a:off x="301752" y="1412776"/>
            <a:ext cx="8503920" cy="5142312"/>
          </a:xfrm>
          <a:noFill/>
          <a:ln/>
        </p:spPr>
        <p:txBody>
          <a:bodyPr>
            <a:normAutofit/>
          </a:bodyPr>
          <a:lstStyle/>
          <a:p>
            <a:pPr>
              <a:lnSpc>
                <a:spcPct val="90000"/>
              </a:lnSpc>
            </a:pPr>
            <a:r>
              <a:rPr lang="en-US" sz="1800" dirty="0"/>
              <a:t>We can use the information in stock prices to back out how risk averse the market is and how much of a risk premium it is demanding.</a:t>
            </a:r>
          </a:p>
          <a:p>
            <a:pPr>
              <a:lnSpc>
                <a:spcPct val="90000"/>
              </a:lnSpc>
            </a:pPr>
            <a:endParaRPr lang="en-US" sz="1800" dirty="0"/>
          </a:p>
          <a:p>
            <a:pPr>
              <a:lnSpc>
                <a:spcPct val="90000"/>
              </a:lnSpc>
            </a:pPr>
            <a:endParaRPr lang="en-US" sz="1800" dirty="0"/>
          </a:p>
          <a:p>
            <a:pPr>
              <a:lnSpc>
                <a:spcPct val="90000"/>
              </a:lnSpc>
            </a:pPr>
            <a:endParaRPr lang="en-US" sz="1800" dirty="0"/>
          </a:p>
          <a:p>
            <a:pPr>
              <a:lnSpc>
                <a:spcPct val="90000"/>
              </a:lnSpc>
            </a:pPr>
            <a:endParaRPr lang="en-US" sz="1800" dirty="0"/>
          </a:p>
          <a:p>
            <a:pPr>
              <a:lnSpc>
                <a:spcPct val="90000"/>
              </a:lnSpc>
            </a:pPr>
            <a:endParaRPr lang="en-US" sz="1800" dirty="0"/>
          </a:p>
          <a:p>
            <a:pPr>
              <a:lnSpc>
                <a:spcPct val="90000"/>
              </a:lnSpc>
            </a:pPr>
            <a:endParaRPr lang="en-US" sz="1800" dirty="0"/>
          </a:p>
          <a:p>
            <a:pPr>
              <a:lnSpc>
                <a:spcPct val="90000"/>
              </a:lnSpc>
            </a:pPr>
            <a:endParaRPr lang="en-US" sz="1800" dirty="0"/>
          </a:p>
          <a:p>
            <a:pPr>
              <a:lnSpc>
                <a:spcPct val="90000"/>
              </a:lnSpc>
            </a:pPr>
            <a:r>
              <a:rPr lang="en-US" sz="1800" dirty="0"/>
              <a:t>If you pay the current level of the index, you can expect to make a return of 7.87% on stocks (which is obtained by solving for r in the following equation)</a:t>
            </a:r>
          </a:p>
          <a:p>
            <a:pPr>
              <a:lnSpc>
                <a:spcPct val="90000"/>
              </a:lnSpc>
            </a:pPr>
            <a:r>
              <a:rPr lang="en-US" sz="1800" dirty="0"/>
              <a:t>You can use the </a:t>
            </a:r>
            <a:r>
              <a:rPr lang="en-US" sz="1800" dirty="0">
                <a:hlinkClick r:id="rId3" action="ppaction://hlinksldjump"/>
              </a:rPr>
              <a:t>interpolation method</a:t>
            </a:r>
            <a:endParaRPr lang="en-US" sz="1800" dirty="0"/>
          </a:p>
          <a:p>
            <a:pPr>
              <a:lnSpc>
                <a:spcPct val="90000"/>
              </a:lnSpc>
            </a:pPr>
            <a:endParaRPr lang="en-US" sz="1800" dirty="0"/>
          </a:p>
          <a:p>
            <a:pPr>
              <a:lnSpc>
                <a:spcPct val="90000"/>
              </a:lnSpc>
            </a:pPr>
            <a:endParaRPr lang="en-US" sz="1800" dirty="0"/>
          </a:p>
          <a:p>
            <a:pPr>
              <a:lnSpc>
                <a:spcPct val="90000"/>
              </a:lnSpc>
            </a:pPr>
            <a:r>
              <a:rPr lang="en-US" sz="1800" dirty="0"/>
              <a:t>Implied Equity risk premium = Expected return on stocks - Treasury bond rate = 7.87% - 4.22% = 3.65%</a:t>
            </a:r>
          </a:p>
          <a:p>
            <a:pPr>
              <a:lnSpc>
                <a:spcPct val="90000"/>
              </a:lnSpc>
            </a:pPr>
            <a:endParaRPr lang="en-US" sz="1800" dirty="0"/>
          </a:p>
        </p:txBody>
      </p:sp>
      <p:graphicFrame>
        <p:nvGraphicFramePr>
          <p:cNvPr id="1184772" name="Object 4"/>
          <p:cNvGraphicFramePr>
            <a:graphicFrameLocks noChangeAspect="1"/>
          </p:cNvGraphicFramePr>
          <p:nvPr/>
        </p:nvGraphicFramePr>
        <p:xfrm>
          <a:off x="1403648" y="5013176"/>
          <a:ext cx="6096000" cy="511175"/>
        </p:xfrm>
        <a:graphic>
          <a:graphicData uri="http://schemas.openxmlformats.org/presentationml/2006/ole">
            <mc:AlternateContent xmlns:mc="http://schemas.openxmlformats.org/markup-compatibility/2006">
              <mc:Choice xmlns:v="urn:schemas-microsoft-com:vml" Requires="v">
                <p:oleObj name="Equation" r:id="rId4" imgW="3937000" imgH="330200" progId="Equation.3">
                  <p:embed/>
                </p:oleObj>
              </mc:Choice>
              <mc:Fallback>
                <p:oleObj name="Equation" r:id="rId4" imgW="3937000" imgH="330200" progId="Equation.3">
                  <p:embed/>
                  <p:pic>
                    <p:nvPicPr>
                      <p:cNvPr id="1184772"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648" y="5013176"/>
                        <a:ext cx="6096000" cy="511175"/>
                      </a:xfrm>
                      <a:prstGeom prst="rect">
                        <a:avLst/>
                      </a:prstGeom>
                      <a:solidFill>
                        <a:schemeClr val="accent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184773" name="Picture 5"/>
          <p:cNvPicPr>
            <a:picLocks noChangeAspect="1" noChangeArrowheads="1"/>
          </p:cNvPicPr>
          <p:nvPr/>
        </p:nvPicPr>
        <p:blipFill>
          <a:blip r:embed="rId6" cstate="print"/>
          <a:srcRect/>
          <a:stretch>
            <a:fillRect/>
          </a:stretch>
        </p:blipFill>
        <p:spPr bwMode="auto">
          <a:xfrm>
            <a:off x="226888" y="2100064"/>
            <a:ext cx="8737600" cy="1905000"/>
          </a:xfrm>
          <a:prstGeom prst="rect">
            <a:avLst/>
          </a:prstGeom>
          <a:solidFill>
            <a:schemeClr val="accent1"/>
          </a:solidFill>
          <a:ln w="12700">
            <a:noFill/>
            <a:miter lim="800000"/>
            <a:headEnd/>
            <a:tailEnd/>
          </a:ln>
          <a:effectLst/>
        </p:spPr>
      </p:pic>
    </p:spTree>
    <p:extLst>
      <p:ext uri="{BB962C8B-B14F-4D97-AF65-F5344CB8AC3E}">
        <p14:creationId xmlns:p14="http://schemas.microsoft.com/office/powerpoint/2010/main" val="3673690233"/>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619672" y="44624"/>
            <a:ext cx="5976664" cy="576064"/>
          </a:xfrm>
        </p:spPr>
        <p:txBody>
          <a:bodyPr>
            <a:normAutofit fontScale="90000"/>
          </a:bodyPr>
          <a:lstStyle/>
          <a:p>
            <a:r>
              <a:rPr lang="en-GB" dirty="0"/>
              <a:t>Interpolation Method</a:t>
            </a:r>
          </a:p>
        </p:txBody>
      </p:sp>
      <p:sp>
        <p:nvSpPr>
          <p:cNvPr id="3" name="Content Placeholder 2"/>
          <p:cNvSpPr>
            <a:spLocks noGrp="1"/>
          </p:cNvSpPr>
          <p:nvPr>
            <p:ph sz="quarter" idx="1"/>
          </p:nvPr>
        </p:nvSpPr>
        <p:spPr>
          <a:xfrm>
            <a:off x="827584" y="4437112"/>
            <a:ext cx="7772400" cy="576064"/>
          </a:xfrm>
        </p:spPr>
        <p:txBody>
          <a:bodyPr/>
          <a:lstStyle/>
          <a:p>
            <a:r>
              <a:rPr lang="en-GB" dirty="0"/>
              <a:t>What is the Discount Rate, where PV is zero?</a:t>
            </a:r>
          </a:p>
        </p:txBody>
      </p:sp>
      <p:cxnSp>
        <p:nvCxnSpPr>
          <p:cNvPr id="5" name="Straight Connector 4"/>
          <p:cNvCxnSpPr/>
          <p:nvPr/>
        </p:nvCxnSpPr>
        <p:spPr>
          <a:xfrm>
            <a:off x="1403648" y="1772816"/>
            <a:ext cx="6264696"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7" name="Straight Connector 6"/>
          <p:cNvCxnSpPr/>
          <p:nvPr/>
        </p:nvCxnSpPr>
        <p:spPr>
          <a:xfrm>
            <a:off x="2267744" y="1484784"/>
            <a:ext cx="0" cy="648072"/>
          </a:xfrm>
          <a:prstGeom prst="line">
            <a:avLst/>
          </a:prstGeom>
        </p:spPr>
        <p:style>
          <a:lnRef idx="3">
            <a:schemeClr val="accent1"/>
          </a:lnRef>
          <a:fillRef idx="0">
            <a:schemeClr val="accent1"/>
          </a:fillRef>
          <a:effectRef idx="2">
            <a:schemeClr val="accent1"/>
          </a:effectRef>
          <a:fontRef idx="minor">
            <a:schemeClr val="tx1"/>
          </a:fontRef>
        </p:style>
      </p:cxnSp>
      <p:cxnSp>
        <p:nvCxnSpPr>
          <p:cNvPr id="8" name="Straight Connector 7"/>
          <p:cNvCxnSpPr/>
          <p:nvPr/>
        </p:nvCxnSpPr>
        <p:spPr>
          <a:xfrm>
            <a:off x="4283968" y="1484784"/>
            <a:ext cx="0" cy="648072"/>
          </a:xfrm>
          <a:prstGeom prst="line">
            <a:avLst/>
          </a:prstGeom>
        </p:spPr>
        <p:style>
          <a:lnRef idx="3">
            <a:schemeClr val="accent1"/>
          </a:lnRef>
          <a:fillRef idx="0">
            <a:schemeClr val="accent1"/>
          </a:fillRef>
          <a:effectRef idx="2">
            <a:schemeClr val="accent1"/>
          </a:effectRef>
          <a:fontRef idx="minor">
            <a:schemeClr val="tx1"/>
          </a:fontRef>
        </p:style>
      </p:cxnSp>
      <p:cxnSp>
        <p:nvCxnSpPr>
          <p:cNvPr id="9" name="Straight Connector 8"/>
          <p:cNvCxnSpPr/>
          <p:nvPr/>
        </p:nvCxnSpPr>
        <p:spPr>
          <a:xfrm>
            <a:off x="6588224" y="1556792"/>
            <a:ext cx="0" cy="648072"/>
          </a:xfrm>
          <a:prstGeom prst="line">
            <a:avLst/>
          </a:prstGeom>
        </p:spPr>
        <p:style>
          <a:lnRef idx="3">
            <a:schemeClr val="accent1"/>
          </a:lnRef>
          <a:fillRef idx="0">
            <a:schemeClr val="accent1"/>
          </a:fillRef>
          <a:effectRef idx="2">
            <a:schemeClr val="accent1"/>
          </a:effectRef>
          <a:fontRef idx="minor">
            <a:schemeClr val="tx1"/>
          </a:fontRef>
        </p:style>
      </p:cxnSp>
      <p:sp>
        <p:nvSpPr>
          <p:cNvPr id="11" name="TextBox 10"/>
          <p:cNvSpPr txBox="1"/>
          <p:nvPr/>
        </p:nvSpPr>
        <p:spPr>
          <a:xfrm>
            <a:off x="5868144" y="2204864"/>
            <a:ext cx="1440160" cy="830997"/>
          </a:xfrm>
          <a:prstGeom prst="rect">
            <a:avLst/>
          </a:prstGeom>
          <a:noFill/>
        </p:spPr>
        <p:txBody>
          <a:bodyPr wrap="square" rtlCol="0">
            <a:spAutoFit/>
          </a:bodyPr>
          <a:lstStyle/>
          <a:p>
            <a:pPr algn="ctr"/>
            <a:r>
              <a:rPr lang="en-GB" dirty="0"/>
              <a:t>PV</a:t>
            </a:r>
            <a:r>
              <a:rPr lang="en-GB" baseline="-25000" dirty="0"/>
              <a:t>H</a:t>
            </a:r>
          </a:p>
          <a:p>
            <a:pPr algn="ctr"/>
            <a:r>
              <a:rPr lang="en-GB" dirty="0"/>
              <a:t>=-1.87</a:t>
            </a:r>
          </a:p>
        </p:txBody>
      </p:sp>
      <p:sp>
        <p:nvSpPr>
          <p:cNvPr id="12" name="TextBox 11"/>
          <p:cNvSpPr txBox="1"/>
          <p:nvPr/>
        </p:nvSpPr>
        <p:spPr>
          <a:xfrm>
            <a:off x="3779912" y="2276872"/>
            <a:ext cx="1008112" cy="830997"/>
          </a:xfrm>
          <a:prstGeom prst="rect">
            <a:avLst/>
          </a:prstGeom>
          <a:noFill/>
        </p:spPr>
        <p:txBody>
          <a:bodyPr wrap="square" rtlCol="0">
            <a:spAutoFit/>
          </a:bodyPr>
          <a:lstStyle/>
          <a:p>
            <a:pPr algn="ctr"/>
            <a:r>
              <a:rPr lang="en-GB" dirty="0"/>
              <a:t>PV</a:t>
            </a:r>
          </a:p>
          <a:p>
            <a:pPr algn="ctr"/>
            <a:r>
              <a:rPr lang="en-GB" dirty="0"/>
              <a:t>=0</a:t>
            </a:r>
          </a:p>
        </p:txBody>
      </p:sp>
      <p:sp>
        <p:nvSpPr>
          <p:cNvPr id="13" name="TextBox 12"/>
          <p:cNvSpPr txBox="1"/>
          <p:nvPr/>
        </p:nvSpPr>
        <p:spPr>
          <a:xfrm>
            <a:off x="3779912" y="692696"/>
            <a:ext cx="1008112" cy="461665"/>
          </a:xfrm>
          <a:prstGeom prst="rect">
            <a:avLst/>
          </a:prstGeom>
          <a:noFill/>
        </p:spPr>
        <p:txBody>
          <a:bodyPr wrap="square" rtlCol="0">
            <a:spAutoFit/>
          </a:bodyPr>
          <a:lstStyle/>
          <a:p>
            <a:pPr algn="ctr"/>
            <a:r>
              <a:rPr lang="en-GB" dirty="0"/>
              <a:t>DR=?</a:t>
            </a:r>
          </a:p>
        </p:txBody>
      </p:sp>
      <p:sp>
        <p:nvSpPr>
          <p:cNvPr id="14" name="TextBox 13"/>
          <p:cNvSpPr txBox="1"/>
          <p:nvPr/>
        </p:nvSpPr>
        <p:spPr>
          <a:xfrm>
            <a:off x="1763688" y="692696"/>
            <a:ext cx="1008112" cy="830997"/>
          </a:xfrm>
          <a:prstGeom prst="rect">
            <a:avLst/>
          </a:prstGeom>
          <a:noFill/>
        </p:spPr>
        <p:txBody>
          <a:bodyPr wrap="square" rtlCol="0">
            <a:spAutoFit/>
          </a:bodyPr>
          <a:lstStyle/>
          <a:p>
            <a:pPr algn="ctr"/>
            <a:r>
              <a:rPr lang="en-GB" dirty="0"/>
              <a:t>DR</a:t>
            </a:r>
            <a:r>
              <a:rPr lang="en-GB" baseline="-25000" dirty="0"/>
              <a:t>L</a:t>
            </a:r>
            <a:endParaRPr lang="en-GB" dirty="0"/>
          </a:p>
          <a:p>
            <a:pPr algn="ctr"/>
            <a:r>
              <a:rPr lang="en-GB" dirty="0"/>
              <a:t>20%</a:t>
            </a:r>
          </a:p>
        </p:txBody>
      </p:sp>
      <p:sp>
        <p:nvSpPr>
          <p:cNvPr id="15" name="TextBox 14"/>
          <p:cNvSpPr txBox="1"/>
          <p:nvPr/>
        </p:nvSpPr>
        <p:spPr>
          <a:xfrm>
            <a:off x="1547664" y="2204864"/>
            <a:ext cx="1440160" cy="830997"/>
          </a:xfrm>
          <a:prstGeom prst="rect">
            <a:avLst/>
          </a:prstGeom>
          <a:noFill/>
        </p:spPr>
        <p:txBody>
          <a:bodyPr wrap="square" rtlCol="0">
            <a:spAutoFit/>
          </a:bodyPr>
          <a:lstStyle/>
          <a:p>
            <a:pPr algn="ctr"/>
            <a:r>
              <a:rPr lang="en-GB" dirty="0"/>
              <a:t>PV</a:t>
            </a:r>
            <a:r>
              <a:rPr lang="en-GB" baseline="-25000" dirty="0"/>
              <a:t>L</a:t>
            </a:r>
          </a:p>
          <a:p>
            <a:pPr algn="ctr"/>
            <a:r>
              <a:rPr lang="en-GB" dirty="0"/>
              <a:t>=10.65</a:t>
            </a:r>
          </a:p>
        </p:txBody>
      </p:sp>
      <p:sp>
        <p:nvSpPr>
          <p:cNvPr id="16" name="TextBox 15"/>
          <p:cNvSpPr txBox="1"/>
          <p:nvPr/>
        </p:nvSpPr>
        <p:spPr>
          <a:xfrm>
            <a:off x="6012160" y="692696"/>
            <a:ext cx="1152128" cy="830997"/>
          </a:xfrm>
          <a:prstGeom prst="rect">
            <a:avLst/>
          </a:prstGeom>
          <a:noFill/>
        </p:spPr>
        <p:txBody>
          <a:bodyPr wrap="square" rtlCol="0">
            <a:spAutoFit/>
          </a:bodyPr>
          <a:lstStyle/>
          <a:p>
            <a:pPr algn="ctr"/>
            <a:r>
              <a:rPr lang="en-GB" dirty="0"/>
              <a:t>DR</a:t>
            </a:r>
            <a:r>
              <a:rPr lang="en-GB" baseline="-25000" dirty="0"/>
              <a:t>H</a:t>
            </a:r>
          </a:p>
          <a:p>
            <a:pPr algn="ctr"/>
            <a:r>
              <a:rPr lang="en-GB" dirty="0"/>
              <a:t>24%</a:t>
            </a:r>
          </a:p>
        </p:txBody>
      </p:sp>
      <p:pic>
        <p:nvPicPr>
          <p:cNvPr id="1196056" name="Picture 24"/>
          <p:cNvPicPr>
            <a:picLocks noChangeAspect="1" noChangeArrowheads="1"/>
          </p:cNvPicPr>
          <p:nvPr/>
        </p:nvPicPr>
        <p:blipFill>
          <a:blip r:embed="rId2" cstate="print"/>
          <a:srcRect/>
          <a:stretch>
            <a:fillRect/>
          </a:stretch>
        </p:blipFill>
        <p:spPr bwMode="auto">
          <a:xfrm>
            <a:off x="609600" y="3187700"/>
            <a:ext cx="7556500" cy="1092200"/>
          </a:xfrm>
          <a:prstGeom prst="rect">
            <a:avLst/>
          </a:prstGeom>
          <a:noFill/>
        </p:spPr>
      </p:pic>
      <p:pic>
        <p:nvPicPr>
          <p:cNvPr id="1196057" name="Picture 25"/>
          <p:cNvPicPr>
            <a:picLocks noChangeAspect="1" noChangeArrowheads="1"/>
          </p:cNvPicPr>
          <p:nvPr/>
        </p:nvPicPr>
        <p:blipFill>
          <a:blip r:embed="rId3" cstate="print"/>
          <a:srcRect/>
          <a:stretch>
            <a:fillRect/>
          </a:stretch>
        </p:blipFill>
        <p:spPr bwMode="auto">
          <a:xfrm>
            <a:off x="101600" y="5156200"/>
            <a:ext cx="8940800" cy="1066800"/>
          </a:xfrm>
          <a:prstGeom prst="rect">
            <a:avLst/>
          </a:prstGeom>
          <a:noFill/>
        </p:spPr>
      </p:pic>
    </p:spTree>
    <p:extLst>
      <p:ext uri="{BB962C8B-B14F-4D97-AF65-F5344CB8AC3E}">
        <p14:creationId xmlns:p14="http://schemas.microsoft.com/office/powerpoint/2010/main" val="19068100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242" y="332656"/>
            <a:ext cx="8534400" cy="758952"/>
          </a:xfrm>
        </p:spPr>
        <p:txBody>
          <a:bodyPr>
            <a:normAutofit fontScale="90000"/>
          </a:bodyPr>
          <a:lstStyle/>
          <a:p>
            <a:r>
              <a:rPr lang="en-GB" dirty="0"/>
              <a:t>C. A bit of both Worlds</a:t>
            </a:r>
            <a:br>
              <a:rPr lang="en-GB" dirty="0"/>
            </a:br>
            <a:r>
              <a:rPr lang="en-GB" dirty="0"/>
              <a:t>Average Implied Premiums (in the US)</a:t>
            </a:r>
            <a:endParaRPr lang="en-US" dirty="0"/>
          </a:p>
        </p:txBody>
      </p:sp>
      <p:pic>
        <p:nvPicPr>
          <p:cNvPr id="5" name="Content Placeholder 4"/>
          <p:cNvPicPr>
            <a:picLocks noGrp="1" noChangeAspect="1"/>
          </p:cNvPicPr>
          <p:nvPr>
            <p:ph sz="quarter" idx="1"/>
          </p:nvPr>
        </p:nvPicPr>
        <p:blipFill>
          <a:blip r:embed="rId3">
            <a:extLst>
              <a:ext uri="{28A0092B-C50C-407E-A947-70E740481C1C}">
                <a14:useLocalDpi xmlns:a14="http://schemas.microsoft.com/office/drawing/2010/main" val="0"/>
              </a:ext>
            </a:extLst>
          </a:blip>
          <a:stretch>
            <a:fillRect/>
          </a:stretch>
        </p:blipFill>
        <p:spPr>
          <a:xfrm>
            <a:off x="467544" y="1340768"/>
            <a:ext cx="7901119" cy="5142185"/>
          </a:xfrm>
        </p:spPr>
      </p:pic>
    </p:spTree>
    <p:extLst>
      <p:ext uri="{BB962C8B-B14F-4D97-AF65-F5344CB8AC3E}">
        <p14:creationId xmlns:p14="http://schemas.microsoft.com/office/powerpoint/2010/main" val="17354624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9538" name="Rectangle 2"/>
          <p:cNvSpPr>
            <a:spLocks noGrp="1" noChangeArrowheads="1"/>
          </p:cNvSpPr>
          <p:nvPr>
            <p:ph type="title"/>
          </p:nvPr>
        </p:nvSpPr>
        <p:spPr>
          <a:xfrm>
            <a:off x="301752" y="365792"/>
            <a:ext cx="8534400" cy="758952"/>
          </a:xfrm>
        </p:spPr>
        <p:txBody>
          <a:bodyPr>
            <a:normAutofit fontScale="90000"/>
          </a:bodyPr>
          <a:lstStyle/>
          <a:p>
            <a:r>
              <a:rPr lang="en-US" dirty="0"/>
              <a:t>Which equity risk premium should you use for the US?</a:t>
            </a:r>
          </a:p>
        </p:txBody>
      </p:sp>
      <p:graphicFrame>
        <p:nvGraphicFramePr>
          <p:cNvPr id="4" name="Content Placeholder 3"/>
          <p:cNvGraphicFramePr>
            <a:graphicFrameLocks noGrp="1"/>
          </p:cNvGraphicFramePr>
          <p:nvPr>
            <p:ph sz="quarter" idx="1"/>
          </p:nvPr>
        </p:nvGraphicFramePr>
        <p:xfrm>
          <a:off x="301752" y="980728"/>
          <a:ext cx="8518720" cy="5760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584765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02850" name="Rectangle 2"/>
          <p:cNvSpPr>
            <a:spLocks noGrp="1" noChangeArrowheads="1"/>
          </p:cNvSpPr>
          <p:nvPr>
            <p:ph type="title"/>
          </p:nvPr>
        </p:nvSpPr>
        <p:spPr>
          <a:xfrm>
            <a:off x="301752" y="332656"/>
            <a:ext cx="8534400" cy="758952"/>
          </a:xfrm>
          <a:noFill/>
          <a:ln/>
        </p:spPr>
        <p:txBody>
          <a:bodyPr>
            <a:normAutofit fontScale="90000"/>
          </a:bodyPr>
          <a:lstStyle/>
          <a:p>
            <a:r>
              <a:rPr lang="en-US" dirty="0"/>
              <a:t>Example: Implied Equity Risk Premium for Germany</a:t>
            </a:r>
          </a:p>
        </p:txBody>
      </p:sp>
      <p:sp>
        <p:nvSpPr>
          <p:cNvPr id="1102851" name="Rectangle 3"/>
          <p:cNvSpPr>
            <a:spLocks noGrp="1" noChangeArrowheads="1"/>
          </p:cNvSpPr>
          <p:nvPr>
            <p:ph sz="quarter" idx="1"/>
          </p:nvPr>
        </p:nvSpPr>
        <p:spPr>
          <a:xfrm>
            <a:off x="301752" y="1527048"/>
            <a:ext cx="8503920" cy="5070304"/>
          </a:xfrm>
          <a:noFill/>
          <a:ln/>
        </p:spPr>
        <p:txBody>
          <a:bodyPr>
            <a:normAutofit/>
          </a:bodyPr>
          <a:lstStyle/>
          <a:p>
            <a:pPr>
              <a:lnSpc>
                <a:spcPct val="90000"/>
              </a:lnSpc>
            </a:pPr>
            <a:r>
              <a:rPr lang="en-US" sz="1800" dirty="0"/>
              <a:t>We can use the information in stock prices to back out how risk averse the market is and how much of a risk premium it is demanding.</a:t>
            </a:r>
          </a:p>
          <a:p>
            <a:pPr>
              <a:lnSpc>
                <a:spcPct val="90000"/>
              </a:lnSpc>
            </a:pPr>
            <a:endParaRPr lang="en-US" sz="1800" dirty="0"/>
          </a:p>
          <a:p>
            <a:pPr>
              <a:lnSpc>
                <a:spcPct val="90000"/>
              </a:lnSpc>
            </a:pPr>
            <a:endParaRPr lang="en-US" sz="1800" dirty="0"/>
          </a:p>
          <a:p>
            <a:pPr>
              <a:lnSpc>
                <a:spcPct val="90000"/>
              </a:lnSpc>
            </a:pPr>
            <a:endParaRPr lang="en-US" sz="1800" dirty="0"/>
          </a:p>
          <a:p>
            <a:pPr>
              <a:lnSpc>
                <a:spcPct val="90000"/>
              </a:lnSpc>
            </a:pPr>
            <a:endParaRPr lang="en-US" sz="1800" dirty="0"/>
          </a:p>
          <a:p>
            <a:pPr>
              <a:lnSpc>
                <a:spcPct val="90000"/>
              </a:lnSpc>
            </a:pPr>
            <a:endParaRPr lang="en-US" sz="1800" dirty="0"/>
          </a:p>
          <a:p>
            <a:pPr>
              <a:lnSpc>
                <a:spcPct val="90000"/>
              </a:lnSpc>
            </a:pPr>
            <a:endParaRPr lang="en-US" sz="1800" dirty="0"/>
          </a:p>
          <a:p>
            <a:pPr>
              <a:lnSpc>
                <a:spcPct val="90000"/>
              </a:lnSpc>
            </a:pPr>
            <a:endParaRPr lang="en-US" sz="1800" dirty="0"/>
          </a:p>
          <a:p>
            <a:pPr>
              <a:lnSpc>
                <a:spcPct val="90000"/>
              </a:lnSpc>
            </a:pPr>
            <a:endParaRPr lang="en-US" sz="1800" dirty="0"/>
          </a:p>
          <a:p>
            <a:pPr>
              <a:lnSpc>
                <a:spcPct val="90000"/>
              </a:lnSpc>
            </a:pPr>
            <a:r>
              <a:rPr lang="en-US" sz="1800" dirty="0"/>
              <a:t>If you pay the current level of the index, you can expect to make a return of 7.78% on stocks (which is obtained by solving for r in the following equation)</a:t>
            </a:r>
          </a:p>
          <a:p>
            <a:pPr>
              <a:lnSpc>
                <a:spcPct val="90000"/>
              </a:lnSpc>
            </a:pPr>
            <a:endParaRPr lang="en-US" sz="1800" dirty="0"/>
          </a:p>
          <a:p>
            <a:pPr>
              <a:lnSpc>
                <a:spcPct val="90000"/>
              </a:lnSpc>
            </a:pPr>
            <a:endParaRPr lang="en-US" sz="1800" dirty="0"/>
          </a:p>
          <a:p>
            <a:pPr>
              <a:lnSpc>
                <a:spcPct val="90000"/>
              </a:lnSpc>
            </a:pPr>
            <a:r>
              <a:rPr lang="en-US" sz="1800" dirty="0"/>
              <a:t>Implied Equity risk premium = Expected return on stocks - Treasury bond rate = 7.78% - 3.95% = 3.83%</a:t>
            </a:r>
          </a:p>
          <a:p>
            <a:pPr>
              <a:lnSpc>
                <a:spcPct val="90000"/>
              </a:lnSpc>
            </a:pPr>
            <a:endParaRPr lang="en-US" sz="1800" dirty="0"/>
          </a:p>
        </p:txBody>
      </p:sp>
      <p:graphicFrame>
        <p:nvGraphicFramePr>
          <p:cNvPr id="1102852" name="Object 4"/>
          <p:cNvGraphicFramePr>
            <a:graphicFrameLocks noChangeAspect="1"/>
          </p:cNvGraphicFramePr>
          <p:nvPr/>
        </p:nvGraphicFramePr>
        <p:xfrm>
          <a:off x="2051720" y="5157192"/>
          <a:ext cx="4841966" cy="402208"/>
        </p:xfrm>
        <a:graphic>
          <a:graphicData uri="http://schemas.openxmlformats.org/presentationml/2006/ole">
            <mc:AlternateContent xmlns:mc="http://schemas.openxmlformats.org/markup-compatibility/2006">
              <mc:Choice xmlns:v="urn:schemas-microsoft-com:vml" Requires="v">
                <p:oleObj name="Equation" r:id="rId3" imgW="3975100" imgH="330200" progId="Equation.3">
                  <p:embed/>
                </p:oleObj>
              </mc:Choice>
              <mc:Fallback>
                <p:oleObj name="Equation" r:id="rId3" imgW="3975100" imgH="330200" progId="Equation.3">
                  <p:embed/>
                  <p:pic>
                    <p:nvPicPr>
                      <p:cNvPr id="110285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720" y="5157192"/>
                        <a:ext cx="4841966" cy="402208"/>
                      </a:xfrm>
                      <a:prstGeom prst="rect">
                        <a:avLst/>
                      </a:prstGeom>
                      <a:solidFill>
                        <a:schemeClr val="accent1"/>
                      </a:solidFill>
                    </p:spPr>
                  </p:pic>
                </p:oleObj>
              </mc:Fallback>
            </mc:AlternateContent>
          </a:graphicData>
        </a:graphic>
      </p:graphicFrame>
      <p:pic>
        <p:nvPicPr>
          <p:cNvPr id="1102853" name="Picture 5"/>
          <p:cNvPicPr>
            <a:picLocks noChangeAspect="1" noChangeArrowheads="1"/>
          </p:cNvPicPr>
          <p:nvPr/>
        </p:nvPicPr>
        <p:blipFill>
          <a:blip r:embed="rId5" cstate="print"/>
          <a:srcRect/>
          <a:stretch>
            <a:fillRect/>
          </a:stretch>
        </p:blipFill>
        <p:spPr bwMode="auto">
          <a:xfrm>
            <a:off x="304800" y="2514600"/>
            <a:ext cx="8559800" cy="1490464"/>
          </a:xfrm>
          <a:prstGeom prst="rect">
            <a:avLst/>
          </a:prstGeom>
          <a:solidFill>
            <a:schemeClr val="accent1"/>
          </a:solidFill>
          <a:ln w="12700">
            <a:noFill/>
            <a:miter lim="800000"/>
            <a:headEnd/>
            <a:tailEnd/>
          </a:ln>
          <a:effectLst/>
        </p:spPr>
      </p:pic>
    </p:spTree>
    <p:extLst>
      <p:ext uri="{BB962C8B-B14F-4D97-AF65-F5344CB8AC3E}">
        <p14:creationId xmlns:p14="http://schemas.microsoft.com/office/powerpoint/2010/main" val="129300599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02851">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02851">
                                            <p:txEl>
                                              <p:pRg st="12" end="1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028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Market Risk Premium: Now What?</a:t>
            </a:r>
            <a:endParaRPr lang="en-US" dirty="0"/>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893076387"/>
              </p:ext>
            </p:extLst>
          </p:nvPr>
        </p:nvGraphicFramePr>
        <p:xfrm>
          <a:off x="301752" y="1527048"/>
          <a:ext cx="850392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702661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p:cNvSpPr>
            <a:spLocks noGrp="1" noChangeArrowheads="1"/>
          </p:cNvSpPr>
          <p:nvPr>
            <p:ph type="title"/>
          </p:nvPr>
        </p:nvSpPr>
        <p:spPr>
          <a:xfrm>
            <a:off x="301752" y="231993"/>
            <a:ext cx="8534400" cy="536104"/>
          </a:xfrm>
        </p:spPr>
        <p:txBody>
          <a:bodyPr>
            <a:normAutofit/>
          </a:bodyPr>
          <a:lstStyle/>
          <a:p>
            <a:r>
              <a:rPr lang="en-US" sz="2800" dirty="0"/>
              <a:t>Risk Premium for a Mature Market? (Composition)</a:t>
            </a:r>
          </a:p>
        </p:txBody>
      </p:sp>
      <p:pic>
        <p:nvPicPr>
          <p:cNvPr id="4" name="Content Placeholder 3"/>
          <p:cNvPicPr>
            <a:picLocks noGrp="1" noChangeAspect="1"/>
          </p:cNvPicPr>
          <p:nvPr>
            <p:ph sz="quarter" idx="1"/>
          </p:nvPr>
        </p:nvPicPr>
        <p:blipFill>
          <a:blip r:embed="rId3">
            <a:extLst>
              <a:ext uri="{28A0092B-C50C-407E-A947-70E740481C1C}">
                <a14:useLocalDpi xmlns:a14="http://schemas.microsoft.com/office/drawing/2010/main" val="0"/>
              </a:ext>
            </a:extLst>
          </a:blip>
          <a:stretch>
            <a:fillRect/>
          </a:stretch>
        </p:blipFill>
        <p:spPr>
          <a:xfrm>
            <a:off x="308352" y="692696"/>
            <a:ext cx="8568952" cy="5776345"/>
          </a:xfr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sz="quarter" idx="1"/>
          </p:nvPr>
        </p:nvPicPr>
        <p:blipFill>
          <a:blip r:embed="rId3">
            <a:extLst>
              <a:ext uri="{28A0092B-C50C-407E-A947-70E740481C1C}">
                <a14:useLocalDpi xmlns:a14="http://schemas.microsoft.com/office/drawing/2010/main" val="0"/>
              </a:ext>
            </a:extLst>
          </a:blip>
          <a:stretch>
            <a:fillRect/>
          </a:stretch>
        </p:blipFill>
        <p:spPr>
          <a:xfrm>
            <a:off x="301625" y="1124745"/>
            <a:ext cx="8504238" cy="5400600"/>
          </a:xfrm>
        </p:spPr>
      </p:pic>
      <p:sp>
        <p:nvSpPr>
          <p:cNvPr id="2" name="Title 1"/>
          <p:cNvSpPr>
            <a:spLocks noGrp="1"/>
          </p:cNvSpPr>
          <p:nvPr>
            <p:ph type="title"/>
          </p:nvPr>
        </p:nvSpPr>
        <p:spPr>
          <a:xfrm>
            <a:off x="180528" y="476672"/>
            <a:ext cx="9144000" cy="720080"/>
          </a:xfrm>
        </p:spPr>
        <p:txBody>
          <a:bodyPr>
            <a:noAutofit/>
          </a:bodyPr>
          <a:lstStyle/>
          <a:p>
            <a:r>
              <a:rPr lang="en-GB" sz="3600" dirty="0"/>
              <a:t>Mature Markets</a:t>
            </a:r>
            <a:br>
              <a:rPr lang="en-GB" sz="3600" dirty="0"/>
            </a:br>
            <a:r>
              <a:rPr lang="en-GB" sz="3600" dirty="0"/>
              <a:t>Historically: 4%-5% should be ok</a:t>
            </a:r>
            <a:endParaRPr lang="en-US" sz="3600" dirty="0"/>
          </a:p>
        </p:txBody>
      </p:sp>
      <p:sp>
        <p:nvSpPr>
          <p:cNvPr id="7" name="TextBox 6"/>
          <p:cNvSpPr txBox="1"/>
          <p:nvPr/>
        </p:nvSpPr>
        <p:spPr>
          <a:xfrm>
            <a:off x="6310636" y="4758244"/>
            <a:ext cx="2664296" cy="830997"/>
          </a:xfrm>
          <a:prstGeom prst="rect">
            <a:avLst/>
          </a:prstGeom>
          <a:solidFill>
            <a:schemeClr val="bg1"/>
          </a:solidFill>
        </p:spPr>
        <p:txBody>
          <a:bodyPr wrap="square" rtlCol="0">
            <a:spAutoFit/>
          </a:bodyPr>
          <a:lstStyle/>
          <a:p>
            <a:pPr algn="ctr"/>
            <a:r>
              <a:rPr lang="en-GB" dirty="0"/>
              <a:t>Are stocks Over- or Under- Valued?</a:t>
            </a:r>
            <a:endParaRPr lang="en-US" dirty="0"/>
          </a:p>
        </p:txBody>
      </p:sp>
      <p:cxnSp>
        <p:nvCxnSpPr>
          <p:cNvPr id="9" name="Straight Arrow Connector 8"/>
          <p:cNvCxnSpPr/>
          <p:nvPr/>
        </p:nvCxnSpPr>
        <p:spPr>
          <a:xfrm flipH="1" flipV="1">
            <a:off x="4067944" y="2204864"/>
            <a:ext cx="2592288" cy="3024336"/>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0" name="Straight Arrow Connector 9"/>
          <p:cNvCxnSpPr/>
          <p:nvPr/>
        </p:nvCxnSpPr>
        <p:spPr>
          <a:xfrm flipH="1" flipV="1">
            <a:off x="6156176" y="4797152"/>
            <a:ext cx="1728192" cy="7200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238139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332656"/>
            <a:ext cx="8534400" cy="758952"/>
          </a:xfrm>
        </p:spPr>
        <p:txBody>
          <a:bodyPr>
            <a:normAutofit fontScale="90000"/>
          </a:bodyPr>
          <a:lstStyle/>
          <a:p>
            <a:r>
              <a:rPr lang="en-US" dirty="0"/>
              <a:t>Emerging markets</a:t>
            </a:r>
            <a:br>
              <a:rPr lang="en-US" dirty="0"/>
            </a:br>
            <a:r>
              <a:rPr lang="en-US" dirty="0"/>
              <a:t>Limited data history/access</a:t>
            </a:r>
            <a:endParaRPr lang="en-GB" dirty="0"/>
          </a:p>
        </p:txBody>
      </p:sp>
      <p:sp>
        <p:nvSpPr>
          <p:cNvPr id="3" name="Content Placeholder 2"/>
          <p:cNvSpPr>
            <a:spLocks noGrp="1"/>
          </p:cNvSpPr>
          <p:nvPr>
            <p:ph sz="quarter" idx="1"/>
          </p:nvPr>
        </p:nvSpPr>
        <p:spPr>
          <a:xfrm>
            <a:off x="280048" y="4797152"/>
            <a:ext cx="8503920" cy="1661936"/>
          </a:xfrm>
        </p:spPr>
        <p:txBody>
          <a:bodyPr>
            <a:normAutofit fontScale="77500" lnSpcReduction="20000"/>
          </a:bodyPr>
          <a:lstStyle/>
          <a:p>
            <a:r>
              <a:rPr lang="en-GB" dirty="0"/>
              <a:t>The Market risk premium (ERP) for a developing economy includes two elements</a:t>
            </a:r>
          </a:p>
          <a:p>
            <a:pPr lvl="1"/>
            <a:r>
              <a:rPr lang="en-GB" dirty="0"/>
              <a:t>The risk of a mature market failure, which would also affect the developing economy: Base Premium (RP)</a:t>
            </a:r>
          </a:p>
          <a:p>
            <a:pPr lvl="1"/>
            <a:r>
              <a:rPr lang="en-GB" dirty="0"/>
              <a:t>The risk of a developing economy failure due to country specific reasons: Country Risk Premium (CRP)</a:t>
            </a:r>
          </a:p>
        </p:txBody>
      </p:sp>
      <p:graphicFrame>
        <p:nvGraphicFramePr>
          <p:cNvPr id="4" name="Diagram 3"/>
          <p:cNvGraphicFramePr/>
          <p:nvPr>
            <p:extLst>
              <p:ext uri="{D42A27DB-BD31-4B8C-83A1-F6EECF244321}">
                <p14:modId xmlns:p14="http://schemas.microsoft.com/office/powerpoint/2010/main" val="928230280"/>
              </p:ext>
            </p:extLst>
          </p:nvPr>
        </p:nvGraphicFramePr>
        <p:xfrm>
          <a:off x="107504" y="1397000"/>
          <a:ext cx="8728648" cy="34001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363200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122" name="Rectangle 2"/>
          <p:cNvSpPr>
            <a:spLocks noGrp="1" noChangeArrowheads="1"/>
          </p:cNvSpPr>
          <p:nvPr>
            <p:ph type="title"/>
          </p:nvPr>
        </p:nvSpPr>
        <p:spPr>
          <a:xfrm>
            <a:off x="301752" y="365792"/>
            <a:ext cx="7569998" cy="758952"/>
          </a:xfrm>
        </p:spPr>
        <p:txBody>
          <a:bodyPr>
            <a:normAutofit fontScale="90000"/>
          </a:bodyPr>
          <a:lstStyle/>
          <a:p>
            <a:r>
              <a:rPr lang="en-US" dirty="0"/>
              <a:t>Estimate the Total Market Risk Premium</a:t>
            </a:r>
          </a:p>
        </p:txBody>
      </p:sp>
      <p:sp>
        <p:nvSpPr>
          <p:cNvPr id="1029123" name="Rectangle 3"/>
          <p:cNvSpPr>
            <a:spLocks noGrp="1" noChangeArrowheads="1"/>
          </p:cNvSpPr>
          <p:nvPr>
            <p:ph sz="quarter" idx="1"/>
          </p:nvPr>
        </p:nvSpPr>
        <p:spPr>
          <a:xfrm>
            <a:off x="300790" y="1484784"/>
            <a:ext cx="8503920" cy="4854280"/>
          </a:xfrm>
        </p:spPr>
        <p:txBody>
          <a:bodyPr>
            <a:normAutofit/>
          </a:bodyPr>
          <a:lstStyle/>
          <a:p>
            <a:pPr>
              <a:lnSpc>
                <a:spcPct val="90000"/>
              </a:lnSpc>
            </a:pPr>
            <a:r>
              <a:rPr lang="en-US" sz="2400" dirty="0"/>
              <a:t>Default spread on Country Bond: </a:t>
            </a:r>
          </a:p>
          <a:p>
            <a:pPr lvl="1">
              <a:lnSpc>
                <a:spcPct val="90000"/>
              </a:lnSpc>
            </a:pPr>
            <a:r>
              <a:rPr lang="en-US" sz="1800" dirty="0"/>
              <a:t>In this approach, the country equity risk premium is set equal to the default spread of the bond issued by the country (in a currency where a default free entity exists).</a:t>
            </a:r>
          </a:p>
          <a:p>
            <a:pPr lvl="1">
              <a:lnSpc>
                <a:spcPct val="90000"/>
              </a:lnSpc>
            </a:pPr>
            <a:endParaRPr lang="en-US" sz="1800" dirty="0"/>
          </a:p>
          <a:p>
            <a:pPr lvl="1">
              <a:lnSpc>
                <a:spcPct val="90000"/>
              </a:lnSpc>
            </a:pPr>
            <a:endParaRPr lang="en-US" sz="1800" dirty="0"/>
          </a:p>
          <a:p>
            <a:pPr lvl="1">
              <a:lnSpc>
                <a:spcPct val="90000"/>
              </a:lnSpc>
            </a:pPr>
            <a:endParaRPr lang="en-US" sz="1800" dirty="0"/>
          </a:p>
          <a:p>
            <a:pPr lvl="1">
              <a:lnSpc>
                <a:spcPct val="90000"/>
              </a:lnSpc>
            </a:pPr>
            <a:endParaRPr lang="en-US" sz="1800" dirty="0"/>
          </a:p>
          <a:p>
            <a:pPr lvl="1">
              <a:lnSpc>
                <a:spcPct val="90000"/>
              </a:lnSpc>
            </a:pPr>
            <a:endParaRPr lang="en-US" sz="1800" dirty="0"/>
          </a:p>
          <a:p>
            <a:r>
              <a:rPr lang="en-GB" sz="2400" dirty="0"/>
              <a:t>Example</a:t>
            </a:r>
          </a:p>
          <a:p>
            <a:pPr lvl="1"/>
            <a:r>
              <a:rPr lang="en-GB" sz="2000" dirty="0"/>
              <a:t>Brazil was rated B2 by Moody’s and the default spread on the Brazilian dollar denominated </a:t>
            </a:r>
            <a:r>
              <a:rPr lang="en-GB" sz="2000" dirty="0" err="1"/>
              <a:t>C.Bond</a:t>
            </a:r>
            <a:r>
              <a:rPr lang="en-GB" sz="2000" dirty="0"/>
              <a:t> is 6.01%. What is the Total Market Premium if the Base Premium is 4.29%</a:t>
            </a:r>
          </a:p>
          <a:p>
            <a:pPr lvl="1">
              <a:lnSpc>
                <a:spcPct val="90000"/>
              </a:lnSpc>
            </a:pPr>
            <a:endParaRPr lang="en-US" sz="1800" dirty="0"/>
          </a:p>
          <a:p>
            <a:pPr lvl="1">
              <a:lnSpc>
                <a:spcPct val="90000"/>
              </a:lnSpc>
            </a:pPr>
            <a:endParaRPr lang="en-US" sz="1800" dirty="0"/>
          </a:p>
        </p:txBody>
      </p:sp>
      <p:graphicFrame>
        <p:nvGraphicFramePr>
          <p:cNvPr id="7" name="Object 6"/>
          <p:cNvGraphicFramePr>
            <a:graphicFrameLocks noChangeAspect="1"/>
          </p:cNvGraphicFramePr>
          <p:nvPr>
            <p:extLst>
              <p:ext uri="{D42A27DB-BD31-4B8C-83A1-F6EECF244321}">
                <p14:modId xmlns:p14="http://schemas.microsoft.com/office/powerpoint/2010/main" val="1378875619"/>
              </p:ext>
            </p:extLst>
          </p:nvPr>
        </p:nvGraphicFramePr>
        <p:xfrm>
          <a:off x="1364547" y="5805264"/>
          <a:ext cx="6376403" cy="461640"/>
        </p:xfrm>
        <a:graphic>
          <a:graphicData uri="http://schemas.openxmlformats.org/presentationml/2006/ole">
            <mc:AlternateContent xmlns:mc="http://schemas.openxmlformats.org/markup-compatibility/2006">
              <mc:Choice xmlns:v="urn:schemas-microsoft-com:vml" Requires="v">
                <p:oleObj name="Equation" r:id="rId3" imgW="2806700" imgH="203200" progId="Equation.3">
                  <p:embed/>
                </p:oleObj>
              </mc:Choice>
              <mc:Fallback>
                <p:oleObj name="Equation" r:id="rId3" imgW="2806700" imgH="203200" progId="Equation.3">
                  <p:embed/>
                  <p:pic>
                    <p:nvPicPr>
                      <p:cNvPr id="7"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4547" y="5805264"/>
                        <a:ext cx="6376403" cy="4616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2" name="TextBox 1"/>
              <p:cNvSpPr txBox="1"/>
              <p:nvPr/>
            </p:nvSpPr>
            <p:spPr>
              <a:xfrm>
                <a:off x="837117" y="2708920"/>
                <a:ext cx="7646645" cy="1477328"/>
              </a:xfrm>
              <a:prstGeom prst="rect">
                <a:avLst/>
              </a:prstGeom>
              <a:noFill/>
            </p:spPr>
            <p:txBody>
              <a:bodyPr wrap="none" lIns="0" tIns="0" rIns="0" bIns="0" rtlCol="0">
                <a:spAutoFit/>
              </a:bodyPr>
              <a:lstStyle/>
              <a:p>
                <a:pPr/>
                <a14:m>
                  <m:oMathPara xmlns:m="http://schemas.openxmlformats.org/officeDocument/2006/math">
                    <m:oMath>
                      <m:sSub>
                        <m:sSubPr>
                          <m:ctrlPr>
                            <a:rPr lang="en-GB" i="1">
                              <a:latin typeface="Cambria Math" panose="02040503050406030204" pitchFamily="18" charset="0"/>
                            </a:rPr>
                          </m:ctrlPr>
                        </m:sSubPr>
                        <m:e>
                          <m:r>
                            <a:rPr lang="en-GB" i="1">
                              <a:latin typeface="Cambria Math" panose="02040503050406030204" pitchFamily="18" charset="0"/>
                            </a:rPr>
                            <m:t>𝑀𝑎𝑟𝑘𝑒𝑡</m:t>
                          </m:r>
                          <m:r>
                            <a:rPr lang="en-GB" i="1">
                              <a:latin typeface="Cambria Math" panose="02040503050406030204" pitchFamily="18" charset="0"/>
                            </a:rPr>
                            <m:t> </m:t>
                          </m:r>
                          <m:r>
                            <a:rPr lang="en-GB" i="1">
                              <a:latin typeface="Cambria Math" panose="02040503050406030204" pitchFamily="18" charset="0"/>
                            </a:rPr>
                            <m:t>𝑅𝑖𝑠𝑘</m:t>
                          </m:r>
                          <m:r>
                            <a:rPr lang="en-GB" i="1">
                              <a:latin typeface="Cambria Math" panose="02040503050406030204" pitchFamily="18" charset="0"/>
                            </a:rPr>
                            <m:t> </m:t>
                          </m:r>
                          <m:r>
                            <a:rPr lang="en-GB" i="1">
                              <a:latin typeface="Cambria Math" panose="02040503050406030204" pitchFamily="18" charset="0"/>
                            </a:rPr>
                            <m:t>𝑃𝑟𝑒𝑚𝑖𝑢𝑚</m:t>
                          </m:r>
                        </m:e>
                        <m:sub>
                          <m:r>
                            <a:rPr lang="en-GB" b="0" i="1" smtClean="0">
                              <a:latin typeface="Cambria Math" panose="02040503050406030204" pitchFamily="18" charset="0"/>
                            </a:rPr>
                            <m:t>𝑇𝑜𝑡𝑎𝑙</m:t>
                          </m:r>
                        </m:sub>
                      </m:sSub>
                      <m:r>
                        <a:rPr lang="en-GB" b="0" i="1" smtClean="0">
                          <a:latin typeface="Cambria Math" panose="02040503050406030204" pitchFamily="18" charset="0"/>
                        </a:rPr>
                        <m:t>=</m:t>
                      </m:r>
                    </m:oMath>
                  </m:oMathPara>
                </a14:m>
                <a:endParaRPr lang="en-GB" b="0" i="1" dirty="0">
                  <a:latin typeface="Cambria Math" panose="02040503050406030204" pitchFamily="18" charset="0"/>
                </a:endParaRPr>
              </a:p>
              <a:p>
                <a:pPr/>
                <a14:m>
                  <m:oMathPara xmlns:m="http://schemas.openxmlformats.org/officeDocument/2006/math">
                    <m:oMath>
                      <m:sSub>
                        <m:sSubPr>
                          <m:ctrlPr>
                            <a:rPr lang="en-GB" i="1">
                              <a:latin typeface="Cambria Math" panose="02040503050406030204" pitchFamily="18" charset="0"/>
                            </a:rPr>
                          </m:ctrlPr>
                        </m:sSubPr>
                        <m:e>
                          <m:r>
                            <a:rPr lang="en-GB" i="1">
                              <a:latin typeface="Cambria Math" panose="02040503050406030204" pitchFamily="18" charset="0"/>
                            </a:rPr>
                            <m:t>𝐵𝑎𝑠𝑒</m:t>
                          </m:r>
                          <m:r>
                            <a:rPr lang="en-GB" i="1">
                              <a:latin typeface="Cambria Math" panose="02040503050406030204" pitchFamily="18" charset="0"/>
                            </a:rPr>
                            <m:t> </m:t>
                          </m:r>
                          <m:r>
                            <a:rPr lang="en-GB" i="1">
                              <a:latin typeface="Cambria Math" panose="02040503050406030204" pitchFamily="18" charset="0"/>
                            </a:rPr>
                            <m:t>𝑃𝑟𝑒𝑚𝑖𝑢𝑚</m:t>
                          </m:r>
                        </m:e>
                        <m:sub>
                          <m:r>
                            <a:rPr lang="en-GB" b="0" i="1" smtClean="0">
                              <a:latin typeface="Cambria Math" panose="02040503050406030204" pitchFamily="18" charset="0"/>
                            </a:rPr>
                            <m:t>𝑀𝑎𝑡𝑢𝑟𝑒</m:t>
                          </m:r>
                          <m:r>
                            <a:rPr lang="en-GB" b="0" i="1" smtClean="0">
                              <a:latin typeface="Cambria Math" panose="02040503050406030204" pitchFamily="18" charset="0"/>
                            </a:rPr>
                            <m:t> </m:t>
                          </m:r>
                          <m:r>
                            <a:rPr lang="en-GB" b="0" i="1" smtClean="0">
                              <a:latin typeface="Cambria Math" panose="02040503050406030204" pitchFamily="18" charset="0"/>
                            </a:rPr>
                            <m:t>𝑀𝑎𝑟𝑘𝑒𝑡</m:t>
                          </m:r>
                        </m:sub>
                      </m:sSub>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𝐶𝑜𝑢𝑛𝑡𝑟𝑦</m:t>
                          </m:r>
                          <m:r>
                            <a:rPr lang="en-GB" i="1">
                              <a:latin typeface="Cambria Math" panose="02040503050406030204" pitchFamily="18" charset="0"/>
                            </a:rPr>
                            <m:t> </m:t>
                          </m:r>
                          <m:r>
                            <a:rPr lang="en-GB" i="1">
                              <a:latin typeface="Cambria Math" panose="02040503050406030204" pitchFamily="18" charset="0"/>
                            </a:rPr>
                            <m:t>𝑅𝑖𝑠𝑘</m:t>
                          </m:r>
                          <m:r>
                            <a:rPr lang="en-GB" i="1">
                              <a:latin typeface="Cambria Math" panose="02040503050406030204" pitchFamily="18" charset="0"/>
                            </a:rPr>
                            <m:t> </m:t>
                          </m:r>
                          <m:r>
                            <a:rPr lang="en-GB" i="1">
                              <a:latin typeface="Cambria Math" panose="02040503050406030204" pitchFamily="18" charset="0"/>
                            </a:rPr>
                            <m:t>𝑃𝑟𝑒𝑚𝑖𝑢𝑚</m:t>
                          </m:r>
                        </m:e>
                        <m:sub>
                          <m:r>
                            <a:rPr lang="en-GB" b="0" i="1" smtClean="0">
                              <a:latin typeface="Cambria Math" panose="02040503050406030204" pitchFamily="18" charset="0"/>
                            </a:rPr>
                            <m:t>𝑋</m:t>
                          </m:r>
                        </m:sub>
                      </m:sSub>
                    </m:oMath>
                  </m:oMathPara>
                </a14:m>
                <a:endParaRPr lang="en-GB" b="0" dirty="0"/>
              </a:p>
              <a:p>
                <a:endParaRPr lang="en-GB" i="1" dirty="0">
                  <a:latin typeface="Cambria Math" panose="02040503050406030204" pitchFamily="18" charset="0"/>
                </a:endParaRPr>
              </a:p>
              <a:p>
                <a:pPr/>
                <a14:m>
                  <m:oMathPara xmlns:m="http://schemas.openxmlformats.org/officeDocument/2006/math">
                    <m:oMath>
                      <m:sSub>
                        <m:sSubPr>
                          <m:ctrlPr>
                            <a:rPr lang="en-GB" i="1">
                              <a:latin typeface="Cambria Math" panose="02040503050406030204" pitchFamily="18" charset="0"/>
                            </a:rPr>
                          </m:ctrlPr>
                        </m:sSubPr>
                        <m:e>
                          <m:r>
                            <a:rPr lang="en-GB" i="1">
                              <a:latin typeface="Cambria Math" panose="02040503050406030204" pitchFamily="18" charset="0"/>
                            </a:rPr>
                            <m:t>𝑀𝑅𝑃</m:t>
                          </m:r>
                        </m:e>
                        <m:sub>
                          <m:r>
                            <a:rPr lang="en-GB" b="0" i="1" smtClean="0">
                              <a:latin typeface="Cambria Math" panose="02040503050406030204" pitchFamily="18" charset="0"/>
                            </a:rPr>
                            <m:t>𝑇𝑜𝑡𝑎𝑙</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𝑅𝑃</m:t>
                          </m:r>
                        </m:e>
                        <m:sub>
                          <m:r>
                            <a:rPr lang="en-GB" b="0" i="1" smtClean="0">
                              <a:latin typeface="Cambria Math" panose="02040503050406030204" pitchFamily="18" charset="0"/>
                            </a:rPr>
                            <m:t>𝑀𝑎𝑡𝑢𝑟𝑒</m:t>
                          </m:r>
                          <m:r>
                            <a:rPr lang="en-GB" b="0" i="1" smtClean="0">
                              <a:latin typeface="Cambria Math" panose="02040503050406030204" pitchFamily="18" charset="0"/>
                            </a:rPr>
                            <m:t> </m:t>
                          </m:r>
                          <m:r>
                            <a:rPr lang="en-GB" b="0" i="1" smtClean="0">
                              <a:latin typeface="Cambria Math" panose="02040503050406030204" pitchFamily="18" charset="0"/>
                            </a:rPr>
                            <m:t>𝑀𝑎𝑟𝑘𝑒𝑡</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𝐶𝑅𝑃</m:t>
                          </m:r>
                          <m:r>
                            <m:rPr>
                              <m:nor/>
                            </m:rPr>
                            <a:rPr lang="en-GB" i="0" dirty="0"/>
                            <m:t> </m:t>
                          </m:r>
                        </m:e>
                        <m:sub>
                          <m:r>
                            <a:rPr lang="en-GB" b="0" i="1" smtClean="0">
                              <a:latin typeface="Cambria Math" panose="02040503050406030204" pitchFamily="18" charset="0"/>
                            </a:rPr>
                            <m:t>𝑋</m:t>
                          </m:r>
                        </m:sub>
                      </m:sSub>
                    </m:oMath>
                  </m:oMathPara>
                </a14:m>
                <a:endParaRPr lang="en-GB" dirty="0"/>
              </a:p>
            </p:txBody>
          </p:sp>
        </mc:Choice>
        <mc:Fallback xmlns="">
          <p:sp>
            <p:nvSpPr>
              <p:cNvPr id="2" name="TextBox 1"/>
              <p:cNvSpPr txBox="1">
                <a:spLocks noRot="1" noChangeAspect="1" noMove="1" noResize="1" noEditPoints="1" noAdjustHandles="1" noChangeArrowheads="1" noChangeShapeType="1" noTextEdit="1"/>
              </p:cNvSpPr>
              <p:nvPr/>
            </p:nvSpPr>
            <p:spPr>
              <a:xfrm>
                <a:off x="837117" y="2708920"/>
                <a:ext cx="7646645" cy="1477328"/>
              </a:xfrm>
              <a:prstGeom prst="rect">
                <a:avLst/>
              </a:prstGeom>
              <a:blipFill>
                <a:blip r:embed="rId6"/>
                <a:stretch>
                  <a:fillRect b="-3292"/>
                </a:stretch>
              </a:blipFill>
            </p:spPr>
            <p:txBody>
              <a:bodyPr/>
              <a:lstStyle/>
              <a:p>
                <a:r>
                  <a:rPr lang="en-GB">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912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912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2912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912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 name="TextBox 29"/>
          <p:cNvSpPr txBox="1">
            <a:spLocks noChangeArrowheads="1"/>
          </p:cNvSpPr>
          <p:nvPr/>
        </p:nvSpPr>
        <p:spPr bwMode="auto">
          <a:xfrm>
            <a:off x="47109" y="126027"/>
            <a:ext cx="492443" cy="2222853"/>
          </a:xfrm>
          <a:prstGeom prst="rect">
            <a:avLst/>
          </a:prstGeom>
          <a:noFill/>
          <a:ln w="9525">
            <a:noFill/>
            <a:miter lim="800000"/>
            <a:headEnd/>
            <a:tailEnd/>
          </a:ln>
        </p:spPr>
        <p:txBody>
          <a:bodyPr vert="vert270" wrap="none">
            <a:spAutoFit/>
          </a:bodyPr>
          <a:lstStyle/>
          <a:p>
            <a:pPr eaLnBrk="1" hangingPunct="1"/>
            <a:r>
              <a:rPr lang="en-US" sz="2000" i="1" dirty="0">
                <a:solidFill>
                  <a:srgbClr val="FF0000"/>
                </a:solidFill>
                <a:latin typeface="Helvetica" pitchFamily="3" charset="0"/>
              </a:rPr>
              <a:t>Can CRP change?</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1937"/>
            <a:ext cx="9144000" cy="6714126"/>
          </a:xfrm>
          <a:prstGeom prst="rect">
            <a:avLst/>
          </a:prstGeom>
        </p:spPr>
      </p:pic>
    </p:spTree>
    <p:extLst>
      <p:ext uri="{BB962C8B-B14F-4D97-AF65-F5344CB8AC3E}">
        <p14:creationId xmlns:p14="http://schemas.microsoft.com/office/powerpoint/2010/main" val="32999230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71600" y="404664"/>
            <a:ext cx="7632848" cy="461665"/>
          </a:xfrm>
          <a:prstGeom prst="rect">
            <a:avLst/>
          </a:prstGeom>
          <a:solidFill>
            <a:schemeClr val="bg1"/>
          </a:solidFill>
        </p:spPr>
        <p:txBody>
          <a:bodyPr wrap="square" rtlCol="0">
            <a:spAutoFit/>
          </a:bodyPr>
          <a:lstStyle/>
          <a:p>
            <a:pPr algn="ctr"/>
            <a:r>
              <a:rPr lang="en-GB" dirty="0">
                <a:solidFill>
                  <a:srgbClr val="FF0000"/>
                </a:solidFill>
              </a:rPr>
              <a:t>ERPs and CRPs correspond to ratings</a:t>
            </a:r>
          </a:p>
        </p:txBody>
      </p:sp>
      <p:pic>
        <p:nvPicPr>
          <p:cNvPr id="5" name="Picture 4">
            <a:extLst>
              <a:ext uri="{FF2B5EF4-FFF2-40B4-BE49-F238E27FC236}">
                <a16:creationId xmlns:a16="http://schemas.microsoft.com/office/drawing/2014/main" id="{05606A24-E66F-6937-D5B6-1486F0DDEFD2}"/>
              </a:ext>
            </a:extLst>
          </p:cNvPr>
          <p:cNvPicPr>
            <a:picLocks noChangeAspect="1"/>
          </p:cNvPicPr>
          <p:nvPr/>
        </p:nvPicPr>
        <p:blipFill>
          <a:blip r:embed="rId3"/>
          <a:srcRect l="4326" t="9401" r="388" b="13600"/>
          <a:stretch>
            <a:fillRect/>
          </a:stretch>
        </p:blipFill>
        <p:spPr>
          <a:xfrm>
            <a:off x="215516" y="1052736"/>
            <a:ext cx="8712968" cy="3960440"/>
          </a:xfrm>
          <a:prstGeom prst="rect">
            <a:avLst/>
          </a:prstGeom>
        </p:spPr>
      </p:pic>
      <p:sp>
        <p:nvSpPr>
          <p:cNvPr id="6" name="Rectangle: Rounded Corners 5">
            <a:extLst>
              <a:ext uri="{FF2B5EF4-FFF2-40B4-BE49-F238E27FC236}">
                <a16:creationId xmlns:a16="http://schemas.microsoft.com/office/drawing/2014/main" id="{4DC347D0-12F1-2BA0-812F-D03182BF3B29}"/>
              </a:ext>
            </a:extLst>
          </p:cNvPr>
          <p:cNvSpPr/>
          <p:nvPr/>
        </p:nvSpPr>
        <p:spPr>
          <a:xfrm>
            <a:off x="2195736" y="5301208"/>
            <a:ext cx="4680520" cy="10081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Data from the link below</a:t>
            </a:r>
          </a:p>
        </p:txBody>
      </p:sp>
    </p:spTree>
    <p:extLst>
      <p:ext uri="{BB962C8B-B14F-4D97-AF65-F5344CB8AC3E}">
        <p14:creationId xmlns:p14="http://schemas.microsoft.com/office/powerpoint/2010/main" val="6807364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170" name="Rectangle 2"/>
          <p:cNvSpPr>
            <a:spLocks noGrp="1" noChangeArrowheads="1"/>
          </p:cNvSpPr>
          <p:nvPr>
            <p:ph type="title"/>
          </p:nvPr>
        </p:nvSpPr>
        <p:spPr>
          <a:xfrm>
            <a:off x="301752" y="332656"/>
            <a:ext cx="8534400" cy="758952"/>
          </a:xfrm>
        </p:spPr>
        <p:txBody>
          <a:bodyPr>
            <a:normAutofit fontScale="90000"/>
          </a:bodyPr>
          <a:lstStyle/>
          <a:p>
            <a:r>
              <a:rPr lang="en-US" dirty="0"/>
              <a:t>From Country Equity Risk Premiums to Corporate Equity Risk premiums</a:t>
            </a:r>
          </a:p>
        </p:txBody>
      </p:sp>
      <p:sp>
        <p:nvSpPr>
          <p:cNvPr id="1031171" name="Rectangle 3"/>
          <p:cNvSpPr>
            <a:spLocks noGrp="1" noChangeArrowheads="1"/>
          </p:cNvSpPr>
          <p:nvPr>
            <p:ph sz="quarter" idx="1"/>
          </p:nvPr>
        </p:nvSpPr>
        <p:spPr>
          <a:xfrm>
            <a:off x="251520" y="1412776"/>
            <a:ext cx="8712968" cy="5544616"/>
          </a:xfrm>
        </p:spPr>
        <p:txBody>
          <a:bodyPr>
            <a:normAutofit fontScale="77500" lnSpcReduction="20000"/>
          </a:bodyPr>
          <a:lstStyle/>
          <a:p>
            <a:r>
              <a:rPr lang="en-US" dirty="0"/>
              <a:t>Approach 1 (Most General): </a:t>
            </a:r>
          </a:p>
          <a:p>
            <a:pPr lvl="1"/>
            <a:r>
              <a:rPr lang="en-US" dirty="0"/>
              <a:t>Assume that every company in the country is equally exposed to country risk. In this case, </a:t>
            </a:r>
          </a:p>
          <a:p>
            <a:pPr algn="ctr">
              <a:buFont typeface="Monotype Sorts" charset="2"/>
              <a:buNone/>
            </a:pPr>
            <a:endParaRPr lang="en-US" dirty="0"/>
          </a:p>
          <a:p>
            <a:pPr lvl="1">
              <a:buFontTx/>
              <a:buNone/>
            </a:pPr>
            <a:endParaRPr lang="en-US" dirty="0"/>
          </a:p>
          <a:p>
            <a:r>
              <a:rPr lang="en-US" dirty="0"/>
              <a:t>Approach 2 (Works well for most cases): </a:t>
            </a:r>
          </a:p>
          <a:p>
            <a:pPr lvl="1"/>
            <a:r>
              <a:rPr lang="en-US" dirty="0"/>
              <a:t>Assume that a company’s exposure to country risk is similar to its exposure to other market risk.</a:t>
            </a:r>
          </a:p>
          <a:p>
            <a:pPr lvl="1"/>
            <a:endParaRPr lang="en-US" dirty="0"/>
          </a:p>
          <a:p>
            <a:pPr algn="ctr">
              <a:buFont typeface="Monotype Sorts" charset="2"/>
              <a:buNone/>
            </a:pPr>
            <a:endParaRPr lang="en-US" dirty="0"/>
          </a:p>
          <a:p>
            <a:pPr algn="ctr">
              <a:buFont typeface="Monotype Sorts" charset="2"/>
              <a:buNone/>
            </a:pPr>
            <a:endParaRPr lang="en-US" dirty="0"/>
          </a:p>
          <a:p>
            <a:r>
              <a:rPr lang="en-US" dirty="0"/>
              <a:t>Approach 3 (For extreme cases): </a:t>
            </a:r>
          </a:p>
          <a:p>
            <a:pPr lvl="1"/>
            <a:r>
              <a:rPr lang="en-US" dirty="0"/>
              <a:t>Treat country risk as a separate risk factor and allow firms to have different exposures to country risk (perhaps based upon the proportion of their revenues come from non-domestic sales)</a:t>
            </a:r>
          </a:p>
          <a:p>
            <a:pPr algn="ctr">
              <a:buFont typeface="Monotype Sorts" charset="2"/>
              <a:buNone/>
            </a:pPr>
            <a:endParaRPr lang="en-US" dirty="0"/>
          </a:p>
          <a:p>
            <a:pPr>
              <a:buFont typeface="Monotype Sorts" charset="2"/>
              <a:buNone/>
            </a:pPr>
            <a:endParaRPr lang="en-GB" i="1" dirty="0"/>
          </a:p>
          <a:p>
            <a:pPr>
              <a:buFont typeface="Monotype Sorts" charset="2"/>
              <a:buNone/>
            </a:pPr>
            <a:endParaRPr lang="en-US" i="1" dirty="0"/>
          </a:p>
          <a:p>
            <a:pPr>
              <a:buFont typeface="Monotype Sorts" charset="2"/>
              <a:buNone/>
            </a:pPr>
            <a:r>
              <a:rPr lang="en-US" i="1" dirty="0"/>
              <a:t>CRP: Country Risk Premium &amp; RP</a:t>
            </a:r>
            <a:r>
              <a:rPr lang="en-US" i="1" baseline="-25000" dirty="0"/>
              <a:t>US</a:t>
            </a:r>
            <a:r>
              <a:rPr lang="en-US" i="1" dirty="0"/>
              <a:t>: Base Premium (US)</a:t>
            </a:r>
            <a:endParaRPr lang="en-US" dirty="0"/>
          </a:p>
        </p:txBody>
      </p:sp>
      <mc:AlternateContent xmlns:mc="http://schemas.openxmlformats.org/markup-compatibility/2006" xmlns:a14="http://schemas.microsoft.com/office/drawing/2010/main">
        <mc:Choice Requires="a14">
          <p:sp>
            <p:nvSpPr>
              <p:cNvPr id="2" name="TextBox 1"/>
              <p:cNvSpPr txBox="1"/>
              <p:nvPr/>
            </p:nvSpPr>
            <p:spPr>
              <a:xfrm>
                <a:off x="2658813" y="2081767"/>
                <a:ext cx="3820277" cy="704745"/>
              </a:xfrm>
              <a:prstGeom prst="rect">
                <a:avLst/>
              </a:prstGeom>
              <a:noFill/>
            </p:spPr>
            <p:txBody>
              <a:bodyPr wrap="none" lIns="0" tIns="0" rIns="0" bIns="0" rtlCol="0">
                <a:spAutoFit/>
              </a:bodyPr>
              <a:lstStyle/>
              <a:p>
                <a:pPr/>
                <a14:m>
                  <m:oMathPara xmlns:m="http://schemas.openxmlformats.org/officeDocument/2006/math">
                    <m:o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𝑅</m:t>
                          </m:r>
                        </m:e>
                        <m:sub>
                          <m:r>
                            <a:rPr lang="en-GB" b="0" i="1" smtClean="0">
                              <a:latin typeface="Cambria Math" panose="02040503050406030204" pitchFamily="18" charset="0"/>
                            </a:rPr>
                            <m:t>𝑖</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𝑅</m:t>
                          </m:r>
                        </m:e>
                        <m:sub>
                          <m:r>
                            <a:rPr lang="en-GB" b="0" i="1" smtClean="0">
                              <a:latin typeface="Cambria Math" panose="02040503050406030204" pitchFamily="18" charset="0"/>
                            </a:rPr>
                            <m:t>𝑓</m:t>
                          </m:r>
                        </m:sub>
                      </m:sSub>
                      <m:r>
                        <a:rPr lang="en-GB" b="0" i="1" smtClean="0">
                          <a:latin typeface="Cambria Math" panose="02040503050406030204" pitchFamily="18" charset="0"/>
                        </a:rPr>
                        <m:t>+</m:t>
                      </m:r>
                      <m:limLow>
                        <m:limLowPr>
                          <m:ctrlPr>
                            <a:rPr lang="en-GB" i="1">
                              <a:latin typeface="Cambria Math" panose="02040503050406030204" pitchFamily="18" charset="0"/>
                            </a:rPr>
                          </m:ctrlPr>
                        </m:limLowPr>
                        <m:e>
                          <m:groupChr>
                            <m:groupChrPr>
                              <m:chr m:val="⏟"/>
                              <m:pos m:val="bot"/>
                              <m:vertJc m:val="top"/>
                              <m:ctrlPr>
                                <a:rPr lang="en-GB" i="1">
                                  <a:latin typeface="Cambria Math" panose="02040503050406030204" pitchFamily="18" charset="0"/>
                                </a:rPr>
                              </m:ctrlPr>
                            </m:groupChrPr>
                            <m:e>
                              <m:sSub>
                                <m:sSubPr>
                                  <m:ctrlPr>
                                    <a:rPr lang="en-GB" i="1">
                                      <a:latin typeface="Cambria Math" panose="02040503050406030204" pitchFamily="18" charset="0"/>
                                    </a:rPr>
                                  </m:ctrlPr>
                                </m:sSubPr>
                                <m:e>
                                  <m:r>
                                    <a:rPr lang="en-GB" i="1">
                                      <a:latin typeface="Cambria Math" panose="02040503050406030204" pitchFamily="18" charset="0"/>
                                    </a:rPr>
                                    <m:t>𝐶𝑅𝑃</m:t>
                                  </m:r>
                                </m:e>
                                <m:sub>
                                  <m:r>
                                    <a:rPr lang="en-GB" i="1">
                                      <a:latin typeface="Cambria Math" panose="02040503050406030204" pitchFamily="18" charset="0"/>
                                    </a:rPr>
                                    <m:t>𝑋</m:t>
                                  </m:r>
                                </m:sub>
                              </m:sSub>
                              <m:r>
                                <a:rPr lang="en-GB" i="1">
                                  <a:latin typeface="Cambria Math" panose="02040503050406030204" pitchFamily="18" charset="0"/>
                                </a:rPr>
                                <m:t>+</m:t>
                              </m:r>
                              <m:sSub>
                                <m:sSubPr>
                                  <m:ctrlPr>
                                    <a:rPr lang="el-GR" i="1">
                                      <a:latin typeface="Cambria Math" panose="02040503050406030204" pitchFamily="18" charset="0"/>
                                    </a:rPr>
                                  </m:ctrlPr>
                                </m:sSubPr>
                                <m:e>
                                  <m:r>
                                    <a:rPr lang="el-GR" i="1">
                                      <a:latin typeface="Cambria Math" panose="02040503050406030204" pitchFamily="18" charset="0"/>
                                    </a:rPr>
                                    <m:t>𝛽</m:t>
                                  </m:r>
                                </m:e>
                                <m:sub>
                                  <m:r>
                                    <a:rPr lang="en-GB" i="1">
                                      <a:latin typeface="Cambria Math" panose="02040503050406030204" pitchFamily="18" charset="0"/>
                                    </a:rPr>
                                    <m:t>𝑖</m:t>
                                  </m:r>
                                </m:sub>
                              </m:sSub>
                              <m:sSub>
                                <m:sSubPr>
                                  <m:ctrlPr>
                                    <a:rPr lang="en-GB" i="1">
                                      <a:latin typeface="Cambria Math" panose="02040503050406030204" pitchFamily="18" charset="0"/>
                                    </a:rPr>
                                  </m:ctrlPr>
                                </m:sSubPr>
                                <m:e>
                                  <m:r>
                                    <a:rPr lang="en-GB" i="1">
                                      <a:latin typeface="Cambria Math" panose="02040503050406030204" pitchFamily="18" charset="0"/>
                                    </a:rPr>
                                    <m:t>𝑅𝑃</m:t>
                                  </m:r>
                                </m:e>
                                <m:sub>
                                  <m:r>
                                    <a:rPr lang="en-GB" i="1">
                                      <a:latin typeface="Cambria Math" panose="02040503050406030204" pitchFamily="18" charset="0"/>
                                    </a:rPr>
                                    <m:t>𝑈𝑆</m:t>
                                  </m:r>
                                </m:sub>
                              </m:sSub>
                            </m:e>
                          </m:groupChr>
                        </m:e>
                        <m:lim>
                          <m:r>
                            <a:rPr lang="en-GB" b="0" i="1" smtClean="0">
                              <a:latin typeface="Cambria Math" panose="02040503050406030204" pitchFamily="18" charset="0"/>
                            </a:rPr>
                            <m:t>𝐸𝑞𝑢𝑖𝑡𝑦</m:t>
                          </m:r>
                          <m:r>
                            <a:rPr lang="en-GB" b="0" i="1" smtClean="0">
                              <a:latin typeface="Cambria Math" panose="02040503050406030204" pitchFamily="18" charset="0"/>
                            </a:rPr>
                            <m:t> </m:t>
                          </m:r>
                          <m:r>
                            <a:rPr lang="en-GB" b="0" i="1" smtClean="0">
                              <a:latin typeface="Cambria Math" panose="02040503050406030204" pitchFamily="18" charset="0"/>
                            </a:rPr>
                            <m:t>𝑅𝑖𝑠𝑘</m:t>
                          </m:r>
                          <m:r>
                            <a:rPr lang="en-GB" b="0" i="1" smtClean="0">
                              <a:latin typeface="Cambria Math" panose="02040503050406030204" pitchFamily="18" charset="0"/>
                            </a:rPr>
                            <m:t> </m:t>
                          </m:r>
                          <m:r>
                            <a:rPr lang="en-GB" b="0" i="1" smtClean="0">
                              <a:latin typeface="Cambria Math" panose="02040503050406030204" pitchFamily="18" charset="0"/>
                            </a:rPr>
                            <m:t>𝑃𝑟𝑒𝑚𝑖𝑢𝑚</m:t>
                          </m:r>
                        </m:lim>
                      </m:limLow>
                    </m:oMath>
                  </m:oMathPara>
                </a14:m>
                <a:endParaRPr lang="en-GB" dirty="0"/>
              </a:p>
            </p:txBody>
          </p:sp>
        </mc:Choice>
        <mc:Fallback xmlns="">
          <p:sp>
            <p:nvSpPr>
              <p:cNvPr id="2" name="TextBox 1"/>
              <p:cNvSpPr txBox="1">
                <a:spLocks noRot="1" noChangeAspect="1" noMove="1" noResize="1" noEditPoints="1" noAdjustHandles="1" noChangeArrowheads="1" noChangeShapeType="1" noTextEdit="1"/>
              </p:cNvSpPr>
              <p:nvPr/>
            </p:nvSpPr>
            <p:spPr>
              <a:xfrm>
                <a:off x="2658813" y="2081767"/>
                <a:ext cx="3820277" cy="704745"/>
              </a:xfrm>
              <a:prstGeom prst="rect">
                <a:avLst/>
              </a:prstGeom>
              <a:blipFill>
                <a:blip r:embed="rId3"/>
                <a:stretch>
                  <a:fillRect l="-1276" r="-638" b="-1379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623931" y="3660359"/>
                <a:ext cx="3820277" cy="704745"/>
              </a:xfrm>
              <a:prstGeom prst="rect">
                <a:avLst/>
              </a:prstGeom>
              <a:noFill/>
            </p:spPr>
            <p:txBody>
              <a:bodyPr wrap="none" lIns="0" tIns="0" rIns="0" bIns="0" rtlCol="0">
                <a:spAutoFit/>
              </a:bodyPr>
              <a:lstStyle/>
              <a:p>
                <a:pPr/>
                <a14:m>
                  <m:oMathPara xmlns:m="http://schemas.openxmlformats.org/officeDocument/2006/math">
                    <m:o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𝑅</m:t>
                          </m:r>
                        </m:e>
                        <m:sub>
                          <m:r>
                            <a:rPr lang="en-GB" b="0" i="1" smtClean="0">
                              <a:latin typeface="Cambria Math" panose="02040503050406030204" pitchFamily="18" charset="0"/>
                            </a:rPr>
                            <m:t>𝑖</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𝑅</m:t>
                          </m:r>
                        </m:e>
                        <m:sub>
                          <m:r>
                            <a:rPr lang="en-GB" b="0" i="1" smtClean="0">
                              <a:latin typeface="Cambria Math" panose="02040503050406030204" pitchFamily="18" charset="0"/>
                            </a:rPr>
                            <m:t>𝑓</m:t>
                          </m:r>
                        </m:sub>
                      </m:sSub>
                      <m:r>
                        <a:rPr lang="en-GB" b="0" i="1" smtClean="0">
                          <a:latin typeface="Cambria Math" panose="02040503050406030204" pitchFamily="18" charset="0"/>
                        </a:rPr>
                        <m:t>+</m:t>
                      </m:r>
                      <m:limLow>
                        <m:limLowPr>
                          <m:ctrlPr>
                            <a:rPr lang="en-GB" i="1">
                              <a:latin typeface="Cambria Math" panose="02040503050406030204" pitchFamily="18" charset="0"/>
                            </a:rPr>
                          </m:ctrlPr>
                        </m:limLowPr>
                        <m:e>
                          <m:groupChr>
                            <m:groupChrPr>
                              <m:chr m:val="⏟"/>
                              <m:pos m:val="bot"/>
                              <m:vertJc m:val="top"/>
                              <m:ctrlPr>
                                <a:rPr lang="el-GR" i="1">
                                  <a:latin typeface="Cambria Math" panose="02040503050406030204" pitchFamily="18" charset="0"/>
                                </a:rPr>
                              </m:ctrlPr>
                            </m:groupChrPr>
                            <m:e>
                              <m:sSub>
                                <m:sSubPr>
                                  <m:ctrlPr>
                                    <a:rPr lang="el-GR" i="1">
                                      <a:latin typeface="Cambria Math" panose="02040503050406030204" pitchFamily="18" charset="0"/>
                                    </a:rPr>
                                  </m:ctrlPr>
                                </m:sSubPr>
                                <m:e>
                                  <m:r>
                                    <a:rPr lang="el-GR" i="1">
                                      <a:latin typeface="Cambria Math" panose="02040503050406030204" pitchFamily="18" charset="0"/>
                                    </a:rPr>
                                    <m:t>𝛽</m:t>
                                  </m:r>
                                </m:e>
                                <m:sub>
                                  <m:r>
                                    <a:rPr lang="en-GB" i="1">
                                      <a:latin typeface="Cambria Math" panose="02040503050406030204" pitchFamily="18" charset="0"/>
                                    </a:rPr>
                                    <m:t>𝑖</m:t>
                                  </m:r>
                                </m:sub>
                              </m:sSub>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𝐶𝑅𝑃</m:t>
                                      </m:r>
                                    </m:e>
                                    <m:sub>
                                      <m:r>
                                        <a:rPr lang="en-GB" i="1">
                                          <a:latin typeface="Cambria Math" panose="02040503050406030204" pitchFamily="18" charset="0"/>
                                        </a:rPr>
                                        <m:t>𝑋</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𝑅𝑃</m:t>
                                      </m:r>
                                    </m:e>
                                    <m:sub>
                                      <m:r>
                                        <a:rPr lang="en-GB" i="1">
                                          <a:latin typeface="Cambria Math" panose="02040503050406030204" pitchFamily="18" charset="0"/>
                                        </a:rPr>
                                        <m:t>𝑈𝑆</m:t>
                                      </m:r>
                                    </m:sub>
                                  </m:sSub>
                                </m:e>
                              </m:d>
                            </m:e>
                          </m:groupChr>
                        </m:e>
                        <m:lim>
                          <m:r>
                            <a:rPr lang="en-GB" b="0" i="1" smtClean="0">
                              <a:latin typeface="Cambria Math" panose="02040503050406030204" pitchFamily="18" charset="0"/>
                            </a:rPr>
                            <m:t>𝐸𝑞𝑢𝑖𝑡𝑦</m:t>
                          </m:r>
                          <m:r>
                            <a:rPr lang="en-GB" b="0" i="1" smtClean="0">
                              <a:latin typeface="Cambria Math" panose="02040503050406030204" pitchFamily="18" charset="0"/>
                            </a:rPr>
                            <m:t> </m:t>
                          </m:r>
                          <m:r>
                            <a:rPr lang="en-GB" b="0" i="1" smtClean="0">
                              <a:latin typeface="Cambria Math" panose="02040503050406030204" pitchFamily="18" charset="0"/>
                            </a:rPr>
                            <m:t>𝑅𝑖𝑠𝑘</m:t>
                          </m:r>
                          <m:r>
                            <a:rPr lang="en-GB" b="0" i="1" smtClean="0">
                              <a:latin typeface="Cambria Math" panose="02040503050406030204" pitchFamily="18" charset="0"/>
                            </a:rPr>
                            <m:t> </m:t>
                          </m:r>
                          <m:r>
                            <a:rPr lang="en-GB" b="0" i="1" smtClean="0">
                              <a:latin typeface="Cambria Math" panose="02040503050406030204" pitchFamily="18" charset="0"/>
                            </a:rPr>
                            <m:t>𝑃𝑟𝑒𝑚𝑖𝑢𝑚</m:t>
                          </m:r>
                        </m:lim>
                      </m:limLow>
                    </m:oMath>
                  </m:oMathPara>
                </a14:m>
                <a:endParaRPr lang="en-GB" dirty="0"/>
              </a:p>
            </p:txBody>
          </p:sp>
        </mc:Choice>
        <mc:Fallback xmlns="">
          <p:sp>
            <p:nvSpPr>
              <p:cNvPr id="8" name="TextBox 7"/>
              <p:cNvSpPr txBox="1">
                <a:spLocks noRot="1" noChangeAspect="1" noMove="1" noResize="1" noEditPoints="1" noAdjustHandles="1" noChangeArrowheads="1" noChangeShapeType="1" noTextEdit="1"/>
              </p:cNvSpPr>
              <p:nvPr/>
            </p:nvSpPr>
            <p:spPr>
              <a:xfrm>
                <a:off x="2623931" y="3660359"/>
                <a:ext cx="3820277" cy="704745"/>
              </a:xfrm>
              <a:prstGeom prst="rect">
                <a:avLst/>
              </a:prstGeom>
              <a:blipFill>
                <a:blip r:embed="rId4"/>
                <a:stretch>
                  <a:fillRect l="-1276" r="-638" b="-1379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2655289" y="5440234"/>
                <a:ext cx="4004943" cy="797078"/>
              </a:xfrm>
              <a:prstGeom prst="rect">
                <a:avLst/>
              </a:prstGeom>
            </p:spPr>
            <p:txBody>
              <a:bodyPr wrap="none">
                <a:spAutoFit/>
              </a:bodyPr>
              <a:lstStyle/>
              <a:p>
                <a:pPr/>
                <a14:m>
                  <m:oMathPara xmlns:m="http://schemas.openxmlformats.org/officeDocument/2006/math">
                    <m:oMath>
                      <m:sSub>
                        <m:sSubPr>
                          <m:ctrlPr>
                            <a:rPr lang="en-GB" i="1">
                              <a:latin typeface="Cambria Math" panose="02040503050406030204" pitchFamily="18" charset="0"/>
                            </a:rPr>
                          </m:ctrlPr>
                        </m:sSubPr>
                        <m:e>
                          <m:r>
                            <a:rPr lang="en-GB" i="1">
                              <a:latin typeface="Cambria Math" panose="02040503050406030204" pitchFamily="18" charset="0"/>
                            </a:rPr>
                            <m:t>𝑅</m:t>
                          </m:r>
                        </m:e>
                        <m:sub>
                          <m:r>
                            <a:rPr lang="en-GB" i="1">
                              <a:latin typeface="Cambria Math" panose="02040503050406030204" pitchFamily="18" charset="0"/>
                            </a:rPr>
                            <m:t>𝑖</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𝑅</m:t>
                          </m:r>
                        </m:e>
                        <m:sub>
                          <m:r>
                            <a:rPr lang="en-GB" i="1">
                              <a:latin typeface="Cambria Math" panose="02040503050406030204" pitchFamily="18" charset="0"/>
                            </a:rPr>
                            <m:t>𝑓</m:t>
                          </m:r>
                        </m:sub>
                      </m:sSub>
                      <m:r>
                        <a:rPr lang="en-GB" i="1">
                          <a:latin typeface="Cambria Math" panose="02040503050406030204" pitchFamily="18" charset="0"/>
                        </a:rPr>
                        <m:t>+</m:t>
                      </m:r>
                      <m:limLow>
                        <m:limLowPr>
                          <m:ctrlPr>
                            <a:rPr lang="en-GB" i="1">
                              <a:latin typeface="Cambria Math" panose="02040503050406030204" pitchFamily="18" charset="0"/>
                            </a:rPr>
                          </m:ctrlPr>
                        </m:limLowPr>
                        <m:e>
                          <m:groupChr>
                            <m:groupChrPr>
                              <m:chr m:val="⏟"/>
                              <m:pos m:val="bot"/>
                              <m:vertJc m:val="top"/>
                              <m:ctrlPr>
                                <a:rPr lang="el-GR" b="0" i="1" smtClean="0">
                                  <a:latin typeface="Cambria Math" panose="02040503050406030204" pitchFamily="18" charset="0"/>
                                </a:rPr>
                              </m:ctrlPr>
                            </m:groupChrPr>
                            <m:e>
                              <m:sSub>
                                <m:sSubPr>
                                  <m:ctrlPr>
                                    <a:rPr lang="el-GR" b="0" i="1" smtClean="0">
                                      <a:latin typeface="Cambria Math" panose="02040503050406030204" pitchFamily="18" charset="0"/>
                                    </a:rPr>
                                  </m:ctrlPr>
                                </m:sSubPr>
                                <m:e>
                                  <m:r>
                                    <a:rPr lang="el-GR" b="0" i="1" smtClean="0">
                                      <a:latin typeface="Cambria Math" panose="02040503050406030204" pitchFamily="18" charset="0"/>
                                    </a:rPr>
                                    <m:t>𝜆</m:t>
                                  </m:r>
                                </m:e>
                                <m:sub>
                                  <m:r>
                                    <a:rPr lang="en-GB" i="1">
                                      <a:latin typeface="Cambria Math" panose="02040503050406030204" pitchFamily="18" charset="0"/>
                                    </a:rPr>
                                    <m:t>𝑖</m:t>
                                  </m:r>
                                </m:sub>
                              </m:sSub>
                              <m:sSub>
                                <m:sSubPr>
                                  <m:ctrlPr>
                                    <a:rPr lang="en-GB" i="1">
                                      <a:latin typeface="Cambria Math" panose="02040503050406030204" pitchFamily="18" charset="0"/>
                                    </a:rPr>
                                  </m:ctrlPr>
                                </m:sSubPr>
                                <m:e>
                                  <m:r>
                                    <a:rPr lang="en-GB" i="1">
                                      <a:latin typeface="Cambria Math" panose="02040503050406030204" pitchFamily="18" charset="0"/>
                                    </a:rPr>
                                    <m:t>𝐶𝑅𝑃</m:t>
                                  </m:r>
                                </m:e>
                                <m:sub>
                                  <m:r>
                                    <a:rPr lang="en-GB" i="1">
                                      <a:latin typeface="Cambria Math" panose="02040503050406030204" pitchFamily="18" charset="0"/>
                                    </a:rPr>
                                    <m:t>𝑋</m:t>
                                  </m:r>
                                </m:sub>
                              </m:sSub>
                              <m:r>
                                <a:rPr lang="en-GB" i="1">
                                  <a:latin typeface="Cambria Math" panose="02040503050406030204" pitchFamily="18" charset="0"/>
                                </a:rPr>
                                <m:t>+</m:t>
                              </m:r>
                              <m:sSub>
                                <m:sSubPr>
                                  <m:ctrlPr>
                                    <a:rPr lang="el-GR" i="1">
                                      <a:latin typeface="Cambria Math" panose="02040503050406030204" pitchFamily="18" charset="0"/>
                                    </a:rPr>
                                  </m:ctrlPr>
                                </m:sSubPr>
                                <m:e>
                                  <m:r>
                                    <a:rPr lang="el-GR" i="1">
                                      <a:latin typeface="Cambria Math" panose="02040503050406030204" pitchFamily="18" charset="0"/>
                                    </a:rPr>
                                    <m:t>𝛽</m:t>
                                  </m:r>
                                </m:e>
                                <m:sub>
                                  <m:r>
                                    <a:rPr lang="en-GB" i="1">
                                      <a:latin typeface="Cambria Math" panose="02040503050406030204" pitchFamily="18" charset="0"/>
                                    </a:rPr>
                                    <m:t>𝑖</m:t>
                                  </m:r>
                                </m:sub>
                              </m:sSub>
                              <m:sSub>
                                <m:sSubPr>
                                  <m:ctrlPr>
                                    <a:rPr lang="en-GB" i="1">
                                      <a:latin typeface="Cambria Math" panose="02040503050406030204" pitchFamily="18" charset="0"/>
                                    </a:rPr>
                                  </m:ctrlPr>
                                </m:sSubPr>
                                <m:e>
                                  <m:r>
                                    <a:rPr lang="en-GB" i="1">
                                      <a:latin typeface="Cambria Math" panose="02040503050406030204" pitchFamily="18" charset="0"/>
                                    </a:rPr>
                                    <m:t>𝑅𝑃</m:t>
                                  </m:r>
                                </m:e>
                                <m:sub>
                                  <m:r>
                                    <a:rPr lang="en-GB" i="1">
                                      <a:latin typeface="Cambria Math" panose="02040503050406030204" pitchFamily="18" charset="0"/>
                                    </a:rPr>
                                    <m:t>𝑈𝑆</m:t>
                                  </m:r>
                                </m:sub>
                              </m:sSub>
                            </m:e>
                          </m:groupChr>
                        </m:e>
                        <m:lim>
                          <m:r>
                            <a:rPr lang="en-GB" i="1">
                              <a:latin typeface="Cambria Math" panose="02040503050406030204" pitchFamily="18" charset="0"/>
                            </a:rPr>
                            <m:t>𝐸𝑞𝑢𝑖𝑡𝑦</m:t>
                          </m:r>
                          <m:r>
                            <a:rPr lang="en-GB" i="1">
                              <a:latin typeface="Cambria Math" panose="02040503050406030204" pitchFamily="18" charset="0"/>
                            </a:rPr>
                            <m:t> </m:t>
                          </m:r>
                          <m:r>
                            <a:rPr lang="en-GB" i="1">
                              <a:latin typeface="Cambria Math" panose="02040503050406030204" pitchFamily="18" charset="0"/>
                            </a:rPr>
                            <m:t>𝑅𝑖𝑠𝑘</m:t>
                          </m:r>
                          <m:r>
                            <a:rPr lang="en-GB" i="1">
                              <a:latin typeface="Cambria Math" panose="02040503050406030204" pitchFamily="18" charset="0"/>
                            </a:rPr>
                            <m:t> </m:t>
                          </m:r>
                          <m:r>
                            <a:rPr lang="en-GB" i="1">
                              <a:latin typeface="Cambria Math" panose="02040503050406030204" pitchFamily="18" charset="0"/>
                            </a:rPr>
                            <m:t>𝑃𝑟𝑒𝑚𝑖𝑢𝑚</m:t>
                          </m:r>
                        </m:lim>
                      </m:limLow>
                    </m:oMath>
                  </m:oMathPara>
                </a14:m>
                <a:endParaRPr lang="en-GB" dirty="0"/>
              </a:p>
            </p:txBody>
          </p:sp>
        </mc:Choice>
        <mc:Fallback xmlns="">
          <p:sp>
            <p:nvSpPr>
              <p:cNvPr id="3" name="Rectangle 2"/>
              <p:cNvSpPr>
                <a:spLocks noRot="1" noChangeAspect="1" noMove="1" noResize="1" noEditPoints="1" noAdjustHandles="1" noChangeArrowheads="1" noChangeShapeType="1" noTextEdit="1"/>
              </p:cNvSpPr>
              <p:nvPr/>
            </p:nvSpPr>
            <p:spPr>
              <a:xfrm>
                <a:off x="2655289" y="5440234"/>
                <a:ext cx="4004943" cy="797078"/>
              </a:xfrm>
              <a:prstGeom prst="rect">
                <a:avLst/>
              </a:prstGeom>
              <a:blipFill>
                <a:blip r:embed="rId5"/>
                <a:stretch>
                  <a:fillRect b="-6107"/>
                </a:stretch>
              </a:blipFill>
            </p:spPr>
            <p:txBody>
              <a:bodyPr/>
              <a:lstStyle/>
              <a:p>
                <a:r>
                  <a:rPr lang="en-GB">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117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3117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3117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31171">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31171">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31171">
                                            <p:txEl>
                                              <p:pRg st="10" end="1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194" name="Rectangle 2"/>
          <p:cNvSpPr>
            <a:spLocks noGrp="1" noChangeArrowheads="1"/>
          </p:cNvSpPr>
          <p:nvPr>
            <p:ph type="title"/>
          </p:nvPr>
        </p:nvSpPr>
        <p:spPr>
          <a:xfrm>
            <a:off x="301752" y="293784"/>
            <a:ext cx="8534400" cy="758952"/>
          </a:xfrm>
        </p:spPr>
        <p:txBody>
          <a:bodyPr>
            <a:normAutofit fontScale="90000"/>
          </a:bodyPr>
          <a:lstStyle/>
          <a:p>
            <a:r>
              <a:rPr lang="en-US" dirty="0"/>
              <a:t>Estimating Company Exposure to Country Risk: Determinants</a:t>
            </a:r>
          </a:p>
        </p:txBody>
      </p:sp>
      <p:graphicFrame>
        <p:nvGraphicFramePr>
          <p:cNvPr id="4" name="Content Placeholder 3"/>
          <p:cNvGraphicFramePr>
            <a:graphicFrameLocks noGrp="1"/>
          </p:cNvGraphicFramePr>
          <p:nvPr>
            <p:ph sz="quarter" idx="1"/>
          </p:nvPr>
        </p:nvGraphicFramePr>
        <p:xfrm>
          <a:off x="301752" y="836712"/>
          <a:ext cx="8503920" cy="58326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218" name="Rectangle 2"/>
          <p:cNvSpPr>
            <a:spLocks noGrp="1" noChangeArrowheads="1"/>
          </p:cNvSpPr>
          <p:nvPr>
            <p:ph type="title"/>
          </p:nvPr>
        </p:nvSpPr>
        <p:spPr/>
        <p:txBody>
          <a:bodyPr>
            <a:normAutofit fontScale="90000"/>
          </a:bodyPr>
          <a:lstStyle/>
          <a:p>
            <a:r>
              <a:rPr lang="en-US"/>
              <a:t>Estimating Lambdas: The Revenue Approach</a:t>
            </a:r>
          </a:p>
        </p:txBody>
      </p:sp>
      <p:sp>
        <p:nvSpPr>
          <p:cNvPr id="1033219" name="Rectangle 3"/>
          <p:cNvSpPr>
            <a:spLocks noGrp="1" noChangeArrowheads="1"/>
          </p:cNvSpPr>
          <p:nvPr>
            <p:ph sz="quarter" idx="1"/>
          </p:nvPr>
        </p:nvSpPr>
        <p:spPr>
          <a:xfrm>
            <a:off x="301752" y="1527048"/>
            <a:ext cx="8503920" cy="5142312"/>
          </a:xfrm>
        </p:spPr>
        <p:txBody>
          <a:bodyPr/>
          <a:lstStyle/>
          <a:p>
            <a:pPr>
              <a:lnSpc>
                <a:spcPct val="90000"/>
              </a:lnSpc>
            </a:pPr>
            <a:r>
              <a:rPr lang="en-US" sz="1800" dirty="0"/>
              <a:t>The easiest and most accessible data is on revenues. Most companies break their revenues down by region. One simplistic solution would be to do the following:</a:t>
            </a:r>
          </a:p>
          <a:p>
            <a:pPr>
              <a:lnSpc>
                <a:spcPct val="90000"/>
              </a:lnSpc>
              <a:buFont typeface="Monotype Sorts" charset="2"/>
              <a:buNone/>
            </a:pPr>
            <a:r>
              <a:rPr lang="en-US" sz="1800" dirty="0">
                <a:latin typeface="Symbol" charset="2"/>
              </a:rPr>
              <a:t>	</a:t>
            </a:r>
          </a:p>
          <a:p>
            <a:pPr>
              <a:lnSpc>
                <a:spcPct val="90000"/>
              </a:lnSpc>
              <a:buFont typeface="Monotype Sorts" charset="2"/>
              <a:buNone/>
            </a:pPr>
            <a:endParaRPr lang="en-US" sz="1800" baseline="-25000" dirty="0"/>
          </a:p>
          <a:p>
            <a:pPr>
              <a:lnSpc>
                <a:spcPct val="90000"/>
              </a:lnSpc>
            </a:pPr>
            <a:endParaRPr lang="en-US" sz="1800" dirty="0"/>
          </a:p>
          <a:p>
            <a:pPr>
              <a:lnSpc>
                <a:spcPct val="90000"/>
              </a:lnSpc>
            </a:pPr>
            <a:r>
              <a:rPr lang="en-US" sz="1800" dirty="0"/>
              <a:t>Consider, for instance, </a:t>
            </a:r>
            <a:r>
              <a:rPr lang="en-US" sz="1800" dirty="0" err="1"/>
              <a:t>Embraer</a:t>
            </a:r>
            <a:r>
              <a:rPr lang="en-US" sz="1800" dirty="0"/>
              <a:t> and </a:t>
            </a:r>
            <a:r>
              <a:rPr lang="en-US" sz="1800" dirty="0" err="1"/>
              <a:t>Embratel</a:t>
            </a:r>
            <a:r>
              <a:rPr lang="en-US" sz="1800" dirty="0"/>
              <a:t>, both of which are incorporated and traded in Brazil. </a:t>
            </a:r>
            <a:r>
              <a:rPr lang="en-US" sz="1800" dirty="0" err="1"/>
              <a:t>Embraer</a:t>
            </a:r>
            <a:r>
              <a:rPr lang="en-US" sz="1800" dirty="0"/>
              <a:t> gets 3% of its revenues from Brazil whereas </a:t>
            </a:r>
            <a:r>
              <a:rPr lang="en-US" sz="1800" dirty="0" err="1"/>
              <a:t>Embratel</a:t>
            </a:r>
            <a:r>
              <a:rPr lang="en-US" sz="1800" dirty="0"/>
              <a:t> gets almost all of its revenues in Brazil. The average Brazilian company gets about 77% of its revenues in Brazil:</a:t>
            </a:r>
          </a:p>
          <a:p>
            <a:pPr lvl="1">
              <a:lnSpc>
                <a:spcPct val="90000"/>
              </a:lnSpc>
            </a:pPr>
            <a:endParaRPr lang="en-US" sz="1600" dirty="0"/>
          </a:p>
          <a:p>
            <a:pPr>
              <a:lnSpc>
                <a:spcPct val="90000"/>
              </a:lnSpc>
            </a:pPr>
            <a:endParaRPr lang="en-US" sz="1600" dirty="0"/>
          </a:p>
          <a:p>
            <a:pPr>
              <a:lnSpc>
                <a:spcPct val="90000"/>
              </a:lnSpc>
            </a:pPr>
            <a:endParaRPr lang="en-US" sz="1600" dirty="0"/>
          </a:p>
          <a:p>
            <a:pPr>
              <a:lnSpc>
                <a:spcPct val="90000"/>
              </a:lnSpc>
            </a:pPr>
            <a:endParaRPr lang="en-US" sz="1600" dirty="0"/>
          </a:p>
          <a:p>
            <a:pPr>
              <a:lnSpc>
                <a:spcPct val="90000"/>
              </a:lnSpc>
            </a:pPr>
            <a:r>
              <a:rPr lang="en-US" sz="1800" dirty="0"/>
              <a:t>There are two implications</a:t>
            </a:r>
          </a:p>
          <a:p>
            <a:pPr lvl="1">
              <a:lnSpc>
                <a:spcPct val="90000"/>
              </a:lnSpc>
            </a:pPr>
            <a:r>
              <a:rPr lang="en-US" sz="1600" dirty="0"/>
              <a:t>A company’s risk exposure is determined by where it does business and not by where it is located</a:t>
            </a:r>
          </a:p>
          <a:p>
            <a:pPr lvl="1">
              <a:lnSpc>
                <a:spcPct val="90000"/>
              </a:lnSpc>
            </a:pPr>
            <a:r>
              <a:rPr lang="en-US" sz="1600" dirty="0"/>
              <a:t>Firms might be able to actively manage their country risk exposures (derivatives)</a:t>
            </a:r>
            <a:endParaRPr lang="en-US" sz="1600" baseline="-25000" dirty="0"/>
          </a:p>
          <a:p>
            <a:pPr>
              <a:lnSpc>
                <a:spcPct val="90000"/>
              </a:lnSpc>
              <a:buFont typeface="Monotype Sorts" charset="2"/>
              <a:buNone/>
            </a:pPr>
            <a:endParaRPr lang="en-US" sz="1800" dirty="0"/>
          </a:p>
        </p:txBody>
      </p:sp>
      <p:graphicFrame>
        <p:nvGraphicFramePr>
          <p:cNvPr id="4" name="Object 3"/>
          <p:cNvGraphicFramePr>
            <a:graphicFrameLocks noChangeAspect="1"/>
          </p:cNvGraphicFramePr>
          <p:nvPr/>
        </p:nvGraphicFramePr>
        <p:xfrm>
          <a:off x="1619672" y="2348880"/>
          <a:ext cx="6095927" cy="648072"/>
        </p:xfrm>
        <a:graphic>
          <a:graphicData uri="http://schemas.openxmlformats.org/presentationml/2006/ole">
            <mc:AlternateContent xmlns:mc="http://schemas.openxmlformats.org/markup-compatibility/2006">
              <mc:Choice xmlns:v="urn:schemas-microsoft-com:vml" Requires="v">
                <p:oleObj name="Equation" r:id="rId3" imgW="3822700" imgH="406400" progId="Equation.3">
                  <p:embed/>
                </p:oleObj>
              </mc:Choice>
              <mc:Fallback>
                <p:oleObj name="Equation" r:id="rId3" imgW="3822700" imgH="406400" progId="Equation.3">
                  <p:embed/>
                  <p:pic>
                    <p:nvPicPr>
                      <p:cNvPr id="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672" y="2348880"/>
                        <a:ext cx="6095927" cy="6480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3221" name="Object 5"/>
          <p:cNvGraphicFramePr>
            <a:graphicFrameLocks noChangeAspect="1"/>
          </p:cNvGraphicFramePr>
          <p:nvPr/>
        </p:nvGraphicFramePr>
        <p:xfrm>
          <a:off x="2807518" y="4221088"/>
          <a:ext cx="2268538" cy="971550"/>
        </p:xfrm>
        <a:graphic>
          <a:graphicData uri="http://schemas.openxmlformats.org/presentationml/2006/ole">
            <mc:AlternateContent xmlns:mc="http://schemas.openxmlformats.org/markup-compatibility/2006">
              <mc:Choice xmlns:v="urn:schemas-microsoft-com:vml" Requires="v">
                <p:oleObj name="Equation" r:id="rId5" imgW="1422400" imgH="609600" progId="Equation.3">
                  <p:embed/>
                </p:oleObj>
              </mc:Choice>
              <mc:Fallback>
                <p:oleObj name="Equation" r:id="rId5" imgW="1422400" imgH="609600" progId="Equation.3">
                  <p:embed/>
                  <p:pic>
                    <p:nvPicPr>
                      <p:cNvPr id="1033221"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07518" y="4221088"/>
                        <a:ext cx="2268538" cy="971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3219">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32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3219">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33219">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3321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a:xfrm>
            <a:off x="301752" y="365792"/>
            <a:ext cx="8534400" cy="758952"/>
          </a:xfrm>
        </p:spPr>
        <p:txBody>
          <a:bodyPr>
            <a:normAutofit fontScale="90000"/>
          </a:bodyPr>
          <a:lstStyle/>
          <a:p>
            <a:r>
              <a:rPr lang="en-US" dirty="0"/>
              <a:t>Estimating a US Dollar Cost of Equity for </a:t>
            </a:r>
            <a:r>
              <a:rPr lang="en-US" dirty="0" err="1"/>
              <a:t>Embraer</a:t>
            </a:r>
            <a:endParaRPr lang="en-US" dirty="0"/>
          </a:p>
        </p:txBody>
      </p:sp>
      <p:sp>
        <p:nvSpPr>
          <p:cNvPr id="1036291" name="Rectangle 3"/>
          <p:cNvSpPr>
            <a:spLocks noGrp="1" noChangeArrowheads="1"/>
          </p:cNvSpPr>
          <p:nvPr>
            <p:ph sz="quarter" idx="1"/>
          </p:nvPr>
        </p:nvSpPr>
        <p:spPr>
          <a:xfrm>
            <a:off x="179512" y="1482424"/>
            <a:ext cx="8712968" cy="5330952"/>
          </a:xfrm>
        </p:spPr>
        <p:txBody>
          <a:bodyPr>
            <a:noAutofit/>
          </a:bodyPr>
          <a:lstStyle/>
          <a:p>
            <a:pPr>
              <a:lnSpc>
                <a:spcPct val="90000"/>
              </a:lnSpc>
            </a:pPr>
            <a:r>
              <a:rPr lang="en-US" sz="2400" dirty="0"/>
              <a:t>Assume that </a:t>
            </a:r>
          </a:p>
          <a:p>
            <a:pPr lvl="1">
              <a:lnSpc>
                <a:spcPct val="90000"/>
              </a:lnSpc>
            </a:pPr>
            <a:r>
              <a:rPr lang="en-US" sz="1600" dirty="0"/>
              <a:t>the beta for </a:t>
            </a:r>
            <a:r>
              <a:rPr lang="en-US" sz="1600" dirty="0" err="1"/>
              <a:t>Embraer</a:t>
            </a:r>
            <a:r>
              <a:rPr lang="en-US" sz="1600" dirty="0"/>
              <a:t> is 1.07 and </a:t>
            </a:r>
            <a:r>
              <a:rPr lang="el-GR" sz="1600" dirty="0"/>
              <a:t>λ</a:t>
            </a:r>
            <a:r>
              <a:rPr lang="en-GB" sz="1600" dirty="0"/>
              <a:t> is 0.27</a:t>
            </a:r>
            <a:endParaRPr lang="en-US" sz="1600" dirty="0"/>
          </a:p>
          <a:p>
            <a:pPr lvl="1">
              <a:lnSpc>
                <a:spcPct val="90000"/>
              </a:lnSpc>
            </a:pPr>
            <a:r>
              <a:rPr lang="en-US" sz="1600" dirty="0"/>
              <a:t>the </a:t>
            </a:r>
            <a:r>
              <a:rPr lang="en-US" sz="1600" dirty="0" err="1"/>
              <a:t>riskfree</a:t>
            </a:r>
            <a:r>
              <a:rPr lang="en-US" sz="1600" dirty="0"/>
              <a:t> rate used is 4.29%. </a:t>
            </a:r>
          </a:p>
          <a:p>
            <a:pPr lvl="1">
              <a:lnSpc>
                <a:spcPct val="90000"/>
              </a:lnSpc>
            </a:pPr>
            <a:r>
              <a:rPr lang="en-US" sz="1600" dirty="0"/>
              <a:t>the risk premium for the US is 4.82% </a:t>
            </a:r>
          </a:p>
          <a:p>
            <a:pPr lvl="1">
              <a:lnSpc>
                <a:spcPct val="90000"/>
              </a:lnSpc>
            </a:pPr>
            <a:r>
              <a:rPr lang="en-US" sz="1600" dirty="0"/>
              <a:t>the country risk premium for Brazil is 7.89%.</a:t>
            </a:r>
          </a:p>
          <a:p>
            <a:pPr>
              <a:lnSpc>
                <a:spcPct val="90000"/>
              </a:lnSpc>
            </a:pPr>
            <a:r>
              <a:rPr lang="en-US" sz="2400" dirty="0"/>
              <a:t>Approach 1: </a:t>
            </a:r>
            <a:r>
              <a:rPr lang="en-US" sz="1600" dirty="0"/>
              <a:t>Assume that every company in the country is equally exposed to country risk. In this case, </a:t>
            </a:r>
          </a:p>
          <a:p>
            <a:pPr algn="ctr">
              <a:lnSpc>
                <a:spcPct val="90000"/>
              </a:lnSpc>
              <a:buFont typeface="Monotype Sorts" charset="2"/>
              <a:buNone/>
            </a:pPr>
            <a:r>
              <a:rPr lang="en-US" sz="2400" dirty="0"/>
              <a:t>E(Return) = 4.29% + 1.07 (4.82%) + 7.89% = 17.34%</a:t>
            </a:r>
          </a:p>
          <a:p>
            <a:pPr>
              <a:lnSpc>
                <a:spcPct val="90000"/>
              </a:lnSpc>
            </a:pPr>
            <a:r>
              <a:rPr lang="en-US" sz="2400" dirty="0"/>
              <a:t>Approach 2: </a:t>
            </a:r>
            <a:r>
              <a:rPr lang="en-US" sz="1600" dirty="0"/>
              <a:t>Assume that a company’s exposure to country risk is similar to its exposure to other market risk.</a:t>
            </a:r>
          </a:p>
          <a:p>
            <a:pPr algn="ctr">
              <a:lnSpc>
                <a:spcPct val="90000"/>
              </a:lnSpc>
              <a:buFont typeface="Monotype Sorts" charset="2"/>
              <a:buNone/>
            </a:pPr>
            <a:r>
              <a:rPr lang="en-US" sz="2400" dirty="0"/>
              <a:t>E(Return) = 4.29 % + 1.07 (4.82%+ 7.89%) = 17.89%</a:t>
            </a:r>
          </a:p>
          <a:p>
            <a:pPr>
              <a:lnSpc>
                <a:spcPct val="90000"/>
              </a:lnSpc>
            </a:pPr>
            <a:r>
              <a:rPr lang="en-US" sz="2400" dirty="0"/>
              <a:t>Approach 3: </a:t>
            </a:r>
            <a:r>
              <a:rPr lang="en-US" sz="1600" dirty="0"/>
              <a:t>Treat country risk as a separate risk factor and allow firms to have different exposures to country risk (perhaps based upon the proportion of their revenues come from non-domestic sales)</a:t>
            </a:r>
          </a:p>
          <a:p>
            <a:pPr algn="ctr">
              <a:lnSpc>
                <a:spcPct val="90000"/>
              </a:lnSpc>
              <a:buFont typeface="Monotype Sorts" charset="2"/>
              <a:buNone/>
            </a:pPr>
            <a:r>
              <a:rPr lang="en-US" sz="2400" dirty="0"/>
              <a:t>E(Return)= 4.29% + </a:t>
            </a:r>
            <a:r>
              <a:rPr lang="en-US" sz="2400" dirty="0">
                <a:latin typeface="Symbol" charset="2"/>
              </a:rPr>
              <a:t>1.07</a:t>
            </a:r>
            <a:r>
              <a:rPr lang="en-US" sz="2400" dirty="0"/>
              <a:t>(4.82%) + </a:t>
            </a:r>
            <a:r>
              <a:rPr lang="en-US" sz="2400" dirty="0">
                <a:latin typeface="Symbol" charset="2"/>
              </a:rPr>
              <a:t>0.27 (7.</a:t>
            </a:r>
            <a:r>
              <a:rPr lang="en-US" sz="2400" dirty="0"/>
              <a:t>%) = 11.58%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6291">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6291">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6291">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6291">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36291">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3629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205DC-81EE-CBE8-6421-EA13908289F4}"/>
              </a:ext>
            </a:extLst>
          </p:cNvPr>
          <p:cNvSpPr>
            <a:spLocks noGrp="1"/>
          </p:cNvSpPr>
          <p:nvPr>
            <p:ph type="title"/>
          </p:nvPr>
        </p:nvSpPr>
        <p:spPr>
          <a:xfrm>
            <a:off x="332232" y="334590"/>
            <a:ext cx="8534400" cy="758952"/>
          </a:xfrm>
        </p:spPr>
        <p:txBody>
          <a:bodyPr>
            <a:normAutofit fontScale="90000"/>
          </a:bodyPr>
          <a:lstStyle/>
          <a:p>
            <a:r>
              <a:rPr lang="en-GB" dirty="0"/>
              <a:t>What happens if the company operates in many countries?</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1B37394D-3719-D227-F5E9-B65FB074DAE1}"/>
                  </a:ext>
                </a:extLst>
              </p:cNvPr>
              <p:cNvGraphicFramePr>
                <a:graphicFrameLocks noGrp="1"/>
              </p:cNvGraphicFramePr>
              <p:nvPr>
                <p:ph sz="quarter" idx="1"/>
                <p:extLst>
                  <p:ext uri="{D42A27DB-BD31-4B8C-83A1-F6EECF244321}">
                    <p14:modId xmlns:p14="http://schemas.microsoft.com/office/powerpoint/2010/main" val="2317057196"/>
                  </p:ext>
                </p:extLst>
              </p:nvPr>
            </p:nvGraphicFramePr>
            <p:xfrm>
              <a:off x="301752" y="1527048"/>
              <a:ext cx="8503920" cy="49982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Choice>
        <mc:Fallback xmlns="">
          <p:graphicFrame>
            <p:nvGraphicFramePr>
              <p:cNvPr id="4" name="Content Placeholder 3">
                <a:extLst>
                  <a:ext uri="{FF2B5EF4-FFF2-40B4-BE49-F238E27FC236}">
                    <a16:creationId xmlns:a16="http://schemas.microsoft.com/office/drawing/2014/main" id="{1B37394D-3719-D227-F5E9-B65FB074DAE1}"/>
                  </a:ext>
                </a:extLst>
              </p:cNvPr>
              <p:cNvGraphicFramePr>
                <a:graphicFrameLocks noGrp="1"/>
              </p:cNvGraphicFramePr>
              <p:nvPr>
                <p:ph sz="quarter" idx="1"/>
                <p:extLst>
                  <p:ext uri="{D42A27DB-BD31-4B8C-83A1-F6EECF244321}">
                    <p14:modId xmlns:p14="http://schemas.microsoft.com/office/powerpoint/2010/main" val="2317057196"/>
                  </p:ext>
                </p:extLst>
              </p:nvPr>
            </p:nvGraphicFramePr>
            <p:xfrm>
              <a:off x="301752" y="1527048"/>
              <a:ext cx="8503920" cy="499829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mc:Fallback>
      </mc:AlternateContent>
    </p:spTree>
    <p:extLst>
      <p:ext uri="{BB962C8B-B14F-4D97-AF65-F5344CB8AC3E}">
        <p14:creationId xmlns:p14="http://schemas.microsoft.com/office/powerpoint/2010/main" val="18603709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5026B-E02E-74C9-A4AD-4ED3F6238A69}"/>
              </a:ext>
            </a:extLst>
          </p:cNvPr>
          <p:cNvSpPr>
            <a:spLocks noGrp="1"/>
          </p:cNvSpPr>
          <p:nvPr>
            <p:ph type="title"/>
          </p:nvPr>
        </p:nvSpPr>
        <p:spPr/>
        <p:txBody>
          <a:bodyPr/>
          <a:lstStyle/>
          <a:p>
            <a:r>
              <a:rPr lang="en-GB" dirty="0"/>
              <a:t>What is the MRP for Nestle?</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4" name="Content Placeholder 3">
                <a:extLst>
                  <a:ext uri="{FF2B5EF4-FFF2-40B4-BE49-F238E27FC236}">
                    <a16:creationId xmlns:a16="http://schemas.microsoft.com/office/drawing/2014/main" id="{2808EEAA-E550-679F-15AB-A742A95D8642}"/>
                  </a:ext>
                </a:extLst>
              </p:cNvPr>
              <p:cNvGraphicFramePr>
                <a:graphicFrameLocks noGrp="1"/>
              </p:cNvGraphicFramePr>
              <p:nvPr>
                <p:ph sz="quarter" idx="1"/>
                <p:extLst>
                  <p:ext uri="{D42A27DB-BD31-4B8C-83A1-F6EECF244321}">
                    <p14:modId xmlns:p14="http://schemas.microsoft.com/office/powerpoint/2010/main" val="2446154665"/>
                  </p:ext>
                </p:extLst>
              </p:nvPr>
            </p:nvGraphicFramePr>
            <p:xfrm>
              <a:off x="107504" y="1527174"/>
              <a:ext cx="8698359" cy="5070177"/>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4" name="Content Placeholder 3">
                <a:extLst>
                  <a:ext uri="{FF2B5EF4-FFF2-40B4-BE49-F238E27FC236}">
                    <a16:creationId xmlns:a16="http://schemas.microsoft.com/office/drawing/2014/main" id="{2808EEAA-E550-679F-15AB-A742A95D8642}"/>
                  </a:ext>
                </a:extLst>
              </p:cNvPr>
              <p:cNvPicPr>
                <a:picLocks noGrp="1" noRot="1" noChangeAspect="1" noMove="1" noResize="1" noEditPoints="1" noAdjustHandles="1" noChangeArrowheads="1" noChangeShapeType="1"/>
              </p:cNvPicPr>
              <p:nvPr/>
            </p:nvPicPr>
            <p:blipFill>
              <a:blip r:embed="rId3"/>
              <a:stretch>
                <a:fillRect/>
              </a:stretch>
            </p:blipFill>
            <p:spPr>
              <a:xfrm>
                <a:off x="107504" y="1527174"/>
                <a:ext cx="8698359" cy="5070177"/>
              </a:xfrm>
              <a:prstGeom prst="rect">
                <a:avLst/>
              </a:prstGeom>
            </p:spPr>
          </p:pic>
        </mc:Fallback>
      </mc:AlternateContent>
    </p:spTree>
    <p:extLst>
      <p:ext uri="{BB962C8B-B14F-4D97-AF65-F5344CB8AC3E}">
        <p14:creationId xmlns:p14="http://schemas.microsoft.com/office/powerpoint/2010/main" val="28612526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noChangeArrowheads="1"/>
          </p:cNvSpPr>
          <p:nvPr>
            <p:ph type="title"/>
          </p:nvPr>
        </p:nvSpPr>
        <p:spPr>
          <a:xfrm>
            <a:off x="301752" y="332656"/>
            <a:ext cx="8534400" cy="758952"/>
          </a:xfrm>
          <a:noFill/>
          <a:ln/>
        </p:spPr>
        <p:txBody>
          <a:bodyPr anchor="b">
            <a:normAutofit fontScale="90000"/>
          </a:bodyPr>
          <a:lstStyle/>
          <a:p>
            <a:r>
              <a:rPr lang="en-US" dirty="0"/>
              <a:t>iii. Corporate Risk Premium</a:t>
            </a:r>
            <a:br>
              <a:rPr lang="en-US" dirty="0"/>
            </a:br>
            <a:r>
              <a:rPr lang="en-US" dirty="0"/>
              <a:t>Estimating Beta</a:t>
            </a:r>
          </a:p>
        </p:txBody>
      </p:sp>
      <p:sp>
        <p:nvSpPr>
          <p:cNvPr id="227331" name="Rectangle 3"/>
          <p:cNvSpPr>
            <a:spLocks noGrp="1" noChangeArrowheads="1"/>
          </p:cNvSpPr>
          <p:nvPr>
            <p:ph sz="quarter" idx="1"/>
          </p:nvPr>
        </p:nvSpPr>
        <p:spPr>
          <a:noFill/>
          <a:ln/>
        </p:spPr>
        <p:txBody>
          <a:bodyPr>
            <a:normAutofit fontScale="92500" lnSpcReduction="10000"/>
          </a:bodyPr>
          <a:lstStyle/>
          <a:p>
            <a:r>
              <a:rPr lang="en-US"/>
              <a:t>The standard procedure for estimating betas is to regress stock returns (R</a:t>
            </a:r>
            <a:r>
              <a:rPr lang="en-US" baseline="-17000"/>
              <a:t>j</a:t>
            </a:r>
            <a:r>
              <a:rPr lang="en-US"/>
              <a:t>) against market returns (R</a:t>
            </a:r>
            <a:r>
              <a:rPr lang="en-US" baseline="-17000"/>
              <a:t>m</a:t>
            </a:r>
            <a:r>
              <a:rPr lang="en-US"/>
              <a:t>) -</a:t>
            </a:r>
          </a:p>
          <a:p>
            <a:pPr algn="ctr">
              <a:buFont typeface="Monotype Sorts" charset="2"/>
              <a:buNone/>
            </a:pPr>
            <a:r>
              <a:rPr lang="en-US"/>
              <a:t>R</a:t>
            </a:r>
            <a:r>
              <a:rPr lang="en-US" baseline="-17000"/>
              <a:t>j</a:t>
            </a:r>
            <a:r>
              <a:rPr lang="en-US"/>
              <a:t> = a + b R</a:t>
            </a:r>
            <a:r>
              <a:rPr lang="en-US" baseline="-17000"/>
              <a:t>m</a:t>
            </a:r>
            <a:endParaRPr lang="en-US"/>
          </a:p>
          <a:p>
            <a:pPr lvl="1"/>
            <a:r>
              <a:rPr lang="en-US"/>
              <a:t>where  a is the intercept and b is the slope of the regression. </a:t>
            </a:r>
          </a:p>
          <a:p>
            <a:r>
              <a:rPr lang="en-US"/>
              <a:t>The slope of the regression corresponds to the beta of the stock, and measures the riskiness of the stock. </a:t>
            </a:r>
          </a:p>
          <a:p>
            <a:r>
              <a:rPr lang="en-US"/>
              <a:t>This beta has three problems:</a:t>
            </a:r>
          </a:p>
          <a:p>
            <a:pPr lvl="1"/>
            <a:r>
              <a:rPr lang="en-US"/>
              <a:t>It has high standard error</a:t>
            </a:r>
          </a:p>
          <a:p>
            <a:pPr lvl="1"/>
            <a:r>
              <a:rPr lang="en-US"/>
              <a:t>It reflects the firm’s business mix over the period of the regression, not the current mix</a:t>
            </a:r>
          </a:p>
          <a:p>
            <a:pPr lvl="1"/>
            <a:r>
              <a:rPr lang="en-US"/>
              <a:t>It reflects the firm’s average financial leverage over the period rather than the current leverage.</a:t>
            </a:r>
          </a:p>
        </p:txBody>
      </p:sp>
      <p:graphicFrame>
        <p:nvGraphicFramePr>
          <p:cNvPr id="2" name="Object 1"/>
          <p:cNvGraphicFramePr>
            <a:graphicFrameLocks noChangeAspect="1"/>
          </p:cNvGraphicFramePr>
          <p:nvPr>
            <p:extLst>
              <p:ext uri="{D42A27DB-BD31-4B8C-83A1-F6EECF244321}">
                <p14:modId xmlns:p14="http://schemas.microsoft.com/office/powerpoint/2010/main" val="3936972474"/>
              </p:ext>
            </p:extLst>
          </p:nvPr>
        </p:nvGraphicFramePr>
        <p:xfrm>
          <a:off x="395536" y="332656"/>
          <a:ext cx="914400" cy="800100"/>
        </p:xfrm>
        <a:graphic>
          <a:graphicData uri="http://schemas.openxmlformats.org/presentationml/2006/ole">
            <mc:AlternateContent xmlns:mc="http://schemas.openxmlformats.org/markup-compatibility/2006">
              <mc:Choice xmlns:v="urn:schemas-microsoft-com:vml" Requires="v">
                <p:oleObj name="Worksheet" showAsIcon="1" r:id="rId3" imgW="914400" imgH="800280" progId="Excel.Sheet.8">
                  <p:embed/>
                </p:oleObj>
              </mc:Choice>
              <mc:Fallback>
                <p:oleObj name="Worksheet" showAsIcon="1" r:id="rId3" imgW="914400" imgH="800280" progId="Excel.Sheet.8">
                  <p:embed/>
                  <p:pic>
                    <p:nvPicPr>
                      <p:cNvPr id="2" name="Object 1"/>
                      <p:cNvPicPr>
                        <a:picLocks noChangeAspect="1" noChangeArrowheads="1"/>
                      </p:cNvPicPr>
                      <p:nvPr/>
                    </p:nvPicPr>
                    <p:blipFill>
                      <a:blip r:embed="rId4"/>
                      <a:srcRect/>
                      <a:stretch>
                        <a:fillRect/>
                      </a:stretch>
                    </p:blipFill>
                    <p:spPr bwMode="auto">
                      <a:xfrm>
                        <a:off x="395536" y="332656"/>
                        <a:ext cx="914400" cy="800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a:noFill/>
          <a:ln/>
        </p:spPr>
        <p:txBody>
          <a:bodyPr/>
          <a:lstStyle/>
          <a:p>
            <a:r>
              <a:rPr lang="en-US"/>
              <a:t>Solutions to the Regression Beta Problem</a:t>
            </a:r>
          </a:p>
        </p:txBody>
      </p:sp>
      <p:sp>
        <p:nvSpPr>
          <p:cNvPr id="232451" name="Rectangle 3"/>
          <p:cNvSpPr>
            <a:spLocks noGrp="1" noChangeArrowheads="1"/>
          </p:cNvSpPr>
          <p:nvPr>
            <p:ph sz="quarter" idx="1"/>
          </p:nvPr>
        </p:nvSpPr>
        <p:spPr>
          <a:xfrm>
            <a:off x="301752" y="1527048"/>
            <a:ext cx="8503920" cy="4926288"/>
          </a:xfrm>
          <a:noFill/>
          <a:ln/>
        </p:spPr>
        <p:txBody>
          <a:bodyPr>
            <a:normAutofit fontScale="85000" lnSpcReduction="10000"/>
          </a:bodyPr>
          <a:lstStyle/>
          <a:p>
            <a:r>
              <a:rPr lang="en-US" dirty="0"/>
              <a:t>Modify the regression beta by</a:t>
            </a:r>
          </a:p>
          <a:p>
            <a:pPr lvl="1"/>
            <a:r>
              <a:rPr lang="en-US" dirty="0"/>
              <a:t>changing the index used to estimate the beta </a:t>
            </a:r>
          </a:p>
          <a:p>
            <a:pPr lvl="1"/>
            <a:r>
              <a:rPr lang="en-US" dirty="0"/>
              <a:t>adjusting the regression beta estimate, by bringing in information about the fundamentals of the company</a:t>
            </a:r>
          </a:p>
          <a:p>
            <a:r>
              <a:rPr lang="en-US" dirty="0"/>
              <a:t>Estimate the beta for the firm using </a:t>
            </a:r>
          </a:p>
          <a:p>
            <a:pPr lvl="1"/>
            <a:r>
              <a:rPr lang="en-US" dirty="0"/>
              <a:t>the standard deviation in stock prices instead of a regression against an index</a:t>
            </a:r>
          </a:p>
          <a:p>
            <a:pPr lvl="1"/>
            <a:r>
              <a:rPr lang="en-US" dirty="0"/>
              <a:t>accounting earnings or revenues, which are less noisy than market prices.</a:t>
            </a:r>
          </a:p>
          <a:p>
            <a:r>
              <a:rPr lang="en-US" dirty="0"/>
              <a:t>Estimate the beta for the firm from the bottom up without employing the regression technique. This will require</a:t>
            </a:r>
          </a:p>
          <a:p>
            <a:pPr lvl="1"/>
            <a:r>
              <a:rPr lang="en-US" dirty="0"/>
              <a:t>understanding the business mix of the firm</a:t>
            </a:r>
          </a:p>
          <a:p>
            <a:pPr lvl="1"/>
            <a:r>
              <a:rPr lang="en-US" dirty="0"/>
              <a:t>estimating the financial leverage of the firm</a:t>
            </a:r>
          </a:p>
          <a:p>
            <a:r>
              <a:rPr lang="en-US" dirty="0"/>
              <a:t>Use an alternative measure of market risk not based upon a regression.</a:t>
            </a: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1562764079"/>
              </p:ext>
            </p:extLst>
          </p:nvPr>
        </p:nvGraphicFramePr>
        <p:xfrm>
          <a:off x="179512" y="116632"/>
          <a:ext cx="8626160" cy="65527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9362" name="Rectangle 2"/>
          <p:cNvSpPr>
            <a:spLocks noGrp="1" noChangeArrowheads="1"/>
          </p:cNvSpPr>
          <p:nvPr>
            <p:ph type="title"/>
          </p:nvPr>
        </p:nvSpPr>
        <p:spPr>
          <a:xfrm>
            <a:off x="301752" y="332656"/>
            <a:ext cx="8534400" cy="758952"/>
          </a:xfrm>
        </p:spPr>
        <p:txBody>
          <a:bodyPr>
            <a:normAutofit fontScale="90000"/>
          </a:bodyPr>
          <a:lstStyle/>
          <a:p>
            <a:r>
              <a:rPr lang="en-US" dirty="0"/>
              <a:t>In a perfect world… we would estimate the beta of a firm by doing the following</a:t>
            </a:r>
          </a:p>
        </p:txBody>
      </p:sp>
      <p:graphicFrame>
        <p:nvGraphicFramePr>
          <p:cNvPr id="3" name="Diagram 2"/>
          <p:cNvGraphicFramePr/>
          <p:nvPr>
            <p:extLst>
              <p:ext uri="{D42A27DB-BD31-4B8C-83A1-F6EECF244321}">
                <p14:modId xmlns:p14="http://schemas.microsoft.com/office/powerpoint/2010/main" val="3867848775"/>
              </p:ext>
            </p:extLst>
          </p:nvPr>
        </p:nvGraphicFramePr>
        <p:xfrm>
          <a:off x="107504" y="1268760"/>
          <a:ext cx="8964488" cy="54726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 Example:</a:t>
            </a:r>
            <a:r>
              <a:rPr lang="el-GR" dirty="0"/>
              <a:t> </a:t>
            </a:r>
            <a:r>
              <a:rPr lang="en-GB" dirty="0"/>
              <a:t>SNCF </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301752" y="1340768"/>
                <a:ext cx="8503920" cy="5328592"/>
              </a:xfrm>
            </p:spPr>
            <p:txBody>
              <a:bodyPr>
                <a:normAutofit fontScale="55000" lnSpcReduction="20000"/>
              </a:bodyPr>
              <a:lstStyle/>
              <a:p>
                <a:r>
                  <a:rPr lang="en-GB" dirty="0"/>
                  <a:t>In 2014</a:t>
                </a:r>
              </a:p>
              <a:p>
                <a:pPr lvl="1"/>
                <a:r>
                  <a:rPr lang="en-GB" dirty="0"/>
                  <a:t>Unlevered beta for Transportation (Rail) is 0.92</a:t>
                </a:r>
              </a:p>
              <a:p>
                <a:pPr lvl="1"/>
                <a:r>
                  <a:rPr lang="en-GB" dirty="0"/>
                  <a:t>It is very common that it is very difficult to find information about fixed/variable costs. We will assume that all firms in the industry face similar structure.</a:t>
                </a:r>
              </a:p>
              <a:p>
                <a:pPr lvl="1"/>
                <a:r>
                  <a:rPr lang="en-GB" dirty="0"/>
                  <a:t>Book value of Debt to Equity ratio is (17,837/5,000=3.564)  (pages 79 and 91)</a:t>
                </a:r>
              </a:p>
              <a:p>
                <a:pPr lvl="1"/>
                <a:r>
                  <a:rPr lang="en-GB" dirty="0"/>
                  <a:t>The average tax </a:t>
                </a:r>
                <a:r>
                  <a:rPr lang="en-GB"/>
                  <a:t>rate (Tax </a:t>
                </a:r>
                <a:r>
                  <a:rPr lang="en-GB" dirty="0"/>
                  <a:t>Payments/Taxable Income) is around 50% (page 67)</a:t>
                </a:r>
              </a:p>
              <a:p>
                <a:pPr marL="274320" lvl="1" indent="0">
                  <a:buNone/>
                </a:pPr>
                <a:endParaRPr lang="en-GB" dirty="0"/>
              </a:p>
              <a:p>
                <a:pPr marL="274320" lvl="1" indent="0">
                  <a:buNone/>
                </a:pPr>
                <a14:m>
                  <m:oMathPara xmlns:m="http://schemas.openxmlformats.org/officeDocument/2006/math">
                    <m:oMath>
                      <m:sSub>
                        <m:sSubPr>
                          <m:ctrlPr>
                            <a:rPr lang="el-GR" sz="2900" b="1" i="1">
                              <a:latin typeface="Cambria Math" panose="02040503050406030204" pitchFamily="18" charset="0"/>
                            </a:rPr>
                          </m:ctrlPr>
                        </m:sSubPr>
                        <m:e>
                          <m:r>
                            <a:rPr lang="el-GR" sz="2900" b="1" i="1">
                              <a:latin typeface="Cambria Math" panose="02040503050406030204" pitchFamily="18" charset="0"/>
                            </a:rPr>
                            <m:t>𝜷</m:t>
                          </m:r>
                        </m:e>
                        <m:sub>
                          <m:r>
                            <a:rPr lang="en-GB" sz="2900" b="1" i="1">
                              <a:latin typeface="Cambria Math" panose="02040503050406030204" pitchFamily="18" charset="0"/>
                            </a:rPr>
                            <m:t>𝒍</m:t>
                          </m:r>
                          <m:r>
                            <a:rPr lang="en-GB" sz="2900" b="1" i="1">
                              <a:latin typeface="Cambria Math" panose="02040503050406030204" pitchFamily="18" charset="0"/>
                            </a:rPr>
                            <m:t>,</m:t>
                          </m:r>
                          <m:r>
                            <a:rPr lang="en-GB" sz="2900" b="1" i="1">
                              <a:latin typeface="Cambria Math" panose="02040503050406030204" pitchFamily="18" charset="0"/>
                            </a:rPr>
                            <m:t>𝟐𝟎𝟏𝟒</m:t>
                          </m:r>
                        </m:sub>
                      </m:sSub>
                      <m:r>
                        <a:rPr lang="en-GB" sz="2900" b="1" i="1">
                          <a:latin typeface="Cambria Math" panose="02040503050406030204" pitchFamily="18" charset="0"/>
                        </a:rPr>
                        <m:t>=</m:t>
                      </m:r>
                      <m:sSub>
                        <m:sSubPr>
                          <m:ctrlPr>
                            <a:rPr lang="el-GR" sz="2900" b="1" i="1">
                              <a:latin typeface="Cambria Math" panose="02040503050406030204" pitchFamily="18" charset="0"/>
                            </a:rPr>
                          </m:ctrlPr>
                        </m:sSubPr>
                        <m:e>
                          <m:r>
                            <a:rPr lang="el-GR" sz="2900" b="1" i="1">
                              <a:latin typeface="Cambria Math" panose="02040503050406030204" pitchFamily="18" charset="0"/>
                            </a:rPr>
                            <m:t>𝜷</m:t>
                          </m:r>
                        </m:e>
                        <m:sub>
                          <m:r>
                            <a:rPr lang="en-GB" sz="2900" b="1" i="1">
                              <a:latin typeface="Cambria Math" panose="02040503050406030204" pitchFamily="18" charset="0"/>
                            </a:rPr>
                            <m:t>𝒖</m:t>
                          </m:r>
                          <m:r>
                            <a:rPr lang="en-GB" sz="2900" b="1" i="1">
                              <a:latin typeface="Cambria Math" panose="02040503050406030204" pitchFamily="18" charset="0"/>
                            </a:rPr>
                            <m:t>,</m:t>
                          </m:r>
                          <m:r>
                            <a:rPr lang="en-GB" sz="2900" b="1" i="1">
                              <a:latin typeface="Cambria Math" panose="02040503050406030204" pitchFamily="18" charset="0"/>
                            </a:rPr>
                            <m:t>𝟐𝟎𝟏𝟑</m:t>
                          </m:r>
                        </m:sub>
                      </m:sSub>
                      <m:d>
                        <m:dPr>
                          <m:ctrlPr>
                            <a:rPr lang="en-GB" sz="2900" b="1" i="1">
                              <a:latin typeface="Cambria Math" panose="02040503050406030204" pitchFamily="18" charset="0"/>
                            </a:rPr>
                          </m:ctrlPr>
                        </m:dPr>
                        <m:e>
                          <m:r>
                            <a:rPr lang="en-GB" sz="2900" b="1" i="1">
                              <a:latin typeface="Cambria Math" panose="02040503050406030204" pitchFamily="18" charset="0"/>
                            </a:rPr>
                            <m:t>𝟏</m:t>
                          </m:r>
                          <m:r>
                            <a:rPr lang="en-GB" sz="2900" b="1" i="1">
                              <a:latin typeface="Cambria Math" panose="02040503050406030204" pitchFamily="18" charset="0"/>
                            </a:rPr>
                            <m:t>+</m:t>
                          </m:r>
                          <m:d>
                            <m:dPr>
                              <m:ctrlPr>
                                <a:rPr lang="en-GB" sz="2900" b="1" i="1">
                                  <a:latin typeface="Cambria Math" panose="02040503050406030204" pitchFamily="18" charset="0"/>
                                </a:rPr>
                              </m:ctrlPr>
                            </m:dPr>
                            <m:e>
                              <m:r>
                                <a:rPr lang="en-GB" sz="2900" b="1" i="1">
                                  <a:latin typeface="Cambria Math" panose="02040503050406030204" pitchFamily="18" charset="0"/>
                                </a:rPr>
                                <m:t>𝟏</m:t>
                              </m:r>
                              <m:r>
                                <a:rPr lang="en-GB" sz="2900" b="1" i="1">
                                  <a:latin typeface="Cambria Math" panose="02040503050406030204" pitchFamily="18" charset="0"/>
                                </a:rPr>
                                <m:t>−</m:t>
                              </m:r>
                              <m:sSub>
                                <m:sSubPr>
                                  <m:ctrlPr>
                                    <a:rPr lang="en-GB" sz="2900" b="1" i="1">
                                      <a:latin typeface="Cambria Math" panose="02040503050406030204" pitchFamily="18" charset="0"/>
                                    </a:rPr>
                                  </m:ctrlPr>
                                </m:sSubPr>
                                <m:e>
                                  <m:r>
                                    <a:rPr lang="en-GB" sz="2900" b="1" i="1">
                                      <a:latin typeface="Cambria Math" panose="02040503050406030204" pitchFamily="18" charset="0"/>
                                    </a:rPr>
                                    <m:t>𝑻</m:t>
                                  </m:r>
                                </m:e>
                                <m:sub>
                                  <m:r>
                                    <a:rPr lang="en-GB" sz="2900" b="1" i="1">
                                      <a:latin typeface="Cambria Math" panose="02040503050406030204" pitchFamily="18" charset="0"/>
                                    </a:rPr>
                                    <m:t>𝟐𝟎𝟏𝟑</m:t>
                                  </m:r>
                                </m:sub>
                              </m:sSub>
                            </m:e>
                          </m:d>
                          <m:sSub>
                            <m:sSubPr>
                              <m:ctrlPr>
                                <a:rPr lang="en-GB" sz="2900" b="1" i="1">
                                  <a:latin typeface="Cambria Math" panose="02040503050406030204" pitchFamily="18" charset="0"/>
                                </a:rPr>
                              </m:ctrlPr>
                            </m:sSubPr>
                            <m:e>
                              <m:f>
                                <m:fPr>
                                  <m:ctrlPr>
                                    <a:rPr lang="en-GB" sz="2900" b="1" i="1">
                                      <a:latin typeface="Cambria Math" panose="02040503050406030204" pitchFamily="18" charset="0"/>
                                    </a:rPr>
                                  </m:ctrlPr>
                                </m:fPr>
                                <m:num>
                                  <m:r>
                                    <a:rPr lang="en-GB" sz="2900" b="1" i="1">
                                      <a:latin typeface="Cambria Math" panose="02040503050406030204" pitchFamily="18" charset="0"/>
                                    </a:rPr>
                                    <m:t>𝑫</m:t>
                                  </m:r>
                                </m:num>
                                <m:den>
                                  <m:r>
                                    <a:rPr lang="en-GB" sz="2900" b="1" i="1">
                                      <a:latin typeface="Cambria Math" panose="02040503050406030204" pitchFamily="18" charset="0"/>
                                    </a:rPr>
                                    <m:t>𝑬</m:t>
                                  </m:r>
                                </m:den>
                              </m:f>
                            </m:e>
                            <m:sub>
                              <m:r>
                                <a:rPr lang="en-GB" sz="2900" b="1" i="1">
                                  <a:latin typeface="Cambria Math" panose="02040503050406030204" pitchFamily="18" charset="0"/>
                                </a:rPr>
                                <m:t>𝟐𝟎𝟏𝟑</m:t>
                              </m:r>
                            </m:sub>
                          </m:sSub>
                        </m:e>
                      </m:d>
                      <m:r>
                        <a:rPr lang="en-GB" sz="2900" b="1" i="1">
                          <a:latin typeface="Cambria Math" panose="02040503050406030204" pitchFamily="18" charset="0"/>
                        </a:rPr>
                        <m:t>=</m:t>
                      </m:r>
                      <m:r>
                        <a:rPr lang="en-GB" sz="2900" b="1" i="1">
                          <a:latin typeface="Cambria Math" panose="02040503050406030204" pitchFamily="18" charset="0"/>
                        </a:rPr>
                        <m:t>𝟎</m:t>
                      </m:r>
                      <m:r>
                        <a:rPr lang="en-GB" sz="2900" b="1" i="1">
                          <a:latin typeface="Cambria Math" panose="02040503050406030204" pitchFamily="18" charset="0"/>
                        </a:rPr>
                        <m:t>.</m:t>
                      </m:r>
                      <m:r>
                        <a:rPr lang="en-GB" sz="2900" b="1" i="1">
                          <a:latin typeface="Cambria Math" panose="02040503050406030204" pitchFamily="18" charset="0"/>
                        </a:rPr>
                        <m:t>𝟗𝟐</m:t>
                      </m:r>
                      <m:d>
                        <m:dPr>
                          <m:ctrlPr>
                            <a:rPr lang="en-GB" sz="2900" b="1" i="1">
                              <a:latin typeface="Cambria Math" panose="02040503050406030204" pitchFamily="18" charset="0"/>
                            </a:rPr>
                          </m:ctrlPr>
                        </m:dPr>
                        <m:e>
                          <m:r>
                            <a:rPr lang="en-GB" sz="2900" b="1" i="1">
                              <a:latin typeface="Cambria Math" panose="02040503050406030204" pitchFamily="18" charset="0"/>
                            </a:rPr>
                            <m:t>𝟏</m:t>
                          </m:r>
                          <m:r>
                            <a:rPr lang="en-GB" sz="2900" b="1" i="1">
                              <a:latin typeface="Cambria Math" panose="02040503050406030204" pitchFamily="18" charset="0"/>
                            </a:rPr>
                            <m:t>+</m:t>
                          </m:r>
                          <m:d>
                            <m:dPr>
                              <m:ctrlPr>
                                <a:rPr lang="en-GB" sz="2900" b="1" i="1">
                                  <a:latin typeface="Cambria Math" panose="02040503050406030204" pitchFamily="18" charset="0"/>
                                </a:rPr>
                              </m:ctrlPr>
                            </m:dPr>
                            <m:e>
                              <m:r>
                                <a:rPr lang="en-GB" sz="2900" b="1" i="1">
                                  <a:latin typeface="Cambria Math" panose="02040503050406030204" pitchFamily="18" charset="0"/>
                                </a:rPr>
                                <m:t>𝟏</m:t>
                              </m:r>
                              <m:r>
                                <a:rPr lang="en-GB" sz="2900" b="1" i="1">
                                  <a:latin typeface="Cambria Math" panose="02040503050406030204" pitchFamily="18" charset="0"/>
                                </a:rPr>
                                <m:t>−</m:t>
                              </m:r>
                              <m:r>
                                <a:rPr lang="en-GB" sz="2900" b="1" i="1">
                                  <a:latin typeface="Cambria Math" panose="02040503050406030204" pitchFamily="18" charset="0"/>
                                </a:rPr>
                                <m:t>𝟎</m:t>
                              </m:r>
                              <m:r>
                                <a:rPr lang="en-GB" sz="2900" b="1" i="1">
                                  <a:latin typeface="Cambria Math" panose="02040503050406030204" pitchFamily="18" charset="0"/>
                                </a:rPr>
                                <m:t>.</m:t>
                              </m:r>
                              <m:r>
                                <a:rPr lang="en-GB" sz="2900" b="1" i="1">
                                  <a:latin typeface="Cambria Math" panose="02040503050406030204" pitchFamily="18" charset="0"/>
                                </a:rPr>
                                <m:t>𝟓</m:t>
                              </m:r>
                            </m:e>
                          </m:d>
                          <m:r>
                            <a:rPr lang="en-GB" sz="2900" b="1" i="1">
                              <a:latin typeface="Cambria Math" panose="02040503050406030204" pitchFamily="18" charset="0"/>
                            </a:rPr>
                            <m:t>𝟑</m:t>
                          </m:r>
                          <m:r>
                            <a:rPr lang="en-GB" sz="2900" b="1" i="1">
                              <a:latin typeface="Cambria Math" panose="02040503050406030204" pitchFamily="18" charset="0"/>
                            </a:rPr>
                            <m:t>.</m:t>
                          </m:r>
                          <m:r>
                            <a:rPr lang="en-GB" sz="2900" b="1" i="1">
                              <a:latin typeface="Cambria Math" panose="02040503050406030204" pitchFamily="18" charset="0"/>
                            </a:rPr>
                            <m:t>𝟓𝟔𝟒</m:t>
                          </m:r>
                        </m:e>
                      </m:d>
                      <m:r>
                        <a:rPr lang="en-GB" sz="2900" b="1" i="1">
                          <a:latin typeface="Cambria Math" panose="02040503050406030204" pitchFamily="18" charset="0"/>
                        </a:rPr>
                        <m:t>=</m:t>
                      </m:r>
                      <m:r>
                        <a:rPr lang="en-GB" sz="2900" b="1" i="1">
                          <a:latin typeface="Cambria Math" panose="02040503050406030204" pitchFamily="18" charset="0"/>
                        </a:rPr>
                        <m:t>𝟐</m:t>
                      </m:r>
                      <m:r>
                        <a:rPr lang="en-GB" sz="2900" b="1" i="1">
                          <a:latin typeface="Cambria Math" panose="02040503050406030204" pitchFamily="18" charset="0"/>
                        </a:rPr>
                        <m:t>.</m:t>
                      </m:r>
                      <m:r>
                        <a:rPr lang="en-GB" sz="2900" b="1" i="1">
                          <a:latin typeface="Cambria Math" panose="02040503050406030204" pitchFamily="18" charset="0"/>
                        </a:rPr>
                        <m:t>𝟓𝟓𝟗𝟒</m:t>
                      </m:r>
                    </m:oMath>
                  </m:oMathPara>
                </a14:m>
                <a:endParaRPr lang="en-GB" sz="3300" dirty="0"/>
              </a:p>
              <a:p>
                <a:r>
                  <a:rPr lang="en-GB" dirty="0"/>
                  <a:t>In 2017</a:t>
                </a:r>
              </a:p>
              <a:p>
                <a:pPr lvl="1"/>
                <a:r>
                  <a:rPr lang="en-GB" dirty="0"/>
                  <a:t>Unlevered beta for Transportation (Rail) is 0.86</a:t>
                </a:r>
              </a:p>
              <a:p>
                <a:pPr lvl="1"/>
                <a:r>
                  <a:rPr lang="en-GB" dirty="0" err="1"/>
                  <a:t>Eikon</a:t>
                </a:r>
                <a:r>
                  <a:rPr lang="en-GB" dirty="0"/>
                  <a:t> reports D/E =4.06</a:t>
                </a:r>
              </a:p>
              <a:p>
                <a:pPr lvl="1"/>
                <a:r>
                  <a:rPr lang="en-GB" dirty="0"/>
                  <a:t>Tax is about 38.6%</a:t>
                </a:r>
              </a:p>
              <a:p>
                <a:pPr lvl="1"/>
                <a:endParaRPr lang="en-GB" dirty="0"/>
              </a:p>
              <a:p>
                <a:pPr marL="274320" lvl="1" indent="0">
                  <a:buNone/>
                </a:pPr>
                <a14:m>
                  <m:oMathPara xmlns:m="http://schemas.openxmlformats.org/officeDocument/2006/math">
                    <m:oMath>
                      <m:sSub>
                        <m:sSubPr>
                          <m:ctrlPr>
                            <a:rPr lang="el-GR" sz="2900" b="1" i="1">
                              <a:latin typeface="Cambria Math" panose="02040503050406030204" pitchFamily="18" charset="0"/>
                            </a:rPr>
                          </m:ctrlPr>
                        </m:sSubPr>
                        <m:e>
                          <m:r>
                            <a:rPr lang="el-GR" sz="2900" b="1" i="1">
                              <a:latin typeface="Cambria Math" panose="02040503050406030204" pitchFamily="18" charset="0"/>
                            </a:rPr>
                            <m:t>𝜷</m:t>
                          </m:r>
                        </m:e>
                        <m:sub>
                          <m:r>
                            <a:rPr lang="en-GB" sz="2900" b="1" i="1">
                              <a:latin typeface="Cambria Math" panose="02040503050406030204" pitchFamily="18" charset="0"/>
                            </a:rPr>
                            <m:t>𝒍</m:t>
                          </m:r>
                          <m:r>
                            <a:rPr lang="en-GB" sz="2900" b="1" i="1">
                              <a:latin typeface="Cambria Math" panose="02040503050406030204" pitchFamily="18" charset="0"/>
                            </a:rPr>
                            <m:t>,</m:t>
                          </m:r>
                          <m:r>
                            <a:rPr lang="en-GB" sz="2900" b="1" i="1">
                              <a:latin typeface="Cambria Math" panose="02040503050406030204" pitchFamily="18" charset="0"/>
                            </a:rPr>
                            <m:t>𝟐𝟎𝟏𝟕</m:t>
                          </m:r>
                        </m:sub>
                      </m:sSub>
                      <m:r>
                        <a:rPr lang="en-GB" sz="2900" b="1" i="1">
                          <a:latin typeface="Cambria Math" panose="02040503050406030204" pitchFamily="18" charset="0"/>
                        </a:rPr>
                        <m:t>=</m:t>
                      </m:r>
                      <m:sSub>
                        <m:sSubPr>
                          <m:ctrlPr>
                            <a:rPr lang="el-GR" sz="2900" b="1" i="1">
                              <a:latin typeface="Cambria Math" panose="02040503050406030204" pitchFamily="18" charset="0"/>
                            </a:rPr>
                          </m:ctrlPr>
                        </m:sSubPr>
                        <m:e>
                          <m:r>
                            <a:rPr lang="el-GR" sz="2900" b="1" i="1">
                              <a:latin typeface="Cambria Math" panose="02040503050406030204" pitchFamily="18" charset="0"/>
                            </a:rPr>
                            <m:t>𝜷</m:t>
                          </m:r>
                        </m:e>
                        <m:sub>
                          <m:r>
                            <a:rPr lang="en-GB" sz="2900" b="1" i="1">
                              <a:latin typeface="Cambria Math" panose="02040503050406030204" pitchFamily="18" charset="0"/>
                            </a:rPr>
                            <m:t>𝒖</m:t>
                          </m:r>
                          <m:r>
                            <a:rPr lang="en-GB" sz="2900" b="1" i="1">
                              <a:latin typeface="Cambria Math" panose="02040503050406030204" pitchFamily="18" charset="0"/>
                            </a:rPr>
                            <m:t>,</m:t>
                          </m:r>
                          <m:r>
                            <a:rPr lang="en-GB" sz="2900" b="1" i="1">
                              <a:latin typeface="Cambria Math" panose="02040503050406030204" pitchFamily="18" charset="0"/>
                            </a:rPr>
                            <m:t>𝟐𝟎𝟏𝟔</m:t>
                          </m:r>
                        </m:sub>
                      </m:sSub>
                      <m:d>
                        <m:dPr>
                          <m:ctrlPr>
                            <a:rPr lang="en-GB" sz="2900" b="1" i="1">
                              <a:latin typeface="Cambria Math" panose="02040503050406030204" pitchFamily="18" charset="0"/>
                            </a:rPr>
                          </m:ctrlPr>
                        </m:dPr>
                        <m:e>
                          <m:r>
                            <a:rPr lang="en-GB" sz="2900" b="1" i="1">
                              <a:latin typeface="Cambria Math" panose="02040503050406030204" pitchFamily="18" charset="0"/>
                            </a:rPr>
                            <m:t>𝟏</m:t>
                          </m:r>
                          <m:r>
                            <a:rPr lang="en-GB" sz="2900" b="1" i="1">
                              <a:latin typeface="Cambria Math" panose="02040503050406030204" pitchFamily="18" charset="0"/>
                            </a:rPr>
                            <m:t>+</m:t>
                          </m:r>
                          <m:d>
                            <m:dPr>
                              <m:ctrlPr>
                                <a:rPr lang="en-GB" sz="2900" b="1" i="1">
                                  <a:latin typeface="Cambria Math" panose="02040503050406030204" pitchFamily="18" charset="0"/>
                                </a:rPr>
                              </m:ctrlPr>
                            </m:dPr>
                            <m:e>
                              <m:r>
                                <a:rPr lang="en-GB" sz="2900" b="1" i="1">
                                  <a:latin typeface="Cambria Math" panose="02040503050406030204" pitchFamily="18" charset="0"/>
                                </a:rPr>
                                <m:t>𝟏</m:t>
                              </m:r>
                              <m:r>
                                <a:rPr lang="en-GB" sz="2900" b="1" i="1">
                                  <a:latin typeface="Cambria Math" panose="02040503050406030204" pitchFamily="18" charset="0"/>
                                </a:rPr>
                                <m:t>−</m:t>
                              </m:r>
                              <m:sSub>
                                <m:sSubPr>
                                  <m:ctrlPr>
                                    <a:rPr lang="en-GB" sz="2900" b="1" i="1">
                                      <a:latin typeface="Cambria Math" panose="02040503050406030204" pitchFamily="18" charset="0"/>
                                    </a:rPr>
                                  </m:ctrlPr>
                                </m:sSubPr>
                                <m:e>
                                  <m:r>
                                    <a:rPr lang="en-GB" sz="2900" b="1" i="1">
                                      <a:latin typeface="Cambria Math" panose="02040503050406030204" pitchFamily="18" charset="0"/>
                                    </a:rPr>
                                    <m:t>𝑻</m:t>
                                  </m:r>
                                </m:e>
                                <m:sub>
                                  <m:r>
                                    <a:rPr lang="en-GB" sz="2900" b="1" i="1">
                                      <a:latin typeface="Cambria Math" panose="02040503050406030204" pitchFamily="18" charset="0"/>
                                    </a:rPr>
                                    <m:t>𝟐𝟎𝟏</m:t>
                                  </m:r>
                                  <m:r>
                                    <a:rPr lang="en-GB" sz="2900" b="1" i="1" smtClean="0">
                                      <a:latin typeface="Cambria Math" panose="02040503050406030204" pitchFamily="18" charset="0"/>
                                    </a:rPr>
                                    <m:t>𝟔</m:t>
                                  </m:r>
                                </m:sub>
                              </m:sSub>
                            </m:e>
                          </m:d>
                          <m:sSub>
                            <m:sSubPr>
                              <m:ctrlPr>
                                <a:rPr lang="en-GB" sz="2900" b="1" i="1">
                                  <a:latin typeface="Cambria Math" panose="02040503050406030204" pitchFamily="18" charset="0"/>
                                </a:rPr>
                              </m:ctrlPr>
                            </m:sSubPr>
                            <m:e>
                              <m:f>
                                <m:fPr>
                                  <m:ctrlPr>
                                    <a:rPr lang="en-GB" sz="2900" b="1" i="1">
                                      <a:latin typeface="Cambria Math" panose="02040503050406030204" pitchFamily="18" charset="0"/>
                                    </a:rPr>
                                  </m:ctrlPr>
                                </m:fPr>
                                <m:num>
                                  <m:r>
                                    <a:rPr lang="en-GB" sz="2900" b="1" i="1">
                                      <a:latin typeface="Cambria Math" panose="02040503050406030204" pitchFamily="18" charset="0"/>
                                    </a:rPr>
                                    <m:t>𝑫</m:t>
                                  </m:r>
                                </m:num>
                                <m:den>
                                  <m:r>
                                    <a:rPr lang="en-GB" sz="2900" b="1" i="1">
                                      <a:latin typeface="Cambria Math" panose="02040503050406030204" pitchFamily="18" charset="0"/>
                                    </a:rPr>
                                    <m:t>𝑬</m:t>
                                  </m:r>
                                </m:den>
                              </m:f>
                            </m:e>
                            <m:sub>
                              <m:r>
                                <a:rPr lang="en-GB" sz="2900" b="1" i="1">
                                  <a:latin typeface="Cambria Math" panose="02040503050406030204" pitchFamily="18" charset="0"/>
                                </a:rPr>
                                <m:t>𝟐𝟎𝟏</m:t>
                              </m:r>
                              <m:r>
                                <a:rPr lang="en-GB" sz="2900" b="1" i="1" smtClean="0">
                                  <a:latin typeface="Cambria Math" panose="02040503050406030204" pitchFamily="18" charset="0"/>
                                </a:rPr>
                                <m:t>𝟔</m:t>
                              </m:r>
                            </m:sub>
                          </m:sSub>
                        </m:e>
                      </m:d>
                      <m:r>
                        <a:rPr lang="en-GB" sz="2900" b="1" i="1">
                          <a:latin typeface="Cambria Math" panose="02040503050406030204" pitchFamily="18" charset="0"/>
                        </a:rPr>
                        <m:t>=</m:t>
                      </m:r>
                      <m:r>
                        <a:rPr lang="en-GB" sz="2900" b="1" i="1">
                          <a:latin typeface="Cambria Math" panose="02040503050406030204" pitchFamily="18" charset="0"/>
                        </a:rPr>
                        <m:t>𝟎</m:t>
                      </m:r>
                      <m:r>
                        <a:rPr lang="en-GB" sz="2900" b="1" i="1">
                          <a:latin typeface="Cambria Math" panose="02040503050406030204" pitchFamily="18" charset="0"/>
                        </a:rPr>
                        <m:t>.</m:t>
                      </m:r>
                      <m:r>
                        <a:rPr lang="en-GB" sz="2900" b="1" i="1" smtClean="0">
                          <a:latin typeface="Cambria Math" panose="02040503050406030204" pitchFamily="18" charset="0"/>
                        </a:rPr>
                        <m:t>𝟖𝟔</m:t>
                      </m:r>
                      <m:d>
                        <m:dPr>
                          <m:ctrlPr>
                            <a:rPr lang="en-GB" sz="2900" b="1" i="1">
                              <a:latin typeface="Cambria Math" panose="02040503050406030204" pitchFamily="18" charset="0"/>
                            </a:rPr>
                          </m:ctrlPr>
                        </m:dPr>
                        <m:e>
                          <m:r>
                            <a:rPr lang="en-GB" sz="2900" b="1" i="1">
                              <a:latin typeface="Cambria Math" panose="02040503050406030204" pitchFamily="18" charset="0"/>
                            </a:rPr>
                            <m:t>𝟏</m:t>
                          </m:r>
                          <m:r>
                            <a:rPr lang="en-GB" sz="2900" b="1" i="1">
                              <a:latin typeface="Cambria Math" panose="02040503050406030204" pitchFamily="18" charset="0"/>
                            </a:rPr>
                            <m:t>+</m:t>
                          </m:r>
                          <m:d>
                            <m:dPr>
                              <m:ctrlPr>
                                <a:rPr lang="en-GB" sz="2900" b="1" i="1">
                                  <a:latin typeface="Cambria Math" panose="02040503050406030204" pitchFamily="18" charset="0"/>
                                </a:rPr>
                              </m:ctrlPr>
                            </m:dPr>
                            <m:e>
                              <m:r>
                                <a:rPr lang="en-GB" sz="2900" b="1" i="1">
                                  <a:latin typeface="Cambria Math" panose="02040503050406030204" pitchFamily="18" charset="0"/>
                                </a:rPr>
                                <m:t>𝟏</m:t>
                              </m:r>
                              <m:r>
                                <a:rPr lang="en-GB" sz="2900" b="1" i="1">
                                  <a:latin typeface="Cambria Math" panose="02040503050406030204" pitchFamily="18" charset="0"/>
                                </a:rPr>
                                <m:t>−</m:t>
                              </m:r>
                              <m:r>
                                <a:rPr lang="en-GB" sz="2900" b="1" i="1">
                                  <a:latin typeface="Cambria Math" panose="02040503050406030204" pitchFamily="18" charset="0"/>
                                </a:rPr>
                                <m:t>𝟎</m:t>
                              </m:r>
                              <m:r>
                                <a:rPr lang="en-GB" sz="2900" b="1" i="1">
                                  <a:latin typeface="Cambria Math" panose="02040503050406030204" pitchFamily="18" charset="0"/>
                                </a:rPr>
                                <m:t>.</m:t>
                              </m:r>
                              <m:r>
                                <a:rPr lang="en-GB" sz="2900" b="1" i="1" smtClean="0">
                                  <a:latin typeface="Cambria Math" panose="02040503050406030204" pitchFamily="18" charset="0"/>
                                </a:rPr>
                                <m:t>𝟑𝟖𝟔</m:t>
                              </m:r>
                            </m:e>
                          </m:d>
                          <m:r>
                            <a:rPr lang="en-GB" sz="2900" b="1" i="1" smtClean="0">
                              <a:latin typeface="Cambria Math" panose="02040503050406030204" pitchFamily="18" charset="0"/>
                            </a:rPr>
                            <m:t>𝟒</m:t>
                          </m:r>
                          <m:r>
                            <a:rPr lang="en-GB" sz="2900" b="1" i="1" smtClean="0">
                              <a:latin typeface="Cambria Math" panose="02040503050406030204" pitchFamily="18" charset="0"/>
                            </a:rPr>
                            <m:t>.</m:t>
                          </m:r>
                          <m:r>
                            <a:rPr lang="en-GB" sz="2900" b="1" i="1" smtClean="0">
                              <a:latin typeface="Cambria Math" panose="02040503050406030204" pitchFamily="18" charset="0"/>
                            </a:rPr>
                            <m:t>𝟎𝟔</m:t>
                          </m:r>
                        </m:e>
                      </m:d>
                      <m:r>
                        <a:rPr lang="en-GB" sz="2900" b="1" i="1">
                          <a:latin typeface="Cambria Math" panose="02040503050406030204" pitchFamily="18" charset="0"/>
                        </a:rPr>
                        <m:t>=</m:t>
                      </m:r>
                      <m:r>
                        <a:rPr lang="en-GB" sz="2900" b="1" i="1" smtClean="0">
                          <a:latin typeface="Cambria Math" panose="02040503050406030204" pitchFamily="18" charset="0"/>
                        </a:rPr>
                        <m:t>𝟑</m:t>
                      </m:r>
                    </m:oMath>
                  </m:oMathPara>
                </a14:m>
                <a:endParaRPr lang="en-GB" sz="2900" dirty="0"/>
              </a:p>
              <a:p>
                <a:pPr lvl="1"/>
                <a:endParaRPr lang="en-GB" dirty="0"/>
              </a:p>
              <a:p>
                <a:r>
                  <a:rPr lang="en-GB" dirty="0"/>
                  <a:t>In 2019</a:t>
                </a:r>
              </a:p>
              <a:p>
                <a:pPr lvl="1"/>
                <a:r>
                  <a:rPr lang="en-GB" dirty="0"/>
                  <a:t>Tax is much lower at around 5%</a:t>
                </a:r>
              </a:p>
              <a:p>
                <a:pPr lvl="1"/>
                <a:r>
                  <a:rPr lang="en-GB" dirty="0"/>
                  <a:t>D/E too at 2.1</a:t>
                </a:r>
              </a:p>
              <a:p>
                <a:pPr lvl="1"/>
                <a:r>
                  <a:rPr lang="en-GB" dirty="0"/>
                  <a:t>The unlevered beta is 0.51</a:t>
                </a:r>
              </a:p>
              <a:p>
                <a:pPr marL="274320" lvl="1" indent="0">
                  <a:buNone/>
                </a:pPr>
                <a:endParaRPr lang="en-GB" dirty="0"/>
              </a:p>
              <a:p>
                <a:pPr marL="274320" lvl="1" indent="0" algn="ctr">
                  <a:buNone/>
                </a:pPr>
                <a:r>
                  <a:rPr lang="en-GB" dirty="0"/>
                  <a:t> </a:t>
                </a:r>
                <a14:m>
                  <m:oMath xmlns:m="http://schemas.openxmlformats.org/officeDocument/2006/math">
                    <m:sSub>
                      <m:sSubPr>
                        <m:ctrlPr>
                          <a:rPr lang="el-GR" sz="3300" b="1" i="1">
                            <a:latin typeface="Cambria Math" panose="02040503050406030204" pitchFamily="18" charset="0"/>
                          </a:rPr>
                        </m:ctrlPr>
                      </m:sSubPr>
                      <m:e>
                        <m:r>
                          <a:rPr lang="el-GR" sz="3300" b="1" i="1">
                            <a:latin typeface="Cambria Math" panose="02040503050406030204" pitchFamily="18" charset="0"/>
                          </a:rPr>
                          <m:t>𝜷</m:t>
                        </m:r>
                      </m:e>
                      <m:sub>
                        <m:r>
                          <a:rPr lang="en-GB" sz="3300" b="1" i="1">
                            <a:latin typeface="Cambria Math" panose="02040503050406030204" pitchFamily="18" charset="0"/>
                          </a:rPr>
                          <m:t>𝒍</m:t>
                        </m:r>
                        <m:r>
                          <a:rPr lang="en-GB" sz="3300" b="1" i="1">
                            <a:latin typeface="Cambria Math" panose="02040503050406030204" pitchFamily="18" charset="0"/>
                          </a:rPr>
                          <m:t>,</m:t>
                        </m:r>
                        <m:r>
                          <a:rPr lang="en-GB" sz="3300" b="1" i="1">
                            <a:latin typeface="Cambria Math" panose="02040503050406030204" pitchFamily="18" charset="0"/>
                          </a:rPr>
                          <m:t>𝟐𝟎𝟏𝟗</m:t>
                        </m:r>
                      </m:sub>
                    </m:sSub>
                    <m:r>
                      <a:rPr lang="en-GB" sz="3300" b="1" i="1">
                        <a:latin typeface="Cambria Math" panose="02040503050406030204" pitchFamily="18" charset="0"/>
                      </a:rPr>
                      <m:t>=</m:t>
                    </m:r>
                    <m:sSub>
                      <m:sSubPr>
                        <m:ctrlPr>
                          <a:rPr lang="el-GR" sz="3300" b="1" i="1">
                            <a:latin typeface="Cambria Math" panose="02040503050406030204" pitchFamily="18" charset="0"/>
                          </a:rPr>
                        </m:ctrlPr>
                      </m:sSubPr>
                      <m:e>
                        <m:r>
                          <a:rPr lang="el-GR" sz="3300" b="1" i="1">
                            <a:latin typeface="Cambria Math" panose="02040503050406030204" pitchFamily="18" charset="0"/>
                          </a:rPr>
                          <m:t>𝜷</m:t>
                        </m:r>
                      </m:e>
                      <m:sub>
                        <m:r>
                          <a:rPr lang="en-GB" sz="3300" b="1" i="1">
                            <a:latin typeface="Cambria Math" panose="02040503050406030204" pitchFamily="18" charset="0"/>
                          </a:rPr>
                          <m:t>𝒖</m:t>
                        </m:r>
                        <m:r>
                          <a:rPr lang="en-GB" sz="3300" b="1" i="1">
                            <a:latin typeface="Cambria Math" panose="02040503050406030204" pitchFamily="18" charset="0"/>
                          </a:rPr>
                          <m:t>,</m:t>
                        </m:r>
                        <m:r>
                          <a:rPr lang="en-GB" sz="3300" b="1" i="1">
                            <a:latin typeface="Cambria Math" panose="02040503050406030204" pitchFamily="18" charset="0"/>
                          </a:rPr>
                          <m:t>𝟐𝟎𝟏𝟖</m:t>
                        </m:r>
                      </m:sub>
                    </m:sSub>
                    <m:d>
                      <m:dPr>
                        <m:ctrlPr>
                          <a:rPr lang="en-GB" sz="3300" b="1" i="1">
                            <a:latin typeface="Cambria Math" panose="02040503050406030204" pitchFamily="18" charset="0"/>
                          </a:rPr>
                        </m:ctrlPr>
                      </m:dPr>
                      <m:e>
                        <m:r>
                          <a:rPr lang="en-GB" sz="3300" b="1" i="1">
                            <a:latin typeface="Cambria Math" panose="02040503050406030204" pitchFamily="18" charset="0"/>
                          </a:rPr>
                          <m:t>𝟏</m:t>
                        </m:r>
                        <m:r>
                          <a:rPr lang="en-GB" sz="3300" b="1" i="1">
                            <a:latin typeface="Cambria Math" panose="02040503050406030204" pitchFamily="18" charset="0"/>
                          </a:rPr>
                          <m:t>+</m:t>
                        </m:r>
                        <m:d>
                          <m:dPr>
                            <m:ctrlPr>
                              <a:rPr lang="en-GB" sz="3300" b="1" i="1">
                                <a:latin typeface="Cambria Math" panose="02040503050406030204" pitchFamily="18" charset="0"/>
                              </a:rPr>
                            </m:ctrlPr>
                          </m:dPr>
                          <m:e>
                            <m:r>
                              <a:rPr lang="en-GB" sz="3300" b="1" i="1">
                                <a:latin typeface="Cambria Math" panose="02040503050406030204" pitchFamily="18" charset="0"/>
                              </a:rPr>
                              <m:t>𝟏</m:t>
                            </m:r>
                            <m:r>
                              <a:rPr lang="en-GB" sz="3300" b="1" i="1">
                                <a:latin typeface="Cambria Math" panose="02040503050406030204" pitchFamily="18" charset="0"/>
                              </a:rPr>
                              <m:t>−</m:t>
                            </m:r>
                            <m:sSub>
                              <m:sSubPr>
                                <m:ctrlPr>
                                  <a:rPr lang="en-GB" sz="3300" b="1" i="1">
                                    <a:latin typeface="Cambria Math" panose="02040503050406030204" pitchFamily="18" charset="0"/>
                                  </a:rPr>
                                </m:ctrlPr>
                              </m:sSubPr>
                              <m:e>
                                <m:r>
                                  <a:rPr lang="en-GB" sz="3300" b="1" i="1">
                                    <a:latin typeface="Cambria Math" panose="02040503050406030204" pitchFamily="18" charset="0"/>
                                  </a:rPr>
                                  <m:t>𝑻</m:t>
                                </m:r>
                              </m:e>
                              <m:sub>
                                <m:r>
                                  <a:rPr lang="en-GB" sz="3300" b="1" i="1">
                                    <a:latin typeface="Cambria Math" panose="02040503050406030204" pitchFamily="18" charset="0"/>
                                  </a:rPr>
                                  <m:t>𝟐𝟎𝟏</m:t>
                                </m:r>
                                <m:r>
                                  <a:rPr lang="en-GB" sz="3300" b="1" i="1" smtClean="0">
                                    <a:latin typeface="Cambria Math" panose="02040503050406030204" pitchFamily="18" charset="0"/>
                                  </a:rPr>
                                  <m:t>𝟖</m:t>
                                </m:r>
                              </m:sub>
                            </m:sSub>
                          </m:e>
                        </m:d>
                        <m:sSub>
                          <m:sSubPr>
                            <m:ctrlPr>
                              <a:rPr lang="en-GB" sz="3300" b="1" i="1">
                                <a:latin typeface="Cambria Math" panose="02040503050406030204" pitchFamily="18" charset="0"/>
                              </a:rPr>
                            </m:ctrlPr>
                          </m:sSubPr>
                          <m:e>
                            <m:f>
                              <m:fPr>
                                <m:ctrlPr>
                                  <a:rPr lang="en-GB" sz="3300" b="1" i="1">
                                    <a:latin typeface="Cambria Math" panose="02040503050406030204" pitchFamily="18" charset="0"/>
                                  </a:rPr>
                                </m:ctrlPr>
                              </m:fPr>
                              <m:num>
                                <m:r>
                                  <a:rPr lang="en-GB" sz="3300" b="1" i="1">
                                    <a:latin typeface="Cambria Math" panose="02040503050406030204" pitchFamily="18" charset="0"/>
                                  </a:rPr>
                                  <m:t>𝑫</m:t>
                                </m:r>
                              </m:num>
                              <m:den>
                                <m:r>
                                  <a:rPr lang="en-GB" sz="3300" b="1" i="1">
                                    <a:latin typeface="Cambria Math" panose="02040503050406030204" pitchFamily="18" charset="0"/>
                                  </a:rPr>
                                  <m:t>𝑬</m:t>
                                </m:r>
                              </m:den>
                            </m:f>
                          </m:e>
                          <m:sub>
                            <m:r>
                              <a:rPr lang="en-GB" sz="3300" b="1" i="1">
                                <a:latin typeface="Cambria Math" panose="02040503050406030204" pitchFamily="18" charset="0"/>
                              </a:rPr>
                              <m:t>𝟐𝟎𝟏</m:t>
                            </m:r>
                            <m:r>
                              <a:rPr lang="en-GB" sz="3300" b="1" i="1" smtClean="0">
                                <a:latin typeface="Cambria Math" panose="02040503050406030204" pitchFamily="18" charset="0"/>
                              </a:rPr>
                              <m:t>𝟖</m:t>
                            </m:r>
                          </m:sub>
                        </m:sSub>
                      </m:e>
                    </m:d>
                    <m:r>
                      <a:rPr lang="en-GB" sz="3300" b="1" i="1">
                        <a:latin typeface="Cambria Math" panose="02040503050406030204" pitchFamily="18" charset="0"/>
                      </a:rPr>
                      <m:t>=</m:t>
                    </m:r>
                    <m:r>
                      <a:rPr lang="en-GB" sz="3300" b="1" i="1">
                        <a:latin typeface="Cambria Math" panose="02040503050406030204" pitchFamily="18" charset="0"/>
                      </a:rPr>
                      <m:t>𝟎</m:t>
                    </m:r>
                    <m:r>
                      <a:rPr lang="en-GB" sz="3300" b="1" i="1">
                        <a:latin typeface="Cambria Math" panose="02040503050406030204" pitchFamily="18" charset="0"/>
                      </a:rPr>
                      <m:t>.</m:t>
                    </m:r>
                    <m:r>
                      <a:rPr lang="en-GB" sz="3300" b="1" i="1" smtClean="0">
                        <a:latin typeface="Cambria Math" panose="02040503050406030204" pitchFamily="18" charset="0"/>
                      </a:rPr>
                      <m:t>𝟓𝟏</m:t>
                    </m:r>
                    <m:d>
                      <m:dPr>
                        <m:ctrlPr>
                          <a:rPr lang="en-GB" sz="3300" b="1" i="1">
                            <a:latin typeface="Cambria Math" panose="02040503050406030204" pitchFamily="18" charset="0"/>
                          </a:rPr>
                        </m:ctrlPr>
                      </m:dPr>
                      <m:e>
                        <m:r>
                          <a:rPr lang="en-GB" sz="3300" b="1" i="1">
                            <a:latin typeface="Cambria Math" panose="02040503050406030204" pitchFamily="18" charset="0"/>
                          </a:rPr>
                          <m:t>𝟏</m:t>
                        </m:r>
                        <m:r>
                          <a:rPr lang="en-GB" sz="3300" b="1" i="1">
                            <a:latin typeface="Cambria Math" panose="02040503050406030204" pitchFamily="18" charset="0"/>
                          </a:rPr>
                          <m:t>+</m:t>
                        </m:r>
                        <m:d>
                          <m:dPr>
                            <m:ctrlPr>
                              <a:rPr lang="en-GB" sz="3300" b="1" i="1">
                                <a:latin typeface="Cambria Math" panose="02040503050406030204" pitchFamily="18" charset="0"/>
                              </a:rPr>
                            </m:ctrlPr>
                          </m:dPr>
                          <m:e>
                            <m:r>
                              <a:rPr lang="en-GB" sz="3300" b="1" i="1">
                                <a:latin typeface="Cambria Math" panose="02040503050406030204" pitchFamily="18" charset="0"/>
                              </a:rPr>
                              <m:t>𝟏</m:t>
                            </m:r>
                            <m:r>
                              <a:rPr lang="en-GB" sz="3300" b="1" i="1">
                                <a:latin typeface="Cambria Math" panose="02040503050406030204" pitchFamily="18" charset="0"/>
                              </a:rPr>
                              <m:t>−</m:t>
                            </m:r>
                            <m:r>
                              <a:rPr lang="en-GB" sz="3300" b="1" i="1">
                                <a:latin typeface="Cambria Math" panose="02040503050406030204" pitchFamily="18" charset="0"/>
                              </a:rPr>
                              <m:t>𝟎</m:t>
                            </m:r>
                            <m:r>
                              <a:rPr lang="en-GB" sz="3300" b="1" i="1" smtClean="0">
                                <a:latin typeface="Cambria Math" panose="02040503050406030204" pitchFamily="18" charset="0"/>
                              </a:rPr>
                              <m:t>.</m:t>
                            </m:r>
                            <m:r>
                              <a:rPr lang="en-GB" sz="3300" b="1" i="1" smtClean="0">
                                <a:latin typeface="Cambria Math" panose="02040503050406030204" pitchFamily="18" charset="0"/>
                              </a:rPr>
                              <m:t>𝟎𝟓</m:t>
                            </m:r>
                          </m:e>
                        </m:d>
                        <m:r>
                          <a:rPr lang="en-GB" sz="3300" b="1" i="1" smtClean="0">
                            <a:latin typeface="Cambria Math" panose="02040503050406030204" pitchFamily="18" charset="0"/>
                          </a:rPr>
                          <m:t>𝟐</m:t>
                        </m:r>
                        <m:r>
                          <a:rPr lang="en-GB" sz="3300" b="1" i="1" smtClean="0">
                            <a:latin typeface="Cambria Math" panose="02040503050406030204" pitchFamily="18" charset="0"/>
                          </a:rPr>
                          <m:t>.</m:t>
                        </m:r>
                        <m:r>
                          <a:rPr lang="en-GB" sz="3300" b="1" i="1" smtClean="0">
                            <a:latin typeface="Cambria Math" panose="02040503050406030204" pitchFamily="18" charset="0"/>
                          </a:rPr>
                          <m:t>𝟏</m:t>
                        </m:r>
                      </m:e>
                    </m:d>
                    <m:r>
                      <a:rPr lang="en-GB" sz="3300" b="1" i="1" smtClean="0">
                        <a:latin typeface="Cambria Math" panose="02040503050406030204" pitchFamily="18" charset="0"/>
                      </a:rPr>
                      <m:t>=</m:t>
                    </m:r>
                    <m:r>
                      <a:rPr lang="en-GB" sz="3300" b="1" i="1" smtClean="0">
                        <a:latin typeface="Cambria Math" panose="02040503050406030204" pitchFamily="18" charset="0"/>
                      </a:rPr>
                      <m:t>𝟏</m:t>
                    </m:r>
                    <m:r>
                      <a:rPr lang="en-GB" sz="3300" b="1" i="1" smtClean="0">
                        <a:latin typeface="Cambria Math" panose="02040503050406030204" pitchFamily="18" charset="0"/>
                      </a:rPr>
                      <m:t>.</m:t>
                    </m:r>
                    <m:r>
                      <a:rPr lang="en-GB" sz="3300" b="1" i="1" smtClean="0">
                        <a:latin typeface="Cambria Math" panose="02040503050406030204" pitchFamily="18" charset="0"/>
                      </a:rPr>
                      <m:t>𝟓𝟐</m:t>
                    </m:r>
                  </m:oMath>
                </a14:m>
                <a:endParaRPr lang="en-GB" sz="3300" b="1"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301752" y="1340768"/>
                <a:ext cx="8503920" cy="5328592"/>
              </a:xfrm>
              <a:blipFill>
                <a:blip r:embed="rId3"/>
                <a:stretch>
                  <a:fillRect t="-1030"/>
                </a:stretch>
              </a:blipFill>
            </p:spPr>
            <p:txBody>
              <a:bodyPr/>
              <a:lstStyle/>
              <a:p>
                <a:r>
                  <a:rPr lang="en-GB">
                    <a:noFill/>
                  </a:rPr>
                  <a:t> </a:t>
                </a:r>
              </a:p>
            </p:txBody>
          </p:sp>
        </mc:Fallback>
      </mc:AlternateContent>
    </p:spTree>
    <p:extLst>
      <p:ext uri="{BB962C8B-B14F-4D97-AF65-F5344CB8AC3E}">
        <p14:creationId xmlns:p14="http://schemas.microsoft.com/office/powerpoint/2010/main" val="3013274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4" end="1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5" end="15"/>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6" end="16"/>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4294967295"/>
            <p:extLst>
              <p:ext uri="{D42A27DB-BD31-4B8C-83A1-F6EECF244321}">
                <p14:modId xmlns:p14="http://schemas.microsoft.com/office/powerpoint/2010/main" val="4097648827"/>
              </p:ext>
            </p:extLst>
          </p:nvPr>
        </p:nvGraphicFramePr>
        <p:xfrm>
          <a:off x="395536" y="260648"/>
          <a:ext cx="8504237" cy="19442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6" name="Straight Arrow Connector 5"/>
          <p:cNvCxnSpPr/>
          <p:nvPr/>
        </p:nvCxnSpPr>
        <p:spPr>
          <a:xfrm>
            <a:off x="1547664" y="2276872"/>
            <a:ext cx="0" cy="5040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4644008" y="2276872"/>
            <a:ext cx="0" cy="5040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7524328" y="2276872"/>
            <a:ext cx="0" cy="5040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9" name="Diagram 8"/>
              <p:cNvGraphicFramePr/>
              <p:nvPr>
                <p:extLst>
                  <p:ext uri="{D42A27DB-BD31-4B8C-83A1-F6EECF244321}">
                    <p14:modId xmlns:p14="http://schemas.microsoft.com/office/powerpoint/2010/main" val="1182943865"/>
                  </p:ext>
                </p:extLst>
              </p:nvPr>
            </p:nvGraphicFramePr>
            <p:xfrm>
              <a:off x="251520" y="2780928"/>
              <a:ext cx="8648253" cy="223224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mc:Choice>
        <mc:Fallback xmlns="">
          <p:graphicFrame>
            <p:nvGraphicFramePr>
              <p:cNvPr id="9" name="Diagram 8"/>
              <p:cNvGraphicFramePr/>
              <p:nvPr>
                <p:extLst>
                  <p:ext uri="{D42A27DB-BD31-4B8C-83A1-F6EECF244321}">
                    <p14:modId xmlns:p14="http://schemas.microsoft.com/office/powerpoint/2010/main" val="1182943865"/>
                  </p:ext>
                </p:extLst>
              </p:nvPr>
            </p:nvGraphicFramePr>
            <p:xfrm>
              <a:off x="251520" y="2780928"/>
              <a:ext cx="8648253" cy="2232248"/>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mc:Fallback>
      </mc:AlternateContent>
      <p:sp>
        <p:nvSpPr>
          <p:cNvPr id="10" name="Right Brace 9"/>
          <p:cNvSpPr/>
          <p:nvPr/>
        </p:nvSpPr>
        <p:spPr>
          <a:xfrm rot="5400000">
            <a:off x="4323618" y="1304764"/>
            <a:ext cx="504056" cy="8064896"/>
          </a:xfrm>
          <a:prstGeom prst="righ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graphicFrame>
            <p:nvGraphicFramePr>
              <p:cNvPr id="11" name="Diagram 10"/>
              <p:cNvGraphicFramePr/>
              <p:nvPr>
                <p:extLst>
                  <p:ext uri="{D42A27DB-BD31-4B8C-83A1-F6EECF244321}">
                    <p14:modId xmlns:p14="http://schemas.microsoft.com/office/powerpoint/2010/main" val="1855555080"/>
                  </p:ext>
                </p:extLst>
              </p:nvPr>
            </p:nvGraphicFramePr>
            <p:xfrm>
              <a:off x="251519" y="5517231"/>
              <a:ext cx="8648253" cy="1015381"/>
            </p:xfrm>
            <a:graphic>
              <a:graphicData uri="http://schemas.openxmlformats.org/drawingml/2006/diagram">
                <dgm:relIds xmlns:dgm="http://schemas.openxmlformats.org/drawingml/2006/diagram" xmlns:r="http://schemas.openxmlformats.org/officeDocument/2006/relationships" r:dm="rId16" r:lo="rId17" r:qs="rId18" r:cs="rId19"/>
              </a:graphicData>
            </a:graphic>
          </p:graphicFrame>
        </mc:Choice>
        <mc:Fallback xmlns="">
          <p:graphicFrame>
            <p:nvGraphicFramePr>
              <p:cNvPr id="11" name="Diagram 10"/>
              <p:cNvGraphicFramePr/>
              <p:nvPr>
                <p:extLst>
                  <p:ext uri="{D42A27DB-BD31-4B8C-83A1-F6EECF244321}">
                    <p14:modId xmlns:p14="http://schemas.microsoft.com/office/powerpoint/2010/main" val="1855555080"/>
                  </p:ext>
                </p:extLst>
              </p:nvPr>
            </p:nvGraphicFramePr>
            <p:xfrm>
              <a:off x="251519" y="5517231"/>
              <a:ext cx="8648253" cy="1015381"/>
            </p:xfrm>
            <a:graphic>
              <a:graphicData uri="http://schemas.openxmlformats.org/drawingml/2006/diagram">
                <dgm:relIds xmlns:dgm="http://schemas.openxmlformats.org/drawingml/2006/diagram" xmlns:r="http://schemas.openxmlformats.org/officeDocument/2006/relationships" r:dm="rId21" r:lo="rId22" r:qs="rId23" r:cs="rId24"/>
              </a:graphicData>
            </a:graphic>
          </p:graphicFrame>
        </mc:Fallback>
      </mc:AlternateContent>
    </p:spTree>
    <p:extLst>
      <p:ext uri="{BB962C8B-B14F-4D97-AF65-F5344CB8AC3E}">
        <p14:creationId xmlns:p14="http://schemas.microsoft.com/office/powerpoint/2010/main" val="3054871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1561369E-7325-4D03-BF3F-D73E0418C391}"/>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graphicEl>
                                              <a:dgm id="{6813ABCB-9222-457B-B478-F7C3B050A036}"/>
                                            </p:graphic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graphicEl>
                                              <a:dgm id="{30D68A95-48A2-425D-97B4-99D6CD31BDBD}"/>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graphicEl>
                                              <a:dgm id="{23489686-1EB7-4549-AE0B-1E5C9EF6CB86}"/>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graphicEl>
                                              <a:dgm id="{BE9C96A9-9897-48D6-8970-30D6F504B1C7}"/>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graphicEl>
                                              <a:dgm id="{CA42F688-BEFB-49B2-9243-B85E160A401B}"/>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graphicEl>
                                              <a:dgm id="{7B471852-D855-4358-8D35-0F64824B181E}"/>
                                            </p:graphic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graphicEl>
                                              <a:dgm id="{D9C64D80-7110-4E95-BE83-4F5B905B0297}"/>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graphicEl>
                                              <a:dgm id="{D052BB1F-E72D-4382-A4DD-F4E712CDF864}"/>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graphicEl>
                                              <a:dgm id="{C861C8DF-AF5B-4656-965F-CFF589B370D9}"/>
                                            </p:graphic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graphicEl>
                                              <a:dgm id="{7513574B-CBA7-4BB8-A40D-291C68960949}"/>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graphicEl>
                                              <a:dgm id="{2B90E11E-1F35-401E-8699-7E36A2BADD41}"/>
                                            </p:graphic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graphicEl>
                                              <a:dgm id="{A383B80F-386C-4296-97EC-538F362DE16F}"/>
                                            </p:graphic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graphicEl>
                                              <a:dgm id="{FC18A303-BDCB-4AE4-83D6-B511785C0E14}"/>
                                            </p:graphic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graphicEl>
                                              <a:dgm id="{163CA0BE-1147-4C9E-9C97-E13DB7AA3604}"/>
                                            </p:graphic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
                                            <p:graphicEl>
                                              <a:dgm id="{67DBAA07-D82C-433F-8558-78DEE27F27B9}"/>
                                            </p:graphic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9">
                                            <p:graphicEl>
                                              <a:dgm id="{7C321082-EE9F-4BF2-BC5A-B50C9B95FF0C}"/>
                                            </p:graphic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
                                            <p:graphicEl>
                                              <a:dgm id="{F3536B04-8620-4C98-B19B-5507E07B2486}"/>
                                            </p:graphic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
                                            <p:graphicEl>
                                              <a:dgm id="{76D5E8C6-3BF7-47F7-A947-503BD39C5A54}"/>
                                            </p:graphic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9">
                                            <p:graphicEl>
                                              <a:dgm id="{D5580F7C-CBF5-447E-9283-B9AB9AD4E82B}"/>
                                            </p:graphic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9">
                                            <p:graphicEl>
                                              <a:dgm id="{BF6F70C2-5323-48D0-A328-74AA29A933EE}"/>
                                            </p:graphic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9">
                                            <p:graphicEl>
                                              <a:dgm id="{5A0F2182-7AF7-4D98-81D2-A6AE9A610262}"/>
                                            </p:graphic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9">
                                            <p:graphicEl>
                                              <a:dgm id="{9FB7C987-B257-4E6C-A2B5-F547607E62DF}"/>
                                            </p:graphic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9">
                                            <p:graphicEl>
                                              <a:dgm id="{37E22CE4-DBE4-4DA4-ABC0-A28654419370}"/>
                                            </p:graphicEl>
                                          </p:spTgt>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6"/>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7"/>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0"/>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1">
                                            <p:graphicEl>
                                              <a:dgm id="{DC763CBC-E68B-417F-826D-0C6812D2DB7C}"/>
                                            </p:graphic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1">
                                            <p:graphicEl>
                                              <a:dgm id="{498EF002-40F7-44E4-9930-81C318D7E203}"/>
                                            </p:graphic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1">
                                            <p:graphicEl>
                                              <a:dgm id="{F6631087-18D1-4F4A-B6EA-2D11D356A0D1}"/>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lvlAtOnce"/>
        </p:bldSub>
      </p:bldGraphic>
      <p:bldGraphic spid="9" grpId="0">
        <p:bldSub>
          <a:bldDgm bld="one"/>
        </p:bldSub>
      </p:bldGraphic>
      <p:bldP spid="10" grpId="0" animBg="1"/>
      <p:bldGraphic spid="11" grpId="0">
        <p:bldSub>
          <a:bldDgm bld="one"/>
        </p:bldSub>
      </p:bldGraphic>
    </p:bldLst>
  </p:timing>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a:noFill/>
          <a:ln/>
        </p:spPr>
        <p:txBody>
          <a:bodyPr/>
          <a:lstStyle/>
          <a:p>
            <a:r>
              <a:rPr lang="en-US" dirty="0"/>
              <a:t>Bottom-up Betas</a:t>
            </a:r>
            <a:r>
              <a:rPr lang="en-GB" dirty="0"/>
              <a:t>-Multiple Businesses</a:t>
            </a:r>
            <a:endParaRPr lang="en-US" dirty="0"/>
          </a:p>
        </p:txBody>
      </p:sp>
      <p:pic>
        <p:nvPicPr>
          <p:cNvPr id="233480" name="Picture 8"/>
          <p:cNvPicPr>
            <a:picLocks noGrp="1" noChangeAspect="1" noChangeArrowheads="1"/>
          </p:cNvPicPr>
          <p:nvPr>
            <p:ph sz="quarter" idx="1"/>
          </p:nvPr>
        </p:nvPicPr>
        <p:blipFill>
          <a:blip r:embed="rId3" cstate="print"/>
          <a:stretch>
            <a:fillRect/>
          </a:stretch>
        </p:blipFill>
        <p:spPr>
          <a:xfrm>
            <a:off x="72008" y="1412776"/>
            <a:ext cx="9036496" cy="4638129"/>
          </a:xfrm>
          <a:solidFill>
            <a:schemeClr val="accent1"/>
          </a:solidFill>
          <a:ln/>
        </p:spPr>
      </p:pic>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116632"/>
            <a:ext cx="8534400" cy="608112"/>
          </a:xfrm>
        </p:spPr>
        <p:txBody>
          <a:bodyPr>
            <a:normAutofit fontScale="90000"/>
          </a:bodyPr>
          <a:lstStyle/>
          <a:p>
            <a:r>
              <a:rPr lang="en-GB" dirty="0"/>
              <a:t>Multiple Betas Example: Disney (value weights)</a:t>
            </a: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1692935823"/>
              </p:ext>
            </p:extLst>
          </p:nvPr>
        </p:nvGraphicFramePr>
        <p:xfrm>
          <a:off x="251520" y="795412"/>
          <a:ext cx="8748312" cy="4289772"/>
        </p:xfrm>
        <a:graphic>
          <a:graphicData uri="http://schemas.openxmlformats.org/drawingml/2006/table">
            <a:tbl>
              <a:tblPr firstRow="1" bandRow="1">
                <a:tableStyleId>{5C22544A-7EE6-4342-B048-85BDC9FD1C3A}</a:tableStyleId>
              </a:tblPr>
              <a:tblGrid>
                <a:gridCol w="1368152">
                  <a:extLst>
                    <a:ext uri="{9D8B030D-6E8A-4147-A177-3AD203B41FA5}">
                      <a16:colId xmlns:a16="http://schemas.microsoft.com/office/drawing/2014/main" val="20000"/>
                    </a:ext>
                  </a:extLst>
                </a:gridCol>
                <a:gridCol w="1440160">
                  <a:extLst>
                    <a:ext uri="{9D8B030D-6E8A-4147-A177-3AD203B41FA5}">
                      <a16:colId xmlns:a16="http://schemas.microsoft.com/office/drawing/2014/main" val="20001"/>
                    </a:ext>
                  </a:extLst>
                </a:gridCol>
                <a:gridCol w="1188000">
                  <a:extLst>
                    <a:ext uri="{9D8B030D-6E8A-4147-A177-3AD203B41FA5}">
                      <a16:colId xmlns:a16="http://schemas.microsoft.com/office/drawing/2014/main" val="20002"/>
                    </a:ext>
                  </a:extLst>
                </a:gridCol>
                <a:gridCol w="1188000">
                  <a:extLst>
                    <a:ext uri="{9D8B030D-6E8A-4147-A177-3AD203B41FA5}">
                      <a16:colId xmlns:a16="http://schemas.microsoft.com/office/drawing/2014/main" val="20003"/>
                    </a:ext>
                  </a:extLst>
                </a:gridCol>
                <a:gridCol w="1188000">
                  <a:extLst>
                    <a:ext uri="{9D8B030D-6E8A-4147-A177-3AD203B41FA5}">
                      <a16:colId xmlns:a16="http://schemas.microsoft.com/office/drawing/2014/main" val="20004"/>
                    </a:ext>
                  </a:extLst>
                </a:gridCol>
                <a:gridCol w="1188000">
                  <a:extLst>
                    <a:ext uri="{9D8B030D-6E8A-4147-A177-3AD203B41FA5}">
                      <a16:colId xmlns:a16="http://schemas.microsoft.com/office/drawing/2014/main" val="20005"/>
                    </a:ext>
                  </a:extLst>
                </a:gridCol>
                <a:gridCol w="1188000">
                  <a:extLst>
                    <a:ext uri="{9D8B030D-6E8A-4147-A177-3AD203B41FA5}">
                      <a16:colId xmlns:a16="http://schemas.microsoft.com/office/drawing/2014/main" val="20006"/>
                    </a:ext>
                  </a:extLst>
                </a:gridCol>
              </a:tblGrid>
              <a:tr h="395737">
                <a:tc>
                  <a:txBody>
                    <a:bodyPr/>
                    <a:lstStyle/>
                    <a:p>
                      <a:pPr algn="ctr"/>
                      <a:r>
                        <a:rPr lang="en-GB" sz="1600" dirty="0">
                          <a:latin typeface="Times New Roman" pitchFamily="18" charset="0"/>
                          <a:cs typeface="Times New Roman" pitchFamily="18" charset="0"/>
                        </a:rPr>
                        <a:t>Industries</a:t>
                      </a:r>
                    </a:p>
                  </a:txBody>
                  <a:tcPr anchor="ctr"/>
                </a:tc>
                <a:tc>
                  <a:txBody>
                    <a:bodyPr/>
                    <a:lstStyle/>
                    <a:p>
                      <a:pPr algn="ctr"/>
                      <a:r>
                        <a:rPr lang="en-GB" sz="1600" dirty="0">
                          <a:latin typeface="Times New Roman" pitchFamily="18" charset="0"/>
                          <a:cs typeface="Times New Roman" pitchFamily="18" charset="0"/>
                        </a:rPr>
                        <a:t>Comparable</a:t>
                      </a:r>
                    </a:p>
                  </a:txBody>
                  <a:tcPr anchor="ctr"/>
                </a:tc>
                <a:tc>
                  <a:txBody>
                    <a:bodyPr/>
                    <a:lstStyle/>
                    <a:p>
                      <a:pPr algn="ctr"/>
                      <a:r>
                        <a:rPr lang="en-GB" sz="1600" dirty="0">
                          <a:latin typeface="Times New Roman" pitchFamily="18" charset="0"/>
                          <a:cs typeface="Times New Roman" pitchFamily="18" charset="0"/>
                        </a:rPr>
                        <a:t>Unlevered</a:t>
                      </a:r>
                      <a:r>
                        <a:rPr lang="en-GB" sz="1600" baseline="0" dirty="0">
                          <a:latin typeface="Times New Roman" pitchFamily="18" charset="0"/>
                          <a:cs typeface="Times New Roman" pitchFamily="18" charset="0"/>
                        </a:rPr>
                        <a:t> Beta</a:t>
                      </a:r>
                      <a:endParaRPr lang="en-GB" sz="1600" dirty="0">
                        <a:latin typeface="Times New Roman" pitchFamily="18" charset="0"/>
                        <a:cs typeface="Times New Roman" pitchFamily="18" charset="0"/>
                      </a:endParaRPr>
                    </a:p>
                  </a:txBody>
                  <a:tcPr anchor="ctr"/>
                </a:tc>
                <a:tc>
                  <a:txBody>
                    <a:bodyPr/>
                    <a:lstStyle/>
                    <a:p>
                      <a:pPr algn="ctr"/>
                      <a:r>
                        <a:rPr lang="en-GB" sz="1600" dirty="0">
                          <a:latin typeface="Times New Roman" pitchFamily="18" charset="0"/>
                          <a:cs typeface="Times New Roman" pitchFamily="18" charset="0"/>
                        </a:rPr>
                        <a:t>Revenue</a:t>
                      </a:r>
                    </a:p>
                  </a:txBody>
                  <a:tcPr anchor="ctr"/>
                </a:tc>
                <a:tc>
                  <a:txBody>
                    <a:bodyPr/>
                    <a:lstStyle/>
                    <a:p>
                      <a:pPr algn="ctr"/>
                      <a:r>
                        <a:rPr lang="en-GB" sz="1600" dirty="0">
                          <a:latin typeface="Times New Roman" pitchFamily="18" charset="0"/>
                          <a:cs typeface="Times New Roman" pitchFamily="18" charset="0"/>
                        </a:rPr>
                        <a:t>Value/Revenue</a:t>
                      </a:r>
                    </a:p>
                  </a:txBody>
                  <a:tcPr anchor="ctr"/>
                </a:tc>
                <a:tc>
                  <a:txBody>
                    <a:bodyPr/>
                    <a:lstStyle/>
                    <a:p>
                      <a:pPr algn="ctr"/>
                      <a:r>
                        <a:rPr lang="en-GB" sz="1600" dirty="0">
                          <a:latin typeface="Times New Roman" pitchFamily="18" charset="0"/>
                          <a:cs typeface="Times New Roman" pitchFamily="18" charset="0"/>
                        </a:rPr>
                        <a:t>Weight</a:t>
                      </a:r>
                    </a:p>
                  </a:txBody>
                  <a:tcPr anchor="ctr"/>
                </a:tc>
                <a:tc>
                  <a:txBody>
                    <a:bodyPr/>
                    <a:lstStyle/>
                    <a:p>
                      <a:pPr algn="ctr"/>
                      <a:r>
                        <a:rPr lang="en-GB" sz="1600" dirty="0">
                          <a:latin typeface="Times New Roman" pitchFamily="18" charset="0"/>
                          <a:cs typeface="Times New Roman" pitchFamily="18" charset="0"/>
                        </a:rPr>
                        <a:t>Weighted</a:t>
                      </a:r>
                      <a:r>
                        <a:rPr lang="en-GB" sz="1600" baseline="0" dirty="0">
                          <a:latin typeface="Times New Roman" pitchFamily="18" charset="0"/>
                          <a:cs typeface="Times New Roman" pitchFamily="18" charset="0"/>
                        </a:rPr>
                        <a:t> Beta</a:t>
                      </a:r>
                      <a:endParaRPr lang="en-GB" sz="1600"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712326">
                <a:tc>
                  <a:txBody>
                    <a:bodyPr/>
                    <a:lstStyle/>
                    <a:p>
                      <a:pPr algn="ctr"/>
                      <a:r>
                        <a:rPr lang="en-GB" sz="1600" dirty="0">
                          <a:latin typeface="Times New Roman" pitchFamily="18" charset="0"/>
                          <a:cs typeface="Times New Roman" pitchFamily="18" charset="0"/>
                        </a:rPr>
                        <a:t>Media Networks</a:t>
                      </a:r>
                    </a:p>
                  </a:txBody>
                  <a:tcPr anchor="ctr"/>
                </a:tc>
                <a:tc>
                  <a:txBody>
                    <a:bodyPr/>
                    <a:lstStyle/>
                    <a:p>
                      <a:pPr algn="ctr"/>
                      <a:r>
                        <a:rPr lang="en-GB" sz="1600" dirty="0">
                          <a:latin typeface="Times New Roman" pitchFamily="18" charset="0"/>
                          <a:cs typeface="Times New Roman" pitchFamily="18" charset="0"/>
                        </a:rPr>
                        <a:t>Media and TV Broadcasting</a:t>
                      </a:r>
                    </a:p>
                  </a:txBody>
                  <a:tcPr anchor="ctr"/>
                </a:tc>
                <a:tc>
                  <a:txBody>
                    <a:bodyPr/>
                    <a:lstStyle/>
                    <a:p>
                      <a:pPr algn="ctr"/>
                      <a:r>
                        <a:rPr lang="en-GB" sz="2000" dirty="0">
                          <a:latin typeface="Times New Roman" pitchFamily="18" charset="0"/>
                          <a:cs typeface="Times New Roman" pitchFamily="18" charset="0"/>
                        </a:rPr>
                        <a:t>1.0932</a:t>
                      </a:r>
                    </a:p>
                  </a:txBody>
                  <a:tcPr anchor="ctr"/>
                </a:tc>
                <a:tc>
                  <a:txBody>
                    <a:bodyPr/>
                    <a:lstStyle/>
                    <a:p>
                      <a:pPr algn="ctr"/>
                      <a:r>
                        <a:rPr lang="en-GB" sz="2000" dirty="0">
                          <a:latin typeface="Times New Roman" pitchFamily="18" charset="0"/>
                          <a:cs typeface="Times New Roman" pitchFamily="18" charset="0"/>
                        </a:rPr>
                        <a:t>19,436</a:t>
                      </a:r>
                    </a:p>
                  </a:txBody>
                  <a:tcPr anchor="ctr"/>
                </a:tc>
                <a:tc>
                  <a:txBody>
                    <a:bodyPr/>
                    <a:lstStyle/>
                    <a:p>
                      <a:pPr algn="ctr"/>
                      <a:r>
                        <a:rPr lang="en-GB" sz="2000" dirty="0">
                          <a:latin typeface="Times New Roman" pitchFamily="18" charset="0"/>
                          <a:cs typeface="Times New Roman" pitchFamily="18" charset="0"/>
                        </a:rPr>
                        <a:t>3.41</a:t>
                      </a:r>
                    </a:p>
                  </a:txBody>
                  <a:tcPr anchor="ctr"/>
                </a:tc>
                <a:tc>
                  <a:txBody>
                    <a:bodyPr/>
                    <a:lstStyle/>
                    <a:p>
                      <a:pPr marL="0" algn="ctr" rtl="0" eaLnBrk="1" fontAlgn="b" latinLnBrk="0" hangingPunct="1"/>
                      <a:r>
                        <a:rPr kumimoji="0" lang="en-GB" sz="2000" kern="1200" dirty="0">
                          <a:solidFill>
                            <a:schemeClr val="dk1"/>
                          </a:solidFill>
                          <a:latin typeface="Times New Roman" pitchFamily="18" charset="0"/>
                          <a:ea typeface="+mn-ea"/>
                          <a:cs typeface="Times New Roman" pitchFamily="18" charset="0"/>
                        </a:rPr>
                        <a:t>55.74%</a:t>
                      </a:r>
                    </a:p>
                  </a:txBody>
                  <a:tcPr marL="9525" marR="9525" marT="9525" marB="0" anchor="ctr"/>
                </a:tc>
                <a:tc>
                  <a:txBody>
                    <a:bodyPr/>
                    <a:lstStyle/>
                    <a:p>
                      <a:pPr marL="0" algn="ctr" rtl="0" eaLnBrk="1" fontAlgn="b" latinLnBrk="0" hangingPunct="1"/>
                      <a:r>
                        <a:rPr kumimoji="0" lang="en-GB" sz="2000" kern="1200" dirty="0">
                          <a:solidFill>
                            <a:schemeClr val="dk1"/>
                          </a:solidFill>
                          <a:latin typeface="Times New Roman" pitchFamily="18" charset="0"/>
                          <a:ea typeface="+mn-ea"/>
                          <a:cs typeface="Times New Roman" pitchFamily="18" charset="0"/>
                        </a:rPr>
                        <a:t>0.6094</a:t>
                      </a:r>
                    </a:p>
                  </a:txBody>
                  <a:tcPr marL="9525" marR="9525" marT="9525" marB="0" anchor="ctr"/>
                </a:tc>
                <a:extLst>
                  <a:ext uri="{0D108BD9-81ED-4DB2-BD59-A6C34878D82A}">
                    <a16:rowId xmlns:a16="http://schemas.microsoft.com/office/drawing/2014/main" val="10001"/>
                  </a:ext>
                </a:extLst>
              </a:tr>
              <a:tr h="712326">
                <a:tc>
                  <a:txBody>
                    <a:bodyPr/>
                    <a:lstStyle/>
                    <a:p>
                      <a:pPr algn="ctr"/>
                      <a:r>
                        <a:rPr lang="en-GB" sz="1600" dirty="0">
                          <a:latin typeface="Times New Roman" pitchFamily="18" charset="0"/>
                          <a:cs typeface="Times New Roman" pitchFamily="18" charset="0"/>
                        </a:rPr>
                        <a:t>Parks</a:t>
                      </a:r>
                      <a:r>
                        <a:rPr lang="en-GB" sz="1600" baseline="0" dirty="0">
                          <a:latin typeface="Times New Roman" pitchFamily="18" charset="0"/>
                          <a:cs typeface="Times New Roman" pitchFamily="18" charset="0"/>
                        </a:rPr>
                        <a:t> and Resorts</a:t>
                      </a:r>
                      <a:endParaRPr lang="en-GB" sz="1600" dirty="0">
                        <a:latin typeface="Times New Roman" pitchFamily="18" charset="0"/>
                        <a:cs typeface="Times New Roman" pitchFamily="18" charset="0"/>
                      </a:endParaRPr>
                    </a:p>
                  </a:txBody>
                  <a:tcPr anchor="ctr"/>
                </a:tc>
                <a:tc>
                  <a:txBody>
                    <a:bodyPr/>
                    <a:lstStyle/>
                    <a:p>
                      <a:pPr algn="ctr"/>
                      <a:r>
                        <a:rPr lang="en-GB" sz="1600" dirty="0">
                          <a:latin typeface="Times New Roman" pitchFamily="18" charset="0"/>
                          <a:cs typeface="Times New Roman" pitchFamily="18" charset="0"/>
                        </a:rPr>
                        <a:t>Theme Park Entertainment</a:t>
                      </a:r>
                    </a:p>
                  </a:txBody>
                  <a:tcPr anchor="ctr"/>
                </a:tc>
                <a:tc>
                  <a:txBody>
                    <a:bodyPr/>
                    <a:lstStyle/>
                    <a:p>
                      <a:pPr algn="ctr"/>
                      <a:r>
                        <a:rPr lang="en-GB" sz="2000" dirty="0">
                          <a:latin typeface="Times New Roman" pitchFamily="18" charset="0"/>
                          <a:cs typeface="Times New Roman" pitchFamily="18" charset="0"/>
                        </a:rPr>
                        <a:t>0.9364</a:t>
                      </a:r>
                    </a:p>
                  </a:txBody>
                  <a:tcPr anchor="ctr"/>
                </a:tc>
                <a:tc>
                  <a:txBody>
                    <a:bodyPr/>
                    <a:lstStyle/>
                    <a:p>
                      <a:pPr algn="ctr"/>
                      <a:r>
                        <a:rPr lang="en-GB" sz="2000" dirty="0">
                          <a:latin typeface="Times New Roman" pitchFamily="18" charset="0"/>
                          <a:cs typeface="Times New Roman" pitchFamily="18" charset="0"/>
                        </a:rPr>
                        <a:t>12,920</a:t>
                      </a:r>
                    </a:p>
                  </a:txBody>
                  <a:tcPr anchor="ctr"/>
                </a:tc>
                <a:tc>
                  <a:txBody>
                    <a:bodyPr/>
                    <a:lstStyle/>
                    <a:p>
                      <a:pPr algn="ctr"/>
                      <a:r>
                        <a:rPr lang="en-GB" sz="2000" dirty="0">
                          <a:latin typeface="Times New Roman" pitchFamily="18" charset="0"/>
                          <a:cs typeface="Times New Roman" pitchFamily="18" charset="0"/>
                        </a:rPr>
                        <a:t>2.37</a:t>
                      </a:r>
                    </a:p>
                  </a:txBody>
                  <a:tcPr anchor="ctr"/>
                </a:tc>
                <a:tc>
                  <a:txBody>
                    <a:bodyPr/>
                    <a:lstStyle/>
                    <a:p>
                      <a:pPr marL="0" algn="ctr" rtl="0" eaLnBrk="1" fontAlgn="b" latinLnBrk="0" hangingPunct="1"/>
                      <a:r>
                        <a:rPr kumimoji="0" lang="en-GB" sz="2000" kern="1200" dirty="0">
                          <a:solidFill>
                            <a:schemeClr val="dk1"/>
                          </a:solidFill>
                          <a:latin typeface="Times New Roman" pitchFamily="18" charset="0"/>
                          <a:ea typeface="+mn-ea"/>
                          <a:cs typeface="Times New Roman" pitchFamily="18" charset="0"/>
                        </a:rPr>
                        <a:t>25.75%</a:t>
                      </a:r>
                    </a:p>
                  </a:txBody>
                  <a:tcPr marL="9525" marR="9525" marT="9525" marB="0" anchor="ctr"/>
                </a:tc>
                <a:tc>
                  <a:txBody>
                    <a:bodyPr/>
                    <a:lstStyle/>
                    <a:p>
                      <a:pPr marL="0" algn="ctr" rtl="0" eaLnBrk="1" fontAlgn="b" latinLnBrk="0" hangingPunct="1"/>
                      <a:r>
                        <a:rPr kumimoji="0" lang="en-GB" sz="2000" kern="1200" dirty="0">
                          <a:solidFill>
                            <a:schemeClr val="dk1"/>
                          </a:solidFill>
                          <a:latin typeface="Times New Roman" pitchFamily="18" charset="0"/>
                          <a:ea typeface="+mn-ea"/>
                          <a:cs typeface="Times New Roman" pitchFamily="18" charset="0"/>
                        </a:rPr>
                        <a:t>0.2412</a:t>
                      </a:r>
                    </a:p>
                  </a:txBody>
                  <a:tcPr marL="9525" marR="9525" marT="9525" marB="0" anchor="ctr"/>
                </a:tc>
                <a:extLst>
                  <a:ext uri="{0D108BD9-81ED-4DB2-BD59-A6C34878D82A}">
                    <a16:rowId xmlns:a16="http://schemas.microsoft.com/office/drawing/2014/main" val="10002"/>
                  </a:ext>
                </a:extLst>
              </a:tr>
              <a:tr h="571384">
                <a:tc>
                  <a:txBody>
                    <a:bodyPr/>
                    <a:lstStyle/>
                    <a:p>
                      <a:pPr algn="ctr"/>
                      <a:r>
                        <a:rPr lang="en-GB" sz="1600" dirty="0">
                          <a:latin typeface="Times New Roman" pitchFamily="18" charset="0"/>
                          <a:cs typeface="Times New Roman" pitchFamily="18" charset="0"/>
                        </a:rPr>
                        <a:t>Studio Entertainment</a:t>
                      </a:r>
                    </a:p>
                  </a:txBody>
                  <a:tcPr anchor="ctr"/>
                </a:tc>
                <a:tc>
                  <a:txBody>
                    <a:bodyPr/>
                    <a:lstStyle/>
                    <a:p>
                      <a:pPr algn="ctr"/>
                      <a:r>
                        <a:rPr lang="en-GB" sz="1600" dirty="0">
                          <a:latin typeface="Times New Roman" pitchFamily="18" charset="0"/>
                          <a:cs typeface="Times New Roman" pitchFamily="18" charset="0"/>
                        </a:rPr>
                        <a:t>Movie</a:t>
                      </a:r>
                      <a:r>
                        <a:rPr lang="en-GB" sz="1600" baseline="0" dirty="0">
                          <a:latin typeface="Times New Roman" pitchFamily="18" charset="0"/>
                          <a:cs typeface="Times New Roman" pitchFamily="18" charset="0"/>
                        </a:rPr>
                        <a:t> Cos</a:t>
                      </a:r>
                      <a:endParaRPr lang="en-GB" sz="1600" dirty="0">
                        <a:latin typeface="Times New Roman" pitchFamily="18" charset="0"/>
                        <a:cs typeface="Times New Roman" pitchFamily="18" charset="0"/>
                      </a:endParaRPr>
                    </a:p>
                  </a:txBody>
                  <a:tcPr anchor="ctr"/>
                </a:tc>
                <a:tc>
                  <a:txBody>
                    <a:bodyPr/>
                    <a:lstStyle/>
                    <a:p>
                      <a:pPr algn="ctr"/>
                      <a:r>
                        <a:rPr lang="en-GB" sz="2000" dirty="0">
                          <a:latin typeface="Times New Roman" pitchFamily="18" charset="0"/>
                          <a:cs typeface="Times New Roman" pitchFamily="18" charset="0"/>
                        </a:rPr>
                        <a:t>1.3310</a:t>
                      </a:r>
                    </a:p>
                  </a:txBody>
                  <a:tcPr anchor="ctr"/>
                </a:tc>
                <a:tc>
                  <a:txBody>
                    <a:bodyPr/>
                    <a:lstStyle/>
                    <a:p>
                      <a:pPr algn="ctr"/>
                      <a:r>
                        <a:rPr lang="en-GB" sz="2000" dirty="0">
                          <a:latin typeface="Times New Roman" pitchFamily="18" charset="0"/>
                          <a:cs typeface="Times New Roman" pitchFamily="18" charset="0"/>
                        </a:rPr>
                        <a:t>5,825</a:t>
                      </a:r>
                    </a:p>
                  </a:txBody>
                  <a:tcPr anchor="ctr"/>
                </a:tc>
                <a:tc>
                  <a:txBody>
                    <a:bodyPr/>
                    <a:lstStyle/>
                    <a:p>
                      <a:pPr algn="ctr"/>
                      <a:r>
                        <a:rPr lang="en-GB" sz="2000" dirty="0">
                          <a:latin typeface="Times New Roman" pitchFamily="18" charset="0"/>
                          <a:cs typeface="Times New Roman" pitchFamily="18" charset="0"/>
                        </a:rPr>
                        <a:t>2.63</a:t>
                      </a:r>
                    </a:p>
                  </a:txBody>
                  <a:tcPr anchor="ctr"/>
                </a:tc>
                <a:tc>
                  <a:txBody>
                    <a:bodyPr/>
                    <a:lstStyle/>
                    <a:p>
                      <a:pPr marL="0" algn="ctr" rtl="0" eaLnBrk="1" fontAlgn="b" latinLnBrk="0" hangingPunct="1"/>
                      <a:r>
                        <a:rPr kumimoji="0" lang="en-GB" sz="2000" kern="1200" dirty="0">
                          <a:solidFill>
                            <a:schemeClr val="dk1"/>
                          </a:solidFill>
                          <a:latin typeface="Times New Roman" pitchFamily="18" charset="0"/>
                          <a:ea typeface="+mn-ea"/>
                          <a:cs typeface="Times New Roman" pitchFamily="18" charset="0"/>
                        </a:rPr>
                        <a:t>12.89%</a:t>
                      </a:r>
                    </a:p>
                  </a:txBody>
                  <a:tcPr marL="9525" marR="9525" marT="9525" marB="0" anchor="ctr"/>
                </a:tc>
                <a:tc>
                  <a:txBody>
                    <a:bodyPr/>
                    <a:lstStyle/>
                    <a:p>
                      <a:pPr marL="0" algn="ctr" rtl="0" eaLnBrk="1" fontAlgn="b" latinLnBrk="0" hangingPunct="1"/>
                      <a:r>
                        <a:rPr kumimoji="0" lang="en-GB" sz="2000" kern="1200" dirty="0">
                          <a:solidFill>
                            <a:schemeClr val="dk1"/>
                          </a:solidFill>
                          <a:latin typeface="Times New Roman" pitchFamily="18" charset="0"/>
                          <a:ea typeface="+mn-ea"/>
                          <a:cs typeface="Times New Roman" pitchFamily="18" charset="0"/>
                        </a:rPr>
                        <a:t>0.1715</a:t>
                      </a:r>
                    </a:p>
                  </a:txBody>
                  <a:tcPr marL="9525" marR="9525" marT="9525" marB="0" anchor="ctr"/>
                </a:tc>
                <a:extLst>
                  <a:ext uri="{0D108BD9-81ED-4DB2-BD59-A6C34878D82A}">
                    <a16:rowId xmlns:a16="http://schemas.microsoft.com/office/drawing/2014/main" val="10003"/>
                  </a:ext>
                </a:extLst>
              </a:tr>
              <a:tr h="1187210">
                <a:tc>
                  <a:txBody>
                    <a:bodyPr/>
                    <a:lstStyle/>
                    <a:p>
                      <a:pPr algn="ctr"/>
                      <a:r>
                        <a:rPr lang="en-GB" sz="1600" dirty="0">
                          <a:latin typeface="Times New Roman" pitchFamily="18" charset="0"/>
                          <a:cs typeface="Times New Roman" pitchFamily="18" charset="0"/>
                        </a:rPr>
                        <a:t>Consumer Products/</a:t>
                      </a:r>
                    </a:p>
                    <a:p>
                      <a:pPr algn="ctr"/>
                      <a:r>
                        <a:rPr lang="en-GB" sz="1600" dirty="0">
                          <a:latin typeface="Times New Roman" pitchFamily="18" charset="0"/>
                          <a:cs typeface="Times New Roman" pitchFamily="18" charset="0"/>
                        </a:rPr>
                        <a:t>Interactive</a:t>
                      </a:r>
                    </a:p>
                  </a:txBody>
                  <a:tcPr anchor="ctr"/>
                </a:tc>
                <a:tc>
                  <a:txBody>
                    <a:bodyPr/>
                    <a:lstStyle/>
                    <a:p>
                      <a:pPr algn="ctr"/>
                      <a:r>
                        <a:rPr lang="en-GB" sz="1600" dirty="0">
                          <a:latin typeface="Times New Roman" pitchFamily="18" charset="0"/>
                          <a:cs typeface="Times New Roman" pitchFamily="18" charset="0"/>
                        </a:rPr>
                        <a:t>Toy and Apparel</a:t>
                      </a:r>
                      <a:r>
                        <a:rPr lang="en-GB" sz="1600" baseline="0" dirty="0">
                          <a:latin typeface="Times New Roman" pitchFamily="18" charset="0"/>
                          <a:cs typeface="Times New Roman" pitchFamily="18" charset="0"/>
                        </a:rPr>
                        <a:t> retailers/</a:t>
                      </a:r>
                    </a:p>
                    <a:p>
                      <a:pPr algn="ctr"/>
                      <a:r>
                        <a:rPr lang="en-GB" sz="1600" baseline="0" dirty="0">
                          <a:latin typeface="Times New Roman" pitchFamily="18" charset="0"/>
                          <a:cs typeface="Times New Roman" pitchFamily="18" charset="0"/>
                        </a:rPr>
                        <a:t>Entertainment </a:t>
                      </a:r>
                      <a:r>
                        <a:rPr lang="en-GB" sz="1600" baseline="0" dirty="0" err="1">
                          <a:latin typeface="Times New Roman" pitchFamily="18" charset="0"/>
                          <a:cs typeface="Times New Roman" pitchFamily="18" charset="0"/>
                        </a:rPr>
                        <a:t>Sftw</a:t>
                      </a:r>
                      <a:endParaRPr lang="en-GB" sz="1600" dirty="0">
                        <a:latin typeface="Times New Roman" pitchFamily="18" charset="0"/>
                        <a:cs typeface="Times New Roman" pitchFamily="18" charset="0"/>
                      </a:endParaRPr>
                    </a:p>
                  </a:txBody>
                  <a:tcPr anchor="ctr"/>
                </a:tc>
                <a:tc>
                  <a:txBody>
                    <a:bodyPr/>
                    <a:lstStyle/>
                    <a:p>
                      <a:pPr algn="ctr"/>
                      <a:r>
                        <a:rPr lang="en-GB" sz="2000" dirty="0">
                          <a:latin typeface="Times New Roman" pitchFamily="18" charset="0"/>
                          <a:cs typeface="Times New Roman" pitchFamily="18" charset="0"/>
                        </a:rPr>
                        <a:t>1.2186</a:t>
                      </a:r>
                    </a:p>
                  </a:txBody>
                  <a:tcPr anchor="ctr"/>
                </a:tc>
                <a:tc>
                  <a:txBody>
                    <a:bodyPr/>
                    <a:lstStyle/>
                    <a:p>
                      <a:pPr algn="ctr"/>
                      <a:r>
                        <a:rPr lang="en-GB" sz="2000" dirty="0">
                          <a:latin typeface="Times New Roman" pitchFamily="18" charset="0"/>
                          <a:cs typeface="Times New Roman" pitchFamily="18" charset="0"/>
                        </a:rPr>
                        <a:t>4,097</a:t>
                      </a:r>
                    </a:p>
                  </a:txBody>
                  <a:tcPr anchor="ctr"/>
                </a:tc>
                <a:tc>
                  <a:txBody>
                    <a:bodyPr/>
                    <a:lstStyle/>
                    <a:p>
                      <a:pPr algn="ctr"/>
                      <a:r>
                        <a:rPr lang="en-GB" sz="2000" dirty="0">
                          <a:latin typeface="Times New Roman" pitchFamily="18" charset="0"/>
                          <a:cs typeface="Times New Roman" pitchFamily="18" charset="0"/>
                        </a:rPr>
                        <a:t>1.63</a:t>
                      </a:r>
                    </a:p>
                  </a:txBody>
                  <a:tcPr anchor="ctr"/>
                </a:tc>
                <a:tc>
                  <a:txBody>
                    <a:bodyPr/>
                    <a:lstStyle/>
                    <a:p>
                      <a:pPr marL="0" algn="ctr" rtl="0" eaLnBrk="1" fontAlgn="b" latinLnBrk="0" hangingPunct="1"/>
                      <a:r>
                        <a:rPr kumimoji="0" lang="en-GB" sz="2000" kern="1200" dirty="0">
                          <a:solidFill>
                            <a:schemeClr val="dk1"/>
                          </a:solidFill>
                          <a:latin typeface="Times New Roman" pitchFamily="18" charset="0"/>
                          <a:ea typeface="+mn-ea"/>
                          <a:cs typeface="Times New Roman" pitchFamily="18" charset="0"/>
                        </a:rPr>
                        <a:t>5.62%</a:t>
                      </a:r>
                    </a:p>
                  </a:txBody>
                  <a:tcPr marL="9525" marR="9525" marT="9525" marB="0" anchor="ctr"/>
                </a:tc>
                <a:tc>
                  <a:txBody>
                    <a:bodyPr/>
                    <a:lstStyle/>
                    <a:p>
                      <a:pPr marL="0" algn="ctr" rtl="0" eaLnBrk="1" fontAlgn="b" latinLnBrk="0" hangingPunct="1"/>
                      <a:r>
                        <a:rPr kumimoji="0" lang="en-GB" sz="2000" kern="1200" dirty="0">
                          <a:solidFill>
                            <a:schemeClr val="dk1"/>
                          </a:solidFill>
                          <a:latin typeface="Times New Roman" pitchFamily="18" charset="0"/>
                          <a:ea typeface="+mn-ea"/>
                          <a:cs typeface="Times New Roman" pitchFamily="18" charset="0"/>
                        </a:rPr>
                        <a:t>0.0684</a:t>
                      </a:r>
                    </a:p>
                  </a:txBody>
                  <a:tcPr marL="9525" marR="9525" marT="9525" marB="0" anchor="ctr"/>
                </a:tc>
                <a:extLst>
                  <a:ext uri="{0D108BD9-81ED-4DB2-BD59-A6C34878D82A}">
                    <a16:rowId xmlns:a16="http://schemas.microsoft.com/office/drawing/2014/main" val="10004"/>
                  </a:ext>
                </a:extLst>
              </a:tr>
              <a:tr h="237442">
                <a:tc>
                  <a:txBody>
                    <a:bodyPr/>
                    <a:lstStyle/>
                    <a:p>
                      <a:pPr algn="ctr"/>
                      <a:r>
                        <a:rPr lang="en-GB" sz="1600" dirty="0">
                          <a:latin typeface="Times New Roman" pitchFamily="18" charset="0"/>
                          <a:cs typeface="Times New Roman" pitchFamily="18" charset="0"/>
                        </a:rPr>
                        <a:t>Overall</a:t>
                      </a:r>
                    </a:p>
                  </a:txBody>
                  <a:tcPr anchor="ctr"/>
                </a:tc>
                <a:tc>
                  <a:txBody>
                    <a:bodyPr/>
                    <a:lstStyle/>
                    <a:p>
                      <a:pPr algn="ctr"/>
                      <a:endParaRPr lang="en-GB" sz="1600" dirty="0">
                        <a:latin typeface="Times New Roman" pitchFamily="18" charset="0"/>
                        <a:cs typeface="Times New Roman" pitchFamily="18" charset="0"/>
                      </a:endParaRPr>
                    </a:p>
                  </a:txBody>
                  <a:tcPr anchor="ctr"/>
                </a:tc>
                <a:tc>
                  <a:txBody>
                    <a:bodyPr/>
                    <a:lstStyle/>
                    <a:p>
                      <a:pPr algn="ctr"/>
                      <a:endParaRPr lang="en-GB" sz="2000" dirty="0">
                        <a:latin typeface="Times New Roman" pitchFamily="18" charset="0"/>
                        <a:cs typeface="Times New Roman" pitchFamily="18" charset="0"/>
                      </a:endParaRPr>
                    </a:p>
                  </a:txBody>
                  <a:tcPr anchor="ctr"/>
                </a:tc>
                <a:tc>
                  <a:txBody>
                    <a:bodyPr/>
                    <a:lstStyle/>
                    <a:p>
                      <a:pPr algn="ctr"/>
                      <a:endParaRPr lang="en-GB" sz="2000" dirty="0">
                        <a:latin typeface="Times New Roman" pitchFamily="18" charset="0"/>
                        <a:cs typeface="Times New Roman" pitchFamily="18" charset="0"/>
                      </a:endParaRPr>
                    </a:p>
                  </a:txBody>
                  <a:tcPr anchor="ctr"/>
                </a:tc>
                <a:tc>
                  <a:txBody>
                    <a:bodyPr/>
                    <a:lstStyle/>
                    <a:p>
                      <a:pPr algn="ctr"/>
                      <a:endParaRPr lang="en-GB" sz="2000" dirty="0">
                        <a:latin typeface="Times New Roman" pitchFamily="18" charset="0"/>
                        <a:cs typeface="Times New Roman" pitchFamily="18" charset="0"/>
                      </a:endParaRPr>
                    </a:p>
                  </a:txBody>
                  <a:tcPr anchor="ctr"/>
                </a:tc>
                <a:tc>
                  <a:txBody>
                    <a:bodyPr/>
                    <a:lstStyle/>
                    <a:p>
                      <a:pPr algn="ctr"/>
                      <a:endParaRPr lang="en-GB" sz="2000" dirty="0">
                        <a:latin typeface="Times New Roman" pitchFamily="18" charset="0"/>
                        <a:cs typeface="Times New Roman" pitchFamily="18" charset="0"/>
                      </a:endParaRPr>
                    </a:p>
                  </a:txBody>
                  <a:tcPr anchor="ctr"/>
                </a:tc>
                <a:tc>
                  <a:txBody>
                    <a:bodyPr/>
                    <a:lstStyle/>
                    <a:p>
                      <a:pPr marL="0" algn="ctr" rtl="0" eaLnBrk="1" fontAlgn="b" latinLnBrk="0" hangingPunct="1"/>
                      <a:r>
                        <a:rPr kumimoji="0" lang="en-GB" sz="2000" kern="1200" dirty="0">
                          <a:solidFill>
                            <a:schemeClr val="dk1"/>
                          </a:solidFill>
                          <a:latin typeface="Times New Roman" pitchFamily="18" charset="0"/>
                          <a:ea typeface="+mn-ea"/>
                          <a:cs typeface="Times New Roman" pitchFamily="18" charset="0"/>
                        </a:rPr>
                        <a:t>1.0905</a:t>
                      </a:r>
                    </a:p>
                  </a:txBody>
                  <a:tcPr marL="9525" marR="9525" marT="9525" marB="0" anchor="ctr"/>
                </a:tc>
                <a:extLst>
                  <a:ext uri="{0D108BD9-81ED-4DB2-BD59-A6C34878D82A}">
                    <a16:rowId xmlns:a16="http://schemas.microsoft.com/office/drawing/2014/main" val="10005"/>
                  </a:ext>
                </a:extLst>
              </a:tr>
            </a:tbl>
          </a:graphicData>
        </a:graphic>
      </p:graphicFrame>
      <p:sp>
        <p:nvSpPr>
          <p:cNvPr id="7" name="Text Box 14"/>
          <p:cNvSpPr txBox="1">
            <a:spLocks noChangeArrowheads="1"/>
          </p:cNvSpPr>
          <p:nvPr/>
        </p:nvSpPr>
        <p:spPr bwMode="auto">
          <a:xfrm>
            <a:off x="1403648" y="5085184"/>
            <a:ext cx="6941324" cy="1631216"/>
          </a:xfrm>
          <a:prstGeom prst="rect">
            <a:avLst/>
          </a:prstGeom>
          <a:noFill/>
          <a:ln w="12700">
            <a:noFill/>
            <a:miter lim="800000"/>
            <a:headEnd/>
            <a:tailEnd/>
          </a:ln>
          <a:effectLst/>
        </p:spPr>
        <p:txBody>
          <a:bodyPr wrap="none">
            <a:spAutoFit/>
          </a:bodyPr>
          <a:lstStyle/>
          <a:p>
            <a:r>
              <a:rPr lang="en-US" sz="2800" dirty="0"/>
              <a:t>Estimate a levered beta for Disney</a:t>
            </a:r>
          </a:p>
          <a:p>
            <a:r>
              <a:rPr lang="en-US" dirty="0"/>
              <a:t>Market debt to equity ratio = 20.28%</a:t>
            </a:r>
          </a:p>
          <a:p>
            <a:r>
              <a:rPr lang="en-US" dirty="0"/>
              <a:t>Marginal tax rate = 33.3%</a:t>
            </a:r>
          </a:p>
          <a:p>
            <a:r>
              <a:rPr lang="en-US" dirty="0"/>
              <a:t>Levered beta = 1.0905*( 1 + (1- .333) (.2028)) = 1.238</a:t>
            </a:r>
            <a:endParaRPr lang="en-US" sz="4000" dirty="0"/>
          </a:p>
        </p:txBody>
      </p:sp>
    </p:spTree>
    <p:extLst>
      <p:ext uri="{BB962C8B-B14F-4D97-AF65-F5344CB8AC3E}">
        <p14:creationId xmlns:p14="http://schemas.microsoft.com/office/powerpoint/2010/main" val="67304855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116632"/>
            <a:ext cx="8842248" cy="608112"/>
          </a:xfrm>
        </p:spPr>
        <p:txBody>
          <a:bodyPr>
            <a:normAutofit fontScale="90000"/>
          </a:bodyPr>
          <a:lstStyle/>
          <a:p>
            <a:r>
              <a:rPr lang="en-GB" dirty="0"/>
              <a:t>Multiple Betas Example: Disney (Revenue weights)</a:t>
            </a: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3051569556"/>
              </p:ext>
            </p:extLst>
          </p:nvPr>
        </p:nvGraphicFramePr>
        <p:xfrm>
          <a:off x="684096" y="795412"/>
          <a:ext cx="7560312" cy="4289772"/>
        </p:xfrm>
        <a:graphic>
          <a:graphicData uri="http://schemas.openxmlformats.org/drawingml/2006/table">
            <a:tbl>
              <a:tblPr firstRow="1" bandRow="1">
                <a:tableStyleId>{5C22544A-7EE6-4342-B048-85BDC9FD1C3A}</a:tableStyleId>
              </a:tblPr>
              <a:tblGrid>
                <a:gridCol w="1368152">
                  <a:extLst>
                    <a:ext uri="{9D8B030D-6E8A-4147-A177-3AD203B41FA5}">
                      <a16:colId xmlns:a16="http://schemas.microsoft.com/office/drawing/2014/main" val="20000"/>
                    </a:ext>
                  </a:extLst>
                </a:gridCol>
                <a:gridCol w="1440160">
                  <a:extLst>
                    <a:ext uri="{9D8B030D-6E8A-4147-A177-3AD203B41FA5}">
                      <a16:colId xmlns:a16="http://schemas.microsoft.com/office/drawing/2014/main" val="20001"/>
                    </a:ext>
                  </a:extLst>
                </a:gridCol>
                <a:gridCol w="1188000">
                  <a:extLst>
                    <a:ext uri="{9D8B030D-6E8A-4147-A177-3AD203B41FA5}">
                      <a16:colId xmlns:a16="http://schemas.microsoft.com/office/drawing/2014/main" val="20002"/>
                    </a:ext>
                  </a:extLst>
                </a:gridCol>
                <a:gridCol w="1188000">
                  <a:extLst>
                    <a:ext uri="{9D8B030D-6E8A-4147-A177-3AD203B41FA5}">
                      <a16:colId xmlns:a16="http://schemas.microsoft.com/office/drawing/2014/main" val="20003"/>
                    </a:ext>
                  </a:extLst>
                </a:gridCol>
                <a:gridCol w="1188000">
                  <a:extLst>
                    <a:ext uri="{9D8B030D-6E8A-4147-A177-3AD203B41FA5}">
                      <a16:colId xmlns:a16="http://schemas.microsoft.com/office/drawing/2014/main" val="20004"/>
                    </a:ext>
                  </a:extLst>
                </a:gridCol>
                <a:gridCol w="1188000">
                  <a:extLst>
                    <a:ext uri="{9D8B030D-6E8A-4147-A177-3AD203B41FA5}">
                      <a16:colId xmlns:a16="http://schemas.microsoft.com/office/drawing/2014/main" val="20005"/>
                    </a:ext>
                  </a:extLst>
                </a:gridCol>
              </a:tblGrid>
              <a:tr h="395737">
                <a:tc>
                  <a:txBody>
                    <a:bodyPr/>
                    <a:lstStyle/>
                    <a:p>
                      <a:pPr algn="ctr"/>
                      <a:r>
                        <a:rPr lang="en-GB" sz="1600" dirty="0">
                          <a:latin typeface="Times New Roman" pitchFamily="18" charset="0"/>
                          <a:cs typeface="Times New Roman" pitchFamily="18" charset="0"/>
                        </a:rPr>
                        <a:t>Industries</a:t>
                      </a:r>
                    </a:p>
                  </a:txBody>
                  <a:tcPr anchor="ctr"/>
                </a:tc>
                <a:tc>
                  <a:txBody>
                    <a:bodyPr/>
                    <a:lstStyle/>
                    <a:p>
                      <a:pPr algn="ctr"/>
                      <a:r>
                        <a:rPr lang="en-GB" sz="1600" dirty="0">
                          <a:latin typeface="Times New Roman" pitchFamily="18" charset="0"/>
                          <a:cs typeface="Times New Roman" pitchFamily="18" charset="0"/>
                        </a:rPr>
                        <a:t>Comparable</a:t>
                      </a:r>
                    </a:p>
                  </a:txBody>
                  <a:tcPr anchor="ctr"/>
                </a:tc>
                <a:tc>
                  <a:txBody>
                    <a:bodyPr/>
                    <a:lstStyle/>
                    <a:p>
                      <a:pPr algn="ctr"/>
                      <a:r>
                        <a:rPr lang="en-GB" sz="1600" dirty="0">
                          <a:latin typeface="Times New Roman" pitchFamily="18" charset="0"/>
                          <a:cs typeface="Times New Roman" pitchFamily="18" charset="0"/>
                        </a:rPr>
                        <a:t>Unlevered</a:t>
                      </a:r>
                      <a:r>
                        <a:rPr lang="en-GB" sz="1600" baseline="0" dirty="0">
                          <a:latin typeface="Times New Roman" pitchFamily="18" charset="0"/>
                          <a:cs typeface="Times New Roman" pitchFamily="18" charset="0"/>
                        </a:rPr>
                        <a:t> Beta</a:t>
                      </a:r>
                      <a:endParaRPr lang="en-GB" sz="1600" dirty="0">
                        <a:latin typeface="Times New Roman" pitchFamily="18" charset="0"/>
                        <a:cs typeface="Times New Roman" pitchFamily="18" charset="0"/>
                      </a:endParaRPr>
                    </a:p>
                  </a:txBody>
                  <a:tcPr anchor="ctr"/>
                </a:tc>
                <a:tc>
                  <a:txBody>
                    <a:bodyPr/>
                    <a:lstStyle/>
                    <a:p>
                      <a:pPr algn="ctr"/>
                      <a:r>
                        <a:rPr lang="en-GB" sz="1600" dirty="0">
                          <a:latin typeface="Times New Roman" pitchFamily="18" charset="0"/>
                          <a:cs typeface="Times New Roman" pitchFamily="18" charset="0"/>
                        </a:rPr>
                        <a:t>Revenue</a:t>
                      </a:r>
                    </a:p>
                  </a:txBody>
                  <a:tcPr anchor="ctr"/>
                </a:tc>
                <a:tc>
                  <a:txBody>
                    <a:bodyPr/>
                    <a:lstStyle/>
                    <a:p>
                      <a:pPr algn="ctr"/>
                      <a:r>
                        <a:rPr lang="en-GB" sz="1600" dirty="0">
                          <a:latin typeface="Times New Roman" pitchFamily="18" charset="0"/>
                          <a:cs typeface="Times New Roman" pitchFamily="18" charset="0"/>
                        </a:rPr>
                        <a:t>Weight</a:t>
                      </a:r>
                    </a:p>
                  </a:txBody>
                  <a:tcPr anchor="ctr"/>
                </a:tc>
                <a:tc>
                  <a:txBody>
                    <a:bodyPr/>
                    <a:lstStyle/>
                    <a:p>
                      <a:pPr algn="ctr"/>
                      <a:r>
                        <a:rPr lang="en-GB" sz="1600" dirty="0">
                          <a:latin typeface="Times New Roman" pitchFamily="18" charset="0"/>
                          <a:cs typeface="Times New Roman" pitchFamily="18" charset="0"/>
                        </a:rPr>
                        <a:t>Weighted</a:t>
                      </a:r>
                      <a:r>
                        <a:rPr lang="en-GB" sz="1600" baseline="0" dirty="0">
                          <a:latin typeface="Times New Roman" pitchFamily="18" charset="0"/>
                          <a:cs typeface="Times New Roman" pitchFamily="18" charset="0"/>
                        </a:rPr>
                        <a:t> Beta</a:t>
                      </a:r>
                      <a:endParaRPr lang="en-GB" sz="1600"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712326">
                <a:tc>
                  <a:txBody>
                    <a:bodyPr/>
                    <a:lstStyle/>
                    <a:p>
                      <a:pPr algn="ctr"/>
                      <a:r>
                        <a:rPr lang="en-GB" sz="1600" dirty="0">
                          <a:latin typeface="Times New Roman" pitchFamily="18" charset="0"/>
                          <a:cs typeface="Times New Roman" pitchFamily="18" charset="0"/>
                        </a:rPr>
                        <a:t>Media Networks</a:t>
                      </a:r>
                    </a:p>
                  </a:txBody>
                  <a:tcPr anchor="ctr"/>
                </a:tc>
                <a:tc>
                  <a:txBody>
                    <a:bodyPr/>
                    <a:lstStyle/>
                    <a:p>
                      <a:pPr algn="ctr"/>
                      <a:r>
                        <a:rPr lang="en-GB" sz="1600" dirty="0">
                          <a:latin typeface="Times New Roman" pitchFamily="18" charset="0"/>
                          <a:cs typeface="Times New Roman" pitchFamily="18" charset="0"/>
                        </a:rPr>
                        <a:t>Media and TV Broadcasting</a:t>
                      </a:r>
                    </a:p>
                  </a:txBody>
                  <a:tcPr anchor="ctr"/>
                </a:tc>
                <a:tc>
                  <a:txBody>
                    <a:bodyPr/>
                    <a:lstStyle/>
                    <a:p>
                      <a:pPr algn="ctr"/>
                      <a:r>
                        <a:rPr lang="en-GB" sz="2000" dirty="0">
                          <a:latin typeface="Times New Roman" pitchFamily="18" charset="0"/>
                          <a:cs typeface="Times New Roman" pitchFamily="18" charset="0"/>
                        </a:rPr>
                        <a:t>1.0932</a:t>
                      </a:r>
                    </a:p>
                  </a:txBody>
                  <a:tcPr anchor="ctr"/>
                </a:tc>
                <a:tc>
                  <a:txBody>
                    <a:bodyPr/>
                    <a:lstStyle/>
                    <a:p>
                      <a:pPr algn="ctr"/>
                      <a:r>
                        <a:rPr lang="en-GB" sz="2000" dirty="0">
                          <a:latin typeface="Times New Roman" pitchFamily="18" charset="0"/>
                          <a:cs typeface="Times New Roman" pitchFamily="18" charset="0"/>
                        </a:rPr>
                        <a:t>19,436</a:t>
                      </a:r>
                    </a:p>
                  </a:txBody>
                  <a:tcPr anchor="ctr"/>
                </a:tc>
                <a:tc>
                  <a:txBody>
                    <a:bodyPr/>
                    <a:lstStyle/>
                    <a:p>
                      <a:pPr marL="0" algn="ctr" rtl="0" eaLnBrk="1" fontAlgn="b" latinLnBrk="0" hangingPunct="1"/>
                      <a:r>
                        <a:rPr kumimoji="0" lang="en-US" sz="2000" kern="1200" dirty="0">
                          <a:solidFill>
                            <a:schemeClr val="dk1"/>
                          </a:solidFill>
                          <a:latin typeface="Times New Roman" pitchFamily="18" charset="0"/>
                          <a:ea typeface="+mn-ea"/>
                          <a:cs typeface="Times New Roman" pitchFamily="18" charset="0"/>
                        </a:rPr>
                        <a:t>45.97%</a:t>
                      </a:r>
                    </a:p>
                  </a:txBody>
                  <a:tcPr marL="9525" marR="9525" marT="9525" marB="0" anchor="ctr"/>
                </a:tc>
                <a:tc>
                  <a:txBody>
                    <a:bodyPr/>
                    <a:lstStyle/>
                    <a:p>
                      <a:pPr marL="0" algn="ctr" rtl="0" eaLnBrk="1" fontAlgn="b" latinLnBrk="0" hangingPunct="1"/>
                      <a:r>
                        <a:rPr kumimoji="0" lang="en-US" sz="2000" kern="1200" dirty="0">
                          <a:solidFill>
                            <a:schemeClr val="dk1"/>
                          </a:solidFill>
                          <a:latin typeface="Times New Roman" pitchFamily="18" charset="0"/>
                          <a:ea typeface="+mn-ea"/>
                          <a:cs typeface="Times New Roman" pitchFamily="18" charset="0"/>
                        </a:rPr>
                        <a:t>0.5026</a:t>
                      </a:r>
                    </a:p>
                  </a:txBody>
                  <a:tcPr marL="9525" marR="9525" marT="9525" marB="0" anchor="ctr"/>
                </a:tc>
                <a:extLst>
                  <a:ext uri="{0D108BD9-81ED-4DB2-BD59-A6C34878D82A}">
                    <a16:rowId xmlns:a16="http://schemas.microsoft.com/office/drawing/2014/main" val="10001"/>
                  </a:ext>
                </a:extLst>
              </a:tr>
              <a:tr h="712326">
                <a:tc>
                  <a:txBody>
                    <a:bodyPr/>
                    <a:lstStyle/>
                    <a:p>
                      <a:pPr algn="ctr"/>
                      <a:r>
                        <a:rPr lang="en-GB" sz="1600" dirty="0">
                          <a:latin typeface="Times New Roman" pitchFamily="18" charset="0"/>
                          <a:cs typeface="Times New Roman" pitchFamily="18" charset="0"/>
                        </a:rPr>
                        <a:t>Parks</a:t>
                      </a:r>
                      <a:r>
                        <a:rPr lang="en-GB" sz="1600" baseline="0" dirty="0">
                          <a:latin typeface="Times New Roman" pitchFamily="18" charset="0"/>
                          <a:cs typeface="Times New Roman" pitchFamily="18" charset="0"/>
                        </a:rPr>
                        <a:t> and Resorts</a:t>
                      </a:r>
                      <a:endParaRPr lang="en-GB" sz="1600" dirty="0">
                        <a:latin typeface="Times New Roman" pitchFamily="18" charset="0"/>
                        <a:cs typeface="Times New Roman" pitchFamily="18" charset="0"/>
                      </a:endParaRPr>
                    </a:p>
                  </a:txBody>
                  <a:tcPr anchor="ctr"/>
                </a:tc>
                <a:tc>
                  <a:txBody>
                    <a:bodyPr/>
                    <a:lstStyle/>
                    <a:p>
                      <a:pPr algn="ctr"/>
                      <a:r>
                        <a:rPr lang="en-GB" sz="1600" dirty="0">
                          <a:latin typeface="Times New Roman" pitchFamily="18" charset="0"/>
                          <a:cs typeface="Times New Roman" pitchFamily="18" charset="0"/>
                        </a:rPr>
                        <a:t>Theme Park Entertainment</a:t>
                      </a:r>
                    </a:p>
                  </a:txBody>
                  <a:tcPr anchor="ctr"/>
                </a:tc>
                <a:tc>
                  <a:txBody>
                    <a:bodyPr/>
                    <a:lstStyle/>
                    <a:p>
                      <a:pPr algn="ctr"/>
                      <a:r>
                        <a:rPr lang="en-GB" sz="2000" dirty="0">
                          <a:latin typeface="Times New Roman" pitchFamily="18" charset="0"/>
                          <a:cs typeface="Times New Roman" pitchFamily="18" charset="0"/>
                        </a:rPr>
                        <a:t>0.9364</a:t>
                      </a:r>
                    </a:p>
                  </a:txBody>
                  <a:tcPr anchor="ctr"/>
                </a:tc>
                <a:tc>
                  <a:txBody>
                    <a:bodyPr/>
                    <a:lstStyle/>
                    <a:p>
                      <a:pPr algn="ctr"/>
                      <a:r>
                        <a:rPr lang="en-GB" sz="2000" dirty="0">
                          <a:latin typeface="Times New Roman" pitchFamily="18" charset="0"/>
                          <a:cs typeface="Times New Roman" pitchFamily="18" charset="0"/>
                        </a:rPr>
                        <a:t>12,920</a:t>
                      </a:r>
                    </a:p>
                  </a:txBody>
                  <a:tcPr anchor="ctr"/>
                </a:tc>
                <a:tc>
                  <a:txBody>
                    <a:bodyPr/>
                    <a:lstStyle/>
                    <a:p>
                      <a:pPr marL="0" algn="ctr" rtl="0" eaLnBrk="1" fontAlgn="b" latinLnBrk="0" hangingPunct="1"/>
                      <a:r>
                        <a:rPr kumimoji="0" lang="en-US" sz="2000" kern="1200" dirty="0">
                          <a:solidFill>
                            <a:schemeClr val="dk1"/>
                          </a:solidFill>
                          <a:latin typeface="Times New Roman" pitchFamily="18" charset="0"/>
                          <a:ea typeface="+mn-ea"/>
                          <a:cs typeface="Times New Roman" pitchFamily="18" charset="0"/>
                        </a:rPr>
                        <a:t>30.56%</a:t>
                      </a:r>
                    </a:p>
                  </a:txBody>
                  <a:tcPr marL="9525" marR="9525" marT="9525" marB="0" anchor="ctr"/>
                </a:tc>
                <a:tc>
                  <a:txBody>
                    <a:bodyPr/>
                    <a:lstStyle/>
                    <a:p>
                      <a:pPr marL="0" algn="ctr" rtl="0" eaLnBrk="1" fontAlgn="b" latinLnBrk="0" hangingPunct="1"/>
                      <a:r>
                        <a:rPr kumimoji="0" lang="en-US" sz="2000" kern="1200" dirty="0">
                          <a:solidFill>
                            <a:schemeClr val="dk1"/>
                          </a:solidFill>
                          <a:latin typeface="Times New Roman" pitchFamily="18" charset="0"/>
                          <a:ea typeface="+mn-ea"/>
                          <a:cs typeface="Times New Roman" pitchFamily="18" charset="0"/>
                        </a:rPr>
                        <a:t>0.2862</a:t>
                      </a:r>
                    </a:p>
                  </a:txBody>
                  <a:tcPr marL="9525" marR="9525" marT="9525" marB="0" anchor="ctr"/>
                </a:tc>
                <a:extLst>
                  <a:ext uri="{0D108BD9-81ED-4DB2-BD59-A6C34878D82A}">
                    <a16:rowId xmlns:a16="http://schemas.microsoft.com/office/drawing/2014/main" val="10002"/>
                  </a:ext>
                </a:extLst>
              </a:tr>
              <a:tr h="571384">
                <a:tc>
                  <a:txBody>
                    <a:bodyPr/>
                    <a:lstStyle/>
                    <a:p>
                      <a:pPr algn="ctr"/>
                      <a:r>
                        <a:rPr lang="en-GB" sz="1600" dirty="0">
                          <a:latin typeface="Times New Roman" pitchFamily="18" charset="0"/>
                          <a:cs typeface="Times New Roman" pitchFamily="18" charset="0"/>
                        </a:rPr>
                        <a:t>Studio Entertainment</a:t>
                      </a:r>
                    </a:p>
                  </a:txBody>
                  <a:tcPr anchor="ctr"/>
                </a:tc>
                <a:tc>
                  <a:txBody>
                    <a:bodyPr/>
                    <a:lstStyle/>
                    <a:p>
                      <a:pPr algn="ctr"/>
                      <a:r>
                        <a:rPr lang="en-GB" sz="1600" dirty="0">
                          <a:latin typeface="Times New Roman" pitchFamily="18" charset="0"/>
                          <a:cs typeface="Times New Roman" pitchFamily="18" charset="0"/>
                        </a:rPr>
                        <a:t>Movie</a:t>
                      </a:r>
                      <a:r>
                        <a:rPr lang="en-GB" sz="1600" baseline="0" dirty="0">
                          <a:latin typeface="Times New Roman" pitchFamily="18" charset="0"/>
                          <a:cs typeface="Times New Roman" pitchFamily="18" charset="0"/>
                        </a:rPr>
                        <a:t> Cos</a:t>
                      </a:r>
                      <a:endParaRPr lang="en-GB" sz="1600" dirty="0">
                        <a:latin typeface="Times New Roman" pitchFamily="18" charset="0"/>
                        <a:cs typeface="Times New Roman" pitchFamily="18" charset="0"/>
                      </a:endParaRPr>
                    </a:p>
                  </a:txBody>
                  <a:tcPr anchor="ctr"/>
                </a:tc>
                <a:tc>
                  <a:txBody>
                    <a:bodyPr/>
                    <a:lstStyle/>
                    <a:p>
                      <a:pPr algn="ctr"/>
                      <a:r>
                        <a:rPr lang="en-GB" sz="2000" dirty="0">
                          <a:latin typeface="Times New Roman" pitchFamily="18" charset="0"/>
                          <a:cs typeface="Times New Roman" pitchFamily="18" charset="0"/>
                        </a:rPr>
                        <a:t>1.3310</a:t>
                      </a:r>
                    </a:p>
                  </a:txBody>
                  <a:tcPr anchor="ctr"/>
                </a:tc>
                <a:tc>
                  <a:txBody>
                    <a:bodyPr/>
                    <a:lstStyle/>
                    <a:p>
                      <a:pPr algn="ctr"/>
                      <a:r>
                        <a:rPr lang="en-GB" sz="2000" dirty="0">
                          <a:latin typeface="Times New Roman" pitchFamily="18" charset="0"/>
                          <a:cs typeface="Times New Roman" pitchFamily="18" charset="0"/>
                        </a:rPr>
                        <a:t>5,825</a:t>
                      </a:r>
                    </a:p>
                  </a:txBody>
                  <a:tcPr anchor="ctr"/>
                </a:tc>
                <a:tc>
                  <a:txBody>
                    <a:bodyPr/>
                    <a:lstStyle/>
                    <a:p>
                      <a:pPr marL="0" algn="ctr" rtl="0" eaLnBrk="1" fontAlgn="b" latinLnBrk="0" hangingPunct="1"/>
                      <a:r>
                        <a:rPr kumimoji="0" lang="en-US" sz="2000" kern="1200" dirty="0">
                          <a:solidFill>
                            <a:schemeClr val="dk1"/>
                          </a:solidFill>
                          <a:latin typeface="Times New Roman" pitchFamily="18" charset="0"/>
                          <a:ea typeface="+mn-ea"/>
                          <a:cs typeface="Times New Roman" pitchFamily="18" charset="0"/>
                        </a:rPr>
                        <a:t>13.78%</a:t>
                      </a:r>
                    </a:p>
                  </a:txBody>
                  <a:tcPr marL="9525" marR="9525" marT="9525" marB="0" anchor="ctr"/>
                </a:tc>
                <a:tc>
                  <a:txBody>
                    <a:bodyPr/>
                    <a:lstStyle/>
                    <a:p>
                      <a:pPr marL="0" algn="ctr" rtl="0" eaLnBrk="1" fontAlgn="b" latinLnBrk="0" hangingPunct="1"/>
                      <a:r>
                        <a:rPr kumimoji="0" lang="en-US" sz="2000" kern="1200" dirty="0">
                          <a:solidFill>
                            <a:schemeClr val="dk1"/>
                          </a:solidFill>
                          <a:latin typeface="Times New Roman" pitchFamily="18" charset="0"/>
                          <a:ea typeface="+mn-ea"/>
                          <a:cs typeface="Times New Roman" pitchFamily="18" charset="0"/>
                        </a:rPr>
                        <a:t>0.1834</a:t>
                      </a:r>
                    </a:p>
                  </a:txBody>
                  <a:tcPr marL="9525" marR="9525" marT="9525" marB="0" anchor="ctr"/>
                </a:tc>
                <a:extLst>
                  <a:ext uri="{0D108BD9-81ED-4DB2-BD59-A6C34878D82A}">
                    <a16:rowId xmlns:a16="http://schemas.microsoft.com/office/drawing/2014/main" val="10003"/>
                  </a:ext>
                </a:extLst>
              </a:tr>
              <a:tr h="1187210">
                <a:tc>
                  <a:txBody>
                    <a:bodyPr/>
                    <a:lstStyle/>
                    <a:p>
                      <a:pPr algn="ctr"/>
                      <a:r>
                        <a:rPr lang="en-GB" sz="1600" dirty="0">
                          <a:latin typeface="Times New Roman" pitchFamily="18" charset="0"/>
                          <a:cs typeface="Times New Roman" pitchFamily="18" charset="0"/>
                        </a:rPr>
                        <a:t>Consumer Products/</a:t>
                      </a:r>
                    </a:p>
                    <a:p>
                      <a:pPr algn="ctr"/>
                      <a:r>
                        <a:rPr lang="en-GB" sz="1600" dirty="0">
                          <a:latin typeface="Times New Roman" pitchFamily="18" charset="0"/>
                          <a:cs typeface="Times New Roman" pitchFamily="18" charset="0"/>
                        </a:rPr>
                        <a:t>Interactive</a:t>
                      </a:r>
                    </a:p>
                  </a:txBody>
                  <a:tcPr anchor="ctr"/>
                </a:tc>
                <a:tc>
                  <a:txBody>
                    <a:bodyPr/>
                    <a:lstStyle/>
                    <a:p>
                      <a:pPr algn="ctr"/>
                      <a:r>
                        <a:rPr lang="en-GB" sz="1600" dirty="0">
                          <a:latin typeface="Times New Roman" pitchFamily="18" charset="0"/>
                          <a:cs typeface="Times New Roman" pitchFamily="18" charset="0"/>
                        </a:rPr>
                        <a:t>Toy and Apparel</a:t>
                      </a:r>
                      <a:r>
                        <a:rPr lang="en-GB" sz="1600" baseline="0" dirty="0">
                          <a:latin typeface="Times New Roman" pitchFamily="18" charset="0"/>
                          <a:cs typeface="Times New Roman" pitchFamily="18" charset="0"/>
                        </a:rPr>
                        <a:t> retailers/</a:t>
                      </a:r>
                    </a:p>
                    <a:p>
                      <a:pPr algn="ctr"/>
                      <a:r>
                        <a:rPr lang="en-GB" sz="1600" baseline="0" dirty="0">
                          <a:latin typeface="Times New Roman" pitchFamily="18" charset="0"/>
                          <a:cs typeface="Times New Roman" pitchFamily="18" charset="0"/>
                        </a:rPr>
                        <a:t>Entertainment </a:t>
                      </a:r>
                      <a:r>
                        <a:rPr lang="en-GB" sz="1600" baseline="0" dirty="0" err="1">
                          <a:latin typeface="Times New Roman" pitchFamily="18" charset="0"/>
                          <a:cs typeface="Times New Roman" pitchFamily="18" charset="0"/>
                        </a:rPr>
                        <a:t>Sftw</a:t>
                      </a:r>
                      <a:endParaRPr lang="en-GB" sz="1600" dirty="0">
                        <a:latin typeface="Times New Roman" pitchFamily="18" charset="0"/>
                        <a:cs typeface="Times New Roman" pitchFamily="18" charset="0"/>
                      </a:endParaRPr>
                    </a:p>
                  </a:txBody>
                  <a:tcPr anchor="ctr"/>
                </a:tc>
                <a:tc>
                  <a:txBody>
                    <a:bodyPr/>
                    <a:lstStyle/>
                    <a:p>
                      <a:pPr algn="ctr"/>
                      <a:r>
                        <a:rPr lang="en-GB" sz="2000" dirty="0">
                          <a:latin typeface="Times New Roman" pitchFamily="18" charset="0"/>
                          <a:cs typeface="Times New Roman" pitchFamily="18" charset="0"/>
                        </a:rPr>
                        <a:t>1.2186</a:t>
                      </a:r>
                    </a:p>
                  </a:txBody>
                  <a:tcPr anchor="ctr"/>
                </a:tc>
                <a:tc>
                  <a:txBody>
                    <a:bodyPr/>
                    <a:lstStyle/>
                    <a:p>
                      <a:pPr algn="ctr"/>
                      <a:r>
                        <a:rPr lang="en-GB" sz="2000" dirty="0">
                          <a:latin typeface="Times New Roman" pitchFamily="18" charset="0"/>
                          <a:cs typeface="Times New Roman" pitchFamily="18" charset="0"/>
                        </a:rPr>
                        <a:t>4,097</a:t>
                      </a:r>
                    </a:p>
                  </a:txBody>
                  <a:tcPr anchor="ctr"/>
                </a:tc>
                <a:tc>
                  <a:txBody>
                    <a:bodyPr/>
                    <a:lstStyle/>
                    <a:p>
                      <a:pPr marL="0" algn="ctr" rtl="0" eaLnBrk="1" fontAlgn="b" latinLnBrk="0" hangingPunct="1"/>
                      <a:r>
                        <a:rPr kumimoji="0" lang="en-US" sz="2000" kern="1200" dirty="0">
                          <a:solidFill>
                            <a:schemeClr val="dk1"/>
                          </a:solidFill>
                          <a:latin typeface="Times New Roman" pitchFamily="18" charset="0"/>
                          <a:ea typeface="+mn-ea"/>
                          <a:cs typeface="Times New Roman" pitchFamily="18" charset="0"/>
                        </a:rPr>
                        <a:t>9.69%</a:t>
                      </a:r>
                    </a:p>
                  </a:txBody>
                  <a:tcPr marL="9525" marR="9525" marT="9525" marB="0" anchor="ctr"/>
                </a:tc>
                <a:tc>
                  <a:txBody>
                    <a:bodyPr/>
                    <a:lstStyle/>
                    <a:p>
                      <a:pPr marL="0" algn="ctr" rtl="0" eaLnBrk="1" fontAlgn="b" latinLnBrk="0" hangingPunct="1"/>
                      <a:r>
                        <a:rPr kumimoji="0" lang="en-US" sz="2000" kern="1200" dirty="0">
                          <a:solidFill>
                            <a:schemeClr val="dk1"/>
                          </a:solidFill>
                          <a:latin typeface="Times New Roman" pitchFamily="18" charset="0"/>
                          <a:ea typeface="+mn-ea"/>
                          <a:cs typeface="Times New Roman" pitchFamily="18" charset="0"/>
                        </a:rPr>
                        <a:t>0.1181</a:t>
                      </a:r>
                    </a:p>
                  </a:txBody>
                  <a:tcPr marL="9525" marR="9525" marT="9525" marB="0" anchor="ctr"/>
                </a:tc>
                <a:extLst>
                  <a:ext uri="{0D108BD9-81ED-4DB2-BD59-A6C34878D82A}">
                    <a16:rowId xmlns:a16="http://schemas.microsoft.com/office/drawing/2014/main" val="10004"/>
                  </a:ext>
                </a:extLst>
              </a:tr>
              <a:tr h="237442">
                <a:tc>
                  <a:txBody>
                    <a:bodyPr/>
                    <a:lstStyle/>
                    <a:p>
                      <a:pPr algn="ctr"/>
                      <a:r>
                        <a:rPr lang="en-GB" sz="1600" dirty="0">
                          <a:latin typeface="Times New Roman" pitchFamily="18" charset="0"/>
                          <a:cs typeface="Times New Roman" pitchFamily="18" charset="0"/>
                        </a:rPr>
                        <a:t>Overall</a:t>
                      </a:r>
                    </a:p>
                  </a:txBody>
                  <a:tcPr anchor="ctr"/>
                </a:tc>
                <a:tc>
                  <a:txBody>
                    <a:bodyPr/>
                    <a:lstStyle/>
                    <a:p>
                      <a:pPr algn="ctr"/>
                      <a:endParaRPr lang="en-GB" sz="1600" dirty="0">
                        <a:latin typeface="Times New Roman" pitchFamily="18" charset="0"/>
                        <a:cs typeface="Times New Roman" pitchFamily="18" charset="0"/>
                      </a:endParaRPr>
                    </a:p>
                  </a:txBody>
                  <a:tcPr anchor="ctr"/>
                </a:tc>
                <a:tc>
                  <a:txBody>
                    <a:bodyPr/>
                    <a:lstStyle/>
                    <a:p>
                      <a:pPr algn="ctr"/>
                      <a:endParaRPr lang="en-GB" sz="2000" dirty="0">
                        <a:latin typeface="Times New Roman" pitchFamily="18" charset="0"/>
                        <a:cs typeface="Times New Roman" pitchFamily="18" charset="0"/>
                      </a:endParaRPr>
                    </a:p>
                  </a:txBody>
                  <a:tcPr anchor="ctr"/>
                </a:tc>
                <a:tc>
                  <a:txBody>
                    <a:bodyPr/>
                    <a:lstStyle/>
                    <a:p>
                      <a:pPr algn="ctr"/>
                      <a:endParaRPr lang="en-GB" sz="2000" dirty="0">
                        <a:latin typeface="Times New Roman" pitchFamily="18" charset="0"/>
                        <a:cs typeface="Times New Roman" pitchFamily="18" charset="0"/>
                      </a:endParaRPr>
                    </a:p>
                  </a:txBody>
                  <a:tcPr anchor="ctr"/>
                </a:tc>
                <a:tc>
                  <a:txBody>
                    <a:bodyPr/>
                    <a:lstStyle/>
                    <a:p>
                      <a:pPr algn="ctr"/>
                      <a:endParaRPr lang="en-GB" sz="2000" dirty="0">
                        <a:latin typeface="Times New Roman" pitchFamily="18" charset="0"/>
                        <a:cs typeface="Times New Roman" pitchFamily="18" charset="0"/>
                      </a:endParaRPr>
                    </a:p>
                  </a:txBody>
                  <a:tcPr anchor="ctr"/>
                </a:tc>
                <a:tc>
                  <a:txBody>
                    <a:bodyPr/>
                    <a:lstStyle/>
                    <a:p>
                      <a:pPr marL="0" algn="ctr" rtl="0" eaLnBrk="1" fontAlgn="b" latinLnBrk="0" hangingPunct="1"/>
                      <a:r>
                        <a:rPr kumimoji="0" lang="en-US" sz="2000" kern="1200" dirty="0">
                          <a:solidFill>
                            <a:schemeClr val="dk1"/>
                          </a:solidFill>
                          <a:latin typeface="Times New Roman" pitchFamily="18" charset="0"/>
                          <a:ea typeface="+mn-ea"/>
                          <a:cs typeface="Times New Roman" pitchFamily="18" charset="0"/>
                        </a:rPr>
                        <a:t>1.0902</a:t>
                      </a:r>
                    </a:p>
                  </a:txBody>
                  <a:tcPr marL="9525" marR="9525" marT="9525" marB="0" anchor="ctr"/>
                </a:tc>
                <a:extLst>
                  <a:ext uri="{0D108BD9-81ED-4DB2-BD59-A6C34878D82A}">
                    <a16:rowId xmlns:a16="http://schemas.microsoft.com/office/drawing/2014/main" val="10005"/>
                  </a:ext>
                </a:extLst>
              </a:tr>
            </a:tbl>
          </a:graphicData>
        </a:graphic>
      </p:graphicFrame>
      <p:sp>
        <p:nvSpPr>
          <p:cNvPr id="7" name="Text Box 14"/>
          <p:cNvSpPr txBox="1">
            <a:spLocks noChangeArrowheads="1"/>
          </p:cNvSpPr>
          <p:nvPr/>
        </p:nvSpPr>
        <p:spPr bwMode="auto">
          <a:xfrm>
            <a:off x="1403648" y="5085184"/>
            <a:ext cx="6941324" cy="1631216"/>
          </a:xfrm>
          <a:prstGeom prst="rect">
            <a:avLst/>
          </a:prstGeom>
          <a:noFill/>
          <a:ln w="12700">
            <a:noFill/>
            <a:miter lim="800000"/>
            <a:headEnd/>
            <a:tailEnd/>
          </a:ln>
          <a:effectLst/>
        </p:spPr>
        <p:txBody>
          <a:bodyPr wrap="none">
            <a:spAutoFit/>
          </a:bodyPr>
          <a:lstStyle/>
          <a:p>
            <a:r>
              <a:rPr lang="en-US" sz="2800" dirty="0"/>
              <a:t>Estimate a levered beta for Disney</a:t>
            </a:r>
          </a:p>
          <a:p>
            <a:r>
              <a:rPr lang="en-US" dirty="0"/>
              <a:t>Market debt to equity ratio = 20.28%</a:t>
            </a:r>
          </a:p>
          <a:p>
            <a:r>
              <a:rPr lang="en-US" dirty="0"/>
              <a:t>Marginal tax rate = 33.3%</a:t>
            </a:r>
          </a:p>
          <a:p>
            <a:r>
              <a:rPr lang="en-US" dirty="0"/>
              <a:t>Levered beta = 1.0902*( 1 + (1- .333) (.2028)) = 1.238</a:t>
            </a:r>
            <a:endParaRPr lang="en-US" sz="4000" dirty="0"/>
          </a:p>
        </p:txBody>
      </p:sp>
    </p:spTree>
    <p:extLst>
      <p:ext uri="{BB962C8B-B14F-4D97-AF65-F5344CB8AC3E}">
        <p14:creationId xmlns:p14="http://schemas.microsoft.com/office/powerpoint/2010/main" val="22529126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1410" name="Rectangle 2"/>
          <p:cNvSpPr>
            <a:spLocks noGrp="1" noChangeArrowheads="1"/>
          </p:cNvSpPr>
          <p:nvPr>
            <p:ph type="title"/>
          </p:nvPr>
        </p:nvSpPr>
        <p:spPr/>
        <p:txBody>
          <a:bodyPr/>
          <a:lstStyle/>
          <a:p>
            <a:r>
              <a:rPr lang="en-US"/>
              <a:t>Why bottom-up betas?</a:t>
            </a:r>
          </a:p>
        </p:txBody>
      </p:sp>
      <p:sp>
        <p:nvSpPr>
          <p:cNvPr id="1041411" name="Rectangle 3"/>
          <p:cNvSpPr>
            <a:spLocks noGrp="1" noChangeArrowheads="1"/>
          </p:cNvSpPr>
          <p:nvPr>
            <p:ph sz="quarter" idx="1"/>
          </p:nvPr>
        </p:nvSpPr>
        <p:spPr>
          <a:xfrm>
            <a:off x="301752" y="1527048"/>
            <a:ext cx="8503920" cy="4998296"/>
          </a:xfrm>
        </p:spPr>
        <p:txBody>
          <a:bodyPr>
            <a:normAutofit/>
          </a:bodyPr>
          <a:lstStyle/>
          <a:p>
            <a:r>
              <a:rPr lang="en-US" dirty="0"/>
              <a:t>The standard error in a bottom-up beta will be significantly lower than the standard error in a single regression beta. </a:t>
            </a:r>
          </a:p>
          <a:p>
            <a:r>
              <a:rPr lang="en-US" dirty="0"/>
              <a:t>The bottom-up beta can be adjusted to reflect changes in the firm’s business mix and financial leverage. Regression betas reflect the past.</a:t>
            </a:r>
          </a:p>
          <a:p>
            <a:r>
              <a:rPr lang="en-US" dirty="0"/>
              <a:t>You can estimate bottom-up betas even when you do not have historical stock prices. This is the case with initial public offerings, private businesses or divisions of companies.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78012-F3B9-5157-7D90-A8B615C7AB46}"/>
              </a:ext>
            </a:extLst>
          </p:cNvPr>
          <p:cNvSpPr>
            <a:spLocks noGrp="1"/>
          </p:cNvSpPr>
          <p:nvPr>
            <p:ph type="title"/>
          </p:nvPr>
        </p:nvSpPr>
        <p:spPr/>
        <p:txBody>
          <a:bodyPr/>
          <a:lstStyle/>
          <a:p>
            <a:r>
              <a:rPr lang="en-GB" dirty="0"/>
              <a:t>What is the beta for Nestle?</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4" name="Content Placeholder 3">
                <a:extLst>
                  <a:ext uri="{FF2B5EF4-FFF2-40B4-BE49-F238E27FC236}">
                    <a16:creationId xmlns:a16="http://schemas.microsoft.com/office/drawing/2014/main" id="{9A89CE72-3F87-79E9-51B0-E5617333A3C5}"/>
                  </a:ext>
                </a:extLst>
              </p:cNvPr>
              <p:cNvGraphicFramePr>
                <a:graphicFrameLocks noGrp="1"/>
              </p:cNvGraphicFramePr>
              <p:nvPr>
                <p:ph sz="quarter" idx="1"/>
                <p:extLst>
                  <p:ext uri="{D42A27DB-BD31-4B8C-83A1-F6EECF244321}">
                    <p14:modId xmlns:p14="http://schemas.microsoft.com/office/powerpoint/2010/main" val="151876541"/>
                  </p:ext>
                </p:extLst>
              </p:nvPr>
            </p:nvGraphicFramePr>
            <p:xfrm>
              <a:off x="107504" y="1527174"/>
              <a:ext cx="8698359" cy="5070177"/>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4" name="Content Placeholder 3">
                <a:extLst>
                  <a:ext uri="{FF2B5EF4-FFF2-40B4-BE49-F238E27FC236}">
                    <a16:creationId xmlns:a16="http://schemas.microsoft.com/office/drawing/2014/main" id="{9A89CE72-3F87-79E9-51B0-E5617333A3C5}"/>
                  </a:ext>
                </a:extLst>
              </p:cNvPr>
              <p:cNvPicPr>
                <a:picLocks noGrp="1" noRot="1" noChangeAspect="1" noMove="1" noResize="1" noEditPoints="1" noAdjustHandles="1" noChangeArrowheads="1" noChangeShapeType="1"/>
              </p:cNvPicPr>
              <p:nvPr/>
            </p:nvPicPr>
            <p:blipFill>
              <a:blip r:embed="rId3"/>
              <a:stretch>
                <a:fillRect/>
              </a:stretch>
            </p:blipFill>
            <p:spPr>
              <a:xfrm>
                <a:off x="107504" y="1527174"/>
                <a:ext cx="8698359" cy="5070177"/>
              </a:xfrm>
              <a:prstGeom prst="rect">
                <a:avLst/>
              </a:prstGeom>
            </p:spPr>
          </p:pic>
        </mc:Fallback>
      </mc:AlternateContent>
    </p:spTree>
    <p:extLst>
      <p:ext uri="{BB962C8B-B14F-4D97-AF65-F5344CB8AC3E}">
        <p14:creationId xmlns:p14="http://schemas.microsoft.com/office/powerpoint/2010/main" val="399947177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2"/>
          <p:cNvSpPr>
            <a:spLocks noGrp="1" noChangeArrowheads="1"/>
          </p:cNvSpPr>
          <p:nvPr>
            <p:ph type="title"/>
          </p:nvPr>
        </p:nvSpPr>
        <p:spPr/>
        <p:txBody>
          <a:bodyPr/>
          <a:lstStyle/>
          <a:p>
            <a:r>
              <a:rPr lang="en-US"/>
              <a:t>The Cost of Equity: A Recap</a:t>
            </a:r>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172990761"/>
              </p:ext>
            </p:extLst>
          </p:nvPr>
        </p:nvGraphicFramePr>
        <p:xfrm>
          <a:off x="107504" y="1050503"/>
          <a:ext cx="8712968" cy="56188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1A379-CEB7-461C-BA21-813041DB5F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17A31F-BEED-D8E8-B890-8BD9776E0194}"/>
              </a:ext>
            </a:extLst>
          </p:cNvPr>
          <p:cNvSpPr>
            <a:spLocks noGrp="1"/>
          </p:cNvSpPr>
          <p:nvPr>
            <p:ph type="title"/>
          </p:nvPr>
        </p:nvSpPr>
        <p:spPr/>
        <p:txBody>
          <a:bodyPr/>
          <a:lstStyle/>
          <a:p>
            <a:r>
              <a:rPr lang="en-GB" dirty="0"/>
              <a:t>Cost of equity for Nestle</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4" name="Content Placeholder 3">
                <a:extLst>
                  <a:ext uri="{FF2B5EF4-FFF2-40B4-BE49-F238E27FC236}">
                    <a16:creationId xmlns:a16="http://schemas.microsoft.com/office/drawing/2014/main" id="{A51FFCA7-427E-86A6-5091-2D34360A29D2}"/>
                  </a:ext>
                </a:extLst>
              </p:cNvPr>
              <p:cNvGraphicFramePr>
                <a:graphicFrameLocks noGrp="1"/>
              </p:cNvGraphicFramePr>
              <p:nvPr>
                <p:ph sz="quarter" idx="1"/>
              </p:nvPr>
            </p:nvGraphicFramePr>
            <p:xfrm>
              <a:off x="35496" y="1527174"/>
              <a:ext cx="8770367" cy="5102225"/>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4" name="Content Placeholder 3">
                <a:extLst>
                  <a:ext uri="{FF2B5EF4-FFF2-40B4-BE49-F238E27FC236}">
                    <a16:creationId xmlns:a16="http://schemas.microsoft.com/office/drawing/2014/main" id="{A51FFCA7-427E-86A6-5091-2D34360A29D2}"/>
                  </a:ext>
                </a:extLst>
              </p:cNvPr>
              <p:cNvPicPr>
                <a:picLocks noGrp="1" noRot="1" noChangeAspect="1" noMove="1" noResize="1" noEditPoints="1" noAdjustHandles="1" noChangeArrowheads="1" noChangeShapeType="1"/>
              </p:cNvPicPr>
              <p:nvPr/>
            </p:nvPicPr>
            <p:blipFill>
              <a:blip r:embed="rId3"/>
              <a:stretch>
                <a:fillRect/>
              </a:stretch>
            </p:blipFill>
            <p:spPr>
              <a:xfrm>
                <a:off x="35496" y="1527174"/>
                <a:ext cx="8770367" cy="5102225"/>
              </a:xfrm>
              <a:prstGeom prst="rect">
                <a:avLst/>
              </a:prstGeom>
            </p:spPr>
          </p:pic>
        </mc:Fallback>
      </mc:AlternateContent>
    </p:spTree>
    <p:extLst>
      <p:ext uri="{BB962C8B-B14F-4D97-AF65-F5344CB8AC3E}">
        <p14:creationId xmlns:p14="http://schemas.microsoft.com/office/powerpoint/2010/main" val="33352958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23A23-7322-464F-14EC-180671CB810A}"/>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39F98819-F731-9A5B-8465-3F13226C93EC}"/>
              </a:ext>
            </a:extLst>
          </p:cNvPr>
          <p:cNvSpPr>
            <a:spLocks noGrp="1"/>
          </p:cNvSpPr>
          <p:nvPr>
            <p:ph type="body" idx="1"/>
          </p:nvPr>
        </p:nvSpPr>
        <p:spPr>
          <a:xfrm>
            <a:off x="1331640" y="533400"/>
            <a:ext cx="6480174" cy="469776"/>
          </a:xfrm>
        </p:spPr>
        <p:txBody>
          <a:bodyPr/>
          <a:lstStyle/>
          <a:p>
            <a:r>
              <a:rPr lang="en-GB" dirty="0"/>
              <a:t>Cost of borrowing using new Debt</a:t>
            </a:r>
          </a:p>
        </p:txBody>
      </p:sp>
      <p:sp>
        <p:nvSpPr>
          <p:cNvPr id="6" name="Title 5">
            <a:extLst>
              <a:ext uri="{FF2B5EF4-FFF2-40B4-BE49-F238E27FC236}">
                <a16:creationId xmlns:a16="http://schemas.microsoft.com/office/drawing/2014/main" id="{851C28F0-EB2E-D655-8B9A-8B5B920EC78E}"/>
              </a:ext>
            </a:extLst>
          </p:cNvPr>
          <p:cNvSpPr>
            <a:spLocks noGrp="1"/>
          </p:cNvSpPr>
          <p:nvPr>
            <p:ph type="title"/>
          </p:nvPr>
        </p:nvSpPr>
        <p:spPr>
          <a:xfrm>
            <a:off x="722313" y="533400"/>
            <a:ext cx="7772400" cy="1095400"/>
          </a:xfrm>
        </p:spPr>
        <p:txBody>
          <a:bodyPr/>
          <a:lstStyle/>
          <a:p>
            <a:r>
              <a:rPr lang="en-GB" dirty="0"/>
              <a:t>Cost of Debt</a:t>
            </a:r>
          </a:p>
        </p:txBody>
      </p:sp>
      <p:graphicFrame>
        <p:nvGraphicFramePr>
          <p:cNvPr id="9" name="Diagram 8">
            <a:extLst>
              <a:ext uri="{FF2B5EF4-FFF2-40B4-BE49-F238E27FC236}">
                <a16:creationId xmlns:a16="http://schemas.microsoft.com/office/drawing/2014/main" id="{2247961D-732E-DBED-87C5-AC5823EB3D54}"/>
              </a:ext>
            </a:extLst>
          </p:cNvPr>
          <p:cNvGraphicFramePr/>
          <p:nvPr>
            <p:extLst>
              <p:ext uri="{D42A27DB-BD31-4B8C-83A1-F6EECF244321}">
                <p14:modId xmlns:p14="http://schemas.microsoft.com/office/powerpoint/2010/main" val="1916940792"/>
              </p:ext>
            </p:extLst>
          </p:nvPr>
        </p:nvGraphicFramePr>
        <p:xfrm>
          <a:off x="324037" y="2082286"/>
          <a:ext cx="8568952" cy="39604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1766202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ChangeArrowheads="1"/>
          </p:cNvSpPr>
          <p:nvPr>
            <p:ph type="title"/>
          </p:nvPr>
        </p:nvSpPr>
        <p:spPr/>
        <p:txBody>
          <a:bodyPr/>
          <a:lstStyle/>
          <a:p>
            <a:r>
              <a:rPr lang="en-US" dirty="0"/>
              <a:t>a. Estimating the Cost of Debt</a:t>
            </a:r>
          </a:p>
        </p:txBody>
      </p:sp>
      <p:sp>
        <p:nvSpPr>
          <p:cNvPr id="310275" name="Rectangle 3"/>
          <p:cNvSpPr>
            <a:spLocks noGrp="1" noChangeArrowheads="1"/>
          </p:cNvSpPr>
          <p:nvPr>
            <p:ph sz="quarter" idx="1"/>
          </p:nvPr>
        </p:nvSpPr>
        <p:spPr>
          <a:xfrm>
            <a:off x="301752" y="1527048"/>
            <a:ext cx="8503920" cy="4998296"/>
          </a:xfrm>
        </p:spPr>
        <p:txBody>
          <a:bodyPr>
            <a:normAutofit fontScale="92500" lnSpcReduction="20000"/>
          </a:bodyPr>
          <a:lstStyle/>
          <a:p>
            <a:r>
              <a:rPr lang="en-US" dirty="0"/>
              <a:t>The cost of debt is the rate at which you can borrow at currently, It will reflect not only your default risk but also the level of interest rates in the market.</a:t>
            </a:r>
          </a:p>
          <a:p>
            <a:r>
              <a:rPr lang="en-US" dirty="0"/>
              <a:t>The two most widely used approaches to estimating cost of debt are:</a:t>
            </a:r>
          </a:p>
          <a:p>
            <a:pPr lvl="1"/>
            <a:r>
              <a:rPr lang="en-US" dirty="0"/>
              <a:t>Looking up the </a:t>
            </a:r>
            <a:r>
              <a:rPr lang="en-US" b="1" dirty="0">
                <a:solidFill>
                  <a:schemeClr val="tx1">
                    <a:lumMod val="95000"/>
                    <a:lumOff val="5000"/>
                  </a:schemeClr>
                </a:solidFill>
              </a:rPr>
              <a:t>yield to maturity </a:t>
            </a:r>
            <a:r>
              <a:rPr lang="en-US" dirty="0"/>
              <a:t>on a straight bond outstanding from the firm. The limitation of this approach is that very few firms have long term straight bonds that are liquid and widely traded</a:t>
            </a:r>
          </a:p>
          <a:p>
            <a:pPr lvl="2"/>
            <a:r>
              <a:rPr lang="en-US" dirty="0">
                <a:solidFill>
                  <a:srgbClr val="C00000"/>
                </a:solidFill>
              </a:rPr>
              <a:t>Questions 11, 12 and 13 in “Introduction Questions”</a:t>
            </a:r>
            <a:endParaRPr lang="en-US" dirty="0"/>
          </a:p>
          <a:p>
            <a:pPr lvl="1"/>
            <a:r>
              <a:rPr lang="en-US" dirty="0"/>
              <a:t>Looking up the rating for the firm and estimating a </a:t>
            </a:r>
            <a:r>
              <a:rPr lang="en-US" b="1" dirty="0">
                <a:solidFill>
                  <a:schemeClr val="tx1">
                    <a:lumMod val="95000"/>
                    <a:lumOff val="5000"/>
                  </a:schemeClr>
                </a:solidFill>
              </a:rPr>
              <a:t>default spread </a:t>
            </a:r>
            <a:r>
              <a:rPr lang="en-US" dirty="0"/>
              <a:t>based upon the rating. While this approach is more robust, different bonds from the same firm can have different ratings. You have to use a median rating for the firm</a:t>
            </a:r>
          </a:p>
          <a:p>
            <a:r>
              <a:rPr lang="en-US" dirty="0"/>
              <a:t>When in trouble (either because you have no ratings or multiple ratings for a firm), estimate a synthetic rating for your firm and the cost of debt based upon that rating.</a:t>
            </a:r>
          </a:p>
        </p:txBody>
      </p:sp>
      <p:graphicFrame>
        <p:nvGraphicFramePr>
          <p:cNvPr id="4" name="Object 3"/>
          <p:cNvGraphicFramePr>
            <a:graphicFrameLocks noChangeAspect="1"/>
          </p:cNvGraphicFramePr>
          <p:nvPr/>
        </p:nvGraphicFramePr>
        <p:xfrm>
          <a:off x="7884368" y="404664"/>
          <a:ext cx="914400" cy="771525"/>
        </p:xfrm>
        <a:graphic>
          <a:graphicData uri="http://schemas.openxmlformats.org/presentationml/2006/ole">
            <mc:AlternateContent xmlns:mc="http://schemas.openxmlformats.org/markup-compatibility/2006">
              <mc:Choice xmlns:v="urn:schemas-microsoft-com:vml" Requires="v">
                <p:oleObj name="Document" showAsIcon="1" r:id="rId3" imgW="914400" imgH="771525" progId="Word.Document.12">
                  <p:embed/>
                </p:oleObj>
              </mc:Choice>
              <mc:Fallback>
                <p:oleObj name="Document" showAsIcon="1" r:id="rId3" imgW="914400" imgH="771525" progId="Word.Document.12">
                  <p:embed/>
                  <p:pic>
                    <p:nvPicPr>
                      <p:cNvPr id="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84368" y="404664"/>
                        <a:ext cx="914400" cy="771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82" name="Rectangle 2"/>
          <p:cNvSpPr>
            <a:spLocks noGrp="1" noChangeArrowheads="1"/>
          </p:cNvSpPr>
          <p:nvPr>
            <p:ph type="title"/>
          </p:nvPr>
        </p:nvSpPr>
        <p:spPr>
          <a:noFill/>
          <a:ln/>
        </p:spPr>
        <p:txBody>
          <a:bodyPr anchor="b"/>
          <a:lstStyle/>
          <a:p>
            <a:r>
              <a:rPr lang="en-US"/>
              <a:t>Estimating Synthetic Ratings</a:t>
            </a:r>
          </a:p>
        </p:txBody>
      </p:sp>
      <p:sp>
        <p:nvSpPr>
          <p:cNvPr id="1044483" name="Rectangle 3"/>
          <p:cNvSpPr>
            <a:spLocks noGrp="1" noChangeArrowheads="1"/>
          </p:cNvSpPr>
          <p:nvPr>
            <p:ph sz="quarter" idx="1"/>
          </p:nvPr>
        </p:nvSpPr>
        <p:spPr>
          <a:xfrm>
            <a:off x="301752" y="1527048"/>
            <a:ext cx="8503920" cy="4998296"/>
          </a:xfrm>
          <a:noFill/>
          <a:ln/>
        </p:spPr>
        <p:txBody>
          <a:bodyPr>
            <a:normAutofit/>
          </a:bodyPr>
          <a:lstStyle/>
          <a:p>
            <a:r>
              <a:rPr lang="en-US" dirty="0"/>
              <a:t>The rating for a firm can be estimated using the financial characteristics of the firm. In its simplest form, the rating can be estimated from the interest coverage ratio</a:t>
            </a:r>
          </a:p>
          <a:p>
            <a:pPr algn="ctr">
              <a:buFont typeface="Monotype Sorts" charset="2"/>
              <a:buNone/>
            </a:pPr>
            <a:endParaRPr lang="en-US" dirty="0"/>
          </a:p>
          <a:p>
            <a:pPr algn="ctr">
              <a:buFont typeface="Monotype Sorts" charset="2"/>
              <a:buNone/>
            </a:pPr>
            <a:r>
              <a:rPr lang="en-US" dirty="0"/>
              <a:t>Interest Coverage Ratio = EBIT / Interest Expenses</a:t>
            </a:r>
          </a:p>
          <a:p>
            <a:pPr algn="ctr">
              <a:buFont typeface="Monotype Sorts" charset="2"/>
              <a:buNone/>
            </a:pPr>
            <a:endParaRPr lang="en-US" dirty="0"/>
          </a:p>
        </p:txBody>
      </p:sp>
      <p:graphicFrame>
        <p:nvGraphicFramePr>
          <p:cNvPr id="2" name="Object 1"/>
          <p:cNvGraphicFramePr>
            <a:graphicFrameLocks noChangeAspect="1"/>
          </p:cNvGraphicFramePr>
          <p:nvPr>
            <p:extLst>
              <p:ext uri="{D42A27DB-BD31-4B8C-83A1-F6EECF244321}">
                <p14:modId xmlns:p14="http://schemas.microsoft.com/office/powerpoint/2010/main" val="3180438732"/>
              </p:ext>
            </p:extLst>
          </p:nvPr>
        </p:nvGraphicFramePr>
        <p:xfrm>
          <a:off x="3491880" y="4509120"/>
          <a:ext cx="2066528" cy="1783097"/>
        </p:xfrm>
        <a:graphic>
          <a:graphicData uri="http://schemas.openxmlformats.org/presentationml/2006/ole">
            <mc:AlternateContent xmlns:mc="http://schemas.openxmlformats.org/markup-compatibility/2006">
              <mc:Choice xmlns:v="urn:schemas-microsoft-com:vml" Requires="v">
                <p:oleObj name="Worksheet" showAsIcon="1" r:id="rId3" imgW="914400" imgH="788760" progId="Excel.Sheet.8">
                  <p:embed/>
                </p:oleObj>
              </mc:Choice>
              <mc:Fallback>
                <p:oleObj name="Worksheet" showAsIcon="1" r:id="rId3" imgW="914400" imgH="788760" progId="Excel.Sheet.8">
                  <p:embed/>
                  <p:pic>
                    <p:nvPicPr>
                      <p:cNvPr id="2" name="Object 1"/>
                      <p:cNvPicPr/>
                      <p:nvPr/>
                    </p:nvPicPr>
                    <p:blipFill>
                      <a:blip r:embed="rId4"/>
                      <a:stretch>
                        <a:fillRect/>
                      </a:stretch>
                    </p:blipFill>
                    <p:spPr>
                      <a:xfrm>
                        <a:off x="3491880" y="4509120"/>
                        <a:ext cx="2066528" cy="1783097"/>
                      </a:xfrm>
                      <a:prstGeom prst="rect">
                        <a:avLst/>
                      </a:prstGeom>
                    </p:spPr>
                  </p:pic>
                </p:oleObj>
              </mc:Fallback>
            </mc:AlternateContent>
          </a:graphicData>
        </a:graphic>
      </p:graphicFrame>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Custom Rating and Interest Coverage</a:t>
            </a:r>
            <a:endParaRPr lang="en-US" dirty="0"/>
          </a:p>
        </p:txBody>
      </p:sp>
      <p:graphicFrame>
        <p:nvGraphicFramePr>
          <p:cNvPr id="6" name="Content Placeholder 5"/>
          <p:cNvGraphicFramePr>
            <a:graphicFrameLocks noGrp="1"/>
          </p:cNvGraphicFramePr>
          <p:nvPr>
            <p:ph sz="quarter" idx="1"/>
            <p:extLst>
              <p:ext uri="{D42A27DB-BD31-4B8C-83A1-F6EECF244321}">
                <p14:modId xmlns:p14="http://schemas.microsoft.com/office/powerpoint/2010/main" val="2643981552"/>
              </p:ext>
            </p:extLst>
          </p:nvPr>
        </p:nvGraphicFramePr>
        <p:xfrm>
          <a:off x="301625" y="1527175"/>
          <a:ext cx="8504238" cy="4572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8057185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Custom Ratings and Default Risk Premium</a:t>
            </a:r>
            <a:endParaRPr lang="en-US" dirty="0"/>
          </a:p>
        </p:txBody>
      </p:sp>
      <p:sp>
        <p:nvSpPr>
          <p:cNvPr id="3" name="Content Placeholder 2"/>
          <p:cNvSpPr>
            <a:spLocks noGrp="1"/>
          </p:cNvSpPr>
          <p:nvPr>
            <p:ph sz="quarter" idx="1"/>
          </p:nvPr>
        </p:nvSpPr>
        <p:spPr/>
        <p:txBody>
          <a:bodyPr/>
          <a:lstStyle/>
          <a:p>
            <a:endParaRPr lang="en-GB"/>
          </a:p>
        </p:txBody>
      </p:sp>
      <p:graphicFrame>
        <p:nvGraphicFramePr>
          <p:cNvPr id="5" name="Chart 4"/>
          <p:cNvGraphicFramePr>
            <a:graphicFrameLocks/>
          </p:cNvGraphicFramePr>
          <p:nvPr>
            <p:extLst>
              <p:ext uri="{D42A27DB-BD31-4B8C-83A1-F6EECF244321}">
                <p14:modId xmlns:p14="http://schemas.microsoft.com/office/powerpoint/2010/main" val="167500715"/>
              </p:ext>
            </p:extLst>
          </p:nvPr>
        </p:nvGraphicFramePr>
        <p:xfrm>
          <a:off x="301752" y="1527048"/>
          <a:ext cx="8230688" cy="478227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720896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DRPs change over time….</a:t>
            </a:r>
          </a:p>
        </p:txBody>
      </p:sp>
      <p:sp>
        <p:nvSpPr>
          <p:cNvPr id="3" name="Content Placeholder 2"/>
          <p:cNvSpPr>
            <a:spLocks noGrp="1"/>
          </p:cNvSpPr>
          <p:nvPr>
            <p:ph sz="quarter" idx="1"/>
          </p:nvPr>
        </p:nvSpPr>
        <p:spPr>
          <a:xfrm>
            <a:off x="0" y="1361801"/>
            <a:ext cx="8503920" cy="4572000"/>
          </a:xfrm>
        </p:spPr>
        <p:txBody>
          <a:bodyPr/>
          <a:lstStyle/>
          <a:p>
            <a:endParaRPr lang="en-GB"/>
          </a:p>
        </p:txBody>
      </p:sp>
      <p:graphicFrame>
        <p:nvGraphicFramePr>
          <p:cNvPr id="5" name="Chart 4"/>
          <p:cNvGraphicFramePr>
            <a:graphicFrameLocks/>
          </p:cNvGraphicFramePr>
          <p:nvPr>
            <p:extLst>
              <p:ext uri="{D42A27DB-BD31-4B8C-83A1-F6EECF244321}">
                <p14:modId xmlns:p14="http://schemas.microsoft.com/office/powerpoint/2010/main" val="71611086"/>
              </p:ext>
            </p:extLst>
          </p:nvPr>
        </p:nvGraphicFramePr>
        <p:xfrm>
          <a:off x="350524" y="1419483"/>
          <a:ext cx="8280920" cy="49262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5161784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 and maturity (2014)</a:t>
            </a:r>
          </a:p>
        </p:txBody>
      </p:sp>
      <p:sp>
        <p:nvSpPr>
          <p:cNvPr id="3" name="Content Placeholder 2"/>
          <p:cNvSpPr>
            <a:spLocks noGrp="1"/>
          </p:cNvSpPr>
          <p:nvPr>
            <p:ph sz="quarter" idx="1"/>
          </p:nvPr>
        </p:nvSpPr>
        <p:spPr/>
        <p:txBody>
          <a:bodyPr/>
          <a:lstStyle/>
          <a:p>
            <a:endParaRPr lang="en-GB"/>
          </a:p>
        </p:txBody>
      </p:sp>
      <p:pic>
        <p:nvPicPr>
          <p:cNvPr id="4" name="Picture 3"/>
          <p:cNvPicPr>
            <a:picLocks noChangeAspect="1"/>
          </p:cNvPicPr>
          <p:nvPr/>
        </p:nvPicPr>
        <p:blipFill>
          <a:blip r:embed="rId2"/>
          <a:stretch>
            <a:fillRect/>
          </a:stretch>
        </p:blipFill>
        <p:spPr>
          <a:xfrm>
            <a:off x="154150" y="1286085"/>
            <a:ext cx="8810338" cy="4774597"/>
          </a:xfrm>
          <a:prstGeom prst="rect">
            <a:avLst/>
          </a:prstGeom>
        </p:spPr>
      </p:pic>
    </p:spTree>
    <p:extLst>
      <p:ext uri="{BB962C8B-B14F-4D97-AF65-F5344CB8AC3E}">
        <p14:creationId xmlns:p14="http://schemas.microsoft.com/office/powerpoint/2010/main" val="402849930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F7CCB-BDD8-AE25-B7B1-F61330E735C1}"/>
              </a:ext>
            </a:extLst>
          </p:cNvPr>
          <p:cNvSpPr>
            <a:spLocks noGrp="1"/>
          </p:cNvSpPr>
          <p:nvPr>
            <p:ph type="title"/>
          </p:nvPr>
        </p:nvSpPr>
        <p:spPr/>
        <p:txBody>
          <a:bodyPr/>
          <a:lstStyle/>
          <a:p>
            <a:r>
              <a:rPr lang="en-GB" dirty="0"/>
              <a:t>What is the cost of debt for Nestle?</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4" name="Content Placeholder 3">
                <a:extLst>
                  <a:ext uri="{FF2B5EF4-FFF2-40B4-BE49-F238E27FC236}">
                    <a16:creationId xmlns:a16="http://schemas.microsoft.com/office/drawing/2014/main" id="{0C72B0E2-431D-3AB6-38F4-1C2CBA38E91B}"/>
                  </a:ext>
                </a:extLst>
              </p:cNvPr>
              <p:cNvGraphicFramePr>
                <a:graphicFrameLocks noGrp="1"/>
              </p:cNvGraphicFramePr>
              <p:nvPr>
                <p:ph sz="quarter" idx="1"/>
                <p:extLst>
                  <p:ext uri="{D42A27DB-BD31-4B8C-83A1-F6EECF244321}">
                    <p14:modId xmlns:p14="http://schemas.microsoft.com/office/powerpoint/2010/main" val="3362884925"/>
                  </p:ext>
                </p:extLst>
              </p:nvPr>
            </p:nvGraphicFramePr>
            <p:xfrm>
              <a:off x="0" y="1527174"/>
              <a:ext cx="8805863" cy="5102225"/>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4" name="Content Placeholder 3">
                <a:extLst>
                  <a:ext uri="{FF2B5EF4-FFF2-40B4-BE49-F238E27FC236}">
                    <a16:creationId xmlns:a16="http://schemas.microsoft.com/office/drawing/2014/main" id="{0C72B0E2-431D-3AB6-38F4-1C2CBA38E91B}"/>
                  </a:ext>
                </a:extLst>
              </p:cNvPr>
              <p:cNvPicPr>
                <a:picLocks noGrp="1" noRot="1" noChangeAspect="1" noMove="1" noResize="1" noEditPoints="1" noAdjustHandles="1" noChangeArrowheads="1" noChangeShapeType="1"/>
              </p:cNvPicPr>
              <p:nvPr/>
            </p:nvPicPr>
            <p:blipFill>
              <a:blip r:embed="rId3"/>
              <a:stretch>
                <a:fillRect/>
              </a:stretch>
            </p:blipFill>
            <p:spPr>
              <a:xfrm>
                <a:off x="0" y="1527174"/>
                <a:ext cx="8805863" cy="5102225"/>
              </a:xfrm>
              <a:prstGeom prst="rect">
                <a:avLst/>
              </a:prstGeom>
            </p:spPr>
          </p:pic>
        </mc:Fallback>
      </mc:AlternateContent>
    </p:spTree>
    <p:extLst>
      <p:ext uri="{BB962C8B-B14F-4D97-AF65-F5344CB8AC3E}">
        <p14:creationId xmlns:p14="http://schemas.microsoft.com/office/powerpoint/2010/main" val="76969473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816" y="53752"/>
            <a:ext cx="7467600" cy="1143000"/>
          </a:xfrm>
        </p:spPr>
        <p:txBody>
          <a:bodyPr>
            <a:normAutofit/>
          </a:bodyPr>
          <a:lstStyle/>
          <a:p>
            <a:r>
              <a:rPr lang="en-GB" dirty="0"/>
              <a:t>We should know that Interest Payments are Tax Deductible</a:t>
            </a:r>
          </a:p>
        </p:txBody>
      </p:sp>
      <p:sp>
        <p:nvSpPr>
          <p:cNvPr id="5" name="Content Placeholder 4"/>
          <p:cNvSpPr>
            <a:spLocks noGrp="1"/>
          </p:cNvSpPr>
          <p:nvPr>
            <p:ph idx="1"/>
          </p:nvPr>
        </p:nvSpPr>
        <p:spPr/>
        <p:txBody>
          <a:bodyPr/>
          <a:lstStyle/>
          <a:p>
            <a:r>
              <a:rPr lang="en-GB" sz="2800" dirty="0"/>
              <a:t>Assume a company with £1,000,000 capital. </a:t>
            </a:r>
          </a:p>
          <a:p>
            <a:pPr lvl="1"/>
            <a:r>
              <a:rPr lang="en-GB" sz="2400" dirty="0"/>
              <a:t>At the moment it is an all Equity firm</a:t>
            </a:r>
          </a:p>
          <a:p>
            <a:pPr lvl="1"/>
            <a:r>
              <a:rPr lang="en-GB" sz="2400" dirty="0"/>
              <a:t>There is a plan to borrow, issuing a 30y bond at 10% interest rate, which is equal to the yield to maturity.</a:t>
            </a:r>
          </a:p>
          <a:p>
            <a:pPr lvl="1"/>
            <a:r>
              <a:rPr lang="en-GB" sz="2400" dirty="0"/>
              <a:t>Assume that NI is distributed as dividend and tax is 20%</a:t>
            </a:r>
          </a:p>
          <a:p>
            <a:r>
              <a:rPr lang="en-GB" sz="2800" dirty="0"/>
              <a:t>The two plans are</a:t>
            </a:r>
            <a:endParaRPr lang="en-GB" dirty="0"/>
          </a:p>
        </p:txBody>
      </p:sp>
      <p:graphicFrame>
        <p:nvGraphicFramePr>
          <p:cNvPr id="7" name="Table 6"/>
          <p:cNvGraphicFramePr>
            <a:graphicFrameLocks noGrp="1"/>
          </p:cNvGraphicFramePr>
          <p:nvPr>
            <p:extLst>
              <p:ext uri="{D42A27DB-BD31-4B8C-83A1-F6EECF244321}">
                <p14:modId xmlns:p14="http://schemas.microsoft.com/office/powerpoint/2010/main" val="3117103867"/>
              </p:ext>
            </p:extLst>
          </p:nvPr>
        </p:nvGraphicFramePr>
        <p:xfrm>
          <a:off x="2195736" y="4293096"/>
          <a:ext cx="4320480" cy="2232248"/>
        </p:xfrm>
        <a:graphic>
          <a:graphicData uri="http://schemas.openxmlformats.org/drawingml/2006/table">
            <a:tbl>
              <a:tblPr firstRow="1" bandRow="1">
                <a:tableStyleId>{5C22544A-7EE6-4342-B048-85BDC9FD1C3A}</a:tableStyleId>
              </a:tblPr>
              <a:tblGrid>
                <a:gridCol w="1440160">
                  <a:extLst>
                    <a:ext uri="{9D8B030D-6E8A-4147-A177-3AD203B41FA5}">
                      <a16:colId xmlns:a16="http://schemas.microsoft.com/office/drawing/2014/main" val="20000"/>
                    </a:ext>
                  </a:extLst>
                </a:gridCol>
                <a:gridCol w="1440160">
                  <a:extLst>
                    <a:ext uri="{9D8B030D-6E8A-4147-A177-3AD203B41FA5}">
                      <a16:colId xmlns:a16="http://schemas.microsoft.com/office/drawing/2014/main" val="20001"/>
                    </a:ext>
                  </a:extLst>
                </a:gridCol>
                <a:gridCol w="1440160">
                  <a:extLst>
                    <a:ext uri="{9D8B030D-6E8A-4147-A177-3AD203B41FA5}">
                      <a16:colId xmlns:a16="http://schemas.microsoft.com/office/drawing/2014/main" val="20002"/>
                    </a:ext>
                  </a:extLst>
                </a:gridCol>
              </a:tblGrid>
              <a:tr h="725242">
                <a:tc>
                  <a:txBody>
                    <a:bodyPr/>
                    <a:lstStyle/>
                    <a:p>
                      <a:pPr algn="ctr"/>
                      <a:endParaRPr lang="en-GB" sz="2000" dirty="0"/>
                    </a:p>
                  </a:txBody>
                  <a:tcPr anchor="ctr"/>
                </a:tc>
                <a:tc>
                  <a:txBody>
                    <a:bodyPr/>
                    <a:lstStyle/>
                    <a:p>
                      <a:pPr algn="ctr"/>
                      <a:r>
                        <a:rPr lang="en-GB" sz="2000" dirty="0"/>
                        <a:t>All Equity</a:t>
                      </a:r>
                    </a:p>
                  </a:txBody>
                  <a:tcPr anchor="ctr"/>
                </a:tc>
                <a:tc>
                  <a:txBody>
                    <a:bodyPr/>
                    <a:lstStyle/>
                    <a:p>
                      <a:pPr algn="ctr"/>
                      <a:r>
                        <a:rPr lang="en-GB" sz="2000" dirty="0"/>
                        <a:t>30%</a:t>
                      </a:r>
                    </a:p>
                    <a:p>
                      <a:pPr algn="ctr"/>
                      <a:r>
                        <a:rPr lang="en-GB" sz="2000" dirty="0"/>
                        <a:t>Debt</a:t>
                      </a:r>
                    </a:p>
                  </a:txBody>
                  <a:tcPr anchor="ctr"/>
                </a:tc>
                <a:extLst>
                  <a:ext uri="{0D108BD9-81ED-4DB2-BD59-A6C34878D82A}">
                    <a16:rowId xmlns:a16="http://schemas.microsoft.com/office/drawing/2014/main" val="10000"/>
                  </a:ext>
                </a:extLst>
              </a:tr>
              <a:tr h="666646">
                <a:tc>
                  <a:txBody>
                    <a:bodyPr/>
                    <a:lstStyle/>
                    <a:p>
                      <a:pPr algn="ctr"/>
                      <a:r>
                        <a:rPr lang="en-GB" sz="2000" dirty="0"/>
                        <a:t>Equity</a:t>
                      </a:r>
                    </a:p>
                  </a:txBody>
                  <a:tcPr anchor="ctr"/>
                </a:tc>
                <a:tc>
                  <a:txBody>
                    <a:bodyPr/>
                    <a:lstStyle/>
                    <a:p>
                      <a:pPr algn="ctr"/>
                      <a:r>
                        <a:rPr lang="en-GB" sz="2000" dirty="0"/>
                        <a:t>1,000,000</a:t>
                      </a:r>
                    </a:p>
                  </a:txBody>
                  <a:tcPr anchor="ctr"/>
                </a:tc>
                <a:tc>
                  <a:txBody>
                    <a:bodyPr/>
                    <a:lstStyle/>
                    <a:p>
                      <a:pPr algn="ctr"/>
                      <a:r>
                        <a:rPr lang="en-GB" sz="2000" dirty="0"/>
                        <a:t>700,000</a:t>
                      </a:r>
                    </a:p>
                  </a:txBody>
                  <a:tcPr anchor="ctr"/>
                </a:tc>
                <a:extLst>
                  <a:ext uri="{0D108BD9-81ED-4DB2-BD59-A6C34878D82A}">
                    <a16:rowId xmlns:a16="http://schemas.microsoft.com/office/drawing/2014/main" val="10001"/>
                  </a:ext>
                </a:extLst>
              </a:tr>
              <a:tr h="420180">
                <a:tc>
                  <a:txBody>
                    <a:bodyPr/>
                    <a:lstStyle/>
                    <a:p>
                      <a:pPr algn="ctr"/>
                      <a:r>
                        <a:rPr lang="en-GB" sz="2000" dirty="0"/>
                        <a:t>Debt</a:t>
                      </a:r>
                    </a:p>
                  </a:txBody>
                  <a:tcPr anchor="ctr"/>
                </a:tc>
                <a:tc>
                  <a:txBody>
                    <a:bodyPr/>
                    <a:lstStyle/>
                    <a:p>
                      <a:pPr algn="ctr"/>
                      <a:r>
                        <a:rPr lang="en-GB" sz="2000" dirty="0"/>
                        <a:t>0</a:t>
                      </a:r>
                    </a:p>
                  </a:txBody>
                  <a:tcPr anchor="ctr"/>
                </a:tc>
                <a:tc>
                  <a:txBody>
                    <a:bodyPr/>
                    <a:lstStyle/>
                    <a:p>
                      <a:pPr algn="ctr"/>
                      <a:r>
                        <a:rPr lang="en-GB" sz="2000" dirty="0"/>
                        <a:t>300,000</a:t>
                      </a:r>
                    </a:p>
                  </a:txBody>
                  <a:tcPr anchor="ctr"/>
                </a:tc>
                <a:extLst>
                  <a:ext uri="{0D108BD9-81ED-4DB2-BD59-A6C34878D82A}">
                    <a16:rowId xmlns:a16="http://schemas.microsoft.com/office/drawing/2014/main" val="10002"/>
                  </a:ext>
                </a:extLst>
              </a:tr>
              <a:tr h="420180">
                <a:tc>
                  <a:txBody>
                    <a:bodyPr/>
                    <a:lstStyle/>
                    <a:p>
                      <a:pPr algn="ctr"/>
                      <a:r>
                        <a:rPr lang="en-GB" sz="2000" dirty="0"/>
                        <a:t>Interest</a:t>
                      </a:r>
                    </a:p>
                  </a:txBody>
                  <a:tcPr anchor="ctr"/>
                </a:tc>
                <a:tc>
                  <a:txBody>
                    <a:bodyPr/>
                    <a:lstStyle/>
                    <a:p>
                      <a:pPr algn="ctr"/>
                      <a:r>
                        <a:rPr lang="en-GB" sz="2000" dirty="0"/>
                        <a:t>0</a:t>
                      </a:r>
                    </a:p>
                  </a:txBody>
                  <a:tcPr anchor="ctr"/>
                </a:tc>
                <a:tc>
                  <a:txBody>
                    <a:bodyPr/>
                    <a:lstStyle/>
                    <a:p>
                      <a:pPr algn="ctr"/>
                      <a:r>
                        <a:rPr lang="en-GB" sz="2000" dirty="0"/>
                        <a:t>30,000</a:t>
                      </a: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171769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graphicFrame>
        <p:nvGraphicFramePr>
          <p:cNvPr id="4" name="Content Placeholder 3"/>
          <p:cNvGraphicFramePr>
            <a:graphicFrameLocks/>
          </p:cNvGraphicFramePr>
          <p:nvPr>
            <p:extLst>
              <p:ext uri="{D42A27DB-BD31-4B8C-83A1-F6EECF244321}">
                <p14:modId xmlns:p14="http://schemas.microsoft.com/office/powerpoint/2010/main" val="3593240551"/>
              </p:ext>
            </p:extLst>
          </p:nvPr>
        </p:nvGraphicFramePr>
        <p:xfrm>
          <a:off x="467545" y="349340"/>
          <a:ext cx="8136902" cy="6176008"/>
        </p:xfrm>
        <a:graphic>
          <a:graphicData uri="http://schemas.openxmlformats.org/drawingml/2006/table">
            <a:tbl>
              <a:tblPr firstRow="1" bandRow="1">
                <a:tableStyleId>{5C22544A-7EE6-4342-B048-85BDC9FD1C3A}</a:tableStyleId>
              </a:tblPr>
              <a:tblGrid>
                <a:gridCol w="2607982">
                  <a:extLst>
                    <a:ext uri="{9D8B030D-6E8A-4147-A177-3AD203B41FA5}">
                      <a16:colId xmlns:a16="http://schemas.microsoft.com/office/drawing/2014/main" val="20000"/>
                    </a:ext>
                  </a:extLst>
                </a:gridCol>
                <a:gridCol w="2607982">
                  <a:extLst>
                    <a:ext uri="{9D8B030D-6E8A-4147-A177-3AD203B41FA5}">
                      <a16:colId xmlns:a16="http://schemas.microsoft.com/office/drawing/2014/main" val="20001"/>
                    </a:ext>
                  </a:extLst>
                </a:gridCol>
                <a:gridCol w="2920938">
                  <a:extLst>
                    <a:ext uri="{9D8B030D-6E8A-4147-A177-3AD203B41FA5}">
                      <a16:colId xmlns:a16="http://schemas.microsoft.com/office/drawing/2014/main" val="20002"/>
                    </a:ext>
                  </a:extLst>
                </a:gridCol>
              </a:tblGrid>
              <a:tr h="866015">
                <a:tc>
                  <a:txBody>
                    <a:bodyPr/>
                    <a:lstStyle/>
                    <a:p>
                      <a:pPr algn="ctr"/>
                      <a:endParaRPr lang="en-GB" sz="2400" dirty="0"/>
                    </a:p>
                  </a:txBody>
                  <a:tcPr anchor="ctr"/>
                </a:tc>
                <a:tc>
                  <a:txBody>
                    <a:bodyPr/>
                    <a:lstStyle/>
                    <a:p>
                      <a:pPr algn="ctr"/>
                      <a:r>
                        <a:rPr lang="en-GB" sz="2400" dirty="0"/>
                        <a:t>All Equity</a:t>
                      </a:r>
                    </a:p>
                  </a:txBody>
                  <a:tcPr anchor="ctr"/>
                </a:tc>
                <a:tc>
                  <a:txBody>
                    <a:bodyPr/>
                    <a:lstStyle/>
                    <a:p>
                      <a:pPr algn="ctr"/>
                      <a:r>
                        <a:rPr lang="en-GB" sz="2400" dirty="0"/>
                        <a:t>30% Bonds</a:t>
                      </a:r>
                    </a:p>
                  </a:txBody>
                  <a:tcPr anchor="ctr"/>
                </a:tc>
                <a:extLst>
                  <a:ext uri="{0D108BD9-81ED-4DB2-BD59-A6C34878D82A}">
                    <a16:rowId xmlns:a16="http://schemas.microsoft.com/office/drawing/2014/main" val="10000"/>
                  </a:ext>
                </a:extLst>
              </a:tr>
              <a:tr h="479566">
                <a:tc>
                  <a:txBody>
                    <a:bodyPr/>
                    <a:lstStyle/>
                    <a:p>
                      <a:pPr algn="ctr"/>
                      <a:r>
                        <a:rPr lang="en-GB" sz="2400" dirty="0"/>
                        <a:t>Sales</a:t>
                      </a:r>
                    </a:p>
                  </a:txBody>
                  <a:tcPr anchor="ctr"/>
                </a:tc>
                <a:tc>
                  <a:txBody>
                    <a:bodyPr/>
                    <a:lstStyle/>
                    <a:p>
                      <a:pPr algn="ctr"/>
                      <a:r>
                        <a:rPr lang="en-GB" sz="2400" dirty="0"/>
                        <a:t>1,000</a:t>
                      </a:r>
                    </a:p>
                  </a:txBody>
                  <a:tcPr anchor="ctr"/>
                </a:tc>
                <a:tc>
                  <a:txBody>
                    <a:bodyPr/>
                    <a:lstStyle/>
                    <a:p>
                      <a:pPr algn="ctr"/>
                      <a:r>
                        <a:rPr lang="en-GB" sz="2400" dirty="0"/>
                        <a:t>1,000</a:t>
                      </a:r>
                    </a:p>
                  </a:txBody>
                  <a:tcPr anchor="ctr"/>
                </a:tc>
                <a:extLst>
                  <a:ext uri="{0D108BD9-81ED-4DB2-BD59-A6C34878D82A}">
                    <a16:rowId xmlns:a16="http://schemas.microsoft.com/office/drawing/2014/main" val="10001"/>
                  </a:ext>
                </a:extLst>
              </a:tr>
              <a:tr h="479566">
                <a:tc>
                  <a:txBody>
                    <a:bodyPr/>
                    <a:lstStyle/>
                    <a:p>
                      <a:pPr algn="ctr"/>
                      <a:r>
                        <a:rPr lang="en-GB" sz="2400" dirty="0"/>
                        <a:t>-Costs</a:t>
                      </a:r>
                    </a:p>
                  </a:txBody>
                  <a:tcPr anchor="ctr"/>
                </a:tc>
                <a:tc>
                  <a:txBody>
                    <a:bodyPr/>
                    <a:lstStyle/>
                    <a:p>
                      <a:pPr algn="ctr"/>
                      <a:r>
                        <a:rPr lang="en-GB" sz="2400" dirty="0"/>
                        <a:t>300</a:t>
                      </a:r>
                    </a:p>
                  </a:txBody>
                  <a:tcPr anchor="ctr"/>
                </a:tc>
                <a:tc>
                  <a:txBody>
                    <a:bodyPr/>
                    <a:lstStyle/>
                    <a:p>
                      <a:pPr algn="ctr"/>
                      <a:r>
                        <a:rPr lang="en-GB" sz="2400" dirty="0"/>
                        <a:t>300</a:t>
                      </a:r>
                    </a:p>
                  </a:txBody>
                  <a:tcPr anchor="ctr"/>
                </a:tc>
                <a:extLst>
                  <a:ext uri="{0D108BD9-81ED-4DB2-BD59-A6C34878D82A}">
                    <a16:rowId xmlns:a16="http://schemas.microsoft.com/office/drawing/2014/main" val="10002"/>
                  </a:ext>
                </a:extLst>
              </a:tr>
              <a:tr h="479566">
                <a:tc>
                  <a:txBody>
                    <a:bodyPr/>
                    <a:lstStyle/>
                    <a:p>
                      <a:pPr algn="ctr"/>
                      <a:r>
                        <a:rPr lang="en-GB" sz="2400" dirty="0"/>
                        <a:t>EBIT</a:t>
                      </a:r>
                    </a:p>
                  </a:txBody>
                  <a:tcPr anchor="ctr"/>
                </a:tc>
                <a:tc>
                  <a:txBody>
                    <a:bodyPr/>
                    <a:lstStyle/>
                    <a:p>
                      <a:pPr algn="ctr"/>
                      <a:r>
                        <a:rPr lang="en-GB" sz="2400" dirty="0"/>
                        <a:t>700</a:t>
                      </a:r>
                    </a:p>
                  </a:txBody>
                  <a:tcPr anchor="ctr"/>
                </a:tc>
                <a:tc>
                  <a:txBody>
                    <a:bodyPr/>
                    <a:lstStyle/>
                    <a:p>
                      <a:pPr algn="ctr"/>
                      <a:r>
                        <a:rPr lang="en-GB" sz="2400" dirty="0"/>
                        <a:t>700</a:t>
                      </a:r>
                    </a:p>
                  </a:txBody>
                  <a:tcPr anchor="ctr"/>
                </a:tc>
                <a:extLst>
                  <a:ext uri="{0D108BD9-81ED-4DB2-BD59-A6C34878D82A}">
                    <a16:rowId xmlns:a16="http://schemas.microsoft.com/office/drawing/2014/main" val="10003"/>
                  </a:ext>
                </a:extLst>
              </a:tr>
              <a:tr h="479566">
                <a:tc>
                  <a:txBody>
                    <a:bodyPr/>
                    <a:lstStyle/>
                    <a:p>
                      <a:pPr algn="ctr"/>
                      <a:r>
                        <a:rPr lang="en-GB" sz="2400" dirty="0"/>
                        <a:t>Interest</a:t>
                      </a:r>
                    </a:p>
                  </a:txBody>
                  <a:tcPr anchor="ctr"/>
                </a:tc>
                <a:tc>
                  <a:txBody>
                    <a:bodyPr/>
                    <a:lstStyle/>
                    <a:p>
                      <a:pPr algn="ctr"/>
                      <a:r>
                        <a:rPr lang="en-GB" sz="2400" dirty="0"/>
                        <a:t>0</a:t>
                      </a:r>
                    </a:p>
                  </a:txBody>
                  <a:tcPr anchor="ctr"/>
                </a:tc>
                <a:tc>
                  <a:txBody>
                    <a:bodyPr/>
                    <a:lstStyle/>
                    <a:p>
                      <a:pPr algn="ctr"/>
                      <a:r>
                        <a:rPr lang="en-GB" sz="2400" dirty="0"/>
                        <a:t>30</a:t>
                      </a:r>
                    </a:p>
                  </a:txBody>
                  <a:tcPr anchor="ctr"/>
                </a:tc>
                <a:extLst>
                  <a:ext uri="{0D108BD9-81ED-4DB2-BD59-A6C34878D82A}">
                    <a16:rowId xmlns:a16="http://schemas.microsoft.com/office/drawing/2014/main" val="10004"/>
                  </a:ext>
                </a:extLst>
              </a:tr>
              <a:tr h="479566">
                <a:tc>
                  <a:txBody>
                    <a:bodyPr/>
                    <a:lstStyle/>
                    <a:p>
                      <a:pPr algn="ctr"/>
                      <a:r>
                        <a:rPr lang="en-GB" sz="2400" dirty="0"/>
                        <a:t>Before</a:t>
                      </a:r>
                      <a:r>
                        <a:rPr lang="en-GB" sz="2400" baseline="0" dirty="0"/>
                        <a:t> Tax</a:t>
                      </a:r>
                      <a:endParaRPr lang="en-GB" sz="2400" dirty="0"/>
                    </a:p>
                  </a:txBody>
                  <a:tcPr anchor="ctr"/>
                </a:tc>
                <a:tc>
                  <a:txBody>
                    <a:bodyPr/>
                    <a:lstStyle/>
                    <a:p>
                      <a:pPr algn="ctr"/>
                      <a:r>
                        <a:rPr lang="en-GB" sz="2400" dirty="0"/>
                        <a:t>700</a:t>
                      </a:r>
                    </a:p>
                  </a:txBody>
                  <a:tcPr anchor="ctr"/>
                </a:tc>
                <a:tc>
                  <a:txBody>
                    <a:bodyPr/>
                    <a:lstStyle/>
                    <a:p>
                      <a:pPr algn="ctr"/>
                      <a:r>
                        <a:rPr lang="en-GB" sz="2400" dirty="0"/>
                        <a:t>670</a:t>
                      </a:r>
                    </a:p>
                  </a:txBody>
                  <a:tcPr anchor="ctr"/>
                </a:tc>
                <a:extLst>
                  <a:ext uri="{0D108BD9-81ED-4DB2-BD59-A6C34878D82A}">
                    <a16:rowId xmlns:a16="http://schemas.microsoft.com/office/drawing/2014/main" val="10005"/>
                  </a:ext>
                </a:extLst>
              </a:tr>
              <a:tr h="607450">
                <a:tc>
                  <a:txBody>
                    <a:bodyPr/>
                    <a:lstStyle/>
                    <a:p>
                      <a:pPr algn="ctr"/>
                      <a:r>
                        <a:rPr lang="en-GB" sz="3200" b="1" dirty="0"/>
                        <a:t>TAX</a:t>
                      </a:r>
                    </a:p>
                  </a:txBody>
                  <a:tcPr anchor="ctr"/>
                </a:tc>
                <a:tc>
                  <a:txBody>
                    <a:bodyPr/>
                    <a:lstStyle/>
                    <a:p>
                      <a:pPr algn="ctr"/>
                      <a:r>
                        <a:rPr lang="en-GB" sz="3200" b="1" dirty="0"/>
                        <a:t>140</a:t>
                      </a:r>
                    </a:p>
                  </a:txBody>
                  <a:tcPr anchor="ctr"/>
                </a:tc>
                <a:tc>
                  <a:txBody>
                    <a:bodyPr/>
                    <a:lstStyle/>
                    <a:p>
                      <a:pPr algn="ctr"/>
                      <a:r>
                        <a:rPr lang="en-GB" sz="3200" b="1" dirty="0"/>
                        <a:t>134</a:t>
                      </a:r>
                    </a:p>
                  </a:txBody>
                  <a:tcPr anchor="ctr"/>
                </a:tc>
                <a:extLst>
                  <a:ext uri="{0D108BD9-81ED-4DB2-BD59-A6C34878D82A}">
                    <a16:rowId xmlns:a16="http://schemas.microsoft.com/office/drawing/2014/main" val="10006"/>
                  </a:ext>
                </a:extLst>
              </a:tr>
              <a:tr h="479566">
                <a:tc>
                  <a:txBody>
                    <a:bodyPr/>
                    <a:lstStyle/>
                    <a:p>
                      <a:pPr algn="ctr"/>
                      <a:r>
                        <a:rPr lang="en-GB" sz="2400" dirty="0"/>
                        <a:t>Net Income</a:t>
                      </a:r>
                    </a:p>
                  </a:txBody>
                  <a:tcPr anchor="ctr"/>
                </a:tc>
                <a:tc>
                  <a:txBody>
                    <a:bodyPr/>
                    <a:lstStyle/>
                    <a:p>
                      <a:pPr algn="ctr"/>
                      <a:r>
                        <a:rPr lang="en-GB" sz="2400" dirty="0"/>
                        <a:t>560</a:t>
                      </a:r>
                    </a:p>
                  </a:txBody>
                  <a:tcPr anchor="ctr"/>
                </a:tc>
                <a:tc>
                  <a:txBody>
                    <a:bodyPr/>
                    <a:lstStyle/>
                    <a:p>
                      <a:pPr algn="ctr"/>
                      <a:r>
                        <a:rPr lang="en-GB" sz="2400" dirty="0"/>
                        <a:t>536</a:t>
                      </a:r>
                    </a:p>
                  </a:txBody>
                  <a:tcPr anchor="ctr"/>
                </a:tc>
                <a:extLst>
                  <a:ext uri="{0D108BD9-81ED-4DB2-BD59-A6C34878D82A}">
                    <a16:rowId xmlns:a16="http://schemas.microsoft.com/office/drawing/2014/main" val="10007"/>
                  </a:ext>
                </a:extLst>
              </a:tr>
              <a:tr h="479566">
                <a:tc>
                  <a:txBody>
                    <a:bodyPr/>
                    <a:lstStyle/>
                    <a:p>
                      <a:pPr algn="ctr"/>
                      <a:endParaRPr lang="en-GB" sz="2400" dirty="0"/>
                    </a:p>
                  </a:txBody>
                  <a:tcPr anchor="ctr"/>
                </a:tc>
                <a:tc>
                  <a:txBody>
                    <a:bodyPr/>
                    <a:lstStyle/>
                    <a:p>
                      <a:pPr algn="ctr"/>
                      <a:endParaRPr lang="en-GB" sz="2400" dirty="0"/>
                    </a:p>
                  </a:txBody>
                  <a:tcPr anchor="ctr"/>
                </a:tc>
                <a:tc>
                  <a:txBody>
                    <a:bodyPr/>
                    <a:lstStyle/>
                    <a:p>
                      <a:pPr algn="ctr"/>
                      <a:endParaRPr lang="en-GB" sz="2400" dirty="0"/>
                    </a:p>
                  </a:txBody>
                  <a:tcPr anchor="ctr"/>
                </a:tc>
                <a:extLst>
                  <a:ext uri="{0D108BD9-81ED-4DB2-BD59-A6C34878D82A}">
                    <a16:rowId xmlns:a16="http://schemas.microsoft.com/office/drawing/2014/main" val="10008"/>
                  </a:ext>
                </a:extLst>
              </a:tr>
              <a:tr h="479566">
                <a:tc>
                  <a:txBody>
                    <a:bodyPr/>
                    <a:lstStyle/>
                    <a:p>
                      <a:pPr algn="ctr"/>
                      <a:r>
                        <a:rPr lang="en-GB" sz="2400" dirty="0"/>
                        <a:t>Equity</a:t>
                      </a:r>
                    </a:p>
                  </a:txBody>
                  <a:tcPr anchor="ctr"/>
                </a:tc>
                <a:tc>
                  <a:txBody>
                    <a:bodyPr/>
                    <a:lstStyle/>
                    <a:p>
                      <a:pPr algn="ctr"/>
                      <a:r>
                        <a:rPr lang="en-GB" sz="2400" dirty="0"/>
                        <a:t>1,000</a:t>
                      </a:r>
                    </a:p>
                  </a:txBody>
                  <a:tcPr anchor="ctr"/>
                </a:tc>
                <a:tc>
                  <a:txBody>
                    <a:bodyPr/>
                    <a:lstStyle/>
                    <a:p>
                      <a:pPr algn="ctr"/>
                      <a:r>
                        <a:rPr lang="en-GB" sz="2400"/>
                        <a:t>700</a:t>
                      </a:r>
                      <a:endParaRPr lang="en-GB" sz="2400" dirty="0"/>
                    </a:p>
                  </a:txBody>
                  <a:tcPr anchor="ctr"/>
                </a:tc>
                <a:extLst>
                  <a:ext uri="{0D108BD9-81ED-4DB2-BD59-A6C34878D82A}">
                    <a16:rowId xmlns:a16="http://schemas.microsoft.com/office/drawing/2014/main" val="10009"/>
                  </a:ext>
                </a:extLst>
              </a:tr>
              <a:tr h="866015">
                <a:tc>
                  <a:txBody>
                    <a:bodyPr/>
                    <a:lstStyle/>
                    <a:p>
                      <a:pPr algn="ctr"/>
                      <a:r>
                        <a:rPr lang="en-GB" sz="2400" dirty="0"/>
                        <a:t>Flows to Equity</a:t>
                      </a:r>
                    </a:p>
                  </a:txBody>
                  <a:tcPr anchor="ctr"/>
                </a:tc>
                <a:tc>
                  <a:txBody>
                    <a:bodyPr/>
                    <a:lstStyle/>
                    <a:p>
                      <a:pPr algn="ctr"/>
                      <a:r>
                        <a:rPr lang="en-GB" sz="2400" dirty="0"/>
                        <a:t>560</a:t>
                      </a:r>
                    </a:p>
                  </a:txBody>
                  <a:tcPr anchor="ctr"/>
                </a:tc>
                <a:tc>
                  <a:txBody>
                    <a:bodyPr/>
                    <a:lstStyle/>
                    <a:p>
                      <a:pPr algn="ctr"/>
                      <a:r>
                        <a:rPr lang="en-GB" sz="2400" dirty="0"/>
                        <a:t>536</a:t>
                      </a:r>
                    </a:p>
                  </a:txBody>
                  <a:tcPr anchor="ct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44252525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84" y="274638"/>
            <a:ext cx="7467600" cy="634082"/>
          </a:xfrm>
        </p:spPr>
        <p:txBody>
          <a:bodyPr>
            <a:normAutofit/>
          </a:bodyPr>
          <a:lstStyle/>
          <a:p>
            <a:r>
              <a:rPr lang="en-GB" dirty="0"/>
              <a:t>WACC</a:t>
            </a:r>
          </a:p>
        </p:txBody>
      </p:sp>
      <p:sp>
        <p:nvSpPr>
          <p:cNvPr id="3" name="Content Placeholder 2"/>
          <p:cNvSpPr>
            <a:spLocks noGrp="1"/>
          </p:cNvSpPr>
          <p:nvPr>
            <p:ph idx="1"/>
          </p:nvPr>
        </p:nvSpPr>
        <p:spPr>
          <a:xfrm>
            <a:off x="632792" y="1340768"/>
            <a:ext cx="8115672" cy="5184576"/>
          </a:xfrm>
        </p:spPr>
        <p:txBody>
          <a:bodyPr>
            <a:normAutofit fontScale="85000" lnSpcReduction="10000"/>
          </a:bodyPr>
          <a:lstStyle/>
          <a:p>
            <a:r>
              <a:rPr lang="en-GB" dirty="0"/>
              <a:t>Weighted Average Cost of Capital</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Are the proportion of equity and bank/bond borrowing.</a:t>
            </a:r>
          </a:p>
          <a:p>
            <a:endParaRPr lang="en-GB" dirty="0"/>
          </a:p>
          <a:p>
            <a:pPr algn="ctr">
              <a:buNone/>
            </a:pPr>
            <a:r>
              <a:rPr lang="en-GB" sz="3300" b="1" dirty="0"/>
              <a:t>ALWAYS USE MARKET VALUATION FOR BONDS AND EQUITY</a:t>
            </a:r>
          </a:p>
        </p:txBody>
      </p:sp>
      <p:graphicFrame>
        <p:nvGraphicFramePr>
          <p:cNvPr id="5" name="Object 3"/>
          <p:cNvGraphicFramePr>
            <a:graphicFrameLocks noChangeAspect="1"/>
          </p:cNvGraphicFramePr>
          <p:nvPr>
            <p:extLst>
              <p:ext uri="{D42A27DB-BD31-4B8C-83A1-F6EECF244321}">
                <p14:modId xmlns:p14="http://schemas.microsoft.com/office/powerpoint/2010/main" val="3867590709"/>
              </p:ext>
            </p:extLst>
          </p:nvPr>
        </p:nvGraphicFramePr>
        <p:xfrm>
          <a:off x="827584" y="1772816"/>
          <a:ext cx="7963743" cy="2961195"/>
        </p:xfrm>
        <a:graphic>
          <a:graphicData uri="http://schemas.openxmlformats.org/presentationml/2006/ole">
            <mc:AlternateContent xmlns:mc="http://schemas.openxmlformats.org/markup-compatibility/2006">
              <mc:Choice xmlns:v="urn:schemas-microsoft-com:vml" Requires="v">
                <p:oleObj name="Equation" r:id="rId3" imgW="3619500" imgH="1346200" progId="Equation.3">
                  <p:embed/>
                </p:oleObj>
              </mc:Choice>
              <mc:Fallback>
                <p:oleObj name="Equation" r:id="rId3" imgW="3619500" imgH="1346200" progId="Equation.3">
                  <p:embed/>
                  <p:pic>
                    <p:nvPicPr>
                      <p:cNvPr id="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584" y="1772816"/>
                        <a:ext cx="7963743" cy="29611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6" name="Straight Arrow Connector 5"/>
          <p:cNvCxnSpPr/>
          <p:nvPr/>
        </p:nvCxnSpPr>
        <p:spPr>
          <a:xfrm flipV="1">
            <a:off x="8071247" y="2564904"/>
            <a:ext cx="0" cy="1224136"/>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7" name="TextBox 6"/>
          <p:cNvSpPr txBox="1"/>
          <p:nvPr/>
        </p:nvSpPr>
        <p:spPr>
          <a:xfrm>
            <a:off x="7308304" y="3501008"/>
            <a:ext cx="1512168" cy="116853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GB" dirty="0"/>
              <a:t>Tax Shield</a:t>
            </a:r>
          </a:p>
        </p:txBody>
      </p:sp>
      <p:graphicFrame>
        <p:nvGraphicFramePr>
          <p:cNvPr id="8" name="Object 7"/>
          <p:cNvGraphicFramePr>
            <a:graphicFrameLocks noChangeAspect="1"/>
          </p:cNvGraphicFramePr>
          <p:nvPr>
            <p:extLst>
              <p:ext uri="{D42A27DB-BD31-4B8C-83A1-F6EECF244321}">
                <p14:modId xmlns:p14="http://schemas.microsoft.com/office/powerpoint/2010/main" val="821196280"/>
              </p:ext>
            </p:extLst>
          </p:nvPr>
        </p:nvGraphicFramePr>
        <p:xfrm>
          <a:off x="6084168" y="332656"/>
          <a:ext cx="914400" cy="771525"/>
        </p:xfrm>
        <a:graphic>
          <a:graphicData uri="http://schemas.openxmlformats.org/presentationml/2006/ole">
            <mc:AlternateContent xmlns:mc="http://schemas.openxmlformats.org/markup-compatibility/2006">
              <mc:Choice xmlns:v="urn:schemas-microsoft-com:vml" Requires="v">
                <p:oleObj name="Document" showAsIcon="1" r:id="rId5" imgW="914400" imgH="771525" progId="Word.Document.12">
                  <p:embed/>
                </p:oleObj>
              </mc:Choice>
              <mc:Fallback>
                <p:oleObj name="Document" showAsIcon="1" r:id="rId5" imgW="914400" imgH="771525" progId="Word.Document.12">
                  <p:embed/>
                  <p:pic>
                    <p:nvPicPr>
                      <p:cNvPr id="8"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84168" y="332656"/>
                        <a:ext cx="914400" cy="771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p:cNvGraphicFramePr>
            <a:graphicFrameLocks noChangeAspect="1"/>
          </p:cNvGraphicFramePr>
          <p:nvPr/>
        </p:nvGraphicFramePr>
        <p:xfrm>
          <a:off x="7812360" y="353219"/>
          <a:ext cx="914400" cy="771525"/>
        </p:xfrm>
        <a:graphic>
          <a:graphicData uri="http://schemas.openxmlformats.org/presentationml/2006/ole">
            <mc:AlternateContent xmlns:mc="http://schemas.openxmlformats.org/markup-compatibility/2006">
              <mc:Choice xmlns:v="urn:schemas-microsoft-com:vml" Requires="v">
                <p:oleObj name="Document" showAsIcon="1" r:id="rId7" imgW="914400" imgH="771525" progId="Word.Document.12">
                  <p:embed/>
                </p:oleObj>
              </mc:Choice>
              <mc:Fallback>
                <p:oleObj name="Document" showAsIcon="1" r:id="rId7" imgW="914400" imgH="771525" progId="Word.Document.12">
                  <p:embed/>
                  <p:pic>
                    <p:nvPicPr>
                      <p:cNvPr id="9"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12360" y="353219"/>
                        <a:ext cx="914400" cy="771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p14="http://schemas.microsoft.com/office/powerpoint/2010/main">
        <mc:Choice Requires="p14">
          <p:contentPart p14:bwMode="auto" r:id="rId9">
            <p14:nvContentPartPr>
              <p14:cNvPr id="33" name="Ink 32"/>
              <p14:cNvContentPartPr/>
              <p14:nvPr/>
            </p14:nvContentPartPr>
            <p14:xfrm>
              <a:off x="3156564" y="2772307"/>
              <a:ext cx="2160" cy="6480"/>
            </p14:xfrm>
          </p:contentPart>
        </mc:Choice>
        <mc:Fallback xmlns="">
          <p:pic>
            <p:nvPicPr>
              <p:cNvPr id="33" name="Ink 32"/>
              <p:cNvPicPr/>
              <p:nvPr/>
            </p:nvPicPr>
            <p:blipFill>
              <a:blip r:embed="rId11"/>
              <a:stretch>
                <a:fillRect/>
              </a:stretch>
            </p:blipFill>
            <p:spPr>
              <a:xfrm>
                <a:off x="3147204" y="2762947"/>
                <a:ext cx="20160" cy="24120"/>
              </a:xfrm>
              <a:prstGeom prst="rect">
                <a:avLst/>
              </a:prstGeom>
            </p:spPr>
          </p:pic>
        </mc:Fallback>
      </mc:AlternateContent>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4082"/>
          </a:xfrm>
        </p:spPr>
        <p:txBody>
          <a:bodyPr>
            <a:normAutofit/>
          </a:bodyPr>
          <a:lstStyle/>
          <a:p>
            <a:r>
              <a:rPr lang="en-GB" dirty="0"/>
              <a:t>Example</a:t>
            </a:r>
          </a:p>
        </p:txBody>
      </p:sp>
      <p:sp>
        <p:nvSpPr>
          <p:cNvPr id="3" name="Content Placeholder 2"/>
          <p:cNvSpPr>
            <a:spLocks noGrp="1"/>
          </p:cNvSpPr>
          <p:nvPr>
            <p:ph idx="1"/>
          </p:nvPr>
        </p:nvSpPr>
        <p:spPr>
          <a:xfrm>
            <a:off x="611560" y="1340768"/>
            <a:ext cx="7715200" cy="4824536"/>
          </a:xfrm>
        </p:spPr>
        <p:txBody>
          <a:bodyPr>
            <a:noAutofit/>
          </a:bodyPr>
          <a:lstStyle/>
          <a:p>
            <a:r>
              <a:rPr lang="en-GB" sz="2800" dirty="0"/>
              <a:t>The market value of Equity capital of Jordan plc is £350,000.  </a:t>
            </a:r>
          </a:p>
          <a:p>
            <a:r>
              <a:rPr lang="en-GB" sz="2800" dirty="0"/>
              <a:t>The beta of the company is 1.3. The market return is 15%. 3 month government bonds offer a 3% return.</a:t>
            </a:r>
          </a:p>
          <a:p>
            <a:r>
              <a:rPr lang="en-GB" sz="2800" dirty="0"/>
              <a:t>The market value of Debt capital is £650,000. The yield to maturity is equal to the coupon rate, which is  5%.</a:t>
            </a:r>
          </a:p>
          <a:p>
            <a:r>
              <a:rPr lang="en-GB" sz="2800" dirty="0"/>
              <a:t>What is the Cost of Capital of Jordan plc.</a:t>
            </a:r>
          </a:p>
          <a:p>
            <a:r>
              <a:rPr lang="en-GB" sz="2800" dirty="0"/>
              <a:t>The Tax Rate is 30%</a:t>
            </a:r>
          </a:p>
        </p:txBody>
      </p:sp>
    </p:spTree>
    <p:extLst>
      <p:ext uri="{BB962C8B-B14F-4D97-AF65-F5344CB8AC3E}">
        <p14:creationId xmlns:p14="http://schemas.microsoft.com/office/powerpoint/2010/main" val="331033826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260648"/>
            <a:ext cx="7498080" cy="778098"/>
          </a:xfrm>
        </p:spPr>
        <p:txBody>
          <a:bodyPr/>
          <a:lstStyle/>
          <a:p>
            <a:r>
              <a:rPr lang="en-GB" dirty="0"/>
              <a:t>Solution</a:t>
            </a:r>
          </a:p>
        </p:txBody>
      </p:sp>
      <p:graphicFrame>
        <p:nvGraphicFramePr>
          <p:cNvPr id="4" name="Content Placeholder 3"/>
          <p:cNvGraphicFramePr>
            <a:graphicFrameLocks noGrp="1"/>
          </p:cNvGraphicFramePr>
          <p:nvPr>
            <p:ph idx="1"/>
          </p:nvPr>
        </p:nvGraphicFramePr>
        <p:xfrm>
          <a:off x="1143000" y="4037013"/>
          <a:ext cx="6096000" cy="0"/>
        </p:xfrm>
        <a:graphic>
          <a:graphicData uri="http://schemas.openxmlformats.org/presentationml/2006/ole">
            <mc:AlternateContent xmlns:mc="http://schemas.openxmlformats.org/markup-compatibility/2006">
              <mc:Choice xmlns:v="urn:schemas-microsoft-com:vml" Requires="v">
                <p:oleObj name="Equation" r:id="rId2" imgW="0" imgH="0" progId="Equation.3">
                  <p:embed/>
                </p:oleObj>
              </mc:Choice>
              <mc:Fallback>
                <p:oleObj name="Equation" r:id="rId2" imgW="0" imgH="0" progId="Equation.3">
                  <p:embed/>
                  <p:pic>
                    <p:nvPicPr>
                      <p:cNvPr id="4" name="Content Placeholder 3"/>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143000" y="4037013"/>
                        <a:ext cx="6096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155" name="Object 3"/>
          <p:cNvGraphicFramePr>
            <a:graphicFrameLocks noChangeAspect="1"/>
          </p:cNvGraphicFramePr>
          <p:nvPr>
            <p:extLst>
              <p:ext uri="{D42A27DB-BD31-4B8C-83A1-F6EECF244321}">
                <p14:modId xmlns:p14="http://schemas.microsoft.com/office/powerpoint/2010/main" val="2663528871"/>
              </p:ext>
            </p:extLst>
          </p:nvPr>
        </p:nvGraphicFramePr>
        <p:xfrm>
          <a:off x="296739" y="1484437"/>
          <a:ext cx="8451725" cy="4896891"/>
        </p:xfrm>
        <a:graphic>
          <a:graphicData uri="http://schemas.openxmlformats.org/presentationml/2006/ole">
            <mc:AlternateContent xmlns:mc="http://schemas.openxmlformats.org/markup-compatibility/2006">
              <mc:Choice xmlns:v="urn:schemas-microsoft-com:vml" Requires="v">
                <p:oleObj name="Equation" r:id="rId3" imgW="3835080" imgH="2222280" progId="Equation.3">
                  <p:embed/>
                </p:oleObj>
              </mc:Choice>
              <mc:Fallback>
                <p:oleObj name="Equation" r:id="rId3" imgW="3835080" imgH="2222280" progId="Equation.3">
                  <p:embed/>
                  <p:pic>
                    <p:nvPicPr>
                      <p:cNvPr id="49155" name="Object 3"/>
                      <p:cNvPicPr>
                        <a:picLocks noChangeAspect="1" noChangeArrowheads="1"/>
                      </p:cNvPicPr>
                      <p:nvPr/>
                    </p:nvPicPr>
                    <p:blipFill>
                      <a:blip r:embed="rId4"/>
                      <a:srcRect/>
                      <a:stretch>
                        <a:fillRect/>
                      </a:stretch>
                    </p:blipFill>
                    <p:spPr bwMode="auto">
                      <a:xfrm>
                        <a:off x="296739" y="1484437"/>
                        <a:ext cx="8451725" cy="489689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12119304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555B2-08E7-F41D-C70F-812B13C82E72}"/>
              </a:ext>
            </a:extLst>
          </p:cNvPr>
          <p:cNvSpPr>
            <a:spLocks noGrp="1"/>
          </p:cNvSpPr>
          <p:nvPr>
            <p:ph type="title"/>
          </p:nvPr>
        </p:nvSpPr>
        <p:spPr/>
        <p:txBody>
          <a:bodyPr/>
          <a:lstStyle/>
          <a:p>
            <a:r>
              <a:rPr lang="en-GB" dirty="0"/>
              <a:t>Finally: Cost of debt for Nestle</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4" name="Content Placeholder 3">
                <a:extLst>
                  <a:ext uri="{FF2B5EF4-FFF2-40B4-BE49-F238E27FC236}">
                    <a16:creationId xmlns:a16="http://schemas.microsoft.com/office/drawing/2014/main" id="{B388AC4F-CD6E-ABDE-EF1F-0EC76269099B}"/>
                  </a:ext>
                </a:extLst>
              </p:cNvPr>
              <p:cNvGraphicFramePr>
                <a:graphicFrameLocks noGrp="1"/>
              </p:cNvGraphicFramePr>
              <p:nvPr>
                <p:ph sz="quarter" idx="1"/>
              </p:nvPr>
            </p:nvGraphicFramePr>
            <p:xfrm>
              <a:off x="301625" y="1527175"/>
              <a:ext cx="8504238" cy="45720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4" name="Content Placeholder 3">
                <a:extLst>
                  <a:ext uri="{FF2B5EF4-FFF2-40B4-BE49-F238E27FC236}">
                    <a16:creationId xmlns:a16="http://schemas.microsoft.com/office/drawing/2014/main" id="{B388AC4F-CD6E-ABDE-EF1F-0EC76269099B}"/>
                  </a:ext>
                </a:extLst>
              </p:cNvPr>
              <p:cNvPicPr>
                <a:picLocks noGrp="1" noRot="1" noChangeAspect="1" noMove="1" noResize="1" noEditPoints="1" noAdjustHandles="1" noChangeArrowheads="1" noChangeShapeType="1"/>
              </p:cNvPicPr>
              <p:nvPr/>
            </p:nvPicPr>
            <p:blipFill>
              <a:blip r:embed="rId3"/>
              <a:stretch>
                <a:fillRect/>
              </a:stretch>
            </p:blipFill>
            <p:spPr>
              <a:xfrm>
                <a:off x="301625" y="1527175"/>
                <a:ext cx="8504238" cy="4572000"/>
              </a:xfrm>
              <a:prstGeom prst="rect">
                <a:avLst/>
              </a:prstGeom>
            </p:spPr>
          </p:pic>
        </mc:Fallback>
      </mc:AlternateContent>
    </p:spTree>
    <p:extLst>
      <p:ext uri="{BB962C8B-B14F-4D97-AF65-F5344CB8AC3E}">
        <p14:creationId xmlns:p14="http://schemas.microsoft.com/office/powerpoint/2010/main" val="263264651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B9254-FF2A-D616-6800-BED1F832C596}"/>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653EBA9B-4C1A-7B21-1F3E-ECFC4C76032A}"/>
              </a:ext>
            </a:extLst>
          </p:cNvPr>
          <p:cNvSpPr>
            <a:spLocks noGrp="1"/>
          </p:cNvSpPr>
          <p:nvPr>
            <p:ph type="body" idx="1"/>
          </p:nvPr>
        </p:nvSpPr>
        <p:spPr>
          <a:xfrm>
            <a:off x="1368426" y="533400"/>
            <a:ext cx="6480174" cy="469776"/>
          </a:xfrm>
        </p:spPr>
        <p:txBody>
          <a:bodyPr/>
          <a:lstStyle/>
          <a:p>
            <a:r>
              <a:rPr lang="en-GB" dirty="0"/>
              <a:t>Cost of borrowing using Hybrid Assets</a:t>
            </a:r>
          </a:p>
        </p:txBody>
      </p:sp>
      <p:sp>
        <p:nvSpPr>
          <p:cNvPr id="6" name="Title 5">
            <a:extLst>
              <a:ext uri="{FF2B5EF4-FFF2-40B4-BE49-F238E27FC236}">
                <a16:creationId xmlns:a16="http://schemas.microsoft.com/office/drawing/2014/main" id="{A332F8DF-473C-A00C-13FA-B7D1F75B7278}"/>
              </a:ext>
            </a:extLst>
          </p:cNvPr>
          <p:cNvSpPr>
            <a:spLocks noGrp="1"/>
          </p:cNvSpPr>
          <p:nvPr>
            <p:ph type="title"/>
          </p:nvPr>
        </p:nvSpPr>
        <p:spPr>
          <a:xfrm>
            <a:off x="722313" y="533400"/>
            <a:ext cx="7772400" cy="1095400"/>
          </a:xfrm>
        </p:spPr>
        <p:txBody>
          <a:bodyPr/>
          <a:lstStyle/>
          <a:p>
            <a:r>
              <a:rPr lang="en-GB" dirty="0"/>
              <a:t>Hybrid Financing</a:t>
            </a:r>
          </a:p>
        </p:txBody>
      </p:sp>
      <p:graphicFrame>
        <p:nvGraphicFramePr>
          <p:cNvPr id="9" name="Diagram 8">
            <a:extLst>
              <a:ext uri="{FF2B5EF4-FFF2-40B4-BE49-F238E27FC236}">
                <a16:creationId xmlns:a16="http://schemas.microsoft.com/office/drawing/2014/main" id="{F58181D6-8B0C-1E7E-0436-D1FC973420F7}"/>
              </a:ext>
            </a:extLst>
          </p:cNvPr>
          <p:cNvGraphicFramePr/>
          <p:nvPr>
            <p:extLst>
              <p:ext uri="{D42A27DB-BD31-4B8C-83A1-F6EECF244321}">
                <p14:modId xmlns:p14="http://schemas.microsoft.com/office/powerpoint/2010/main" val="4115550743"/>
              </p:ext>
            </p:extLst>
          </p:nvPr>
        </p:nvGraphicFramePr>
        <p:xfrm>
          <a:off x="324037" y="2082286"/>
          <a:ext cx="8568952" cy="39604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222721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p:cNvSpPr>
            <a:spLocks noGrp="1" noChangeArrowheads="1"/>
          </p:cNvSpPr>
          <p:nvPr>
            <p:ph type="title"/>
          </p:nvPr>
        </p:nvSpPr>
        <p:spPr/>
        <p:txBody>
          <a:bodyPr/>
          <a:lstStyle/>
          <a:p>
            <a:r>
              <a:rPr lang="en-US"/>
              <a:t>Dealing with Hybrids and Preferred Stock</a:t>
            </a:r>
          </a:p>
        </p:txBody>
      </p:sp>
      <p:sp>
        <p:nvSpPr>
          <p:cNvPr id="314371" name="Rectangle 3"/>
          <p:cNvSpPr>
            <a:spLocks noGrp="1" noChangeArrowheads="1"/>
          </p:cNvSpPr>
          <p:nvPr>
            <p:ph sz="quarter" idx="1"/>
          </p:nvPr>
        </p:nvSpPr>
        <p:spPr/>
        <p:txBody>
          <a:bodyPr>
            <a:normAutofit fontScale="92500" lnSpcReduction="10000"/>
          </a:bodyPr>
          <a:lstStyle/>
          <a:p>
            <a:r>
              <a:rPr lang="en-US" dirty="0"/>
              <a:t>When dealing with hybrids (convertible bonds, for instance), break the security down into debt and equity and allocate the amounts accordingly. Thus, if a firm has $ 125 million in convertible debt outstanding, break the $125 million into straight debt and conversion option components. The conversion option is equity.</a:t>
            </a:r>
          </a:p>
          <a:p>
            <a:r>
              <a:rPr lang="en-US" dirty="0"/>
              <a:t>When dealing with preferred stock, it is better to keep it as a separate component. The cost of preferred stock is the </a:t>
            </a:r>
            <a:r>
              <a:rPr lang="en-US" u="sng" dirty="0"/>
              <a:t>preferred dividend yield</a:t>
            </a:r>
            <a:r>
              <a:rPr lang="en-US" dirty="0"/>
              <a:t>. (As a rule of thumb, if the preferred stock is less than 5% of the outstanding market value of the firm, lumping it in with debt will make no significant impact on your valuation).</a:t>
            </a:r>
          </a:p>
        </p:txBody>
      </p:sp>
    </p:spTree>
    <p:extLst>
      <p:ext uri="{BB962C8B-B14F-4D97-AF65-F5344CB8AC3E}">
        <p14:creationId xmlns:p14="http://schemas.microsoft.com/office/powerpoint/2010/main" val="11576949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44624"/>
            <a:ext cx="7772400" cy="778098"/>
          </a:xfrm>
        </p:spPr>
        <p:txBody>
          <a:bodyPr/>
          <a:lstStyle/>
          <a:p>
            <a:r>
              <a:rPr lang="en-GB" dirty="0"/>
              <a:t>Cost of Equity-Preferred Shares</a:t>
            </a:r>
          </a:p>
        </p:txBody>
      </p:sp>
      <p:sp>
        <p:nvSpPr>
          <p:cNvPr id="3" name="Content Placeholder 2"/>
          <p:cNvSpPr>
            <a:spLocks noGrp="1"/>
          </p:cNvSpPr>
          <p:nvPr>
            <p:ph sz="quarter" idx="1"/>
          </p:nvPr>
        </p:nvSpPr>
        <p:spPr>
          <a:xfrm>
            <a:off x="611560" y="1628800"/>
            <a:ext cx="7772400" cy="4608512"/>
          </a:xfrm>
        </p:spPr>
        <p:txBody>
          <a:bodyPr>
            <a:normAutofit/>
          </a:bodyPr>
          <a:lstStyle/>
          <a:p>
            <a:r>
              <a:rPr lang="en-GB" dirty="0"/>
              <a:t>Characteristics</a:t>
            </a:r>
          </a:p>
          <a:p>
            <a:pPr lvl="1"/>
            <a:r>
              <a:rPr lang="en-GB" dirty="0"/>
              <a:t>Part of Equity</a:t>
            </a:r>
          </a:p>
          <a:p>
            <a:pPr lvl="1"/>
            <a:r>
              <a:rPr lang="en-GB" dirty="0"/>
              <a:t>Priority in Dividends over Ordinary shares</a:t>
            </a:r>
          </a:p>
          <a:p>
            <a:pPr lvl="1"/>
            <a:r>
              <a:rPr lang="en-GB" dirty="0"/>
              <a:t>Seniority in company’s assets over Ordinary shares</a:t>
            </a:r>
          </a:p>
          <a:p>
            <a:pPr lvl="1"/>
            <a:r>
              <a:rPr lang="en-GB" dirty="0"/>
              <a:t>In-between Equity and debt</a:t>
            </a:r>
          </a:p>
          <a:p>
            <a:pPr lvl="1"/>
            <a:r>
              <a:rPr lang="en-GB" dirty="0"/>
              <a:t>Similar to Debenture Stock (no collateral)</a:t>
            </a:r>
          </a:p>
          <a:p>
            <a:r>
              <a:rPr lang="en-GB" dirty="0"/>
              <a:t>Cost of borrowing</a:t>
            </a:r>
          </a:p>
          <a:p>
            <a:pPr lvl="1"/>
            <a:r>
              <a:rPr lang="en-GB" dirty="0"/>
              <a:t>They are perpetuities</a:t>
            </a:r>
          </a:p>
          <a:p>
            <a:pPr lvl="1"/>
            <a:r>
              <a:rPr lang="en-GB" dirty="0"/>
              <a:t>Constant Dividend</a:t>
            </a:r>
          </a:p>
          <a:p>
            <a:endParaRPr lang="en-GB" dirty="0"/>
          </a:p>
        </p:txBody>
      </p:sp>
      <p:graphicFrame>
        <p:nvGraphicFramePr>
          <p:cNvPr id="4" name="Object 3"/>
          <p:cNvGraphicFramePr>
            <a:graphicFrameLocks noChangeAspect="1"/>
          </p:cNvGraphicFramePr>
          <p:nvPr>
            <p:extLst>
              <p:ext uri="{D42A27DB-BD31-4B8C-83A1-F6EECF244321}">
                <p14:modId xmlns:p14="http://schemas.microsoft.com/office/powerpoint/2010/main" val="1716912998"/>
              </p:ext>
            </p:extLst>
          </p:nvPr>
        </p:nvGraphicFramePr>
        <p:xfrm>
          <a:off x="6156176" y="4293096"/>
          <a:ext cx="2304256" cy="1879787"/>
        </p:xfrm>
        <a:graphic>
          <a:graphicData uri="http://schemas.openxmlformats.org/presentationml/2006/ole">
            <mc:AlternateContent xmlns:mc="http://schemas.openxmlformats.org/markup-compatibility/2006">
              <mc:Choice xmlns:v="urn:schemas-microsoft-com:vml" Requires="v">
                <p:oleObj name="Equation" r:id="rId2" imgW="482400" imgH="393480" progId="Equation.3">
                  <p:embed/>
                </p:oleObj>
              </mc:Choice>
              <mc:Fallback>
                <p:oleObj name="Equation" r:id="rId2" imgW="482400" imgH="393480" progId="Equation.3">
                  <p:embed/>
                  <p:pic>
                    <p:nvPicPr>
                      <p:cNvPr id="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176" y="4293096"/>
                        <a:ext cx="2304256" cy="1879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8660035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Preferred Shares</a:t>
            </a:r>
          </a:p>
        </p:txBody>
      </p:sp>
      <p:sp>
        <p:nvSpPr>
          <p:cNvPr id="3" name="Content Placeholder 2"/>
          <p:cNvSpPr>
            <a:spLocks noGrp="1"/>
          </p:cNvSpPr>
          <p:nvPr>
            <p:ph sz="quarter" idx="1"/>
          </p:nvPr>
        </p:nvSpPr>
        <p:spPr>
          <a:xfrm>
            <a:off x="914400" y="1447800"/>
            <a:ext cx="7772400" cy="2413248"/>
          </a:xfrm>
        </p:spPr>
        <p:txBody>
          <a:bodyPr>
            <a:normAutofit fontScale="92500" lnSpcReduction="20000"/>
          </a:bodyPr>
          <a:lstStyle/>
          <a:p>
            <a:r>
              <a:rPr lang="en-GB" dirty="0"/>
              <a:t>Birmingham International plc has issued 1,000 preferred shares. The Dividend is set to be £2 annually. Investors were willing to pay £16 per share.</a:t>
            </a:r>
          </a:p>
          <a:p>
            <a:r>
              <a:rPr lang="en-GB" dirty="0"/>
              <a:t>What is the cost of borrowing for Birmingham International?</a:t>
            </a:r>
          </a:p>
          <a:p>
            <a:r>
              <a:rPr lang="en-GB" dirty="0"/>
              <a:t>What is the market value of Preferred Share capital?</a:t>
            </a:r>
          </a:p>
          <a:p>
            <a:pPr>
              <a:buNone/>
            </a:pPr>
            <a:endParaRPr lang="en-GB" dirty="0"/>
          </a:p>
          <a:p>
            <a:endParaRPr lang="en-GB" dirty="0"/>
          </a:p>
        </p:txBody>
      </p:sp>
      <p:graphicFrame>
        <p:nvGraphicFramePr>
          <p:cNvPr id="4" name="Object 3"/>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name="Equation" r:id="rId2" imgW="114120" imgH="215640" progId="Equation.3">
                  <p:embed/>
                </p:oleObj>
              </mc:Choice>
              <mc:Fallback>
                <p:oleObj name="Equation" r:id="rId2" imgW="114120" imgH="215640" progId="Equation.3">
                  <p:embed/>
                  <p:pic>
                    <p:nvPicPr>
                      <p:cNvPr id="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51" name="Object 3"/>
          <p:cNvGraphicFramePr>
            <a:graphicFrameLocks noChangeAspect="1"/>
          </p:cNvGraphicFramePr>
          <p:nvPr/>
        </p:nvGraphicFramePr>
        <p:xfrm>
          <a:off x="331867" y="4293096"/>
          <a:ext cx="8632621" cy="2088232"/>
        </p:xfrm>
        <a:graphic>
          <a:graphicData uri="http://schemas.openxmlformats.org/presentationml/2006/ole">
            <mc:AlternateContent xmlns:mc="http://schemas.openxmlformats.org/markup-compatibility/2006">
              <mc:Choice xmlns:v="urn:schemas-microsoft-com:vml" Requires="v">
                <p:oleObj name="Equation" r:id="rId4" imgW="2730240" imgH="660240" progId="Equation.3">
                  <p:embed/>
                </p:oleObj>
              </mc:Choice>
              <mc:Fallback>
                <p:oleObj name="Equation" r:id="rId4" imgW="2730240" imgH="660240" progId="Equation.3">
                  <p:embed/>
                  <p:pic>
                    <p:nvPicPr>
                      <p:cNvPr id="27651"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1867" y="4293096"/>
                        <a:ext cx="8632621" cy="20882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95548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7651"/>
                                        </p:tgtEl>
                                        <p:attrNameLst>
                                          <p:attrName>style.visibility</p:attrName>
                                        </p:attrNameLst>
                                      </p:cBhvr>
                                      <p:to>
                                        <p:strVal val="visible"/>
                                      </p:to>
                                    </p:set>
                                    <p:animEffect transition="in" filter="box(in)">
                                      <p:cBhvr>
                                        <p:cTn id="7" dur="500"/>
                                        <p:tgtEl>
                                          <p:spTgt spid="276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Let s see that in practice</a:t>
            </a:r>
            <a:endParaRPr lang="en-US" dirty="0"/>
          </a:p>
        </p:txBody>
      </p:sp>
      <p:sp>
        <p:nvSpPr>
          <p:cNvPr id="3" name="Content Placeholder 2"/>
          <p:cNvSpPr>
            <a:spLocks noGrp="1"/>
          </p:cNvSpPr>
          <p:nvPr>
            <p:ph sz="quarter" idx="1"/>
          </p:nvPr>
        </p:nvSpPr>
        <p:spPr>
          <a:xfrm>
            <a:off x="611560" y="1447800"/>
            <a:ext cx="8075240" cy="4933528"/>
          </a:xfrm>
        </p:spPr>
        <p:txBody>
          <a:bodyPr>
            <a:normAutofit fontScale="85000" lnSpcReduction="20000"/>
          </a:bodyPr>
          <a:lstStyle/>
          <a:p>
            <a:r>
              <a:rPr lang="en-GB" sz="3200" dirty="0"/>
              <a:t>A company has </a:t>
            </a:r>
          </a:p>
          <a:p>
            <a:pPr lvl="1"/>
            <a:r>
              <a:rPr lang="en-GB" sz="3200" dirty="0"/>
              <a:t>5m outstanding shares that cost £2 each. The last dividend was 5p and it is expected to grow by 10% indefinitely.</a:t>
            </a:r>
          </a:p>
          <a:p>
            <a:pPr lvl="1"/>
            <a:r>
              <a:rPr lang="en-GB" sz="3200" dirty="0"/>
              <a:t>100,000, 5%, 1 year debentures, currently selling at £95.</a:t>
            </a:r>
          </a:p>
          <a:p>
            <a:pPr lvl="1"/>
            <a:r>
              <a:rPr lang="en-GB" sz="3200" dirty="0"/>
              <a:t>2m preferred stock that cost 5£ each. The dividend is 0.10.</a:t>
            </a:r>
          </a:p>
          <a:p>
            <a:r>
              <a:rPr lang="en-GB" sz="3200" dirty="0"/>
              <a:t>The marginal tax rate is 30%</a:t>
            </a:r>
          </a:p>
          <a:p>
            <a:endParaRPr lang="en-GB" sz="3200" dirty="0"/>
          </a:p>
          <a:p>
            <a:pPr algn="ctr" hangingPunct="0">
              <a:buNone/>
            </a:pPr>
            <a:r>
              <a:rPr lang="en-GB" sz="4000" b="1" dirty="0"/>
              <a:t>What is the firm’s WACC if the firm plans to finance with new issues?</a:t>
            </a:r>
            <a:endParaRPr lang="en-US" sz="4000" dirty="0"/>
          </a:p>
        </p:txBody>
      </p:sp>
    </p:spTree>
    <p:extLst>
      <p:ext uri="{BB962C8B-B14F-4D97-AF65-F5344CB8AC3E}">
        <p14:creationId xmlns:p14="http://schemas.microsoft.com/office/powerpoint/2010/main" val="208873501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 name="Content Placeholder 3"/>
          <p:cNvGraphicFramePr>
            <a:graphicFrameLocks noGrp="1" noChangeAspect="1"/>
          </p:cNvGraphicFramePr>
          <p:nvPr>
            <p:ph sz="quarter" idx="1"/>
          </p:nvPr>
        </p:nvGraphicFramePr>
        <p:xfrm>
          <a:off x="539553" y="378842"/>
          <a:ext cx="8078206" cy="6074494"/>
        </p:xfrm>
        <a:graphic>
          <a:graphicData uri="http://schemas.openxmlformats.org/presentationml/2006/ole">
            <mc:AlternateContent xmlns:mc="http://schemas.openxmlformats.org/markup-compatibility/2006">
              <mc:Choice xmlns:v="urn:schemas-microsoft-com:vml" Requires="v">
                <p:oleObj name="Equation" r:id="rId2" imgW="4863960" imgH="3657600" progId="Equation.3">
                  <p:embed/>
                </p:oleObj>
              </mc:Choice>
              <mc:Fallback>
                <p:oleObj name="Equation" r:id="rId2" imgW="4863960" imgH="3657600" progId="Equation.3">
                  <p:embed/>
                  <p:pic>
                    <p:nvPicPr>
                      <p:cNvPr id="4" name="Content Placeholder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3" y="378842"/>
                        <a:ext cx="8078206" cy="60744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6804248" y="2564904"/>
            <a:ext cx="2339752" cy="267765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GB" sz="2400" dirty="0"/>
              <a:t>Note that capital now consists of </a:t>
            </a:r>
          </a:p>
          <a:p>
            <a:pPr algn="ctr">
              <a:buFont typeface="Arial" pitchFamily="34" charset="0"/>
              <a:buChar char="•"/>
            </a:pPr>
            <a:r>
              <a:rPr lang="en-GB" sz="2400" dirty="0"/>
              <a:t>Equity</a:t>
            </a:r>
          </a:p>
          <a:p>
            <a:pPr algn="ctr">
              <a:buFont typeface="Arial" pitchFamily="34" charset="0"/>
              <a:buChar char="•"/>
            </a:pPr>
            <a:r>
              <a:rPr lang="en-GB" sz="2400" dirty="0"/>
              <a:t>Preferred Stock and</a:t>
            </a:r>
          </a:p>
          <a:p>
            <a:pPr algn="ctr">
              <a:buFont typeface="Arial" pitchFamily="34" charset="0"/>
              <a:buChar char="•"/>
            </a:pPr>
            <a:r>
              <a:rPr lang="en-GB" dirty="0"/>
              <a:t>Debt</a:t>
            </a:r>
            <a:endParaRPr lang="en-US" sz="2400" dirty="0"/>
          </a:p>
        </p:txBody>
      </p:sp>
      <p:cxnSp>
        <p:nvCxnSpPr>
          <p:cNvPr id="3" name="Straight Arrow Connector 2"/>
          <p:cNvCxnSpPr/>
          <p:nvPr/>
        </p:nvCxnSpPr>
        <p:spPr>
          <a:xfrm flipH="1">
            <a:off x="2267744" y="3903732"/>
            <a:ext cx="5256584" cy="14694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a:off x="6012160" y="5013176"/>
            <a:ext cx="1296144" cy="3600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flipH="1">
            <a:off x="4319972" y="4365104"/>
            <a:ext cx="2988332" cy="100811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028147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p:cNvSpPr>
          <p:nvPr>
            <p:ph type="title"/>
          </p:nvPr>
        </p:nvSpPr>
        <p:spPr>
          <a:xfrm>
            <a:off x="899592" y="332656"/>
            <a:ext cx="7529513" cy="738188"/>
          </a:xfrm>
        </p:spPr>
        <p:txBody>
          <a:bodyPr>
            <a:normAutofit fontScale="90000"/>
          </a:bodyPr>
          <a:lstStyle/>
          <a:p>
            <a:r>
              <a:rPr lang="en-GB" dirty="0"/>
              <a:t>Further Issues-Hierarchies in Long-Term Financing-Debt comes first</a:t>
            </a: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970743793"/>
              </p:ext>
            </p:extLst>
          </p:nvPr>
        </p:nvGraphicFramePr>
        <p:xfrm>
          <a:off x="355600" y="1665288"/>
          <a:ext cx="3496319" cy="45000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p:cNvGraphicFramePr/>
          <p:nvPr>
            <p:extLst>
              <p:ext uri="{D42A27DB-BD31-4B8C-83A1-F6EECF244321}">
                <p14:modId xmlns:p14="http://schemas.microsoft.com/office/powerpoint/2010/main" val="968576588"/>
              </p:ext>
            </p:extLst>
          </p:nvPr>
        </p:nvGraphicFramePr>
        <p:xfrm>
          <a:off x="4500562" y="1665288"/>
          <a:ext cx="4238612" cy="450001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84913843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p:cNvSpPr>
            <a:spLocks noGrp="1"/>
          </p:cNvSpPr>
          <p:nvPr>
            <p:ph type="title"/>
          </p:nvPr>
        </p:nvSpPr>
        <p:spPr>
          <a:xfrm>
            <a:off x="467544" y="274638"/>
            <a:ext cx="8219256" cy="778098"/>
          </a:xfrm>
        </p:spPr>
        <p:txBody>
          <a:bodyPr/>
          <a:lstStyle/>
          <a:p>
            <a:r>
              <a:rPr lang="en-GB" dirty="0"/>
              <a:t>Further Issues-Equity </a:t>
            </a:r>
            <a:r>
              <a:rPr lang="en-GB" dirty="0" err="1"/>
              <a:t>vs</a:t>
            </a:r>
            <a:r>
              <a:rPr lang="en-GB" dirty="0"/>
              <a:t> Debt</a:t>
            </a:r>
          </a:p>
        </p:txBody>
      </p:sp>
      <p:pic>
        <p:nvPicPr>
          <p:cNvPr id="30722" name="Picture 1"/>
          <p:cNvPicPr>
            <a:picLocks noChangeAspect="1" noChangeArrowheads="1"/>
          </p:cNvPicPr>
          <p:nvPr/>
        </p:nvPicPr>
        <p:blipFill>
          <a:blip r:embed="rId3" cstate="print"/>
          <a:srcRect/>
          <a:stretch>
            <a:fillRect/>
          </a:stretch>
        </p:blipFill>
        <p:spPr bwMode="auto">
          <a:xfrm>
            <a:off x="214313" y="1500188"/>
            <a:ext cx="8786812" cy="4329112"/>
          </a:xfrm>
          <a:prstGeom prst="rect">
            <a:avLst/>
          </a:prstGeom>
          <a:noFill/>
          <a:ln w="9525">
            <a:noFill/>
            <a:miter lim="800000"/>
            <a:headEnd/>
            <a:tailEnd/>
          </a:ln>
        </p:spPr>
      </p:pic>
    </p:spTree>
    <p:extLst>
      <p:ext uri="{BB962C8B-B14F-4D97-AF65-F5344CB8AC3E}">
        <p14:creationId xmlns:p14="http://schemas.microsoft.com/office/powerpoint/2010/main" val="406273349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Case Study</a:t>
            </a:r>
          </a:p>
        </p:txBody>
      </p:sp>
      <p:graphicFrame>
        <p:nvGraphicFramePr>
          <p:cNvPr id="8" name="Object 7"/>
          <p:cNvGraphicFramePr>
            <a:graphicFrameLocks noChangeAspect="1"/>
          </p:cNvGraphicFramePr>
          <p:nvPr>
            <p:extLst>
              <p:ext uri="{D42A27DB-BD31-4B8C-83A1-F6EECF244321}">
                <p14:modId xmlns:p14="http://schemas.microsoft.com/office/powerpoint/2010/main" val="2256597794"/>
              </p:ext>
            </p:extLst>
          </p:nvPr>
        </p:nvGraphicFramePr>
        <p:xfrm>
          <a:off x="2839615" y="2636912"/>
          <a:ext cx="3458673" cy="2918255"/>
        </p:xfrm>
        <a:graphic>
          <a:graphicData uri="http://schemas.openxmlformats.org/presentationml/2006/ole">
            <mc:AlternateContent xmlns:mc="http://schemas.openxmlformats.org/markup-compatibility/2006">
              <mc:Choice xmlns:v="urn:schemas-microsoft-com:vml" Requires="v">
                <p:oleObj name="Document" showAsIcon="1" r:id="rId3" imgW="914400" imgH="771480" progId="Word.Document.12">
                  <p:embed/>
                </p:oleObj>
              </mc:Choice>
              <mc:Fallback>
                <p:oleObj name="Document" showAsIcon="1" r:id="rId3" imgW="914400" imgH="771480" progId="Word.Document.12">
                  <p:embed/>
                  <p:pic>
                    <p:nvPicPr>
                      <p:cNvPr id="8" name="Object 7"/>
                      <p:cNvPicPr/>
                      <p:nvPr/>
                    </p:nvPicPr>
                    <p:blipFill>
                      <a:blip r:embed="rId4"/>
                      <a:stretch>
                        <a:fillRect/>
                      </a:stretch>
                    </p:blipFill>
                    <p:spPr>
                      <a:xfrm>
                        <a:off x="2839615" y="2636912"/>
                        <a:ext cx="3458673" cy="2918255"/>
                      </a:xfrm>
                      <a:prstGeom prst="rect">
                        <a:avLst/>
                      </a:prstGeom>
                    </p:spPr>
                  </p:pic>
                </p:oleObj>
              </mc:Fallback>
            </mc:AlternateContent>
          </a:graphicData>
        </a:graphic>
      </p:graphicFrame>
    </p:spTree>
    <p:extLst>
      <p:ext uri="{BB962C8B-B14F-4D97-AF65-F5344CB8AC3E}">
        <p14:creationId xmlns:p14="http://schemas.microsoft.com/office/powerpoint/2010/main" val="278481139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262083165"/>
              </p:ext>
            </p:extLst>
          </p:nvPr>
        </p:nvGraphicFramePr>
        <p:xfrm>
          <a:off x="251520" y="188640"/>
          <a:ext cx="8640960" cy="64807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5645086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000000"/>
    </a:dk1>
    <a:lt1>
      <a:srgbClr val="FFFFFF"/>
    </a:lt1>
    <a:dk2>
      <a:srgbClr val="000000"/>
    </a:dk2>
    <a:lt2>
      <a:srgbClr val="DADADA"/>
    </a:lt2>
    <a:accent1>
      <a:srgbClr val="919191"/>
    </a:accent1>
    <a:accent2>
      <a:srgbClr val="676767"/>
    </a:accent2>
    <a:accent3>
      <a:srgbClr val="FFFFFF"/>
    </a:accent3>
    <a:accent4>
      <a:srgbClr val="000000"/>
    </a:accent4>
    <a:accent5>
      <a:srgbClr val="C7C7C7"/>
    </a:accent5>
    <a:accent6>
      <a:srgbClr val="5D5D5D"/>
    </a:accent6>
    <a:hlink>
      <a:srgbClr val="474747"/>
    </a:hlink>
    <a:folHlink>
      <a:srgbClr val="CECECE"/>
    </a:folHlink>
  </a:clrScheme>
  <a:fontScheme name="cfpacket1Print">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webextensions/webextension1.xml><?xml version="1.0" encoding="utf-8"?>
<we:webextension xmlns:we="http://schemas.microsoft.com/office/webextensions/webextension/2010/11" id="{C0A58DCD-FAF3-4269-856D-3DC8814DCF82}">
  <we:reference id="wa104381682" version="1.0.0.11" store="en-GB" storeType="OMEX"/>
  <we:alternateReferences>
    <we:reference id="WA104381682" version="1.0.0.11" store="WA104381682" storeType="OMEX"/>
  </we:alternateReferences>
  <we:properties>
    <we:property name="selectedSlug" value="&quot;QMIETBL&quot;"/>
    <we:property name="selectedQuestionId" value="&quot;6aa664bddc142a791b973e7d&quot;"/>
  </we:properties>
  <we:bindings/>
  <we:snapshot xmlns:r="http://schemas.openxmlformats.org/officeDocument/2006/relationships"/>
</we:webextension>
</file>

<file path=ppt/webextensions/webextension2.xml><?xml version="1.0" encoding="utf-8"?>
<we:webextension xmlns:we="http://schemas.microsoft.com/office/webextensions/webextension/2010/11" id="{EC642671-77C9-42FA-911B-BD012C2FA887}">
  <we:reference id="wa104381682" version="1.0.0.11" store="en-GB" storeType="OMEX"/>
  <we:alternateReferences>
    <we:reference id="WA104381682" version="1.0.0.11" store="WA104381682" storeType="OMEX"/>
  </we:alternateReferences>
  <we:properties>
    <we:property name="selectedSlug" value="&quot;QMIETBL&quot;"/>
    <we:property name="selectedQuestionId" value="&quot;6aa6683eef249cb1c7543675&quot;"/>
  </we:properties>
  <we:bindings/>
  <we:snapshot xmlns:r="http://schemas.openxmlformats.org/officeDocument/2006/relationships"/>
</we:webextension>
</file>

<file path=ppt/webextensions/webextension3.xml><?xml version="1.0" encoding="utf-8"?>
<we:webextension xmlns:we="http://schemas.microsoft.com/office/webextensions/webextension/2010/11" id="{93B5D321-46B5-4A24-B05D-A834CE472E36}">
  <we:reference id="wa104381682" version="1.0.0.11" store="en-GB" storeType="OMEX"/>
  <we:alternateReferences>
    <we:reference id="WA104381682" version="1.0.0.11" store="WA104381682" storeType="OMEX"/>
  </we:alternateReferences>
  <we:properties>
    <we:property name="selectedSlug" value="&quot;QMIETBL&quot;"/>
    <we:property name="selectedQuestionId" value="&quot;6aa66c75dc142a791b9d512c&quot;"/>
  </we:properties>
  <we:bindings/>
  <we:snapshot xmlns:r="http://schemas.openxmlformats.org/officeDocument/2006/relationships"/>
</we:webextension>
</file>

<file path=ppt/webextensions/webextension4.xml><?xml version="1.0" encoding="utf-8"?>
<we:webextension xmlns:we="http://schemas.microsoft.com/office/webextensions/webextension/2010/11" id="{134AE11A-4E98-47CF-986C-1AE7BBD3BEFC}">
  <we:reference id="wa104381682" version="1.0.0.11" store="en-GB" storeType="OMEX"/>
  <we:alternateReferences>
    <we:reference id="WA104381682" version="1.0.0.11" store="WA104381682" storeType="OMEX"/>
  </we:alternateReferences>
  <we:properties>
    <we:property name="selectedSlug" value="&quot;QMIETBL&quot;"/>
    <we:property name="selectedQuestionId" value="&quot;6aa66e23ef249cb1c7575577&quot;"/>
  </we:properties>
  <we:bindings/>
  <we:snapshot xmlns:r="http://schemas.openxmlformats.org/officeDocument/2006/relationships"/>
</we:webextension>
</file>

<file path=ppt/webextensions/webextension5.xml><?xml version="1.0" encoding="utf-8"?>
<we:webextension xmlns:we="http://schemas.microsoft.com/office/webextensions/webextension/2010/11" id="{58128792-7DEF-4B1C-9531-CB0CA32198E9}">
  <we:reference id="wa104381682" version="1.0.0.11" store="en-GB" storeType="OMEX"/>
  <we:alternateReferences>
    <we:reference id="WA104381682" version="1.0.0.11" store="WA104381682" storeType="OMEX"/>
  </we:alternateReferences>
  <we:properties>
    <we:property name="selectedSlug" value="&quot;QMIETBL&quot;"/>
    <we:property name="selectedQuestionId" value="&quot;6aa6703def249cb1c758e07c&quot;"/>
  </we:properties>
  <we:bindings/>
  <we:snapshot xmlns:r="http://schemas.openxmlformats.org/officeDocument/2006/relationships"/>
</we:webextension>
</file>

<file path=ppt/webextensions/webextension6.xml><?xml version="1.0" encoding="utf-8"?>
<we:webextension xmlns:we="http://schemas.microsoft.com/office/webextensions/webextension/2010/11" id="{406446C7-B212-4B41-9B05-0CF5CFB0F641}">
  <we:reference id="wa104381682" version="1.0.0.11" store="en-GB" storeType="OMEX"/>
  <we:alternateReferences>
    <we:reference id="WA104381682" version="1.0.0.11" store="WA104381682" storeType="OMEX"/>
  </we:alternateReferences>
  <we:properties>
    <we:property name="selectedSlug" value="&quot;QMIETBL&quot;"/>
    <we:property name="selectedQuestionId" value="&quot;6aa670f6ef249cb1c7591e47&quot;"/>
  </we:properties>
  <we:bindings/>
  <we:snapshot xmlns:r="http://schemas.openxmlformats.org/officeDocument/2006/relationships"/>
</we:webextension>
</file>

<file path=ppt/webextensions/webextension7.xml><?xml version="1.0" encoding="utf-8"?>
<we:webextension xmlns:we="http://schemas.microsoft.com/office/webextensions/webextension/2010/11" id="{93B5D321-46B5-4A24-B05D-A834CE472E36}">
  <we:reference id="wa104381682" version="1.0.0.11" store="en-GB" storeType="OMEX"/>
  <we:alternateReferences>
    <we:reference id="WA104381682" version="1.0.0.11" store="WA104381682" storeType="OMEX"/>
  </we:alternateReferences>
  <we:properties>
    <we:property name="selectedSlug" value="&quot;QMIETBL&quot;"/>
    <we:property name="selectedQuestionId" value="&quot;6aa66c75dc142a791b9d512c&quot;"/>
  </we:properties>
  <we:bindings/>
  <we:snapshot xmlns:r="http://schemas.openxmlformats.org/officeDocument/2006/relationships"/>
</we:webextension>
</file>

<file path=ppt/webextensions/webextension8.xml><?xml version="1.0" encoding="utf-8"?>
<we:webextension xmlns:we="http://schemas.microsoft.com/office/webextensions/webextension/2010/11" id="{C8793DA9-D313-4966-984F-21DC7346DB2A}">
  <we:reference id="wa104381682" version="1.0.0.11" store="en-GB" storeType="OMEX"/>
  <we:alternateReferences>
    <we:reference id="WA104381682" version="1.0.0.11" store="WA104381682" storeType="OMEX"/>
  </we:alternateReferences>
  <we:properties>
    <we:property name="selectedSlug" value="&quot;QMIETBL&quot;"/>
    <we:property name="selectedQuestionId" value="&quot;6aa6718eef249cb1c75a2c36&quot;"/>
  </we:properties>
  <we:bindings/>
  <we:snapshot xmlns:r="http://schemas.openxmlformats.org/officeDocument/2006/relationships"/>
</we:webextension>
</file>

<file path=ppt/webextensions/webextension9.xml><?xml version="1.0" encoding="utf-8"?>
<we:webextension xmlns:we="http://schemas.microsoft.com/office/webextensions/webextension/2010/11" id="{2AC6843B-1209-46B2-B4D9-8DCB43B9740F}">
  <we:reference id="wa104381682" version="1.0.0.11" store="en-GB" storeType="OMEX"/>
  <we:alternateReferences>
    <we:reference id="WA104381682" version="1.0.0.11" store="WA104381682" storeType="OMEX"/>
  </we:alternateReferences>
  <we:properties>
    <we:property name="selectedSlug" value="&quot;QMIETBL&quot;"/>
    <we:property name="selectedQuestionId" value="&quot;6aa6720bef249cb1c75a8742&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DE17CEDC22C6E4C817BE2B85326AFED" ma:contentTypeVersion="13" ma:contentTypeDescription="Crée un document." ma:contentTypeScope="" ma:versionID="340fd81ba66454462264ca5c01740633">
  <xsd:schema xmlns:xsd="http://www.w3.org/2001/XMLSchema" xmlns:xs="http://www.w3.org/2001/XMLSchema" xmlns:p="http://schemas.microsoft.com/office/2006/metadata/properties" xmlns:ns3="68c52cd0-c861-4c82-9a1a-0aa4e6c6a5db" xmlns:ns4="92df8fb2-6fee-4711-b57a-2112678babd5" targetNamespace="http://schemas.microsoft.com/office/2006/metadata/properties" ma:root="true" ma:fieldsID="1c5f93696f663e032a9d9d87df367f12" ns3:_="" ns4:_="">
    <xsd:import namespace="68c52cd0-c861-4c82-9a1a-0aa4e6c6a5db"/>
    <xsd:import namespace="92df8fb2-6fee-4711-b57a-2112678babd5"/>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GenerationTime" minOccurs="0"/>
                <xsd:element ref="ns4:MediaServiceEventHashCode" minOccurs="0"/>
                <xsd:element ref="ns4:MediaServiceOCR" minOccurs="0"/>
                <xsd:element ref="ns4:MediaServiceDateTaken" minOccurs="0"/>
                <xsd:element ref="ns4:MediaServiceLocation"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c52cd0-c861-4c82-9a1a-0aa4e6c6a5db" elementFormDefault="qualified">
    <xsd:import namespace="http://schemas.microsoft.com/office/2006/documentManagement/types"/>
    <xsd:import namespace="http://schemas.microsoft.com/office/infopath/2007/PartnerControls"/>
    <xsd:element name="SharedWithUsers" ma:index="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Partagé avec détails" ma:internalName="SharedWithDetails" ma:readOnly="true">
      <xsd:simpleType>
        <xsd:restriction base="dms:Note">
          <xsd:maxLength value="255"/>
        </xsd:restriction>
      </xsd:simpleType>
    </xsd:element>
    <xsd:element name="SharingHintHash" ma:index="10" nillable="true" ma:displayName="Partage du hachage d’indicateur"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2df8fb2-6fee-4711-b57a-2112678babd5"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65B8B85-B5B9-4B7F-AB16-C1F4A293EFA2}">
  <ds:schemaRefs>
    <ds:schemaRef ds:uri="http://schemas.microsoft.com/office/2006/metadata/properties"/>
    <ds:schemaRef ds:uri="http://schemas.microsoft.com/office/infopath/2007/PartnerControls"/>
    <ds:schemaRef ds:uri="http://purl.org/dc/dcmitype/"/>
    <ds:schemaRef ds:uri="http://purl.org/dc/terms/"/>
    <ds:schemaRef ds:uri="http://schemas.microsoft.com/office/2006/documentManagement/types"/>
    <ds:schemaRef ds:uri="http://schemas.openxmlformats.org/package/2006/metadata/core-properties"/>
    <ds:schemaRef ds:uri="http://purl.org/dc/elements/1.1/"/>
    <ds:schemaRef ds:uri="92df8fb2-6fee-4711-b57a-2112678babd5"/>
    <ds:schemaRef ds:uri="68c52cd0-c861-4c82-9a1a-0aa4e6c6a5db"/>
    <ds:schemaRef ds:uri="http://www.w3.org/XML/1998/namespace"/>
  </ds:schemaRefs>
</ds:datastoreItem>
</file>

<file path=customXml/itemProps2.xml><?xml version="1.0" encoding="utf-8"?>
<ds:datastoreItem xmlns:ds="http://schemas.openxmlformats.org/officeDocument/2006/customXml" ds:itemID="{E1A6F95F-FA89-4BF3-AB9D-431893AF8C6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8c52cd0-c861-4c82-9a1a-0aa4e6c6a5db"/>
    <ds:schemaRef ds:uri="92df8fb2-6fee-4711-b57a-2112678bab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1BCDBE2-4C86-4EDA-BEFE-A2B5BCC4E94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Civic</Template>
  <TotalTime>22132</TotalTime>
  <Pages>184</Pages>
  <Words>15895</Words>
  <Application>Microsoft Office PowerPoint</Application>
  <PresentationFormat>Presentación en pantalla (4:3)</PresentationFormat>
  <Paragraphs>1595</Paragraphs>
  <Slides>99</Slides>
  <Notes>62</Notes>
  <HiddenSlides>4</HiddenSlides>
  <MMClips>0</MMClips>
  <ScaleCrop>false</ScaleCrop>
  <HeadingPairs>
    <vt:vector size="8" baseType="variant">
      <vt:variant>
        <vt:lpstr>Fuentes usadas</vt:lpstr>
      </vt:variant>
      <vt:variant>
        <vt:i4>12</vt:i4>
      </vt:variant>
      <vt:variant>
        <vt:lpstr>Tema</vt:lpstr>
      </vt:variant>
      <vt:variant>
        <vt:i4>1</vt:i4>
      </vt:variant>
      <vt:variant>
        <vt:lpstr>Servidores OLE incrustados</vt:lpstr>
      </vt:variant>
      <vt:variant>
        <vt:i4>5</vt:i4>
      </vt:variant>
      <vt:variant>
        <vt:lpstr>Títulos de diapositiva</vt:lpstr>
      </vt:variant>
      <vt:variant>
        <vt:i4>99</vt:i4>
      </vt:variant>
    </vt:vector>
  </HeadingPairs>
  <TitlesOfParts>
    <vt:vector size="117" baseType="lpstr">
      <vt:lpstr>Arial</vt:lpstr>
      <vt:lpstr>Calibri</vt:lpstr>
      <vt:lpstr>Cambria Math</vt:lpstr>
      <vt:lpstr>Geneva</vt:lpstr>
      <vt:lpstr>Georgia</vt:lpstr>
      <vt:lpstr>Helvetica</vt:lpstr>
      <vt:lpstr>Monotype Sorts</vt:lpstr>
      <vt:lpstr>Symbol</vt:lpstr>
      <vt:lpstr>Times</vt:lpstr>
      <vt:lpstr>Times New Roman</vt:lpstr>
      <vt:lpstr>Wingdings</vt:lpstr>
      <vt:lpstr>Wingdings 2</vt:lpstr>
      <vt:lpstr>Civic</vt:lpstr>
      <vt:lpstr>Document</vt:lpstr>
      <vt:lpstr>Worksheet</vt:lpstr>
      <vt:lpstr>VISIO</vt:lpstr>
      <vt:lpstr>Equation</vt:lpstr>
      <vt:lpstr>Documento de Microsoft Word</vt:lpstr>
      <vt:lpstr>Company Valuation:  1st Valuation Method Discounted Cash Flow Valuation</vt:lpstr>
      <vt:lpstr>Recap: What we have seen so far</vt:lpstr>
      <vt:lpstr>Generic DCF Valuation Model</vt:lpstr>
      <vt:lpstr>Simplest Valuation: Present value of a growing perpetuity</vt:lpstr>
      <vt:lpstr>What is a discount rate?</vt:lpstr>
      <vt:lpstr>First Principle of Valuation</vt:lpstr>
      <vt:lpstr>Presentación de PowerPoint</vt:lpstr>
      <vt:lpstr>Mix and Match Example Cash Flows and Discount Rates</vt:lpstr>
      <vt:lpstr>Discounted Cash Flow Valuation: The Steps</vt:lpstr>
      <vt:lpstr>Future Plan</vt:lpstr>
      <vt:lpstr>Part I: Discounted Cash Flows</vt:lpstr>
      <vt:lpstr>Carrefour vs SpaceX</vt:lpstr>
      <vt:lpstr>The return of the investor is the cost of capital for the company</vt:lpstr>
      <vt:lpstr>BUT: What is Risk?</vt:lpstr>
      <vt:lpstr>Risk is measured by the Standard Deviation of returns of a security.</vt:lpstr>
      <vt:lpstr>Diversification and types of risk</vt:lpstr>
      <vt:lpstr>Different Types of Risk</vt:lpstr>
      <vt:lpstr>Diversification: An Example</vt:lpstr>
      <vt:lpstr>Cost of Equity  {Risk and Return (CH 4)}</vt:lpstr>
      <vt:lpstr>Risk in a firm is reflected on its cost of capital. Therefore, Discount Rate should be at least as much as that.</vt:lpstr>
      <vt:lpstr>Cost of Equity</vt:lpstr>
      <vt:lpstr>Cost of Equity-First Approach a. Implied Rates-Growth Models</vt:lpstr>
      <vt:lpstr>Examples</vt:lpstr>
      <vt:lpstr>Cost of equity for Nestle</vt:lpstr>
      <vt:lpstr>Cost of Equity-Second Approach b. CAPM (CH 4)</vt:lpstr>
      <vt:lpstr>Comparing Expected return and asset betas</vt:lpstr>
      <vt:lpstr>Calculating Required Rates of Return</vt:lpstr>
      <vt:lpstr>SML: Security Market Line Depicting CAPM Graphically beta and Expected Return </vt:lpstr>
      <vt:lpstr>i. Risk Free Rate Short term Governments are not risk free….</vt:lpstr>
      <vt:lpstr>Risk Free Rate: 4 different cases</vt:lpstr>
      <vt:lpstr>Case 1: A riskfree rate in US dollars!</vt:lpstr>
      <vt:lpstr>When should we consider the rate to be risk free</vt:lpstr>
      <vt:lpstr>What if we consider 5 or 10 years history</vt:lpstr>
      <vt:lpstr>Case 2: A Riskfree Rate in Euros (2010)</vt:lpstr>
      <vt:lpstr>Even Worse</vt:lpstr>
      <vt:lpstr>Case 3: Local Currency A Riskfree Rate in Indian Rupees</vt:lpstr>
      <vt:lpstr>Estimating a Riskfree Rate when there are no default free entities….</vt:lpstr>
      <vt:lpstr>???s Greece less risky than the US???</vt:lpstr>
      <vt:lpstr>Why do risk free rates vary across currencies? 2021 Risk free rates</vt:lpstr>
      <vt:lpstr>Case 4: International Companies from Emerging Economies</vt:lpstr>
      <vt:lpstr>What is the rf for Nestle?</vt:lpstr>
      <vt:lpstr>ii. Market Equity Risk Premiums</vt:lpstr>
      <vt:lpstr>A. A Backward looking Market Risk Premium Everyone uses historical premiums, but..</vt:lpstr>
      <vt:lpstr>B. A Forward Looking Market Risk Premium Implied Equity Premiums</vt:lpstr>
      <vt:lpstr>Implied Equity Premiums</vt:lpstr>
      <vt:lpstr>Interpolation Method</vt:lpstr>
      <vt:lpstr>C. A bit of both Worlds Average Implied Premiums (in the US)</vt:lpstr>
      <vt:lpstr>Which equity risk premium should you use for the US?</vt:lpstr>
      <vt:lpstr>Example: Implied Equity Risk Premium for Germany</vt:lpstr>
      <vt:lpstr>Market Risk Premium: Now What?</vt:lpstr>
      <vt:lpstr>Risk Premium for a Mature Market? (Composition)</vt:lpstr>
      <vt:lpstr>Mature Markets Historically: 4%-5% should be ok</vt:lpstr>
      <vt:lpstr>Emerging markets Limited data history/access</vt:lpstr>
      <vt:lpstr>Estimate the Total Market Risk Premium</vt:lpstr>
      <vt:lpstr>Presentación de PowerPoint</vt:lpstr>
      <vt:lpstr>Presentación de PowerPoint</vt:lpstr>
      <vt:lpstr>From Country Equity Risk Premiums to Corporate Equity Risk premiums</vt:lpstr>
      <vt:lpstr>Estimating Company Exposure to Country Risk: Determinants</vt:lpstr>
      <vt:lpstr>Estimating Lambdas: The Revenue Approach</vt:lpstr>
      <vt:lpstr>Estimating a US Dollar Cost of Equity for Embraer</vt:lpstr>
      <vt:lpstr>What happens if the company operates in many countries?</vt:lpstr>
      <vt:lpstr>What is the MRP for Nestle?</vt:lpstr>
      <vt:lpstr>iii. Corporate Risk Premium Estimating Beta</vt:lpstr>
      <vt:lpstr>Solutions to the Regression Beta Problem</vt:lpstr>
      <vt:lpstr>Presentación de PowerPoint</vt:lpstr>
      <vt:lpstr>In a perfect world… we would estimate the beta of a firm by doing the following</vt:lpstr>
      <vt:lpstr>An Example: SNCF </vt:lpstr>
      <vt:lpstr>Presentación de PowerPoint</vt:lpstr>
      <vt:lpstr>Bottom-up Betas-Multiple Businesses</vt:lpstr>
      <vt:lpstr>Multiple Betas Example: Disney (value weights)</vt:lpstr>
      <vt:lpstr>Multiple Betas Example: Disney (Revenue weights)</vt:lpstr>
      <vt:lpstr>Why bottom-up betas?</vt:lpstr>
      <vt:lpstr>What is the beta for Nestle?</vt:lpstr>
      <vt:lpstr>The Cost of Equity: A Recap</vt:lpstr>
      <vt:lpstr>Cost of equity for Nestle</vt:lpstr>
      <vt:lpstr>Cost of Debt</vt:lpstr>
      <vt:lpstr>a. Estimating the Cost of Debt</vt:lpstr>
      <vt:lpstr>Estimating Synthetic Ratings</vt:lpstr>
      <vt:lpstr>Custom Rating and Interest Coverage</vt:lpstr>
      <vt:lpstr>Custom Ratings and Default Risk Premium</vt:lpstr>
      <vt:lpstr>DRPs change over time….</vt:lpstr>
      <vt:lpstr>… and maturity (2014)</vt:lpstr>
      <vt:lpstr>What is the cost of debt for Nestle?</vt:lpstr>
      <vt:lpstr>We should know that Interest Payments are Tax Deductible</vt:lpstr>
      <vt:lpstr>Presentación de PowerPoint</vt:lpstr>
      <vt:lpstr>WACC</vt:lpstr>
      <vt:lpstr>Example</vt:lpstr>
      <vt:lpstr>Solution</vt:lpstr>
      <vt:lpstr>Finally: Cost of debt for Nestle</vt:lpstr>
      <vt:lpstr>Hybrid Financing</vt:lpstr>
      <vt:lpstr>Dealing with Hybrids and Preferred Stock</vt:lpstr>
      <vt:lpstr>Cost of Equity-Preferred Shares</vt:lpstr>
      <vt:lpstr>Preferred Shares</vt:lpstr>
      <vt:lpstr>Let s see that in practice</vt:lpstr>
      <vt:lpstr>Presentación de PowerPoint</vt:lpstr>
      <vt:lpstr>Further Issues-Hierarchies in Long-Term Financing-Debt comes first</vt:lpstr>
      <vt:lpstr>Further Issues-Equity vs Debt</vt:lpstr>
      <vt:lpstr>Case Study</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Valuation: Introduction</dc:title>
  <dc:creator>Aswath Damodaran</dc:creator>
  <cp:lastModifiedBy>HINCAPIE MARTINEZ Juan</cp:lastModifiedBy>
  <cp:revision>695</cp:revision>
  <cp:lastPrinted>2003-08-26T20:08:34Z</cp:lastPrinted>
  <dcterms:created xsi:type="dcterms:W3CDTF">1998-01-08T15:09:51Z</dcterms:created>
  <dcterms:modified xsi:type="dcterms:W3CDTF">2026-09-28T14:41:11Z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0x0101005DE17CEDC22C6E4C817BE2B85326AFED</vt:lpwstr>
  </property>
</Properties>
</file>