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jpeg" ContentType="image/jpeg"/>
  <Default Extension="png" ContentType="image/png"/>
  <Default Extension="rels" ContentType="application/vnd.openxmlformats-package.relationships+xml"/>
  <Default Extension="wmf" ContentType="image/x-wmf"/>
  <Default Extension="xls" ContentType="application/vnd.ms-exce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8"/>
  </p:notesMasterIdLst>
  <p:sldIdLst>
    <p:sldId id="257" r:id="rId5"/>
    <p:sldId id="352" r:id="rId6"/>
    <p:sldId id="259" r:id="rId7"/>
    <p:sldId id="260" r:id="rId8"/>
    <p:sldId id="261" r:id="rId9"/>
    <p:sldId id="356" r:id="rId10"/>
    <p:sldId id="266" r:id="rId11"/>
    <p:sldId id="267" r:id="rId12"/>
    <p:sldId id="268" r:id="rId13"/>
    <p:sldId id="270" r:id="rId14"/>
    <p:sldId id="271" r:id="rId15"/>
    <p:sldId id="382" r:id="rId16"/>
    <p:sldId id="280" r:id="rId17"/>
    <p:sldId id="360" r:id="rId18"/>
    <p:sldId id="376" r:id="rId19"/>
    <p:sldId id="285" r:id="rId20"/>
    <p:sldId id="286" r:id="rId21"/>
    <p:sldId id="287" r:id="rId22"/>
    <p:sldId id="357" r:id="rId23"/>
    <p:sldId id="295" r:id="rId24"/>
    <p:sldId id="377" r:id="rId25"/>
    <p:sldId id="378" r:id="rId26"/>
    <p:sldId id="298" r:id="rId27"/>
    <p:sldId id="380" r:id="rId28"/>
    <p:sldId id="358" r:id="rId29"/>
    <p:sldId id="317" r:id="rId30"/>
    <p:sldId id="318" r:id="rId31"/>
    <p:sldId id="320" r:id="rId32"/>
    <p:sldId id="321" r:id="rId33"/>
    <p:sldId id="323" r:id="rId34"/>
    <p:sldId id="325" r:id="rId35"/>
    <p:sldId id="326" r:id="rId36"/>
    <p:sldId id="361" r:id="rId37"/>
    <p:sldId id="359" r:id="rId38"/>
    <p:sldId id="333" r:id="rId39"/>
    <p:sldId id="334" r:id="rId40"/>
    <p:sldId id="336" r:id="rId41"/>
    <p:sldId id="337" r:id="rId42"/>
    <p:sldId id="345" r:id="rId43"/>
    <p:sldId id="348" r:id="rId44"/>
    <p:sldId id="349" r:id="rId45"/>
    <p:sldId id="351" r:id="rId46"/>
    <p:sldId id="383"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9BE85F-F139-47CB-8279-F9164F4FB660}" v="1" dt="2026-09-27T11:37:26.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24" autoAdjust="0"/>
    <p:restoredTop sz="95045" autoAdjust="0"/>
  </p:normalViewPr>
  <p:slideViewPr>
    <p:cSldViewPr>
      <p:cViewPr varScale="1">
        <p:scale>
          <a:sx n="64" d="100"/>
          <a:sy n="64" d="100"/>
        </p:scale>
        <p:origin x="1332" y="78"/>
      </p:cViewPr>
      <p:guideLst>
        <p:guide orient="horz" pos="2160"/>
        <p:guide pos="2880"/>
      </p:guideLst>
    </p:cSldViewPr>
  </p:slideViewPr>
  <p:outlineViewPr>
    <p:cViewPr>
      <p:scale>
        <a:sx n="33" d="100"/>
        <a:sy n="33" d="100"/>
      </p:scale>
      <p:origin x="0" y="-21618"/>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ITZOGLOU Iordanis" userId="59a78b65-5149-4b7e-9a03-bcb365d691a2" providerId="ADAL" clId="{DD3CBDC3-F255-4437-BA5F-C63C0C4F1C5E}"/>
    <pc:docChg chg="modSld">
      <pc:chgData name="KALAITZOGLOU Iordanis" userId="59a78b65-5149-4b7e-9a03-bcb365d691a2" providerId="ADAL" clId="{DD3CBDC3-F255-4437-BA5F-C63C0C4F1C5E}" dt="2026-09-27T11:37:26.533" v="3"/>
      <pc:docMkLst>
        <pc:docMk/>
      </pc:docMkLst>
      <pc:sldChg chg="modSp">
        <pc:chgData name="KALAITZOGLOU Iordanis" userId="59a78b65-5149-4b7e-9a03-bcb365d691a2" providerId="ADAL" clId="{DD3CBDC3-F255-4437-BA5F-C63C0C4F1C5E}" dt="2026-09-24T13:05:07.198" v="0"/>
        <pc:sldMkLst>
          <pc:docMk/>
          <pc:sldMk cId="2647774525" sldId="376"/>
        </pc:sldMkLst>
        <pc:graphicFrameChg chg="mod">
          <ac:chgData name="KALAITZOGLOU Iordanis" userId="59a78b65-5149-4b7e-9a03-bcb365d691a2" providerId="ADAL" clId="{DD3CBDC3-F255-4437-BA5F-C63C0C4F1C5E}" dt="2026-09-24T13:05:07.198" v="0"/>
          <ac:graphicFrameMkLst>
            <pc:docMk/>
            <pc:sldMk cId="2647774525" sldId="376"/>
            <ac:graphicFrameMk id="4" creationId="{00000000-0000-0000-0000-000000000000}"/>
          </ac:graphicFrameMkLst>
        </pc:graphicFrameChg>
      </pc:sldChg>
      <pc:sldChg chg="modSp">
        <pc:chgData name="KALAITZOGLOU Iordanis" userId="59a78b65-5149-4b7e-9a03-bcb365d691a2" providerId="ADAL" clId="{DD3CBDC3-F255-4437-BA5F-C63C0C4F1C5E}" dt="2026-09-27T11:37:26.533" v="3"/>
        <pc:sldMkLst>
          <pc:docMk/>
          <pc:sldMk cId="352829484" sldId="383"/>
        </pc:sldMkLst>
        <pc:graphicFrameChg chg="mod">
          <ac:chgData name="KALAITZOGLOU Iordanis" userId="59a78b65-5149-4b7e-9a03-bcb365d691a2" providerId="ADAL" clId="{DD3CBDC3-F255-4437-BA5F-C63C0C4F1C5E}" dt="2026-09-27T11:37:26.533" v="3"/>
          <ac:graphicFrameMkLst>
            <pc:docMk/>
            <pc:sldMk cId="352829484" sldId="383"/>
            <ac:graphicFrameMk id="10" creationId="{00000000-0000-0000-0000-000000000000}"/>
          </ac:graphicFrameMkLst>
        </pc:graphicFrameChg>
        <pc:graphicFrameChg chg="mod">
          <ac:chgData name="KALAITZOGLOU Iordanis" userId="59a78b65-5149-4b7e-9a03-bcb365d691a2" providerId="ADAL" clId="{DD3CBDC3-F255-4437-BA5F-C63C0C4F1C5E}" dt="2026-09-24T13:07:44.404" v="1"/>
          <ac:graphicFrameMkLst>
            <pc:docMk/>
            <pc:sldMk cId="352829484" sldId="383"/>
            <ac:graphicFrameMk id="12" creationId="{00000000-0000-0000-0000-00000000000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FB604C-5F8B-4DCD-965C-6E4731A1E2B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2F63BB2D-0CA9-4DCE-91BE-28120DE9E8F5}">
      <dgm:prSet phldrT="[Text]"/>
      <dgm:spPr/>
      <dgm:t>
        <a:bodyPr/>
        <a:lstStyle/>
        <a:p>
          <a:r>
            <a:rPr lang="en-GB" dirty="0"/>
            <a:t>Discounted Cash Flows</a:t>
          </a:r>
        </a:p>
      </dgm:t>
    </dgm:pt>
    <dgm:pt modelId="{5B2C50BE-C8BA-49D3-A39C-72E612B85C87}" type="parTrans" cxnId="{25497D6B-822B-44F5-B2BF-89E7C9043F9C}">
      <dgm:prSet/>
      <dgm:spPr/>
      <dgm:t>
        <a:bodyPr/>
        <a:lstStyle/>
        <a:p>
          <a:endParaRPr lang="en-GB"/>
        </a:p>
      </dgm:t>
    </dgm:pt>
    <dgm:pt modelId="{E179A157-34D2-4B3A-A3B8-8384274052E1}" type="sibTrans" cxnId="{25497D6B-822B-44F5-B2BF-89E7C9043F9C}">
      <dgm:prSet/>
      <dgm:spPr/>
      <dgm:t>
        <a:bodyPr/>
        <a:lstStyle/>
        <a:p>
          <a:endParaRPr lang="en-GB"/>
        </a:p>
      </dgm:t>
    </dgm:pt>
    <dgm:pt modelId="{2A5D1E3D-2AD5-4F2D-B43A-16F810A90CAA}">
      <dgm:prSet phldrT="[Text]"/>
      <dgm:spPr/>
      <dgm:t>
        <a:bodyPr/>
        <a:lstStyle/>
        <a:p>
          <a:r>
            <a:rPr lang="en-GB" dirty="0"/>
            <a:t>Relative Valuation</a:t>
          </a:r>
        </a:p>
      </dgm:t>
    </dgm:pt>
    <dgm:pt modelId="{FAB137A1-DD70-4F4C-A6CF-F2A771B6DC16}" type="parTrans" cxnId="{E834A336-19FC-4CCB-99EA-7F596724E3FD}">
      <dgm:prSet/>
      <dgm:spPr/>
      <dgm:t>
        <a:bodyPr/>
        <a:lstStyle/>
        <a:p>
          <a:endParaRPr lang="en-GB"/>
        </a:p>
      </dgm:t>
    </dgm:pt>
    <dgm:pt modelId="{131F2169-C93F-4C79-9055-86348E7F20E3}" type="sibTrans" cxnId="{E834A336-19FC-4CCB-99EA-7F596724E3FD}">
      <dgm:prSet/>
      <dgm:spPr/>
      <dgm:t>
        <a:bodyPr/>
        <a:lstStyle/>
        <a:p>
          <a:endParaRPr lang="en-GB"/>
        </a:p>
      </dgm:t>
    </dgm:pt>
    <dgm:pt modelId="{ABECBC16-F75C-4DD1-857E-17C25D15FAD2}">
      <dgm:prSet phldrT="[Text]"/>
      <dgm:spPr/>
      <dgm:t>
        <a:bodyPr/>
        <a:lstStyle/>
        <a:p>
          <a:r>
            <a:rPr lang="en-GB" dirty="0"/>
            <a:t>Real Options</a:t>
          </a:r>
        </a:p>
      </dgm:t>
    </dgm:pt>
    <dgm:pt modelId="{D9853084-373C-4AF3-AF30-31FA3A8F7235}" type="parTrans" cxnId="{93BE8ECC-FA60-4771-A2E3-286B9BDCD0DA}">
      <dgm:prSet/>
      <dgm:spPr/>
      <dgm:t>
        <a:bodyPr/>
        <a:lstStyle/>
        <a:p>
          <a:endParaRPr lang="en-GB"/>
        </a:p>
      </dgm:t>
    </dgm:pt>
    <dgm:pt modelId="{E0EF519A-729E-4224-891B-67E29D5C6CA0}" type="sibTrans" cxnId="{93BE8ECC-FA60-4771-A2E3-286B9BDCD0DA}">
      <dgm:prSet/>
      <dgm:spPr/>
      <dgm:t>
        <a:bodyPr/>
        <a:lstStyle/>
        <a:p>
          <a:endParaRPr lang="en-GB"/>
        </a:p>
      </dgm:t>
    </dgm:pt>
    <dgm:pt modelId="{9A0E4B2B-9EFD-4BEE-9A2C-A06ACE2A286E}">
      <dgm:prSet phldrT="[Text]"/>
      <dgm:spPr/>
      <dgm:t>
        <a:bodyPr/>
        <a:lstStyle/>
        <a:p>
          <a:r>
            <a:rPr lang="en-GB" sz="1800" dirty="0"/>
            <a:t>Define a multiple</a:t>
          </a:r>
        </a:p>
      </dgm:t>
    </dgm:pt>
    <dgm:pt modelId="{FE526510-DF7D-4719-A71F-425E45584F96}" type="parTrans" cxnId="{AA2FD5D0-0256-44A0-91BB-16E0F240DA08}">
      <dgm:prSet/>
      <dgm:spPr/>
      <dgm:t>
        <a:bodyPr/>
        <a:lstStyle/>
        <a:p>
          <a:endParaRPr lang="en-GB"/>
        </a:p>
      </dgm:t>
    </dgm:pt>
    <dgm:pt modelId="{A101D327-869C-423F-A544-8A83EE506B66}" type="sibTrans" cxnId="{AA2FD5D0-0256-44A0-91BB-16E0F240DA08}">
      <dgm:prSet/>
      <dgm:spPr/>
      <dgm:t>
        <a:bodyPr/>
        <a:lstStyle/>
        <a:p>
          <a:endParaRPr lang="en-GB"/>
        </a:p>
      </dgm:t>
    </dgm:pt>
    <dgm:pt modelId="{85E0A969-5D5F-44E9-8A7C-386D69A4AB0E}">
      <dgm:prSet phldrT="[Text]"/>
      <dgm:spPr/>
      <dgm:t>
        <a:bodyPr/>
        <a:lstStyle/>
        <a:p>
          <a:r>
            <a:rPr lang="en-GB" sz="1800" dirty="0"/>
            <a:t>Describe Multiple</a:t>
          </a:r>
        </a:p>
      </dgm:t>
    </dgm:pt>
    <dgm:pt modelId="{D32C69D2-C055-47E4-8CA7-D214951D52E7}" type="parTrans" cxnId="{1E0D2521-C7D3-45A1-976F-3F985BEF0EC1}">
      <dgm:prSet/>
      <dgm:spPr/>
      <dgm:t>
        <a:bodyPr/>
        <a:lstStyle/>
        <a:p>
          <a:endParaRPr lang="en-GB"/>
        </a:p>
      </dgm:t>
    </dgm:pt>
    <dgm:pt modelId="{E088D734-45C2-4AA7-B043-F78F625F6C03}" type="sibTrans" cxnId="{1E0D2521-C7D3-45A1-976F-3F985BEF0EC1}">
      <dgm:prSet/>
      <dgm:spPr/>
      <dgm:t>
        <a:bodyPr/>
        <a:lstStyle/>
        <a:p>
          <a:endParaRPr lang="en-GB"/>
        </a:p>
      </dgm:t>
    </dgm:pt>
    <dgm:pt modelId="{15C2CE3C-394F-4A45-BFFF-C0D25ADF9B4A}">
      <dgm:prSet phldrT="[Text]"/>
      <dgm:spPr/>
      <dgm:t>
        <a:bodyPr/>
        <a:lstStyle/>
        <a:p>
          <a:r>
            <a:rPr lang="en-GB" sz="1800" dirty="0"/>
            <a:t>Analyse Multiple</a:t>
          </a:r>
        </a:p>
      </dgm:t>
    </dgm:pt>
    <dgm:pt modelId="{12E1826A-4566-4553-B907-CFEE1D0B2411}" type="parTrans" cxnId="{744E40A8-8322-4E21-B422-16C746D9FD97}">
      <dgm:prSet/>
      <dgm:spPr/>
      <dgm:t>
        <a:bodyPr/>
        <a:lstStyle/>
        <a:p>
          <a:endParaRPr lang="en-GB"/>
        </a:p>
      </dgm:t>
    </dgm:pt>
    <dgm:pt modelId="{27FC1783-E9E8-4B1A-AA1D-C9A90694374D}" type="sibTrans" cxnId="{744E40A8-8322-4E21-B422-16C746D9FD97}">
      <dgm:prSet/>
      <dgm:spPr/>
      <dgm:t>
        <a:bodyPr/>
        <a:lstStyle/>
        <a:p>
          <a:endParaRPr lang="en-GB"/>
        </a:p>
      </dgm:t>
    </dgm:pt>
    <dgm:pt modelId="{844DF286-FB53-409E-BAC5-7A8811BFFF67}">
      <dgm:prSet phldrT="[Text]"/>
      <dgm:spPr/>
      <dgm:t>
        <a:bodyPr/>
        <a:lstStyle/>
        <a:p>
          <a:r>
            <a:rPr lang="en-GB" sz="1800" dirty="0"/>
            <a:t>Apply Multiple</a:t>
          </a:r>
        </a:p>
      </dgm:t>
    </dgm:pt>
    <dgm:pt modelId="{35B0FD0D-EFB4-44DB-A723-B764DBBBCB12}" type="parTrans" cxnId="{8BAEB269-7524-4EEF-A047-8F1611A4A613}">
      <dgm:prSet/>
      <dgm:spPr/>
      <dgm:t>
        <a:bodyPr/>
        <a:lstStyle/>
        <a:p>
          <a:endParaRPr lang="en-GB"/>
        </a:p>
      </dgm:t>
    </dgm:pt>
    <dgm:pt modelId="{8C41FF4C-6E71-4D31-A455-78803425E7A8}" type="sibTrans" cxnId="{8BAEB269-7524-4EEF-A047-8F1611A4A613}">
      <dgm:prSet/>
      <dgm:spPr/>
      <dgm:t>
        <a:bodyPr/>
        <a:lstStyle/>
        <a:p>
          <a:endParaRPr lang="en-GB"/>
        </a:p>
      </dgm:t>
    </dgm:pt>
    <dgm:pt modelId="{0ECE3D11-0B49-4819-9236-2B2BB36D32E9}">
      <dgm:prSet phldrT="[Text]" custT="1"/>
      <dgm:spPr/>
      <dgm:t>
        <a:bodyPr/>
        <a:lstStyle/>
        <a:p>
          <a:r>
            <a:rPr lang="en-GB" sz="1600" dirty="0"/>
            <a:t>Earnings Multiple</a:t>
          </a:r>
        </a:p>
      </dgm:t>
    </dgm:pt>
    <dgm:pt modelId="{6EF3A4E5-215B-403A-8081-2B653BE24481}" type="parTrans" cxnId="{6702C768-943D-4DA0-B12A-77F23A63C610}">
      <dgm:prSet/>
      <dgm:spPr/>
      <dgm:t>
        <a:bodyPr/>
        <a:lstStyle/>
        <a:p>
          <a:endParaRPr lang="en-GB"/>
        </a:p>
      </dgm:t>
    </dgm:pt>
    <dgm:pt modelId="{59C4D5F6-365B-4CBF-82E4-14C9B5497BBB}" type="sibTrans" cxnId="{6702C768-943D-4DA0-B12A-77F23A63C610}">
      <dgm:prSet/>
      <dgm:spPr/>
      <dgm:t>
        <a:bodyPr/>
        <a:lstStyle/>
        <a:p>
          <a:endParaRPr lang="en-GB"/>
        </a:p>
      </dgm:t>
    </dgm:pt>
    <dgm:pt modelId="{2BC5F2D4-C9F0-4806-9099-251F90B89748}">
      <dgm:prSet phldrT="[Text]" custT="1"/>
      <dgm:spPr/>
      <dgm:t>
        <a:bodyPr/>
        <a:lstStyle/>
        <a:p>
          <a:r>
            <a:rPr lang="en-GB" sz="1600" dirty="0"/>
            <a:t>Book Value Multiples</a:t>
          </a:r>
        </a:p>
      </dgm:t>
    </dgm:pt>
    <dgm:pt modelId="{202EDA0B-7899-4E38-8B6A-95F0385C7858}" type="parTrans" cxnId="{B24C109A-385F-44E5-9D9D-932A047D48B0}">
      <dgm:prSet/>
      <dgm:spPr/>
      <dgm:t>
        <a:bodyPr/>
        <a:lstStyle/>
        <a:p>
          <a:endParaRPr lang="en-GB"/>
        </a:p>
      </dgm:t>
    </dgm:pt>
    <dgm:pt modelId="{18A24409-4104-4D81-AF3D-1A8E58949064}" type="sibTrans" cxnId="{B24C109A-385F-44E5-9D9D-932A047D48B0}">
      <dgm:prSet/>
      <dgm:spPr/>
      <dgm:t>
        <a:bodyPr/>
        <a:lstStyle/>
        <a:p>
          <a:endParaRPr lang="en-GB"/>
        </a:p>
      </dgm:t>
    </dgm:pt>
    <dgm:pt modelId="{70590CED-4C21-4B5F-A59C-6CDDD888B66F}">
      <dgm:prSet phldrT="[Text]" custT="1"/>
      <dgm:spPr/>
      <dgm:t>
        <a:bodyPr/>
        <a:lstStyle/>
        <a:p>
          <a:r>
            <a:rPr lang="en-GB" sz="1600" dirty="0"/>
            <a:t>Revenues Multiple</a:t>
          </a:r>
        </a:p>
      </dgm:t>
    </dgm:pt>
    <dgm:pt modelId="{276956A5-FCF4-4126-956D-8D941F1CBA05}" type="parTrans" cxnId="{D4C5CE40-39E7-4396-9780-0A9819F0DCFD}">
      <dgm:prSet/>
      <dgm:spPr/>
      <dgm:t>
        <a:bodyPr/>
        <a:lstStyle/>
        <a:p>
          <a:endParaRPr lang="en-GB"/>
        </a:p>
      </dgm:t>
    </dgm:pt>
    <dgm:pt modelId="{F34A0275-6592-42F9-916E-6C4E806762A6}" type="sibTrans" cxnId="{D4C5CE40-39E7-4396-9780-0A9819F0DCFD}">
      <dgm:prSet/>
      <dgm:spPr/>
      <dgm:t>
        <a:bodyPr/>
        <a:lstStyle/>
        <a:p>
          <a:endParaRPr lang="en-GB"/>
        </a:p>
      </dgm:t>
    </dgm:pt>
    <dgm:pt modelId="{7E14D5FF-6083-4327-BC07-EFBCB1301C14}" type="pres">
      <dgm:prSet presAssocID="{4AFB604C-5F8B-4DCD-965C-6E4731A1E2BB}" presName="linear" presStyleCnt="0">
        <dgm:presLayoutVars>
          <dgm:animLvl val="lvl"/>
          <dgm:resizeHandles val="exact"/>
        </dgm:presLayoutVars>
      </dgm:prSet>
      <dgm:spPr/>
    </dgm:pt>
    <dgm:pt modelId="{E7E42009-7DC1-46D7-8FDA-92A7CB4B47A0}" type="pres">
      <dgm:prSet presAssocID="{2F63BB2D-0CA9-4DCE-91BE-28120DE9E8F5}" presName="parentText" presStyleLbl="node1" presStyleIdx="0" presStyleCnt="3">
        <dgm:presLayoutVars>
          <dgm:chMax val="0"/>
          <dgm:bulletEnabled val="1"/>
        </dgm:presLayoutVars>
      </dgm:prSet>
      <dgm:spPr/>
    </dgm:pt>
    <dgm:pt modelId="{04BA358C-7A18-4E30-9031-349356E4ACC0}" type="pres">
      <dgm:prSet presAssocID="{E179A157-34D2-4B3A-A3B8-8384274052E1}" presName="spacer" presStyleCnt="0"/>
      <dgm:spPr/>
    </dgm:pt>
    <dgm:pt modelId="{9E06FE03-3790-40A2-9B5C-6A3565832511}" type="pres">
      <dgm:prSet presAssocID="{2A5D1E3D-2AD5-4F2D-B43A-16F810A90CAA}" presName="parentText" presStyleLbl="node1" presStyleIdx="1" presStyleCnt="3">
        <dgm:presLayoutVars>
          <dgm:chMax val="0"/>
          <dgm:bulletEnabled val="1"/>
        </dgm:presLayoutVars>
      </dgm:prSet>
      <dgm:spPr/>
    </dgm:pt>
    <dgm:pt modelId="{453C8899-340E-42E8-928D-FCF254224BC5}" type="pres">
      <dgm:prSet presAssocID="{2A5D1E3D-2AD5-4F2D-B43A-16F810A90CAA}" presName="childText" presStyleLbl="revTx" presStyleIdx="0" presStyleCnt="1">
        <dgm:presLayoutVars>
          <dgm:bulletEnabled val="1"/>
        </dgm:presLayoutVars>
      </dgm:prSet>
      <dgm:spPr/>
    </dgm:pt>
    <dgm:pt modelId="{AE4DB4B3-A41D-438B-9D3F-C937CD069A97}" type="pres">
      <dgm:prSet presAssocID="{ABECBC16-F75C-4DD1-857E-17C25D15FAD2}" presName="parentText" presStyleLbl="node1" presStyleIdx="2" presStyleCnt="3">
        <dgm:presLayoutVars>
          <dgm:chMax val="0"/>
          <dgm:bulletEnabled val="1"/>
        </dgm:presLayoutVars>
      </dgm:prSet>
      <dgm:spPr/>
    </dgm:pt>
  </dgm:ptLst>
  <dgm:cxnLst>
    <dgm:cxn modelId="{5E0BEE0B-3F0F-40E2-B22A-2E8A9B457A00}" type="presOf" srcId="{2A5D1E3D-2AD5-4F2D-B43A-16F810A90CAA}" destId="{9E06FE03-3790-40A2-9B5C-6A3565832511}" srcOrd="0" destOrd="0" presId="urn:microsoft.com/office/officeart/2005/8/layout/vList2"/>
    <dgm:cxn modelId="{DA09A71F-3F1E-4345-951D-08429C458537}" type="presOf" srcId="{85E0A969-5D5F-44E9-8A7C-386D69A4AB0E}" destId="{453C8899-340E-42E8-928D-FCF254224BC5}" srcOrd="0" destOrd="4" presId="urn:microsoft.com/office/officeart/2005/8/layout/vList2"/>
    <dgm:cxn modelId="{1E0D2521-C7D3-45A1-976F-3F985BEF0EC1}" srcId="{2A5D1E3D-2AD5-4F2D-B43A-16F810A90CAA}" destId="{85E0A969-5D5F-44E9-8A7C-386D69A4AB0E}" srcOrd="1" destOrd="0" parTransId="{D32C69D2-C055-47E4-8CA7-D214951D52E7}" sibTransId="{E088D734-45C2-4AA7-B043-F78F625F6C03}"/>
    <dgm:cxn modelId="{C3CF622D-188B-4C7A-871D-954A5C4A1F24}" type="presOf" srcId="{ABECBC16-F75C-4DD1-857E-17C25D15FAD2}" destId="{AE4DB4B3-A41D-438B-9D3F-C937CD069A97}" srcOrd="0" destOrd="0" presId="urn:microsoft.com/office/officeart/2005/8/layout/vList2"/>
    <dgm:cxn modelId="{E834A336-19FC-4CCB-99EA-7F596724E3FD}" srcId="{4AFB604C-5F8B-4DCD-965C-6E4731A1E2BB}" destId="{2A5D1E3D-2AD5-4F2D-B43A-16F810A90CAA}" srcOrd="1" destOrd="0" parTransId="{FAB137A1-DD70-4F4C-A6CF-F2A771B6DC16}" sibTransId="{131F2169-C93F-4C79-9055-86348E7F20E3}"/>
    <dgm:cxn modelId="{D4C5CE40-39E7-4396-9780-0A9819F0DCFD}" srcId="{9A0E4B2B-9EFD-4BEE-9A2C-A06ACE2A286E}" destId="{70590CED-4C21-4B5F-A59C-6CDDD888B66F}" srcOrd="2" destOrd="0" parTransId="{276956A5-FCF4-4126-956D-8D941F1CBA05}" sibTransId="{F34A0275-6592-42F9-916E-6C4E806762A6}"/>
    <dgm:cxn modelId="{6702C768-943D-4DA0-B12A-77F23A63C610}" srcId="{9A0E4B2B-9EFD-4BEE-9A2C-A06ACE2A286E}" destId="{0ECE3D11-0B49-4819-9236-2B2BB36D32E9}" srcOrd="0" destOrd="0" parTransId="{6EF3A4E5-215B-403A-8081-2B653BE24481}" sibTransId="{59C4D5F6-365B-4CBF-82E4-14C9B5497BBB}"/>
    <dgm:cxn modelId="{8BAEB269-7524-4EEF-A047-8F1611A4A613}" srcId="{2A5D1E3D-2AD5-4F2D-B43A-16F810A90CAA}" destId="{844DF286-FB53-409E-BAC5-7A8811BFFF67}" srcOrd="3" destOrd="0" parTransId="{35B0FD0D-EFB4-44DB-A723-B764DBBBCB12}" sibTransId="{8C41FF4C-6E71-4D31-A455-78803425E7A8}"/>
    <dgm:cxn modelId="{25497D6B-822B-44F5-B2BF-89E7C9043F9C}" srcId="{4AFB604C-5F8B-4DCD-965C-6E4731A1E2BB}" destId="{2F63BB2D-0CA9-4DCE-91BE-28120DE9E8F5}" srcOrd="0" destOrd="0" parTransId="{5B2C50BE-C8BA-49D3-A39C-72E612B85C87}" sibTransId="{E179A157-34D2-4B3A-A3B8-8384274052E1}"/>
    <dgm:cxn modelId="{44523A4C-1C3D-4722-B609-74C66C8649CA}" type="presOf" srcId="{844DF286-FB53-409E-BAC5-7A8811BFFF67}" destId="{453C8899-340E-42E8-928D-FCF254224BC5}" srcOrd="0" destOrd="6" presId="urn:microsoft.com/office/officeart/2005/8/layout/vList2"/>
    <dgm:cxn modelId="{68687086-0264-4B46-8ED8-471F5B0F780C}" type="presOf" srcId="{70590CED-4C21-4B5F-A59C-6CDDD888B66F}" destId="{453C8899-340E-42E8-928D-FCF254224BC5}" srcOrd="0" destOrd="3" presId="urn:microsoft.com/office/officeart/2005/8/layout/vList2"/>
    <dgm:cxn modelId="{9696E694-E80B-451E-B0AB-B6A3CF174564}" type="presOf" srcId="{2BC5F2D4-C9F0-4806-9099-251F90B89748}" destId="{453C8899-340E-42E8-928D-FCF254224BC5}" srcOrd="0" destOrd="2" presId="urn:microsoft.com/office/officeart/2005/8/layout/vList2"/>
    <dgm:cxn modelId="{8C820095-9A14-45D5-884F-658DEDEEEA34}" type="presOf" srcId="{4AFB604C-5F8B-4DCD-965C-6E4731A1E2BB}" destId="{7E14D5FF-6083-4327-BC07-EFBCB1301C14}" srcOrd="0" destOrd="0" presId="urn:microsoft.com/office/officeart/2005/8/layout/vList2"/>
    <dgm:cxn modelId="{B24C109A-385F-44E5-9D9D-932A047D48B0}" srcId="{9A0E4B2B-9EFD-4BEE-9A2C-A06ACE2A286E}" destId="{2BC5F2D4-C9F0-4806-9099-251F90B89748}" srcOrd="1" destOrd="0" parTransId="{202EDA0B-7899-4E38-8B6A-95F0385C7858}" sibTransId="{18A24409-4104-4D81-AF3D-1A8E58949064}"/>
    <dgm:cxn modelId="{744E40A8-8322-4E21-B422-16C746D9FD97}" srcId="{2A5D1E3D-2AD5-4F2D-B43A-16F810A90CAA}" destId="{15C2CE3C-394F-4A45-BFFF-C0D25ADF9B4A}" srcOrd="2" destOrd="0" parTransId="{12E1826A-4566-4553-B907-CFEE1D0B2411}" sibTransId="{27FC1783-E9E8-4B1A-AA1D-C9A90694374D}"/>
    <dgm:cxn modelId="{D98107B9-E5E4-44E1-8BAA-15BEFEA7B1F6}" type="presOf" srcId="{9A0E4B2B-9EFD-4BEE-9A2C-A06ACE2A286E}" destId="{453C8899-340E-42E8-928D-FCF254224BC5}" srcOrd="0" destOrd="0" presId="urn:microsoft.com/office/officeart/2005/8/layout/vList2"/>
    <dgm:cxn modelId="{F47E7BBE-E01D-425B-9E75-B2BC0CB1811D}" type="presOf" srcId="{15C2CE3C-394F-4A45-BFFF-C0D25ADF9B4A}" destId="{453C8899-340E-42E8-928D-FCF254224BC5}" srcOrd="0" destOrd="5" presId="urn:microsoft.com/office/officeart/2005/8/layout/vList2"/>
    <dgm:cxn modelId="{93BE8ECC-FA60-4771-A2E3-286B9BDCD0DA}" srcId="{4AFB604C-5F8B-4DCD-965C-6E4731A1E2BB}" destId="{ABECBC16-F75C-4DD1-857E-17C25D15FAD2}" srcOrd="2" destOrd="0" parTransId="{D9853084-373C-4AF3-AF30-31FA3A8F7235}" sibTransId="{E0EF519A-729E-4224-891B-67E29D5C6CA0}"/>
    <dgm:cxn modelId="{AA2FD5D0-0256-44A0-91BB-16E0F240DA08}" srcId="{2A5D1E3D-2AD5-4F2D-B43A-16F810A90CAA}" destId="{9A0E4B2B-9EFD-4BEE-9A2C-A06ACE2A286E}" srcOrd="0" destOrd="0" parTransId="{FE526510-DF7D-4719-A71F-425E45584F96}" sibTransId="{A101D327-869C-423F-A544-8A83EE506B66}"/>
    <dgm:cxn modelId="{BD7B62D1-2178-4004-B48E-4C4D0143816F}" type="presOf" srcId="{0ECE3D11-0B49-4819-9236-2B2BB36D32E9}" destId="{453C8899-340E-42E8-928D-FCF254224BC5}" srcOrd="0" destOrd="1" presId="urn:microsoft.com/office/officeart/2005/8/layout/vList2"/>
    <dgm:cxn modelId="{7A4539E5-8004-4B85-A296-4405C98670E3}" type="presOf" srcId="{2F63BB2D-0CA9-4DCE-91BE-28120DE9E8F5}" destId="{E7E42009-7DC1-46D7-8FDA-92A7CB4B47A0}" srcOrd="0" destOrd="0" presId="urn:microsoft.com/office/officeart/2005/8/layout/vList2"/>
    <dgm:cxn modelId="{C06E63D1-EF91-4FE8-AB6F-E121A42A4D8E}" type="presParOf" srcId="{7E14D5FF-6083-4327-BC07-EFBCB1301C14}" destId="{E7E42009-7DC1-46D7-8FDA-92A7CB4B47A0}" srcOrd="0" destOrd="0" presId="urn:microsoft.com/office/officeart/2005/8/layout/vList2"/>
    <dgm:cxn modelId="{5065E03B-518D-46D4-82BF-9CEF6FE5483A}" type="presParOf" srcId="{7E14D5FF-6083-4327-BC07-EFBCB1301C14}" destId="{04BA358C-7A18-4E30-9031-349356E4ACC0}" srcOrd="1" destOrd="0" presId="urn:microsoft.com/office/officeart/2005/8/layout/vList2"/>
    <dgm:cxn modelId="{DD1278D8-E04F-48F8-B761-9CE265F8CC09}" type="presParOf" srcId="{7E14D5FF-6083-4327-BC07-EFBCB1301C14}" destId="{9E06FE03-3790-40A2-9B5C-6A3565832511}" srcOrd="2" destOrd="0" presId="urn:microsoft.com/office/officeart/2005/8/layout/vList2"/>
    <dgm:cxn modelId="{856877EC-5167-41E9-BF24-7426A0576A20}" type="presParOf" srcId="{7E14D5FF-6083-4327-BC07-EFBCB1301C14}" destId="{453C8899-340E-42E8-928D-FCF254224BC5}" srcOrd="3" destOrd="0" presId="urn:microsoft.com/office/officeart/2005/8/layout/vList2"/>
    <dgm:cxn modelId="{563D8BF8-4961-48F2-A334-0C1CB83CF8E2}" type="presParOf" srcId="{7E14D5FF-6083-4327-BC07-EFBCB1301C14}" destId="{AE4DB4B3-A41D-438B-9D3F-C937CD069A9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CB61DB-E66C-45C0-B1E6-ABA554A7E930}" type="doc">
      <dgm:prSet loTypeId="urn:microsoft.com/office/officeart/2005/8/layout/vList2" loCatId="list" qsTypeId="urn:microsoft.com/office/officeart/2005/8/quickstyle/3d3" qsCatId="3D" csTypeId="urn:microsoft.com/office/officeart/2005/8/colors/accent1_2" csCatId="accent1"/>
      <dgm:spPr/>
      <dgm:t>
        <a:bodyPr/>
        <a:lstStyle/>
        <a:p>
          <a:endParaRPr lang="en-GB"/>
        </a:p>
      </dgm:t>
    </dgm:pt>
    <dgm:pt modelId="{57B1C401-579E-4515-BD90-845AB4C9028E}">
      <dgm:prSet/>
      <dgm:spPr/>
      <dgm:t>
        <a:bodyPr/>
        <a:lstStyle/>
        <a:p>
          <a:pPr rtl="0"/>
          <a:r>
            <a:rPr lang="en-US" dirty="0"/>
            <a:t>In relative valuation, the value of an asset is compared to the values assessed by the market for similar or comparable assets.</a:t>
          </a:r>
          <a:endParaRPr lang="en-GB" dirty="0"/>
        </a:p>
      </dgm:t>
    </dgm:pt>
    <dgm:pt modelId="{946FE9F0-0192-436F-9648-C2B35D1EC6AD}" type="parTrans" cxnId="{8440DA12-CA82-4267-B765-F4A3CC111FD7}">
      <dgm:prSet/>
      <dgm:spPr/>
      <dgm:t>
        <a:bodyPr/>
        <a:lstStyle/>
        <a:p>
          <a:endParaRPr lang="en-GB"/>
        </a:p>
      </dgm:t>
    </dgm:pt>
    <dgm:pt modelId="{A6234381-A7BB-4CB9-B371-D21CE39A87E0}" type="sibTrans" cxnId="{8440DA12-CA82-4267-B765-F4A3CC111FD7}">
      <dgm:prSet/>
      <dgm:spPr/>
      <dgm:t>
        <a:bodyPr/>
        <a:lstStyle/>
        <a:p>
          <a:endParaRPr lang="en-GB"/>
        </a:p>
      </dgm:t>
    </dgm:pt>
    <dgm:pt modelId="{644260DE-4568-455B-81BA-9361EC138260}">
      <dgm:prSet/>
      <dgm:spPr/>
      <dgm:t>
        <a:bodyPr/>
        <a:lstStyle/>
        <a:p>
          <a:pPr rtl="0"/>
          <a:r>
            <a:rPr lang="en-US" dirty="0"/>
            <a:t>To do relative valuation then,</a:t>
          </a:r>
          <a:endParaRPr lang="en-GB" dirty="0"/>
        </a:p>
      </dgm:t>
    </dgm:pt>
    <dgm:pt modelId="{009280D3-5A64-4001-807C-E9398FE31C9F}" type="parTrans" cxnId="{6C154348-871F-4F6C-84C0-E1D4CBDEF2DA}">
      <dgm:prSet/>
      <dgm:spPr/>
      <dgm:t>
        <a:bodyPr/>
        <a:lstStyle/>
        <a:p>
          <a:endParaRPr lang="en-GB"/>
        </a:p>
      </dgm:t>
    </dgm:pt>
    <dgm:pt modelId="{61385577-2FC6-4AD9-818A-205AB94A8FD7}" type="sibTrans" cxnId="{6C154348-871F-4F6C-84C0-E1D4CBDEF2DA}">
      <dgm:prSet/>
      <dgm:spPr/>
      <dgm:t>
        <a:bodyPr/>
        <a:lstStyle/>
        <a:p>
          <a:endParaRPr lang="en-GB"/>
        </a:p>
      </dgm:t>
    </dgm:pt>
    <dgm:pt modelId="{C9B59C60-362B-422A-8919-4F72D3C7577F}">
      <dgm:prSet/>
      <dgm:spPr/>
      <dgm:t>
        <a:bodyPr/>
        <a:lstStyle/>
        <a:p>
          <a:pPr rtl="0"/>
          <a:r>
            <a:rPr lang="en-US" dirty="0"/>
            <a:t>we need to</a:t>
          </a:r>
          <a:r>
            <a:rPr lang="en-US" u="sng" dirty="0"/>
            <a:t> </a:t>
          </a:r>
          <a:r>
            <a:rPr lang="en-US" b="1" u="sng" dirty="0"/>
            <a:t>identify comparable assets </a:t>
          </a:r>
          <a:r>
            <a:rPr lang="en-US" dirty="0"/>
            <a:t>and obtain market values for these assets</a:t>
          </a:r>
          <a:endParaRPr lang="en-GB" dirty="0"/>
        </a:p>
      </dgm:t>
    </dgm:pt>
    <dgm:pt modelId="{0661C043-D9E8-463C-A04E-46ECE7D81441}" type="parTrans" cxnId="{792B6BB6-93A0-4B66-9017-CADF91D5147A}">
      <dgm:prSet/>
      <dgm:spPr/>
      <dgm:t>
        <a:bodyPr/>
        <a:lstStyle/>
        <a:p>
          <a:endParaRPr lang="en-GB"/>
        </a:p>
      </dgm:t>
    </dgm:pt>
    <dgm:pt modelId="{676D0AE0-5E82-4994-8D29-D1ACA249289D}" type="sibTrans" cxnId="{792B6BB6-93A0-4B66-9017-CADF91D5147A}">
      <dgm:prSet/>
      <dgm:spPr/>
      <dgm:t>
        <a:bodyPr/>
        <a:lstStyle/>
        <a:p>
          <a:endParaRPr lang="en-GB"/>
        </a:p>
      </dgm:t>
    </dgm:pt>
    <dgm:pt modelId="{CD2CDFA6-9B28-43D3-A945-30C19D4CFF12}">
      <dgm:prSet/>
      <dgm:spPr/>
      <dgm:t>
        <a:bodyPr/>
        <a:lstStyle/>
        <a:p>
          <a:pPr rtl="0"/>
          <a:r>
            <a:rPr lang="en-US" dirty="0"/>
            <a:t>convert these market values into </a:t>
          </a:r>
          <a:r>
            <a:rPr lang="en-US" b="1" u="sng" dirty="0"/>
            <a:t>standardized values</a:t>
          </a:r>
          <a:r>
            <a:rPr lang="en-US" dirty="0"/>
            <a:t>, since the absolute prices cannot be compared This process of standardizing creates price multiples.</a:t>
          </a:r>
          <a:endParaRPr lang="en-GB" dirty="0"/>
        </a:p>
      </dgm:t>
    </dgm:pt>
    <dgm:pt modelId="{3716E1D2-4337-4987-B4F7-919C8F08B5BA}" type="parTrans" cxnId="{9683AFDA-EBC0-4CEB-AFD2-7321CFA7A4D9}">
      <dgm:prSet/>
      <dgm:spPr/>
      <dgm:t>
        <a:bodyPr/>
        <a:lstStyle/>
        <a:p>
          <a:endParaRPr lang="en-GB"/>
        </a:p>
      </dgm:t>
    </dgm:pt>
    <dgm:pt modelId="{5FBB8CF3-D101-4490-A967-DF3C1A7EF4DE}" type="sibTrans" cxnId="{9683AFDA-EBC0-4CEB-AFD2-7321CFA7A4D9}">
      <dgm:prSet/>
      <dgm:spPr/>
      <dgm:t>
        <a:bodyPr/>
        <a:lstStyle/>
        <a:p>
          <a:endParaRPr lang="en-GB"/>
        </a:p>
      </dgm:t>
    </dgm:pt>
    <dgm:pt modelId="{DA788E1B-A95B-4123-B1E6-6266C3688A91}">
      <dgm:prSet/>
      <dgm:spPr/>
      <dgm:t>
        <a:bodyPr/>
        <a:lstStyle/>
        <a:p>
          <a:pPr rtl="0"/>
          <a:r>
            <a:rPr lang="en-US" u="sng" dirty="0"/>
            <a:t>compare</a:t>
          </a:r>
          <a:r>
            <a:rPr lang="en-US" dirty="0"/>
            <a:t> the standardized value or multiple for the asset being analyzed to the standardized values for comparable asset,</a:t>
          </a:r>
          <a:r>
            <a:rPr lang="en-US" u="sng" dirty="0"/>
            <a:t> </a:t>
          </a:r>
          <a:r>
            <a:rPr lang="en-US" b="1" u="sng" dirty="0"/>
            <a:t>controlling for any differences </a:t>
          </a:r>
          <a:r>
            <a:rPr lang="en-US" dirty="0"/>
            <a:t>between the firms that might affect the multiple, to judge whether the asset is under or over valued</a:t>
          </a:r>
          <a:endParaRPr lang="en-GB" dirty="0"/>
        </a:p>
      </dgm:t>
    </dgm:pt>
    <dgm:pt modelId="{C114CA49-6868-4E8E-AAB5-E78D73A3FBCA}" type="parTrans" cxnId="{EF040E75-BFEC-4993-AA4A-C248B9C05034}">
      <dgm:prSet/>
      <dgm:spPr/>
      <dgm:t>
        <a:bodyPr/>
        <a:lstStyle/>
        <a:p>
          <a:endParaRPr lang="en-GB"/>
        </a:p>
      </dgm:t>
    </dgm:pt>
    <dgm:pt modelId="{8329DB92-9C8F-408B-83E0-782F067D4E6A}" type="sibTrans" cxnId="{EF040E75-BFEC-4993-AA4A-C248B9C05034}">
      <dgm:prSet/>
      <dgm:spPr/>
      <dgm:t>
        <a:bodyPr/>
        <a:lstStyle/>
        <a:p>
          <a:endParaRPr lang="en-GB"/>
        </a:p>
      </dgm:t>
    </dgm:pt>
    <dgm:pt modelId="{2DE346D6-E865-4910-A6E9-9B615551182F}" type="pres">
      <dgm:prSet presAssocID="{02CB61DB-E66C-45C0-B1E6-ABA554A7E930}" presName="linear" presStyleCnt="0">
        <dgm:presLayoutVars>
          <dgm:animLvl val="lvl"/>
          <dgm:resizeHandles val="exact"/>
        </dgm:presLayoutVars>
      </dgm:prSet>
      <dgm:spPr/>
    </dgm:pt>
    <dgm:pt modelId="{5AB06A94-5C89-4BEF-BB1E-B5A9C9222ABA}" type="pres">
      <dgm:prSet presAssocID="{57B1C401-579E-4515-BD90-845AB4C9028E}" presName="parentText" presStyleLbl="node1" presStyleIdx="0" presStyleCnt="2">
        <dgm:presLayoutVars>
          <dgm:chMax val="0"/>
          <dgm:bulletEnabled val="1"/>
        </dgm:presLayoutVars>
      </dgm:prSet>
      <dgm:spPr/>
    </dgm:pt>
    <dgm:pt modelId="{8C39DF5E-F5F1-4261-B1E0-CDCC007DD15F}" type="pres">
      <dgm:prSet presAssocID="{A6234381-A7BB-4CB9-B371-D21CE39A87E0}" presName="spacer" presStyleCnt="0"/>
      <dgm:spPr/>
    </dgm:pt>
    <dgm:pt modelId="{1028B5CC-C11A-4771-8B64-31899B36402E}" type="pres">
      <dgm:prSet presAssocID="{644260DE-4568-455B-81BA-9361EC138260}" presName="parentText" presStyleLbl="node1" presStyleIdx="1" presStyleCnt="2">
        <dgm:presLayoutVars>
          <dgm:chMax val="0"/>
          <dgm:bulletEnabled val="1"/>
        </dgm:presLayoutVars>
      </dgm:prSet>
      <dgm:spPr/>
    </dgm:pt>
    <dgm:pt modelId="{488A8B53-F7E8-4C0D-9241-DCD19201A5AB}" type="pres">
      <dgm:prSet presAssocID="{644260DE-4568-455B-81BA-9361EC138260}" presName="childText" presStyleLbl="revTx" presStyleIdx="0" presStyleCnt="1">
        <dgm:presLayoutVars>
          <dgm:bulletEnabled val="1"/>
        </dgm:presLayoutVars>
      </dgm:prSet>
      <dgm:spPr/>
    </dgm:pt>
  </dgm:ptLst>
  <dgm:cxnLst>
    <dgm:cxn modelId="{8B536F06-915C-4FFF-801B-F9D2F10FED44}" type="presOf" srcId="{C9B59C60-362B-422A-8919-4F72D3C7577F}" destId="{488A8B53-F7E8-4C0D-9241-DCD19201A5AB}" srcOrd="0" destOrd="0" presId="urn:microsoft.com/office/officeart/2005/8/layout/vList2"/>
    <dgm:cxn modelId="{8440DA12-CA82-4267-B765-F4A3CC111FD7}" srcId="{02CB61DB-E66C-45C0-B1E6-ABA554A7E930}" destId="{57B1C401-579E-4515-BD90-845AB4C9028E}" srcOrd="0" destOrd="0" parTransId="{946FE9F0-0192-436F-9648-C2B35D1EC6AD}" sibTransId="{A6234381-A7BB-4CB9-B371-D21CE39A87E0}"/>
    <dgm:cxn modelId="{FD52FA36-8640-4CE8-9506-025C8175E17B}" type="presOf" srcId="{CD2CDFA6-9B28-43D3-A945-30C19D4CFF12}" destId="{488A8B53-F7E8-4C0D-9241-DCD19201A5AB}" srcOrd="0" destOrd="1" presId="urn:microsoft.com/office/officeart/2005/8/layout/vList2"/>
    <dgm:cxn modelId="{18EEA245-947B-4D62-BA97-FB10E9EA3050}" type="presOf" srcId="{02CB61DB-E66C-45C0-B1E6-ABA554A7E930}" destId="{2DE346D6-E865-4910-A6E9-9B615551182F}" srcOrd="0" destOrd="0" presId="urn:microsoft.com/office/officeart/2005/8/layout/vList2"/>
    <dgm:cxn modelId="{6C154348-871F-4F6C-84C0-E1D4CBDEF2DA}" srcId="{02CB61DB-E66C-45C0-B1E6-ABA554A7E930}" destId="{644260DE-4568-455B-81BA-9361EC138260}" srcOrd="1" destOrd="0" parTransId="{009280D3-5A64-4001-807C-E9398FE31C9F}" sibTransId="{61385577-2FC6-4AD9-818A-205AB94A8FD7}"/>
    <dgm:cxn modelId="{596A2770-4A1A-429B-BB30-37609D4A8B86}" type="presOf" srcId="{644260DE-4568-455B-81BA-9361EC138260}" destId="{1028B5CC-C11A-4771-8B64-31899B36402E}" srcOrd="0" destOrd="0" presId="urn:microsoft.com/office/officeart/2005/8/layout/vList2"/>
    <dgm:cxn modelId="{EF040E75-BFEC-4993-AA4A-C248B9C05034}" srcId="{644260DE-4568-455B-81BA-9361EC138260}" destId="{DA788E1B-A95B-4123-B1E6-6266C3688A91}" srcOrd="2" destOrd="0" parTransId="{C114CA49-6868-4E8E-AAB5-E78D73A3FBCA}" sibTransId="{8329DB92-9C8F-408B-83E0-782F067D4E6A}"/>
    <dgm:cxn modelId="{07540096-1E31-49E7-98B0-C9842D2D71B4}" type="presOf" srcId="{57B1C401-579E-4515-BD90-845AB4C9028E}" destId="{5AB06A94-5C89-4BEF-BB1E-B5A9C9222ABA}" srcOrd="0" destOrd="0" presId="urn:microsoft.com/office/officeart/2005/8/layout/vList2"/>
    <dgm:cxn modelId="{792B6BB6-93A0-4B66-9017-CADF91D5147A}" srcId="{644260DE-4568-455B-81BA-9361EC138260}" destId="{C9B59C60-362B-422A-8919-4F72D3C7577F}" srcOrd="0" destOrd="0" parTransId="{0661C043-D9E8-463C-A04E-46ECE7D81441}" sibTransId="{676D0AE0-5E82-4994-8D29-D1ACA249289D}"/>
    <dgm:cxn modelId="{E53560C5-991E-44FF-8D82-1123FD591669}" type="presOf" srcId="{DA788E1B-A95B-4123-B1E6-6266C3688A91}" destId="{488A8B53-F7E8-4C0D-9241-DCD19201A5AB}" srcOrd="0" destOrd="2" presId="urn:microsoft.com/office/officeart/2005/8/layout/vList2"/>
    <dgm:cxn modelId="{9683AFDA-EBC0-4CEB-AFD2-7321CFA7A4D9}" srcId="{644260DE-4568-455B-81BA-9361EC138260}" destId="{CD2CDFA6-9B28-43D3-A945-30C19D4CFF12}" srcOrd="1" destOrd="0" parTransId="{3716E1D2-4337-4987-B4F7-919C8F08B5BA}" sibTransId="{5FBB8CF3-D101-4490-A967-DF3C1A7EF4DE}"/>
    <dgm:cxn modelId="{E3983C28-A151-48A0-A5D2-8FB05CBC990C}" type="presParOf" srcId="{2DE346D6-E865-4910-A6E9-9B615551182F}" destId="{5AB06A94-5C89-4BEF-BB1E-B5A9C9222ABA}" srcOrd="0" destOrd="0" presId="urn:microsoft.com/office/officeart/2005/8/layout/vList2"/>
    <dgm:cxn modelId="{732FF83E-37A0-4353-B179-A4EA52CBB07D}" type="presParOf" srcId="{2DE346D6-E865-4910-A6E9-9B615551182F}" destId="{8C39DF5E-F5F1-4261-B1E0-CDCC007DD15F}" srcOrd="1" destOrd="0" presId="urn:microsoft.com/office/officeart/2005/8/layout/vList2"/>
    <dgm:cxn modelId="{656BF09A-A636-4E08-959E-5C560C584414}" type="presParOf" srcId="{2DE346D6-E865-4910-A6E9-9B615551182F}" destId="{1028B5CC-C11A-4771-8B64-31899B36402E}" srcOrd="2" destOrd="0" presId="urn:microsoft.com/office/officeart/2005/8/layout/vList2"/>
    <dgm:cxn modelId="{A68C0A6B-6B12-49DB-B9C5-FD23947ADDBA}" type="presParOf" srcId="{2DE346D6-E865-4910-A6E9-9B615551182F}" destId="{488A8B53-F7E8-4C0D-9241-DCD19201A5AB}"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979C8E-EB79-4E91-9055-51B656FF85F1}"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CF23C833-2E92-4BBF-A15F-3A2DA0E828B8}">
      <dgm:prSet custT="1"/>
      <dgm:spPr/>
      <dgm:t>
        <a:bodyPr/>
        <a:lstStyle/>
        <a:p>
          <a:pPr rtl="0"/>
          <a:r>
            <a:rPr lang="en-US" sz="2800" dirty="0"/>
            <a:t>Earnings Multiples</a:t>
          </a:r>
          <a:endParaRPr lang="en-GB" sz="2800" dirty="0"/>
        </a:p>
      </dgm:t>
    </dgm:pt>
    <dgm:pt modelId="{1A02D81F-D6BD-4B7C-8140-D3A7D1669F3B}" type="parTrans" cxnId="{053F5005-31FF-45F4-9598-69AADE88BA2C}">
      <dgm:prSet/>
      <dgm:spPr/>
      <dgm:t>
        <a:bodyPr/>
        <a:lstStyle/>
        <a:p>
          <a:endParaRPr lang="en-GB" sz="2000"/>
        </a:p>
      </dgm:t>
    </dgm:pt>
    <dgm:pt modelId="{11FEA24A-167A-4638-B86A-CA1070916A8A}" type="sibTrans" cxnId="{053F5005-31FF-45F4-9598-69AADE88BA2C}">
      <dgm:prSet/>
      <dgm:spPr/>
      <dgm:t>
        <a:bodyPr/>
        <a:lstStyle/>
        <a:p>
          <a:endParaRPr lang="en-GB" sz="2000"/>
        </a:p>
      </dgm:t>
    </dgm:pt>
    <dgm:pt modelId="{C53E3FE0-31BE-49FD-9F6B-5D3D56FD64C9}">
      <dgm:prSet custT="1"/>
      <dgm:spPr/>
      <dgm:t>
        <a:bodyPr/>
        <a:lstStyle/>
        <a:p>
          <a:pPr rtl="0"/>
          <a:r>
            <a:rPr lang="en-US" sz="1600" dirty="0"/>
            <a:t>Price/Earnings Ratio (PE)</a:t>
          </a:r>
        </a:p>
        <a:p>
          <a:pPr rtl="0"/>
          <a:r>
            <a:rPr lang="en-US" sz="1600" dirty="0"/>
            <a:t> and variants  (PEG and Relative PE)</a:t>
          </a:r>
          <a:endParaRPr lang="en-GB" sz="1600" dirty="0"/>
        </a:p>
      </dgm:t>
    </dgm:pt>
    <dgm:pt modelId="{9E126DF8-7C98-4F47-BACA-4276E5155D2E}" type="parTrans" cxnId="{2BF9EFCF-7BB1-4041-AA6D-BF428708069F}">
      <dgm:prSet/>
      <dgm:spPr/>
      <dgm:t>
        <a:bodyPr/>
        <a:lstStyle/>
        <a:p>
          <a:endParaRPr lang="en-GB" sz="2000"/>
        </a:p>
      </dgm:t>
    </dgm:pt>
    <dgm:pt modelId="{A2CFB6DF-3D36-4B76-B823-93E08A1CDBB8}" type="sibTrans" cxnId="{2BF9EFCF-7BB1-4041-AA6D-BF428708069F}">
      <dgm:prSet/>
      <dgm:spPr/>
      <dgm:t>
        <a:bodyPr/>
        <a:lstStyle/>
        <a:p>
          <a:endParaRPr lang="en-GB" sz="2000"/>
        </a:p>
      </dgm:t>
    </dgm:pt>
    <dgm:pt modelId="{DC2F5561-945B-4362-8237-9189EBAAE0F4}">
      <dgm:prSet custT="1"/>
      <dgm:spPr/>
      <dgm:t>
        <a:bodyPr/>
        <a:lstStyle/>
        <a:p>
          <a:pPr rtl="0"/>
          <a:r>
            <a:rPr lang="en-US" sz="1600" dirty="0"/>
            <a:t>Value/EBIT</a:t>
          </a:r>
          <a:endParaRPr lang="en-GB" sz="1600" dirty="0"/>
        </a:p>
      </dgm:t>
    </dgm:pt>
    <dgm:pt modelId="{9854D061-23CD-4FAB-95CC-EEBDF16130FF}" type="parTrans" cxnId="{194428D6-5867-4488-A231-F6D2A9E327A2}">
      <dgm:prSet/>
      <dgm:spPr/>
      <dgm:t>
        <a:bodyPr/>
        <a:lstStyle/>
        <a:p>
          <a:endParaRPr lang="en-GB" sz="2000"/>
        </a:p>
      </dgm:t>
    </dgm:pt>
    <dgm:pt modelId="{D36B38CC-A241-42FB-AA50-6897D8CB92D9}" type="sibTrans" cxnId="{194428D6-5867-4488-A231-F6D2A9E327A2}">
      <dgm:prSet/>
      <dgm:spPr/>
      <dgm:t>
        <a:bodyPr/>
        <a:lstStyle/>
        <a:p>
          <a:endParaRPr lang="en-GB" sz="2000"/>
        </a:p>
      </dgm:t>
    </dgm:pt>
    <dgm:pt modelId="{31652B2F-ADF0-48D3-9ECB-46D07B8CE806}">
      <dgm:prSet custT="1"/>
      <dgm:spPr/>
      <dgm:t>
        <a:bodyPr/>
        <a:lstStyle/>
        <a:p>
          <a:pPr rtl="0"/>
          <a:r>
            <a:rPr lang="en-US" sz="1600" dirty="0"/>
            <a:t>Value/EBITDA</a:t>
          </a:r>
          <a:endParaRPr lang="en-GB" sz="1600" dirty="0"/>
        </a:p>
      </dgm:t>
    </dgm:pt>
    <dgm:pt modelId="{80E0914E-BE2B-4399-8758-ECE4692252CB}" type="parTrans" cxnId="{D0E26F2E-0854-499C-BBB8-EA025B976489}">
      <dgm:prSet/>
      <dgm:spPr/>
      <dgm:t>
        <a:bodyPr/>
        <a:lstStyle/>
        <a:p>
          <a:endParaRPr lang="en-GB" sz="2000"/>
        </a:p>
      </dgm:t>
    </dgm:pt>
    <dgm:pt modelId="{368AE6B2-7656-4EAE-A286-E0CD9FC57721}" type="sibTrans" cxnId="{D0E26F2E-0854-499C-BBB8-EA025B976489}">
      <dgm:prSet/>
      <dgm:spPr/>
      <dgm:t>
        <a:bodyPr/>
        <a:lstStyle/>
        <a:p>
          <a:endParaRPr lang="en-GB" sz="2000"/>
        </a:p>
      </dgm:t>
    </dgm:pt>
    <dgm:pt modelId="{EAC81400-57B1-48FA-888A-354506020E61}">
      <dgm:prSet custT="1"/>
      <dgm:spPr/>
      <dgm:t>
        <a:bodyPr/>
        <a:lstStyle/>
        <a:p>
          <a:pPr rtl="0"/>
          <a:r>
            <a:rPr lang="en-US" sz="1600" dirty="0"/>
            <a:t>Value/Cash Flow</a:t>
          </a:r>
          <a:endParaRPr lang="en-GB" sz="1600" dirty="0"/>
        </a:p>
      </dgm:t>
    </dgm:pt>
    <dgm:pt modelId="{BC7EACFC-9357-4CE6-AEB9-14D49271E789}" type="parTrans" cxnId="{531A3240-6ECC-457E-BDE8-A8D3954151AC}">
      <dgm:prSet/>
      <dgm:spPr/>
      <dgm:t>
        <a:bodyPr/>
        <a:lstStyle/>
        <a:p>
          <a:endParaRPr lang="en-GB" sz="2000"/>
        </a:p>
      </dgm:t>
    </dgm:pt>
    <dgm:pt modelId="{A770911E-43A2-4EA9-BB1E-66218BEA26C5}" type="sibTrans" cxnId="{531A3240-6ECC-457E-BDE8-A8D3954151AC}">
      <dgm:prSet/>
      <dgm:spPr/>
      <dgm:t>
        <a:bodyPr/>
        <a:lstStyle/>
        <a:p>
          <a:endParaRPr lang="en-GB" sz="2000"/>
        </a:p>
      </dgm:t>
    </dgm:pt>
    <dgm:pt modelId="{6125D43A-4410-4BBA-A540-894F87E2EE91}">
      <dgm:prSet custT="1"/>
      <dgm:spPr/>
      <dgm:t>
        <a:bodyPr/>
        <a:lstStyle/>
        <a:p>
          <a:pPr rtl="0"/>
          <a:r>
            <a:rPr lang="en-US" sz="2800" dirty="0"/>
            <a:t>Book Value Multiples</a:t>
          </a:r>
          <a:endParaRPr lang="en-GB" sz="2800" dirty="0"/>
        </a:p>
      </dgm:t>
    </dgm:pt>
    <dgm:pt modelId="{32118CF0-4468-4223-BAAC-317F702743BA}" type="parTrans" cxnId="{6A34E4C3-15EF-40FC-B4B7-E0CF0A46B749}">
      <dgm:prSet/>
      <dgm:spPr/>
      <dgm:t>
        <a:bodyPr/>
        <a:lstStyle/>
        <a:p>
          <a:endParaRPr lang="en-GB" sz="2000"/>
        </a:p>
      </dgm:t>
    </dgm:pt>
    <dgm:pt modelId="{AD9B8978-E6CD-4CF6-816B-97EE2EED93BC}" type="sibTrans" cxnId="{6A34E4C3-15EF-40FC-B4B7-E0CF0A46B749}">
      <dgm:prSet/>
      <dgm:spPr/>
      <dgm:t>
        <a:bodyPr/>
        <a:lstStyle/>
        <a:p>
          <a:endParaRPr lang="en-GB" sz="2000"/>
        </a:p>
      </dgm:t>
    </dgm:pt>
    <dgm:pt modelId="{270E2FA7-5974-4797-9D0C-F444A10EC4CB}">
      <dgm:prSet custT="1"/>
      <dgm:spPr/>
      <dgm:t>
        <a:bodyPr/>
        <a:lstStyle/>
        <a:p>
          <a:pPr rtl="0"/>
          <a:r>
            <a:rPr lang="en-US" sz="1600" dirty="0"/>
            <a:t>Price/Book Value(of Equity) (PBV)</a:t>
          </a:r>
          <a:endParaRPr lang="en-GB" sz="1600" dirty="0"/>
        </a:p>
      </dgm:t>
    </dgm:pt>
    <dgm:pt modelId="{0262BE20-55FD-4F7E-85AD-2419CE58DC06}" type="parTrans" cxnId="{52A674FE-055D-438C-918E-85CA8EDA3A4D}">
      <dgm:prSet/>
      <dgm:spPr/>
      <dgm:t>
        <a:bodyPr/>
        <a:lstStyle/>
        <a:p>
          <a:endParaRPr lang="en-GB" sz="2000"/>
        </a:p>
      </dgm:t>
    </dgm:pt>
    <dgm:pt modelId="{70739F45-796B-4A20-80CC-A55080BF44FB}" type="sibTrans" cxnId="{52A674FE-055D-438C-918E-85CA8EDA3A4D}">
      <dgm:prSet/>
      <dgm:spPr/>
      <dgm:t>
        <a:bodyPr/>
        <a:lstStyle/>
        <a:p>
          <a:endParaRPr lang="en-GB" sz="2000"/>
        </a:p>
      </dgm:t>
    </dgm:pt>
    <dgm:pt modelId="{7FA72F00-D51A-4AB9-9A6C-9CE0942D7406}">
      <dgm:prSet custT="1"/>
      <dgm:spPr/>
      <dgm:t>
        <a:bodyPr/>
        <a:lstStyle/>
        <a:p>
          <a:pPr rtl="0"/>
          <a:r>
            <a:rPr lang="en-US" sz="1600" dirty="0"/>
            <a:t>Value/ Book Value of Assets</a:t>
          </a:r>
          <a:endParaRPr lang="en-GB" sz="1600" dirty="0"/>
        </a:p>
      </dgm:t>
    </dgm:pt>
    <dgm:pt modelId="{D5EF278B-3FC6-4CC3-B2DE-DC8D19644AF5}" type="parTrans" cxnId="{31F424A2-93AF-4715-A94C-82F6BEEC3C31}">
      <dgm:prSet/>
      <dgm:spPr/>
      <dgm:t>
        <a:bodyPr/>
        <a:lstStyle/>
        <a:p>
          <a:endParaRPr lang="en-GB" sz="2000"/>
        </a:p>
      </dgm:t>
    </dgm:pt>
    <dgm:pt modelId="{396C39DE-1761-4B52-8B16-B8318DEDAD62}" type="sibTrans" cxnId="{31F424A2-93AF-4715-A94C-82F6BEEC3C31}">
      <dgm:prSet/>
      <dgm:spPr/>
      <dgm:t>
        <a:bodyPr/>
        <a:lstStyle/>
        <a:p>
          <a:endParaRPr lang="en-GB" sz="2000"/>
        </a:p>
      </dgm:t>
    </dgm:pt>
    <dgm:pt modelId="{9D891D68-6AF8-49CD-9A6B-51C676559168}">
      <dgm:prSet custT="1"/>
      <dgm:spPr/>
      <dgm:t>
        <a:bodyPr/>
        <a:lstStyle/>
        <a:p>
          <a:pPr rtl="0"/>
          <a:r>
            <a:rPr lang="en-US" sz="1600" dirty="0"/>
            <a:t>Value/Replacement Cost (Tobin’s Q)</a:t>
          </a:r>
          <a:endParaRPr lang="en-GB" sz="1600" dirty="0"/>
        </a:p>
      </dgm:t>
    </dgm:pt>
    <dgm:pt modelId="{9DF90752-4306-403D-94E1-D4540C7ED568}" type="parTrans" cxnId="{661320C8-BF2A-4337-B579-4B10E6338B69}">
      <dgm:prSet/>
      <dgm:spPr/>
      <dgm:t>
        <a:bodyPr/>
        <a:lstStyle/>
        <a:p>
          <a:endParaRPr lang="en-GB" sz="2000"/>
        </a:p>
      </dgm:t>
    </dgm:pt>
    <dgm:pt modelId="{D4A99AA7-9F2F-40FA-A007-0760D349A6AF}" type="sibTrans" cxnId="{661320C8-BF2A-4337-B579-4B10E6338B69}">
      <dgm:prSet/>
      <dgm:spPr/>
      <dgm:t>
        <a:bodyPr/>
        <a:lstStyle/>
        <a:p>
          <a:endParaRPr lang="en-GB" sz="2000"/>
        </a:p>
      </dgm:t>
    </dgm:pt>
    <dgm:pt modelId="{59A9C7DC-85DE-4EFF-A11F-10ADEEC70CCD}">
      <dgm:prSet custT="1"/>
      <dgm:spPr/>
      <dgm:t>
        <a:bodyPr/>
        <a:lstStyle/>
        <a:p>
          <a:pPr rtl="0"/>
          <a:r>
            <a:rPr lang="en-US" sz="2800" dirty="0"/>
            <a:t>Revenues</a:t>
          </a:r>
          <a:endParaRPr lang="en-GB" sz="2800" dirty="0"/>
        </a:p>
      </dgm:t>
    </dgm:pt>
    <dgm:pt modelId="{5D091EF4-CDEC-4D20-82A2-53B8BD201067}" type="parTrans" cxnId="{F68DD8B0-206C-4807-B5B9-EFC2491A8FC7}">
      <dgm:prSet/>
      <dgm:spPr/>
      <dgm:t>
        <a:bodyPr/>
        <a:lstStyle/>
        <a:p>
          <a:endParaRPr lang="en-GB" sz="2000"/>
        </a:p>
      </dgm:t>
    </dgm:pt>
    <dgm:pt modelId="{3C72DCF8-2E3F-4423-8B31-8D4B701622AB}" type="sibTrans" cxnId="{F68DD8B0-206C-4807-B5B9-EFC2491A8FC7}">
      <dgm:prSet/>
      <dgm:spPr/>
      <dgm:t>
        <a:bodyPr/>
        <a:lstStyle/>
        <a:p>
          <a:endParaRPr lang="en-GB" sz="2000"/>
        </a:p>
      </dgm:t>
    </dgm:pt>
    <dgm:pt modelId="{889709FF-5BA1-466E-AF1A-F639D4035F79}">
      <dgm:prSet custT="1"/>
      <dgm:spPr/>
      <dgm:t>
        <a:bodyPr/>
        <a:lstStyle/>
        <a:p>
          <a:pPr rtl="0"/>
          <a:r>
            <a:rPr lang="en-US" sz="1600" dirty="0"/>
            <a:t>Price/Sales per Share (PS)</a:t>
          </a:r>
          <a:endParaRPr lang="en-GB" sz="1600" dirty="0"/>
        </a:p>
      </dgm:t>
    </dgm:pt>
    <dgm:pt modelId="{8E02C99F-3D78-4771-A55F-EF346C7868B0}" type="parTrans" cxnId="{7DDB13F1-1A09-434A-8263-2CA814F2F09D}">
      <dgm:prSet/>
      <dgm:spPr/>
      <dgm:t>
        <a:bodyPr/>
        <a:lstStyle/>
        <a:p>
          <a:endParaRPr lang="en-GB" sz="2000"/>
        </a:p>
      </dgm:t>
    </dgm:pt>
    <dgm:pt modelId="{08779B55-DE5E-4C0D-90DE-C3D972B5B63F}" type="sibTrans" cxnId="{7DDB13F1-1A09-434A-8263-2CA814F2F09D}">
      <dgm:prSet/>
      <dgm:spPr/>
      <dgm:t>
        <a:bodyPr/>
        <a:lstStyle/>
        <a:p>
          <a:endParaRPr lang="en-GB" sz="2000"/>
        </a:p>
      </dgm:t>
    </dgm:pt>
    <dgm:pt modelId="{013AA548-F33A-4DDF-B6D4-B5279C0386E3}">
      <dgm:prSet custT="1"/>
      <dgm:spPr/>
      <dgm:t>
        <a:bodyPr/>
        <a:lstStyle/>
        <a:p>
          <a:pPr rtl="0"/>
          <a:r>
            <a:rPr lang="en-US" sz="1600" dirty="0"/>
            <a:t>Value/Sales</a:t>
          </a:r>
          <a:endParaRPr lang="en-GB" sz="1600" dirty="0"/>
        </a:p>
      </dgm:t>
    </dgm:pt>
    <dgm:pt modelId="{9E90160A-6181-452D-B7F1-6E7A112A68B7}" type="parTrans" cxnId="{2C898F10-D7F7-44B0-9BE5-CD0AADEB74C5}">
      <dgm:prSet/>
      <dgm:spPr/>
      <dgm:t>
        <a:bodyPr/>
        <a:lstStyle/>
        <a:p>
          <a:endParaRPr lang="en-GB" sz="2000"/>
        </a:p>
      </dgm:t>
    </dgm:pt>
    <dgm:pt modelId="{6CACA449-10C9-42E9-97DC-91E7774237C4}" type="sibTrans" cxnId="{2C898F10-D7F7-44B0-9BE5-CD0AADEB74C5}">
      <dgm:prSet/>
      <dgm:spPr/>
      <dgm:t>
        <a:bodyPr/>
        <a:lstStyle/>
        <a:p>
          <a:endParaRPr lang="en-GB" sz="2000"/>
        </a:p>
      </dgm:t>
    </dgm:pt>
    <dgm:pt modelId="{EDF7C5C2-A9BA-4CC1-A4DC-EACD76FD763C}">
      <dgm:prSet custT="1"/>
      <dgm:spPr/>
      <dgm:t>
        <a:bodyPr/>
        <a:lstStyle/>
        <a:p>
          <a:pPr rtl="0"/>
          <a:r>
            <a:rPr lang="en-US" sz="2800" dirty="0"/>
            <a:t>Industry Specific</a:t>
          </a:r>
          <a:endParaRPr lang="en-GB" sz="2800" dirty="0"/>
        </a:p>
      </dgm:t>
    </dgm:pt>
    <dgm:pt modelId="{C3F28D1C-3CCA-4011-BFA2-805E11C3542E}" type="parTrans" cxnId="{6CAF4DB2-6E1E-4FB2-94B3-338D37F1776D}">
      <dgm:prSet/>
      <dgm:spPr/>
      <dgm:t>
        <a:bodyPr/>
        <a:lstStyle/>
        <a:p>
          <a:endParaRPr lang="en-GB" sz="2000"/>
        </a:p>
      </dgm:t>
    </dgm:pt>
    <dgm:pt modelId="{A0530865-D788-4699-A202-764B6EC9F3E7}" type="sibTrans" cxnId="{6CAF4DB2-6E1E-4FB2-94B3-338D37F1776D}">
      <dgm:prSet/>
      <dgm:spPr/>
      <dgm:t>
        <a:bodyPr/>
        <a:lstStyle/>
        <a:p>
          <a:endParaRPr lang="en-GB" sz="2000"/>
        </a:p>
      </dgm:t>
    </dgm:pt>
    <dgm:pt modelId="{F932410D-2151-4296-81C5-0D731FA62771}">
      <dgm:prSet custT="1"/>
      <dgm:spPr/>
      <dgm:t>
        <a:bodyPr/>
        <a:lstStyle/>
        <a:p>
          <a:pPr rtl="0"/>
          <a:r>
            <a:rPr lang="en-US" sz="1600" dirty="0"/>
            <a:t>Price/</a:t>
          </a:r>
          <a:r>
            <a:rPr lang="en-US" sz="1600" dirty="0" err="1"/>
            <a:t>kwh</a:t>
          </a:r>
          <a:r>
            <a:rPr lang="en-US" sz="1600" dirty="0"/>
            <a:t>, </a:t>
          </a:r>
          <a:endParaRPr lang="en-GB" sz="1600" dirty="0"/>
        </a:p>
      </dgm:t>
    </dgm:pt>
    <dgm:pt modelId="{0696C587-B79D-419C-8DD0-AEFB917E4DBD}" type="parTrans" cxnId="{BE421F0C-2139-405B-95EF-52A6CE0C85CE}">
      <dgm:prSet/>
      <dgm:spPr/>
      <dgm:t>
        <a:bodyPr/>
        <a:lstStyle/>
        <a:p>
          <a:endParaRPr lang="en-GB" sz="2000"/>
        </a:p>
      </dgm:t>
    </dgm:pt>
    <dgm:pt modelId="{5ABD60B5-959A-43FF-B32F-19792EEC8D8D}" type="sibTrans" cxnId="{BE421F0C-2139-405B-95EF-52A6CE0C85CE}">
      <dgm:prSet/>
      <dgm:spPr/>
      <dgm:t>
        <a:bodyPr/>
        <a:lstStyle/>
        <a:p>
          <a:endParaRPr lang="en-GB" sz="2000"/>
        </a:p>
      </dgm:t>
    </dgm:pt>
    <dgm:pt modelId="{F25D7BC2-1593-423C-A3EA-2B5D843CABA2}">
      <dgm:prSet custT="1"/>
      <dgm:spPr/>
      <dgm:t>
        <a:bodyPr/>
        <a:lstStyle/>
        <a:p>
          <a:pPr rtl="0"/>
          <a:r>
            <a:rPr lang="en-US" sz="1600" dirty="0"/>
            <a:t>Price per ton of steel ....</a:t>
          </a:r>
          <a:endParaRPr lang="en-GB" sz="1600" dirty="0"/>
        </a:p>
      </dgm:t>
    </dgm:pt>
    <dgm:pt modelId="{2D5CA3B8-D40C-4566-850E-1D20B866DBD2}" type="parTrans" cxnId="{F0874CF7-7CC9-46CE-B9CD-252087347293}">
      <dgm:prSet/>
      <dgm:spPr/>
      <dgm:t>
        <a:bodyPr/>
        <a:lstStyle/>
        <a:p>
          <a:endParaRPr lang="en-GB" sz="2000"/>
        </a:p>
      </dgm:t>
    </dgm:pt>
    <dgm:pt modelId="{CD76DEFB-45E5-40F9-824A-4F4787BDCCF6}" type="sibTrans" cxnId="{F0874CF7-7CC9-46CE-B9CD-252087347293}">
      <dgm:prSet/>
      <dgm:spPr/>
      <dgm:t>
        <a:bodyPr/>
        <a:lstStyle/>
        <a:p>
          <a:endParaRPr lang="en-GB" sz="2000"/>
        </a:p>
      </dgm:t>
    </dgm:pt>
    <dgm:pt modelId="{544C3FA5-8353-4195-905A-21AB1624B37D}" type="pres">
      <dgm:prSet presAssocID="{12979C8E-EB79-4E91-9055-51B656FF85F1}" presName="theList" presStyleCnt="0">
        <dgm:presLayoutVars>
          <dgm:dir/>
          <dgm:animLvl val="lvl"/>
          <dgm:resizeHandles val="exact"/>
        </dgm:presLayoutVars>
      </dgm:prSet>
      <dgm:spPr/>
    </dgm:pt>
    <dgm:pt modelId="{D7487848-C52D-4509-A927-85683BFE52FB}" type="pres">
      <dgm:prSet presAssocID="{CF23C833-2E92-4BBF-A15F-3A2DA0E828B8}" presName="compNode" presStyleCnt="0"/>
      <dgm:spPr/>
    </dgm:pt>
    <dgm:pt modelId="{A6084174-FB84-45E3-B219-F47694628E1B}" type="pres">
      <dgm:prSet presAssocID="{CF23C833-2E92-4BBF-A15F-3A2DA0E828B8}" presName="aNode" presStyleLbl="bgShp" presStyleIdx="0" presStyleCnt="4"/>
      <dgm:spPr/>
    </dgm:pt>
    <dgm:pt modelId="{8C1545F6-4603-4638-B745-0641F875B1D1}" type="pres">
      <dgm:prSet presAssocID="{CF23C833-2E92-4BBF-A15F-3A2DA0E828B8}" presName="textNode" presStyleLbl="bgShp" presStyleIdx="0" presStyleCnt="4"/>
      <dgm:spPr/>
    </dgm:pt>
    <dgm:pt modelId="{392EAE5F-5B8C-4B32-B6A0-92A9971E1692}" type="pres">
      <dgm:prSet presAssocID="{CF23C833-2E92-4BBF-A15F-3A2DA0E828B8}" presName="compChildNode" presStyleCnt="0"/>
      <dgm:spPr/>
    </dgm:pt>
    <dgm:pt modelId="{D350ED2A-2C35-4108-BE4C-6B1CA60D673B}" type="pres">
      <dgm:prSet presAssocID="{CF23C833-2E92-4BBF-A15F-3A2DA0E828B8}" presName="theInnerList" presStyleCnt="0"/>
      <dgm:spPr/>
    </dgm:pt>
    <dgm:pt modelId="{22F2A4D6-06F1-470A-AF5B-D444A58D24B8}" type="pres">
      <dgm:prSet presAssocID="{C53E3FE0-31BE-49FD-9F6B-5D3D56FD64C9}" presName="childNode" presStyleLbl="node1" presStyleIdx="0" presStyleCnt="11" custScaleY="368461">
        <dgm:presLayoutVars>
          <dgm:bulletEnabled val="1"/>
        </dgm:presLayoutVars>
      </dgm:prSet>
      <dgm:spPr/>
    </dgm:pt>
    <dgm:pt modelId="{C6CBB4C8-DF1C-4D23-8D5C-2805810617C1}" type="pres">
      <dgm:prSet presAssocID="{C53E3FE0-31BE-49FD-9F6B-5D3D56FD64C9}" presName="aSpace2" presStyleCnt="0"/>
      <dgm:spPr/>
    </dgm:pt>
    <dgm:pt modelId="{0D69FC67-5DD6-462F-92A5-9129488F25B6}" type="pres">
      <dgm:prSet presAssocID="{DC2F5561-945B-4362-8237-9189EBAAE0F4}" presName="childNode" presStyleLbl="node1" presStyleIdx="1" presStyleCnt="11">
        <dgm:presLayoutVars>
          <dgm:bulletEnabled val="1"/>
        </dgm:presLayoutVars>
      </dgm:prSet>
      <dgm:spPr/>
    </dgm:pt>
    <dgm:pt modelId="{855AEAAA-AD70-4D32-9397-136723567274}" type="pres">
      <dgm:prSet presAssocID="{DC2F5561-945B-4362-8237-9189EBAAE0F4}" presName="aSpace2" presStyleCnt="0"/>
      <dgm:spPr/>
    </dgm:pt>
    <dgm:pt modelId="{1385830E-E6E4-4D93-B68C-7E32FE76FAC8}" type="pres">
      <dgm:prSet presAssocID="{31652B2F-ADF0-48D3-9ECB-46D07B8CE806}" presName="childNode" presStyleLbl="node1" presStyleIdx="2" presStyleCnt="11">
        <dgm:presLayoutVars>
          <dgm:bulletEnabled val="1"/>
        </dgm:presLayoutVars>
      </dgm:prSet>
      <dgm:spPr/>
    </dgm:pt>
    <dgm:pt modelId="{384A3BF5-2138-4106-894D-6DFD5EB4BB57}" type="pres">
      <dgm:prSet presAssocID="{31652B2F-ADF0-48D3-9ECB-46D07B8CE806}" presName="aSpace2" presStyleCnt="0"/>
      <dgm:spPr/>
    </dgm:pt>
    <dgm:pt modelId="{DC89E4B9-B5C5-4E1B-992E-378789F786BF}" type="pres">
      <dgm:prSet presAssocID="{EAC81400-57B1-48FA-888A-354506020E61}" presName="childNode" presStyleLbl="node1" presStyleIdx="3" presStyleCnt="11" custScaleY="163331">
        <dgm:presLayoutVars>
          <dgm:bulletEnabled val="1"/>
        </dgm:presLayoutVars>
      </dgm:prSet>
      <dgm:spPr/>
    </dgm:pt>
    <dgm:pt modelId="{85819DB0-EFEB-427D-BB26-B7B06305377E}" type="pres">
      <dgm:prSet presAssocID="{CF23C833-2E92-4BBF-A15F-3A2DA0E828B8}" presName="aSpace" presStyleCnt="0"/>
      <dgm:spPr/>
    </dgm:pt>
    <dgm:pt modelId="{C33D9518-D741-4479-9FB7-CDEC295AB913}" type="pres">
      <dgm:prSet presAssocID="{6125D43A-4410-4BBA-A540-894F87E2EE91}" presName="compNode" presStyleCnt="0"/>
      <dgm:spPr/>
    </dgm:pt>
    <dgm:pt modelId="{268B69EB-9AA0-43FB-9BBA-52BA90F1CE8B}" type="pres">
      <dgm:prSet presAssocID="{6125D43A-4410-4BBA-A540-894F87E2EE91}" presName="aNode" presStyleLbl="bgShp" presStyleIdx="1" presStyleCnt="4"/>
      <dgm:spPr/>
    </dgm:pt>
    <dgm:pt modelId="{DB951793-F051-41EE-80B0-364F34F7129D}" type="pres">
      <dgm:prSet presAssocID="{6125D43A-4410-4BBA-A540-894F87E2EE91}" presName="textNode" presStyleLbl="bgShp" presStyleIdx="1" presStyleCnt="4"/>
      <dgm:spPr/>
    </dgm:pt>
    <dgm:pt modelId="{7EF09A25-4A3B-4F1B-878F-35738EA89195}" type="pres">
      <dgm:prSet presAssocID="{6125D43A-4410-4BBA-A540-894F87E2EE91}" presName="compChildNode" presStyleCnt="0"/>
      <dgm:spPr/>
    </dgm:pt>
    <dgm:pt modelId="{6B802CFC-DB89-4D0B-81B0-4CEA9526129E}" type="pres">
      <dgm:prSet presAssocID="{6125D43A-4410-4BBA-A540-894F87E2EE91}" presName="theInnerList" presStyleCnt="0"/>
      <dgm:spPr/>
    </dgm:pt>
    <dgm:pt modelId="{4347914A-044C-4469-A716-6699F754F372}" type="pres">
      <dgm:prSet presAssocID="{270E2FA7-5974-4797-9D0C-F444A10EC4CB}" presName="childNode" presStyleLbl="node1" presStyleIdx="4" presStyleCnt="11" custScaleY="115724">
        <dgm:presLayoutVars>
          <dgm:bulletEnabled val="1"/>
        </dgm:presLayoutVars>
      </dgm:prSet>
      <dgm:spPr/>
    </dgm:pt>
    <dgm:pt modelId="{C4486890-2FC0-41AD-B7F8-4919BE64A173}" type="pres">
      <dgm:prSet presAssocID="{270E2FA7-5974-4797-9D0C-F444A10EC4CB}" presName="aSpace2" presStyleCnt="0"/>
      <dgm:spPr/>
    </dgm:pt>
    <dgm:pt modelId="{C9C77DEB-8AC2-4E4F-8B30-56B1D17C80E1}" type="pres">
      <dgm:prSet presAssocID="{7FA72F00-D51A-4AB9-9A6C-9CE0942D7406}" presName="childNode" presStyleLbl="node1" presStyleIdx="5" presStyleCnt="11">
        <dgm:presLayoutVars>
          <dgm:bulletEnabled val="1"/>
        </dgm:presLayoutVars>
      </dgm:prSet>
      <dgm:spPr/>
    </dgm:pt>
    <dgm:pt modelId="{97D0A996-F90B-496D-BEDC-2CC5ECE68AA6}" type="pres">
      <dgm:prSet presAssocID="{7FA72F00-D51A-4AB9-9A6C-9CE0942D7406}" presName="aSpace2" presStyleCnt="0"/>
      <dgm:spPr/>
    </dgm:pt>
    <dgm:pt modelId="{D1233E93-39E8-413C-AF4F-180E49A4128F}" type="pres">
      <dgm:prSet presAssocID="{9D891D68-6AF8-49CD-9A6B-51C676559168}" presName="childNode" presStyleLbl="node1" presStyleIdx="6" presStyleCnt="11">
        <dgm:presLayoutVars>
          <dgm:bulletEnabled val="1"/>
        </dgm:presLayoutVars>
      </dgm:prSet>
      <dgm:spPr/>
    </dgm:pt>
    <dgm:pt modelId="{1EF46135-5255-4459-92E8-3B7840FAC113}" type="pres">
      <dgm:prSet presAssocID="{6125D43A-4410-4BBA-A540-894F87E2EE91}" presName="aSpace" presStyleCnt="0"/>
      <dgm:spPr/>
    </dgm:pt>
    <dgm:pt modelId="{8E9379EB-8E84-4FF1-B5E1-ADC53F13E543}" type="pres">
      <dgm:prSet presAssocID="{59A9C7DC-85DE-4EFF-A11F-10ADEEC70CCD}" presName="compNode" presStyleCnt="0"/>
      <dgm:spPr/>
    </dgm:pt>
    <dgm:pt modelId="{7C0D5B29-B8A0-4F92-AAF5-CBC33F3AD249}" type="pres">
      <dgm:prSet presAssocID="{59A9C7DC-85DE-4EFF-A11F-10ADEEC70CCD}" presName="aNode" presStyleLbl="bgShp" presStyleIdx="2" presStyleCnt="4"/>
      <dgm:spPr/>
    </dgm:pt>
    <dgm:pt modelId="{7ACD153D-52C1-4C76-B89F-823A0E3B2D87}" type="pres">
      <dgm:prSet presAssocID="{59A9C7DC-85DE-4EFF-A11F-10ADEEC70CCD}" presName="textNode" presStyleLbl="bgShp" presStyleIdx="2" presStyleCnt="4"/>
      <dgm:spPr/>
    </dgm:pt>
    <dgm:pt modelId="{D3493F34-E056-4279-8B93-E57C4F9F9FFB}" type="pres">
      <dgm:prSet presAssocID="{59A9C7DC-85DE-4EFF-A11F-10ADEEC70CCD}" presName="compChildNode" presStyleCnt="0"/>
      <dgm:spPr/>
    </dgm:pt>
    <dgm:pt modelId="{DB476043-A6DD-47CD-9E39-8D38B0E84839}" type="pres">
      <dgm:prSet presAssocID="{59A9C7DC-85DE-4EFF-A11F-10ADEEC70CCD}" presName="theInnerList" presStyleCnt="0"/>
      <dgm:spPr/>
    </dgm:pt>
    <dgm:pt modelId="{BED5EB0E-FB94-4370-9614-E6436419BA64}" type="pres">
      <dgm:prSet presAssocID="{889709FF-5BA1-466E-AF1A-F639D4035F79}" presName="childNode" presStyleLbl="node1" presStyleIdx="7" presStyleCnt="11">
        <dgm:presLayoutVars>
          <dgm:bulletEnabled val="1"/>
        </dgm:presLayoutVars>
      </dgm:prSet>
      <dgm:spPr/>
    </dgm:pt>
    <dgm:pt modelId="{FD81E855-7DFB-4261-8D64-12D49DDC56E4}" type="pres">
      <dgm:prSet presAssocID="{889709FF-5BA1-466E-AF1A-F639D4035F79}" presName="aSpace2" presStyleCnt="0"/>
      <dgm:spPr/>
    </dgm:pt>
    <dgm:pt modelId="{1331B81E-EF74-4077-8FED-14BF583B3F53}" type="pres">
      <dgm:prSet presAssocID="{013AA548-F33A-4DDF-B6D4-B5279C0386E3}" presName="childNode" presStyleLbl="node1" presStyleIdx="8" presStyleCnt="11">
        <dgm:presLayoutVars>
          <dgm:bulletEnabled val="1"/>
        </dgm:presLayoutVars>
      </dgm:prSet>
      <dgm:spPr/>
    </dgm:pt>
    <dgm:pt modelId="{1FB1161B-68C6-42E7-AE22-EBE25A656BBE}" type="pres">
      <dgm:prSet presAssocID="{59A9C7DC-85DE-4EFF-A11F-10ADEEC70CCD}" presName="aSpace" presStyleCnt="0"/>
      <dgm:spPr/>
    </dgm:pt>
    <dgm:pt modelId="{F492422B-38C9-4C72-8C53-F46C6F4BDFA9}" type="pres">
      <dgm:prSet presAssocID="{EDF7C5C2-A9BA-4CC1-A4DC-EACD76FD763C}" presName="compNode" presStyleCnt="0"/>
      <dgm:spPr/>
    </dgm:pt>
    <dgm:pt modelId="{8512A87F-5BD6-412A-B894-D91DDC883042}" type="pres">
      <dgm:prSet presAssocID="{EDF7C5C2-A9BA-4CC1-A4DC-EACD76FD763C}" presName="aNode" presStyleLbl="bgShp" presStyleIdx="3" presStyleCnt="4"/>
      <dgm:spPr/>
    </dgm:pt>
    <dgm:pt modelId="{7C0D2E23-1651-4130-9BD9-D069DA3151F5}" type="pres">
      <dgm:prSet presAssocID="{EDF7C5C2-A9BA-4CC1-A4DC-EACD76FD763C}" presName="textNode" presStyleLbl="bgShp" presStyleIdx="3" presStyleCnt="4"/>
      <dgm:spPr/>
    </dgm:pt>
    <dgm:pt modelId="{5631F576-86D7-4925-B8DC-50993302FEF5}" type="pres">
      <dgm:prSet presAssocID="{EDF7C5C2-A9BA-4CC1-A4DC-EACD76FD763C}" presName="compChildNode" presStyleCnt="0"/>
      <dgm:spPr/>
    </dgm:pt>
    <dgm:pt modelId="{FF5C438F-C977-4BA7-A65B-2555ECE77D37}" type="pres">
      <dgm:prSet presAssocID="{EDF7C5C2-A9BA-4CC1-A4DC-EACD76FD763C}" presName="theInnerList" presStyleCnt="0"/>
      <dgm:spPr/>
    </dgm:pt>
    <dgm:pt modelId="{AED171A0-5310-408C-8184-B7158BFFC570}" type="pres">
      <dgm:prSet presAssocID="{F932410D-2151-4296-81C5-0D731FA62771}" presName="childNode" presStyleLbl="node1" presStyleIdx="9" presStyleCnt="11">
        <dgm:presLayoutVars>
          <dgm:bulletEnabled val="1"/>
        </dgm:presLayoutVars>
      </dgm:prSet>
      <dgm:spPr/>
    </dgm:pt>
    <dgm:pt modelId="{86F0BA46-52A4-4FE1-B5AF-37BA72056181}" type="pres">
      <dgm:prSet presAssocID="{F932410D-2151-4296-81C5-0D731FA62771}" presName="aSpace2" presStyleCnt="0"/>
      <dgm:spPr/>
    </dgm:pt>
    <dgm:pt modelId="{066CF19D-5C3C-45DE-B303-076CADE13C09}" type="pres">
      <dgm:prSet presAssocID="{F25D7BC2-1593-423C-A3EA-2B5D843CABA2}" presName="childNode" presStyleLbl="node1" presStyleIdx="10" presStyleCnt="11">
        <dgm:presLayoutVars>
          <dgm:bulletEnabled val="1"/>
        </dgm:presLayoutVars>
      </dgm:prSet>
      <dgm:spPr/>
    </dgm:pt>
  </dgm:ptLst>
  <dgm:cxnLst>
    <dgm:cxn modelId="{053F5005-31FF-45F4-9598-69AADE88BA2C}" srcId="{12979C8E-EB79-4E91-9055-51B656FF85F1}" destId="{CF23C833-2E92-4BBF-A15F-3A2DA0E828B8}" srcOrd="0" destOrd="0" parTransId="{1A02D81F-D6BD-4B7C-8140-D3A7D1669F3B}" sibTransId="{11FEA24A-167A-4638-B86A-CA1070916A8A}"/>
    <dgm:cxn modelId="{BE421F0C-2139-405B-95EF-52A6CE0C85CE}" srcId="{EDF7C5C2-A9BA-4CC1-A4DC-EACD76FD763C}" destId="{F932410D-2151-4296-81C5-0D731FA62771}" srcOrd="0" destOrd="0" parTransId="{0696C587-B79D-419C-8DD0-AEFB917E4DBD}" sibTransId="{5ABD60B5-959A-43FF-B32F-19792EEC8D8D}"/>
    <dgm:cxn modelId="{2C898F10-D7F7-44B0-9BE5-CD0AADEB74C5}" srcId="{59A9C7DC-85DE-4EFF-A11F-10ADEEC70CCD}" destId="{013AA548-F33A-4DDF-B6D4-B5279C0386E3}" srcOrd="1" destOrd="0" parTransId="{9E90160A-6181-452D-B7F1-6E7A112A68B7}" sibTransId="{6CACA449-10C9-42E9-97DC-91E7774237C4}"/>
    <dgm:cxn modelId="{2C1A3C1A-E7F8-4124-951B-66920D0D2714}" type="presOf" srcId="{CF23C833-2E92-4BBF-A15F-3A2DA0E828B8}" destId="{8C1545F6-4603-4638-B745-0641F875B1D1}" srcOrd="1" destOrd="0" presId="urn:microsoft.com/office/officeart/2005/8/layout/lProcess2"/>
    <dgm:cxn modelId="{B4453126-DA3D-4A00-85E5-DEA7EF1AEFEB}" type="presOf" srcId="{270E2FA7-5974-4797-9D0C-F444A10EC4CB}" destId="{4347914A-044C-4469-A716-6699F754F372}" srcOrd="0" destOrd="0" presId="urn:microsoft.com/office/officeart/2005/8/layout/lProcess2"/>
    <dgm:cxn modelId="{6ADB6C28-C47C-4FC8-8AD2-1D41DFF371EB}" type="presOf" srcId="{6125D43A-4410-4BBA-A540-894F87E2EE91}" destId="{268B69EB-9AA0-43FB-9BBA-52BA90F1CE8B}" srcOrd="0" destOrd="0" presId="urn:microsoft.com/office/officeart/2005/8/layout/lProcess2"/>
    <dgm:cxn modelId="{D0E26F2E-0854-499C-BBB8-EA025B976489}" srcId="{CF23C833-2E92-4BBF-A15F-3A2DA0E828B8}" destId="{31652B2F-ADF0-48D3-9ECB-46D07B8CE806}" srcOrd="2" destOrd="0" parTransId="{80E0914E-BE2B-4399-8758-ECE4692252CB}" sibTransId="{368AE6B2-7656-4EAE-A286-E0CD9FC57721}"/>
    <dgm:cxn modelId="{0152E535-F25A-4879-8467-CA3BB99F6E1E}" type="presOf" srcId="{013AA548-F33A-4DDF-B6D4-B5279C0386E3}" destId="{1331B81E-EF74-4077-8FED-14BF583B3F53}" srcOrd="0" destOrd="0" presId="urn:microsoft.com/office/officeart/2005/8/layout/lProcess2"/>
    <dgm:cxn modelId="{8A091837-4F64-49BD-BBB3-68ABF957FA6D}" type="presOf" srcId="{6125D43A-4410-4BBA-A540-894F87E2EE91}" destId="{DB951793-F051-41EE-80B0-364F34F7129D}" srcOrd="1" destOrd="0" presId="urn:microsoft.com/office/officeart/2005/8/layout/lProcess2"/>
    <dgm:cxn modelId="{95C6DC3A-14C3-4ADD-8FDD-AF43C2C122DD}" type="presOf" srcId="{DC2F5561-945B-4362-8237-9189EBAAE0F4}" destId="{0D69FC67-5DD6-462F-92A5-9129488F25B6}" srcOrd="0" destOrd="0" presId="urn:microsoft.com/office/officeart/2005/8/layout/lProcess2"/>
    <dgm:cxn modelId="{91E9493B-678C-477C-8AA5-D5897A6BBF70}" type="presOf" srcId="{F25D7BC2-1593-423C-A3EA-2B5D843CABA2}" destId="{066CF19D-5C3C-45DE-B303-076CADE13C09}" srcOrd="0" destOrd="0" presId="urn:microsoft.com/office/officeart/2005/8/layout/lProcess2"/>
    <dgm:cxn modelId="{531A3240-6ECC-457E-BDE8-A8D3954151AC}" srcId="{CF23C833-2E92-4BBF-A15F-3A2DA0E828B8}" destId="{EAC81400-57B1-48FA-888A-354506020E61}" srcOrd="3" destOrd="0" parTransId="{BC7EACFC-9357-4CE6-AEB9-14D49271E789}" sibTransId="{A770911E-43A2-4EA9-BB1E-66218BEA26C5}"/>
    <dgm:cxn modelId="{7A56355C-580B-4AB4-B210-CBCBE19B1885}" type="presOf" srcId="{EDF7C5C2-A9BA-4CC1-A4DC-EACD76FD763C}" destId="{8512A87F-5BD6-412A-B894-D91DDC883042}" srcOrd="0" destOrd="0" presId="urn:microsoft.com/office/officeart/2005/8/layout/lProcess2"/>
    <dgm:cxn modelId="{A333C763-98C7-4BED-8D7E-56FA1DAAE012}" type="presOf" srcId="{EDF7C5C2-A9BA-4CC1-A4DC-EACD76FD763C}" destId="{7C0D2E23-1651-4130-9BD9-D069DA3151F5}" srcOrd="1" destOrd="0" presId="urn:microsoft.com/office/officeart/2005/8/layout/lProcess2"/>
    <dgm:cxn modelId="{6AC27147-8551-4F7C-8977-45566E96B92F}" type="presOf" srcId="{9D891D68-6AF8-49CD-9A6B-51C676559168}" destId="{D1233E93-39E8-413C-AF4F-180E49A4128F}" srcOrd="0" destOrd="0" presId="urn:microsoft.com/office/officeart/2005/8/layout/lProcess2"/>
    <dgm:cxn modelId="{FA0F3854-D9F0-4765-B17A-7B96BEEC67A7}" type="presOf" srcId="{889709FF-5BA1-466E-AF1A-F639D4035F79}" destId="{BED5EB0E-FB94-4370-9614-E6436419BA64}" srcOrd="0" destOrd="0" presId="urn:microsoft.com/office/officeart/2005/8/layout/lProcess2"/>
    <dgm:cxn modelId="{BA820E77-5B92-44DE-800F-4EA090182B8A}" type="presOf" srcId="{12979C8E-EB79-4E91-9055-51B656FF85F1}" destId="{544C3FA5-8353-4195-905A-21AB1624B37D}" srcOrd="0" destOrd="0" presId="urn:microsoft.com/office/officeart/2005/8/layout/lProcess2"/>
    <dgm:cxn modelId="{53367679-BF7B-4E6C-9168-4DB90AA1FFFA}" type="presOf" srcId="{EAC81400-57B1-48FA-888A-354506020E61}" destId="{DC89E4B9-B5C5-4E1B-992E-378789F786BF}" srcOrd="0" destOrd="0" presId="urn:microsoft.com/office/officeart/2005/8/layout/lProcess2"/>
    <dgm:cxn modelId="{A18FB2A1-CBFA-4B5C-8B50-8A0656926125}" type="presOf" srcId="{59A9C7DC-85DE-4EFF-A11F-10ADEEC70CCD}" destId="{7C0D5B29-B8A0-4F92-AAF5-CBC33F3AD249}" srcOrd="0" destOrd="0" presId="urn:microsoft.com/office/officeart/2005/8/layout/lProcess2"/>
    <dgm:cxn modelId="{31F424A2-93AF-4715-A94C-82F6BEEC3C31}" srcId="{6125D43A-4410-4BBA-A540-894F87E2EE91}" destId="{7FA72F00-D51A-4AB9-9A6C-9CE0942D7406}" srcOrd="1" destOrd="0" parTransId="{D5EF278B-3FC6-4CC3-B2DE-DC8D19644AF5}" sibTransId="{396C39DE-1761-4B52-8B16-B8318DEDAD62}"/>
    <dgm:cxn modelId="{297F82A2-2317-4AEA-9982-A559FA04FF15}" type="presOf" srcId="{31652B2F-ADF0-48D3-9ECB-46D07B8CE806}" destId="{1385830E-E6E4-4D93-B68C-7E32FE76FAC8}" srcOrd="0" destOrd="0" presId="urn:microsoft.com/office/officeart/2005/8/layout/lProcess2"/>
    <dgm:cxn modelId="{F68DD8B0-206C-4807-B5B9-EFC2491A8FC7}" srcId="{12979C8E-EB79-4E91-9055-51B656FF85F1}" destId="{59A9C7DC-85DE-4EFF-A11F-10ADEEC70CCD}" srcOrd="2" destOrd="0" parTransId="{5D091EF4-CDEC-4D20-82A2-53B8BD201067}" sibTransId="{3C72DCF8-2E3F-4423-8B31-8D4B701622AB}"/>
    <dgm:cxn modelId="{6CAF4DB2-6E1E-4FB2-94B3-338D37F1776D}" srcId="{12979C8E-EB79-4E91-9055-51B656FF85F1}" destId="{EDF7C5C2-A9BA-4CC1-A4DC-EACD76FD763C}" srcOrd="3" destOrd="0" parTransId="{C3F28D1C-3CCA-4011-BFA2-805E11C3542E}" sibTransId="{A0530865-D788-4699-A202-764B6EC9F3E7}"/>
    <dgm:cxn modelId="{9A7B71C1-B518-40A4-8017-4A1EE3838365}" type="presOf" srcId="{59A9C7DC-85DE-4EFF-A11F-10ADEEC70CCD}" destId="{7ACD153D-52C1-4C76-B89F-823A0E3B2D87}" srcOrd="1" destOrd="0" presId="urn:microsoft.com/office/officeart/2005/8/layout/lProcess2"/>
    <dgm:cxn modelId="{6A34E4C3-15EF-40FC-B4B7-E0CF0A46B749}" srcId="{12979C8E-EB79-4E91-9055-51B656FF85F1}" destId="{6125D43A-4410-4BBA-A540-894F87E2EE91}" srcOrd="1" destOrd="0" parTransId="{32118CF0-4468-4223-BAAC-317F702743BA}" sibTransId="{AD9B8978-E6CD-4CF6-816B-97EE2EED93BC}"/>
    <dgm:cxn modelId="{DC77C0C4-0386-46CF-8ECA-9DC2118AA515}" type="presOf" srcId="{C53E3FE0-31BE-49FD-9F6B-5D3D56FD64C9}" destId="{22F2A4D6-06F1-470A-AF5B-D444A58D24B8}" srcOrd="0" destOrd="0" presId="urn:microsoft.com/office/officeart/2005/8/layout/lProcess2"/>
    <dgm:cxn modelId="{87F8ECC4-BC99-4FFD-8A14-28933CA35DB1}" type="presOf" srcId="{CF23C833-2E92-4BBF-A15F-3A2DA0E828B8}" destId="{A6084174-FB84-45E3-B219-F47694628E1B}" srcOrd="0" destOrd="0" presId="urn:microsoft.com/office/officeart/2005/8/layout/lProcess2"/>
    <dgm:cxn modelId="{661320C8-BF2A-4337-B579-4B10E6338B69}" srcId="{6125D43A-4410-4BBA-A540-894F87E2EE91}" destId="{9D891D68-6AF8-49CD-9A6B-51C676559168}" srcOrd="2" destOrd="0" parTransId="{9DF90752-4306-403D-94E1-D4540C7ED568}" sibTransId="{D4A99AA7-9F2F-40FA-A007-0760D349A6AF}"/>
    <dgm:cxn modelId="{2BF9EFCF-7BB1-4041-AA6D-BF428708069F}" srcId="{CF23C833-2E92-4BBF-A15F-3A2DA0E828B8}" destId="{C53E3FE0-31BE-49FD-9F6B-5D3D56FD64C9}" srcOrd="0" destOrd="0" parTransId="{9E126DF8-7C98-4F47-BACA-4276E5155D2E}" sibTransId="{A2CFB6DF-3D36-4B76-B823-93E08A1CDBB8}"/>
    <dgm:cxn modelId="{66AA82D1-BAA1-4B68-92F5-D14E4ABA2645}" type="presOf" srcId="{7FA72F00-D51A-4AB9-9A6C-9CE0942D7406}" destId="{C9C77DEB-8AC2-4E4F-8B30-56B1D17C80E1}" srcOrd="0" destOrd="0" presId="urn:microsoft.com/office/officeart/2005/8/layout/lProcess2"/>
    <dgm:cxn modelId="{194428D6-5867-4488-A231-F6D2A9E327A2}" srcId="{CF23C833-2E92-4BBF-A15F-3A2DA0E828B8}" destId="{DC2F5561-945B-4362-8237-9189EBAAE0F4}" srcOrd="1" destOrd="0" parTransId="{9854D061-23CD-4FAB-95CC-EEBDF16130FF}" sibTransId="{D36B38CC-A241-42FB-AA50-6897D8CB92D9}"/>
    <dgm:cxn modelId="{2EF180D6-94BC-4846-BE4B-02F4B46EF6C1}" type="presOf" srcId="{F932410D-2151-4296-81C5-0D731FA62771}" destId="{AED171A0-5310-408C-8184-B7158BFFC570}" srcOrd="0" destOrd="0" presId="urn:microsoft.com/office/officeart/2005/8/layout/lProcess2"/>
    <dgm:cxn modelId="{7DDB13F1-1A09-434A-8263-2CA814F2F09D}" srcId="{59A9C7DC-85DE-4EFF-A11F-10ADEEC70CCD}" destId="{889709FF-5BA1-466E-AF1A-F639D4035F79}" srcOrd="0" destOrd="0" parTransId="{8E02C99F-3D78-4771-A55F-EF346C7868B0}" sibTransId="{08779B55-DE5E-4C0D-90DE-C3D972B5B63F}"/>
    <dgm:cxn modelId="{F0874CF7-7CC9-46CE-B9CD-252087347293}" srcId="{EDF7C5C2-A9BA-4CC1-A4DC-EACD76FD763C}" destId="{F25D7BC2-1593-423C-A3EA-2B5D843CABA2}" srcOrd="1" destOrd="0" parTransId="{2D5CA3B8-D40C-4566-850E-1D20B866DBD2}" sibTransId="{CD76DEFB-45E5-40F9-824A-4F4787BDCCF6}"/>
    <dgm:cxn modelId="{52A674FE-055D-438C-918E-85CA8EDA3A4D}" srcId="{6125D43A-4410-4BBA-A540-894F87E2EE91}" destId="{270E2FA7-5974-4797-9D0C-F444A10EC4CB}" srcOrd="0" destOrd="0" parTransId="{0262BE20-55FD-4F7E-85AD-2419CE58DC06}" sibTransId="{70739F45-796B-4A20-80CC-A55080BF44FB}"/>
    <dgm:cxn modelId="{AC701D67-8A42-46E4-9AF1-E40B30931FB0}" type="presParOf" srcId="{544C3FA5-8353-4195-905A-21AB1624B37D}" destId="{D7487848-C52D-4509-A927-85683BFE52FB}" srcOrd="0" destOrd="0" presId="urn:microsoft.com/office/officeart/2005/8/layout/lProcess2"/>
    <dgm:cxn modelId="{69FD33DF-22A7-41B8-998F-543E78E034FB}" type="presParOf" srcId="{D7487848-C52D-4509-A927-85683BFE52FB}" destId="{A6084174-FB84-45E3-B219-F47694628E1B}" srcOrd="0" destOrd="0" presId="urn:microsoft.com/office/officeart/2005/8/layout/lProcess2"/>
    <dgm:cxn modelId="{E12CA90F-ED5D-4556-8544-C1B23D2308DF}" type="presParOf" srcId="{D7487848-C52D-4509-A927-85683BFE52FB}" destId="{8C1545F6-4603-4638-B745-0641F875B1D1}" srcOrd="1" destOrd="0" presId="urn:microsoft.com/office/officeart/2005/8/layout/lProcess2"/>
    <dgm:cxn modelId="{891F5E9E-5926-4508-BF35-8C2877D5474E}" type="presParOf" srcId="{D7487848-C52D-4509-A927-85683BFE52FB}" destId="{392EAE5F-5B8C-4B32-B6A0-92A9971E1692}" srcOrd="2" destOrd="0" presId="urn:microsoft.com/office/officeart/2005/8/layout/lProcess2"/>
    <dgm:cxn modelId="{86C46635-0746-4798-921C-E0A459302D38}" type="presParOf" srcId="{392EAE5F-5B8C-4B32-B6A0-92A9971E1692}" destId="{D350ED2A-2C35-4108-BE4C-6B1CA60D673B}" srcOrd="0" destOrd="0" presId="urn:microsoft.com/office/officeart/2005/8/layout/lProcess2"/>
    <dgm:cxn modelId="{886D178E-C440-4AA7-993D-28767EBCC710}" type="presParOf" srcId="{D350ED2A-2C35-4108-BE4C-6B1CA60D673B}" destId="{22F2A4D6-06F1-470A-AF5B-D444A58D24B8}" srcOrd="0" destOrd="0" presId="urn:microsoft.com/office/officeart/2005/8/layout/lProcess2"/>
    <dgm:cxn modelId="{25CA1CDF-3F22-463A-B630-7A3F5A61C1E6}" type="presParOf" srcId="{D350ED2A-2C35-4108-BE4C-6B1CA60D673B}" destId="{C6CBB4C8-DF1C-4D23-8D5C-2805810617C1}" srcOrd="1" destOrd="0" presId="urn:microsoft.com/office/officeart/2005/8/layout/lProcess2"/>
    <dgm:cxn modelId="{E9181A46-B2CB-48D6-964C-094018083CCD}" type="presParOf" srcId="{D350ED2A-2C35-4108-BE4C-6B1CA60D673B}" destId="{0D69FC67-5DD6-462F-92A5-9129488F25B6}" srcOrd="2" destOrd="0" presId="urn:microsoft.com/office/officeart/2005/8/layout/lProcess2"/>
    <dgm:cxn modelId="{D47B6445-163C-455B-ACF9-A7C4A5381F4A}" type="presParOf" srcId="{D350ED2A-2C35-4108-BE4C-6B1CA60D673B}" destId="{855AEAAA-AD70-4D32-9397-136723567274}" srcOrd="3" destOrd="0" presId="urn:microsoft.com/office/officeart/2005/8/layout/lProcess2"/>
    <dgm:cxn modelId="{51E9D5AC-FA9A-4889-94C6-A8AEDDD3B785}" type="presParOf" srcId="{D350ED2A-2C35-4108-BE4C-6B1CA60D673B}" destId="{1385830E-E6E4-4D93-B68C-7E32FE76FAC8}" srcOrd="4" destOrd="0" presId="urn:microsoft.com/office/officeart/2005/8/layout/lProcess2"/>
    <dgm:cxn modelId="{E649F8AD-F64F-4B70-8D7D-7BD3063B171F}" type="presParOf" srcId="{D350ED2A-2C35-4108-BE4C-6B1CA60D673B}" destId="{384A3BF5-2138-4106-894D-6DFD5EB4BB57}" srcOrd="5" destOrd="0" presId="urn:microsoft.com/office/officeart/2005/8/layout/lProcess2"/>
    <dgm:cxn modelId="{5BA8E5FE-0863-4E75-9933-908FA66CD3E9}" type="presParOf" srcId="{D350ED2A-2C35-4108-BE4C-6B1CA60D673B}" destId="{DC89E4B9-B5C5-4E1B-992E-378789F786BF}" srcOrd="6" destOrd="0" presId="urn:microsoft.com/office/officeart/2005/8/layout/lProcess2"/>
    <dgm:cxn modelId="{2D706A59-EDA8-4341-9112-DE611691A612}" type="presParOf" srcId="{544C3FA5-8353-4195-905A-21AB1624B37D}" destId="{85819DB0-EFEB-427D-BB26-B7B06305377E}" srcOrd="1" destOrd="0" presId="urn:microsoft.com/office/officeart/2005/8/layout/lProcess2"/>
    <dgm:cxn modelId="{54C76E96-712E-4807-89C2-2167447B09C6}" type="presParOf" srcId="{544C3FA5-8353-4195-905A-21AB1624B37D}" destId="{C33D9518-D741-4479-9FB7-CDEC295AB913}" srcOrd="2" destOrd="0" presId="urn:microsoft.com/office/officeart/2005/8/layout/lProcess2"/>
    <dgm:cxn modelId="{0718604F-98A8-4FA2-8405-292C30442BB7}" type="presParOf" srcId="{C33D9518-D741-4479-9FB7-CDEC295AB913}" destId="{268B69EB-9AA0-43FB-9BBA-52BA90F1CE8B}" srcOrd="0" destOrd="0" presId="urn:microsoft.com/office/officeart/2005/8/layout/lProcess2"/>
    <dgm:cxn modelId="{8508E9D8-1194-4E95-9DFD-F99F8C865766}" type="presParOf" srcId="{C33D9518-D741-4479-9FB7-CDEC295AB913}" destId="{DB951793-F051-41EE-80B0-364F34F7129D}" srcOrd="1" destOrd="0" presId="urn:microsoft.com/office/officeart/2005/8/layout/lProcess2"/>
    <dgm:cxn modelId="{7FDC5441-F32A-43A8-B924-197355028360}" type="presParOf" srcId="{C33D9518-D741-4479-9FB7-CDEC295AB913}" destId="{7EF09A25-4A3B-4F1B-878F-35738EA89195}" srcOrd="2" destOrd="0" presId="urn:microsoft.com/office/officeart/2005/8/layout/lProcess2"/>
    <dgm:cxn modelId="{274A6FCD-B6BC-4AFA-84DF-96A359503746}" type="presParOf" srcId="{7EF09A25-4A3B-4F1B-878F-35738EA89195}" destId="{6B802CFC-DB89-4D0B-81B0-4CEA9526129E}" srcOrd="0" destOrd="0" presId="urn:microsoft.com/office/officeart/2005/8/layout/lProcess2"/>
    <dgm:cxn modelId="{6AB8AACA-4E96-4AA5-AA09-C6C8F1008A76}" type="presParOf" srcId="{6B802CFC-DB89-4D0B-81B0-4CEA9526129E}" destId="{4347914A-044C-4469-A716-6699F754F372}" srcOrd="0" destOrd="0" presId="urn:microsoft.com/office/officeart/2005/8/layout/lProcess2"/>
    <dgm:cxn modelId="{6B6FE7D7-FF6A-4CF2-8651-4BEABB78A7E5}" type="presParOf" srcId="{6B802CFC-DB89-4D0B-81B0-4CEA9526129E}" destId="{C4486890-2FC0-41AD-B7F8-4919BE64A173}" srcOrd="1" destOrd="0" presId="urn:microsoft.com/office/officeart/2005/8/layout/lProcess2"/>
    <dgm:cxn modelId="{50DA1063-8E9E-416C-B379-86236C333D3C}" type="presParOf" srcId="{6B802CFC-DB89-4D0B-81B0-4CEA9526129E}" destId="{C9C77DEB-8AC2-4E4F-8B30-56B1D17C80E1}" srcOrd="2" destOrd="0" presId="urn:microsoft.com/office/officeart/2005/8/layout/lProcess2"/>
    <dgm:cxn modelId="{943BF0CD-CB6A-4FD1-8298-480FA02CD731}" type="presParOf" srcId="{6B802CFC-DB89-4D0B-81B0-4CEA9526129E}" destId="{97D0A996-F90B-496D-BEDC-2CC5ECE68AA6}" srcOrd="3" destOrd="0" presId="urn:microsoft.com/office/officeart/2005/8/layout/lProcess2"/>
    <dgm:cxn modelId="{0CD7C924-8FC7-484A-AC52-1A2A5F3E0705}" type="presParOf" srcId="{6B802CFC-DB89-4D0B-81B0-4CEA9526129E}" destId="{D1233E93-39E8-413C-AF4F-180E49A4128F}" srcOrd="4" destOrd="0" presId="urn:microsoft.com/office/officeart/2005/8/layout/lProcess2"/>
    <dgm:cxn modelId="{F2B26BA4-F82C-4813-B139-77E139A3C7DF}" type="presParOf" srcId="{544C3FA5-8353-4195-905A-21AB1624B37D}" destId="{1EF46135-5255-4459-92E8-3B7840FAC113}" srcOrd="3" destOrd="0" presId="urn:microsoft.com/office/officeart/2005/8/layout/lProcess2"/>
    <dgm:cxn modelId="{D4E0811F-38AE-4559-B5BB-E8201FBDA7A8}" type="presParOf" srcId="{544C3FA5-8353-4195-905A-21AB1624B37D}" destId="{8E9379EB-8E84-4FF1-B5E1-ADC53F13E543}" srcOrd="4" destOrd="0" presId="urn:microsoft.com/office/officeart/2005/8/layout/lProcess2"/>
    <dgm:cxn modelId="{15B93B88-04BA-4885-AA53-120A365F3D6C}" type="presParOf" srcId="{8E9379EB-8E84-4FF1-B5E1-ADC53F13E543}" destId="{7C0D5B29-B8A0-4F92-AAF5-CBC33F3AD249}" srcOrd="0" destOrd="0" presId="urn:microsoft.com/office/officeart/2005/8/layout/lProcess2"/>
    <dgm:cxn modelId="{4D3E119D-E6EE-4B1D-8DC2-05AD2CCBCDF6}" type="presParOf" srcId="{8E9379EB-8E84-4FF1-B5E1-ADC53F13E543}" destId="{7ACD153D-52C1-4C76-B89F-823A0E3B2D87}" srcOrd="1" destOrd="0" presId="urn:microsoft.com/office/officeart/2005/8/layout/lProcess2"/>
    <dgm:cxn modelId="{5B8AF7E6-ACD1-422B-A29A-A169126B4C3A}" type="presParOf" srcId="{8E9379EB-8E84-4FF1-B5E1-ADC53F13E543}" destId="{D3493F34-E056-4279-8B93-E57C4F9F9FFB}" srcOrd="2" destOrd="0" presId="urn:microsoft.com/office/officeart/2005/8/layout/lProcess2"/>
    <dgm:cxn modelId="{5C156BF4-A3FD-4276-AE6C-90B31B44A7AF}" type="presParOf" srcId="{D3493F34-E056-4279-8B93-E57C4F9F9FFB}" destId="{DB476043-A6DD-47CD-9E39-8D38B0E84839}" srcOrd="0" destOrd="0" presId="urn:microsoft.com/office/officeart/2005/8/layout/lProcess2"/>
    <dgm:cxn modelId="{CCC5A8ED-4D06-41E1-95A6-CBE18EFBB519}" type="presParOf" srcId="{DB476043-A6DD-47CD-9E39-8D38B0E84839}" destId="{BED5EB0E-FB94-4370-9614-E6436419BA64}" srcOrd="0" destOrd="0" presId="urn:microsoft.com/office/officeart/2005/8/layout/lProcess2"/>
    <dgm:cxn modelId="{AC2633C7-B480-45E6-8256-E55420959C3C}" type="presParOf" srcId="{DB476043-A6DD-47CD-9E39-8D38B0E84839}" destId="{FD81E855-7DFB-4261-8D64-12D49DDC56E4}" srcOrd="1" destOrd="0" presId="urn:microsoft.com/office/officeart/2005/8/layout/lProcess2"/>
    <dgm:cxn modelId="{C4098E8A-9A11-445B-A02D-3C8007E7B610}" type="presParOf" srcId="{DB476043-A6DD-47CD-9E39-8D38B0E84839}" destId="{1331B81E-EF74-4077-8FED-14BF583B3F53}" srcOrd="2" destOrd="0" presId="urn:microsoft.com/office/officeart/2005/8/layout/lProcess2"/>
    <dgm:cxn modelId="{3BCE0562-947F-49CC-B2CC-45F96BC039F1}" type="presParOf" srcId="{544C3FA5-8353-4195-905A-21AB1624B37D}" destId="{1FB1161B-68C6-42E7-AE22-EBE25A656BBE}" srcOrd="5" destOrd="0" presId="urn:microsoft.com/office/officeart/2005/8/layout/lProcess2"/>
    <dgm:cxn modelId="{51BE2112-4642-49FB-942B-DD600C42943C}" type="presParOf" srcId="{544C3FA5-8353-4195-905A-21AB1624B37D}" destId="{F492422B-38C9-4C72-8C53-F46C6F4BDFA9}" srcOrd="6" destOrd="0" presId="urn:microsoft.com/office/officeart/2005/8/layout/lProcess2"/>
    <dgm:cxn modelId="{CB4A3D36-E6D4-4D6B-8925-69F66D4E61F0}" type="presParOf" srcId="{F492422B-38C9-4C72-8C53-F46C6F4BDFA9}" destId="{8512A87F-5BD6-412A-B894-D91DDC883042}" srcOrd="0" destOrd="0" presId="urn:microsoft.com/office/officeart/2005/8/layout/lProcess2"/>
    <dgm:cxn modelId="{AEF46399-3CC1-4FE5-98B4-E55271DC141A}" type="presParOf" srcId="{F492422B-38C9-4C72-8C53-F46C6F4BDFA9}" destId="{7C0D2E23-1651-4130-9BD9-D069DA3151F5}" srcOrd="1" destOrd="0" presId="urn:microsoft.com/office/officeart/2005/8/layout/lProcess2"/>
    <dgm:cxn modelId="{A4B01D89-A06C-49B3-AA97-6498DC6B1135}" type="presParOf" srcId="{F492422B-38C9-4C72-8C53-F46C6F4BDFA9}" destId="{5631F576-86D7-4925-B8DC-50993302FEF5}" srcOrd="2" destOrd="0" presId="urn:microsoft.com/office/officeart/2005/8/layout/lProcess2"/>
    <dgm:cxn modelId="{8DA1B84C-7D33-481A-A625-2C1EAC6FB401}" type="presParOf" srcId="{5631F576-86D7-4925-B8DC-50993302FEF5}" destId="{FF5C438F-C977-4BA7-A65B-2555ECE77D37}" srcOrd="0" destOrd="0" presId="urn:microsoft.com/office/officeart/2005/8/layout/lProcess2"/>
    <dgm:cxn modelId="{3C57473A-13D4-49C1-94CF-96741854808F}" type="presParOf" srcId="{FF5C438F-C977-4BA7-A65B-2555ECE77D37}" destId="{AED171A0-5310-408C-8184-B7158BFFC570}" srcOrd="0" destOrd="0" presId="urn:microsoft.com/office/officeart/2005/8/layout/lProcess2"/>
    <dgm:cxn modelId="{522166CB-7065-4DAD-8469-8C5F6492BFF5}" type="presParOf" srcId="{FF5C438F-C977-4BA7-A65B-2555ECE77D37}" destId="{86F0BA46-52A4-4FE1-B5AF-37BA72056181}" srcOrd="1" destOrd="0" presId="urn:microsoft.com/office/officeart/2005/8/layout/lProcess2"/>
    <dgm:cxn modelId="{6E9E0B73-675E-480D-BE95-24EBE0EA49AB}" type="presParOf" srcId="{FF5C438F-C977-4BA7-A65B-2555ECE77D37}" destId="{066CF19D-5C3C-45DE-B303-076CADE13C09}"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B3BFB2-3EB2-4C0C-A57B-216BAB93EDB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GB"/>
        </a:p>
      </dgm:t>
    </dgm:pt>
    <dgm:pt modelId="{6C50018E-3E00-418E-8766-480E317B84DF}">
      <dgm:prSet custT="1"/>
      <dgm:spPr/>
      <dgm:t>
        <a:bodyPr/>
        <a:lstStyle/>
        <a:p>
          <a:pPr rtl="0"/>
          <a:r>
            <a:rPr lang="en-US" sz="2400" dirty="0"/>
            <a:t>Define</a:t>
          </a:r>
          <a:endParaRPr lang="en-GB" sz="2400" dirty="0"/>
        </a:p>
      </dgm:t>
    </dgm:pt>
    <dgm:pt modelId="{9B843423-7C65-4621-9213-958CA114410F}" type="parTrans" cxnId="{A965E874-7A4D-49AC-8788-ADE73094C76B}">
      <dgm:prSet/>
      <dgm:spPr/>
      <dgm:t>
        <a:bodyPr/>
        <a:lstStyle/>
        <a:p>
          <a:endParaRPr lang="en-GB" sz="1600"/>
        </a:p>
      </dgm:t>
    </dgm:pt>
    <dgm:pt modelId="{384A38A6-9806-485C-8172-FCBE28617D8A}" type="sibTrans" cxnId="{A965E874-7A4D-49AC-8788-ADE73094C76B}">
      <dgm:prSet/>
      <dgm:spPr/>
      <dgm:t>
        <a:bodyPr/>
        <a:lstStyle/>
        <a:p>
          <a:endParaRPr lang="en-GB" sz="1600"/>
        </a:p>
      </dgm:t>
    </dgm:pt>
    <dgm:pt modelId="{1FDE22CE-07E6-463C-B35C-CB9450803351}">
      <dgm:prSet custT="1"/>
      <dgm:spPr/>
      <dgm:t>
        <a:bodyPr/>
        <a:lstStyle/>
        <a:p>
          <a:pPr rtl="0"/>
          <a:r>
            <a:rPr lang="en-US" sz="1400" dirty="0"/>
            <a:t>Same multiples can be defined in </a:t>
          </a:r>
          <a:r>
            <a:rPr lang="en-US" sz="1400" u="sng" dirty="0"/>
            <a:t>different ways</a:t>
          </a:r>
          <a:r>
            <a:rPr lang="en-US" sz="1400" dirty="0"/>
            <a:t>. When using multiples, estimated by others, we need to know </a:t>
          </a:r>
          <a:r>
            <a:rPr lang="en-US" sz="1400" u="sng" dirty="0"/>
            <a:t>how the multiples have been estimated</a:t>
          </a:r>
          <a:endParaRPr lang="en-US" sz="1400" dirty="0"/>
        </a:p>
      </dgm:t>
    </dgm:pt>
    <dgm:pt modelId="{00FD4EBF-6507-4C2E-B63E-ACEBD7F7A049}" type="parTrans" cxnId="{69E38E61-80FE-4354-B86B-298C162620A8}">
      <dgm:prSet/>
      <dgm:spPr/>
      <dgm:t>
        <a:bodyPr/>
        <a:lstStyle/>
        <a:p>
          <a:endParaRPr lang="en-GB" sz="1600"/>
        </a:p>
      </dgm:t>
    </dgm:pt>
    <dgm:pt modelId="{3963B384-6439-47D7-AD98-8B17A0EAC23A}" type="sibTrans" cxnId="{69E38E61-80FE-4354-B86B-298C162620A8}">
      <dgm:prSet/>
      <dgm:spPr/>
      <dgm:t>
        <a:bodyPr/>
        <a:lstStyle/>
        <a:p>
          <a:endParaRPr lang="en-GB" sz="1600"/>
        </a:p>
      </dgm:t>
    </dgm:pt>
    <dgm:pt modelId="{74E54E01-E759-40B3-86C0-88B14D06DAF8}">
      <dgm:prSet custT="1"/>
      <dgm:spPr/>
      <dgm:t>
        <a:bodyPr/>
        <a:lstStyle/>
        <a:p>
          <a:pPr rtl="0"/>
          <a:r>
            <a:rPr lang="en-US" sz="2400" dirty="0"/>
            <a:t>Describe</a:t>
          </a:r>
          <a:endParaRPr lang="en-GB" sz="2400" dirty="0"/>
        </a:p>
      </dgm:t>
    </dgm:pt>
    <dgm:pt modelId="{FF7F5150-ED56-4AAD-B769-3F7DC6BA570B}" type="parTrans" cxnId="{72E02C4D-FB30-4C67-8D2D-F0F66AF5B43E}">
      <dgm:prSet/>
      <dgm:spPr/>
      <dgm:t>
        <a:bodyPr/>
        <a:lstStyle/>
        <a:p>
          <a:endParaRPr lang="en-GB" sz="1600"/>
        </a:p>
      </dgm:t>
    </dgm:pt>
    <dgm:pt modelId="{833E7A7C-E9CD-465B-B235-C8D07E46B6D2}" type="sibTrans" cxnId="{72E02C4D-FB30-4C67-8D2D-F0F66AF5B43E}">
      <dgm:prSet/>
      <dgm:spPr/>
      <dgm:t>
        <a:bodyPr/>
        <a:lstStyle/>
        <a:p>
          <a:endParaRPr lang="en-GB" sz="1600"/>
        </a:p>
      </dgm:t>
    </dgm:pt>
    <dgm:pt modelId="{BA6300B7-E174-49D1-B891-986ACE6741D8}">
      <dgm:prSet custT="1"/>
      <dgm:spPr/>
      <dgm:t>
        <a:bodyPr/>
        <a:lstStyle/>
        <a:p>
          <a:pPr rtl="0"/>
          <a:r>
            <a:rPr lang="en-US" sz="1400" dirty="0"/>
            <a:t>We need to know what the</a:t>
          </a:r>
          <a:r>
            <a:rPr lang="en-US" sz="1400" u="sng" dirty="0"/>
            <a:t> cross sectional distribution of the multiple</a:t>
          </a:r>
          <a:r>
            <a:rPr lang="en-US" sz="1400" dirty="0"/>
            <a:t> is. If we do not, it is difficult to decide whether it is too high or low.</a:t>
          </a:r>
          <a:endParaRPr lang="en-GB" sz="1400" dirty="0"/>
        </a:p>
      </dgm:t>
    </dgm:pt>
    <dgm:pt modelId="{89013252-C36B-4D50-8B78-BE7D1CACFA18}" type="parTrans" cxnId="{E07C1D90-5C4D-48A9-9BFC-7318633AD637}">
      <dgm:prSet/>
      <dgm:spPr/>
      <dgm:t>
        <a:bodyPr/>
        <a:lstStyle/>
        <a:p>
          <a:endParaRPr lang="en-GB" sz="1600"/>
        </a:p>
      </dgm:t>
    </dgm:pt>
    <dgm:pt modelId="{70E67BD0-9920-49AE-8333-A8F5CF00C23B}" type="sibTrans" cxnId="{E07C1D90-5C4D-48A9-9BFC-7318633AD637}">
      <dgm:prSet/>
      <dgm:spPr/>
      <dgm:t>
        <a:bodyPr/>
        <a:lstStyle/>
        <a:p>
          <a:endParaRPr lang="en-GB" sz="1600"/>
        </a:p>
      </dgm:t>
    </dgm:pt>
    <dgm:pt modelId="{B91FE892-E60E-40DD-B031-C98FB338835C}">
      <dgm:prSet custT="1"/>
      <dgm:spPr/>
      <dgm:t>
        <a:bodyPr/>
        <a:lstStyle/>
        <a:p>
          <a:pPr rtl="0"/>
          <a:r>
            <a:rPr lang="en-US" sz="2400" dirty="0"/>
            <a:t>Analyze</a:t>
          </a:r>
          <a:endParaRPr lang="en-GB" sz="2400" dirty="0"/>
        </a:p>
      </dgm:t>
    </dgm:pt>
    <dgm:pt modelId="{365BA8D3-D345-4FC0-9A2E-2CCEEDA4FE63}" type="parTrans" cxnId="{B7700675-2D2F-4F7E-9887-686BD9BB0F02}">
      <dgm:prSet/>
      <dgm:spPr/>
      <dgm:t>
        <a:bodyPr/>
        <a:lstStyle/>
        <a:p>
          <a:endParaRPr lang="en-GB" sz="1600"/>
        </a:p>
      </dgm:t>
    </dgm:pt>
    <dgm:pt modelId="{92FAE6C0-5699-4667-BE38-255A7CACBA93}" type="sibTrans" cxnId="{B7700675-2D2F-4F7E-9887-686BD9BB0F02}">
      <dgm:prSet/>
      <dgm:spPr/>
      <dgm:t>
        <a:bodyPr/>
        <a:lstStyle/>
        <a:p>
          <a:endParaRPr lang="en-GB" sz="1600"/>
        </a:p>
      </dgm:t>
    </dgm:pt>
    <dgm:pt modelId="{8AF60A95-3E06-46B9-86C1-7A02AFE31577}">
      <dgm:prSet custT="1"/>
      <dgm:spPr/>
      <dgm:t>
        <a:bodyPr/>
        <a:lstStyle/>
        <a:p>
          <a:pPr rtl="0"/>
          <a:r>
            <a:rPr lang="en-US" sz="1400" dirty="0"/>
            <a:t>It is critical that we </a:t>
          </a:r>
          <a:r>
            <a:rPr lang="en-US" sz="1400" u="sng" dirty="0"/>
            <a:t>understand the fundamentals </a:t>
          </a:r>
          <a:r>
            <a:rPr lang="en-US" sz="1400" dirty="0"/>
            <a:t>that drive each multiple, and the </a:t>
          </a:r>
          <a:r>
            <a:rPr lang="en-US" sz="1400" u="sng" dirty="0"/>
            <a:t>nature of the relationship </a:t>
          </a:r>
          <a:r>
            <a:rPr lang="en-US" sz="1400" dirty="0"/>
            <a:t>between the multiple and each variable.</a:t>
          </a:r>
          <a:endParaRPr lang="en-GB" sz="1400" dirty="0"/>
        </a:p>
      </dgm:t>
    </dgm:pt>
    <dgm:pt modelId="{031E7EC8-C909-477A-8202-4FF6FCC2F67C}" type="parTrans" cxnId="{AE377163-9C0D-47FA-8C7D-B55002A3D8B9}">
      <dgm:prSet/>
      <dgm:spPr/>
      <dgm:t>
        <a:bodyPr/>
        <a:lstStyle/>
        <a:p>
          <a:endParaRPr lang="en-GB" sz="1600"/>
        </a:p>
      </dgm:t>
    </dgm:pt>
    <dgm:pt modelId="{FD954C06-24C5-4C61-8BA0-6296858F98AA}" type="sibTrans" cxnId="{AE377163-9C0D-47FA-8C7D-B55002A3D8B9}">
      <dgm:prSet/>
      <dgm:spPr/>
      <dgm:t>
        <a:bodyPr/>
        <a:lstStyle/>
        <a:p>
          <a:endParaRPr lang="en-GB" sz="1600"/>
        </a:p>
      </dgm:t>
    </dgm:pt>
    <dgm:pt modelId="{33D45233-21D5-4F79-9609-9B87E0A07890}">
      <dgm:prSet custT="1"/>
      <dgm:spPr/>
      <dgm:t>
        <a:bodyPr/>
        <a:lstStyle/>
        <a:p>
          <a:pPr rtl="0"/>
          <a:r>
            <a:rPr lang="en-US" sz="2400" dirty="0"/>
            <a:t>Apply</a:t>
          </a:r>
          <a:endParaRPr lang="en-GB" sz="2400" dirty="0"/>
        </a:p>
      </dgm:t>
    </dgm:pt>
    <dgm:pt modelId="{D280D316-A26B-42F0-8947-3EECB1A8EF1A}" type="parTrans" cxnId="{F90FF851-E92E-4EEE-90B6-EEA1645C5B5F}">
      <dgm:prSet/>
      <dgm:spPr/>
      <dgm:t>
        <a:bodyPr/>
        <a:lstStyle/>
        <a:p>
          <a:endParaRPr lang="en-GB" sz="1600"/>
        </a:p>
      </dgm:t>
    </dgm:pt>
    <dgm:pt modelId="{1E4D7292-E663-42BB-B3A9-8FDA0F4D116A}" type="sibTrans" cxnId="{F90FF851-E92E-4EEE-90B6-EEA1645C5B5F}">
      <dgm:prSet/>
      <dgm:spPr/>
      <dgm:t>
        <a:bodyPr/>
        <a:lstStyle/>
        <a:p>
          <a:endParaRPr lang="en-GB" sz="1600"/>
        </a:p>
      </dgm:t>
    </dgm:pt>
    <dgm:pt modelId="{655E98CE-C9FB-4381-A24E-B6484CA52504}">
      <dgm:prSet custT="1"/>
      <dgm:spPr/>
      <dgm:t>
        <a:bodyPr/>
        <a:lstStyle/>
        <a:p>
          <a:pPr rtl="0"/>
          <a:r>
            <a:rPr lang="en-US" sz="1400" dirty="0"/>
            <a:t>Defining the </a:t>
          </a:r>
          <a:r>
            <a:rPr lang="en-US" sz="1400" u="sng" dirty="0"/>
            <a:t>comparable universe </a:t>
          </a:r>
          <a:r>
            <a:rPr lang="en-US" sz="1400" dirty="0"/>
            <a:t>and </a:t>
          </a:r>
          <a:r>
            <a:rPr lang="en-US" sz="1400" u="sng" dirty="0"/>
            <a:t>controlling for differences </a:t>
          </a:r>
          <a:r>
            <a:rPr lang="en-US" sz="1400" dirty="0"/>
            <a:t>is far more difficult in practice than it is in theory.</a:t>
          </a:r>
          <a:endParaRPr lang="en-GB" sz="1400" dirty="0"/>
        </a:p>
      </dgm:t>
    </dgm:pt>
    <dgm:pt modelId="{D9A74D38-F01A-4FCC-8CC9-83E6BADB93C0}" type="parTrans" cxnId="{0CEB38DC-7A19-4417-994E-8D6BCC1E63E3}">
      <dgm:prSet/>
      <dgm:spPr/>
      <dgm:t>
        <a:bodyPr/>
        <a:lstStyle/>
        <a:p>
          <a:endParaRPr lang="en-GB" sz="1600"/>
        </a:p>
      </dgm:t>
    </dgm:pt>
    <dgm:pt modelId="{6EB55D5C-ADE1-4A3A-9883-CD6CCE061267}" type="sibTrans" cxnId="{0CEB38DC-7A19-4417-994E-8D6BCC1E63E3}">
      <dgm:prSet/>
      <dgm:spPr/>
      <dgm:t>
        <a:bodyPr/>
        <a:lstStyle/>
        <a:p>
          <a:endParaRPr lang="en-GB" sz="1600"/>
        </a:p>
      </dgm:t>
    </dgm:pt>
    <dgm:pt modelId="{820AB9D8-D8B1-492B-AB7A-734A381D7C47}">
      <dgm:prSet custT="1"/>
      <dgm:spPr/>
      <dgm:t>
        <a:bodyPr/>
        <a:lstStyle/>
        <a:p>
          <a:pPr algn="ctr" rtl="0"/>
          <a:r>
            <a:rPr lang="en-US" sz="1400" dirty="0"/>
            <a:t>Consistency</a:t>
          </a:r>
        </a:p>
      </dgm:t>
    </dgm:pt>
    <dgm:pt modelId="{2B124BA9-23F6-4F3E-B76B-CD6AB343EC90}" type="parTrans" cxnId="{3CD42D80-10DC-4B57-BC6D-EF4C08D3230B}">
      <dgm:prSet/>
      <dgm:spPr/>
      <dgm:t>
        <a:bodyPr/>
        <a:lstStyle/>
        <a:p>
          <a:endParaRPr lang="en-GB" sz="1600"/>
        </a:p>
      </dgm:t>
    </dgm:pt>
    <dgm:pt modelId="{BE6B0EEA-DBFD-4884-B3EB-2B3BA059182B}" type="sibTrans" cxnId="{3CD42D80-10DC-4B57-BC6D-EF4C08D3230B}">
      <dgm:prSet/>
      <dgm:spPr/>
      <dgm:t>
        <a:bodyPr/>
        <a:lstStyle/>
        <a:p>
          <a:endParaRPr lang="en-GB" sz="1600"/>
        </a:p>
      </dgm:t>
    </dgm:pt>
    <dgm:pt modelId="{25FBC6DB-4D34-402C-91DD-BFB763C23934}">
      <dgm:prSet custT="1"/>
      <dgm:spPr/>
      <dgm:t>
        <a:bodyPr/>
        <a:lstStyle/>
        <a:p>
          <a:pPr algn="ctr" rtl="0"/>
          <a:r>
            <a:rPr lang="en-US" sz="1400" dirty="0"/>
            <a:t>Uniformly Estimated</a:t>
          </a:r>
        </a:p>
      </dgm:t>
    </dgm:pt>
    <dgm:pt modelId="{8C91B013-4C87-4291-9E19-D4FDC54A2AB9}" type="parTrans" cxnId="{597C90C9-3FD2-4168-AFEC-E098A4600782}">
      <dgm:prSet/>
      <dgm:spPr/>
      <dgm:t>
        <a:bodyPr/>
        <a:lstStyle/>
        <a:p>
          <a:endParaRPr lang="en-GB" sz="1600"/>
        </a:p>
      </dgm:t>
    </dgm:pt>
    <dgm:pt modelId="{CD3C0AF0-47B6-461A-82D2-20A756DA0E53}" type="sibTrans" cxnId="{597C90C9-3FD2-4168-AFEC-E098A4600782}">
      <dgm:prSet/>
      <dgm:spPr/>
      <dgm:t>
        <a:bodyPr/>
        <a:lstStyle/>
        <a:p>
          <a:endParaRPr lang="en-GB" sz="1600"/>
        </a:p>
      </dgm:t>
    </dgm:pt>
    <dgm:pt modelId="{CED4F849-C16A-4849-B874-B88DB5BDFFA1}">
      <dgm:prSet custT="1"/>
      <dgm:spPr/>
      <dgm:t>
        <a:bodyPr/>
        <a:lstStyle/>
        <a:p>
          <a:pPr algn="ctr" rtl="0"/>
          <a:r>
            <a:rPr lang="en-GB" sz="1400" dirty="0"/>
            <a:t>Mean</a:t>
          </a:r>
        </a:p>
      </dgm:t>
    </dgm:pt>
    <dgm:pt modelId="{5EC863A6-BBE4-452B-88CD-A52CD05CD685}" type="parTrans" cxnId="{ABD5B263-6F58-4934-A475-AFA0CC4428C1}">
      <dgm:prSet/>
      <dgm:spPr/>
      <dgm:t>
        <a:bodyPr/>
        <a:lstStyle/>
        <a:p>
          <a:endParaRPr lang="en-GB"/>
        </a:p>
      </dgm:t>
    </dgm:pt>
    <dgm:pt modelId="{47EDE0AF-E340-4A60-A754-76B8747751B9}" type="sibTrans" cxnId="{ABD5B263-6F58-4934-A475-AFA0CC4428C1}">
      <dgm:prSet/>
      <dgm:spPr/>
      <dgm:t>
        <a:bodyPr/>
        <a:lstStyle/>
        <a:p>
          <a:endParaRPr lang="en-GB"/>
        </a:p>
      </dgm:t>
    </dgm:pt>
    <dgm:pt modelId="{3897AECF-0217-4092-9A5B-ECA92B79F680}">
      <dgm:prSet custT="1"/>
      <dgm:spPr/>
      <dgm:t>
        <a:bodyPr/>
        <a:lstStyle/>
        <a:p>
          <a:pPr algn="ctr" rtl="0"/>
          <a:r>
            <a:rPr lang="en-GB" sz="1400" dirty="0"/>
            <a:t>Outliers</a:t>
          </a:r>
        </a:p>
      </dgm:t>
    </dgm:pt>
    <dgm:pt modelId="{BBD41BAD-469B-4323-A197-3E2D9D9DB5B3}" type="parTrans" cxnId="{B324F0CA-59EC-4099-AA1C-27D680FEFF12}">
      <dgm:prSet/>
      <dgm:spPr/>
      <dgm:t>
        <a:bodyPr/>
        <a:lstStyle/>
        <a:p>
          <a:endParaRPr lang="en-GB"/>
        </a:p>
      </dgm:t>
    </dgm:pt>
    <dgm:pt modelId="{6E183E48-D578-42E6-BA67-093D137B7C87}" type="sibTrans" cxnId="{B324F0CA-59EC-4099-AA1C-27D680FEFF12}">
      <dgm:prSet/>
      <dgm:spPr/>
      <dgm:t>
        <a:bodyPr/>
        <a:lstStyle/>
        <a:p>
          <a:endParaRPr lang="en-GB"/>
        </a:p>
      </dgm:t>
    </dgm:pt>
    <dgm:pt modelId="{480DFD46-9B1B-4B74-8E5C-FBDECF6EF305}">
      <dgm:prSet custT="1"/>
      <dgm:spPr/>
      <dgm:t>
        <a:bodyPr/>
        <a:lstStyle/>
        <a:p>
          <a:pPr algn="ctr" rtl="0"/>
          <a:r>
            <a:rPr lang="en-GB" sz="1400" dirty="0"/>
            <a:t>Time Variance</a:t>
          </a:r>
        </a:p>
      </dgm:t>
    </dgm:pt>
    <dgm:pt modelId="{BD52B727-704E-40AE-A6EC-EE67D5AC4704}" type="parTrans" cxnId="{DCDF856C-7153-44A4-94C3-C9BB3762F14A}">
      <dgm:prSet/>
      <dgm:spPr/>
      <dgm:t>
        <a:bodyPr/>
        <a:lstStyle/>
        <a:p>
          <a:endParaRPr lang="en-GB"/>
        </a:p>
      </dgm:t>
    </dgm:pt>
    <dgm:pt modelId="{46F5E5F5-B2D2-467E-B7A2-7BD8E1117BB8}" type="sibTrans" cxnId="{DCDF856C-7153-44A4-94C3-C9BB3762F14A}">
      <dgm:prSet/>
      <dgm:spPr/>
      <dgm:t>
        <a:bodyPr/>
        <a:lstStyle/>
        <a:p>
          <a:endParaRPr lang="en-GB"/>
        </a:p>
      </dgm:t>
    </dgm:pt>
    <dgm:pt modelId="{62421199-DD6A-4A3B-B284-E41FB86F51BE}">
      <dgm:prSet custT="1"/>
      <dgm:spPr/>
      <dgm:t>
        <a:bodyPr/>
        <a:lstStyle/>
        <a:p>
          <a:pPr algn="ctr" rtl="0"/>
          <a:r>
            <a:rPr lang="en-GB" sz="1400" dirty="0"/>
            <a:t>Standard Deviation</a:t>
          </a:r>
        </a:p>
      </dgm:t>
    </dgm:pt>
    <dgm:pt modelId="{87C4B061-89D1-47FE-9196-90B55ABCD5AD}" type="parTrans" cxnId="{B8264C34-6D7F-4C1B-AB59-D465732A5600}">
      <dgm:prSet/>
      <dgm:spPr/>
      <dgm:t>
        <a:bodyPr/>
        <a:lstStyle/>
        <a:p>
          <a:endParaRPr lang="en-GB"/>
        </a:p>
      </dgm:t>
    </dgm:pt>
    <dgm:pt modelId="{1A7CBE99-F95D-4E62-81D9-D0260BB2E7C1}" type="sibTrans" cxnId="{B8264C34-6D7F-4C1B-AB59-D465732A5600}">
      <dgm:prSet/>
      <dgm:spPr/>
      <dgm:t>
        <a:bodyPr/>
        <a:lstStyle/>
        <a:p>
          <a:endParaRPr lang="en-GB"/>
        </a:p>
      </dgm:t>
    </dgm:pt>
    <dgm:pt modelId="{F13A848D-C991-4271-AD49-7434D872A1D1}">
      <dgm:prSet custT="1"/>
      <dgm:spPr/>
      <dgm:t>
        <a:bodyPr/>
        <a:lstStyle/>
        <a:p>
          <a:pPr algn="ctr" rtl="0"/>
          <a:r>
            <a:rPr lang="en-GB" sz="1400" dirty="0"/>
            <a:t>Fundamentals</a:t>
          </a:r>
        </a:p>
      </dgm:t>
    </dgm:pt>
    <dgm:pt modelId="{3669225E-B2CA-4FBE-8ACE-73F4781A20C1}" type="parTrans" cxnId="{99DBF15C-1A0B-4445-903F-115685D73931}">
      <dgm:prSet/>
      <dgm:spPr/>
      <dgm:t>
        <a:bodyPr/>
        <a:lstStyle/>
        <a:p>
          <a:endParaRPr lang="en-GB"/>
        </a:p>
      </dgm:t>
    </dgm:pt>
    <dgm:pt modelId="{C3CD45AD-B5B8-4ED4-A35E-D89E0324FDD5}" type="sibTrans" cxnId="{99DBF15C-1A0B-4445-903F-115685D73931}">
      <dgm:prSet/>
      <dgm:spPr/>
      <dgm:t>
        <a:bodyPr/>
        <a:lstStyle/>
        <a:p>
          <a:endParaRPr lang="en-GB"/>
        </a:p>
      </dgm:t>
    </dgm:pt>
    <dgm:pt modelId="{0C9CC782-90B1-42A5-B757-73A00DB99EE3}">
      <dgm:prSet custT="1"/>
      <dgm:spPr/>
      <dgm:t>
        <a:bodyPr/>
        <a:lstStyle/>
        <a:p>
          <a:pPr algn="ctr" rtl="0"/>
          <a:r>
            <a:rPr lang="en-GB" sz="1400" dirty="0"/>
            <a:t>Changes in Fundamentals</a:t>
          </a:r>
        </a:p>
      </dgm:t>
    </dgm:pt>
    <dgm:pt modelId="{9110B4C6-82BA-4AD0-B945-B690032B2FE1}" type="parTrans" cxnId="{256CECB0-9E01-4900-9B00-A2FD434327CD}">
      <dgm:prSet/>
      <dgm:spPr/>
      <dgm:t>
        <a:bodyPr/>
        <a:lstStyle/>
        <a:p>
          <a:endParaRPr lang="en-GB"/>
        </a:p>
      </dgm:t>
    </dgm:pt>
    <dgm:pt modelId="{7361D90E-8E82-4303-9CB7-182234794ECB}" type="sibTrans" cxnId="{256CECB0-9E01-4900-9B00-A2FD434327CD}">
      <dgm:prSet/>
      <dgm:spPr/>
      <dgm:t>
        <a:bodyPr/>
        <a:lstStyle/>
        <a:p>
          <a:endParaRPr lang="en-GB"/>
        </a:p>
      </dgm:t>
    </dgm:pt>
    <dgm:pt modelId="{274DFB95-B32E-4351-BA50-BFE07FCB6E8B}">
      <dgm:prSet custT="1"/>
      <dgm:spPr/>
      <dgm:t>
        <a:bodyPr/>
        <a:lstStyle/>
        <a:p>
          <a:pPr algn="ctr" rtl="0"/>
          <a:r>
            <a:rPr lang="en-GB" sz="1400" dirty="0"/>
            <a:t>Comparable Firms based on Fundamentals</a:t>
          </a:r>
        </a:p>
      </dgm:t>
    </dgm:pt>
    <dgm:pt modelId="{A151BEF0-B74F-44C7-8EF0-A96D39065B7C}" type="parTrans" cxnId="{28F46096-7E0A-4A99-9AFF-5B8CA00ED499}">
      <dgm:prSet/>
      <dgm:spPr/>
      <dgm:t>
        <a:bodyPr/>
        <a:lstStyle/>
        <a:p>
          <a:endParaRPr lang="en-GB"/>
        </a:p>
      </dgm:t>
    </dgm:pt>
    <dgm:pt modelId="{7E2C1290-BA8B-4DD2-84A3-7069D2AB2AAD}" type="sibTrans" cxnId="{28F46096-7E0A-4A99-9AFF-5B8CA00ED499}">
      <dgm:prSet/>
      <dgm:spPr/>
      <dgm:t>
        <a:bodyPr/>
        <a:lstStyle/>
        <a:p>
          <a:endParaRPr lang="en-GB"/>
        </a:p>
      </dgm:t>
    </dgm:pt>
    <dgm:pt modelId="{F72FB6B5-8A8E-460E-A8B8-0568DC14D976}">
      <dgm:prSet custT="1"/>
      <dgm:spPr/>
      <dgm:t>
        <a:bodyPr/>
        <a:lstStyle/>
        <a:p>
          <a:pPr algn="ctr" rtl="0"/>
          <a:r>
            <a:rPr lang="en-GB" sz="1400" dirty="0"/>
            <a:t>Impossible to find identical firm, Control for differences</a:t>
          </a:r>
        </a:p>
      </dgm:t>
    </dgm:pt>
    <dgm:pt modelId="{CCCF0604-4631-414A-8C02-79C2CB810166}" type="parTrans" cxnId="{298D7B99-FEB4-4E99-BF3A-D0657B5D15F0}">
      <dgm:prSet/>
      <dgm:spPr/>
      <dgm:t>
        <a:bodyPr/>
        <a:lstStyle/>
        <a:p>
          <a:endParaRPr lang="en-GB"/>
        </a:p>
      </dgm:t>
    </dgm:pt>
    <dgm:pt modelId="{D28E24DE-89AE-406B-8832-383302653DED}" type="sibTrans" cxnId="{298D7B99-FEB4-4E99-BF3A-D0657B5D15F0}">
      <dgm:prSet/>
      <dgm:spPr/>
      <dgm:t>
        <a:bodyPr/>
        <a:lstStyle/>
        <a:p>
          <a:endParaRPr lang="en-GB"/>
        </a:p>
      </dgm:t>
    </dgm:pt>
    <dgm:pt modelId="{C50D7902-7AD5-4BF6-AEFA-20F2F7AC76F9}" type="pres">
      <dgm:prSet presAssocID="{00B3BFB2-3EB2-4C0C-A57B-216BAB93EDB0}" presName="vert0" presStyleCnt="0">
        <dgm:presLayoutVars>
          <dgm:dir/>
          <dgm:animOne val="branch"/>
          <dgm:animLvl val="lvl"/>
        </dgm:presLayoutVars>
      </dgm:prSet>
      <dgm:spPr/>
    </dgm:pt>
    <dgm:pt modelId="{F7CBDDB8-B44E-40FE-8F86-06AD9AEBFCEB}" type="pres">
      <dgm:prSet presAssocID="{6C50018E-3E00-418E-8766-480E317B84DF}" presName="thickLine" presStyleLbl="alignNode1" presStyleIdx="0" presStyleCnt="4"/>
      <dgm:spPr/>
    </dgm:pt>
    <dgm:pt modelId="{866B8E17-A18B-4389-8446-4D40EAF09F40}" type="pres">
      <dgm:prSet presAssocID="{6C50018E-3E00-418E-8766-480E317B84DF}" presName="horz1" presStyleCnt="0"/>
      <dgm:spPr/>
    </dgm:pt>
    <dgm:pt modelId="{884E6BFA-1EDE-42E0-A16A-911D93E90B17}" type="pres">
      <dgm:prSet presAssocID="{6C50018E-3E00-418E-8766-480E317B84DF}" presName="tx1" presStyleLbl="revTx" presStyleIdx="0" presStyleCnt="18"/>
      <dgm:spPr/>
    </dgm:pt>
    <dgm:pt modelId="{E6D3DFAE-6ECA-47E9-A821-E88A7437B880}" type="pres">
      <dgm:prSet presAssocID="{6C50018E-3E00-418E-8766-480E317B84DF}" presName="vert1" presStyleCnt="0"/>
      <dgm:spPr/>
    </dgm:pt>
    <dgm:pt modelId="{3BBB571D-CB71-415B-8073-934FA18A2169}" type="pres">
      <dgm:prSet presAssocID="{1FDE22CE-07E6-463C-B35C-CB9450803351}" presName="vertSpace2a" presStyleCnt="0"/>
      <dgm:spPr/>
    </dgm:pt>
    <dgm:pt modelId="{89CAF466-F1EF-4F61-80E5-DBEB411A3551}" type="pres">
      <dgm:prSet presAssocID="{1FDE22CE-07E6-463C-B35C-CB9450803351}" presName="horz2" presStyleCnt="0"/>
      <dgm:spPr/>
    </dgm:pt>
    <dgm:pt modelId="{459F39C2-0FDF-4351-8467-E0416767320B}" type="pres">
      <dgm:prSet presAssocID="{1FDE22CE-07E6-463C-B35C-CB9450803351}" presName="horzSpace2" presStyleCnt="0"/>
      <dgm:spPr/>
    </dgm:pt>
    <dgm:pt modelId="{13436EC6-BFCE-43B7-84CC-E406F924BABF}" type="pres">
      <dgm:prSet presAssocID="{1FDE22CE-07E6-463C-B35C-CB9450803351}" presName="tx2" presStyleLbl="revTx" presStyleIdx="1" presStyleCnt="18" custScaleX="237354" custScaleY="136977" custLinFactNeighborX="-206"/>
      <dgm:spPr/>
    </dgm:pt>
    <dgm:pt modelId="{EDE95A06-B225-4845-A42B-47E92A2B021B}" type="pres">
      <dgm:prSet presAssocID="{1FDE22CE-07E6-463C-B35C-CB9450803351}" presName="vert2" presStyleCnt="0"/>
      <dgm:spPr/>
    </dgm:pt>
    <dgm:pt modelId="{20E70A45-8E90-46F3-ACA3-278C30246CDE}" type="pres">
      <dgm:prSet presAssocID="{1FDE22CE-07E6-463C-B35C-CB9450803351}" presName="thinLine2b" presStyleLbl="callout" presStyleIdx="0" presStyleCnt="9" custSzY="45720" custScaleX="102700" custLinFactNeighborX="4123"/>
      <dgm:spPr/>
    </dgm:pt>
    <dgm:pt modelId="{8EA82277-8946-4320-A889-2DC76C6BA542}" type="pres">
      <dgm:prSet presAssocID="{1FDE22CE-07E6-463C-B35C-CB9450803351}" presName="vertSpace2b" presStyleCnt="0"/>
      <dgm:spPr/>
    </dgm:pt>
    <dgm:pt modelId="{77E3CB8A-11E4-4202-A593-BB4B5A74528D}" type="pres">
      <dgm:prSet presAssocID="{820AB9D8-D8B1-492B-AB7A-734A381D7C47}" presName="horz2" presStyleCnt="0"/>
      <dgm:spPr/>
    </dgm:pt>
    <dgm:pt modelId="{49ED0E18-2416-47AC-86D3-258813F8D493}" type="pres">
      <dgm:prSet presAssocID="{820AB9D8-D8B1-492B-AB7A-734A381D7C47}" presName="horzSpace2" presStyleCnt="0"/>
      <dgm:spPr/>
    </dgm:pt>
    <dgm:pt modelId="{E8225F27-CC26-44BA-9688-E3AD73CE14EC}" type="pres">
      <dgm:prSet presAssocID="{820AB9D8-D8B1-492B-AB7A-734A381D7C47}" presName="tx2" presStyleLbl="revTx" presStyleIdx="2" presStyleCnt="18" custLinFactNeighborX="4672"/>
      <dgm:spPr/>
    </dgm:pt>
    <dgm:pt modelId="{34346C4A-2C9A-4318-8443-BAB1B48F35B7}" type="pres">
      <dgm:prSet presAssocID="{820AB9D8-D8B1-492B-AB7A-734A381D7C47}" presName="vert2" presStyleCnt="0"/>
      <dgm:spPr/>
    </dgm:pt>
    <dgm:pt modelId="{4CA67005-827B-4499-890A-F7D4E34603B9}" type="pres">
      <dgm:prSet presAssocID="{25FBC6DB-4D34-402C-91DD-BFB763C23934}" presName="horz3" presStyleCnt="0"/>
      <dgm:spPr/>
    </dgm:pt>
    <dgm:pt modelId="{3CA29258-71F1-4A29-8573-45DC850A7ABB}" type="pres">
      <dgm:prSet presAssocID="{25FBC6DB-4D34-402C-91DD-BFB763C23934}" presName="horzSpace3" presStyleCnt="0"/>
      <dgm:spPr/>
    </dgm:pt>
    <dgm:pt modelId="{58F88AA7-2676-4E7D-B81B-266BBD17EFD7}" type="pres">
      <dgm:prSet presAssocID="{25FBC6DB-4D34-402C-91DD-BFB763C23934}" presName="tx3" presStyleLbl="revTx" presStyleIdx="3" presStyleCnt="18" custLinFactNeighborX="4672"/>
      <dgm:spPr/>
    </dgm:pt>
    <dgm:pt modelId="{A71DFEA9-2F2E-4AB7-9AAC-3B1433BDE62C}" type="pres">
      <dgm:prSet presAssocID="{25FBC6DB-4D34-402C-91DD-BFB763C23934}" presName="vert3" presStyleCnt="0"/>
      <dgm:spPr/>
    </dgm:pt>
    <dgm:pt modelId="{AA2DD44F-3F2B-4614-A247-421557DBE957}" type="pres">
      <dgm:prSet presAssocID="{820AB9D8-D8B1-492B-AB7A-734A381D7C47}" presName="thinLine2b" presStyleLbl="callout" presStyleIdx="1" presStyleCnt="9"/>
      <dgm:spPr/>
    </dgm:pt>
    <dgm:pt modelId="{9C257025-1F16-41ED-BA58-49360FFC3F12}" type="pres">
      <dgm:prSet presAssocID="{820AB9D8-D8B1-492B-AB7A-734A381D7C47}" presName="vertSpace2b" presStyleCnt="0"/>
      <dgm:spPr/>
    </dgm:pt>
    <dgm:pt modelId="{529BE7D3-79EC-4A80-9389-BDCE427239FC}" type="pres">
      <dgm:prSet presAssocID="{74E54E01-E759-40B3-86C0-88B14D06DAF8}" presName="thickLine" presStyleLbl="alignNode1" presStyleIdx="1" presStyleCnt="4"/>
      <dgm:spPr/>
    </dgm:pt>
    <dgm:pt modelId="{5732A5A4-54C4-4B7D-B9B0-2ED9463BC6EC}" type="pres">
      <dgm:prSet presAssocID="{74E54E01-E759-40B3-86C0-88B14D06DAF8}" presName="horz1" presStyleCnt="0"/>
      <dgm:spPr/>
    </dgm:pt>
    <dgm:pt modelId="{368F752D-7548-4BF2-A150-083ECE0DD044}" type="pres">
      <dgm:prSet presAssocID="{74E54E01-E759-40B3-86C0-88B14D06DAF8}" presName="tx1" presStyleLbl="revTx" presStyleIdx="4" presStyleCnt="18"/>
      <dgm:spPr/>
    </dgm:pt>
    <dgm:pt modelId="{F927237D-3D12-4041-B551-382BFB547F0F}" type="pres">
      <dgm:prSet presAssocID="{74E54E01-E759-40B3-86C0-88B14D06DAF8}" presName="vert1" presStyleCnt="0"/>
      <dgm:spPr/>
    </dgm:pt>
    <dgm:pt modelId="{FD63670D-9C32-482B-95BA-A309400C7063}" type="pres">
      <dgm:prSet presAssocID="{BA6300B7-E174-49D1-B891-986ACE6741D8}" presName="vertSpace2a" presStyleCnt="0"/>
      <dgm:spPr/>
    </dgm:pt>
    <dgm:pt modelId="{CFF3CF21-1B8A-48F1-BA0E-AA224B79EF66}" type="pres">
      <dgm:prSet presAssocID="{BA6300B7-E174-49D1-B891-986ACE6741D8}" presName="horz2" presStyleCnt="0"/>
      <dgm:spPr/>
    </dgm:pt>
    <dgm:pt modelId="{36EC0820-CE0E-429E-9D13-75B6F90895CD}" type="pres">
      <dgm:prSet presAssocID="{BA6300B7-E174-49D1-B891-986ACE6741D8}" presName="horzSpace2" presStyleCnt="0"/>
      <dgm:spPr/>
    </dgm:pt>
    <dgm:pt modelId="{6A8D428A-9000-44C9-98AE-0186B7AF7C6F}" type="pres">
      <dgm:prSet presAssocID="{BA6300B7-E174-49D1-B891-986ACE6741D8}" presName="tx2" presStyleLbl="revTx" presStyleIdx="5" presStyleCnt="18" custScaleX="220193" custScaleY="163717"/>
      <dgm:spPr/>
    </dgm:pt>
    <dgm:pt modelId="{F66EA1C6-26EB-4E8F-8A1D-E5518516B4FB}" type="pres">
      <dgm:prSet presAssocID="{BA6300B7-E174-49D1-B891-986ACE6741D8}" presName="vert2" presStyleCnt="0"/>
      <dgm:spPr/>
    </dgm:pt>
    <dgm:pt modelId="{692E75AD-DAE2-49B1-BFEA-27B5584036FC}" type="pres">
      <dgm:prSet presAssocID="{BA6300B7-E174-49D1-B891-986ACE6741D8}" presName="thinLine2b" presStyleLbl="callout" presStyleIdx="2" presStyleCnt="9"/>
      <dgm:spPr/>
    </dgm:pt>
    <dgm:pt modelId="{F3EE8A05-5B9A-4F7E-89E0-2DABD613FF1F}" type="pres">
      <dgm:prSet presAssocID="{BA6300B7-E174-49D1-B891-986ACE6741D8}" presName="vertSpace2b" presStyleCnt="0"/>
      <dgm:spPr/>
    </dgm:pt>
    <dgm:pt modelId="{F01E17DD-E90E-4F37-8F80-975B5DFC9671}" type="pres">
      <dgm:prSet presAssocID="{CED4F849-C16A-4849-B874-B88DB5BDFFA1}" presName="horz2" presStyleCnt="0"/>
      <dgm:spPr/>
    </dgm:pt>
    <dgm:pt modelId="{C2388B09-422F-4142-8A66-03C97E88D541}" type="pres">
      <dgm:prSet presAssocID="{CED4F849-C16A-4849-B874-B88DB5BDFFA1}" presName="horzSpace2" presStyleCnt="0"/>
      <dgm:spPr/>
    </dgm:pt>
    <dgm:pt modelId="{C67DD435-04F2-441C-B8F7-3E897D2A604C}" type="pres">
      <dgm:prSet presAssocID="{CED4F849-C16A-4849-B874-B88DB5BDFFA1}" presName="tx2" presStyleLbl="revTx" presStyleIdx="6" presStyleCnt="18"/>
      <dgm:spPr/>
    </dgm:pt>
    <dgm:pt modelId="{BD414A8B-4C9D-4948-B1DC-8038808F46CE}" type="pres">
      <dgm:prSet presAssocID="{CED4F849-C16A-4849-B874-B88DB5BDFFA1}" presName="vert2" presStyleCnt="0"/>
      <dgm:spPr/>
    </dgm:pt>
    <dgm:pt modelId="{331DC25A-0B5B-428C-8053-212B69BB2E80}" type="pres">
      <dgm:prSet presAssocID="{62421199-DD6A-4A3B-B284-E41FB86F51BE}" presName="horz3" presStyleCnt="0"/>
      <dgm:spPr/>
    </dgm:pt>
    <dgm:pt modelId="{53E4BBF6-B42F-4827-BE0B-CBC15789BE16}" type="pres">
      <dgm:prSet presAssocID="{62421199-DD6A-4A3B-B284-E41FB86F51BE}" presName="horzSpace3" presStyleCnt="0"/>
      <dgm:spPr/>
    </dgm:pt>
    <dgm:pt modelId="{A58F60AD-CBB8-4F28-A152-FFC0B6CD2719}" type="pres">
      <dgm:prSet presAssocID="{62421199-DD6A-4A3B-B284-E41FB86F51BE}" presName="tx3" presStyleLbl="revTx" presStyleIdx="7" presStyleCnt="18"/>
      <dgm:spPr/>
    </dgm:pt>
    <dgm:pt modelId="{EE9DDE03-45CC-4D90-855C-06AA81786EDD}" type="pres">
      <dgm:prSet presAssocID="{62421199-DD6A-4A3B-B284-E41FB86F51BE}" presName="vert3" presStyleCnt="0"/>
      <dgm:spPr/>
    </dgm:pt>
    <dgm:pt modelId="{C2C87588-EFD0-41B8-8BE7-B43300940C38}" type="pres">
      <dgm:prSet presAssocID="{CED4F849-C16A-4849-B874-B88DB5BDFFA1}" presName="thinLine2b" presStyleLbl="callout" presStyleIdx="3" presStyleCnt="9"/>
      <dgm:spPr/>
    </dgm:pt>
    <dgm:pt modelId="{2B849A85-31C9-4063-A63E-8A253DA7DC89}" type="pres">
      <dgm:prSet presAssocID="{CED4F849-C16A-4849-B874-B88DB5BDFFA1}" presName="vertSpace2b" presStyleCnt="0"/>
      <dgm:spPr/>
    </dgm:pt>
    <dgm:pt modelId="{6855D11A-66C1-412C-9253-E16AB4F93904}" type="pres">
      <dgm:prSet presAssocID="{3897AECF-0217-4092-9A5B-ECA92B79F680}" presName="horz2" presStyleCnt="0"/>
      <dgm:spPr/>
    </dgm:pt>
    <dgm:pt modelId="{44142FD2-311D-42E1-8756-95CB042BCCC2}" type="pres">
      <dgm:prSet presAssocID="{3897AECF-0217-4092-9A5B-ECA92B79F680}" presName="horzSpace2" presStyleCnt="0"/>
      <dgm:spPr/>
    </dgm:pt>
    <dgm:pt modelId="{40F0D3FA-1589-4E51-9190-761EF0AB183C}" type="pres">
      <dgm:prSet presAssocID="{3897AECF-0217-4092-9A5B-ECA92B79F680}" presName="tx2" presStyleLbl="revTx" presStyleIdx="8" presStyleCnt="18"/>
      <dgm:spPr/>
    </dgm:pt>
    <dgm:pt modelId="{A7AE2CCC-600F-4A35-B580-C7128342D272}" type="pres">
      <dgm:prSet presAssocID="{3897AECF-0217-4092-9A5B-ECA92B79F680}" presName="vert2" presStyleCnt="0"/>
      <dgm:spPr/>
    </dgm:pt>
    <dgm:pt modelId="{1AADD7D5-BDE9-4A38-BBE2-7AC23FAA2008}" type="pres">
      <dgm:prSet presAssocID="{480DFD46-9B1B-4B74-8E5C-FBDECF6EF305}" presName="horz3" presStyleCnt="0"/>
      <dgm:spPr/>
    </dgm:pt>
    <dgm:pt modelId="{00B6F5AA-3CDA-4375-AE34-C5C2AAEEAA0A}" type="pres">
      <dgm:prSet presAssocID="{480DFD46-9B1B-4B74-8E5C-FBDECF6EF305}" presName="horzSpace3" presStyleCnt="0"/>
      <dgm:spPr/>
    </dgm:pt>
    <dgm:pt modelId="{ECEC8AE9-8AB5-4962-9FE6-A525B1A820B9}" type="pres">
      <dgm:prSet presAssocID="{480DFD46-9B1B-4B74-8E5C-FBDECF6EF305}" presName="tx3" presStyleLbl="revTx" presStyleIdx="9" presStyleCnt="18"/>
      <dgm:spPr/>
    </dgm:pt>
    <dgm:pt modelId="{279D29F3-071B-4EDD-B2B0-78DE092D78D9}" type="pres">
      <dgm:prSet presAssocID="{480DFD46-9B1B-4B74-8E5C-FBDECF6EF305}" presName="vert3" presStyleCnt="0"/>
      <dgm:spPr/>
    </dgm:pt>
    <dgm:pt modelId="{D7FC1993-C274-4AC9-8F83-E00747C33311}" type="pres">
      <dgm:prSet presAssocID="{3897AECF-0217-4092-9A5B-ECA92B79F680}" presName="thinLine2b" presStyleLbl="callout" presStyleIdx="4" presStyleCnt="9"/>
      <dgm:spPr/>
    </dgm:pt>
    <dgm:pt modelId="{ECEEEBE2-4C09-4512-9ACB-894B476C3FFA}" type="pres">
      <dgm:prSet presAssocID="{3897AECF-0217-4092-9A5B-ECA92B79F680}" presName="vertSpace2b" presStyleCnt="0"/>
      <dgm:spPr/>
    </dgm:pt>
    <dgm:pt modelId="{10725305-A49B-40E7-96FF-1ACC30CC89DF}" type="pres">
      <dgm:prSet presAssocID="{B91FE892-E60E-40DD-B031-C98FB338835C}" presName="thickLine" presStyleLbl="alignNode1" presStyleIdx="2" presStyleCnt="4"/>
      <dgm:spPr/>
    </dgm:pt>
    <dgm:pt modelId="{62521117-B51C-4BC1-96C2-D8EFF15BC2CB}" type="pres">
      <dgm:prSet presAssocID="{B91FE892-E60E-40DD-B031-C98FB338835C}" presName="horz1" presStyleCnt="0"/>
      <dgm:spPr/>
    </dgm:pt>
    <dgm:pt modelId="{D0BEC7A1-2933-4C1D-97AA-69B8AB72D1B0}" type="pres">
      <dgm:prSet presAssocID="{B91FE892-E60E-40DD-B031-C98FB338835C}" presName="tx1" presStyleLbl="revTx" presStyleIdx="10" presStyleCnt="18"/>
      <dgm:spPr/>
    </dgm:pt>
    <dgm:pt modelId="{404FA1BF-420E-4EDA-9BE5-2ADAF46560C2}" type="pres">
      <dgm:prSet presAssocID="{B91FE892-E60E-40DD-B031-C98FB338835C}" presName="vert1" presStyleCnt="0"/>
      <dgm:spPr/>
    </dgm:pt>
    <dgm:pt modelId="{BF6D685F-A832-49FA-B442-DA506196B59B}" type="pres">
      <dgm:prSet presAssocID="{8AF60A95-3E06-46B9-86C1-7A02AFE31577}" presName="vertSpace2a" presStyleCnt="0"/>
      <dgm:spPr/>
    </dgm:pt>
    <dgm:pt modelId="{D5DA0489-9C46-4A88-BF99-C5A30B5597BE}" type="pres">
      <dgm:prSet presAssocID="{8AF60A95-3E06-46B9-86C1-7A02AFE31577}" presName="horz2" presStyleCnt="0"/>
      <dgm:spPr/>
    </dgm:pt>
    <dgm:pt modelId="{9A2BBA94-5CAB-4F86-9314-75CD76AEAA53}" type="pres">
      <dgm:prSet presAssocID="{8AF60A95-3E06-46B9-86C1-7A02AFE31577}" presName="horzSpace2" presStyleCnt="0"/>
      <dgm:spPr/>
    </dgm:pt>
    <dgm:pt modelId="{9B9873AA-A0D5-4963-AE63-95BC95EC30FA}" type="pres">
      <dgm:prSet presAssocID="{8AF60A95-3E06-46B9-86C1-7A02AFE31577}" presName="tx2" presStyleLbl="revTx" presStyleIdx="11" presStyleCnt="18" custScaleX="229990"/>
      <dgm:spPr/>
    </dgm:pt>
    <dgm:pt modelId="{568CFCEB-5F2B-4F0F-B551-FB2B9F777FFA}" type="pres">
      <dgm:prSet presAssocID="{8AF60A95-3E06-46B9-86C1-7A02AFE31577}" presName="vert2" presStyleCnt="0"/>
      <dgm:spPr/>
    </dgm:pt>
    <dgm:pt modelId="{6E660B18-8CF3-4C36-88F6-0D64E57105AA}" type="pres">
      <dgm:prSet presAssocID="{8AF60A95-3E06-46B9-86C1-7A02AFE31577}" presName="thinLine2b" presStyleLbl="callout" presStyleIdx="5" presStyleCnt="9"/>
      <dgm:spPr/>
    </dgm:pt>
    <dgm:pt modelId="{BF5B8B98-EC83-49A0-823F-2FA4BF35BD95}" type="pres">
      <dgm:prSet presAssocID="{8AF60A95-3E06-46B9-86C1-7A02AFE31577}" presName="vertSpace2b" presStyleCnt="0"/>
      <dgm:spPr/>
    </dgm:pt>
    <dgm:pt modelId="{E6D77ECD-46E8-4EA1-AB45-A21673CC702B}" type="pres">
      <dgm:prSet presAssocID="{F13A848D-C991-4271-AD49-7434D872A1D1}" presName="horz2" presStyleCnt="0"/>
      <dgm:spPr/>
    </dgm:pt>
    <dgm:pt modelId="{2D181E36-46BA-4416-8EE0-F6EEC4CA6952}" type="pres">
      <dgm:prSet presAssocID="{F13A848D-C991-4271-AD49-7434D872A1D1}" presName="horzSpace2" presStyleCnt="0"/>
      <dgm:spPr/>
    </dgm:pt>
    <dgm:pt modelId="{1E798408-ECD7-41A3-B8F5-99C3D5055626}" type="pres">
      <dgm:prSet presAssocID="{F13A848D-C991-4271-AD49-7434D872A1D1}" presName="tx2" presStyleLbl="revTx" presStyleIdx="12" presStyleCnt="18"/>
      <dgm:spPr/>
    </dgm:pt>
    <dgm:pt modelId="{5E9B4F8C-7684-4950-8AA1-2A1A09FE0383}" type="pres">
      <dgm:prSet presAssocID="{F13A848D-C991-4271-AD49-7434D872A1D1}" presName="vert2" presStyleCnt="0"/>
      <dgm:spPr/>
    </dgm:pt>
    <dgm:pt modelId="{CC556ADA-3D28-4E21-A5C5-71AD079CEBED}" type="pres">
      <dgm:prSet presAssocID="{0C9CC782-90B1-42A5-B757-73A00DB99EE3}" presName="horz3" presStyleCnt="0"/>
      <dgm:spPr/>
    </dgm:pt>
    <dgm:pt modelId="{835A0D29-0AFD-4835-804C-D06729CA4DFB}" type="pres">
      <dgm:prSet presAssocID="{0C9CC782-90B1-42A5-B757-73A00DB99EE3}" presName="horzSpace3" presStyleCnt="0"/>
      <dgm:spPr/>
    </dgm:pt>
    <dgm:pt modelId="{438A7380-4B7A-4B87-9406-DC698B90B954}" type="pres">
      <dgm:prSet presAssocID="{0C9CC782-90B1-42A5-B757-73A00DB99EE3}" presName="tx3" presStyleLbl="revTx" presStyleIdx="13" presStyleCnt="18"/>
      <dgm:spPr/>
    </dgm:pt>
    <dgm:pt modelId="{F58BB866-BB48-4EA4-B285-B28720F11F46}" type="pres">
      <dgm:prSet presAssocID="{0C9CC782-90B1-42A5-B757-73A00DB99EE3}" presName="vert3" presStyleCnt="0"/>
      <dgm:spPr/>
    </dgm:pt>
    <dgm:pt modelId="{C831D013-972B-49A0-8568-B6E74E39EC46}" type="pres">
      <dgm:prSet presAssocID="{F13A848D-C991-4271-AD49-7434D872A1D1}" presName="thinLine2b" presStyleLbl="callout" presStyleIdx="6" presStyleCnt="9"/>
      <dgm:spPr/>
    </dgm:pt>
    <dgm:pt modelId="{3DD90747-BA2E-4442-A185-DB7C686805F0}" type="pres">
      <dgm:prSet presAssocID="{F13A848D-C991-4271-AD49-7434D872A1D1}" presName="vertSpace2b" presStyleCnt="0"/>
      <dgm:spPr/>
    </dgm:pt>
    <dgm:pt modelId="{191F51AE-741D-4E34-8290-AD1D05A451FD}" type="pres">
      <dgm:prSet presAssocID="{33D45233-21D5-4F79-9609-9B87E0A07890}" presName="thickLine" presStyleLbl="alignNode1" presStyleIdx="3" presStyleCnt="4"/>
      <dgm:spPr/>
    </dgm:pt>
    <dgm:pt modelId="{C981BB37-9354-4283-805E-2F1FDD6E1558}" type="pres">
      <dgm:prSet presAssocID="{33D45233-21D5-4F79-9609-9B87E0A07890}" presName="horz1" presStyleCnt="0"/>
      <dgm:spPr/>
    </dgm:pt>
    <dgm:pt modelId="{A3CC36F1-FBFC-4B74-8DBC-02948B56CF18}" type="pres">
      <dgm:prSet presAssocID="{33D45233-21D5-4F79-9609-9B87E0A07890}" presName="tx1" presStyleLbl="revTx" presStyleIdx="14" presStyleCnt="18"/>
      <dgm:spPr/>
    </dgm:pt>
    <dgm:pt modelId="{E30B8C1D-9CF0-4606-A062-61032EAFEC13}" type="pres">
      <dgm:prSet presAssocID="{33D45233-21D5-4F79-9609-9B87E0A07890}" presName="vert1" presStyleCnt="0"/>
      <dgm:spPr/>
    </dgm:pt>
    <dgm:pt modelId="{CC38468D-3143-46D0-AB4E-BE979610D0BF}" type="pres">
      <dgm:prSet presAssocID="{655E98CE-C9FB-4381-A24E-B6484CA52504}" presName="vertSpace2a" presStyleCnt="0"/>
      <dgm:spPr/>
    </dgm:pt>
    <dgm:pt modelId="{3B50C0F0-6EAC-4BA0-B030-415A3B88B509}" type="pres">
      <dgm:prSet presAssocID="{655E98CE-C9FB-4381-A24E-B6484CA52504}" presName="horz2" presStyleCnt="0"/>
      <dgm:spPr/>
    </dgm:pt>
    <dgm:pt modelId="{3794EE48-B73B-4BF6-958D-A7A047124399}" type="pres">
      <dgm:prSet presAssocID="{655E98CE-C9FB-4381-A24E-B6484CA52504}" presName="horzSpace2" presStyleCnt="0"/>
      <dgm:spPr/>
    </dgm:pt>
    <dgm:pt modelId="{1848067F-9F7C-4891-8B10-B49301F4D0DF}" type="pres">
      <dgm:prSet presAssocID="{655E98CE-C9FB-4381-A24E-B6484CA52504}" presName="tx2" presStyleLbl="revTx" presStyleIdx="15" presStyleCnt="18" custScaleX="221414"/>
      <dgm:spPr/>
    </dgm:pt>
    <dgm:pt modelId="{618EDCF8-1E5A-4E22-BC38-6CE05350058F}" type="pres">
      <dgm:prSet presAssocID="{655E98CE-C9FB-4381-A24E-B6484CA52504}" presName="vert2" presStyleCnt="0"/>
      <dgm:spPr/>
    </dgm:pt>
    <dgm:pt modelId="{9AF11706-7CD3-4782-BDFC-F271337E9050}" type="pres">
      <dgm:prSet presAssocID="{655E98CE-C9FB-4381-A24E-B6484CA52504}" presName="thinLine2b" presStyleLbl="callout" presStyleIdx="7" presStyleCnt="9"/>
      <dgm:spPr/>
    </dgm:pt>
    <dgm:pt modelId="{BDDE2373-FF7F-4B9C-B94B-72D016B21F26}" type="pres">
      <dgm:prSet presAssocID="{655E98CE-C9FB-4381-A24E-B6484CA52504}" presName="vertSpace2b" presStyleCnt="0"/>
      <dgm:spPr/>
    </dgm:pt>
    <dgm:pt modelId="{0154A724-BD11-46C4-A35D-4BB2153BD56D}" type="pres">
      <dgm:prSet presAssocID="{274DFB95-B32E-4351-BA50-BFE07FCB6E8B}" presName="horz2" presStyleCnt="0"/>
      <dgm:spPr/>
    </dgm:pt>
    <dgm:pt modelId="{97F891F0-858D-4A97-887E-C113CEF61633}" type="pres">
      <dgm:prSet presAssocID="{274DFB95-B32E-4351-BA50-BFE07FCB6E8B}" presName="horzSpace2" presStyleCnt="0"/>
      <dgm:spPr/>
    </dgm:pt>
    <dgm:pt modelId="{DB39F915-DE08-4253-B3EA-F828D8C4119C}" type="pres">
      <dgm:prSet presAssocID="{274DFB95-B32E-4351-BA50-BFE07FCB6E8B}" presName="tx2" presStyleLbl="revTx" presStyleIdx="16" presStyleCnt="18"/>
      <dgm:spPr/>
    </dgm:pt>
    <dgm:pt modelId="{16852731-EB19-44FF-B058-3AD37B7083A1}" type="pres">
      <dgm:prSet presAssocID="{274DFB95-B32E-4351-BA50-BFE07FCB6E8B}" presName="vert2" presStyleCnt="0"/>
      <dgm:spPr/>
    </dgm:pt>
    <dgm:pt modelId="{058527E8-AD60-4D7A-B0E3-CA89ECEBBEA3}" type="pres">
      <dgm:prSet presAssocID="{F72FB6B5-8A8E-460E-A8B8-0568DC14D976}" presName="horz3" presStyleCnt="0"/>
      <dgm:spPr/>
    </dgm:pt>
    <dgm:pt modelId="{0A12263A-770E-458E-86FA-7DB83ADD4DD4}" type="pres">
      <dgm:prSet presAssocID="{F72FB6B5-8A8E-460E-A8B8-0568DC14D976}" presName="horzSpace3" presStyleCnt="0"/>
      <dgm:spPr/>
    </dgm:pt>
    <dgm:pt modelId="{C53E4847-6926-465C-876B-72570D705DF8}" type="pres">
      <dgm:prSet presAssocID="{F72FB6B5-8A8E-460E-A8B8-0568DC14D976}" presName="tx3" presStyleLbl="revTx" presStyleIdx="17" presStyleCnt="18"/>
      <dgm:spPr/>
    </dgm:pt>
    <dgm:pt modelId="{271131BB-EDF8-4E37-9084-7254A0BDBB26}" type="pres">
      <dgm:prSet presAssocID="{F72FB6B5-8A8E-460E-A8B8-0568DC14D976}" presName="vert3" presStyleCnt="0"/>
      <dgm:spPr/>
    </dgm:pt>
    <dgm:pt modelId="{670C93D7-3168-4AE0-9A32-CDFC94F0B65F}" type="pres">
      <dgm:prSet presAssocID="{274DFB95-B32E-4351-BA50-BFE07FCB6E8B}" presName="thinLine2b" presStyleLbl="callout" presStyleIdx="8" presStyleCnt="9"/>
      <dgm:spPr/>
    </dgm:pt>
    <dgm:pt modelId="{3B554A8F-B22F-4F02-9EE3-C44EDC59D5D7}" type="pres">
      <dgm:prSet presAssocID="{274DFB95-B32E-4351-BA50-BFE07FCB6E8B}" presName="vertSpace2b" presStyleCnt="0"/>
      <dgm:spPr/>
    </dgm:pt>
  </dgm:ptLst>
  <dgm:cxnLst>
    <dgm:cxn modelId="{919FBC10-1947-4F2B-AAD3-0C44E17F72D5}" type="presOf" srcId="{1FDE22CE-07E6-463C-B35C-CB9450803351}" destId="{13436EC6-BFCE-43B7-84CC-E406F924BABF}" srcOrd="0" destOrd="0" presId="urn:microsoft.com/office/officeart/2008/layout/LinedList"/>
    <dgm:cxn modelId="{CF9AC733-E540-46F3-988C-D5A473BC50A4}" type="presOf" srcId="{F13A848D-C991-4271-AD49-7434D872A1D1}" destId="{1E798408-ECD7-41A3-B8F5-99C3D5055626}" srcOrd="0" destOrd="0" presId="urn:microsoft.com/office/officeart/2008/layout/LinedList"/>
    <dgm:cxn modelId="{B8264C34-6D7F-4C1B-AB59-D465732A5600}" srcId="{CED4F849-C16A-4849-B874-B88DB5BDFFA1}" destId="{62421199-DD6A-4A3B-B284-E41FB86F51BE}" srcOrd="0" destOrd="0" parTransId="{87C4B061-89D1-47FE-9196-90B55ABCD5AD}" sibTransId="{1A7CBE99-F95D-4E62-81D9-D0260BB2E7C1}"/>
    <dgm:cxn modelId="{3A03ED34-595A-4A5B-A1F0-10AC1C711347}" type="presOf" srcId="{62421199-DD6A-4A3B-B284-E41FB86F51BE}" destId="{A58F60AD-CBB8-4F28-A152-FFC0B6CD2719}" srcOrd="0" destOrd="0" presId="urn:microsoft.com/office/officeart/2008/layout/LinedList"/>
    <dgm:cxn modelId="{A95F5E35-99FD-46FA-9782-D43E8DD1D5C9}" type="presOf" srcId="{820AB9D8-D8B1-492B-AB7A-734A381D7C47}" destId="{E8225F27-CC26-44BA-9688-E3AD73CE14EC}" srcOrd="0" destOrd="0" presId="urn:microsoft.com/office/officeart/2008/layout/LinedList"/>
    <dgm:cxn modelId="{134AF43C-B488-4C2D-AF2B-CE802C0DA465}" type="presOf" srcId="{655E98CE-C9FB-4381-A24E-B6484CA52504}" destId="{1848067F-9F7C-4891-8B10-B49301F4D0DF}" srcOrd="0" destOrd="0" presId="urn:microsoft.com/office/officeart/2008/layout/LinedList"/>
    <dgm:cxn modelId="{99DBF15C-1A0B-4445-903F-115685D73931}" srcId="{B91FE892-E60E-40DD-B031-C98FB338835C}" destId="{F13A848D-C991-4271-AD49-7434D872A1D1}" srcOrd="1" destOrd="0" parTransId="{3669225E-B2CA-4FBE-8ACE-73F4781A20C1}" sibTransId="{C3CD45AD-B5B8-4ED4-A35E-D89E0324FDD5}"/>
    <dgm:cxn modelId="{69E38E61-80FE-4354-B86B-298C162620A8}" srcId="{6C50018E-3E00-418E-8766-480E317B84DF}" destId="{1FDE22CE-07E6-463C-B35C-CB9450803351}" srcOrd="0" destOrd="0" parTransId="{00FD4EBF-6507-4C2E-B63E-ACEBD7F7A049}" sibTransId="{3963B384-6439-47D7-AD98-8B17A0EAC23A}"/>
    <dgm:cxn modelId="{AE377163-9C0D-47FA-8C7D-B55002A3D8B9}" srcId="{B91FE892-E60E-40DD-B031-C98FB338835C}" destId="{8AF60A95-3E06-46B9-86C1-7A02AFE31577}" srcOrd="0" destOrd="0" parTransId="{031E7EC8-C909-477A-8202-4FF6FCC2F67C}" sibTransId="{FD954C06-24C5-4C61-8BA0-6296858F98AA}"/>
    <dgm:cxn modelId="{ABD5B263-6F58-4934-A475-AFA0CC4428C1}" srcId="{74E54E01-E759-40B3-86C0-88B14D06DAF8}" destId="{CED4F849-C16A-4849-B874-B88DB5BDFFA1}" srcOrd="1" destOrd="0" parTransId="{5EC863A6-BBE4-452B-88CD-A52CD05CD685}" sibTransId="{47EDE0AF-E340-4A60-A754-76B8747751B9}"/>
    <dgm:cxn modelId="{549F2D68-5E94-4626-A46C-92BB359DB663}" type="presOf" srcId="{6C50018E-3E00-418E-8766-480E317B84DF}" destId="{884E6BFA-1EDE-42E0-A16A-911D93E90B17}" srcOrd="0" destOrd="0" presId="urn:microsoft.com/office/officeart/2008/layout/LinedList"/>
    <dgm:cxn modelId="{A763704A-920A-409F-AFFC-D2760A0474EC}" type="presOf" srcId="{74E54E01-E759-40B3-86C0-88B14D06DAF8}" destId="{368F752D-7548-4BF2-A150-083ECE0DD044}" srcOrd="0" destOrd="0" presId="urn:microsoft.com/office/officeart/2008/layout/LinedList"/>
    <dgm:cxn modelId="{DCDF856C-7153-44A4-94C3-C9BB3762F14A}" srcId="{3897AECF-0217-4092-9A5B-ECA92B79F680}" destId="{480DFD46-9B1B-4B74-8E5C-FBDECF6EF305}" srcOrd="0" destOrd="0" parTransId="{BD52B727-704E-40AE-A6EC-EE67D5AC4704}" sibTransId="{46F5E5F5-B2D2-467E-B7A2-7BD8E1117BB8}"/>
    <dgm:cxn modelId="{72E02C4D-FB30-4C67-8D2D-F0F66AF5B43E}" srcId="{00B3BFB2-3EB2-4C0C-A57B-216BAB93EDB0}" destId="{74E54E01-E759-40B3-86C0-88B14D06DAF8}" srcOrd="1" destOrd="0" parTransId="{FF7F5150-ED56-4AAD-B769-3F7DC6BA570B}" sibTransId="{833E7A7C-E9CD-465B-B235-C8D07E46B6D2}"/>
    <dgm:cxn modelId="{F90FF851-E92E-4EEE-90B6-EEA1645C5B5F}" srcId="{00B3BFB2-3EB2-4C0C-A57B-216BAB93EDB0}" destId="{33D45233-21D5-4F79-9609-9B87E0A07890}" srcOrd="3" destOrd="0" parTransId="{D280D316-A26B-42F0-8947-3EECB1A8EF1A}" sibTransId="{1E4D7292-E663-42BB-B3A9-8FDA0F4D116A}"/>
    <dgm:cxn modelId="{F5A97672-C03A-4612-A911-80AD43B8C1C4}" type="presOf" srcId="{CED4F849-C16A-4849-B874-B88DB5BDFFA1}" destId="{C67DD435-04F2-441C-B8F7-3E897D2A604C}" srcOrd="0" destOrd="0" presId="urn:microsoft.com/office/officeart/2008/layout/LinedList"/>
    <dgm:cxn modelId="{A965E874-7A4D-49AC-8788-ADE73094C76B}" srcId="{00B3BFB2-3EB2-4C0C-A57B-216BAB93EDB0}" destId="{6C50018E-3E00-418E-8766-480E317B84DF}" srcOrd="0" destOrd="0" parTransId="{9B843423-7C65-4621-9213-958CA114410F}" sibTransId="{384A38A6-9806-485C-8172-FCBE28617D8A}"/>
    <dgm:cxn modelId="{B7700675-2D2F-4F7E-9887-686BD9BB0F02}" srcId="{00B3BFB2-3EB2-4C0C-A57B-216BAB93EDB0}" destId="{B91FE892-E60E-40DD-B031-C98FB338835C}" srcOrd="2" destOrd="0" parTransId="{365BA8D3-D345-4FC0-9A2E-2CCEEDA4FE63}" sibTransId="{92FAE6C0-5699-4667-BE38-255A7CACBA93}"/>
    <dgm:cxn modelId="{3CD42D80-10DC-4B57-BC6D-EF4C08D3230B}" srcId="{6C50018E-3E00-418E-8766-480E317B84DF}" destId="{820AB9D8-D8B1-492B-AB7A-734A381D7C47}" srcOrd="1" destOrd="0" parTransId="{2B124BA9-23F6-4F3E-B76B-CD6AB343EC90}" sibTransId="{BE6B0EEA-DBFD-4884-B3EB-2B3BA059182B}"/>
    <dgm:cxn modelId="{8D3D2886-858E-4F22-8D34-BF0945E694A4}" type="presOf" srcId="{33D45233-21D5-4F79-9609-9B87E0A07890}" destId="{A3CC36F1-FBFC-4B74-8DBC-02948B56CF18}" srcOrd="0" destOrd="0" presId="urn:microsoft.com/office/officeart/2008/layout/LinedList"/>
    <dgm:cxn modelId="{E07C1D90-5C4D-48A9-9BFC-7318633AD637}" srcId="{74E54E01-E759-40B3-86C0-88B14D06DAF8}" destId="{BA6300B7-E174-49D1-B891-986ACE6741D8}" srcOrd="0" destOrd="0" parTransId="{89013252-C36B-4D50-8B78-BE7D1CACFA18}" sibTransId="{70E67BD0-9920-49AE-8333-A8F5CF00C23B}"/>
    <dgm:cxn modelId="{28F46096-7E0A-4A99-9AFF-5B8CA00ED499}" srcId="{33D45233-21D5-4F79-9609-9B87E0A07890}" destId="{274DFB95-B32E-4351-BA50-BFE07FCB6E8B}" srcOrd="1" destOrd="0" parTransId="{A151BEF0-B74F-44C7-8EF0-A96D39065B7C}" sibTransId="{7E2C1290-BA8B-4DD2-84A3-7069D2AB2AAD}"/>
    <dgm:cxn modelId="{298D7B99-FEB4-4E99-BF3A-D0657B5D15F0}" srcId="{274DFB95-B32E-4351-BA50-BFE07FCB6E8B}" destId="{F72FB6B5-8A8E-460E-A8B8-0568DC14D976}" srcOrd="0" destOrd="0" parTransId="{CCCF0604-4631-414A-8C02-79C2CB810166}" sibTransId="{D28E24DE-89AE-406B-8832-383302653DED}"/>
    <dgm:cxn modelId="{D88B719F-6BA6-4D36-BECE-4B38C866FBE0}" type="presOf" srcId="{8AF60A95-3E06-46B9-86C1-7A02AFE31577}" destId="{9B9873AA-A0D5-4963-AE63-95BC95EC30FA}" srcOrd="0" destOrd="0" presId="urn:microsoft.com/office/officeart/2008/layout/LinedList"/>
    <dgm:cxn modelId="{E736AFAF-6932-4E58-93C7-A209E290050E}" type="presOf" srcId="{480DFD46-9B1B-4B74-8E5C-FBDECF6EF305}" destId="{ECEC8AE9-8AB5-4962-9FE6-A525B1A820B9}" srcOrd="0" destOrd="0" presId="urn:microsoft.com/office/officeart/2008/layout/LinedList"/>
    <dgm:cxn modelId="{256CECB0-9E01-4900-9B00-A2FD434327CD}" srcId="{F13A848D-C991-4271-AD49-7434D872A1D1}" destId="{0C9CC782-90B1-42A5-B757-73A00DB99EE3}" srcOrd="0" destOrd="0" parTransId="{9110B4C6-82BA-4AD0-B945-B690032B2FE1}" sibTransId="{7361D90E-8E82-4303-9CB7-182234794ECB}"/>
    <dgm:cxn modelId="{DDAB66C4-625B-4AB1-8411-D6C7B46BBD48}" type="presOf" srcId="{274DFB95-B32E-4351-BA50-BFE07FCB6E8B}" destId="{DB39F915-DE08-4253-B3EA-F828D8C4119C}" srcOrd="0" destOrd="0" presId="urn:microsoft.com/office/officeart/2008/layout/LinedList"/>
    <dgm:cxn modelId="{597C90C9-3FD2-4168-AFEC-E098A4600782}" srcId="{820AB9D8-D8B1-492B-AB7A-734A381D7C47}" destId="{25FBC6DB-4D34-402C-91DD-BFB763C23934}" srcOrd="0" destOrd="0" parTransId="{8C91B013-4C87-4291-9E19-D4FDC54A2AB9}" sibTransId="{CD3C0AF0-47B6-461A-82D2-20A756DA0E53}"/>
    <dgm:cxn modelId="{B324F0CA-59EC-4099-AA1C-27D680FEFF12}" srcId="{74E54E01-E759-40B3-86C0-88B14D06DAF8}" destId="{3897AECF-0217-4092-9A5B-ECA92B79F680}" srcOrd="2" destOrd="0" parTransId="{BBD41BAD-469B-4323-A197-3E2D9D9DB5B3}" sibTransId="{6E183E48-D578-42E6-BA67-093D137B7C87}"/>
    <dgm:cxn modelId="{F09B43CD-539A-4F09-8FD0-B5C5EA6BDCD5}" type="presOf" srcId="{F72FB6B5-8A8E-460E-A8B8-0568DC14D976}" destId="{C53E4847-6926-465C-876B-72570D705DF8}" srcOrd="0" destOrd="0" presId="urn:microsoft.com/office/officeart/2008/layout/LinedList"/>
    <dgm:cxn modelId="{53D328D2-5460-4EE2-9C44-E8F949C3EEA2}" type="presOf" srcId="{3897AECF-0217-4092-9A5B-ECA92B79F680}" destId="{40F0D3FA-1589-4E51-9190-761EF0AB183C}" srcOrd="0" destOrd="0" presId="urn:microsoft.com/office/officeart/2008/layout/LinedList"/>
    <dgm:cxn modelId="{0CEB38DC-7A19-4417-994E-8D6BCC1E63E3}" srcId="{33D45233-21D5-4F79-9609-9B87E0A07890}" destId="{655E98CE-C9FB-4381-A24E-B6484CA52504}" srcOrd="0" destOrd="0" parTransId="{D9A74D38-F01A-4FCC-8CC9-83E6BADB93C0}" sibTransId="{6EB55D5C-ADE1-4A3A-9883-CD6CCE061267}"/>
    <dgm:cxn modelId="{5145B6E3-ACBF-4E68-AFD9-E949DB8B7685}" type="presOf" srcId="{00B3BFB2-3EB2-4C0C-A57B-216BAB93EDB0}" destId="{C50D7902-7AD5-4BF6-AEFA-20F2F7AC76F9}" srcOrd="0" destOrd="0" presId="urn:microsoft.com/office/officeart/2008/layout/LinedList"/>
    <dgm:cxn modelId="{4FA657E5-C02C-4AFB-9DE0-62496ABBA633}" type="presOf" srcId="{0C9CC782-90B1-42A5-B757-73A00DB99EE3}" destId="{438A7380-4B7A-4B87-9406-DC698B90B954}" srcOrd="0" destOrd="0" presId="urn:microsoft.com/office/officeart/2008/layout/LinedList"/>
    <dgm:cxn modelId="{452F70E7-1B5D-4C84-974D-160212FE9D1E}" type="presOf" srcId="{BA6300B7-E174-49D1-B891-986ACE6741D8}" destId="{6A8D428A-9000-44C9-98AE-0186B7AF7C6F}" srcOrd="0" destOrd="0" presId="urn:microsoft.com/office/officeart/2008/layout/LinedList"/>
    <dgm:cxn modelId="{8EC213F0-BDF3-4B96-9D72-F0F57CA48A07}" type="presOf" srcId="{B91FE892-E60E-40DD-B031-C98FB338835C}" destId="{D0BEC7A1-2933-4C1D-97AA-69B8AB72D1B0}" srcOrd="0" destOrd="0" presId="urn:microsoft.com/office/officeart/2008/layout/LinedList"/>
    <dgm:cxn modelId="{E6D5CAF6-38FF-49C8-9473-696BEBDA13FB}" type="presOf" srcId="{25FBC6DB-4D34-402C-91DD-BFB763C23934}" destId="{58F88AA7-2676-4E7D-B81B-266BBD17EFD7}" srcOrd="0" destOrd="0" presId="urn:microsoft.com/office/officeart/2008/layout/LinedList"/>
    <dgm:cxn modelId="{06D4C988-7523-4B3D-B01F-2A398A34B027}" type="presParOf" srcId="{C50D7902-7AD5-4BF6-AEFA-20F2F7AC76F9}" destId="{F7CBDDB8-B44E-40FE-8F86-06AD9AEBFCEB}" srcOrd="0" destOrd="0" presId="urn:microsoft.com/office/officeart/2008/layout/LinedList"/>
    <dgm:cxn modelId="{1A09BD8B-D0CD-4B0E-B3C2-30ADE6A09986}" type="presParOf" srcId="{C50D7902-7AD5-4BF6-AEFA-20F2F7AC76F9}" destId="{866B8E17-A18B-4389-8446-4D40EAF09F40}" srcOrd="1" destOrd="0" presId="urn:microsoft.com/office/officeart/2008/layout/LinedList"/>
    <dgm:cxn modelId="{4E2BB4C6-EB0E-432B-9A33-4C97FAFB2B3C}" type="presParOf" srcId="{866B8E17-A18B-4389-8446-4D40EAF09F40}" destId="{884E6BFA-1EDE-42E0-A16A-911D93E90B17}" srcOrd="0" destOrd="0" presId="urn:microsoft.com/office/officeart/2008/layout/LinedList"/>
    <dgm:cxn modelId="{F90B6899-12A8-4549-B5FD-C9195D33F2C3}" type="presParOf" srcId="{866B8E17-A18B-4389-8446-4D40EAF09F40}" destId="{E6D3DFAE-6ECA-47E9-A821-E88A7437B880}" srcOrd="1" destOrd="0" presId="urn:microsoft.com/office/officeart/2008/layout/LinedList"/>
    <dgm:cxn modelId="{FCAA523C-0425-413B-A903-023E08D1FC80}" type="presParOf" srcId="{E6D3DFAE-6ECA-47E9-A821-E88A7437B880}" destId="{3BBB571D-CB71-415B-8073-934FA18A2169}" srcOrd="0" destOrd="0" presId="urn:microsoft.com/office/officeart/2008/layout/LinedList"/>
    <dgm:cxn modelId="{BD361C3D-1FFD-4BBB-9426-2D630E748195}" type="presParOf" srcId="{E6D3DFAE-6ECA-47E9-A821-E88A7437B880}" destId="{89CAF466-F1EF-4F61-80E5-DBEB411A3551}" srcOrd="1" destOrd="0" presId="urn:microsoft.com/office/officeart/2008/layout/LinedList"/>
    <dgm:cxn modelId="{077C020B-E93B-4C7F-84A0-13B9A2968208}" type="presParOf" srcId="{89CAF466-F1EF-4F61-80E5-DBEB411A3551}" destId="{459F39C2-0FDF-4351-8467-E0416767320B}" srcOrd="0" destOrd="0" presId="urn:microsoft.com/office/officeart/2008/layout/LinedList"/>
    <dgm:cxn modelId="{B172C604-FDF7-4D52-9B4E-593476001429}" type="presParOf" srcId="{89CAF466-F1EF-4F61-80E5-DBEB411A3551}" destId="{13436EC6-BFCE-43B7-84CC-E406F924BABF}" srcOrd="1" destOrd="0" presId="urn:microsoft.com/office/officeart/2008/layout/LinedList"/>
    <dgm:cxn modelId="{0A63C92B-08A0-4BEB-90C5-78089162AF3B}" type="presParOf" srcId="{89CAF466-F1EF-4F61-80E5-DBEB411A3551}" destId="{EDE95A06-B225-4845-A42B-47E92A2B021B}" srcOrd="2" destOrd="0" presId="urn:microsoft.com/office/officeart/2008/layout/LinedList"/>
    <dgm:cxn modelId="{E43B3899-0ADC-44C4-90EB-26C5DF7F825C}" type="presParOf" srcId="{E6D3DFAE-6ECA-47E9-A821-E88A7437B880}" destId="{20E70A45-8E90-46F3-ACA3-278C30246CDE}" srcOrd="2" destOrd="0" presId="urn:microsoft.com/office/officeart/2008/layout/LinedList"/>
    <dgm:cxn modelId="{C2EA6347-56C5-487C-9421-2F0757371AA4}" type="presParOf" srcId="{E6D3DFAE-6ECA-47E9-A821-E88A7437B880}" destId="{8EA82277-8946-4320-A889-2DC76C6BA542}" srcOrd="3" destOrd="0" presId="urn:microsoft.com/office/officeart/2008/layout/LinedList"/>
    <dgm:cxn modelId="{BE4B9B43-8FF7-482C-9ED8-C7AEFF67759C}" type="presParOf" srcId="{E6D3DFAE-6ECA-47E9-A821-E88A7437B880}" destId="{77E3CB8A-11E4-4202-A593-BB4B5A74528D}" srcOrd="4" destOrd="0" presId="urn:microsoft.com/office/officeart/2008/layout/LinedList"/>
    <dgm:cxn modelId="{18FEBB8B-64AD-4235-A43F-D0210914E9B1}" type="presParOf" srcId="{77E3CB8A-11E4-4202-A593-BB4B5A74528D}" destId="{49ED0E18-2416-47AC-86D3-258813F8D493}" srcOrd="0" destOrd="0" presId="urn:microsoft.com/office/officeart/2008/layout/LinedList"/>
    <dgm:cxn modelId="{4ECD38E0-3E96-4E31-8126-37D3D607DF68}" type="presParOf" srcId="{77E3CB8A-11E4-4202-A593-BB4B5A74528D}" destId="{E8225F27-CC26-44BA-9688-E3AD73CE14EC}" srcOrd="1" destOrd="0" presId="urn:microsoft.com/office/officeart/2008/layout/LinedList"/>
    <dgm:cxn modelId="{64C27593-42F8-4818-AAE3-BC5DBB02AA71}" type="presParOf" srcId="{77E3CB8A-11E4-4202-A593-BB4B5A74528D}" destId="{34346C4A-2C9A-4318-8443-BAB1B48F35B7}" srcOrd="2" destOrd="0" presId="urn:microsoft.com/office/officeart/2008/layout/LinedList"/>
    <dgm:cxn modelId="{4EA01A42-DA0E-441A-BF76-F8225570A166}" type="presParOf" srcId="{34346C4A-2C9A-4318-8443-BAB1B48F35B7}" destId="{4CA67005-827B-4499-890A-F7D4E34603B9}" srcOrd="0" destOrd="0" presId="urn:microsoft.com/office/officeart/2008/layout/LinedList"/>
    <dgm:cxn modelId="{D4E7D2B5-B6EE-46C9-B5A5-88AFBDFEB3BC}" type="presParOf" srcId="{4CA67005-827B-4499-890A-F7D4E34603B9}" destId="{3CA29258-71F1-4A29-8573-45DC850A7ABB}" srcOrd="0" destOrd="0" presId="urn:microsoft.com/office/officeart/2008/layout/LinedList"/>
    <dgm:cxn modelId="{4A4585CE-714F-446D-83C8-EDE5454F8C6A}" type="presParOf" srcId="{4CA67005-827B-4499-890A-F7D4E34603B9}" destId="{58F88AA7-2676-4E7D-B81B-266BBD17EFD7}" srcOrd="1" destOrd="0" presId="urn:microsoft.com/office/officeart/2008/layout/LinedList"/>
    <dgm:cxn modelId="{792F9953-334E-41E5-9E72-6836647CAB4E}" type="presParOf" srcId="{4CA67005-827B-4499-890A-F7D4E34603B9}" destId="{A71DFEA9-2F2E-4AB7-9AAC-3B1433BDE62C}" srcOrd="2" destOrd="0" presId="urn:microsoft.com/office/officeart/2008/layout/LinedList"/>
    <dgm:cxn modelId="{D58F1BDD-7612-41CF-91F6-137FB8CB387F}" type="presParOf" srcId="{E6D3DFAE-6ECA-47E9-A821-E88A7437B880}" destId="{AA2DD44F-3F2B-4614-A247-421557DBE957}" srcOrd="5" destOrd="0" presId="urn:microsoft.com/office/officeart/2008/layout/LinedList"/>
    <dgm:cxn modelId="{74C16EBC-21BC-40B1-98D3-3C9A1C7DC170}" type="presParOf" srcId="{E6D3DFAE-6ECA-47E9-A821-E88A7437B880}" destId="{9C257025-1F16-41ED-BA58-49360FFC3F12}" srcOrd="6" destOrd="0" presId="urn:microsoft.com/office/officeart/2008/layout/LinedList"/>
    <dgm:cxn modelId="{9185E829-FDA9-4D69-9CC1-E031F9C6D3B7}" type="presParOf" srcId="{C50D7902-7AD5-4BF6-AEFA-20F2F7AC76F9}" destId="{529BE7D3-79EC-4A80-9389-BDCE427239FC}" srcOrd="2" destOrd="0" presId="urn:microsoft.com/office/officeart/2008/layout/LinedList"/>
    <dgm:cxn modelId="{8364A4FC-1F68-498F-8FCD-BC2303D148F7}" type="presParOf" srcId="{C50D7902-7AD5-4BF6-AEFA-20F2F7AC76F9}" destId="{5732A5A4-54C4-4B7D-B9B0-2ED9463BC6EC}" srcOrd="3" destOrd="0" presId="urn:microsoft.com/office/officeart/2008/layout/LinedList"/>
    <dgm:cxn modelId="{048C2F67-4575-46B5-A15B-5684466986B8}" type="presParOf" srcId="{5732A5A4-54C4-4B7D-B9B0-2ED9463BC6EC}" destId="{368F752D-7548-4BF2-A150-083ECE0DD044}" srcOrd="0" destOrd="0" presId="urn:microsoft.com/office/officeart/2008/layout/LinedList"/>
    <dgm:cxn modelId="{6D943B16-F84B-4AE8-8E88-4B6F37F4AAF1}" type="presParOf" srcId="{5732A5A4-54C4-4B7D-B9B0-2ED9463BC6EC}" destId="{F927237D-3D12-4041-B551-382BFB547F0F}" srcOrd="1" destOrd="0" presId="urn:microsoft.com/office/officeart/2008/layout/LinedList"/>
    <dgm:cxn modelId="{DABAA9E3-B6F3-4101-9F03-E85825E0A188}" type="presParOf" srcId="{F927237D-3D12-4041-B551-382BFB547F0F}" destId="{FD63670D-9C32-482B-95BA-A309400C7063}" srcOrd="0" destOrd="0" presId="urn:microsoft.com/office/officeart/2008/layout/LinedList"/>
    <dgm:cxn modelId="{0E4234CE-3EA0-43CB-B415-A09C2BEB8193}" type="presParOf" srcId="{F927237D-3D12-4041-B551-382BFB547F0F}" destId="{CFF3CF21-1B8A-48F1-BA0E-AA224B79EF66}" srcOrd="1" destOrd="0" presId="urn:microsoft.com/office/officeart/2008/layout/LinedList"/>
    <dgm:cxn modelId="{D5B45771-CEE0-4BF3-9453-18E5FCF040DC}" type="presParOf" srcId="{CFF3CF21-1B8A-48F1-BA0E-AA224B79EF66}" destId="{36EC0820-CE0E-429E-9D13-75B6F90895CD}" srcOrd="0" destOrd="0" presId="urn:microsoft.com/office/officeart/2008/layout/LinedList"/>
    <dgm:cxn modelId="{DE51EEA0-36C7-4868-9604-B43606F2CCAC}" type="presParOf" srcId="{CFF3CF21-1B8A-48F1-BA0E-AA224B79EF66}" destId="{6A8D428A-9000-44C9-98AE-0186B7AF7C6F}" srcOrd="1" destOrd="0" presId="urn:microsoft.com/office/officeart/2008/layout/LinedList"/>
    <dgm:cxn modelId="{59BEC94B-CE8D-4E69-9351-9C51F49CFB01}" type="presParOf" srcId="{CFF3CF21-1B8A-48F1-BA0E-AA224B79EF66}" destId="{F66EA1C6-26EB-4E8F-8A1D-E5518516B4FB}" srcOrd="2" destOrd="0" presId="urn:microsoft.com/office/officeart/2008/layout/LinedList"/>
    <dgm:cxn modelId="{AC9E23CD-14B4-43E2-898F-8B9C8F7FCE95}" type="presParOf" srcId="{F927237D-3D12-4041-B551-382BFB547F0F}" destId="{692E75AD-DAE2-49B1-BFEA-27B5584036FC}" srcOrd="2" destOrd="0" presId="urn:microsoft.com/office/officeart/2008/layout/LinedList"/>
    <dgm:cxn modelId="{626FE69C-7C04-4C8C-A570-803B045C252D}" type="presParOf" srcId="{F927237D-3D12-4041-B551-382BFB547F0F}" destId="{F3EE8A05-5B9A-4F7E-89E0-2DABD613FF1F}" srcOrd="3" destOrd="0" presId="urn:microsoft.com/office/officeart/2008/layout/LinedList"/>
    <dgm:cxn modelId="{E8664832-16BD-4009-8849-66A25A69FB17}" type="presParOf" srcId="{F927237D-3D12-4041-B551-382BFB547F0F}" destId="{F01E17DD-E90E-4F37-8F80-975B5DFC9671}" srcOrd="4" destOrd="0" presId="urn:microsoft.com/office/officeart/2008/layout/LinedList"/>
    <dgm:cxn modelId="{6E7EE395-A4AE-48EE-95B8-1B9370F60746}" type="presParOf" srcId="{F01E17DD-E90E-4F37-8F80-975B5DFC9671}" destId="{C2388B09-422F-4142-8A66-03C97E88D541}" srcOrd="0" destOrd="0" presId="urn:microsoft.com/office/officeart/2008/layout/LinedList"/>
    <dgm:cxn modelId="{03D09897-CFEE-4039-9EC2-53651657473C}" type="presParOf" srcId="{F01E17DD-E90E-4F37-8F80-975B5DFC9671}" destId="{C67DD435-04F2-441C-B8F7-3E897D2A604C}" srcOrd="1" destOrd="0" presId="urn:microsoft.com/office/officeart/2008/layout/LinedList"/>
    <dgm:cxn modelId="{BF3E2F30-682E-4B4B-A7CB-E25BB74B43E5}" type="presParOf" srcId="{F01E17DD-E90E-4F37-8F80-975B5DFC9671}" destId="{BD414A8B-4C9D-4948-B1DC-8038808F46CE}" srcOrd="2" destOrd="0" presId="urn:microsoft.com/office/officeart/2008/layout/LinedList"/>
    <dgm:cxn modelId="{3C6054D2-8704-49EB-A20D-1719E88ED061}" type="presParOf" srcId="{BD414A8B-4C9D-4948-B1DC-8038808F46CE}" destId="{331DC25A-0B5B-428C-8053-212B69BB2E80}" srcOrd="0" destOrd="0" presId="urn:microsoft.com/office/officeart/2008/layout/LinedList"/>
    <dgm:cxn modelId="{E0C53D94-4574-482C-9C2E-79CAD0AE415E}" type="presParOf" srcId="{331DC25A-0B5B-428C-8053-212B69BB2E80}" destId="{53E4BBF6-B42F-4827-BE0B-CBC15789BE16}" srcOrd="0" destOrd="0" presId="urn:microsoft.com/office/officeart/2008/layout/LinedList"/>
    <dgm:cxn modelId="{728BA7FD-95AF-4BB7-937F-4909F6D5635A}" type="presParOf" srcId="{331DC25A-0B5B-428C-8053-212B69BB2E80}" destId="{A58F60AD-CBB8-4F28-A152-FFC0B6CD2719}" srcOrd="1" destOrd="0" presId="urn:microsoft.com/office/officeart/2008/layout/LinedList"/>
    <dgm:cxn modelId="{A28E6A57-98BB-46D0-A796-2826358FEBFA}" type="presParOf" srcId="{331DC25A-0B5B-428C-8053-212B69BB2E80}" destId="{EE9DDE03-45CC-4D90-855C-06AA81786EDD}" srcOrd="2" destOrd="0" presId="urn:microsoft.com/office/officeart/2008/layout/LinedList"/>
    <dgm:cxn modelId="{F6B995C2-E8DC-478E-B35E-6214D4873E78}" type="presParOf" srcId="{F927237D-3D12-4041-B551-382BFB547F0F}" destId="{C2C87588-EFD0-41B8-8BE7-B43300940C38}" srcOrd="5" destOrd="0" presId="urn:microsoft.com/office/officeart/2008/layout/LinedList"/>
    <dgm:cxn modelId="{61D3614A-E0B5-402B-BBED-AF4ED4FB5111}" type="presParOf" srcId="{F927237D-3D12-4041-B551-382BFB547F0F}" destId="{2B849A85-31C9-4063-A63E-8A253DA7DC89}" srcOrd="6" destOrd="0" presId="urn:microsoft.com/office/officeart/2008/layout/LinedList"/>
    <dgm:cxn modelId="{19C98924-DE2E-4DC1-BE73-3FA48FACDA4D}" type="presParOf" srcId="{F927237D-3D12-4041-B551-382BFB547F0F}" destId="{6855D11A-66C1-412C-9253-E16AB4F93904}" srcOrd="7" destOrd="0" presId="urn:microsoft.com/office/officeart/2008/layout/LinedList"/>
    <dgm:cxn modelId="{9DAEF7A2-F129-4A1E-B6A3-BB862364F685}" type="presParOf" srcId="{6855D11A-66C1-412C-9253-E16AB4F93904}" destId="{44142FD2-311D-42E1-8756-95CB042BCCC2}" srcOrd="0" destOrd="0" presId="urn:microsoft.com/office/officeart/2008/layout/LinedList"/>
    <dgm:cxn modelId="{F03CD2EA-5368-44C9-8C78-84F6625CAE84}" type="presParOf" srcId="{6855D11A-66C1-412C-9253-E16AB4F93904}" destId="{40F0D3FA-1589-4E51-9190-761EF0AB183C}" srcOrd="1" destOrd="0" presId="urn:microsoft.com/office/officeart/2008/layout/LinedList"/>
    <dgm:cxn modelId="{E026846E-1314-4D22-BCF4-D9A994FACF8F}" type="presParOf" srcId="{6855D11A-66C1-412C-9253-E16AB4F93904}" destId="{A7AE2CCC-600F-4A35-B580-C7128342D272}" srcOrd="2" destOrd="0" presId="urn:microsoft.com/office/officeart/2008/layout/LinedList"/>
    <dgm:cxn modelId="{56EDC1A8-0477-4A1E-8614-1A6D523C4EA3}" type="presParOf" srcId="{A7AE2CCC-600F-4A35-B580-C7128342D272}" destId="{1AADD7D5-BDE9-4A38-BBE2-7AC23FAA2008}" srcOrd="0" destOrd="0" presId="urn:microsoft.com/office/officeart/2008/layout/LinedList"/>
    <dgm:cxn modelId="{8F25D3E1-DC56-4FD0-9A63-5EEC556FA9D2}" type="presParOf" srcId="{1AADD7D5-BDE9-4A38-BBE2-7AC23FAA2008}" destId="{00B6F5AA-3CDA-4375-AE34-C5C2AAEEAA0A}" srcOrd="0" destOrd="0" presId="urn:microsoft.com/office/officeart/2008/layout/LinedList"/>
    <dgm:cxn modelId="{86436BDB-88CA-4036-A3C7-0DB08A309616}" type="presParOf" srcId="{1AADD7D5-BDE9-4A38-BBE2-7AC23FAA2008}" destId="{ECEC8AE9-8AB5-4962-9FE6-A525B1A820B9}" srcOrd="1" destOrd="0" presId="urn:microsoft.com/office/officeart/2008/layout/LinedList"/>
    <dgm:cxn modelId="{DA25B0A1-98FF-43E8-9947-62352E6DBFA6}" type="presParOf" srcId="{1AADD7D5-BDE9-4A38-BBE2-7AC23FAA2008}" destId="{279D29F3-071B-4EDD-B2B0-78DE092D78D9}" srcOrd="2" destOrd="0" presId="urn:microsoft.com/office/officeart/2008/layout/LinedList"/>
    <dgm:cxn modelId="{0E789873-04A7-402A-A201-C32C2C770B36}" type="presParOf" srcId="{F927237D-3D12-4041-B551-382BFB547F0F}" destId="{D7FC1993-C274-4AC9-8F83-E00747C33311}" srcOrd="8" destOrd="0" presId="urn:microsoft.com/office/officeart/2008/layout/LinedList"/>
    <dgm:cxn modelId="{3899B491-1A3C-499F-8135-A78C29F3585A}" type="presParOf" srcId="{F927237D-3D12-4041-B551-382BFB547F0F}" destId="{ECEEEBE2-4C09-4512-9ACB-894B476C3FFA}" srcOrd="9" destOrd="0" presId="urn:microsoft.com/office/officeart/2008/layout/LinedList"/>
    <dgm:cxn modelId="{E9CCBFFB-6705-4EA4-A288-64178BF2F5AD}" type="presParOf" srcId="{C50D7902-7AD5-4BF6-AEFA-20F2F7AC76F9}" destId="{10725305-A49B-40E7-96FF-1ACC30CC89DF}" srcOrd="4" destOrd="0" presId="urn:microsoft.com/office/officeart/2008/layout/LinedList"/>
    <dgm:cxn modelId="{EBF77322-3CE7-4D15-80ED-C578F4294664}" type="presParOf" srcId="{C50D7902-7AD5-4BF6-AEFA-20F2F7AC76F9}" destId="{62521117-B51C-4BC1-96C2-D8EFF15BC2CB}" srcOrd="5" destOrd="0" presId="urn:microsoft.com/office/officeart/2008/layout/LinedList"/>
    <dgm:cxn modelId="{EA4445FA-4C37-4233-8865-1394AFFB6957}" type="presParOf" srcId="{62521117-B51C-4BC1-96C2-D8EFF15BC2CB}" destId="{D0BEC7A1-2933-4C1D-97AA-69B8AB72D1B0}" srcOrd="0" destOrd="0" presId="urn:microsoft.com/office/officeart/2008/layout/LinedList"/>
    <dgm:cxn modelId="{4B81BF2E-8382-4E66-A6E3-5EC40CA50649}" type="presParOf" srcId="{62521117-B51C-4BC1-96C2-D8EFF15BC2CB}" destId="{404FA1BF-420E-4EDA-9BE5-2ADAF46560C2}" srcOrd="1" destOrd="0" presId="urn:microsoft.com/office/officeart/2008/layout/LinedList"/>
    <dgm:cxn modelId="{F01C56F0-D4F1-4FE8-A150-5C3A2243FF90}" type="presParOf" srcId="{404FA1BF-420E-4EDA-9BE5-2ADAF46560C2}" destId="{BF6D685F-A832-49FA-B442-DA506196B59B}" srcOrd="0" destOrd="0" presId="urn:microsoft.com/office/officeart/2008/layout/LinedList"/>
    <dgm:cxn modelId="{E7AE4060-A6F9-47E8-BE75-28DD624D98A8}" type="presParOf" srcId="{404FA1BF-420E-4EDA-9BE5-2ADAF46560C2}" destId="{D5DA0489-9C46-4A88-BF99-C5A30B5597BE}" srcOrd="1" destOrd="0" presId="urn:microsoft.com/office/officeart/2008/layout/LinedList"/>
    <dgm:cxn modelId="{E1DEF1EB-7C4D-41FF-9C03-01D10EB91893}" type="presParOf" srcId="{D5DA0489-9C46-4A88-BF99-C5A30B5597BE}" destId="{9A2BBA94-5CAB-4F86-9314-75CD76AEAA53}" srcOrd="0" destOrd="0" presId="urn:microsoft.com/office/officeart/2008/layout/LinedList"/>
    <dgm:cxn modelId="{C00C16B5-8274-460D-A7B1-61931CF6FCD5}" type="presParOf" srcId="{D5DA0489-9C46-4A88-BF99-C5A30B5597BE}" destId="{9B9873AA-A0D5-4963-AE63-95BC95EC30FA}" srcOrd="1" destOrd="0" presId="urn:microsoft.com/office/officeart/2008/layout/LinedList"/>
    <dgm:cxn modelId="{0A09C03D-1309-4DFE-B318-F14BF23E8950}" type="presParOf" srcId="{D5DA0489-9C46-4A88-BF99-C5A30B5597BE}" destId="{568CFCEB-5F2B-4F0F-B551-FB2B9F777FFA}" srcOrd="2" destOrd="0" presId="urn:microsoft.com/office/officeart/2008/layout/LinedList"/>
    <dgm:cxn modelId="{50F86868-727F-4A98-BB3A-6099F1A3E4C5}" type="presParOf" srcId="{404FA1BF-420E-4EDA-9BE5-2ADAF46560C2}" destId="{6E660B18-8CF3-4C36-88F6-0D64E57105AA}" srcOrd="2" destOrd="0" presId="urn:microsoft.com/office/officeart/2008/layout/LinedList"/>
    <dgm:cxn modelId="{D5B442CB-9F91-4607-88FD-55FDF6B4BA51}" type="presParOf" srcId="{404FA1BF-420E-4EDA-9BE5-2ADAF46560C2}" destId="{BF5B8B98-EC83-49A0-823F-2FA4BF35BD95}" srcOrd="3" destOrd="0" presId="urn:microsoft.com/office/officeart/2008/layout/LinedList"/>
    <dgm:cxn modelId="{E9632A9D-180F-4FCC-AE82-39AF818969E3}" type="presParOf" srcId="{404FA1BF-420E-4EDA-9BE5-2ADAF46560C2}" destId="{E6D77ECD-46E8-4EA1-AB45-A21673CC702B}" srcOrd="4" destOrd="0" presId="urn:microsoft.com/office/officeart/2008/layout/LinedList"/>
    <dgm:cxn modelId="{2B1FDB3F-7697-4C23-8269-AD4852A27171}" type="presParOf" srcId="{E6D77ECD-46E8-4EA1-AB45-A21673CC702B}" destId="{2D181E36-46BA-4416-8EE0-F6EEC4CA6952}" srcOrd="0" destOrd="0" presId="urn:microsoft.com/office/officeart/2008/layout/LinedList"/>
    <dgm:cxn modelId="{0FE6C7FA-1729-4F9D-AD7F-93E02E4DC1E9}" type="presParOf" srcId="{E6D77ECD-46E8-4EA1-AB45-A21673CC702B}" destId="{1E798408-ECD7-41A3-B8F5-99C3D5055626}" srcOrd="1" destOrd="0" presId="urn:microsoft.com/office/officeart/2008/layout/LinedList"/>
    <dgm:cxn modelId="{CE340C6F-4A1E-4A1F-9C37-953D07C2BFF2}" type="presParOf" srcId="{E6D77ECD-46E8-4EA1-AB45-A21673CC702B}" destId="{5E9B4F8C-7684-4950-8AA1-2A1A09FE0383}" srcOrd="2" destOrd="0" presId="urn:microsoft.com/office/officeart/2008/layout/LinedList"/>
    <dgm:cxn modelId="{4D022A56-0246-46E8-ADD5-E13F47102B89}" type="presParOf" srcId="{5E9B4F8C-7684-4950-8AA1-2A1A09FE0383}" destId="{CC556ADA-3D28-4E21-A5C5-71AD079CEBED}" srcOrd="0" destOrd="0" presId="urn:microsoft.com/office/officeart/2008/layout/LinedList"/>
    <dgm:cxn modelId="{23F5D9DE-DB63-4EC5-9468-D8B5DDF1A2D2}" type="presParOf" srcId="{CC556ADA-3D28-4E21-A5C5-71AD079CEBED}" destId="{835A0D29-0AFD-4835-804C-D06729CA4DFB}" srcOrd="0" destOrd="0" presId="urn:microsoft.com/office/officeart/2008/layout/LinedList"/>
    <dgm:cxn modelId="{AFAB29FB-E8B0-4DA4-AEFB-2E4EBD01FBB2}" type="presParOf" srcId="{CC556ADA-3D28-4E21-A5C5-71AD079CEBED}" destId="{438A7380-4B7A-4B87-9406-DC698B90B954}" srcOrd="1" destOrd="0" presId="urn:microsoft.com/office/officeart/2008/layout/LinedList"/>
    <dgm:cxn modelId="{6E88DE5C-122D-4D43-9684-9AF2C99086A6}" type="presParOf" srcId="{CC556ADA-3D28-4E21-A5C5-71AD079CEBED}" destId="{F58BB866-BB48-4EA4-B285-B28720F11F46}" srcOrd="2" destOrd="0" presId="urn:microsoft.com/office/officeart/2008/layout/LinedList"/>
    <dgm:cxn modelId="{1D7BD35C-9074-45A9-A6C8-F4812C1D54AE}" type="presParOf" srcId="{404FA1BF-420E-4EDA-9BE5-2ADAF46560C2}" destId="{C831D013-972B-49A0-8568-B6E74E39EC46}" srcOrd="5" destOrd="0" presId="urn:microsoft.com/office/officeart/2008/layout/LinedList"/>
    <dgm:cxn modelId="{3F24A032-E95D-4871-BD75-479DFB5B247C}" type="presParOf" srcId="{404FA1BF-420E-4EDA-9BE5-2ADAF46560C2}" destId="{3DD90747-BA2E-4442-A185-DB7C686805F0}" srcOrd="6" destOrd="0" presId="urn:microsoft.com/office/officeart/2008/layout/LinedList"/>
    <dgm:cxn modelId="{EEA3481B-7D39-4164-BD9C-09863A52824F}" type="presParOf" srcId="{C50D7902-7AD5-4BF6-AEFA-20F2F7AC76F9}" destId="{191F51AE-741D-4E34-8290-AD1D05A451FD}" srcOrd="6" destOrd="0" presId="urn:microsoft.com/office/officeart/2008/layout/LinedList"/>
    <dgm:cxn modelId="{FB3F0B16-2200-40EB-8F5F-18B833A9E772}" type="presParOf" srcId="{C50D7902-7AD5-4BF6-AEFA-20F2F7AC76F9}" destId="{C981BB37-9354-4283-805E-2F1FDD6E1558}" srcOrd="7" destOrd="0" presId="urn:microsoft.com/office/officeart/2008/layout/LinedList"/>
    <dgm:cxn modelId="{A21926AF-F437-493F-BD39-7407C5A2C108}" type="presParOf" srcId="{C981BB37-9354-4283-805E-2F1FDD6E1558}" destId="{A3CC36F1-FBFC-4B74-8DBC-02948B56CF18}" srcOrd="0" destOrd="0" presId="urn:microsoft.com/office/officeart/2008/layout/LinedList"/>
    <dgm:cxn modelId="{2D4521AD-874B-4AEF-813A-CA5655980A59}" type="presParOf" srcId="{C981BB37-9354-4283-805E-2F1FDD6E1558}" destId="{E30B8C1D-9CF0-4606-A062-61032EAFEC13}" srcOrd="1" destOrd="0" presId="urn:microsoft.com/office/officeart/2008/layout/LinedList"/>
    <dgm:cxn modelId="{69891E1A-99C6-424A-8E85-1D5F794D6626}" type="presParOf" srcId="{E30B8C1D-9CF0-4606-A062-61032EAFEC13}" destId="{CC38468D-3143-46D0-AB4E-BE979610D0BF}" srcOrd="0" destOrd="0" presId="urn:microsoft.com/office/officeart/2008/layout/LinedList"/>
    <dgm:cxn modelId="{D0133DAC-BD7B-4EE0-8914-DB458F3289D6}" type="presParOf" srcId="{E30B8C1D-9CF0-4606-A062-61032EAFEC13}" destId="{3B50C0F0-6EAC-4BA0-B030-415A3B88B509}" srcOrd="1" destOrd="0" presId="urn:microsoft.com/office/officeart/2008/layout/LinedList"/>
    <dgm:cxn modelId="{F45D4F99-4B27-48F9-9540-16DFE5262E77}" type="presParOf" srcId="{3B50C0F0-6EAC-4BA0-B030-415A3B88B509}" destId="{3794EE48-B73B-4BF6-958D-A7A047124399}" srcOrd="0" destOrd="0" presId="urn:microsoft.com/office/officeart/2008/layout/LinedList"/>
    <dgm:cxn modelId="{590BAA73-AFFB-4524-8294-9A2488382848}" type="presParOf" srcId="{3B50C0F0-6EAC-4BA0-B030-415A3B88B509}" destId="{1848067F-9F7C-4891-8B10-B49301F4D0DF}" srcOrd="1" destOrd="0" presId="urn:microsoft.com/office/officeart/2008/layout/LinedList"/>
    <dgm:cxn modelId="{CC12C4A6-1FBA-4E22-9BB0-23A83003CABB}" type="presParOf" srcId="{3B50C0F0-6EAC-4BA0-B030-415A3B88B509}" destId="{618EDCF8-1E5A-4E22-BC38-6CE05350058F}" srcOrd="2" destOrd="0" presId="urn:microsoft.com/office/officeart/2008/layout/LinedList"/>
    <dgm:cxn modelId="{A9B39E93-0AB5-4465-BE6C-81BB24CA61BB}" type="presParOf" srcId="{E30B8C1D-9CF0-4606-A062-61032EAFEC13}" destId="{9AF11706-7CD3-4782-BDFC-F271337E9050}" srcOrd="2" destOrd="0" presId="urn:microsoft.com/office/officeart/2008/layout/LinedList"/>
    <dgm:cxn modelId="{590B38E7-4685-43BE-9B13-B3DBCF155A94}" type="presParOf" srcId="{E30B8C1D-9CF0-4606-A062-61032EAFEC13}" destId="{BDDE2373-FF7F-4B9C-B94B-72D016B21F26}" srcOrd="3" destOrd="0" presId="urn:microsoft.com/office/officeart/2008/layout/LinedList"/>
    <dgm:cxn modelId="{5B5D123A-280E-44D8-98E5-B8440A6F6EE8}" type="presParOf" srcId="{E30B8C1D-9CF0-4606-A062-61032EAFEC13}" destId="{0154A724-BD11-46C4-A35D-4BB2153BD56D}" srcOrd="4" destOrd="0" presId="urn:microsoft.com/office/officeart/2008/layout/LinedList"/>
    <dgm:cxn modelId="{8A50ED3A-FC5F-4DFF-AA02-23FE8D1C7CC3}" type="presParOf" srcId="{0154A724-BD11-46C4-A35D-4BB2153BD56D}" destId="{97F891F0-858D-4A97-887E-C113CEF61633}" srcOrd="0" destOrd="0" presId="urn:microsoft.com/office/officeart/2008/layout/LinedList"/>
    <dgm:cxn modelId="{028748DF-37E2-4B57-9462-531CD1BD7B4F}" type="presParOf" srcId="{0154A724-BD11-46C4-A35D-4BB2153BD56D}" destId="{DB39F915-DE08-4253-B3EA-F828D8C4119C}" srcOrd="1" destOrd="0" presId="urn:microsoft.com/office/officeart/2008/layout/LinedList"/>
    <dgm:cxn modelId="{D2016838-044E-4F6A-B47E-2653FE0B4A01}" type="presParOf" srcId="{0154A724-BD11-46C4-A35D-4BB2153BD56D}" destId="{16852731-EB19-44FF-B058-3AD37B7083A1}" srcOrd="2" destOrd="0" presId="urn:microsoft.com/office/officeart/2008/layout/LinedList"/>
    <dgm:cxn modelId="{A30AEF4E-887A-4741-A60D-574206BEB988}" type="presParOf" srcId="{16852731-EB19-44FF-B058-3AD37B7083A1}" destId="{058527E8-AD60-4D7A-B0E3-CA89ECEBBEA3}" srcOrd="0" destOrd="0" presId="urn:microsoft.com/office/officeart/2008/layout/LinedList"/>
    <dgm:cxn modelId="{2CB7E17D-D0DC-4F63-A442-5AAF32FDEE57}" type="presParOf" srcId="{058527E8-AD60-4D7A-B0E3-CA89ECEBBEA3}" destId="{0A12263A-770E-458E-86FA-7DB83ADD4DD4}" srcOrd="0" destOrd="0" presId="urn:microsoft.com/office/officeart/2008/layout/LinedList"/>
    <dgm:cxn modelId="{675A2ACA-D95F-4995-AD10-4E6F9949697E}" type="presParOf" srcId="{058527E8-AD60-4D7A-B0E3-CA89ECEBBEA3}" destId="{C53E4847-6926-465C-876B-72570D705DF8}" srcOrd="1" destOrd="0" presId="urn:microsoft.com/office/officeart/2008/layout/LinedList"/>
    <dgm:cxn modelId="{1E0275AE-B868-4192-9081-BB6FE9877454}" type="presParOf" srcId="{058527E8-AD60-4D7A-B0E3-CA89ECEBBEA3}" destId="{271131BB-EDF8-4E37-9084-7254A0BDBB26}" srcOrd="2" destOrd="0" presId="urn:microsoft.com/office/officeart/2008/layout/LinedList"/>
    <dgm:cxn modelId="{6570DFAE-3176-46D5-9CF2-5CB3CDA5F49B}" type="presParOf" srcId="{E30B8C1D-9CF0-4606-A062-61032EAFEC13}" destId="{670C93D7-3168-4AE0-9A32-CDFC94F0B65F}" srcOrd="5" destOrd="0" presId="urn:microsoft.com/office/officeart/2008/layout/LinedList"/>
    <dgm:cxn modelId="{CCC9CE65-E2CE-4AC6-8047-05738D32BC25}" type="presParOf" srcId="{E30B8C1D-9CF0-4606-A062-61032EAFEC13}" destId="{3B554A8F-B22F-4F02-9EE3-C44EDC59D5D7}"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2979C8E-EB79-4E91-9055-51B656FF85F1}"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CF23C833-2E92-4BBF-A15F-3A2DA0E828B8}">
      <dgm:prSet custT="1"/>
      <dgm:spPr/>
      <dgm:t>
        <a:bodyPr/>
        <a:lstStyle/>
        <a:p>
          <a:pPr rtl="0"/>
          <a:r>
            <a:rPr lang="en-US" sz="2800" dirty="0"/>
            <a:t>Earnings Multiples</a:t>
          </a:r>
          <a:endParaRPr lang="en-GB" sz="2800" dirty="0"/>
        </a:p>
      </dgm:t>
    </dgm:pt>
    <dgm:pt modelId="{1A02D81F-D6BD-4B7C-8140-D3A7D1669F3B}" type="parTrans" cxnId="{053F5005-31FF-45F4-9598-69AADE88BA2C}">
      <dgm:prSet/>
      <dgm:spPr/>
      <dgm:t>
        <a:bodyPr/>
        <a:lstStyle/>
        <a:p>
          <a:endParaRPr lang="en-GB" sz="2000"/>
        </a:p>
      </dgm:t>
    </dgm:pt>
    <dgm:pt modelId="{11FEA24A-167A-4638-B86A-CA1070916A8A}" type="sibTrans" cxnId="{053F5005-31FF-45F4-9598-69AADE88BA2C}">
      <dgm:prSet/>
      <dgm:spPr/>
      <dgm:t>
        <a:bodyPr/>
        <a:lstStyle/>
        <a:p>
          <a:endParaRPr lang="en-GB" sz="2000"/>
        </a:p>
      </dgm:t>
    </dgm:pt>
    <dgm:pt modelId="{C53E3FE0-31BE-49FD-9F6B-5D3D56FD64C9}">
      <dgm:prSet custT="1"/>
      <dgm:spPr/>
      <dgm:t>
        <a:bodyPr/>
        <a:lstStyle/>
        <a:p>
          <a:pPr rtl="0"/>
          <a:r>
            <a:rPr lang="en-US" sz="1600" dirty="0"/>
            <a:t>Price/Earnings Ratio (PE)</a:t>
          </a:r>
        </a:p>
        <a:p>
          <a:pPr rtl="0"/>
          <a:r>
            <a:rPr lang="en-US" sz="1600" dirty="0"/>
            <a:t> and variants  (PEG and Relative PE)</a:t>
          </a:r>
          <a:endParaRPr lang="en-GB" sz="1600" dirty="0"/>
        </a:p>
      </dgm:t>
    </dgm:pt>
    <dgm:pt modelId="{9E126DF8-7C98-4F47-BACA-4276E5155D2E}" type="parTrans" cxnId="{2BF9EFCF-7BB1-4041-AA6D-BF428708069F}">
      <dgm:prSet/>
      <dgm:spPr/>
      <dgm:t>
        <a:bodyPr/>
        <a:lstStyle/>
        <a:p>
          <a:endParaRPr lang="en-GB" sz="2000"/>
        </a:p>
      </dgm:t>
    </dgm:pt>
    <dgm:pt modelId="{A2CFB6DF-3D36-4B76-B823-93E08A1CDBB8}" type="sibTrans" cxnId="{2BF9EFCF-7BB1-4041-AA6D-BF428708069F}">
      <dgm:prSet/>
      <dgm:spPr/>
      <dgm:t>
        <a:bodyPr/>
        <a:lstStyle/>
        <a:p>
          <a:endParaRPr lang="en-GB" sz="2000"/>
        </a:p>
      </dgm:t>
    </dgm:pt>
    <dgm:pt modelId="{DC2F5561-945B-4362-8237-9189EBAAE0F4}">
      <dgm:prSet custT="1"/>
      <dgm:spPr/>
      <dgm:t>
        <a:bodyPr/>
        <a:lstStyle/>
        <a:p>
          <a:pPr rtl="0"/>
          <a:r>
            <a:rPr lang="en-US" sz="1600" dirty="0"/>
            <a:t>Value/EBIT</a:t>
          </a:r>
          <a:endParaRPr lang="en-GB" sz="1600" dirty="0"/>
        </a:p>
      </dgm:t>
    </dgm:pt>
    <dgm:pt modelId="{9854D061-23CD-4FAB-95CC-EEBDF16130FF}" type="parTrans" cxnId="{194428D6-5867-4488-A231-F6D2A9E327A2}">
      <dgm:prSet/>
      <dgm:spPr/>
      <dgm:t>
        <a:bodyPr/>
        <a:lstStyle/>
        <a:p>
          <a:endParaRPr lang="en-GB" sz="2000"/>
        </a:p>
      </dgm:t>
    </dgm:pt>
    <dgm:pt modelId="{D36B38CC-A241-42FB-AA50-6897D8CB92D9}" type="sibTrans" cxnId="{194428D6-5867-4488-A231-F6D2A9E327A2}">
      <dgm:prSet/>
      <dgm:spPr/>
      <dgm:t>
        <a:bodyPr/>
        <a:lstStyle/>
        <a:p>
          <a:endParaRPr lang="en-GB" sz="2000"/>
        </a:p>
      </dgm:t>
    </dgm:pt>
    <dgm:pt modelId="{31652B2F-ADF0-48D3-9ECB-46D07B8CE806}">
      <dgm:prSet custT="1"/>
      <dgm:spPr/>
      <dgm:t>
        <a:bodyPr/>
        <a:lstStyle/>
        <a:p>
          <a:pPr rtl="0"/>
          <a:r>
            <a:rPr lang="en-US" sz="1600" dirty="0"/>
            <a:t>Value/EBITDA</a:t>
          </a:r>
          <a:endParaRPr lang="en-GB" sz="1600" dirty="0"/>
        </a:p>
      </dgm:t>
    </dgm:pt>
    <dgm:pt modelId="{80E0914E-BE2B-4399-8758-ECE4692252CB}" type="parTrans" cxnId="{D0E26F2E-0854-499C-BBB8-EA025B976489}">
      <dgm:prSet/>
      <dgm:spPr/>
      <dgm:t>
        <a:bodyPr/>
        <a:lstStyle/>
        <a:p>
          <a:endParaRPr lang="en-GB" sz="2000"/>
        </a:p>
      </dgm:t>
    </dgm:pt>
    <dgm:pt modelId="{368AE6B2-7656-4EAE-A286-E0CD9FC57721}" type="sibTrans" cxnId="{D0E26F2E-0854-499C-BBB8-EA025B976489}">
      <dgm:prSet/>
      <dgm:spPr/>
      <dgm:t>
        <a:bodyPr/>
        <a:lstStyle/>
        <a:p>
          <a:endParaRPr lang="en-GB" sz="2000"/>
        </a:p>
      </dgm:t>
    </dgm:pt>
    <dgm:pt modelId="{EAC81400-57B1-48FA-888A-354506020E61}">
      <dgm:prSet custT="1"/>
      <dgm:spPr/>
      <dgm:t>
        <a:bodyPr/>
        <a:lstStyle/>
        <a:p>
          <a:pPr rtl="0"/>
          <a:r>
            <a:rPr lang="en-US" sz="1600" dirty="0"/>
            <a:t>Value/Cash Flow</a:t>
          </a:r>
          <a:endParaRPr lang="en-GB" sz="1600" dirty="0"/>
        </a:p>
      </dgm:t>
    </dgm:pt>
    <dgm:pt modelId="{BC7EACFC-9357-4CE6-AEB9-14D49271E789}" type="parTrans" cxnId="{531A3240-6ECC-457E-BDE8-A8D3954151AC}">
      <dgm:prSet/>
      <dgm:spPr/>
      <dgm:t>
        <a:bodyPr/>
        <a:lstStyle/>
        <a:p>
          <a:endParaRPr lang="en-GB" sz="2000"/>
        </a:p>
      </dgm:t>
    </dgm:pt>
    <dgm:pt modelId="{A770911E-43A2-4EA9-BB1E-66218BEA26C5}" type="sibTrans" cxnId="{531A3240-6ECC-457E-BDE8-A8D3954151AC}">
      <dgm:prSet/>
      <dgm:spPr/>
      <dgm:t>
        <a:bodyPr/>
        <a:lstStyle/>
        <a:p>
          <a:endParaRPr lang="en-GB" sz="2000"/>
        </a:p>
      </dgm:t>
    </dgm:pt>
    <dgm:pt modelId="{6125D43A-4410-4BBA-A540-894F87E2EE91}">
      <dgm:prSet custT="1"/>
      <dgm:spPr/>
      <dgm:t>
        <a:bodyPr/>
        <a:lstStyle/>
        <a:p>
          <a:pPr rtl="0"/>
          <a:r>
            <a:rPr lang="en-US" sz="2800" dirty="0"/>
            <a:t>Book Value Multiples</a:t>
          </a:r>
          <a:endParaRPr lang="en-GB" sz="2800" dirty="0"/>
        </a:p>
      </dgm:t>
    </dgm:pt>
    <dgm:pt modelId="{32118CF0-4468-4223-BAAC-317F702743BA}" type="parTrans" cxnId="{6A34E4C3-15EF-40FC-B4B7-E0CF0A46B749}">
      <dgm:prSet/>
      <dgm:spPr/>
      <dgm:t>
        <a:bodyPr/>
        <a:lstStyle/>
        <a:p>
          <a:endParaRPr lang="en-GB" sz="2000"/>
        </a:p>
      </dgm:t>
    </dgm:pt>
    <dgm:pt modelId="{AD9B8978-E6CD-4CF6-816B-97EE2EED93BC}" type="sibTrans" cxnId="{6A34E4C3-15EF-40FC-B4B7-E0CF0A46B749}">
      <dgm:prSet/>
      <dgm:spPr/>
      <dgm:t>
        <a:bodyPr/>
        <a:lstStyle/>
        <a:p>
          <a:endParaRPr lang="en-GB" sz="2000"/>
        </a:p>
      </dgm:t>
    </dgm:pt>
    <dgm:pt modelId="{270E2FA7-5974-4797-9D0C-F444A10EC4CB}">
      <dgm:prSet custT="1"/>
      <dgm:spPr/>
      <dgm:t>
        <a:bodyPr/>
        <a:lstStyle/>
        <a:p>
          <a:pPr rtl="0"/>
          <a:r>
            <a:rPr lang="en-US" sz="1600" dirty="0"/>
            <a:t>Price/Book Value(of Equity) (PBV)</a:t>
          </a:r>
          <a:endParaRPr lang="en-GB" sz="1600" dirty="0"/>
        </a:p>
      </dgm:t>
    </dgm:pt>
    <dgm:pt modelId="{0262BE20-55FD-4F7E-85AD-2419CE58DC06}" type="parTrans" cxnId="{52A674FE-055D-438C-918E-85CA8EDA3A4D}">
      <dgm:prSet/>
      <dgm:spPr/>
      <dgm:t>
        <a:bodyPr/>
        <a:lstStyle/>
        <a:p>
          <a:endParaRPr lang="en-GB" sz="2000"/>
        </a:p>
      </dgm:t>
    </dgm:pt>
    <dgm:pt modelId="{70739F45-796B-4A20-80CC-A55080BF44FB}" type="sibTrans" cxnId="{52A674FE-055D-438C-918E-85CA8EDA3A4D}">
      <dgm:prSet/>
      <dgm:spPr/>
      <dgm:t>
        <a:bodyPr/>
        <a:lstStyle/>
        <a:p>
          <a:endParaRPr lang="en-GB" sz="2000"/>
        </a:p>
      </dgm:t>
    </dgm:pt>
    <dgm:pt modelId="{7FA72F00-D51A-4AB9-9A6C-9CE0942D7406}">
      <dgm:prSet custT="1"/>
      <dgm:spPr/>
      <dgm:t>
        <a:bodyPr/>
        <a:lstStyle/>
        <a:p>
          <a:pPr rtl="0"/>
          <a:r>
            <a:rPr lang="en-US" sz="1600" dirty="0"/>
            <a:t>Value/ Book Value of Assets</a:t>
          </a:r>
          <a:endParaRPr lang="en-GB" sz="1600" dirty="0"/>
        </a:p>
      </dgm:t>
    </dgm:pt>
    <dgm:pt modelId="{D5EF278B-3FC6-4CC3-B2DE-DC8D19644AF5}" type="parTrans" cxnId="{31F424A2-93AF-4715-A94C-82F6BEEC3C31}">
      <dgm:prSet/>
      <dgm:spPr/>
      <dgm:t>
        <a:bodyPr/>
        <a:lstStyle/>
        <a:p>
          <a:endParaRPr lang="en-GB" sz="2000"/>
        </a:p>
      </dgm:t>
    </dgm:pt>
    <dgm:pt modelId="{396C39DE-1761-4B52-8B16-B8318DEDAD62}" type="sibTrans" cxnId="{31F424A2-93AF-4715-A94C-82F6BEEC3C31}">
      <dgm:prSet/>
      <dgm:spPr/>
      <dgm:t>
        <a:bodyPr/>
        <a:lstStyle/>
        <a:p>
          <a:endParaRPr lang="en-GB" sz="2000"/>
        </a:p>
      </dgm:t>
    </dgm:pt>
    <dgm:pt modelId="{9D891D68-6AF8-49CD-9A6B-51C676559168}">
      <dgm:prSet custT="1"/>
      <dgm:spPr/>
      <dgm:t>
        <a:bodyPr/>
        <a:lstStyle/>
        <a:p>
          <a:pPr rtl="0"/>
          <a:r>
            <a:rPr lang="en-US" sz="1600" dirty="0"/>
            <a:t>Value/Replacement Cost (Tobin’s Q)</a:t>
          </a:r>
          <a:endParaRPr lang="en-GB" sz="1600" dirty="0"/>
        </a:p>
      </dgm:t>
    </dgm:pt>
    <dgm:pt modelId="{9DF90752-4306-403D-94E1-D4540C7ED568}" type="parTrans" cxnId="{661320C8-BF2A-4337-B579-4B10E6338B69}">
      <dgm:prSet/>
      <dgm:spPr/>
      <dgm:t>
        <a:bodyPr/>
        <a:lstStyle/>
        <a:p>
          <a:endParaRPr lang="en-GB" sz="2000"/>
        </a:p>
      </dgm:t>
    </dgm:pt>
    <dgm:pt modelId="{D4A99AA7-9F2F-40FA-A007-0760D349A6AF}" type="sibTrans" cxnId="{661320C8-BF2A-4337-B579-4B10E6338B69}">
      <dgm:prSet/>
      <dgm:spPr/>
      <dgm:t>
        <a:bodyPr/>
        <a:lstStyle/>
        <a:p>
          <a:endParaRPr lang="en-GB" sz="2000"/>
        </a:p>
      </dgm:t>
    </dgm:pt>
    <dgm:pt modelId="{59A9C7DC-85DE-4EFF-A11F-10ADEEC70CCD}">
      <dgm:prSet custT="1"/>
      <dgm:spPr/>
      <dgm:t>
        <a:bodyPr/>
        <a:lstStyle/>
        <a:p>
          <a:pPr rtl="0"/>
          <a:r>
            <a:rPr lang="en-US" sz="2800" dirty="0"/>
            <a:t>Revenues</a:t>
          </a:r>
          <a:endParaRPr lang="en-GB" sz="2800" dirty="0"/>
        </a:p>
      </dgm:t>
    </dgm:pt>
    <dgm:pt modelId="{5D091EF4-CDEC-4D20-82A2-53B8BD201067}" type="parTrans" cxnId="{F68DD8B0-206C-4807-B5B9-EFC2491A8FC7}">
      <dgm:prSet/>
      <dgm:spPr/>
      <dgm:t>
        <a:bodyPr/>
        <a:lstStyle/>
        <a:p>
          <a:endParaRPr lang="en-GB" sz="2000"/>
        </a:p>
      </dgm:t>
    </dgm:pt>
    <dgm:pt modelId="{3C72DCF8-2E3F-4423-8B31-8D4B701622AB}" type="sibTrans" cxnId="{F68DD8B0-206C-4807-B5B9-EFC2491A8FC7}">
      <dgm:prSet/>
      <dgm:spPr/>
      <dgm:t>
        <a:bodyPr/>
        <a:lstStyle/>
        <a:p>
          <a:endParaRPr lang="en-GB" sz="2000"/>
        </a:p>
      </dgm:t>
    </dgm:pt>
    <dgm:pt modelId="{889709FF-5BA1-466E-AF1A-F639D4035F79}">
      <dgm:prSet custT="1"/>
      <dgm:spPr/>
      <dgm:t>
        <a:bodyPr/>
        <a:lstStyle/>
        <a:p>
          <a:pPr rtl="0"/>
          <a:r>
            <a:rPr lang="en-US" sz="1600" dirty="0"/>
            <a:t>Price/Sales per Share (PS)</a:t>
          </a:r>
          <a:endParaRPr lang="en-GB" sz="1600" dirty="0"/>
        </a:p>
      </dgm:t>
    </dgm:pt>
    <dgm:pt modelId="{8E02C99F-3D78-4771-A55F-EF346C7868B0}" type="parTrans" cxnId="{7DDB13F1-1A09-434A-8263-2CA814F2F09D}">
      <dgm:prSet/>
      <dgm:spPr/>
      <dgm:t>
        <a:bodyPr/>
        <a:lstStyle/>
        <a:p>
          <a:endParaRPr lang="en-GB" sz="2000"/>
        </a:p>
      </dgm:t>
    </dgm:pt>
    <dgm:pt modelId="{08779B55-DE5E-4C0D-90DE-C3D972B5B63F}" type="sibTrans" cxnId="{7DDB13F1-1A09-434A-8263-2CA814F2F09D}">
      <dgm:prSet/>
      <dgm:spPr/>
      <dgm:t>
        <a:bodyPr/>
        <a:lstStyle/>
        <a:p>
          <a:endParaRPr lang="en-GB" sz="2000"/>
        </a:p>
      </dgm:t>
    </dgm:pt>
    <dgm:pt modelId="{013AA548-F33A-4DDF-B6D4-B5279C0386E3}">
      <dgm:prSet custT="1"/>
      <dgm:spPr/>
      <dgm:t>
        <a:bodyPr/>
        <a:lstStyle/>
        <a:p>
          <a:pPr rtl="0"/>
          <a:r>
            <a:rPr lang="en-US" sz="1600" dirty="0"/>
            <a:t>Value/Sales</a:t>
          </a:r>
          <a:endParaRPr lang="en-GB" sz="1600" dirty="0"/>
        </a:p>
      </dgm:t>
    </dgm:pt>
    <dgm:pt modelId="{9E90160A-6181-452D-B7F1-6E7A112A68B7}" type="parTrans" cxnId="{2C898F10-D7F7-44B0-9BE5-CD0AADEB74C5}">
      <dgm:prSet/>
      <dgm:spPr/>
      <dgm:t>
        <a:bodyPr/>
        <a:lstStyle/>
        <a:p>
          <a:endParaRPr lang="en-GB" sz="2000"/>
        </a:p>
      </dgm:t>
    </dgm:pt>
    <dgm:pt modelId="{6CACA449-10C9-42E9-97DC-91E7774237C4}" type="sibTrans" cxnId="{2C898F10-D7F7-44B0-9BE5-CD0AADEB74C5}">
      <dgm:prSet/>
      <dgm:spPr/>
      <dgm:t>
        <a:bodyPr/>
        <a:lstStyle/>
        <a:p>
          <a:endParaRPr lang="en-GB" sz="2000"/>
        </a:p>
      </dgm:t>
    </dgm:pt>
    <dgm:pt modelId="{544C3FA5-8353-4195-905A-21AB1624B37D}" type="pres">
      <dgm:prSet presAssocID="{12979C8E-EB79-4E91-9055-51B656FF85F1}" presName="theList" presStyleCnt="0">
        <dgm:presLayoutVars>
          <dgm:dir/>
          <dgm:animLvl val="lvl"/>
          <dgm:resizeHandles val="exact"/>
        </dgm:presLayoutVars>
      </dgm:prSet>
      <dgm:spPr/>
    </dgm:pt>
    <dgm:pt modelId="{D7487848-C52D-4509-A927-85683BFE52FB}" type="pres">
      <dgm:prSet presAssocID="{CF23C833-2E92-4BBF-A15F-3A2DA0E828B8}" presName="compNode" presStyleCnt="0"/>
      <dgm:spPr/>
    </dgm:pt>
    <dgm:pt modelId="{A6084174-FB84-45E3-B219-F47694628E1B}" type="pres">
      <dgm:prSet presAssocID="{CF23C833-2E92-4BBF-A15F-3A2DA0E828B8}" presName="aNode" presStyleLbl="bgShp" presStyleIdx="0" presStyleCnt="3"/>
      <dgm:spPr/>
    </dgm:pt>
    <dgm:pt modelId="{8C1545F6-4603-4638-B745-0641F875B1D1}" type="pres">
      <dgm:prSet presAssocID="{CF23C833-2E92-4BBF-A15F-3A2DA0E828B8}" presName="textNode" presStyleLbl="bgShp" presStyleIdx="0" presStyleCnt="3"/>
      <dgm:spPr/>
    </dgm:pt>
    <dgm:pt modelId="{392EAE5F-5B8C-4B32-B6A0-92A9971E1692}" type="pres">
      <dgm:prSet presAssocID="{CF23C833-2E92-4BBF-A15F-3A2DA0E828B8}" presName="compChildNode" presStyleCnt="0"/>
      <dgm:spPr/>
    </dgm:pt>
    <dgm:pt modelId="{D350ED2A-2C35-4108-BE4C-6B1CA60D673B}" type="pres">
      <dgm:prSet presAssocID="{CF23C833-2E92-4BBF-A15F-3A2DA0E828B8}" presName="theInnerList" presStyleCnt="0"/>
      <dgm:spPr/>
    </dgm:pt>
    <dgm:pt modelId="{22F2A4D6-06F1-470A-AF5B-D444A58D24B8}" type="pres">
      <dgm:prSet presAssocID="{C53E3FE0-31BE-49FD-9F6B-5D3D56FD64C9}" presName="childNode" presStyleLbl="node1" presStyleIdx="0" presStyleCnt="9" custScaleY="368461">
        <dgm:presLayoutVars>
          <dgm:bulletEnabled val="1"/>
        </dgm:presLayoutVars>
      </dgm:prSet>
      <dgm:spPr/>
    </dgm:pt>
    <dgm:pt modelId="{C6CBB4C8-DF1C-4D23-8D5C-2805810617C1}" type="pres">
      <dgm:prSet presAssocID="{C53E3FE0-31BE-49FD-9F6B-5D3D56FD64C9}" presName="aSpace2" presStyleCnt="0"/>
      <dgm:spPr/>
    </dgm:pt>
    <dgm:pt modelId="{0D69FC67-5DD6-462F-92A5-9129488F25B6}" type="pres">
      <dgm:prSet presAssocID="{DC2F5561-945B-4362-8237-9189EBAAE0F4}" presName="childNode" presStyleLbl="node1" presStyleIdx="1" presStyleCnt="9">
        <dgm:presLayoutVars>
          <dgm:bulletEnabled val="1"/>
        </dgm:presLayoutVars>
      </dgm:prSet>
      <dgm:spPr/>
    </dgm:pt>
    <dgm:pt modelId="{855AEAAA-AD70-4D32-9397-136723567274}" type="pres">
      <dgm:prSet presAssocID="{DC2F5561-945B-4362-8237-9189EBAAE0F4}" presName="aSpace2" presStyleCnt="0"/>
      <dgm:spPr/>
    </dgm:pt>
    <dgm:pt modelId="{1385830E-E6E4-4D93-B68C-7E32FE76FAC8}" type="pres">
      <dgm:prSet presAssocID="{31652B2F-ADF0-48D3-9ECB-46D07B8CE806}" presName="childNode" presStyleLbl="node1" presStyleIdx="2" presStyleCnt="9">
        <dgm:presLayoutVars>
          <dgm:bulletEnabled val="1"/>
        </dgm:presLayoutVars>
      </dgm:prSet>
      <dgm:spPr/>
    </dgm:pt>
    <dgm:pt modelId="{384A3BF5-2138-4106-894D-6DFD5EB4BB57}" type="pres">
      <dgm:prSet presAssocID="{31652B2F-ADF0-48D3-9ECB-46D07B8CE806}" presName="aSpace2" presStyleCnt="0"/>
      <dgm:spPr/>
    </dgm:pt>
    <dgm:pt modelId="{DC89E4B9-B5C5-4E1B-992E-378789F786BF}" type="pres">
      <dgm:prSet presAssocID="{EAC81400-57B1-48FA-888A-354506020E61}" presName="childNode" presStyleLbl="node1" presStyleIdx="3" presStyleCnt="9" custScaleY="163331">
        <dgm:presLayoutVars>
          <dgm:bulletEnabled val="1"/>
        </dgm:presLayoutVars>
      </dgm:prSet>
      <dgm:spPr/>
    </dgm:pt>
    <dgm:pt modelId="{85819DB0-EFEB-427D-BB26-B7B06305377E}" type="pres">
      <dgm:prSet presAssocID="{CF23C833-2E92-4BBF-A15F-3A2DA0E828B8}" presName="aSpace" presStyleCnt="0"/>
      <dgm:spPr/>
    </dgm:pt>
    <dgm:pt modelId="{C33D9518-D741-4479-9FB7-CDEC295AB913}" type="pres">
      <dgm:prSet presAssocID="{6125D43A-4410-4BBA-A540-894F87E2EE91}" presName="compNode" presStyleCnt="0"/>
      <dgm:spPr/>
    </dgm:pt>
    <dgm:pt modelId="{268B69EB-9AA0-43FB-9BBA-52BA90F1CE8B}" type="pres">
      <dgm:prSet presAssocID="{6125D43A-4410-4BBA-A540-894F87E2EE91}" presName="aNode" presStyleLbl="bgShp" presStyleIdx="1" presStyleCnt="3"/>
      <dgm:spPr/>
    </dgm:pt>
    <dgm:pt modelId="{DB951793-F051-41EE-80B0-364F34F7129D}" type="pres">
      <dgm:prSet presAssocID="{6125D43A-4410-4BBA-A540-894F87E2EE91}" presName="textNode" presStyleLbl="bgShp" presStyleIdx="1" presStyleCnt="3"/>
      <dgm:spPr/>
    </dgm:pt>
    <dgm:pt modelId="{7EF09A25-4A3B-4F1B-878F-35738EA89195}" type="pres">
      <dgm:prSet presAssocID="{6125D43A-4410-4BBA-A540-894F87E2EE91}" presName="compChildNode" presStyleCnt="0"/>
      <dgm:spPr/>
    </dgm:pt>
    <dgm:pt modelId="{6B802CFC-DB89-4D0B-81B0-4CEA9526129E}" type="pres">
      <dgm:prSet presAssocID="{6125D43A-4410-4BBA-A540-894F87E2EE91}" presName="theInnerList" presStyleCnt="0"/>
      <dgm:spPr/>
    </dgm:pt>
    <dgm:pt modelId="{4347914A-044C-4469-A716-6699F754F372}" type="pres">
      <dgm:prSet presAssocID="{270E2FA7-5974-4797-9D0C-F444A10EC4CB}" presName="childNode" presStyleLbl="node1" presStyleIdx="4" presStyleCnt="9" custScaleY="115724">
        <dgm:presLayoutVars>
          <dgm:bulletEnabled val="1"/>
        </dgm:presLayoutVars>
      </dgm:prSet>
      <dgm:spPr/>
    </dgm:pt>
    <dgm:pt modelId="{C4486890-2FC0-41AD-B7F8-4919BE64A173}" type="pres">
      <dgm:prSet presAssocID="{270E2FA7-5974-4797-9D0C-F444A10EC4CB}" presName="aSpace2" presStyleCnt="0"/>
      <dgm:spPr/>
    </dgm:pt>
    <dgm:pt modelId="{C9C77DEB-8AC2-4E4F-8B30-56B1D17C80E1}" type="pres">
      <dgm:prSet presAssocID="{7FA72F00-D51A-4AB9-9A6C-9CE0942D7406}" presName="childNode" presStyleLbl="node1" presStyleIdx="5" presStyleCnt="9">
        <dgm:presLayoutVars>
          <dgm:bulletEnabled val="1"/>
        </dgm:presLayoutVars>
      </dgm:prSet>
      <dgm:spPr/>
    </dgm:pt>
    <dgm:pt modelId="{97D0A996-F90B-496D-BEDC-2CC5ECE68AA6}" type="pres">
      <dgm:prSet presAssocID="{7FA72F00-D51A-4AB9-9A6C-9CE0942D7406}" presName="aSpace2" presStyleCnt="0"/>
      <dgm:spPr/>
    </dgm:pt>
    <dgm:pt modelId="{D1233E93-39E8-413C-AF4F-180E49A4128F}" type="pres">
      <dgm:prSet presAssocID="{9D891D68-6AF8-49CD-9A6B-51C676559168}" presName="childNode" presStyleLbl="node1" presStyleIdx="6" presStyleCnt="9">
        <dgm:presLayoutVars>
          <dgm:bulletEnabled val="1"/>
        </dgm:presLayoutVars>
      </dgm:prSet>
      <dgm:spPr/>
    </dgm:pt>
    <dgm:pt modelId="{1EF46135-5255-4459-92E8-3B7840FAC113}" type="pres">
      <dgm:prSet presAssocID="{6125D43A-4410-4BBA-A540-894F87E2EE91}" presName="aSpace" presStyleCnt="0"/>
      <dgm:spPr/>
    </dgm:pt>
    <dgm:pt modelId="{8E9379EB-8E84-4FF1-B5E1-ADC53F13E543}" type="pres">
      <dgm:prSet presAssocID="{59A9C7DC-85DE-4EFF-A11F-10ADEEC70CCD}" presName="compNode" presStyleCnt="0"/>
      <dgm:spPr/>
    </dgm:pt>
    <dgm:pt modelId="{7C0D5B29-B8A0-4F92-AAF5-CBC33F3AD249}" type="pres">
      <dgm:prSet presAssocID="{59A9C7DC-85DE-4EFF-A11F-10ADEEC70CCD}" presName="aNode" presStyleLbl="bgShp" presStyleIdx="2" presStyleCnt="3"/>
      <dgm:spPr/>
    </dgm:pt>
    <dgm:pt modelId="{7ACD153D-52C1-4C76-B89F-823A0E3B2D87}" type="pres">
      <dgm:prSet presAssocID="{59A9C7DC-85DE-4EFF-A11F-10ADEEC70CCD}" presName="textNode" presStyleLbl="bgShp" presStyleIdx="2" presStyleCnt="3"/>
      <dgm:spPr/>
    </dgm:pt>
    <dgm:pt modelId="{D3493F34-E056-4279-8B93-E57C4F9F9FFB}" type="pres">
      <dgm:prSet presAssocID="{59A9C7DC-85DE-4EFF-A11F-10ADEEC70CCD}" presName="compChildNode" presStyleCnt="0"/>
      <dgm:spPr/>
    </dgm:pt>
    <dgm:pt modelId="{DB476043-A6DD-47CD-9E39-8D38B0E84839}" type="pres">
      <dgm:prSet presAssocID="{59A9C7DC-85DE-4EFF-A11F-10ADEEC70CCD}" presName="theInnerList" presStyleCnt="0"/>
      <dgm:spPr/>
    </dgm:pt>
    <dgm:pt modelId="{BED5EB0E-FB94-4370-9614-E6436419BA64}" type="pres">
      <dgm:prSet presAssocID="{889709FF-5BA1-466E-AF1A-F639D4035F79}" presName="childNode" presStyleLbl="node1" presStyleIdx="7" presStyleCnt="9">
        <dgm:presLayoutVars>
          <dgm:bulletEnabled val="1"/>
        </dgm:presLayoutVars>
      </dgm:prSet>
      <dgm:spPr/>
    </dgm:pt>
    <dgm:pt modelId="{FD81E855-7DFB-4261-8D64-12D49DDC56E4}" type="pres">
      <dgm:prSet presAssocID="{889709FF-5BA1-466E-AF1A-F639D4035F79}" presName="aSpace2" presStyleCnt="0"/>
      <dgm:spPr/>
    </dgm:pt>
    <dgm:pt modelId="{1331B81E-EF74-4077-8FED-14BF583B3F53}" type="pres">
      <dgm:prSet presAssocID="{013AA548-F33A-4DDF-B6D4-B5279C0386E3}" presName="childNode" presStyleLbl="node1" presStyleIdx="8" presStyleCnt="9">
        <dgm:presLayoutVars>
          <dgm:bulletEnabled val="1"/>
        </dgm:presLayoutVars>
      </dgm:prSet>
      <dgm:spPr/>
    </dgm:pt>
  </dgm:ptLst>
  <dgm:cxnLst>
    <dgm:cxn modelId="{053F5005-31FF-45F4-9598-69AADE88BA2C}" srcId="{12979C8E-EB79-4E91-9055-51B656FF85F1}" destId="{CF23C833-2E92-4BBF-A15F-3A2DA0E828B8}" srcOrd="0" destOrd="0" parTransId="{1A02D81F-D6BD-4B7C-8140-D3A7D1669F3B}" sibTransId="{11FEA24A-167A-4638-B86A-CA1070916A8A}"/>
    <dgm:cxn modelId="{2C898F10-D7F7-44B0-9BE5-CD0AADEB74C5}" srcId="{59A9C7DC-85DE-4EFF-A11F-10ADEEC70CCD}" destId="{013AA548-F33A-4DDF-B6D4-B5279C0386E3}" srcOrd="1" destOrd="0" parTransId="{9E90160A-6181-452D-B7F1-6E7A112A68B7}" sibTransId="{6CACA449-10C9-42E9-97DC-91E7774237C4}"/>
    <dgm:cxn modelId="{8F1D6314-C4C1-4D03-9533-8D13448FBE98}" type="presOf" srcId="{31652B2F-ADF0-48D3-9ECB-46D07B8CE806}" destId="{1385830E-E6E4-4D93-B68C-7E32FE76FAC8}" srcOrd="0" destOrd="0" presId="urn:microsoft.com/office/officeart/2005/8/layout/lProcess2"/>
    <dgm:cxn modelId="{58DBC123-F091-4C79-97F3-34377620D714}" type="presOf" srcId="{12979C8E-EB79-4E91-9055-51B656FF85F1}" destId="{544C3FA5-8353-4195-905A-21AB1624B37D}" srcOrd="0" destOrd="0" presId="urn:microsoft.com/office/officeart/2005/8/layout/lProcess2"/>
    <dgm:cxn modelId="{FFA12B28-BEFC-4008-9D77-F21CB797A66F}" type="presOf" srcId="{CF23C833-2E92-4BBF-A15F-3A2DA0E828B8}" destId="{8C1545F6-4603-4638-B745-0641F875B1D1}" srcOrd="1" destOrd="0" presId="urn:microsoft.com/office/officeart/2005/8/layout/lProcess2"/>
    <dgm:cxn modelId="{D0E26F2E-0854-499C-BBB8-EA025B976489}" srcId="{CF23C833-2E92-4BBF-A15F-3A2DA0E828B8}" destId="{31652B2F-ADF0-48D3-9ECB-46D07B8CE806}" srcOrd="2" destOrd="0" parTransId="{80E0914E-BE2B-4399-8758-ECE4692252CB}" sibTransId="{368AE6B2-7656-4EAE-A286-E0CD9FC57721}"/>
    <dgm:cxn modelId="{531A3240-6ECC-457E-BDE8-A8D3954151AC}" srcId="{CF23C833-2E92-4BBF-A15F-3A2DA0E828B8}" destId="{EAC81400-57B1-48FA-888A-354506020E61}" srcOrd="3" destOrd="0" parTransId="{BC7EACFC-9357-4CE6-AEB9-14D49271E789}" sibTransId="{A770911E-43A2-4EA9-BB1E-66218BEA26C5}"/>
    <dgm:cxn modelId="{01889B48-29AC-47AE-ABA3-631B5D8C9C0B}" type="presOf" srcId="{59A9C7DC-85DE-4EFF-A11F-10ADEEC70CCD}" destId="{7C0D5B29-B8A0-4F92-AAF5-CBC33F3AD249}" srcOrd="0" destOrd="0" presId="urn:microsoft.com/office/officeart/2005/8/layout/lProcess2"/>
    <dgm:cxn modelId="{A2833586-0DC0-4798-B4C4-FDC7CBE9A67D}" type="presOf" srcId="{013AA548-F33A-4DDF-B6D4-B5279C0386E3}" destId="{1331B81E-EF74-4077-8FED-14BF583B3F53}" srcOrd="0" destOrd="0" presId="urn:microsoft.com/office/officeart/2005/8/layout/lProcess2"/>
    <dgm:cxn modelId="{84978D8B-009C-43C0-BBF4-15BA3A88264D}" type="presOf" srcId="{6125D43A-4410-4BBA-A540-894F87E2EE91}" destId="{DB951793-F051-41EE-80B0-364F34F7129D}" srcOrd="1" destOrd="0" presId="urn:microsoft.com/office/officeart/2005/8/layout/lProcess2"/>
    <dgm:cxn modelId="{7EA67A8E-E528-418C-95B1-EB2D25228F31}" type="presOf" srcId="{889709FF-5BA1-466E-AF1A-F639D4035F79}" destId="{BED5EB0E-FB94-4370-9614-E6436419BA64}" srcOrd="0" destOrd="0" presId="urn:microsoft.com/office/officeart/2005/8/layout/lProcess2"/>
    <dgm:cxn modelId="{0BBB839D-F325-4D50-9E16-ADF11CD401A5}" type="presOf" srcId="{CF23C833-2E92-4BBF-A15F-3A2DA0E828B8}" destId="{A6084174-FB84-45E3-B219-F47694628E1B}" srcOrd="0" destOrd="0" presId="urn:microsoft.com/office/officeart/2005/8/layout/lProcess2"/>
    <dgm:cxn modelId="{A357D79E-5651-410D-9B64-60D4D0F54048}" type="presOf" srcId="{9D891D68-6AF8-49CD-9A6B-51C676559168}" destId="{D1233E93-39E8-413C-AF4F-180E49A4128F}" srcOrd="0" destOrd="0" presId="urn:microsoft.com/office/officeart/2005/8/layout/lProcess2"/>
    <dgm:cxn modelId="{E95953A0-4838-485F-B8B0-FAEEEDD686D9}" type="presOf" srcId="{6125D43A-4410-4BBA-A540-894F87E2EE91}" destId="{268B69EB-9AA0-43FB-9BBA-52BA90F1CE8B}" srcOrd="0" destOrd="0" presId="urn:microsoft.com/office/officeart/2005/8/layout/lProcess2"/>
    <dgm:cxn modelId="{31F424A2-93AF-4715-A94C-82F6BEEC3C31}" srcId="{6125D43A-4410-4BBA-A540-894F87E2EE91}" destId="{7FA72F00-D51A-4AB9-9A6C-9CE0942D7406}" srcOrd="1" destOrd="0" parTransId="{D5EF278B-3FC6-4CC3-B2DE-DC8D19644AF5}" sibTransId="{396C39DE-1761-4B52-8B16-B8318DEDAD62}"/>
    <dgm:cxn modelId="{3F6E35A8-06CA-41D1-BDAD-FA0A89AF1629}" type="presOf" srcId="{DC2F5561-945B-4362-8237-9189EBAAE0F4}" destId="{0D69FC67-5DD6-462F-92A5-9129488F25B6}" srcOrd="0" destOrd="0" presId="urn:microsoft.com/office/officeart/2005/8/layout/lProcess2"/>
    <dgm:cxn modelId="{F68DD8B0-206C-4807-B5B9-EFC2491A8FC7}" srcId="{12979C8E-EB79-4E91-9055-51B656FF85F1}" destId="{59A9C7DC-85DE-4EFF-A11F-10ADEEC70CCD}" srcOrd="2" destOrd="0" parTransId="{5D091EF4-CDEC-4D20-82A2-53B8BD201067}" sibTransId="{3C72DCF8-2E3F-4423-8B31-8D4B701622AB}"/>
    <dgm:cxn modelId="{6A34E4C3-15EF-40FC-B4B7-E0CF0A46B749}" srcId="{12979C8E-EB79-4E91-9055-51B656FF85F1}" destId="{6125D43A-4410-4BBA-A540-894F87E2EE91}" srcOrd="1" destOrd="0" parTransId="{32118CF0-4468-4223-BAAC-317F702743BA}" sibTransId="{AD9B8978-E6CD-4CF6-816B-97EE2EED93BC}"/>
    <dgm:cxn modelId="{661320C8-BF2A-4337-B579-4B10E6338B69}" srcId="{6125D43A-4410-4BBA-A540-894F87E2EE91}" destId="{9D891D68-6AF8-49CD-9A6B-51C676559168}" srcOrd="2" destOrd="0" parTransId="{9DF90752-4306-403D-94E1-D4540C7ED568}" sibTransId="{D4A99AA7-9F2F-40FA-A007-0760D349A6AF}"/>
    <dgm:cxn modelId="{2BF9EFCF-7BB1-4041-AA6D-BF428708069F}" srcId="{CF23C833-2E92-4BBF-A15F-3A2DA0E828B8}" destId="{C53E3FE0-31BE-49FD-9F6B-5D3D56FD64C9}" srcOrd="0" destOrd="0" parTransId="{9E126DF8-7C98-4F47-BACA-4276E5155D2E}" sibTransId="{A2CFB6DF-3D36-4B76-B823-93E08A1CDBB8}"/>
    <dgm:cxn modelId="{194428D6-5867-4488-A231-F6D2A9E327A2}" srcId="{CF23C833-2E92-4BBF-A15F-3A2DA0E828B8}" destId="{DC2F5561-945B-4362-8237-9189EBAAE0F4}" srcOrd="1" destOrd="0" parTransId="{9854D061-23CD-4FAB-95CC-EEBDF16130FF}" sibTransId="{D36B38CC-A241-42FB-AA50-6897D8CB92D9}"/>
    <dgm:cxn modelId="{1778CFE5-36B2-467E-9F3D-AFECDE1DA036}" type="presOf" srcId="{59A9C7DC-85DE-4EFF-A11F-10ADEEC70CCD}" destId="{7ACD153D-52C1-4C76-B89F-823A0E3B2D87}" srcOrd="1" destOrd="0" presId="urn:microsoft.com/office/officeart/2005/8/layout/lProcess2"/>
    <dgm:cxn modelId="{D7B2A6E6-3123-444E-8305-BABBE03D6D27}" type="presOf" srcId="{7FA72F00-D51A-4AB9-9A6C-9CE0942D7406}" destId="{C9C77DEB-8AC2-4E4F-8B30-56B1D17C80E1}" srcOrd="0" destOrd="0" presId="urn:microsoft.com/office/officeart/2005/8/layout/lProcess2"/>
    <dgm:cxn modelId="{7DDB13F1-1A09-434A-8263-2CA814F2F09D}" srcId="{59A9C7DC-85DE-4EFF-A11F-10ADEEC70CCD}" destId="{889709FF-5BA1-466E-AF1A-F639D4035F79}" srcOrd="0" destOrd="0" parTransId="{8E02C99F-3D78-4771-A55F-EF346C7868B0}" sibTransId="{08779B55-DE5E-4C0D-90DE-C3D972B5B63F}"/>
    <dgm:cxn modelId="{C36C3AF7-F3C6-475E-B907-E418A2876CE6}" type="presOf" srcId="{EAC81400-57B1-48FA-888A-354506020E61}" destId="{DC89E4B9-B5C5-4E1B-992E-378789F786BF}" srcOrd="0" destOrd="0" presId="urn:microsoft.com/office/officeart/2005/8/layout/lProcess2"/>
    <dgm:cxn modelId="{612A4EFA-D430-4B3E-BF8A-C9E05AEDD390}" type="presOf" srcId="{C53E3FE0-31BE-49FD-9F6B-5D3D56FD64C9}" destId="{22F2A4D6-06F1-470A-AF5B-D444A58D24B8}" srcOrd="0" destOrd="0" presId="urn:microsoft.com/office/officeart/2005/8/layout/lProcess2"/>
    <dgm:cxn modelId="{661B83FB-AAA6-46DD-BD50-9572430CDFD3}" type="presOf" srcId="{270E2FA7-5974-4797-9D0C-F444A10EC4CB}" destId="{4347914A-044C-4469-A716-6699F754F372}" srcOrd="0" destOrd="0" presId="urn:microsoft.com/office/officeart/2005/8/layout/lProcess2"/>
    <dgm:cxn modelId="{52A674FE-055D-438C-918E-85CA8EDA3A4D}" srcId="{6125D43A-4410-4BBA-A540-894F87E2EE91}" destId="{270E2FA7-5974-4797-9D0C-F444A10EC4CB}" srcOrd="0" destOrd="0" parTransId="{0262BE20-55FD-4F7E-85AD-2419CE58DC06}" sibTransId="{70739F45-796B-4A20-80CC-A55080BF44FB}"/>
    <dgm:cxn modelId="{F14C8F5A-C2CF-40CB-B13D-A2EFEC2C77E5}" type="presParOf" srcId="{544C3FA5-8353-4195-905A-21AB1624B37D}" destId="{D7487848-C52D-4509-A927-85683BFE52FB}" srcOrd="0" destOrd="0" presId="urn:microsoft.com/office/officeart/2005/8/layout/lProcess2"/>
    <dgm:cxn modelId="{3102A2E6-439F-46A4-AF01-679723DDC4CF}" type="presParOf" srcId="{D7487848-C52D-4509-A927-85683BFE52FB}" destId="{A6084174-FB84-45E3-B219-F47694628E1B}" srcOrd="0" destOrd="0" presId="urn:microsoft.com/office/officeart/2005/8/layout/lProcess2"/>
    <dgm:cxn modelId="{93811830-8D73-4FF2-9AB5-CB3DE8A4AD0B}" type="presParOf" srcId="{D7487848-C52D-4509-A927-85683BFE52FB}" destId="{8C1545F6-4603-4638-B745-0641F875B1D1}" srcOrd="1" destOrd="0" presId="urn:microsoft.com/office/officeart/2005/8/layout/lProcess2"/>
    <dgm:cxn modelId="{B995165C-3007-4565-9D9A-87CA3AE8D5EE}" type="presParOf" srcId="{D7487848-C52D-4509-A927-85683BFE52FB}" destId="{392EAE5F-5B8C-4B32-B6A0-92A9971E1692}" srcOrd="2" destOrd="0" presId="urn:microsoft.com/office/officeart/2005/8/layout/lProcess2"/>
    <dgm:cxn modelId="{9F01590A-EFD2-47D1-A718-C73399447832}" type="presParOf" srcId="{392EAE5F-5B8C-4B32-B6A0-92A9971E1692}" destId="{D350ED2A-2C35-4108-BE4C-6B1CA60D673B}" srcOrd="0" destOrd="0" presId="urn:microsoft.com/office/officeart/2005/8/layout/lProcess2"/>
    <dgm:cxn modelId="{BEB56DFB-9C1D-418E-8C4D-CECCC4F61A90}" type="presParOf" srcId="{D350ED2A-2C35-4108-BE4C-6B1CA60D673B}" destId="{22F2A4D6-06F1-470A-AF5B-D444A58D24B8}" srcOrd="0" destOrd="0" presId="urn:microsoft.com/office/officeart/2005/8/layout/lProcess2"/>
    <dgm:cxn modelId="{69C15A04-979F-4717-98C6-E0D5E4C4FF7D}" type="presParOf" srcId="{D350ED2A-2C35-4108-BE4C-6B1CA60D673B}" destId="{C6CBB4C8-DF1C-4D23-8D5C-2805810617C1}" srcOrd="1" destOrd="0" presId="urn:microsoft.com/office/officeart/2005/8/layout/lProcess2"/>
    <dgm:cxn modelId="{B20097E7-43D0-424F-B1A3-376D2EC889DC}" type="presParOf" srcId="{D350ED2A-2C35-4108-BE4C-6B1CA60D673B}" destId="{0D69FC67-5DD6-462F-92A5-9129488F25B6}" srcOrd="2" destOrd="0" presId="urn:microsoft.com/office/officeart/2005/8/layout/lProcess2"/>
    <dgm:cxn modelId="{CBDB3EA4-9F9A-43F1-96F9-7F95D75C5E3C}" type="presParOf" srcId="{D350ED2A-2C35-4108-BE4C-6B1CA60D673B}" destId="{855AEAAA-AD70-4D32-9397-136723567274}" srcOrd="3" destOrd="0" presId="urn:microsoft.com/office/officeart/2005/8/layout/lProcess2"/>
    <dgm:cxn modelId="{C511DF0D-8A2F-4CA8-B941-8EDB90B39A2E}" type="presParOf" srcId="{D350ED2A-2C35-4108-BE4C-6B1CA60D673B}" destId="{1385830E-E6E4-4D93-B68C-7E32FE76FAC8}" srcOrd="4" destOrd="0" presId="urn:microsoft.com/office/officeart/2005/8/layout/lProcess2"/>
    <dgm:cxn modelId="{A7763C25-A94F-4F0A-94B0-D6B060FAADB3}" type="presParOf" srcId="{D350ED2A-2C35-4108-BE4C-6B1CA60D673B}" destId="{384A3BF5-2138-4106-894D-6DFD5EB4BB57}" srcOrd="5" destOrd="0" presId="urn:microsoft.com/office/officeart/2005/8/layout/lProcess2"/>
    <dgm:cxn modelId="{77BA355C-7E46-4ADE-A494-83BD166F115A}" type="presParOf" srcId="{D350ED2A-2C35-4108-BE4C-6B1CA60D673B}" destId="{DC89E4B9-B5C5-4E1B-992E-378789F786BF}" srcOrd="6" destOrd="0" presId="urn:microsoft.com/office/officeart/2005/8/layout/lProcess2"/>
    <dgm:cxn modelId="{D2CC5553-8EA1-4A1B-871C-E54A77D87B90}" type="presParOf" srcId="{544C3FA5-8353-4195-905A-21AB1624B37D}" destId="{85819DB0-EFEB-427D-BB26-B7B06305377E}" srcOrd="1" destOrd="0" presId="urn:microsoft.com/office/officeart/2005/8/layout/lProcess2"/>
    <dgm:cxn modelId="{76CF3B01-407B-4D4D-A886-6A281939BB7B}" type="presParOf" srcId="{544C3FA5-8353-4195-905A-21AB1624B37D}" destId="{C33D9518-D741-4479-9FB7-CDEC295AB913}" srcOrd="2" destOrd="0" presId="urn:microsoft.com/office/officeart/2005/8/layout/lProcess2"/>
    <dgm:cxn modelId="{09E76A80-19AD-44E3-BD19-2BC3804DBBFC}" type="presParOf" srcId="{C33D9518-D741-4479-9FB7-CDEC295AB913}" destId="{268B69EB-9AA0-43FB-9BBA-52BA90F1CE8B}" srcOrd="0" destOrd="0" presId="urn:microsoft.com/office/officeart/2005/8/layout/lProcess2"/>
    <dgm:cxn modelId="{4C9E4DF5-198B-48DA-B968-20E376C62D5F}" type="presParOf" srcId="{C33D9518-D741-4479-9FB7-CDEC295AB913}" destId="{DB951793-F051-41EE-80B0-364F34F7129D}" srcOrd="1" destOrd="0" presId="urn:microsoft.com/office/officeart/2005/8/layout/lProcess2"/>
    <dgm:cxn modelId="{92C6422A-81DF-4BE7-B160-A2B434FAC37A}" type="presParOf" srcId="{C33D9518-D741-4479-9FB7-CDEC295AB913}" destId="{7EF09A25-4A3B-4F1B-878F-35738EA89195}" srcOrd="2" destOrd="0" presId="urn:microsoft.com/office/officeart/2005/8/layout/lProcess2"/>
    <dgm:cxn modelId="{3F5D3D61-6116-49E6-AB41-FE2DF1AD456A}" type="presParOf" srcId="{7EF09A25-4A3B-4F1B-878F-35738EA89195}" destId="{6B802CFC-DB89-4D0B-81B0-4CEA9526129E}" srcOrd="0" destOrd="0" presId="urn:microsoft.com/office/officeart/2005/8/layout/lProcess2"/>
    <dgm:cxn modelId="{78966FF3-8C0C-4AA2-9E87-4FEDB0DAC3A7}" type="presParOf" srcId="{6B802CFC-DB89-4D0B-81B0-4CEA9526129E}" destId="{4347914A-044C-4469-A716-6699F754F372}" srcOrd="0" destOrd="0" presId="urn:microsoft.com/office/officeart/2005/8/layout/lProcess2"/>
    <dgm:cxn modelId="{98848A0B-81CB-4FF6-AAF8-C33434AE4F4F}" type="presParOf" srcId="{6B802CFC-DB89-4D0B-81B0-4CEA9526129E}" destId="{C4486890-2FC0-41AD-B7F8-4919BE64A173}" srcOrd="1" destOrd="0" presId="urn:microsoft.com/office/officeart/2005/8/layout/lProcess2"/>
    <dgm:cxn modelId="{D6448929-7363-487B-A6D6-2989C5801CAD}" type="presParOf" srcId="{6B802CFC-DB89-4D0B-81B0-4CEA9526129E}" destId="{C9C77DEB-8AC2-4E4F-8B30-56B1D17C80E1}" srcOrd="2" destOrd="0" presId="urn:microsoft.com/office/officeart/2005/8/layout/lProcess2"/>
    <dgm:cxn modelId="{BAF00D98-5686-4277-A3D1-0D8042DCCA8F}" type="presParOf" srcId="{6B802CFC-DB89-4D0B-81B0-4CEA9526129E}" destId="{97D0A996-F90B-496D-BEDC-2CC5ECE68AA6}" srcOrd="3" destOrd="0" presId="urn:microsoft.com/office/officeart/2005/8/layout/lProcess2"/>
    <dgm:cxn modelId="{3043903B-30BD-49F9-B698-8E025988ABBA}" type="presParOf" srcId="{6B802CFC-DB89-4D0B-81B0-4CEA9526129E}" destId="{D1233E93-39E8-413C-AF4F-180E49A4128F}" srcOrd="4" destOrd="0" presId="urn:microsoft.com/office/officeart/2005/8/layout/lProcess2"/>
    <dgm:cxn modelId="{3CD495C5-6A3B-441E-9B2C-36E3D65A32AA}" type="presParOf" srcId="{544C3FA5-8353-4195-905A-21AB1624B37D}" destId="{1EF46135-5255-4459-92E8-3B7840FAC113}" srcOrd="3" destOrd="0" presId="urn:microsoft.com/office/officeart/2005/8/layout/lProcess2"/>
    <dgm:cxn modelId="{08AF47D2-E4E9-4D27-968D-FE7556629E95}" type="presParOf" srcId="{544C3FA5-8353-4195-905A-21AB1624B37D}" destId="{8E9379EB-8E84-4FF1-B5E1-ADC53F13E543}" srcOrd="4" destOrd="0" presId="urn:microsoft.com/office/officeart/2005/8/layout/lProcess2"/>
    <dgm:cxn modelId="{2568962A-A72B-4ECA-8241-9180BD9800F0}" type="presParOf" srcId="{8E9379EB-8E84-4FF1-B5E1-ADC53F13E543}" destId="{7C0D5B29-B8A0-4F92-AAF5-CBC33F3AD249}" srcOrd="0" destOrd="0" presId="urn:microsoft.com/office/officeart/2005/8/layout/lProcess2"/>
    <dgm:cxn modelId="{A1901EE8-905F-4B7B-9395-1390CDE52D14}" type="presParOf" srcId="{8E9379EB-8E84-4FF1-B5E1-ADC53F13E543}" destId="{7ACD153D-52C1-4C76-B89F-823A0E3B2D87}" srcOrd="1" destOrd="0" presId="urn:microsoft.com/office/officeart/2005/8/layout/lProcess2"/>
    <dgm:cxn modelId="{70F45201-48F7-4048-B3A6-373D5ACD3CBD}" type="presParOf" srcId="{8E9379EB-8E84-4FF1-B5E1-ADC53F13E543}" destId="{D3493F34-E056-4279-8B93-E57C4F9F9FFB}" srcOrd="2" destOrd="0" presId="urn:microsoft.com/office/officeart/2005/8/layout/lProcess2"/>
    <dgm:cxn modelId="{0240D880-0AB4-409C-8144-056DD95E981F}" type="presParOf" srcId="{D3493F34-E056-4279-8B93-E57C4F9F9FFB}" destId="{DB476043-A6DD-47CD-9E39-8D38B0E84839}" srcOrd="0" destOrd="0" presId="urn:microsoft.com/office/officeart/2005/8/layout/lProcess2"/>
    <dgm:cxn modelId="{87E7C689-55CB-4C2B-B7EA-D0148935B304}" type="presParOf" srcId="{DB476043-A6DD-47CD-9E39-8D38B0E84839}" destId="{BED5EB0E-FB94-4370-9614-E6436419BA64}" srcOrd="0" destOrd="0" presId="urn:microsoft.com/office/officeart/2005/8/layout/lProcess2"/>
    <dgm:cxn modelId="{7803FA08-4100-40C4-908D-BA3077F9C1B4}" type="presParOf" srcId="{DB476043-A6DD-47CD-9E39-8D38B0E84839}" destId="{FD81E855-7DFB-4261-8D64-12D49DDC56E4}" srcOrd="1" destOrd="0" presId="urn:microsoft.com/office/officeart/2005/8/layout/lProcess2"/>
    <dgm:cxn modelId="{B6394971-E3D7-4F9C-BEB1-DD69A3581FF5}" type="presParOf" srcId="{DB476043-A6DD-47CD-9E39-8D38B0E84839}" destId="{1331B81E-EF74-4077-8FED-14BF583B3F53}"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F47DD20-4F85-4A94-85D7-385B29402BD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9882B78F-F3CD-4FDD-B227-11073C1E0A95}">
      <dgm:prSet/>
      <dgm:spPr/>
      <dgm:t>
        <a:bodyPr/>
        <a:lstStyle/>
        <a:p>
          <a:pPr rtl="0"/>
          <a:r>
            <a:rPr lang="en-GB" dirty="0"/>
            <a:t>Comparable Firms/Sector: What value does the multiple have in firms that are very similar-</a:t>
          </a:r>
          <a:r>
            <a:rPr lang="en-GB" b="1" dirty="0"/>
            <a:t>Regression-Average</a:t>
          </a:r>
        </a:p>
      </dgm:t>
    </dgm:pt>
    <dgm:pt modelId="{EFF56CD5-E8E7-4801-90C3-DF3005AD70D6}" type="parTrans" cxnId="{10B69C77-33B0-44F9-B331-6EEBFE996099}">
      <dgm:prSet/>
      <dgm:spPr/>
      <dgm:t>
        <a:bodyPr/>
        <a:lstStyle/>
        <a:p>
          <a:endParaRPr lang="en-GB"/>
        </a:p>
      </dgm:t>
    </dgm:pt>
    <dgm:pt modelId="{0404B96A-3972-4F76-B6CA-39CFD711CD8D}" type="sibTrans" cxnId="{10B69C77-33B0-44F9-B331-6EEBFE996099}">
      <dgm:prSet/>
      <dgm:spPr/>
      <dgm:t>
        <a:bodyPr/>
        <a:lstStyle/>
        <a:p>
          <a:endParaRPr lang="en-GB"/>
        </a:p>
      </dgm:t>
    </dgm:pt>
    <dgm:pt modelId="{79DEFF4F-863C-4963-8DA6-0D27F85210F3}">
      <dgm:prSet/>
      <dgm:spPr/>
      <dgm:t>
        <a:bodyPr/>
        <a:lstStyle/>
        <a:p>
          <a:pPr rtl="0"/>
          <a:r>
            <a:rPr lang="en-GB" dirty="0"/>
            <a:t>The idea is to find firms that form a group that is very similar to the company we evaluate</a:t>
          </a:r>
        </a:p>
      </dgm:t>
    </dgm:pt>
    <dgm:pt modelId="{1CA98D4F-CDC6-4AC8-8D70-871DE8851FFF}" type="parTrans" cxnId="{6514EFF1-787A-40EA-84BC-BE1E14019F49}">
      <dgm:prSet/>
      <dgm:spPr/>
      <dgm:t>
        <a:bodyPr/>
        <a:lstStyle/>
        <a:p>
          <a:endParaRPr lang="en-GB"/>
        </a:p>
      </dgm:t>
    </dgm:pt>
    <dgm:pt modelId="{487156D7-D74E-4C0C-9729-155F6688B919}" type="sibTrans" cxnId="{6514EFF1-787A-40EA-84BC-BE1E14019F49}">
      <dgm:prSet/>
      <dgm:spPr/>
      <dgm:t>
        <a:bodyPr/>
        <a:lstStyle/>
        <a:p>
          <a:endParaRPr lang="en-GB"/>
        </a:p>
      </dgm:t>
    </dgm:pt>
    <dgm:pt modelId="{EC0F716E-010F-4E0F-9A0F-9239CECBC182}">
      <dgm:prSet/>
      <dgm:spPr/>
      <dgm:t>
        <a:bodyPr/>
        <a:lstStyle/>
        <a:p>
          <a:pPr rtl="0"/>
          <a:r>
            <a:rPr lang="en-GB" dirty="0"/>
            <a:t>Then we can compare the value of the multiple you have found to the ones of the competitors/firms in the group</a:t>
          </a:r>
        </a:p>
      </dgm:t>
    </dgm:pt>
    <dgm:pt modelId="{15BE0A7D-E0C3-43FA-B3AF-2C6F1361904F}" type="parTrans" cxnId="{4A2D9536-0DA6-4553-AD0D-5CD21F494717}">
      <dgm:prSet/>
      <dgm:spPr/>
      <dgm:t>
        <a:bodyPr/>
        <a:lstStyle/>
        <a:p>
          <a:endParaRPr lang="en-GB"/>
        </a:p>
      </dgm:t>
    </dgm:pt>
    <dgm:pt modelId="{C9FC5C3B-5ABA-473D-8D07-EFAC6CFF8FAE}" type="sibTrans" cxnId="{4A2D9536-0DA6-4553-AD0D-5CD21F494717}">
      <dgm:prSet/>
      <dgm:spPr/>
      <dgm:t>
        <a:bodyPr/>
        <a:lstStyle/>
        <a:p>
          <a:endParaRPr lang="en-GB"/>
        </a:p>
      </dgm:t>
    </dgm:pt>
    <dgm:pt modelId="{4A257D5D-B630-48E8-AFE5-3FC080C49959}">
      <dgm:prSet/>
      <dgm:spPr/>
      <dgm:t>
        <a:bodyPr/>
        <a:lstStyle/>
        <a:p>
          <a:pPr rtl="0"/>
          <a:r>
            <a:rPr lang="en-GB" dirty="0"/>
            <a:t>You can decide whether the value you have found is higher or lower than the </a:t>
          </a:r>
          <a:r>
            <a:rPr lang="en-GB" b="1" dirty="0"/>
            <a:t>average</a:t>
          </a:r>
        </a:p>
      </dgm:t>
    </dgm:pt>
    <dgm:pt modelId="{4B82B4A1-DCAD-414D-B605-1400FC8A302F}" type="parTrans" cxnId="{A5771F14-0010-4852-8BD3-07FEF1752167}">
      <dgm:prSet/>
      <dgm:spPr/>
      <dgm:t>
        <a:bodyPr/>
        <a:lstStyle/>
        <a:p>
          <a:endParaRPr lang="en-GB"/>
        </a:p>
      </dgm:t>
    </dgm:pt>
    <dgm:pt modelId="{EB02A2A5-ECED-4BB5-A646-AFB99F062E63}" type="sibTrans" cxnId="{A5771F14-0010-4852-8BD3-07FEF1752167}">
      <dgm:prSet/>
      <dgm:spPr/>
      <dgm:t>
        <a:bodyPr/>
        <a:lstStyle/>
        <a:p>
          <a:endParaRPr lang="en-GB"/>
        </a:p>
      </dgm:t>
    </dgm:pt>
    <dgm:pt modelId="{8EEB587B-F6D4-4A1B-9A12-9CA0A5F2E7ED}">
      <dgm:prSet/>
      <dgm:spPr/>
      <dgm:t>
        <a:bodyPr/>
        <a:lstStyle/>
        <a:p>
          <a:pPr rtl="0"/>
          <a:r>
            <a:rPr lang="en-GB" dirty="0"/>
            <a:t>Equivalent Firms/Market: What is the value of the multiple of an average firm that has similar characteristics-</a:t>
          </a:r>
          <a:r>
            <a:rPr lang="en-GB" b="1" dirty="0"/>
            <a:t>Regression</a:t>
          </a:r>
        </a:p>
      </dgm:t>
    </dgm:pt>
    <dgm:pt modelId="{50D2B511-1376-42AC-989F-EA682F5D27EB}" type="parTrans" cxnId="{FD0CBDB7-1DBF-43E1-802C-7F403DAC6EED}">
      <dgm:prSet/>
      <dgm:spPr/>
      <dgm:t>
        <a:bodyPr/>
        <a:lstStyle/>
        <a:p>
          <a:endParaRPr lang="en-GB"/>
        </a:p>
      </dgm:t>
    </dgm:pt>
    <dgm:pt modelId="{ECD475D3-ADBE-49DB-9844-C83FCFEDB921}" type="sibTrans" cxnId="{FD0CBDB7-1DBF-43E1-802C-7F403DAC6EED}">
      <dgm:prSet/>
      <dgm:spPr/>
      <dgm:t>
        <a:bodyPr/>
        <a:lstStyle/>
        <a:p>
          <a:endParaRPr lang="en-GB"/>
        </a:p>
      </dgm:t>
    </dgm:pt>
    <dgm:pt modelId="{2E22AD58-B205-4D1E-893E-D3A05545A03A}">
      <dgm:prSet/>
      <dgm:spPr/>
      <dgm:t>
        <a:bodyPr/>
        <a:lstStyle/>
        <a:p>
          <a:pPr rtl="0"/>
          <a:r>
            <a:rPr lang="en-GB" dirty="0"/>
            <a:t>The firms do NOT need to be identical</a:t>
          </a:r>
        </a:p>
      </dgm:t>
    </dgm:pt>
    <dgm:pt modelId="{ADC60211-56FE-4CF4-9BC0-03A54B7A2A54}" type="parTrans" cxnId="{91ADCC2F-4A3F-45C5-AECE-0FCF4ECDED0E}">
      <dgm:prSet/>
      <dgm:spPr/>
      <dgm:t>
        <a:bodyPr/>
        <a:lstStyle/>
        <a:p>
          <a:endParaRPr lang="en-GB"/>
        </a:p>
      </dgm:t>
    </dgm:pt>
    <dgm:pt modelId="{A80C3440-609E-4663-A7F8-12CAA290F929}" type="sibTrans" cxnId="{91ADCC2F-4A3F-45C5-AECE-0FCF4ECDED0E}">
      <dgm:prSet/>
      <dgm:spPr/>
      <dgm:t>
        <a:bodyPr/>
        <a:lstStyle/>
        <a:p>
          <a:endParaRPr lang="en-GB"/>
        </a:p>
      </dgm:t>
    </dgm:pt>
    <dgm:pt modelId="{EFCB88D9-1087-4B60-A716-EC91ECE19F33}">
      <dgm:prSet/>
      <dgm:spPr/>
      <dgm:t>
        <a:bodyPr/>
        <a:lstStyle/>
        <a:p>
          <a:pPr rtl="0"/>
          <a:r>
            <a:rPr lang="en-GB" dirty="0"/>
            <a:t>They might be comparable in terms of the variables we choose to compare them with</a:t>
          </a:r>
        </a:p>
      </dgm:t>
    </dgm:pt>
    <dgm:pt modelId="{EE83992F-9BB2-4496-8C53-029AB484DFAE}" type="parTrans" cxnId="{DC1DB1D1-DEDB-4A98-9AC9-0ADFE52ECA75}">
      <dgm:prSet/>
      <dgm:spPr/>
      <dgm:t>
        <a:bodyPr/>
        <a:lstStyle/>
        <a:p>
          <a:endParaRPr lang="en-GB"/>
        </a:p>
      </dgm:t>
    </dgm:pt>
    <dgm:pt modelId="{E9FA18C1-B64B-4C0C-9705-B75423B3AAF7}" type="sibTrans" cxnId="{DC1DB1D1-DEDB-4A98-9AC9-0ADFE52ECA75}">
      <dgm:prSet/>
      <dgm:spPr/>
      <dgm:t>
        <a:bodyPr/>
        <a:lstStyle/>
        <a:p>
          <a:endParaRPr lang="en-GB"/>
        </a:p>
      </dgm:t>
    </dgm:pt>
    <dgm:pt modelId="{CEFAD94A-D6EA-4FED-A812-7783A5C96D87}">
      <dgm:prSet/>
      <dgm:spPr/>
      <dgm:t>
        <a:bodyPr/>
        <a:lstStyle/>
        <a:p>
          <a:pPr rtl="0"/>
          <a:r>
            <a:rPr lang="en-GB" dirty="0"/>
            <a:t>We run a </a:t>
          </a:r>
          <a:r>
            <a:rPr lang="en-GB" b="1" dirty="0"/>
            <a:t>regression</a:t>
          </a:r>
          <a:r>
            <a:rPr lang="en-GB" dirty="0"/>
            <a:t> and find what value of the multiple, given that other firms that have similar values for the variables we have chosen exhibit this value on their multiples</a:t>
          </a:r>
        </a:p>
      </dgm:t>
    </dgm:pt>
    <dgm:pt modelId="{F5412D22-5830-4206-9133-36477F26C9B5}" type="parTrans" cxnId="{C8F371F0-237B-414C-B3C7-E85B7B0AA262}">
      <dgm:prSet/>
      <dgm:spPr/>
      <dgm:t>
        <a:bodyPr/>
        <a:lstStyle/>
        <a:p>
          <a:endParaRPr lang="en-GB"/>
        </a:p>
      </dgm:t>
    </dgm:pt>
    <dgm:pt modelId="{3081DEB8-47FE-4ED9-8649-62CC14204E0F}" type="sibTrans" cxnId="{C8F371F0-237B-414C-B3C7-E85B7B0AA262}">
      <dgm:prSet/>
      <dgm:spPr/>
      <dgm:t>
        <a:bodyPr/>
        <a:lstStyle/>
        <a:p>
          <a:endParaRPr lang="en-GB"/>
        </a:p>
      </dgm:t>
    </dgm:pt>
    <dgm:pt modelId="{53DEE57D-26F0-4C6F-BD5F-20395D75861D}" type="pres">
      <dgm:prSet presAssocID="{8F47DD20-4F85-4A94-85D7-385B29402BD9}" presName="linear" presStyleCnt="0">
        <dgm:presLayoutVars>
          <dgm:animLvl val="lvl"/>
          <dgm:resizeHandles val="exact"/>
        </dgm:presLayoutVars>
      </dgm:prSet>
      <dgm:spPr/>
    </dgm:pt>
    <dgm:pt modelId="{04C76EB1-8869-4C66-A376-8BC8914F1A17}" type="pres">
      <dgm:prSet presAssocID="{9882B78F-F3CD-4FDD-B227-11073C1E0A95}" presName="parentText" presStyleLbl="node1" presStyleIdx="0" presStyleCnt="2">
        <dgm:presLayoutVars>
          <dgm:chMax val="0"/>
          <dgm:bulletEnabled val="1"/>
        </dgm:presLayoutVars>
      </dgm:prSet>
      <dgm:spPr/>
    </dgm:pt>
    <dgm:pt modelId="{FF0E3299-05BC-4C30-9780-1611FBF45A63}" type="pres">
      <dgm:prSet presAssocID="{9882B78F-F3CD-4FDD-B227-11073C1E0A95}" presName="childText" presStyleLbl="revTx" presStyleIdx="0" presStyleCnt="2">
        <dgm:presLayoutVars>
          <dgm:bulletEnabled val="1"/>
        </dgm:presLayoutVars>
      </dgm:prSet>
      <dgm:spPr/>
    </dgm:pt>
    <dgm:pt modelId="{1BB39590-91C3-4F7C-89BD-9CFD58EBD68B}" type="pres">
      <dgm:prSet presAssocID="{8EEB587B-F6D4-4A1B-9A12-9CA0A5F2E7ED}" presName="parentText" presStyleLbl="node1" presStyleIdx="1" presStyleCnt="2">
        <dgm:presLayoutVars>
          <dgm:chMax val="0"/>
          <dgm:bulletEnabled val="1"/>
        </dgm:presLayoutVars>
      </dgm:prSet>
      <dgm:spPr/>
    </dgm:pt>
    <dgm:pt modelId="{BFA9DA31-B552-40C0-B856-C70E489CCF86}" type="pres">
      <dgm:prSet presAssocID="{8EEB587B-F6D4-4A1B-9A12-9CA0A5F2E7ED}" presName="childText" presStyleLbl="revTx" presStyleIdx="1" presStyleCnt="2">
        <dgm:presLayoutVars>
          <dgm:bulletEnabled val="1"/>
        </dgm:presLayoutVars>
      </dgm:prSet>
      <dgm:spPr/>
    </dgm:pt>
  </dgm:ptLst>
  <dgm:cxnLst>
    <dgm:cxn modelId="{A5771F14-0010-4852-8BD3-07FEF1752167}" srcId="{9882B78F-F3CD-4FDD-B227-11073C1E0A95}" destId="{4A257D5D-B630-48E8-AFE5-3FC080C49959}" srcOrd="2" destOrd="0" parTransId="{4B82B4A1-DCAD-414D-B605-1400FC8A302F}" sibTransId="{EB02A2A5-ECED-4BB5-A646-AFB99F062E63}"/>
    <dgm:cxn modelId="{02416A21-D8A6-4C14-B87F-18EEAEFB0D93}" type="presOf" srcId="{8EEB587B-F6D4-4A1B-9A12-9CA0A5F2E7ED}" destId="{1BB39590-91C3-4F7C-89BD-9CFD58EBD68B}" srcOrd="0" destOrd="0" presId="urn:microsoft.com/office/officeart/2005/8/layout/vList2"/>
    <dgm:cxn modelId="{91ADCC2F-4A3F-45C5-AECE-0FCF4ECDED0E}" srcId="{8EEB587B-F6D4-4A1B-9A12-9CA0A5F2E7ED}" destId="{2E22AD58-B205-4D1E-893E-D3A05545A03A}" srcOrd="0" destOrd="0" parTransId="{ADC60211-56FE-4CF4-9BC0-03A54B7A2A54}" sibTransId="{A80C3440-609E-4663-A7F8-12CAA290F929}"/>
    <dgm:cxn modelId="{4A2D9536-0DA6-4553-AD0D-5CD21F494717}" srcId="{9882B78F-F3CD-4FDD-B227-11073C1E0A95}" destId="{EC0F716E-010F-4E0F-9A0F-9239CECBC182}" srcOrd="1" destOrd="0" parTransId="{15BE0A7D-E0C3-43FA-B3AF-2C6F1361904F}" sibTransId="{C9FC5C3B-5ABA-473D-8D07-EFAC6CFF8FAE}"/>
    <dgm:cxn modelId="{CA286A53-8F74-41AA-AE76-52F9FF50F46B}" type="presOf" srcId="{79DEFF4F-863C-4963-8DA6-0D27F85210F3}" destId="{FF0E3299-05BC-4C30-9780-1611FBF45A63}" srcOrd="0" destOrd="0" presId="urn:microsoft.com/office/officeart/2005/8/layout/vList2"/>
    <dgm:cxn modelId="{10B69C77-33B0-44F9-B331-6EEBFE996099}" srcId="{8F47DD20-4F85-4A94-85D7-385B29402BD9}" destId="{9882B78F-F3CD-4FDD-B227-11073C1E0A95}" srcOrd="0" destOrd="0" parTransId="{EFF56CD5-E8E7-4801-90C3-DF3005AD70D6}" sibTransId="{0404B96A-3972-4F76-B6CA-39CFD711CD8D}"/>
    <dgm:cxn modelId="{8A38FD81-AA6F-42AE-8AC7-4E1887349CB0}" type="presOf" srcId="{EFCB88D9-1087-4B60-A716-EC91ECE19F33}" destId="{BFA9DA31-B552-40C0-B856-C70E489CCF86}" srcOrd="0" destOrd="1" presId="urn:microsoft.com/office/officeart/2005/8/layout/vList2"/>
    <dgm:cxn modelId="{C0F28485-14C0-4CE3-875D-69878B097E50}" type="presOf" srcId="{9882B78F-F3CD-4FDD-B227-11073C1E0A95}" destId="{04C76EB1-8869-4C66-A376-8BC8914F1A17}" srcOrd="0" destOrd="0" presId="urn:microsoft.com/office/officeart/2005/8/layout/vList2"/>
    <dgm:cxn modelId="{E17B5DA1-DDD3-4607-AA0C-B322B5EB0D72}" type="presOf" srcId="{2E22AD58-B205-4D1E-893E-D3A05545A03A}" destId="{BFA9DA31-B552-40C0-B856-C70E489CCF86}" srcOrd="0" destOrd="0" presId="urn:microsoft.com/office/officeart/2005/8/layout/vList2"/>
    <dgm:cxn modelId="{5FFE89AC-E6FB-4A1A-8444-B4B203C2EBED}" type="presOf" srcId="{8F47DD20-4F85-4A94-85D7-385B29402BD9}" destId="{53DEE57D-26F0-4C6F-BD5F-20395D75861D}" srcOrd="0" destOrd="0" presId="urn:microsoft.com/office/officeart/2005/8/layout/vList2"/>
    <dgm:cxn modelId="{FD0CBDB7-1DBF-43E1-802C-7F403DAC6EED}" srcId="{8F47DD20-4F85-4A94-85D7-385B29402BD9}" destId="{8EEB587B-F6D4-4A1B-9A12-9CA0A5F2E7ED}" srcOrd="1" destOrd="0" parTransId="{50D2B511-1376-42AC-989F-EA682F5D27EB}" sibTransId="{ECD475D3-ADBE-49DB-9844-C83FCFEDB921}"/>
    <dgm:cxn modelId="{3A6B2EBF-AF39-429C-A661-193707F8C737}" type="presOf" srcId="{CEFAD94A-D6EA-4FED-A812-7783A5C96D87}" destId="{BFA9DA31-B552-40C0-B856-C70E489CCF86}" srcOrd="0" destOrd="2" presId="urn:microsoft.com/office/officeart/2005/8/layout/vList2"/>
    <dgm:cxn modelId="{DC1DB1D1-DEDB-4A98-9AC9-0ADFE52ECA75}" srcId="{8EEB587B-F6D4-4A1B-9A12-9CA0A5F2E7ED}" destId="{EFCB88D9-1087-4B60-A716-EC91ECE19F33}" srcOrd="1" destOrd="0" parTransId="{EE83992F-9BB2-4496-8C53-029AB484DFAE}" sibTransId="{E9FA18C1-B64B-4C0C-9705-B75423B3AAF7}"/>
    <dgm:cxn modelId="{41678FE6-69FC-41CD-8784-EF5A7AF5559B}" type="presOf" srcId="{4A257D5D-B630-48E8-AFE5-3FC080C49959}" destId="{FF0E3299-05BC-4C30-9780-1611FBF45A63}" srcOrd="0" destOrd="2" presId="urn:microsoft.com/office/officeart/2005/8/layout/vList2"/>
    <dgm:cxn modelId="{D2EA0CE8-F7EC-41C9-B576-363912946695}" type="presOf" srcId="{EC0F716E-010F-4E0F-9A0F-9239CECBC182}" destId="{FF0E3299-05BC-4C30-9780-1611FBF45A63}" srcOrd="0" destOrd="1" presId="urn:microsoft.com/office/officeart/2005/8/layout/vList2"/>
    <dgm:cxn modelId="{C8F371F0-237B-414C-B3C7-E85B7B0AA262}" srcId="{8EEB587B-F6D4-4A1B-9A12-9CA0A5F2E7ED}" destId="{CEFAD94A-D6EA-4FED-A812-7783A5C96D87}" srcOrd="2" destOrd="0" parTransId="{F5412D22-5830-4206-9133-36477F26C9B5}" sibTransId="{3081DEB8-47FE-4ED9-8649-62CC14204E0F}"/>
    <dgm:cxn modelId="{6514EFF1-787A-40EA-84BC-BE1E14019F49}" srcId="{9882B78F-F3CD-4FDD-B227-11073C1E0A95}" destId="{79DEFF4F-863C-4963-8DA6-0D27F85210F3}" srcOrd="0" destOrd="0" parTransId="{1CA98D4F-CDC6-4AC8-8D70-871DE8851FFF}" sibTransId="{487156D7-D74E-4C0C-9729-155F6688B919}"/>
    <dgm:cxn modelId="{F7DCA99E-CB76-42A5-952D-59C77D8A1EBD}" type="presParOf" srcId="{53DEE57D-26F0-4C6F-BD5F-20395D75861D}" destId="{04C76EB1-8869-4C66-A376-8BC8914F1A17}" srcOrd="0" destOrd="0" presId="urn:microsoft.com/office/officeart/2005/8/layout/vList2"/>
    <dgm:cxn modelId="{B29A3FFF-F56F-4426-8F04-C8E315A94204}" type="presParOf" srcId="{53DEE57D-26F0-4C6F-BD5F-20395D75861D}" destId="{FF0E3299-05BC-4C30-9780-1611FBF45A63}" srcOrd="1" destOrd="0" presId="urn:microsoft.com/office/officeart/2005/8/layout/vList2"/>
    <dgm:cxn modelId="{35DDED8B-8A1F-47F8-BE21-7321DB40F5F5}" type="presParOf" srcId="{53DEE57D-26F0-4C6F-BD5F-20395D75861D}" destId="{1BB39590-91C3-4F7C-89BD-9CFD58EBD68B}" srcOrd="2" destOrd="0" presId="urn:microsoft.com/office/officeart/2005/8/layout/vList2"/>
    <dgm:cxn modelId="{A4730FE4-8115-4A2A-B85D-02D0172764CB}" type="presParOf" srcId="{53DEE57D-26F0-4C6F-BD5F-20395D75861D}" destId="{BFA9DA31-B552-40C0-B856-C70E489CCF8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2979C8E-EB79-4E91-9055-51B656FF85F1}"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CF23C833-2E92-4BBF-A15F-3A2DA0E828B8}">
      <dgm:prSet custT="1"/>
      <dgm:spPr/>
      <dgm:t>
        <a:bodyPr/>
        <a:lstStyle/>
        <a:p>
          <a:pPr rtl="0"/>
          <a:r>
            <a:rPr lang="en-US" sz="2800" dirty="0"/>
            <a:t>Earnings Multiples</a:t>
          </a:r>
          <a:endParaRPr lang="en-GB" sz="2800" dirty="0"/>
        </a:p>
      </dgm:t>
    </dgm:pt>
    <dgm:pt modelId="{1A02D81F-D6BD-4B7C-8140-D3A7D1669F3B}" type="parTrans" cxnId="{053F5005-31FF-45F4-9598-69AADE88BA2C}">
      <dgm:prSet/>
      <dgm:spPr/>
      <dgm:t>
        <a:bodyPr/>
        <a:lstStyle/>
        <a:p>
          <a:endParaRPr lang="en-GB" sz="2000"/>
        </a:p>
      </dgm:t>
    </dgm:pt>
    <dgm:pt modelId="{11FEA24A-167A-4638-B86A-CA1070916A8A}" type="sibTrans" cxnId="{053F5005-31FF-45F4-9598-69AADE88BA2C}">
      <dgm:prSet/>
      <dgm:spPr/>
      <dgm:t>
        <a:bodyPr/>
        <a:lstStyle/>
        <a:p>
          <a:endParaRPr lang="en-GB" sz="2000"/>
        </a:p>
      </dgm:t>
    </dgm:pt>
    <dgm:pt modelId="{C53E3FE0-31BE-49FD-9F6B-5D3D56FD64C9}">
      <dgm:prSet custT="1"/>
      <dgm:spPr/>
      <dgm:t>
        <a:bodyPr/>
        <a:lstStyle/>
        <a:p>
          <a:pPr rtl="0"/>
          <a:r>
            <a:rPr lang="en-US" sz="1600" dirty="0"/>
            <a:t>Price/Earnings Ratio (PE)</a:t>
          </a:r>
        </a:p>
        <a:p>
          <a:pPr rtl="0"/>
          <a:r>
            <a:rPr lang="en-US" sz="1600" dirty="0"/>
            <a:t> and variants  (PEG and Relative PE)</a:t>
          </a:r>
          <a:endParaRPr lang="en-GB" sz="1600" dirty="0"/>
        </a:p>
      </dgm:t>
    </dgm:pt>
    <dgm:pt modelId="{9E126DF8-7C98-4F47-BACA-4276E5155D2E}" type="parTrans" cxnId="{2BF9EFCF-7BB1-4041-AA6D-BF428708069F}">
      <dgm:prSet/>
      <dgm:spPr/>
      <dgm:t>
        <a:bodyPr/>
        <a:lstStyle/>
        <a:p>
          <a:endParaRPr lang="en-GB" sz="2000"/>
        </a:p>
      </dgm:t>
    </dgm:pt>
    <dgm:pt modelId="{A2CFB6DF-3D36-4B76-B823-93E08A1CDBB8}" type="sibTrans" cxnId="{2BF9EFCF-7BB1-4041-AA6D-BF428708069F}">
      <dgm:prSet/>
      <dgm:spPr/>
      <dgm:t>
        <a:bodyPr/>
        <a:lstStyle/>
        <a:p>
          <a:endParaRPr lang="en-GB" sz="2000"/>
        </a:p>
      </dgm:t>
    </dgm:pt>
    <dgm:pt modelId="{DC2F5561-945B-4362-8237-9189EBAAE0F4}">
      <dgm:prSet custT="1"/>
      <dgm:spPr/>
      <dgm:t>
        <a:bodyPr/>
        <a:lstStyle/>
        <a:p>
          <a:pPr rtl="0"/>
          <a:r>
            <a:rPr lang="en-US" sz="1600" dirty="0"/>
            <a:t>Value/EBIT</a:t>
          </a:r>
          <a:endParaRPr lang="en-GB" sz="1600" dirty="0"/>
        </a:p>
      </dgm:t>
    </dgm:pt>
    <dgm:pt modelId="{9854D061-23CD-4FAB-95CC-EEBDF16130FF}" type="parTrans" cxnId="{194428D6-5867-4488-A231-F6D2A9E327A2}">
      <dgm:prSet/>
      <dgm:spPr/>
      <dgm:t>
        <a:bodyPr/>
        <a:lstStyle/>
        <a:p>
          <a:endParaRPr lang="en-GB" sz="2000"/>
        </a:p>
      </dgm:t>
    </dgm:pt>
    <dgm:pt modelId="{D36B38CC-A241-42FB-AA50-6897D8CB92D9}" type="sibTrans" cxnId="{194428D6-5867-4488-A231-F6D2A9E327A2}">
      <dgm:prSet/>
      <dgm:spPr/>
      <dgm:t>
        <a:bodyPr/>
        <a:lstStyle/>
        <a:p>
          <a:endParaRPr lang="en-GB" sz="2000"/>
        </a:p>
      </dgm:t>
    </dgm:pt>
    <dgm:pt modelId="{31652B2F-ADF0-48D3-9ECB-46D07B8CE806}">
      <dgm:prSet custT="1"/>
      <dgm:spPr/>
      <dgm:t>
        <a:bodyPr/>
        <a:lstStyle/>
        <a:p>
          <a:pPr rtl="0"/>
          <a:r>
            <a:rPr lang="en-US" sz="1600" dirty="0"/>
            <a:t>Value/EBITDA</a:t>
          </a:r>
          <a:endParaRPr lang="en-GB" sz="1600" dirty="0"/>
        </a:p>
      </dgm:t>
    </dgm:pt>
    <dgm:pt modelId="{80E0914E-BE2B-4399-8758-ECE4692252CB}" type="parTrans" cxnId="{D0E26F2E-0854-499C-BBB8-EA025B976489}">
      <dgm:prSet/>
      <dgm:spPr/>
      <dgm:t>
        <a:bodyPr/>
        <a:lstStyle/>
        <a:p>
          <a:endParaRPr lang="en-GB" sz="2000"/>
        </a:p>
      </dgm:t>
    </dgm:pt>
    <dgm:pt modelId="{368AE6B2-7656-4EAE-A286-E0CD9FC57721}" type="sibTrans" cxnId="{D0E26F2E-0854-499C-BBB8-EA025B976489}">
      <dgm:prSet/>
      <dgm:spPr/>
      <dgm:t>
        <a:bodyPr/>
        <a:lstStyle/>
        <a:p>
          <a:endParaRPr lang="en-GB" sz="2000"/>
        </a:p>
      </dgm:t>
    </dgm:pt>
    <dgm:pt modelId="{EAC81400-57B1-48FA-888A-354506020E61}">
      <dgm:prSet custT="1"/>
      <dgm:spPr/>
      <dgm:t>
        <a:bodyPr/>
        <a:lstStyle/>
        <a:p>
          <a:pPr rtl="0"/>
          <a:r>
            <a:rPr lang="en-US" sz="1600" dirty="0"/>
            <a:t>Value/Cash Flow</a:t>
          </a:r>
          <a:endParaRPr lang="en-GB" sz="1600" dirty="0"/>
        </a:p>
      </dgm:t>
    </dgm:pt>
    <dgm:pt modelId="{BC7EACFC-9357-4CE6-AEB9-14D49271E789}" type="parTrans" cxnId="{531A3240-6ECC-457E-BDE8-A8D3954151AC}">
      <dgm:prSet/>
      <dgm:spPr/>
      <dgm:t>
        <a:bodyPr/>
        <a:lstStyle/>
        <a:p>
          <a:endParaRPr lang="en-GB" sz="2000"/>
        </a:p>
      </dgm:t>
    </dgm:pt>
    <dgm:pt modelId="{A770911E-43A2-4EA9-BB1E-66218BEA26C5}" type="sibTrans" cxnId="{531A3240-6ECC-457E-BDE8-A8D3954151AC}">
      <dgm:prSet/>
      <dgm:spPr/>
      <dgm:t>
        <a:bodyPr/>
        <a:lstStyle/>
        <a:p>
          <a:endParaRPr lang="en-GB" sz="2000"/>
        </a:p>
      </dgm:t>
    </dgm:pt>
    <dgm:pt modelId="{6125D43A-4410-4BBA-A540-894F87E2EE91}">
      <dgm:prSet custT="1"/>
      <dgm:spPr/>
      <dgm:t>
        <a:bodyPr/>
        <a:lstStyle/>
        <a:p>
          <a:pPr rtl="0"/>
          <a:r>
            <a:rPr lang="en-US" sz="2800" dirty="0"/>
            <a:t>Book Value Multiples</a:t>
          </a:r>
          <a:endParaRPr lang="en-GB" sz="2800" dirty="0"/>
        </a:p>
      </dgm:t>
    </dgm:pt>
    <dgm:pt modelId="{32118CF0-4468-4223-BAAC-317F702743BA}" type="parTrans" cxnId="{6A34E4C3-15EF-40FC-B4B7-E0CF0A46B749}">
      <dgm:prSet/>
      <dgm:spPr/>
      <dgm:t>
        <a:bodyPr/>
        <a:lstStyle/>
        <a:p>
          <a:endParaRPr lang="en-GB" sz="2000"/>
        </a:p>
      </dgm:t>
    </dgm:pt>
    <dgm:pt modelId="{AD9B8978-E6CD-4CF6-816B-97EE2EED93BC}" type="sibTrans" cxnId="{6A34E4C3-15EF-40FC-B4B7-E0CF0A46B749}">
      <dgm:prSet/>
      <dgm:spPr/>
      <dgm:t>
        <a:bodyPr/>
        <a:lstStyle/>
        <a:p>
          <a:endParaRPr lang="en-GB" sz="2000"/>
        </a:p>
      </dgm:t>
    </dgm:pt>
    <dgm:pt modelId="{270E2FA7-5974-4797-9D0C-F444A10EC4CB}">
      <dgm:prSet custT="1"/>
      <dgm:spPr/>
      <dgm:t>
        <a:bodyPr/>
        <a:lstStyle/>
        <a:p>
          <a:pPr rtl="0"/>
          <a:r>
            <a:rPr lang="en-US" sz="1600" dirty="0"/>
            <a:t>Price/Book Value(of Equity) (PBV)</a:t>
          </a:r>
          <a:endParaRPr lang="en-GB" sz="1600" dirty="0"/>
        </a:p>
      </dgm:t>
    </dgm:pt>
    <dgm:pt modelId="{0262BE20-55FD-4F7E-85AD-2419CE58DC06}" type="parTrans" cxnId="{52A674FE-055D-438C-918E-85CA8EDA3A4D}">
      <dgm:prSet/>
      <dgm:spPr/>
      <dgm:t>
        <a:bodyPr/>
        <a:lstStyle/>
        <a:p>
          <a:endParaRPr lang="en-GB" sz="2000"/>
        </a:p>
      </dgm:t>
    </dgm:pt>
    <dgm:pt modelId="{70739F45-796B-4A20-80CC-A55080BF44FB}" type="sibTrans" cxnId="{52A674FE-055D-438C-918E-85CA8EDA3A4D}">
      <dgm:prSet/>
      <dgm:spPr/>
      <dgm:t>
        <a:bodyPr/>
        <a:lstStyle/>
        <a:p>
          <a:endParaRPr lang="en-GB" sz="2000"/>
        </a:p>
      </dgm:t>
    </dgm:pt>
    <dgm:pt modelId="{7FA72F00-D51A-4AB9-9A6C-9CE0942D7406}">
      <dgm:prSet custT="1"/>
      <dgm:spPr/>
      <dgm:t>
        <a:bodyPr/>
        <a:lstStyle/>
        <a:p>
          <a:pPr rtl="0"/>
          <a:r>
            <a:rPr lang="en-US" sz="1600" dirty="0"/>
            <a:t>Value/ Book Value of Assets</a:t>
          </a:r>
          <a:endParaRPr lang="en-GB" sz="1600" dirty="0"/>
        </a:p>
      </dgm:t>
    </dgm:pt>
    <dgm:pt modelId="{D5EF278B-3FC6-4CC3-B2DE-DC8D19644AF5}" type="parTrans" cxnId="{31F424A2-93AF-4715-A94C-82F6BEEC3C31}">
      <dgm:prSet/>
      <dgm:spPr/>
      <dgm:t>
        <a:bodyPr/>
        <a:lstStyle/>
        <a:p>
          <a:endParaRPr lang="en-GB" sz="2000"/>
        </a:p>
      </dgm:t>
    </dgm:pt>
    <dgm:pt modelId="{396C39DE-1761-4B52-8B16-B8318DEDAD62}" type="sibTrans" cxnId="{31F424A2-93AF-4715-A94C-82F6BEEC3C31}">
      <dgm:prSet/>
      <dgm:spPr/>
      <dgm:t>
        <a:bodyPr/>
        <a:lstStyle/>
        <a:p>
          <a:endParaRPr lang="en-GB" sz="2000"/>
        </a:p>
      </dgm:t>
    </dgm:pt>
    <dgm:pt modelId="{9D891D68-6AF8-49CD-9A6B-51C676559168}">
      <dgm:prSet custT="1"/>
      <dgm:spPr/>
      <dgm:t>
        <a:bodyPr/>
        <a:lstStyle/>
        <a:p>
          <a:pPr rtl="0"/>
          <a:r>
            <a:rPr lang="en-US" sz="1600" dirty="0"/>
            <a:t>Value/Replacement Cost (Tobin’s Q)</a:t>
          </a:r>
          <a:endParaRPr lang="en-GB" sz="1600" dirty="0"/>
        </a:p>
      </dgm:t>
    </dgm:pt>
    <dgm:pt modelId="{9DF90752-4306-403D-94E1-D4540C7ED568}" type="parTrans" cxnId="{661320C8-BF2A-4337-B579-4B10E6338B69}">
      <dgm:prSet/>
      <dgm:spPr/>
      <dgm:t>
        <a:bodyPr/>
        <a:lstStyle/>
        <a:p>
          <a:endParaRPr lang="en-GB" sz="2000"/>
        </a:p>
      </dgm:t>
    </dgm:pt>
    <dgm:pt modelId="{D4A99AA7-9F2F-40FA-A007-0760D349A6AF}" type="sibTrans" cxnId="{661320C8-BF2A-4337-B579-4B10E6338B69}">
      <dgm:prSet/>
      <dgm:spPr/>
      <dgm:t>
        <a:bodyPr/>
        <a:lstStyle/>
        <a:p>
          <a:endParaRPr lang="en-GB" sz="2000"/>
        </a:p>
      </dgm:t>
    </dgm:pt>
    <dgm:pt modelId="{59A9C7DC-85DE-4EFF-A11F-10ADEEC70CCD}">
      <dgm:prSet custT="1"/>
      <dgm:spPr/>
      <dgm:t>
        <a:bodyPr/>
        <a:lstStyle/>
        <a:p>
          <a:pPr rtl="0"/>
          <a:r>
            <a:rPr lang="en-US" sz="2800" dirty="0"/>
            <a:t>Revenues</a:t>
          </a:r>
          <a:endParaRPr lang="en-GB" sz="2800" dirty="0"/>
        </a:p>
      </dgm:t>
    </dgm:pt>
    <dgm:pt modelId="{5D091EF4-CDEC-4D20-82A2-53B8BD201067}" type="parTrans" cxnId="{F68DD8B0-206C-4807-B5B9-EFC2491A8FC7}">
      <dgm:prSet/>
      <dgm:spPr/>
      <dgm:t>
        <a:bodyPr/>
        <a:lstStyle/>
        <a:p>
          <a:endParaRPr lang="en-GB" sz="2000"/>
        </a:p>
      </dgm:t>
    </dgm:pt>
    <dgm:pt modelId="{3C72DCF8-2E3F-4423-8B31-8D4B701622AB}" type="sibTrans" cxnId="{F68DD8B0-206C-4807-B5B9-EFC2491A8FC7}">
      <dgm:prSet/>
      <dgm:spPr/>
      <dgm:t>
        <a:bodyPr/>
        <a:lstStyle/>
        <a:p>
          <a:endParaRPr lang="en-GB" sz="2000"/>
        </a:p>
      </dgm:t>
    </dgm:pt>
    <dgm:pt modelId="{889709FF-5BA1-466E-AF1A-F639D4035F79}">
      <dgm:prSet custT="1"/>
      <dgm:spPr/>
      <dgm:t>
        <a:bodyPr/>
        <a:lstStyle/>
        <a:p>
          <a:pPr rtl="0"/>
          <a:r>
            <a:rPr lang="en-US" sz="1600" dirty="0"/>
            <a:t>Price/Sales per Share (PS)</a:t>
          </a:r>
          <a:endParaRPr lang="en-GB" sz="1600" dirty="0"/>
        </a:p>
      </dgm:t>
    </dgm:pt>
    <dgm:pt modelId="{8E02C99F-3D78-4771-A55F-EF346C7868B0}" type="parTrans" cxnId="{7DDB13F1-1A09-434A-8263-2CA814F2F09D}">
      <dgm:prSet/>
      <dgm:spPr/>
      <dgm:t>
        <a:bodyPr/>
        <a:lstStyle/>
        <a:p>
          <a:endParaRPr lang="en-GB" sz="2000"/>
        </a:p>
      </dgm:t>
    </dgm:pt>
    <dgm:pt modelId="{08779B55-DE5E-4C0D-90DE-C3D972B5B63F}" type="sibTrans" cxnId="{7DDB13F1-1A09-434A-8263-2CA814F2F09D}">
      <dgm:prSet/>
      <dgm:spPr/>
      <dgm:t>
        <a:bodyPr/>
        <a:lstStyle/>
        <a:p>
          <a:endParaRPr lang="en-GB" sz="2000"/>
        </a:p>
      </dgm:t>
    </dgm:pt>
    <dgm:pt modelId="{013AA548-F33A-4DDF-B6D4-B5279C0386E3}">
      <dgm:prSet custT="1"/>
      <dgm:spPr/>
      <dgm:t>
        <a:bodyPr/>
        <a:lstStyle/>
        <a:p>
          <a:pPr rtl="0"/>
          <a:r>
            <a:rPr lang="en-US" sz="1600" dirty="0"/>
            <a:t>Value/Sales</a:t>
          </a:r>
          <a:endParaRPr lang="en-GB" sz="1600" dirty="0"/>
        </a:p>
      </dgm:t>
    </dgm:pt>
    <dgm:pt modelId="{9E90160A-6181-452D-B7F1-6E7A112A68B7}" type="parTrans" cxnId="{2C898F10-D7F7-44B0-9BE5-CD0AADEB74C5}">
      <dgm:prSet/>
      <dgm:spPr/>
      <dgm:t>
        <a:bodyPr/>
        <a:lstStyle/>
        <a:p>
          <a:endParaRPr lang="en-GB" sz="2000"/>
        </a:p>
      </dgm:t>
    </dgm:pt>
    <dgm:pt modelId="{6CACA449-10C9-42E9-97DC-91E7774237C4}" type="sibTrans" cxnId="{2C898F10-D7F7-44B0-9BE5-CD0AADEB74C5}">
      <dgm:prSet/>
      <dgm:spPr/>
      <dgm:t>
        <a:bodyPr/>
        <a:lstStyle/>
        <a:p>
          <a:endParaRPr lang="en-GB" sz="2000"/>
        </a:p>
      </dgm:t>
    </dgm:pt>
    <dgm:pt modelId="{544C3FA5-8353-4195-905A-21AB1624B37D}" type="pres">
      <dgm:prSet presAssocID="{12979C8E-EB79-4E91-9055-51B656FF85F1}" presName="theList" presStyleCnt="0">
        <dgm:presLayoutVars>
          <dgm:dir/>
          <dgm:animLvl val="lvl"/>
          <dgm:resizeHandles val="exact"/>
        </dgm:presLayoutVars>
      </dgm:prSet>
      <dgm:spPr/>
    </dgm:pt>
    <dgm:pt modelId="{D7487848-C52D-4509-A927-85683BFE52FB}" type="pres">
      <dgm:prSet presAssocID="{CF23C833-2E92-4BBF-A15F-3A2DA0E828B8}" presName="compNode" presStyleCnt="0"/>
      <dgm:spPr/>
    </dgm:pt>
    <dgm:pt modelId="{A6084174-FB84-45E3-B219-F47694628E1B}" type="pres">
      <dgm:prSet presAssocID="{CF23C833-2E92-4BBF-A15F-3A2DA0E828B8}" presName="aNode" presStyleLbl="bgShp" presStyleIdx="0" presStyleCnt="3"/>
      <dgm:spPr/>
    </dgm:pt>
    <dgm:pt modelId="{8C1545F6-4603-4638-B745-0641F875B1D1}" type="pres">
      <dgm:prSet presAssocID="{CF23C833-2E92-4BBF-A15F-3A2DA0E828B8}" presName="textNode" presStyleLbl="bgShp" presStyleIdx="0" presStyleCnt="3"/>
      <dgm:spPr/>
    </dgm:pt>
    <dgm:pt modelId="{392EAE5F-5B8C-4B32-B6A0-92A9971E1692}" type="pres">
      <dgm:prSet presAssocID="{CF23C833-2E92-4BBF-A15F-3A2DA0E828B8}" presName="compChildNode" presStyleCnt="0"/>
      <dgm:spPr/>
    </dgm:pt>
    <dgm:pt modelId="{D350ED2A-2C35-4108-BE4C-6B1CA60D673B}" type="pres">
      <dgm:prSet presAssocID="{CF23C833-2E92-4BBF-A15F-3A2DA0E828B8}" presName="theInnerList" presStyleCnt="0"/>
      <dgm:spPr/>
    </dgm:pt>
    <dgm:pt modelId="{22F2A4D6-06F1-470A-AF5B-D444A58D24B8}" type="pres">
      <dgm:prSet presAssocID="{C53E3FE0-31BE-49FD-9F6B-5D3D56FD64C9}" presName="childNode" presStyleLbl="node1" presStyleIdx="0" presStyleCnt="9" custScaleY="368461">
        <dgm:presLayoutVars>
          <dgm:bulletEnabled val="1"/>
        </dgm:presLayoutVars>
      </dgm:prSet>
      <dgm:spPr/>
    </dgm:pt>
    <dgm:pt modelId="{C6CBB4C8-DF1C-4D23-8D5C-2805810617C1}" type="pres">
      <dgm:prSet presAssocID="{C53E3FE0-31BE-49FD-9F6B-5D3D56FD64C9}" presName="aSpace2" presStyleCnt="0"/>
      <dgm:spPr/>
    </dgm:pt>
    <dgm:pt modelId="{0D69FC67-5DD6-462F-92A5-9129488F25B6}" type="pres">
      <dgm:prSet presAssocID="{DC2F5561-945B-4362-8237-9189EBAAE0F4}" presName="childNode" presStyleLbl="node1" presStyleIdx="1" presStyleCnt="9">
        <dgm:presLayoutVars>
          <dgm:bulletEnabled val="1"/>
        </dgm:presLayoutVars>
      </dgm:prSet>
      <dgm:spPr/>
    </dgm:pt>
    <dgm:pt modelId="{855AEAAA-AD70-4D32-9397-136723567274}" type="pres">
      <dgm:prSet presAssocID="{DC2F5561-945B-4362-8237-9189EBAAE0F4}" presName="aSpace2" presStyleCnt="0"/>
      <dgm:spPr/>
    </dgm:pt>
    <dgm:pt modelId="{1385830E-E6E4-4D93-B68C-7E32FE76FAC8}" type="pres">
      <dgm:prSet presAssocID="{31652B2F-ADF0-48D3-9ECB-46D07B8CE806}" presName="childNode" presStyleLbl="node1" presStyleIdx="2" presStyleCnt="9">
        <dgm:presLayoutVars>
          <dgm:bulletEnabled val="1"/>
        </dgm:presLayoutVars>
      </dgm:prSet>
      <dgm:spPr/>
    </dgm:pt>
    <dgm:pt modelId="{384A3BF5-2138-4106-894D-6DFD5EB4BB57}" type="pres">
      <dgm:prSet presAssocID="{31652B2F-ADF0-48D3-9ECB-46D07B8CE806}" presName="aSpace2" presStyleCnt="0"/>
      <dgm:spPr/>
    </dgm:pt>
    <dgm:pt modelId="{DC89E4B9-B5C5-4E1B-992E-378789F786BF}" type="pres">
      <dgm:prSet presAssocID="{EAC81400-57B1-48FA-888A-354506020E61}" presName="childNode" presStyleLbl="node1" presStyleIdx="3" presStyleCnt="9" custScaleY="163331">
        <dgm:presLayoutVars>
          <dgm:bulletEnabled val="1"/>
        </dgm:presLayoutVars>
      </dgm:prSet>
      <dgm:spPr/>
    </dgm:pt>
    <dgm:pt modelId="{85819DB0-EFEB-427D-BB26-B7B06305377E}" type="pres">
      <dgm:prSet presAssocID="{CF23C833-2E92-4BBF-A15F-3A2DA0E828B8}" presName="aSpace" presStyleCnt="0"/>
      <dgm:spPr/>
    </dgm:pt>
    <dgm:pt modelId="{C33D9518-D741-4479-9FB7-CDEC295AB913}" type="pres">
      <dgm:prSet presAssocID="{6125D43A-4410-4BBA-A540-894F87E2EE91}" presName="compNode" presStyleCnt="0"/>
      <dgm:spPr/>
    </dgm:pt>
    <dgm:pt modelId="{268B69EB-9AA0-43FB-9BBA-52BA90F1CE8B}" type="pres">
      <dgm:prSet presAssocID="{6125D43A-4410-4BBA-A540-894F87E2EE91}" presName="aNode" presStyleLbl="bgShp" presStyleIdx="1" presStyleCnt="3"/>
      <dgm:spPr/>
    </dgm:pt>
    <dgm:pt modelId="{DB951793-F051-41EE-80B0-364F34F7129D}" type="pres">
      <dgm:prSet presAssocID="{6125D43A-4410-4BBA-A540-894F87E2EE91}" presName="textNode" presStyleLbl="bgShp" presStyleIdx="1" presStyleCnt="3"/>
      <dgm:spPr/>
    </dgm:pt>
    <dgm:pt modelId="{7EF09A25-4A3B-4F1B-878F-35738EA89195}" type="pres">
      <dgm:prSet presAssocID="{6125D43A-4410-4BBA-A540-894F87E2EE91}" presName="compChildNode" presStyleCnt="0"/>
      <dgm:spPr/>
    </dgm:pt>
    <dgm:pt modelId="{6B802CFC-DB89-4D0B-81B0-4CEA9526129E}" type="pres">
      <dgm:prSet presAssocID="{6125D43A-4410-4BBA-A540-894F87E2EE91}" presName="theInnerList" presStyleCnt="0"/>
      <dgm:spPr/>
    </dgm:pt>
    <dgm:pt modelId="{4347914A-044C-4469-A716-6699F754F372}" type="pres">
      <dgm:prSet presAssocID="{270E2FA7-5974-4797-9D0C-F444A10EC4CB}" presName="childNode" presStyleLbl="node1" presStyleIdx="4" presStyleCnt="9" custScaleY="115724">
        <dgm:presLayoutVars>
          <dgm:bulletEnabled val="1"/>
        </dgm:presLayoutVars>
      </dgm:prSet>
      <dgm:spPr/>
    </dgm:pt>
    <dgm:pt modelId="{C4486890-2FC0-41AD-B7F8-4919BE64A173}" type="pres">
      <dgm:prSet presAssocID="{270E2FA7-5974-4797-9D0C-F444A10EC4CB}" presName="aSpace2" presStyleCnt="0"/>
      <dgm:spPr/>
    </dgm:pt>
    <dgm:pt modelId="{C9C77DEB-8AC2-4E4F-8B30-56B1D17C80E1}" type="pres">
      <dgm:prSet presAssocID="{7FA72F00-D51A-4AB9-9A6C-9CE0942D7406}" presName="childNode" presStyleLbl="node1" presStyleIdx="5" presStyleCnt="9">
        <dgm:presLayoutVars>
          <dgm:bulletEnabled val="1"/>
        </dgm:presLayoutVars>
      </dgm:prSet>
      <dgm:spPr/>
    </dgm:pt>
    <dgm:pt modelId="{97D0A996-F90B-496D-BEDC-2CC5ECE68AA6}" type="pres">
      <dgm:prSet presAssocID="{7FA72F00-D51A-4AB9-9A6C-9CE0942D7406}" presName="aSpace2" presStyleCnt="0"/>
      <dgm:spPr/>
    </dgm:pt>
    <dgm:pt modelId="{D1233E93-39E8-413C-AF4F-180E49A4128F}" type="pres">
      <dgm:prSet presAssocID="{9D891D68-6AF8-49CD-9A6B-51C676559168}" presName="childNode" presStyleLbl="node1" presStyleIdx="6" presStyleCnt="9">
        <dgm:presLayoutVars>
          <dgm:bulletEnabled val="1"/>
        </dgm:presLayoutVars>
      </dgm:prSet>
      <dgm:spPr/>
    </dgm:pt>
    <dgm:pt modelId="{1EF46135-5255-4459-92E8-3B7840FAC113}" type="pres">
      <dgm:prSet presAssocID="{6125D43A-4410-4BBA-A540-894F87E2EE91}" presName="aSpace" presStyleCnt="0"/>
      <dgm:spPr/>
    </dgm:pt>
    <dgm:pt modelId="{8E9379EB-8E84-4FF1-B5E1-ADC53F13E543}" type="pres">
      <dgm:prSet presAssocID="{59A9C7DC-85DE-4EFF-A11F-10ADEEC70CCD}" presName="compNode" presStyleCnt="0"/>
      <dgm:spPr/>
    </dgm:pt>
    <dgm:pt modelId="{7C0D5B29-B8A0-4F92-AAF5-CBC33F3AD249}" type="pres">
      <dgm:prSet presAssocID="{59A9C7DC-85DE-4EFF-A11F-10ADEEC70CCD}" presName="aNode" presStyleLbl="bgShp" presStyleIdx="2" presStyleCnt="3"/>
      <dgm:spPr/>
    </dgm:pt>
    <dgm:pt modelId="{7ACD153D-52C1-4C76-B89F-823A0E3B2D87}" type="pres">
      <dgm:prSet presAssocID="{59A9C7DC-85DE-4EFF-A11F-10ADEEC70CCD}" presName="textNode" presStyleLbl="bgShp" presStyleIdx="2" presStyleCnt="3"/>
      <dgm:spPr/>
    </dgm:pt>
    <dgm:pt modelId="{D3493F34-E056-4279-8B93-E57C4F9F9FFB}" type="pres">
      <dgm:prSet presAssocID="{59A9C7DC-85DE-4EFF-A11F-10ADEEC70CCD}" presName="compChildNode" presStyleCnt="0"/>
      <dgm:spPr/>
    </dgm:pt>
    <dgm:pt modelId="{DB476043-A6DD-47CD-9E39-8D38B0E84839}" type="pres">
      <dgm:prSet presAssocID="{59A9C7DC-85DE-4EFF-A11F-10ADEEC70CCD}" presName="theInnerList" presStyleCnt="0"/>
      <dgm:spPr/>
    </dgm:pt>
    <dgm:pt modelId="{BED5EB0E-FB94-4370-9614-E6436419BA64}" type="pres">
      <dgm:prSet presAssocID="{889709FF-5BA1-466E-AF1A-F639D4035F79}" presName="childNode" presStyleLbl="node1" presStyleIdx="7" presStyleCnt="9">
        <dgm:presLayoutVars>
          <dgm:bulletEnabled val="1"/>
        </dgm:presLayoutVars>
      </dgm:prSet>
      <dgm:spPr/>
    </dgm:pt>
    <dgm:pt modelId="{FD81E855-7DFB-4261-8D64-12D49DDC56E4}" type="pres">
      <dgm:prSet presAssocID="{889709FF-5BA1-466E-AF1A-F639D4035F79}" presName="aSpace2" presStyleCnt="0"/>
      <dgm:spPr/>
    </dgm:pt>
    <dgm:pt modelId="{1331B81E-EF74-4077-8FED-14BF583B3F53}" type="pres">
      <dgm:prSet presAssocID="{013AA548-F33A-4DDF-B6D4-B5279C0386E3}" presName="childNode" presStyleLbl="node1" presStyleIdx="8" presStyleCnt="9">
        <dgm:presLayoutVars>
          <dgm:bulletEnabled val="1"/>
        </dgm:presLayoutVars>
      </dgm:prSet>
      <dgm:spPr/>
    </dgm:pt>
  </dgm:ptLst>
  <dgm:cxnLst>
    <dgm:cxn modelId="{053F5005-31FF-45F4-9598-69AADE88BA2C}" srcId="{12979C8E-EB79-4E91-9055-51B656FF85F1}" destId="{CF23C833-2E92-4BBF-A15F-3A2DA0E828B8}" srcOrd="0" destOrd="0" parTransId="{1A02D81F-D6BD-4B7C-8140-D3A7D1669F3B}" sibTransId="{11FEA24A-167A-4638-B86A-CA1070916A8A}"/>
    <dgm:cxn modelId="{2C898F10-D7F7-44B0-9BE5-CD0AADEB74C5}" srcId="{59A9C7DC-85DE-4EFF-A11F-10ADEEC70CCD}" destId="{013AA548-F33A-4DDF-B6D4-B5279C0386E3}" srcOrd="1" destOrd="0" parTransId="{9E90160A-6181-452D-B7F1-6E7A112A68B7}" sibTransId="{6CACA449-10C9-42E9-97DC-91E7774237C4}"/>
    <dgm:cxn modelId="{6141F71B-98B2-46C5-88AD-7CFBFB6A28D2}" type="presOf" srcId="{59A9C7DC-85DE-4EFF-A11F-10ADEEC70CCD}" destId="{7C0D5B29-B8A0-4F92-AAF5-CBC33F3AD249}" srcOrd="0" destOrd="0" presId="urn:microsoft.com/office/officeart/2005/8/layout/lProcess2"/>
    <dgm:cxn modelId="{0DC68B27-8729-4894-8D2B-6536D76ED7AD}" type="presOf" srcId="{59A9C7DC-85DE-4EFF-A11F-10ADEEC70CCD}" destId="{7ACD153D-52C1-4C76-B89F-823A0E3B2D87}" srcOrd="1" destOrd="0" presId="urn:microsoft.com/office/officeart/2005/8/layout/lProcess2"/>
    <dgm:cxn modelId="{81FA212C-B067-4F9A-9317-D92CB1CE51AE}" type="presOf" srcId="{6125D43A-4410-4BBA-A540-894F87E2EE91}" destId="{DB951793-F051-41EE-80B0-364F34F7129D}" srcOrd="1" destOrd="0" presId="urn:microsoft.com/office/officeart/2005/8/layout/lProcess2"/>
    <dgm:cxn modelId="{D0E26F2E-0854-499C-BBB8-EA025B976489}" srcId="{CF23C833-2E92-4BBF-A15F-3A2DA0E828B8}" destId="{31652B2F-ADF0-48D3-9ECB-46D07B8CE806}" srcOrd="2" destOrd="0" parTransId="{80E0914E-BE2B-4399-8758-ECE4692252CB}" sibTransId="{368AE6B2-7656-4EAE-A286-E0CD9FC57721}"/>
    <dgm:cxn modelId="{531A3240-6ECC-457E-BDE8-A8D3954151AC}" srcId="{CF23C833-2E92-4BBF-A15F-3A2DA0E828B8}" destId="{EAC81400-57B1-48FA-888A-354506020E61}" srcOrd="3" destOrd="0" parTransId="{BC7EACFC-9357-4CE6-AEB9-14D49271E789}" sibTransId="{A770911E-43A2-4EA9-BB1E-66218BEA26C5}"/>
    <dgm:cxn modelId="{7575E16B-15BE-4C96-90BF-364836D85FC4}" type="presOf" srcId="{9D891D68-6AF8-49CD-9A6B-51C676559168}" destId="{D1233E93-39E8-413C-AF4F-180E49A4128F}" srcOrd="0" destOrd="0" presId="urn:microsoft.com/office/officeart/2005/8/layout/lProcess2"/>
    <dgm:cxn modelId="{CFFFD156-4195-42EF-A1AB-2099C61B2C93}" type="presOf" srcId="{889709FF-5BA1-466E-AF1A-F639D4035F79}" destId="{BED5EB0E-FB94-4370-9614-E6436419BA64}" srcOrd="0" destOrd="0" presId="urn:microsoft.com/office/officeart/2005/8/layout/lProcess2"/>
    <dgm:cxn modelId="{0B5A2C82-F681-4E25-9FE2-C83EA92AFDCA}" type="presOf" srcId="{CF23C833-2E92-4BBF-A15F-3A2DA0E828B8}" destId="{8C1545F6-4603-4638-B745-0641F875B1D1}" srcOrd="1" destOrd="0" presId="urn:microsoft.com/office/officeart/2005/8/layout/lProcess2"/>
    <dgm:cxn modelId="{EFAD3C85-8346-4D91-93B5-29768E16F107}" type="presOf" srcId="{7FA72F00-D51A-4AB9-9A6C-9CE0942D7406}" destId="{C9C77DEB-8AC2-4E4F-8B30-56B1D17C80E1}" srcOrd="0" destOrd="0" presId="urn:microsoft.com/office/officeart/2005/8/layout/lProcess2"/>
    <dgm:cxn modelId="{31F424A2-93AF-4715-A94C-82F6BEEC3C31}" srcId="{6125D43A-4410-4BBA-A540-894F87E2EE91}" destId="{7FA72F00-D51A-4AB9-9A6C-9CE0942D7406}" srcOrd="1" destOrd="0" parTransId="{D5EF278B-3FC6-4CC3-B2DE-DC8D19644AF5}" sibTransId="{396C39DE-1761-4B52-8B16-B8318DEDAD62}"/>
    <dgm:cxn modelId="{5A746CA5-7A1E-4268-BB57-D2E727DF8C0F}" type="presOf" srcId="{013AA548-F33A-4DDF-B6D4-B5279C0386E3}" destId="{1331B81E-EF74-4077-8FED-14BF583B3F53}" srcOrd="0" destOrd="0" presId="urn:microsoft.com/office/officeart/2005/8/layout/lProcess2"/>
    <dgm:cxn modelId="{CFC01AAB-CE41-4CF8-A141-43A89A90E8EE}" type="presOf" srcId="{31652B2F-ADF0-48D3-9ECB-46D07B8CE806}" destId="{1385830E-E6E4-4D93-B68C-7E32FE76FAC8}" srcOrd="0" destOrd="0" presId="urn:microsoft.com/office/officeart/2005/8/layout/lProcess2"/>
    <dgm:cxn modelId="{F68DD8B0-206C-4807-B5B9-EFC2491A8FC7}" srcId="{12979C8E-EB79-4E91-9055-51B656FF85F1}" destId="{59A9C7DC-85DE-4EFF-A11F-10ADEEC70CCD}" srcOrd="2" destOrd="0" parTransId="{5D091EF4-CDEC-4D20-82A2-53B8BD201067}" sibTransId="{3C72DCF8-2E3F-4423-8B31-8D4B701622AB}"/>
    <dgm:cxn modelId="{675E66B2-72AA-46C3-B3E5-6870068DC8D2}" type="presOf" srcId="{DC2F5561-945B-4362-8237-9189EBAAE0F4}" destId="{0D69FC67-5DD6-462F-92A5-9129488F25B6}" srcOrd="0" destOrd="0" presId="urn:microsoft.com/office/officeart/2005/8/layout/lProcess2"/>
    <dgm:cxn modelId="{7D4B69BC-1ACA-413E-BB41-27200090DA4F}" type="presOf" srcId="{270E2FA7-5974-4797-9D0C-F444A10EC4CB}" destId="{4347914A-044C-4469-A716-6699F754F372}" srcOrd="0" destOrd="0" presId="urn:microsoft.com/office/officeart/2005/8/layout/lProcess2"/>
    <dgm:cxn modelId="{6A34E4C3-15EF-40FC-B4B7-E0CF0A46B749}" srcId="{12979C8E-EB79-4E91-9055-51B656FF85F1}" destId="{6125D43A-4410-4BBA-A540-894F87E2EE91}" srcOrd="1" destOrd="0" parTransId="{32118CF0-4468-4223-BAAC-317F702743BA}" sibTransId="{AD9B8978-E6CD-4CF6-816B-97EE2EED93BC}"/>
    <dgm:cxn modelId="{661320C8-BF2A-4337-B579-4B10E6338B69}" srcId="{6125D43A-4410-4BBA-A540-894F87E2EE91}" destId="{9D891D68-6AF8-49CD-9A6B-51C676559168}" srcOrd="2" destOrd="0" parTransId="{9DF90752-4306-403D-94E1-D4540C7ED568}" sibTransId="{D4A99AA7-9F2F-40FA-A007-0760D349A6AF}"/>
    <dgm:cxn modelId="{DD6792CC-5005-4533-AC89-DE22DF3FEA78}" type="presOf" srcId="{C53E3FE0-31BE-49FD-9F6B-5D3D56FD64C9}" destId="{22F2A4D6-06F1-470A-AF5B-D444A58D24B8}" srcOrd="0" destOrd="0" presId="urn:microsoft.com/office/officeart/2005/8/layout/lProcess2"/>
    <dgm:cxn modelId="{2BF9EFCF-7BB1-4041-AA6D-BF428708069F}" srcId="{CF23C833-2E92-4BBF-A15F-3A2DA0E828B8}" destId="{C53E3FE0-31BE-49FD-9F6B-5D3D56FD64C9}" srcOrd="0" destOrd="0" parTransId="{9E126DF8-7C98-4F47-BACA-4276E5155D2E}" sibTransId="{A2CFB6DF-3D36-4B76-B823-93E08A1CDBB8}"/>
    <dgm:cxn modelId="{194428D6-5867-4488-A231-F6D2A9E327A2}" srcId="{CF23C833-2E92-4BBF-A15F-3A2DA0E828B8}" destId="{DC2F5561-945B-4362-8237-9189EBAAE0F4}" srcOrd="1" destOrd="0" parTransId="{9854D061-23CD-4FAB-95CC-EEBDF16130FF}" sibTransId="{D36B38CC-A241-42FB-AA50-6897D8CB92D9}"/>
    <dgm:cxn modelId="{80242CDE-BA82-4304-879D-534B5C83E2B5}" type="presOf" srcId="{12979C8E-EB79-4E91-9055-51B656FF85F1}" destId="{544C3FA5-8353-4195-905A-21AB1624B37D}" srcOrd="0" destOrd="0" presId="urn:microsoft.com/office/officeart/2005/8/layout/lProcess2"/>
    <dgm:cxn modelId="{EE8401E3-ABA0-4DC9-A291-B2BE1ABF4F53}" type="presOf" srcId="{EAC81400-57B1-48FA-888A-354506020E61}" destId="{DC89E4B9-B5C5-4E1B-992E-378789F786BF}" srcOrd="0" destOrd="0" presId="urn:microsoft.com/office/officeart/2005/8/layout/lProcess2"/>
    <dgm:cxn modelId="{BD017BE3-E03D-451E-B27D-730ABAFCA7FA}" type="presOf" srcId="{6125D43A-4410-4BBA-A540-894F87E2EE91}" destId="{268B69EB-9AA0-43FB-9BBA-52BA90F1CE8B}" srcOrd="0" destOrd="0" presId="urn:microsoft.com/office/officeart/2005/8/layout/lProcess2"/>
    <dgm:cxn modelId="{7DDB13F1-1A09-434A-8263-2CA814F2F09D}" srcId="{59A9C7DC-85DE-4EFF-A11F-10ADEEC70CCD}" destId="{889709FF-5BA1-466E-AF1A-F639D4035F79}" srcOrd="0" destOrd="0" parTransId="{8E02C99F-3D78-4771-A55F-EF346C7868B0}" sibTransId="{08779B55-DE5E-4C0D-90DE-C3D972B5B63F}"/>
    <dgm:cxn modelId="{48F60AF2-8E7D-4453-B07D-CD4CD58C3FA3}" type="presOf" srcId="{CF23C833-2E92-4BBF-A15F-3A2DA0E828B8}" destId="{A6084174-FB84-45E3-B219-F47694628E1B}" srcOrd="0" destOrd="0" presId="urn:microsoft.com/office/officeart/2005/8/layout/lProcess2"/>
    <dgm:cxn modelId="{52A674FE-055D-438C-918E-85CA8EDA3A4D}" srcId="{6125D43A-4410-4BBA-A540-894F87E2EE91}" destId="{270E2FA7-5974-4797-9D0C-F444A10EC4CB}" srcOrd="0" destOrd="0" parTransId="{0262BE20-55FD-4F7E-85AD-2419CE58DC06}" sibTransId="{70739F45-796B-4A20-80CC-A55080BF44FB}"/>
    <dgm:cxn modelId="{1BC73C66-E8D7-476C-BB51-6E042039B55B}" type="presParOf" srcId="{544C3FA5-8353-4195-905A-21AB1624B37D}" destId="{D7487848-C52D-4509-A927-85683BFE52FB}" srcOrd="0" destOrd="0" presId="urn:microsoft.com/office/officeart/2005/8/layout/lProcess2"/>
    <dgm:cxn modelId="{EF1B252E-47D7-40C9-8611-35D0C2B55078}" type="presParOf" srcId="{D7487848-C52D-4509-A927-85683BFE52FB}" destId="{A6084174-FB84-45E3-B219-F47694628E1B}" srcOrd="0" destOrd="0" presId="urn:microsoft.com/office/officeart/2005/8/layout/lProcess2"/>
    <dgm:cxn modelId="{B91B7230-397D-4715-B36A-295E1D046F61}" type="presParOf" srcId="{D7487848-C52D-4509-A927-85683BFE52FB}" destId="{8C1545F6-4603-4638-B745-0641F875B1D1}" srcOrd="1" destOrd="0" presId="urn:microsoft.com/office/officeart/2005/8/layout/lProcess2"/>
    <dgm:cxn modelId="{831A9844-6444-4B63-AEE3-584F60E6406F}" type="presParOf" srcId="{D7487848-C52D-4509-A927-85683BFE52FB}" destId="{392EAE5F-5B8C-4B32-B6A0-92A9971E1692}" srcOrd="2" destOrd="0" presId="urn:microsoft.com/office/officeart/2005/8/layout/lProcess2"/>
    <dgm:cxn modelId="{126331B6-F51F-4F87-BED6-0F59FAD93095}" type="presParOf" srcId="{392EAE5F-5B8C-4B32-B6A0-92A9971E1692}" destId="{D350ED2A-2C35-4108-BE4C-6B1CA60D673B}" srcOrd="0" destOrd="0" presId="urn:microsoft.com/office/officeart/2005/8/layout/lProcess2"/>
    <dgm:cxn modelId="{E1E57097-2AA2-483A-B0B4-7E2BBFBA7F8E}" type="presParOf" srcId="{D350ED2A-2C35-4108-BE4C-6B1CA60D673B}" destId="{22F2A4D6-06F1-470A-AF5B-D444A58D24B8}" srcOrd="0" destOrd="0" presId="urn:microsoft.com/office/officeart/2005/8/layout/lProcess2"/>
    <dgm:cxn modelId="{A3424182-DB8E-4539-A3C8-AA65A21A1B20}" type="presParOf" srcId="{D350ED2A-2C35-4108-BE4C-6B1CA60D673B}" destId="{C6CBB4C8-DF1C-4D23-8D5C-2805810617C1}" srcOrd="1" destOrd="0" presId="urn:microsoft.com/office/officeart/2005/8/layout/lProcess2"/>
    <dgm:cxn modelId="{E8A0C117-C9C8-4CE7-8A33-AB5916A03A91}" type="presParOf" srcId="{D350ED2A-2C35-4108-BE4C-6B1CA60D673B}" destId="{0D69FC67-5DD6-462F-92A5-9129488F25B6}" srcOrd="2" destOrd="0" presId="urn:microsoft.com/office/officeart/2005/8/layout/lProcess2"/>
    <dgm:cxn modelId="{CB337F88-B786-489C-82BE-21C0F1825A7A}" type="presParOf" srcId="{D350ED2A-2C35-4108-BE4C-6B1CA60D673B}" destId="{855AEAAA-AD70-4D32-9397-136723567274}" srcOrd="3" destOrd="0" presId="urn:microsoft.com/office/officeart/2005/8/layout/lProcess2"/>
    <dgm:cxn modelId="{197D677F-8FBA-4EE8-928C-2299C8F2B404}" type="presParOf" srcId="{D350ED2A-2C35-4108-BE4C-6B1CA60D673B}" destId="{1385830E-E6E4-4D93-B68C-7E32FE76FAC8}" srcOrd="4" destOrd="0" presId="urn:microsoft.com/office/officeart/2005/8/layout/lProcess2"/>
    <dgm:cxn modelId="{6F7A3753-3636-45DA-AA2A-1DA5DD2973CC}" type="presParOf" srcId="{D350ED2A-2C35-4108-BE4C-6B1CA60D673B}" destId="{384A3BF5-2138-4106-894D-6DFD5EB4BB57}" srcOrd="5" destOrd="0" presId="urn:microsoft.com/office/officeart/2005/8/layout/lProcess2"/>
    <dgm:cxn modelId="{82F13C31-6011-47E0-9FF7-616337F89BF4}" type="presParOf" srcId="{D350ED2A-2C35-4108-BE4C-6B1CA60D673B}" destId="{DC89E4B9-B5C5-4E1B-992E-378789F786BF}" srcOrd="6" destOrd="0" presId="urn:microsoft.com/office/officeart/2005/8/layout/lProcess2"/>
    <dgm:cxn modelId="{7458B612-61A9-461A-8CE3-9E58E148EAE7}" type="presParOf" srcId="{544C3FA5-8353-4195-905A-21AB1624B37D}" destId="{85819DB0-EFEB-427D-BB26-B7B06305377E}" srcOrd="1" destOrd="0" presId="urn:microsoft.com/office/officeart/2005/8/layout/lProcess2"/>
    <dgm:cxn modelId="{C7F62F5D-D5C9-4460-9D8C-2FC28E295146}" type="presParOf" srcId="{544C3FA5-8353-4195-905A-21AB1624B37D}" destId="{C33D9518-D741-4479-9FB7-CDEC295AB913}" srcOrd="2" destOrd="0" presId="urn:microsoft.com/office/officeart/2005/8/layout/lProcess2"/>
    <dgm:cxn modelId="{FD757186-AC75-4FEF-864A-D00F9BF5F757}" type="presParOf" srcId="{C33D9518-D741-4479-9FB7-CDEC295AB913}" destId="{268B69EB-9AA0-43FB-9BBA-52BA90F1CE8B}" srcOrd="0" destOrd="0" presId="urn:microsoft.com/office/officeart/2005/8/layout/lProcess2"/>
    <dgm:cxn modelId="{F09D634D-CBC5-4765-BBE3-76715BBBF1AB}" type="presParOf" srcId="{C33D9518-D741-4479-9FB7-CDEC295AB913}" destId="{DB951793-F051-41EE-80B0-364F34F7129D}" srcOrd="1" destOrd="0" presId="urn:microsoft.com/office/officeart/2005/8/layout/lProcess2"/>
    <dgm:cxn modelId="{6FFA4B08-40C3-4FF1-B0C9-8FD83261A877}" type="presParOf" srcId="{C33D9518-D741-4479-9FB7-CDEC295AB913}" destId="{7EF09A25-4A3B-4F1B-878F-35738EA89195}" srcOrd="2" destOrd="0" presId="urn:microsoft.com/office/officeart/2005/8/layout/lProcess2"/>
    <dgm:cxn modelId="{14A5A802-2FD3-4686-9829-A0177F1F5506}" type="presParOf" srcId="{7EF09A25-4A3B-4F1B-878F-35738EA89195}" destId="{6B802CFC-DB89-4D0B-81B0-4CEA9526129E}" srcOrd="0" destOrd="0" presId="urn:microsoft.com/office/officeart/2005/8/layout/lProcess2"/>
    <dgm:cxn modelId="{24F5F8EF-5890-4AE0-ACB5-401CA1249DD8}" type="presParOf" srcId="{6B802CFC-DB89-4D0B-81B0-4CEA9526129E}" destId="{4347914A-044C-4469-A716-6699F754F372}" srcOrd="0" destOrd="0" presId="urn:microsoft.com/office/officeart/2005/8/layout/lProcess2"/>
    <dgm:cxn modelId="{3E1B7E5D-22A3-4CA4-BB94-D67712102B9D}" type="presParOf" srcId="{6B802CFC-DB89-4D0B-81B0-4CEA9526129E}" destId="{C4486890-2FC0-41AD-B7F8-4919BE64A173}" srcOrd="1" destOrd="0" presId="urn:microsoft.com/office/officeart/2005/8/layout/lProcess2"/>
    <dgm:cxn modelId="{C6F3EE9C-C4E8-4984-A655-582C286D027A}" type="presParOf" srcId="{6B802CFC-DB89-4D0B-81B0-4CEA9526129E}" destId="{C9C77DEB-8AC2-4E4F-8B30-56B1D17C80E1}" srcOrd="2" destOrd="0" presId="urn:microsoft.com/office/officeart/2005/8/layout/lProcess2"/>
    <dgm:cxn modelId="{8183762D-8EEE-4671-BB40-E03700B09841}" type="presParOf" srcId="{6B802CFC-DB89-4D0B-81B0-4CEA9526129E}" destId="{97D0A996-F90B-496D-BEDC-2CC5ECE68AA6}" srcOrd="3" destOrd="0" presId="urn:microsoft.com/office/officeart/2005/8/layout/lProcess2"/>
    <dgm:cxn modelId="{63E90A1A-5EB7-4373-916D-1ECD3CEA0961}" type="presParOf" srcId="{6B802CFC-DB89-4D0B-81B0-4CEA9526129E}" destId="{D1233E93-39E8-413C-AF4F-180E49A4128F}" srcOrd="4" destOrd="0" presId="urn:microsoft.com/office/officeart/2005/8/layout/lProcess2"/>
    <dgm:cxn modelId="{4995A123-8B1B-4594-96A0-C707FA82991F}" type="presParOf" srcId="{544C3FA5-8353-4195-905A-21AB1624B37D}" destId="{1EF46135-5255-4459-92E8-3B7840FAC113}" srcOrd="3" destOrd="0" presId="urn:microsoft.com/office/officeart/2005/8/layout/lProcess2"/>
    <dgm:cxn modelId="{151B5536-B541-423D-8B9C-E68CC038D9D2}" type="presParOf" srcId="{544C3FA5-8353-4195-905A-21AB1624B37D}" destId="{8E9379EB-8E84-4FF1-B5E1-ADC53F13E543}" srcOrd="4" destOrd="0" presId="urn:microsoft.com/office/officeart/2005/8/layout/lProcess2"/>
    <dgm:cxn modelId="{B5149DC1-32C8-4619-884E-2F8D4D22AA59}" type="presParOf" srcId="{8E9379EB-8E84-4FF1-B5E1-ADC53F13E543}" destId="{7C0D5B29-B8A0-4F92-AAF5-CBC33F3AD249}" srcOrd="0" destOrd="0" presId="urn:microsoft.com/office/officeart/2005/8/layout/lProcess2"/>
    <dgm:cxn modelId="{FE00E310-5D0C-4E5F-B270-C0BE6C345CBD}" type="presParOf" srcId="{8E9379EB-8E84-4FF1-B5E1-ADC53F13E543}" destId="{7ACD153D-52C1-4C76-B89F-823A0E3B2D87}" srcOrd="1" destOrd="0" presId="urn:microsoft.com/office/officeart/2005/8/layout/lProcess2"/>
    <dgm:cxn modelId="{E25FE666-3A92-4F01-AAAB-F1EE7072BDA1}" type="presParOf" srcId="{8E9379EB-8E84-4FF1-B5E1-ADC53F13E543}" destId="{D3493F34-E056-4279-8B93-E57C4F9F9FFB}" srcOrd="2" destOrd="0" presId="urn:microsoft.com/office/officeart/2005/8/layout/lProcess2"/>
    <dgm:cxn modelId="{F4555A31-B93E-482D-BA76-44AD4FB434E9}" type="presParOf" srcId="{D3493F34-E056-4279-8B93-E57C4F9F9FFB}" destId="{DB476043-A6DD-47CD-9E39-8D38B0E84839}" srcOrd="0" destOrd="0" presId="urn:microsoft.com/office/officeart/2005/8/layout/lProcess2"/>
    <dgm:cxn modelId="{D8B62A01-6336-4753-9E80-A722AE18E4BB}" type="presParOf" srcId="{DB476043-A6DD-47CD-9E39-8D38B0E84839}" destId="{BED5EB0E-FB94-4370-9614-E6436419BA64}" srcOrd="0" destOrd="0" presId="urn:microsoft.com/office/officeart/2005/8/layout/lProcess2"/>
    <dgm:cxn modelId="{57AB904E-F786-4B44-B491-997BC810FAF6}" type="presParOf" srcId="{DB476043-A6DD-47CD-9E39-8D38B0E84839}" destId="{FD81E855-7DFB-4261-8D64-12D49DDC56E4}" srcOrd="1" destOrd="0" presId="urn:microsoft.com/office/officeart/2005/8/layout/lProcess2"/>
    <dgm:cxn modelId="{E8EFB7A7-7AD4-4BEE-B14C-FAD9ED9095D4}" type="presParOf" srcId="{DB476043-A6DD-47CD-9E39-8D38B0E84839}" destId="{1331B81E-EF74-4077-8FED-14BF583B3F53}"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2979C8E-EB79-4E91-9055-51B656FF85F1}"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CF23C833-2E92-4BBF-A15F-3A2DA0E828B8}">
      <dgm:prSet custT="1"/>
      <dgm:spPr/>
      <dgm:t>
        <a:bodyPr/>
        <a:lstStyle/>
        <a:p>
          <a:pPr rtl="0"/>
          <a:r>
            <a:rPr lang="en-US" sz="2800" dirty="0"/>
            <a:t>Earnings Multiples</a:t>
          </a:r>
          <a:endParaRPr lang="en-GB" sz="2800" dirty="0"/>
        </a:p>
      </dgm:t>
    </dgm:pt>
    <dgm:pt modelId="{1A02D81F-D6BD-4B7C-8140-D3A7D1669F3B}" type="parTrans" cxnId="{053F5005-31FF-45F4-9598-69AADE88BA2C}">
      <dgm:prSet/>
      <dgm:spPr/>
      <dgm:t>
        <a:bodyPr/>
        <a:lstStyle/>
        <a:p>
          <a:endParaRPr lang="en-GB" sz="2000"/>
        </a:p>
      </dgm:t>
    </dgm:pt>
    <dgm:pt modelId="{11FEA24A-167A-4638-B86A-CA1070916A8A}" type="sibTrans" cxnId="{053F5005-31FF-45F4-9598-69AADE88BA2C}">
      <dgm:prSet/>
      <dgm:spPr/>
      <dgm:t>
        <a:bodyPr/>
        <a:lstStyle/>
        <a:p>
          <a:endParaRPr lang="en-GB" sz="2000"/>
        </a:p>
      </dgm:t>
    </dgm:pt>
    <dgm:pt modelId="{C53E3FE0-31BE-49FD-9F6B-5D3D56FD64C9}">
      <dgm:prSet custT="1"/>
      <dgm:spPr/>
      <dgm:t>
        <a:bodyPr/>
        <a:lstStyle/>
        <a:p>
          <a:pPr rtl="0"/>
          <a:r>
            <a:rPr lang="en-US" sz="1600" dirty="0"/>
            <a:t>Price/Earnings Ratio (PE)</a:t>
          </a:r>
        </a:p>
        <a:p>
          <a:pPr rtl="0"/>
          <a:r>
            <a:rPr lang="en-US" sz="1600" dirty="0"/>
            <a:t> and variants  (PEG and Relative PE)</a:t>
          </a:r>
          <a:endParaRPr lang="en-GB" sz="1600" dirty="0"/>
        </a:p>
      </dgm:t>
    </dgm:pt>
    <dgm:pt modelId="{9E126DF8-7C98-4F47-BACA-4276E5155D2E}" type="parTrans" cxnId="{2BF9EFCF-7BB1-4041-AA6D-BF428708069F}">
      <dgm:prSet/>
      <dgm:spPr/>
      <dgm:t>
        <a:bodyPr/>
        <a:lstStyle/>
        <a:p>
          <a:endParaRPr lang="en-GB" sz="2000"/>
        </a:p>
      </dgm:t>
    </dgm:pt>
    <dgm:pt modelId="{A2CFB6DF-3D36-4B76-B823-93E08A1CDBB8}" type="sibTrans" cxnId="{2BF9EFCF-7BB1-4041-AA6D-BF428708069F}">
      <dgm:prSet/>
      <dgm:spPr/>
      <dgm:t>
        <a:bodyPr/>
        <a:lstStyle/>
        <a:p>
          <a:endParaRPr lang="en-GB" sz="2000"/>
        </a:p>
      </dgm:t>
    </dgm:pt>
    <dgm:pt modelId="{DC2F5561-945B-4362-8237-9189EBAAE0F4}">
      <dgm:prSet custT="1"/>
      <dgm:spPr/>
      <dgm:t>
        <a:bodyPr/>
        <a:lstStyle/>
        <a:p>
          <a:pPr rtl="0"/>
          <a:r>
            <a:rPr lang="en-US" sz="1600" dirty="0"/>
            <a:t>Value/EBIT</a:t>
          </a:r>
          <a:endParaRPr lang="en-GB" sz="1600" dirty="0"/>
        </a:p>
      </dgm:t>
    </dgm:pt>
    <dgm:pt modelId="{9854D061-23CD-4FAB-95CC-EEBDF16130FF}" type="parTrans" cxnId="{194428D6-5867-4488-A231-F6D2A9E327A2}">
      <dgm:prSet/>
      <dgm:spPr/>
      <dgm:t>
        <a:bodyPr/>
        <a:lstStyle/>
        <a:p>
          <a:endParaRPr lang="en-GB" sz="2000"/>
        </a:p>
      </dgm:t>
    </dgm:pt>
    <dgm:pt modelId="{D36B38CC-A241-42FB-AA50-6897D8CB92D9}" type="sibTrans" cxnId="{194428D6-5867-4488-A231-F6D2A9E327A2}">
      <dgm:prSet/>
      <dgm:spPr/>
      <dgm:t>
        <a:bodyPr/>
        <a:lstStyle/>
        <a:p>
          <a:endParaRPr lang="en-GB" sz="2000"/>
        </a:p>
      </dgm:t>
    </dgm:pt>
    <dgm:pt modelId="{31652B2F-ADF0-48D3-9ECB-46D07B8CE806}">
      <dgm:prSet custT="1"/>
      <dgm:spPr/>
      <dgm:t>
        <a:bodyPr/>
        <a:lstStyle/>
        <a:p>
          <a:pPr rtl="0"/>
          <a:r>
            <a:rPr lang="en-US" sz="1600" dirty="0"/>
            <a:t>Value/EBITDA</a:t>
          </a:r>
          <a:endParaRPr lang="en-GB" sz="1600" dirty="0"/>
        </a:p>
      </dgm:t>
    </dgm:pt>
    <dgm:pt modelId="{80E0914E-BE2B-4399-8758-ECE4692252CB}" type="parTrans" cxnId="{D0E26F2E-0854-499C-BBB8-EA025B976489}">
      <dgm:prSet/>
      <dgm:spPr/>
      <dgm:t>
        <a:bodyPr/>
        <a:lstStyle/>
        <a:p>
          <a:endParaRPr lang="en-GB" sz="2000"/>
        </a:p>
      </dgm:t>
    </dgm:pt>
    <dgm:pt modelId="{368AE6B2-7656-4EAE-A286-E0CD9FC57721}" type="sibTrans" cxnId="{D0E26F2E-0854-499C-BBB8-EA025B976489}">
      <dgm:prSet/>
      <dgm:spPr/>
      <dgm:t>
        <a:bodyPr/>
        <a:lstStyle/>
        <a:p>
          <a:endParaRPr lang="en-GB" sz="2000"/>
        </a:p>
      </dgm:t>
    </dgm:pt>
    <dgm:pt modelId="{EAC81400-57B1-48FA-888A-354506020E61}">
      <dgm:prSet custT="1"/>
      <dgm:spPr/>
      <dgm:t>
        <a:bodyPr/>
        <a:lstStyle/>
        <a:p>
          <a:pPr rtl="0"/>
          <a:r>
            <a:rPr lang="en-US" sz="1600" dirty="0"/>
            <a:t>Value/Cash Flow</a:t>
          </a:r>
          <a:endParaRPr lang="en-GB" sz="1600" dirty="0"/>
        </a:p>
      </dgm:t>
    </dgm:pt>
    <dgm:pt modelId="{BC7EACFC-9357-4CE6-AEB9-14D49271E789}" type="parTrans" cxnId="{531A3240-6ECC-457E-BDE8-A8D3954151AC}">
      <dgm:prSet/>
      <dgm:spPr/>
      <dgm:t>
        <a:bodyPr/>
        <a:lstStyle/>
        <a:p>
          <a:endParaRPr lang="en-GB" sz="2000"/>
        </a:p>
      </dgm:t>
    </dgm:pt>
    <dgm:pt modelId="{A770911E-43A2-4EA9-BB1E-66218BEA26C5}" type="sibTrans" cxnId="{531A3240-6ECC-457E-BDE8-A8D3954151AC}">
      <dgm:prSet/>
      <dgm:spPr/>
      <dgm:t>
        <a:bodyPr/>
        <a:lstStyle/>
        <a:p>
          <a:endParaRPr lang="en-GB" sz="2000"/>
        </a:p>
      </dgm:t>
    </dgm:pt>
    <dgm:pt modelId="{6125D43A-4410-4BBA-A540-894F87E2EE91}">
      <dgm:prSet custT="1"/>
      <dgm:spPr/>
      <dgm:t>
        <a:bodyPr/>
        <a:lstStyle/>
        <a:p>
          <a:pPr rtl="0"/>
          <a:r>
            <a:rPr lang="en-US" sz="2800" dirty="0"/>
            <a:t>Book Value Multiples</a:t>
          </a:r>
          <a:endParaRPr lang="en-GB" sz="2800" dirty="0"/>
        </a:p>
      </dgm:t>
    </dgm:pt>
    <dgm:pt modelId="{32118CF0-4468-4223-BAAC-317F702743BA}" type="parTrans" cxnId="{6A34E4C3-15EF-40FC-B4B7-E0CF0A46B749}">
      <dgm:prSet/>
      <dgm:spPr/>
      <dgm:t>
        <a:bodyPr/>
        <a:lstStyle/>
        <a:p>
          <a:endParaRPr lang="en-GB" sz="2000"/>
        </a:p>
      </dgm:t>
    </dgm:pt>
    <dgm:pt modelId="{AD9B8978-E6CD-4CF6-816B-97EE2EED93BC}" type="sibTrans" cxnId="{6A34E4C3-15EF-40FC-B4B7-E0CF0A46B749}">
      <dgm:prSet/>
      <dgm:spPr/>
      <dgm:t>
        <a:bodyPr/>
        <a:lstStyle/>
        <a:p>
          <a:endParaRPr lang="en-GB" sz="2000"/>
        </a:p>
      </dgm:t>
    </dgm:pt>
    <dgm:pt modelId="{270E2FA7-5974-4797-9D0C-F444A10EC4CB}">
      <dgm:prSet custT="1"/>
      <dgm:spPr/>
      <dgm:t>
        <a:bodyPr/>
        <a:lstStyle/>
        <a:p>
          <a:pPr rtl="0"/>
          <a:r>
            <a:rPr lang="en-US" sz="1600" dirty="0"/>
            <a:t>Price/Book Value(of Equity) (PBV)</a:t>
          </a:r>
          <a:endParaRPr lang="en-GB" sz="1600" dirty="0"/>
        </a:p>
      </dgm:t>
    </dgm:pt>
    <dgm:pt modelId="{0262BE20-55FD-4F7E-85AD-2419CE58DC06}" type="parTrans" cxnId="{52A674FE-055D-438C-918E-85CA8EDA3A4D}">
      <dgm:prSet/>
      <dgm:spPr/>
      <dgm:t>
        <a:bodyPr/>
        <a:lstStyle/>
        <a:p>
          <a:endParaRPr lang="en-GB" sz="2000"/>
        </a:p>
      </dgm:t>
    </dgm:pt>
    <dgm:pt modelId="{70739F45-796B-4A20-80CC-A55080BF44FB}" type="sibTrans" cxnId="{52A674FE-055D-438C-918E-85CA8EDA3A4D}">
      <dgm:prSet/>
      <dgm:spPr/>
      <dgm:t>
        <a:bodyPr/>
        <a:lstStyle/>
        <a:p>
          <a:endParaRPr lang="en-GB" sz="2000"/>
        </a:p>
      </dgm:t>
    </dgm:pt>
    <dgm:pt modelId="{7FA72F00-D51A-4AB9-9A6C-9CE0942D7406}">
      <dgm:prSet custT="1"/>
      <dgm:spPr/>
      <dgm:t>
        <a:bodyPr/>
        <a:lstStyle/>
        <a:p>
          <a:pPr rtl="0"/>
          <a:r>
            <a:rPr lang="en-US" sz="1600" dirty="0"/>
            <a:t>Value/ Book Value of Assets</a:t>
          </a:r>
          <a:endParaRPr lang="en-GB" sz="1600" dirty="0"/>
        </a:p>
      </dgm:t>
    </dgm:pt>
    <dgm:pt modelId="{D5EF278B-3FC6-4CC3-B2DE-DC8D19644AF5}" type="parTrans" cxnId="{31F424A2-93AF-4715-A94C-82F6BEEC3C31}">
      <dgm:prSet/>
      <dgm:spPr/>
      <dgm:t>
        <a:bodyPr/>
        <a:lstStyle/>
        <a:p>
          <a:endParaRPr lang="en-GB" sz="2000"/>
        </a:p>
      </dgm:t>
    </dgm:pt>
    <dgm:pt modelId="{396C39DE-1761-4B52-8B16-B8318DEDAD62}" type="sibTrans" cxnId="{31F424A2-93AF-4715-A94C-82F6BEEC3C31}">
      <dgm:prSet/>
      <dgm:spPr/>
      <dgm:t>
        <a:bodyPr/>
        <a:lstStyle/>
        <a:p>
          <a:endParaRPr lang="en-GB" sz="2000"/>
        </a:p>
      </dgm:t>
    </dgm:pt>
    <dgm:pt modelId="{9D891D68-6AF8-49CD-9A6B-51C676559168}">
      <dgm:prSet custT="1"/>
      <dgm:spPr/>
      <dgm:t>
        <a:bodyPr/>
        <a:lstStyle/>
        <a:p>
          <a:pPr rtl="0"/>
          <a:r>
            <a:rPr lang="en-US" sz="1600" dirty="0"/>
            <a:t>Value/Replacement Cost (Tobin’s Q)</a:t>
          </a:r>
          <a:endParaRPr lang="en-GB" sz="1600" dirty="0"/>
        </a:p>
      </dgm:t>
    </dgm:pt>
    <dgm:pt modelId="{9DF90752-4306-403D-94E1-D4540C7ED568}" type="parTrans" cxnId="{661320C8-BF2A-4337-B579-4B10E6338B69}">
      <dgm:prSet/>
      <dgm:spPr/>
      <dgm:t>
        <a:bodyPr/>
        <a:lstStyle/>
        <a:p>
          <a:endParaRPr lang="en-GB" sz="2000"/>
        </a:p>
      </dgm:t>
    </dgm:pt>
    <dgm:pt modelId="{D4A99AA7-9F2F-40FA-A007-0760D349A6AF}" type="sibTrans" cxnId="{661320C8-BF2A-4337-B579-4B10E6338B69}">
      <dgm:prSet/>
      <dgm:spPr/>
      <dgm:t>
        <a:bodyPr/>
        <a:lstStyle/>
        <a:p>
          <a:endParaRPr lang="en-GB" sz="2000"/>
        </a:p>
      </dgm:t>
    </dgm:pt>
    <dgm:pt modelId="{59A9C7DC-85DE-4EFF-A11F-10ADEEC70CCD}">
      <dgm:prSet custT="1"/>
      <dgm:spPr/>
      <dgm:t>
        <a:bodyPr/>
        <a:lstStyle/>
        <a:p>
          <a:pPr rtl="0"/>
          <a:r>
            <a:rPr lang="en-US" sz="2800" dirty="0"/>
            <a:t>Revenues</a:t>
          </a:r>
          <a:endParaRPr lang="en-GB" sz="2800" dirty="0"/>
        </a:p>
      </dgm:t>
    </dgm:pt>
    <dgm:pt modelId="{5D091EF4-CDEC-4D20-82A2-53B8BD201067}" type="parTrans" cxnId="{F68DD8B0-206C-4807-B5B9-EFC2491A8FC7}">
      <dgm:prSet/>
      <dgm:spPr/>
      <dgm:t>
        <a:bodyPr/>
        <a:lstStyle/>
        <a:p>
          <a:endParaRPr lang="en-GB" sz="2000"/>
        </a:p>
      </dgm:t>
    </dgm:pt>
    <dgm:pt modelId="{3C72DCF8-2E3F-4423-8B31-8D4B701622AB}" type="sibTrans" cxnId="{F68DD8B0-206C-4807-B5B9-EFC2491A8FC7}">
      <dgm:prSet/>
      <dgm:spPr/>
      <dgm:t>
        <a:bodyPr/>
        <a:lstStyle/>
        <a:p>
          <a:endParaRPr lang="en-GB" sz="2000"/>
        </a:p>
      </dgm:t>
    </dgm:pt>
    <dgm:pt modelId="{889709FF-5BA1-466E-AF1A-F639D4035F79}">
      <dgm:prSet custT="1"/>
      <dgm:spPr/>
      <dgm:t>
        <a:bodyPr/>
        <a:lstStyle/>
        <a:p>
          <a:pPr rtl="0"/>
          <a:r>
            <a:rPr lang="en-US" sz="1600" dirty="0"/>
            <a:t>Price/Sales per Share (PS)</a:t>
          </a:r>
          <a:endParaRPr lang="en-GB" sz="1600" dirty="0"/>
        </a:p>
      </dgm:t>
    </dgm:pt>
    <dgm:pt modelId="{8E02C99F-3D78-4771-A55F-EF346C7868B0}" type="parTrans" cxnId="{7DDB13F1-1A09-434A-8263-2CA814F2F09D}">
      <dgm:prSet/>
      <dgm:spPr/>
      <dgm:t>
        <a:bodyPr/>
        <a:lstStyle/>
        <a:p>
          <a:endParaRPr lang="en-GB" sz="2000"/>
        </a:p>
      </dgm:t>
    </dgm:pt>
    <dgm:pt modelId="{08779B55-DE5E-4C0D-90DE-C3D972B5B63F}" type="sibTrans" cxnId="{7DDB13F1-1A09-434A-8263-2CA814F2F09D}">
      <dgm:prSet/>
      <dgm:spPr/>
      <dgm:t>
        <a:bodyPr/>
        <a:lstStyle/>
        <a:p>
          <a:endParaRPr lang="en-GB" sz="2000"/>
        </a:p>
      </dgm:t>
    </dgm:pt>
    <dgm:pt modelId="{013AA548-F33A-4DDF-B6D4-B5279C0386E3}">
      <dgm:prSet custT="1"/>
      <dgm:spPr/>
      <dgm:t>
        <a:bodyPr/>
        <a:lstStyle/>
        <a:p>
          <a:pPr rtl="0"/>
          <a:r>
            <a:rPr lang="en-US" sz="1600" dirty="0"/>
            <a:t>Value/Sales</a:t>
          </a:r>
          <a:endParaRPr lang="en-GB" sz="1600" dirty="0"/>
        </a:p>
      </dgm:t>
    </dgm:pt>
    <dgm:pt modelId="{9E90160A-6181-452D-B7F1-6E7A112A68B7}" type="parTrans" cxnId="{2C898F10-D7F7-44B0-9BE5-CD0AADEB74C5}">
      <dgm:prSet/>
      <dgm:spPr/>
      <dgm:t>
        <a:bodyPr/>
        <a:lstStyle/>
        <a:p>
          <a:endParaRPr lang="en-GB" sz="2000"/>
        </a:p>
      </dgm:t>
    </dgm:pt>
    <dgm:pt modelId="{6CACA449-10C9-42E9-97DC-91E7774237C4}" type="sibTrans" cxnId="{2C898F10-D7F7-44B0-9BE5-CD0AADEB74C5}">
      <dgm:prSet/>
      <dgm:spPr/>
      <dgm:t>
        <a:bodyPr/>
        <a:lstStyle/>
        <a:p>
          <a:endParaRPr lang="en-GB" sz="2000"/>
        </a:p>
      </dgm:t>
    </dgm:pt>
    <dgm:pt modelId="{544C3FA5-8353-4195-905A-21AB1624B37D}" type="pres">
      <dgm:prSet presAssocID="{12979C8E-EB79-4E91-9055-51B656FF85F1}" presName="theList" presStyleCnt="0">
        <dgm:presLayoutVars>
          <dgm:dir/>
          <dgm:animLvl val="lvl"/>
          <dgm:resizeHandles val="exact"/>
        </dgm:presLayoutVars>
      </dgm:prSet>
      <dgm:spPr/>
    </dgm:pt>
    <dgm:pt modelId="{D7487848-C52D-4509-A927-85683BFE52FB}" type="pres">
      <dgm:prSet presAssocID="{CF23C833-2E92-4BBF-A15F-3A2DA0E828B8}" presName="compNode" presStyleCnt="0"/>
      <dgm:spPr/>
    </dgm:pt>
    <dgm:pt modelId="{A6084174-FB84-45E3-B219-F47694628E1B}" type="pres">
      <dgm:prSet presAssocID="{CF23C833-2E92-4BBF-A15F-3A2DA0E828B8}" presName="aNode" presStyleLbl="bgShp" presStyleIdx="0" presStyleCnt="3"/>
      <dgm:spPr/>
    </dgm:pt>
    <dgm:pt modelId="{8C1545F6-4603-4638-B745-0641F875B1D1}" type="pres">
      <dgm:prSet presAssocID="{CF23C833-2E92-4BBF-A15F-3A2DA0E828B8}" presName="textNode" presStyleLbl="bgShp" presStyleIdx="0" presStyleCnt="3"/>
      <dgm:spPr/>
    </dgm:pt>
    <dgm:pt modelId="{392EAE5F-5B8C-4B32-B6A0-92A9971E1692}" type="pres">
      <dgm:prSet presAssocID="{CF23C833-2E92-4BBF-A15F-3A2DA0E828B8}" presName="compChildNode" presStyleCnt="0"/>
      <dgm:spPr/>
    </dgm:pt>
    <dgm:pt modelId="{D350ED2A-2C35-4108-BE4C-6B1CA60D673B}" type="pres">
      <dgm:prSet presAssocID="{CF23C833-2E92-4BBF-A15F-3A2DA0E828B8}" presName="theInnerList" presStyleCnt="0"/>
      <dgm:spPr/>
    </dgm:pt>
    <dgm:pt modelId="{22F2A4D6-06F1-470A-AF5B-D444A58D24B8}" type="pres">
      <dgm:prSet presAssocID="{C53E3FE0-31BE-49FD-9F6B-5D3D56FD64C9}" presName="childNode" presStyleLbl="node1" presStyleIdx="0" presStyleCnt="9" custScaleY="368461">
        <dgm:presLayoutVars>
          <dgm:bulletEnabled val="1"/>
        </dgm:presLayoutVars>
      </dgm:prSet>
      <dgm:spPr/>
    </dgm:pt>
    <dgm:pt modelId="{C6CBB4C8-DF1C-4D23-8D5C-2805810617C1}" type="pres">
      <dgm:prSet presAssocID="{C53E3FE0-31BE-49FD-9F6B-5D3D56FD64C9}" presName="aSpace2" presStyleCnt="0"/>
      <dgm:spPr/>
    </dgm:pt>
    <dgm:pt modelId="{0D69FC67-5DD6-462F-92A5-9129488F25B6}" type="pres">
      <dgm:prSet presAssocID="{DC2F5561-945B-4362-8237-9189EBAAE0F4}" presName="childNode" presStyleLbl="node1" presStyleIdx="1" presStyleCnt="9">
        <dgm:presLayoutVars>
          <dgm:bulletEnabled val="1"/>
        </dgm:presLayoutVars>
      </dgm:prSet>
      <dgm:spPr/>
    </dgm:pt>
    <dgm:pt modelId="{855AEAAA-AD70-4D32-9397-136723567274}" type="pres">
      <dgm:prSet presAssocID="{DC2F5561-945B-4362-8237-9189EBAAE0F4}" presName="aSpace2" presStyleCnt="0"/>
      <dgm:spPr/>
    </dgm:pt>
    <dgm:pt modelId="{1385830E-E6E4-4D93-B68C-7E32FE76FAC8}" type="pres">
      <dgm:prSet presAssocID="{31652B2F-ADF0-48D3-9ECB-46D07B8CE806}" presName="childNode" presStyleLbl="node1" presStyleIdx="2" presStyleCnt="9">
        <dgm:presLayoutVars>
          <dgm:bulletEnabled val="1"/>
        </dgm:presLayoutVars>
      </dgm:prSet>
      <dgm:spPr/>
    </dgm:pt>
    <dgm:pt modelId="{384A3BF5-2138-4106-894D-6DFD5EB4BB57}" type="pres">
      <dgm:prSet presAssocID="{31652B2F-ADF0-48D3-9ECB-46D07B8CE806}" presName="aSpace2" presStyleCnt="0"/>
      <dgm:spPr/>
    </dgm:pt>
    <dgm:pt modelId="{DC89E4B9-B5C5-4E1B-992E-378789F786BF}" type="pres">
      <dgm:prSet presAssocID="{EAC81400-57B1-48FA-888A-354506020E61}" presName="childNode" presStyleLbl="node1" presStyleIdx="3" presStyleCnt="9" custScaleY="163331">
        <dgm:presLayoutVars>
          <dgm:bulletEnabled val="1"/>
        </dgm:presLayoutVars>
      </dgm:prSet>
      <dgm:spPr/>
    </dgm:pt>
    <dgm:pt modelId="{85819DB0-EFEB-427D-BB26-B7B06305377E}" type="pres">
      <dgm:prSet presAssocID="{CF23C833-2E92-4BBF-A15F-3A2DA0E828B8}" presName="aSpace" presStyleCnt="0"/>
      <dgm:spPr/>
    </dgm:pt>
    <dgm:pt modelId="{C33D9518-D741-4479-9FB7-CDEC295AB913}" type="pres">
      <dgm:prSet presAssocID="{6125D43A-4410-4BBA-A540-894F87E2EE91}" presName="compNode" presStyleCnt="0"/>
      <dgm:spPr/>
    </dgm:pt>
    <dgm:pt modelId="{268B69EB-9AA0-43FB-9BBA-52BA90F1CE8B}" type="pres">
      <dgm:prSet presAssocID="{6125D43A-4410-4BBA-A540-894F87E2EE91}" presName="aNode" presStyleLbl="bgShp" presStyleIdx="1" presStyleCnt="3"/>
      <dgm:spPr/>
    </dgm:pt>
    <dgm:pt modelId="{DB951793-F051-41EE-80B0-364F34F7129D}" type="pres">
      <dgm:prSet presAssocID="{6125D43A-4410-4BBA-A540-894F87E2EE91}" presName="textNode" presStyleLbl="bgShp" presStyleIdx="1" presStyleCnt="3"/>
      <dgm:spPr/>
    </dgm:pt>
    <dgm:pt modelId="{7EF09A25-4A3B-4F1B-878F-35738EA89195}" type="pres">
      <dgm:prSet presAssocID="{6125D43A-4410-4BBA-A540-894F87E2EE91}" presName="compChildNode" presStyleCnt="0"/>
      <dgm:spPr/>
    </dgm:pt>
    <dgm:pt modelId="{6B802CFC-DB89-4D0B-81B0-4CEA9526129E}" type="pres">
      <dgm:prSet presAssocID="{6125D43A-4410-4BBA-A540-894F87E2EE91}" presName="theInnerList" presStyleCnt="0"/>
      <dgm:spPr/>
    </dgm:pt>
    <dgm:pt modelId="{4347914A-044C-4469-A716-6699F754F372}" type="pres">
      <dgm:prSet presAssocID="{270E2FA7-5974-4797-9D0C-F444A10EC4CB}" presName="childNode" presStyleLbl="node1" presStyleIdx="4" presStyleCnt="9" custScaleY="115724">
        <dgm:presLayoutVars>
          <dgm:bulletEnabled val="1"/>
        </dgm:presLayoutVars>
      </dgm:prSet>
      <dgm:spPr/>
    </dgm:pt>
    <dgm:pt modelId="{C4486890-2FC0-41AD-B7F8-4919BE64A173}" type="pres">
      <dgm:prSet presAssocID="{270E2FA7-5974-4797-9D0C-F444A10EC4CB}" presName="aSpace2" presStyleCnt="0"/>
      <dgm:spPr/>
    </dgm:pt>
    <dgm:pt modelId="{C9C77DEB-8AC2-4E4F-8B30-56B1D17C80E1}" type="pres">
      <dgm:prSet presAssocID="{7FA72F00-D51A-4AB9-9A6C-9CE0942D7406}" presName="childNode" presStyleLbl="node1" presStyleIdx="5" presStyleCnt="9">
        <dgm:presLayoutVars>
          <dgm:bulletEnabled val="1"/>
        </dgm:presLayoutVars>
      </dgm:prSet>
      <dgm:spPr/>
    </dgm:pt>
    <dgm:pt modelId="{97D0A996-F90B-496D-BEDC-2CC5ECE68AA6}" type="pres">
      <dgm:prSet presAssocID="{7FA72F00-D51A-4AB9-9A6C-9CE0942D7406}" presName="aSpace2" presStyleCnt="0"/>
      <dgm:spPr/>
    </dgm:pt>
    <dgm:pt modelId="{D1233E93-39E8-413C-AF4F-180E49A4128F}" type="pres">
      <dgm:prSet presAssocID="{9D891D68-6AF8-49CD-9A6B-51C676559168}" presName="childNode" presStyleLbl="node1" presStyleIdx="6" presStyleCnt="9">
        <dgm:presLayoutVars>
          <dgm:bulletEnabled val="1"/>
        </dgm:presLayoutVars>
      </dgm:prSet>
      <dgm:spPr/>
    </dgm:pt>
    <dgm:pt modelId="{1EF46135-5255-4459-92E8-3B7840FAC113}" type="pres">
      <dgm:prSet presAssocID="{6125D43A-4410-4BBA-A540-894F87E2EE91}" presName="aSpace" presStyleCnt="0"/>
      <dgm:spPr/>
    </dgm:pt>
    <dgm:pt modelId="{8E9379EB-8E84-4FF1-B5E1-ADC53F13E543}" type="pres">
      <dgm:prSet presAssocID="{59A9C7DC-85DE-4EFF-A11F-10ADEEC70CCD}" presName="compNode" presStyleCnt="0"/>
      <dgm:spPr/>
    </dgm:pt>
    <dgm:pt modelId="{7C0D5B29-B8A0-4F92-AAF5-CBC33F3AD249}" type="pres">
      <dgm:prSet presAssocID="{59A9C7DC-85DE-4EFF-A11F-10ADEEC70CCD}" presName="aNode" presStyleLbl="bgShp" presStyleIdx="2" presStyleCnt="3"/>
      <dgm:spPr/>
    </dgm:pt>
    <dgm:pt modelId="{7ACD153D-52C1-4C76-B89F-823A0E3B2D87}" type="pres">
      <dgm:prSet presAssocID="{59A9C7DC-85DE-4EFF-A11F-10ADEEC70CCD}" presName="textNode" presStyleLbl="bgShp" presStyleIdx="2" presStyleCnt="3"/>
      <dgm:spPr/>
    </dgm:pt>
    <dgm:pt modelId="{D3493F34-E056-4279-8B93-E57C4F9F9FFB}" type="pres">
      <dgm:prSet presAssocID="{59A9C7DC-85DE-4EFF-A11F-10ADEEC70CCD}" presName="compChildNode" presStyleCnt="0"/>
      <dgm:spPr/>
    </dgm:pt>
    <dgm:pt modelId="{DB476043-A6DD-47CD-9E39-8D38B0E84839}" type="pres">
      <dgm:prSet presAssocID="{59A9C7DC-85DE-4EFF-A11F-10ADEEC70CCD}" presName="theInnerList" presStyleCnt="0"/>
      <dgm:spPr/>
    </dgm:pt>
    <dgm:pt modelId="{BED5EB0E-FB94-4370-9614-E6436419BA64}" type="pres">
      <dgm:prSet presAssocID="{889709FF-5BA1-466E-AF1A-F639D4035F79}" presName="childNode" presStyleLbl="node1" presStyleIdx="7" presStyleCnt="9">
        <dgm:presLayoutVars>
          <dgm:bulletEnabled val="1"/>
        </dgm:presLayoutVars>
      </dgm:prSet>
      <dgm:spPr/>
    </dgm:pt>
    <dgm:pt modelId="{FD81E855-7DFB-4261-8D64-12D49DDC56E4}" type="pres">
      <dgm:prSet presAssocID="{889709FF-5BA1-466E-AF1A-F639D4035F79}" presName="aSpace2" presStyleCnt="0"/>
      <dgm:spPr/>
    </dgm:pt>
    <dgm:pt modelId="{1331B81E-EF74-4077-8FED-14BF583B3F53}" type="pres">
      <dgm:prSet presAssocID="{013AA548-F33A-4DDF-B6D4-B5279C0386E3}" presName="childNode" presStyleLbl="node1" presStyleIdx="8" presStyleCnt="9">
        <dgm:presLayoutVars>
          <dgm:bulletEnabled val="1"/>
        </dgm:presLayoutVars>
      </dgm:prSet>
      <dgm:spPr/>
    </dgm:pt>
  </dgm:ptLst>
  <dgm:cxnLst>
    <dgm:cxn modelId="{053F5005-31FF-45F4-9598-69AADE88BA2C}" srcId="{12979C8E-EB79-4E91-9055-51B656FF85F1}" destId="{CF23C833-2E92-4BBF-A15F-3A2DA0E828B8}" srcOrd="0" destOrd="0" parTransId="{1A02D81F-D6BD-4B7C-8140-D3A7D1669F3B}" sibTransId="{11FEA24A-167A-4638-B86A-CA1070916A8A}"/>
    <dgm:cxn modelId="{854E750B-445D-478E-A0C3-AEFA27F6B8C5}" type="presOf" srcId="{9D891D68-6AF8-49CD-9A6B-51C676559168}" destId="{D1233E93-39E8-413C-AF4F-180E49A4128F}" srcOrd="0" destOrd="0" presId="urn:microsoft.com/office/officeart/2005/8/layout/lProcess2"/>
    <dgm:cxn modelId="{2C898F10-D7F7-44B0-9BE5-CD0AADEB74C5}" srcId="{59A9C7DC-85DE-4EFF-A11F-10ADEEC70CCD}" destId="{013AA548-F33A-4DDF-B6D4-B5279C0386E3}" srcOrd="1" destOrd="0" parTransId="{9E90160A-6181-452D-B7F1-6E7A112A68B7}" sibTransId="{6CACA449-10C9-42E9-97DC-91E7774237C4}"/>
    <dgm:cxn modelId="{94F5EE13-4107-4D6E-87DF-6760A6027761}" type="presOf" srcId="{12979C8E-EB79-4E91-9055-51B656FF85F1}" destId="{544C3FA5-8353-4195-905A-21AB1624B37D}" srcOrd="0" destOrd="0" presId="urn:microsoft.com/office/officeart/2005/8/layout/lProcess2"/>
    <dgm:cxn modelId="{425D0018-9CFE-4D5C-8154-24B1BB6FD2EE}" type="presOf" srcId="{DC2F5561-945B-4362-8237-9189EBAAE0F4}" destId="{0D69FC67-5DD6-462F-92A5-9129488F25B6}" srcOrd="0" destOrd="0" presId="urn:microsoft.com/office/officeart/2005/8/layout/lProcess2"/>
    <dgm:cxn modelId="{B7C55521-5BEB-4153-A00C-A19CE6666BA2}" type="presOf" srcId="{CF23C833-2E92-4BBF-A15F-3A2DA0E828B8}" destId="{8C1545F6-4603-4638-B745-0641F875B1D1}" srcOrd="1" destOrd="0" presId="urn:microsoft.com/office/officeart/2005/8/layout/lProcess2"/>
    <dgm:cxn modelId="{24AFBF23-EC56-48BD-87EF-BC255D3C0D9F}" type="presOf" srcId="{270E2FA7-5974-4797-9D0C-F444A10EC4CB}" destId="{4347914A-044C-4469-A716-6699F754F372}" srcOrd="0" destOrd="0" presId="urn:microsoft.com/office/officeart/2005/8/layout/lProcess2"/>
    <dgm:cxn modelId="{8A1E262A-A019-4EAE-80D1-1069A896CA34}" type="presOf" srcId="{7FA72F00-D51A-4AB9-9A6C-9CE0942D7406}" destId="{C9C77DEB-8AC2-4E4F-8B30-56B1D17C80E1}" srcOrd="0" destOrd="0" presId="urn:microsoft.com/office/officeart/2005/8/layout/lProcess2"/>
    <dgm:cxn modelId="{D0E26F2E-0854-499C-BBB8-EA025B976489}" srcId="{CF23C833-2E92-4BBF-A15F-3A2DA0E828B8}" destId="{31652B2F-ADF0-48D3-9ECB-46D07B8CE806}" srcOrd="2" destOrd="0" parTransId="{80E0914E-BE2B-4399-8758-ECE4692252CB}" sibTransId="{368AE6B2-7656-4EAE-A286-E0CD9FC57721}"/>
    <dgm:cxn modelId="{B837822F-B21F-45BD-AD6C-DC134B470290}" type="presOf" srcId="{59A9C7DC-85DE-4EFF-A11F-10ADEEC70CCD}" destId="{7C0D5B29-B8A0-4F92-AAF5-CBC33F3AD249}" srcOrd="0" destOrd="0" presId="urn:microsoft.com/office/officeart/2005/8/layout/lProcess2"/>
    <dgm:cxn modelId="{7D4B3830-68EB-46B2-9E5A-967C067321C3}" type="presOf" srcId="{CF23C833-2E92-4BBF-A15F-3A2DA0E828B8}" destId="{A6084174-FB84-45E3-B219-F47694628E1B}" srcOrd="0" destOrd="0" presId="urn:microsoft.com/office/officeart/2005/8/layout/lProcess2"/>
    <dgm:cxn modelId="{4460053D-BCD0-45F8-998E-43F693AE342B}" type="presOf" srcId="{59A9C7DC-85DE-4EFF-A11F-10ADEEC70CCD}" destId="{7ACD153D-52C1-4C76-B89F-823A0E3B2D87}" srcOrd="1" destOrd="0" presId="urn:microsoft.com/office/officeart/2005/8/layout/lProcess2"/>
    <dgm:cxn modelId="{531A3240-6ECC-457E-BDE8-A8D3954151AC}" srcId="{CF23C833-2E92-4BBF-A15F-3A2DA0E828B8}" destId="{EAC81400-57B1-48FA-888A-354506020E61}" srcOrd="3" destOrd="0" parTransId="{BC7EACFC-9357-4CE6-AEB9-14D49271E789}" sibTransId="{A770911E-43A2-4EA9-BB1E-66218BEA26C5}"/>
    <dgm:cxn modelId="{F2186C41-CA13-4946-89F5-1317FAA5BF2A}" type="presOf" srcId="{31652B2F-ADF0-48D3-9ECB-46D07B8CE806}" destId="{1385830E-E6E4-4D93-B68C-7E32FE76FAC8}" srcOrd="0" destOrd="0" presId="urn:microsoft.com/office/officeart/2005/8/layout/lProcess2"/>
    <dgm:cxn modelId="{8EFEDF4B-AD5E-45C7-9E0F-46D14E41EEEA}" type="presOf" srcId="{C53E3FE0-31BE-49FD-9F6B-5D3D56FD64C9}" destId="{22F2A4D6-06F1-470A-AF5B-D444A58D24B8}" srcOrd="0" destOrd="0" presId="urn:microsoft.com/office/officeart/2005/8/layout/lProcess2"/>
    <dgm:cxn modelId="{31F424A2-93AF-4715-A94C-82F6BEEC3C31}" srcId="{6125D43A-4410-4BBA-A540-894F87E2EE91}" destId="{7FA72F00-D51A-4AB9-9A6C-9CE0942D7406}" srcOrd="1" destOrd="0" parTransId="{D5EF278B-3FC6-4CC3-B2DE-DC8D19644AF5}" sibTransId="{396C39DE-1761-4B52-8B16-B8318DEDAD62}"/>
    <dgm:cxn modelId="{F09AF6AD-15A3-4BBA-AD46-BE216EB74951}" type="presOf" srcId="{013AA548-F33A-4DDF-B6D4-B5279C0386E3}" destId="{1331B81E-EF74-4077-8FED-14BF583B3F53}" srcOrd="0" destOrd="0" presId="urn:microsoft.com/office/officeart/2005/8/layout/lProcess2"/>
    <dgm:cxn modelId="{F68DD8B0-206C-4807-B5B9-EFC2491A8FC7}" srcId="{12979C8E-EB79-4E91-9055-51B656FF85F1}" destId="{59A9C7DC-85DE-4EFF-A11F-10ADEEC70CCD}" srcOrd="2" destOrd="0" parTransId="{5D091EF4-CDEC-4D20-82A2-53B8BD201067}" sibTransId="{3C72DCF8-2E3F-4423-8B31-8D4B701622AB}"/>
    <dgm:cxn modelId="{855AC2B1-326B-4844-A896-0C5C992DD2EA}" type="presOf" srcId="{EAC81400-57B1-48FA-888A-354506020E61}" destId="{DC89E4B9-B5C5-4E1B-992E-378789F786BF}" srcOrd="0" destOrd="0" presId="urn:microsoft.com/office/officeart/2005/8/layout/lProcess2"/>
    <dgm:cxn modelId="{36A516BB-D178-4045-B6F6-57A65AD13986}" type="presOf" srcId="{6125D43A-4410-4BBA-A540-894F87E2EE91}" destId="{268B69EB-9AA0-43FB-9BBA-52BA90F1CE8B}" srcOrd="0" destOrd="0" presId="urn:microsoft.com/office/officeart/2005/8/layout/lProcess2"/>
    <dgm:cxn modelId="{6A34E4C3-15EF-40FC-B4B7-E0CF0A46B749}" srcId="{12979C8E-EB79-4E91-9055-51B656FF85F1}" destId="{6125D43A-4410-4BBA-A540-894F87E2EE91}" srcOrd="1" destOrd="0" parTransId="{32118CF0-4468-4223-BAAC-317F702743BA}" sibTransId="{AD9B8978-E6CD-4CF6-816B-97EE2EED93BC}"/>
    <dgm:cxn modelId="{661320C8-BF2A-4337-B579-4B10E6338B69}" srcId="{6125D43A-4410-4BBA-A540-894F87E2EE91}" destId="{9D891D68-6AF8-49CD-9A6B-51C676559168}" srcOrd="2" destOrd="0" parTransId="{9DF90752-4306-403D-94E1-D4540C7ED568}" sibTransId="{D4A99AA7-9F2F-40FA-A007-0760D349A6AF}"/>
    <dgm:cxn modelId="{2BF9EFCF-7BB1-4041-AA6D-BF428708069F}" srcId="{CF23C833-2E92-4BBF-A15F-3A2DA0E828B8}" destId="{C53E3FE0-31BE-49FD-9F6B-5D3D56FD64C9}" srcOrd="0" destOrd="0" parTransId="{9E126DF8-7C98-4F47-BACA-4276E5155D2E}" sibTransId="{A2CFB6DF-3D36-4B76-B823-93E08A1CDBB8}"/>
    <dgm:cxn modelId="{194428D6-5867-4488-A231-F6D2A9E327A2}" srcId="{CF23C833-2E92-4BBF-A15F-3A2DA0E828B8}" destId="{DC2F5561-945B-4362-8237-9189EBAAE0F4}" srcOrd="1" destOrd="0" parTransId="{9854D061-23CD-4FAB-95CC-EEBDF16130FF}" sibTransId="{D36B38CC-A241-42FB-AA50-6897D8CB92D9}"/>
    <dgm:cxn modelId="{43BDFDDD-B60B-46BC-95AC-351770AD56D6}" type="presOf" srcId="{889709FF-5BA1-466E-AF1A-F639D4035F79}" destId="{BED5EB0E-FB94-4370-9614-E6436419BA64}" srcOrd="0" destOrd="0" presId="urn:microsoft.com/office/officeart/2005/8/layout/lProcess2"/>
    <dgm:cxn modelId="{7DDB13F1-1A09-434A-8263-2CA814F2F09D}" srcId="{59A9C7DC-85DE-4EFF-A11F-10ADEEC70CCD}" destId="{889709FF-5BA1-466E-AF1A-F639D4035F79}" srcOrd="0" destOrd="0" parTransId="{8E02C99F-3D78-4771-A55F-EF346C7868B0}" sibTransId="{08779B55-DE5E-4C0D-90DE-C3D972B5B63F}"/>
    <dgm:cxn modelId="{B38423F6-0D79-4CDD-A2CE-2AB15A6B0BE9}" type="presOf" srcId="{6125D43A-4410-4BBA-A540-894F87E2EE91}" destId="{DB951793-F051-41EE-80B0-364F34F7129D}" srcOrd="1" destOrd="0" presId="urn:microsoft.com/office/officeart/2005/8/layout/lProcess2"/>
    <dgm:cxn modelId="{52A674FE-055D-438C-918E-85CA8EDA3A4D}" srcId="{6125D43A-4410-4BBA-A540-894F87E2EE91}" destId="{270E2FA7-5974-4797-9D0C-F444A10EC4CB}" srcOrd="0" destOrd="0" parTransId="{0262BE20-55FD-4F7E-85AD-2419CE58DC06}" sibTransId="{70739F45-796B-4A20-80CC-A55080BF44FB}"/>
    <dgm:cxn modelId="{0378F534-5E34-4C5D-8A29-7ADCC6539CF0}" type="presParOf" srcId="{544C3FA5-8353-4195-905A-21AB1624B37D}" destId="{D7487848-C52D-4509-A927-85683BFE52FB}" srcOrd="0" destOrd="0" presId="urn:microsoft.com/office/officeart/2005/8/layout/lProcess2"/>
    <dgm:cxn modelId="{78898207-C7FC-47E7-83EC-6776F376F1A5}" type="presParOf" srcId="{D7487848-C52D-4509-A927-85683BFE52FB}" destId="{A6084174-FB84-45E3-B219-F47694628E1B}" srcOrd="0" destOrd="0" presId="urn:microsoft.com/office/officeart/2005/8/layout/lProcess2"/>
    <dgm:cxn modelId="{96487378-E4A7-40E6-B6CA-8D7E884FB282}" type="presParOf" srcId="{D7487848-C52D-4509-A927-85683BFE52FB}" destId="{8C1545F6-4603-4638-B745-0641F875B1D1}" srcOrd="1" destOrd="0" presId="urn:microsoft.com/office/officeart/2005/8/layout/lProcess2"/>
    <dgm:cxn modelId="{9B712FD2-4005-4329-BD19-C7E0CB60C4F2}" type="presParOf" srcId="{D7487848-C52D-4509-A927-85683BFE52FB}" destId="{392EAE5F-5B8C-4B32-B6A0-92A9971E1692}" srcOrd="2" destOrd="0" presId="urn:microsoft.com/office/officeart/2005/8/layout/lProcess2"/>
    <dgm:cxn modelId="{91C76EB6-1524-45B8-BC15-62AA5286A75C}" type="presParOf" srcId="{392EAE5F-5B8C-4B32-B6A0-92A9971E1692}" destId="{D350ED2A-2C35-4108-BE4C-6B1CA60D673B}" srcOrd="0" destOrd="0" presId="urn:microsoft.com/office/officeart/2005/8/layout/lProcess2"/>
    <dgm:cxn modelId="{DAD59800-5FFC-48BC-9906-C14C64D7975B}" type="presParOf" srcId="{D350ED2A-2C35-4108-BE4C-6B1CA60D673B}" destId="{22F2A4D6-06F1-470A-AF5B-D444A58D24B8}" srcOrd="0" destOrd="0" presId="urn:microsoft.com/office/officeart/2005/8/layout/lProcess2"/>
    <dgm:cxn modelId="{5A3BB124-B198-4B16-B0E0-15ED51A7E4C5}" type="presParOf" srcId="{D350ED2A-2C35-4108-BE4C-6B1CA60D673B}" destId="{C6CBB4C8-DF1C-4D23-8D5C-2805810617C1}" srcOrd="1" destOrd="0" presId="urn:microsoft.com/office/officeart/2005/8/layout/lProcess2"/>
    <dgm:cxn modelId="{0E3A7BC9-3E8A-4812-8162-540B0CC553FD}" type="presParOf" srcId="{D350ED2A-2C35-4108-BE4C-6B1CA60D673B}" destId="{0D69FC67-5DD6-462F-92A5-9129488F25B6}" srcOrd="2" destOrd="0" presId="urn:microsoft.com/office/officeart/2005/8/layout/lProcess2"/>
    <dgm:cxn modelId="{A833D9DB-98A2-456A-8A4D-A0D5F678895C}" type="presParOf" srcId="{D350ED2A-2C35-4108-BE4C-6B1CA60D673B}" destId="{855AEAAA-AD70-4D32-9397-136723567274}" srcOrd="3" destOrd="0" presId="urn:microsoft.com/office/officeart/2005/8/layout/lProcess2"/>
    <dgm:cxn modelId="{885098A8-5D79-4625-8204-AC6A87469FAB}" type="presParOf" srcId="{D350ED2A-2C35-4108-BE4C-6B1CA60D673B}" destId="{1385830E-E6E4-4D93-B68C-7E32FE76FAC8}" srcOrd="4" destOrd="0" presId="urn:microsoft.com/office/officeart/2005/8/layout/lProcess2"/>
    <dgm:cxn modelId="{D41C4643-2927-4934-99AA-41CCC38F71CF}" type="presParOf" srcId="{D350ED2A-2C35-4108-BE4C-6B1CA60D673B}" destId="{384A3BF5-2138-4106-894D-6DFD5EB4BB57}" srcOrd="5" destOrd="0" presId="urn:microsoft.com/office/officeart/2005/8/layout/lProcess2"/>
    <dgm:cxn modelId="{789E4CC1-2255-4840-B126-537E5999DC3C}" type="presParOf" srcId="{D350ED2A-2C35-4108-BE4C-6B1CA60D673B}" destId="{DC89E4B9-B5C5-4E1B-992E-378789F786BF}" srcOrd="6" destOrd="0" presId="urn:microsoft.com/office/officeart/2005/8/layout/lProcess2"/>
    <dgm:cxn modelId="{AB13D27A-E117-4602-B301-630CD1B31154}" type="presParOf" srcId="{544C3FA5-8353-4195-905A-21AB1624B37D}" destId="{85819DB0-EFEB-427D-BB26-B7B06305377E}" srcOrd="1" destOrd="0" presId="urn:microsoft.com/office/officeart/2005/8/layout/lProcess2"/>
    <dgm:cxn modelId="{DDAD5F46-A64B-409D-A9E7-00F1A4F70309}" type="presParOf" srcId="{544C3FA5-8353-4195-905A-21AB1624B37D}" destId="{C33D9518-D741-4479-9FB7-CDEC295AB913}" srcOrd="2" destOrd="0" presId="urn:microsoft.com/office/officeart/2005/8/layout/lProcess2"/>
    <dgm:cxn modelId="{A4B06869-1E37-4170-866C-141AE1AB276F}" type="presParOf" srcId="{C33D9518-D741-4479-9FB7-CDEC295AB913}" destId="{268B69EB-9AA0-43FB-9BBA-52BA90F1CE8B}" srcOrd="0" destOrd="0" presId="urn:microsoft.com/office/officeart/2005/8/layout/lProcess2"/>
    <dgm:cxn modelId="{07298513-25F8-4AAA-972B-B81110534BC7}" type="presParOf" srcId="{C33D9518-D741-4479-9FB7-CDEC295AB913}" destId="{DB951793-F051-41EE-80B0-364F34F7129D}" srcOrd="1" destOrd="0" presId="urn:microsoft.com/office/officeart/2005/8/layout/lProcess2"/>
    <dgm:cxn modelId="{1841323D-5D28-405A-B073-411A62F34843}" type="presParOf" srcId="{C33D9518-D741-4479-9FB7-CDEC295AB913}" destId="{7EF09A25-4A3B-4F1B-878F-35738EA89195}" srcOrd="2" destOrd="0" presId="urn:microsoft.com/office/officeart/2005/8/layout/lProcess2"/>
    <dgm:cxn modelId="{662461C1-90B7-4BE6-A2C0-050350308F4B}" type="presParOf" srcId="{7EF09A25-4A3B-4F1B-878F-35738EA89195}" destId="{6B802CFC-DB89-4D0B-81B0-4CEA9526129E}" srcOrd="0" destOrd="0" presId="urn:microsoft.com/office/officeart/2005/8/layout/lProcess2"/>
    <dgm:cxn modelId="{50215A62-B04C-4087-BC7F-257C86032581}" type="presParOf" srcId="{6B802CFC-DB89-4D0B-81B0-4CEA9526129E}" destId="{4347914A-044C-4469-A716-6699F754F372}" srcOrd="0" destOrd="0" presId="urn:microsoft.com/office/officeart/2005/8/layout/lProcess2"/>
    <dgm:cxn modelId="{55723697-29C6-4EF7-A8AF-107B7F565917}" type="presParOf" srcId="{6B802CFC-DB89-4D0B-81B0-4CEA9526129E}" destId="{C4486890-2FC0-41AD-B7F8-4919BE64A173}" srcOrd="1" destOrd="0" presId="urn:microsoft.com/office/officeart/2005/8/layout/lProcess2"/>
    <dgm:cxn modelId="{0EEF3F80-7EF9-4B97-87B5-CA93F33C717C}" type="presParOf" srcId="{6B802CFC-DB89-4D0B-81B0-4CEA9526129E}" destId="{C9C77DEB-8AC2-4E4F-8B30-56B1D17C80E1}" srcOrd="2" destOrd="0" presId="urn:microsoft.com/office/officeart/2005/8/layout/lProcess2"/>
    <dgm:cxn modelId="{6827E6D4-1893-4F2A-AA49-8C20EDD58296}" type="presParOf" srcId="{6B802CFC-DB89-4D0B-81B0-4CEA9526129E}" destId="{97D0A996-F90B-496D-BEDC-2CC5ECE68AA6}" srcOrd="3" destOrd="0" presId="urn:microsoft.com/office/officeart/2005/8/layout/lProcess2"/>
    <dgm:cxn modelId="{07209862-C843-4C47-A63E-277DF556D0F7}" type="presParOf" srcId="{6B802CFC-DB89-4D0B-81B0-4CEA9526129E}" destId="{D1233E93-39E8-413C-AF4F-180E49A4128F}" srcOrd="4" destOrd="0" presId="urn:microsoft.com/office/officeart/2005/8/layout/lProcess2"/>
    <dgm:cxn modelId="{B250031B-7F1D-429B-B5DB-4845FF299A00}" type="presParOf" srcId="{544C3FA5-8353-4195-905A-21AB1624B37D}" destId="{1EF46135-5255-4459-92E8-3B7840FAC113}" srcOrd="3" destOrd="0" presId="urn:microsoft.com/office/officeart/2005/8/layout/lProcess2"/>
    <dgm:cxn modelId="{87F1F982-B035-48FC-BA71-3BB1731E8153}" type="presParOf" srcId="{544C3FA5-8353-4195-905A-21AB1624B37D}" destId="{8E9379EB-8E84-4FF1-B5E1-ADC53F13E543}" srcOrd="4" destOrd="0" presId="urn:microsoft.com/office/officeart/2005/8/layout/lProcess2"/>
    <dgm:cxn modelId="{A0828B83-9D32-4D6D-A9D6-6C2B5D38603D}" type="presParOf" srcId="{8E9379EB-8E84-4FF1-B5E1-ADC53F13E543}" destId="{7C0D5B29-B8A0-4F92-AAF5-CBC33F3AD249}" srcOrd="0" destOrd="0" presId="urn:microsoft.com/office/officeart/2005/8/layout/lProcess2"/>
    <dgm:cxn modelId="{2D621265-3683-4CF5-8EEA-EE22053009BB}" type="presParOf" srcId="{8E9379EB-8E84-4FF1-B5E1-ADC53F13E543}" destId="{7ACD153D-52C1-4C76-B89F-823A0E3B2D87}" srcOrd="1" destOrd="0" presId="urn:microsoft.com/office/officeart/2005/8/layout/lProcess2"/>
    <dgm:cxn modelId="{B29B9878-CF47-45D8-9A5C-787A588C0993}" type="presParOf" srcId="{8E9379EB-8E84-4FF1-B5E1-ADC53F13E543}" destId="{D3493F34-E056-4279-8B93-E57C4F9F9FFB}" srcOrd="2" destOrd="0" presId="urn:microsoft.com/office/officeart/2005/8/layout/lProcess2"/>
    <dgm:cxn modelId="{940DBC37-6AC8-41F9-8111-9BF118383248}" type="presParOf" srcId="{D3493F34-E056-4279-8B93-E57C4F9F9FFB}" destId="{DB476043-A6DD-47CD-9E39-8D38B0E84839}" srcOrd="0" destOrd="0" presId="urn:microsoft.com/office/officeart/2005/8/layout/lProcess2"/>
    <dgm:cxn modelId="{8EA82CC8-8E11-42D8-8995-E6A616A18DE8}" type="presParOf" srcId="{DB476043-A6DD-47CD-9E39-8D38B0E84839}" destId="{BED5EB0E-FB94-4370-9614-E6436419BA64}" srcOrd="0" destOrd="0" presId="urn:microsoft.com/office/officeart/2005/8/layout/lProcess2"/>
    <dgm:cxn modelId="{18CC8E86-650F-4CCF-A464-5D854C31B163}" type="presParOf" srcId="{DB476043-A6DD-47CD-9E39-8D38B0E84839}" destId="{FD81E855-7DFB-4261-8D64-12D49DDC56E4}" srcOrd="1" destOrd="0" presId="urn:microsoft.com/office/officeart/2005/8/layout/lProcess2"/>
    <dgm:cxn modelId="{DECC4DC6-23D2-4966-AC8E-00B0FA051A59}" type="presParOf" srcId="{DB476043-A6DD-47CD-9E39-8D38B0E84839}" destId="{1331B81E-EF74-4077-8FED-14BF583B3F53}"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2979C8E-EB79-4E91-9055-51B656FF85F1}"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CF23C833-2E92-4BBF-A15F-3A2DA0E828B8}">
      <dgm:prSet custT="1"/>
      <dgm:spPr/>
      <dgm:t>
        <a:bodyPr/>
        <a:lstStyle/>
        <a:p>
          <a:pPr rtl="0"/>
          <a:r>
            <a:rPr lang="en-US" sz="2800" dirty="0"/>
            <a:t>Earnings Multiples</a:t>
          </a:r>
          <a:endParaRPr lang="en-GB" sz="2800" dirty="0"/>
        </a:p>
      </dgm:t>
    </dgm:pt>
    <dgm:pt modelId="{1A02D81F-D6BD-4B7C-8140-D3A7D1669F3B}" type="parTrans" cxnId="{053F5005-31FF-45F4-9598-69AADE88BA2C}">
      <dgm:prSet/>
      <dgm:spPr/>
      <dgm:t>
        <a:bodyPr/>
        <a:lstStyle/>
        <a:p>
          <a:endParaRPr lang="en-GB" sz="2000"/>
        </a:p>
      </dgm:t>
    </dgm:pt>
    <dgm:pt modelId="{11FEA24A-167A-4638-B86A-CA1070916A8A}" type="sibTrans" cxnId="{053F5005-31FF-45F4-9598-69AADE88BA2C}">
      <dgm:prSet/>
      <dgm:spPr/>
      <dgm:t>
        <a:bodyPr/>
        <a:lstStyle/>
        <a:p>
          <a:endParaRPr lang="en-GB" sz="2000"/>
        </a:p>
      </dgm:t>
    </dgm:pt>
    <dgm:pt modelId="{C53E3FE0-31BE-49FD-9F6B-5D3D56FD64C9}">
      <dgm:prSet custT="1"/>
      <dgm:spPr/>
      <dgm:t>
        <a:bodyPr/>
        <a:lstStyle/>
        <a:p>
          <a:pPr rtl="0"/>
          <a:r>
            <a:rPr lang="en-US" sz="1600" dirty="0"/>
            <a:t>Price/Earnings Ratio (PE)</a:t>
          </a:r>
        </a:p>
        <a:p>
          <a:pPr rtl="0"/>
          <a:r>
            <a:rPr lang="en-US" sz="1600" dirty="0"/>
            <a:t> and variants  (PEG and Relative PE)</a:t>
          </a:r>
          <a:endParaRPr lang="en-GB" sz="1600" dirty="0"/>
        </a:p>
      </dgm:t>
    </dgm:pt>
    <dgm:pt modelId="{9E126DF8-7C98-4F47-BACA-4276E5155D2E}" type="parTrans" cxnId="{2BF9EFCF-7BB1-4041-AA6D-BF428708069F}">
      <dgm:prSet/>
      <dgm:spPr/>
      <dgm:t>
        <a:bodyPr/>
        <a:lstStyle/>
        <a:p>
          <a:endParaRPr lang="en-GB" sz="2000"/>
        </a:p>
      </dgm:t>
    </dgm:pt>
    <dgm:pt modelId="{A2CFB6DF-3D36-4B76-B823-93E08A1CDBB8}" type="sibTrans" cxnId="{2BF9EFCF-7BB1-4041-AA6D-BF428708069F}">
      <dgm:prSet/>
      <dgm:spPr/>
      <dgm:t>
        <a:bodyPr/>
        <a:lstStyle/>
        <a:p>
          <a:endParaRPr lang="en-GB" sz="2000"/>
        </a:p>
      </dgm:t>
    </dgm:pt>
    <dgm:pt modelId="{DC2F5561-945B-4362-8237-9189EBAAE0F4}">
      <dgm:prSet custT="1"/>
      <dgm:spPr/>
      <dgm:t>
        <a:bodyPr/>
        <a:lstStyle/>
        <a:p>
          <a:pPr rtl="0"/>
          <a:r>
            <a:rPr lang="en-US" sz="1600" dirty="0"/>
            <a:t>Value/EBIT</a:t>
          </a:r>
          <a:endParaRPr lang="en-GB" sz="1600" dirty="0"/>
        </a:p>
      </dgm:t>
    </dgm:pt>
    <dgm:pt modelId="{9854D061-23CD-4FAB-95CC-EEBDF16130FF}" type="parTrans" cxnId="{194428D6-5867-4488-A231-F6D2A9E327A2}">
      <dgm:prSet/>
      <dgm:spPr/>
      <dgm:t>
        <a:bodyPr/>
        <a:lstStyle/>
        <a:p>
          <a:endParaRPr lang="en-GB" sz="2000"/>
        </a:p>
      </dgm:t>
    </dgm:pt>
    <dgm:pt modelId="{D36B38CC-A241-42FB-AA50-6897D8CB92D9}" type="sibTrans" cxnId="{194428D6-5867-4488-A231-F6D2A9E327A2}">
      <dgm:prSet/>
      <dgm:spPr/>
      <dgm:t>
        <a:bodyPr/>
        <a:lstStyle/>
        <a:p>
          <a:endParaRPr lang="en-GB" sz="2000"/>
        </a:p>
      </dgm:t>
    </dgm:pt>
    <dgm:pt modelId="{31652B2F-ADF0-48D3-9ECB-46D07B8CE806}">
      <dgm:prSet custT="1"/>
      <dgm:spPr/>
      <dgm:t>
        <a:bodyPr/>
        <a:lstStyle/>
        <a:p>
          <a:pPr rtl="0"/>
          <a:r>
            <a:rPr lang="en-US" sz="1600" dirty="0"/>
            <a:t>Value/EBITDA</a:t>
          </a:r>
          <a:endParaRPr lang="en-GB" sz="1600" dirty="0"/>
        </a:p>
      </dgm:t>
    </dgm:pt>
    <dgm:pt modelId="{80E0914E-BE2B-4399-8758-ECE4692252CB}" type="parTrans" cxnId="{D0E26F2E-0854-499C-BBB8-EA025B976489}">
      <dgm:prSet/>
      <dgm:spPr/>
      <dgm:t>
        <a:bodyPr/>
        <a:lstStyle/>
        <a:p>
          <a:endParaRPr lang="en-GB" sz="2000"/>
        </a:p>
      </dgm:t>
    </dgm:pt>
    <dgm:pt modelId="{368AE6B2-7656-4EAE-A286-E0CD9FC57721}" type="sibTrans" cxnId="{D0E26F2E-0854-499C-BBB8-EA025B976489}">
      <dgm:prSet/>
      <dgm:spPr/>
      <dgm:t>
        <a:bodyPr/>
        <a:lstStyle/>
        <a:p>
          <a:endParaRPr lang="en-GB" sz="2000"/>
        </a:p>
      </dgm:t>
    </dgm:pt>
    <dgm:pt modelId="{EAC81400-57B1-48FA-888A-354506020E61}">
      <dgm:prSet custT="1"/>
      <dgm:spPr/>
      <dgm:t>
        <a:bodyPr/>
        <a:lstStyle/>
        <a:p>
          <a:pPr rtl="0"/>
          <a:r>
            <a:rPr lang="en-US" sz="1600" dirty="0"/>
            <a:t>Value/Cash Flow</a:t>
          </a:r>
          <a:endParaRPr lang="en-GB" sz="1600" dirty="0"/>
        </a:p>
      </dgm:t>
    </dgm:pt>
    <dgm:pt modelId="{BC7EACFC-9357-4CE6-AEB9-14D49271E789}" type="parTrans" cxnId="{531A3240-6ECC-457E-BDE8-A8D3954151AC}">
      <dgm:prSet/>
      <dgm:spPr/>
      <dgm:t>
        <a:bodyPr/>
        <a:lstStyle/>
        <a:p>
          <a:endParaRPr lang="en-GB" sz="2000"/>
        </a:p>
      </dgm:t>
    </dgm:pt>
    <dgm:pt modelId="{A770911E-43A2-4EA9-BB1E-66218BEA26C5}" type="sibTrans" cxnId="{531A3240-6ECC-457E-BDE8-A8D3954151AC}">
      <dgm:prSet/>
      <dgm:spPr/>
      <dgm:t>
        <a:bodyPr/>
        <a:lstStyle/>
        <a:p>
          <a:endParaRPr lang="en-GB" sz="2000"/>
        </a:p>
      </dgm:t>
    </dgm:pt>
    <dgm:pt modelId="{6125D43A-4410-4BBA-A540-894F87E2EE91}">
      <dgm:prSet custT="1"/>
      <dgm:spPr/>
      <dgm:t>
        <a:bodyPr/>
        <a:lstStyle/>
        <a:p>
          <a:pPr rtl="0"/>
          <a:r>
            <a:rPr lang="en-US" sz="2800" dirty="0"/>
            <a:t>Book Value Multiples</a:t>
          </a:r>
          <a:endParaRPr lang="en-GB" sz="2800" dirty="0"/>
        </a:p>
      </dgm:t>
    </dgm:pt>
    <dgm:pt modelId="{32118CF0-4468-4223-BAAC-317F702743BA}" type="parTrans" cxnId="{6A34E4C3-15EF-40FC-B4B7-E0CF0A46B749}">
      <dgm:prSet/>
      <dgm:spPr/>
      <dgm:t>
        <a:bodyPr/>
        <a:lstStyle/>
        <a:p>
          <a:endParaRPr lang="en-GB" sz="2000"/>
        </a:p>
      </dgm:t>
    </dgm:pt>
    <dgm:pt modelId="{AD9B8978-E6CD-4CF6-816B-97EE2EED93BC}" type="sibTrans" cxnId="{6A34E4C3-15EF-40FC-B4B7-E0CF0A46B749}">
      <dgm:prSet/>
      <dgm:spPr/>
      <dgm:t>
        <a:bodyPr/>
        <a:lstStyle/>
        <a:p>
          <a:endParaRPr lang="en-GB" sz="2000"/>
        </a:p>
      </dgm:t>
    </dgm:pt>
    <dgm:pt modelId="{270E2FA7-5974-4797-9D0C-F444A10EC4CB}">
      <dgm:prSet custT="1"/>
      <dgm:spPr/>
      <dgm:t>
        <a:bodyPr/>
        <a:lstStyle/>
        <a:p>
          <a:pPr rtl="0"/>
          <a:r>
            <a:rPr lang="en-US" sz="1600" dirty="0"/>
            <a:t>Price/Book Value(of Equity) (PBV)</a:t>
          </a:r>
          <a:endParaRPr lang="en-GB" sz="1600" dirty="0"/>
        </a:p>
      </dgm:t>
    </dgm:pt>
    <dgm:pt modelId="{0262BE20-55FD-4F7E-85AD-2419CE58DC06}" type="parTrans" cxnId="{52A674FE-055D-438C-918E-85CA8EDA3A4D}">
      <dgm:prSet/>
      <dgm:spPr/>
      <dgm:t>
        <a:bodyPr/>
        <a:lstStyle/>
        <a:p>
          <a:endParaRPr lang="en-GB" sz="2000"/>
        </a:p>
      </dgm:t>
    </dgm:pt>
    <dgm:pt modelId="{70739F45-796B-4A20-80CC-A55080BF44FB}" type="sibTrans" cxnId="{52A674FE-055D-438C-918E-85CA8EDA3A4D}">
      <dgm:prSet/>
      <dgm:spPr/>
      <dgm:t>
        <a:bodyPr/>
        <a:lstStyle/>
        <a:p>
          <a:endParaRPr lang="en-GB" sz="2000"/>
        </a:p>
      </dgm:t>
    </dgm:pt>
    <dgm:pt modelId="{7FA72F00-D51A-4AB9-9A6C-9CE0942D7406}">
      <dgm:prSet custT="1"/>
      <dgm:spPr/>
      <dgm:t>
        <a:bodyPr/>
        <a:lstStyle/>
        <a:p>
          <a:pPr rtl="0"/>
          <a:r>
            <a:rPr lang="en-US" sz="1600" dirty="0"/>
            <a:t>Value/ Book Value of Assets</a:t>
          </a:r>
          <a:endParaRPr lang="en-GB" sz="1600" dirty="0"/>
        </a:p>
      </dgm:t>
    </dgm:pt>
    <dgm:pt modelId="{D5EF278B-3FC6-4CC3-B2DE-DC8D19644AF5}" type="parTrans" cxnId="{31F424A2-93AF-4715-A94C-82F6BEEC3C31}">
      <dgm:prSet/>
      <dgm:spPr/>
      <dgm:t>
        <a:bodyPr/>
        <a:lstStyle/>
        <a:p>
          <a:endParaRPr lang="en-GB" sz="2000"/>
        </a:p>
      </dgm:t>
    </dgm:pt>
    <dgm:pt modelId="{396C39DE-1761-4B52-8B16-B8318DEDAD62}" type="sibTrans" cxnId="{31F424A2-93AF-4715-A94C-82F6BEEC3C31}">
      <dgm:prSet/>
      <dgm:spPr/>
      <dgm:t>
        <a:bodyPr/>
        <a:lstStyle/>
        <a:p>
          <a:endParaRPr lang="en-GB" sz="2000"/>
        </a:p>
      </dgm:t>
    </dgm:pt>
    <dgm:pt modelId="{9D891D68-6AF8-49CD-9A6B-51C676559168}">
      <dgm:prSet custT="1"/>
      <dgm:spPr/>
      <dgm:t>
        <a:bodyPr/>
        <a:lstStyle/>
        <a:p>
          <a:pPr rtl="0"/>
          <a:r>
            <a:rPr lang="en-US" sz="1600" dirty="0"/>
            <a:t>Value/Replacement Cost (Tobin’s Q)</a:t>
          </a:r>
          <a:endParaRPr lang="en-GB" sz="1600" dirty="0"/>
        </a:p>
      </dgm:t>
    </dgm:pt>
    <dgm:pt modelId="{9DF90752-4306-403D-94E1-D4540C7ED568}" type="parTrans" cxnId="{661320C8-BF2A-4337-B579-4B10E6338B69}">
      <dgm:prSet/>
      <dgm:spPr/>
      <dgm:t>
        <a:bodyPr/>
        <a:lstStyle/>
        <a:p>
          <a:endParaRPr lang="en-GB" sz="2000"/>
        </a:p>
      </dgm:t>
    </dgm:pt>
    <dgm:pt modelId="{D4A99AA7-9F2F-40FA-A007-0760D349A6AF}" type="sibTrans" cxnId="{661320C8-BF2A-4337-B579-4B10E6338B69}">
      <dgm:prSet/>
      <dgm:spPr/>
      <dgm:t>
        <a:bodyPr/>
        <a:lstStyle/>
        <a:p>
          <a:endParaRPr lang="en-GB" sz="2000"/>
        </a:p>
      </dgm:t>
    </dgm:pt>
    <dgm:pt modelId="{59A9C7DC-85DE-4EFF-A11F-10ADEEC70CCD}">
      <dgm:prSet custT="1"/>
      <dgm:spPr/>
      <dgm:t>
        <a:bodyPr/>
        <a:lstStyle/>
        <a:p>
          <a:pPr rtl="0"/>
          <a:r>
            <a:rPr lang="en-US" sz="2800" dirty="0"/>
            <a:t>Revenues</a:t>
          </a:r>
          <a:endParaRPr lang="en-GB" sz="2800" dirty="0"/>
        </a:p>
      </dgm:t>
    </dgm:pt>
    <dgm:pt modelId="{5D091EF4-CDEC-4D20-82A2-53B8BD201067}" type="parTrans" cxnId="{F68DD8B0-206C-4807-B5B9-EFC2491A8FC7}">
      <dgm:prSet/>
      <dgm:spPr/>
      <dgm:t>
        <a:bodyPr/>
        <a:lstStyle/>
        <a:p>
          <a:endParaRPr lang="en-GB" sz="2000"/>
        </a:p>
      </dgm:t>
    </dgm:pt>
    <dgm:pt modelId="{3C72DCF8-2E3F-4423-8B31-8D4B701622AB}" type="sibTrans" cxnId="{F68DD8B0-206C-4807-B5B9-EFC2491A8FC7}">
      <dgm:prSet/>
      <dgm:spPr/>
      <dgm:t>
        <a:bodyPr/>
        <a:lstStyle/>
        <a:p>
          <a:endParaRPr lang="en-GB" sz="2000"/>
        </a:p>
      </dgm:t>
    </dgm:pt>
    <dgm:pt modelId="{889709FF-5BA1-466E-AF1A-F639D4035F79}">
      <dgm:prSet custT="1"/>
      <dgm:spPr/>
      <dgm:t>
        <a:bodyPr/>
        <a:lstStyle/>
        <a:p>
          <a:pPr rtl="0"/>
          <a:r>
            <a:rPr lang="en-US" sz="1600" dirty="0"/>
            <a:t>Price/Sales per Share (PS)</a:t>
          </a:r>
          <a:endParaRPr lang="en-GB" sz="1600" dirty="0"/>
        </a:p>
      </dgm:t>
    </dgm:pt>
    <dgm:pt modelId="{8E02C99F-3D78-4771-A55F-EF346C7868B0}" type="parTrans" cxnId="{7DDB13F1-1A09-434A-8263-2CA814F2F09D}">
      <dgm:prSet/>
      <dgm:spPr/>
      <dgm:t>
        <a:bodyPr/>
        <a:lstStyle/>
        <a:p>
          <a:endParaRPr lang="en-GB" sz="2000"/>
        </a:p>
      </dgm:t>
    </dgm:pt>
    <dgm:pt modelId="{08779B55-DE5E-4C0D-90DE-C3D972B5B63F}" type="sibTrans" cxnId="{7DDB13F1-1A09-434A-8263-2CA814F2F09D}">
      <dgm:prSet/>
      <dgm:spPr/>
      <dgm:t>
        <a:bodyPr/>
        <a:lstStyle/>
        <a:p>
          <a:endParaRPr lang="en-GB" sz="2000"/>
        </a:p>
      </dgm:t>
    </dgm:pt>
    <dgm:pt modelId="{013AA548-F33A-4DDF-B6D4-B5279C0386E3}">
      <dgm:prSet custT="1"/>
      <dgm:spPr/>
      <dgm:t>
        <a:bodyPr/>
        <a:lstStyle/>
        <a:p>
          <a:pPr rtl="0"/>
          <a:r>
            <a:rPr lang="en-US" sz="1600" dirty="0"/>
            <a:t>Value/Sales</a:t>
          </a:r>
          <a:endParaRPr lang="en-GB" sz="1600" dirty="0"/>
        </a:p>
      </dgm:t>
    </dgm:pt>
    <dgm:pt modelId="{9E90160A-6181-452D-B7F1-6E7A112A68B7}" type="parTrans" cxnId="{2C898F10-D7F7-44B0-9BE5-CD0AADEB74C5}">
      <dgm:prSet/>
      <dgm:spPr/>
      <dgm:t>
        <a:bodyPr/>
        <a:lstStyle/>
        <a:p>
          <a:endParaRPr lang="en-GB" sz="2000"/>
        </a:p>
      </dgm:t>
    </dgm:pt>
    <dgm:pt modelId="{6CACA449-10C9-42E9-97DC-91E7774237C4}" type="sibTrans" cxnId="{2C898F10-D7F7-44B0-9BE5-CD0AADEB74C5}">
      <dgm:prSet/>
      <dgm:spPr/>
      <dgm:t>
        <a:bodyPr/>
        <a:lstStyle/>
        <a:p>
          <a:endParaRPr lang="en-GB" sz="2000"/>
        </a:p>
      </dgm:t>
    </dgm:pt>
    <dgm:pt modelId="{544C3FA5-8353-4195-905A-21AB1624B37D}" type="pres">
      <dgm:prSet presAssocID="{12979C8E-EB79-4E91-9055-51B656FF85F1}" presName="theList" presStyleCnt="0">
        <dgm:presLayoutVars>
          <dgm:dir/>
          <dgm:animLvl val="lvl"/>
          <dgm:resizeHandles val="exact"/>
        </dgm:presLayoutVars>
      </dgm:prSet>
      <dgm:spPr/>
    </dgm:pt>
    <dgm:pt modelId="{D7487848-C52D-4509-A927-85683BFE52FB}" type="pres">
      <dgm:prSet presAssocID="{CF23C833-2E92-4BBF-A15F-3A2DA0E828B8}" presName="compNode" presStyleCnt="0"/>
      <dgm:spPr/>
    </dgm:pt>
    <dgm:pt modelId="{A6084174-FB84-45E3-B219-F47694628E1B}" type="pres">
      <dgm:prSet presAssocID="{CF23C833-2E92-4BBF-A15F-3A2DA0E828B8}" presName="aNode" presStyleLbl="bgShp" presStyleIdx="0" presStyleCnt="3"/>
      <dgm:spPr/>
    </dgm:pt>
    <dgm:pt modelId="{8C1545F6-4603-4638-B745-0641F875B1D1}" type="pres">
      <dgm:prSet presAssocID="{CF23C833-2E92-4BBF-A15F-3A2DA0E828B8}" presName="textNode" presStyleLbl="bgShp" presStyleIdx="0" presStyleCnt="3"/>
      <dgm:spPr/>
    </dgm:pt>
    <dgm:pt modelId="{392EAE5F-5B8C-4B32-B6A0-92A9971E1692}" type="pres">
      <dgm:prSet presAssocID="{CF23C833-2E92-4BBF-A15F-3A2DA0E828B8}" presName="compChildNode" presStyleCnt="0"/>
      <dgm:spPr/>
    </dgm:pt>
    <dgm:pt modelId="{D350ED2A-2C35-4108-BE4C-6B1CA60D673B}" type="pres">
      <dgm:prSet presAssocID="{CF23C833-2E92-4BBF-A15F-3A2DA0E828B8}" presName="theInnerList" presStyleCnt="0"/>
      <dgm:spPr/>
    </dgm:pt>
    <dgm:pt modelId="{22F2A4D6-06F1-470A-AF5B-D444A58D24B8}" type="pres">
      <dgm:prSet presAssocID="{C53E3FE0-31BE-49FD-9F6B-5D3D56FD64C9}" presName="childNode" presStyleLbl="node1" presStyleIdx="0" presStyleCnt="9" custScaleY="368461">
        <dgm:presLayoutVars>
          <dgm:bulletEnabled val="1"/>
        </dgm:presLayoutVars>
      </dgm:prSet>
      <dgm:spPr/>
    </dgm:pt>
    <dgm:pt modelId="{C6CBB4C8-DF1C-4D23-8D5C-2805810617C1}" type="pres">
      <dgm:prSet presAssocID="{C53E3FE0-31BE-49FD-9F6B-5D3D56FD64C9}" presName="aSpace2" presStyleCnt="0"/>
      <dgm:spPr/>
    </dgm:pt>
    <dgm:pt modelId="{0D69FC67-5DD6-462F-92A5-9129488F25B6}" type="pres">
      <dgm:prSet presAssocID="{DC2F5561-945B-4362-8237-9189EBAAE0F4}" presName="childNode" presStyleLbl="node1" presStyleIdx="1" presStyleCnt="9">
        <dgm:presLayoutVars>
          <dgm:bulletEnabled val="1"/>
        </dgm:presLayoutVars>
      </dgm:prSet>
      <dgm:spPr/>
    </dgm:pt>
    <dgm:pt modelId="{855AEAAA-AD70-4D32-9397-136723567274}" type="pres">
      <dgm:prSet presAssocID="{DC2F5561-945B-4362-8237-9189EBAAE0F4}" presName="aSpace2" presStyleCnt="0"/>
      <dgm:spPr/>
    </dgm:pt>
    <dgm:pt modelId="{1385830E-E6E4-4D93-B68C-7E32FE76FAC8}" type="pres">
      <dgm:prSet presAssocID="{31652B2F-ADF0-48D3-9ECB-46D07B8CE806}" presName="childNode" presStyleLbl="node1" presStyleIdx="2" presStyleCnt="9">
        <dgm:presLayoutVars>
          <dgm:bulletEnabled val="1"/>
        </dgm:presLayoutVars>
      </dgm:prSet>
      <dgm:spPr/>
    </dgm:pt>
    <dgm:pt modelId="{384A3BF5-2138-4106-894D-6DFD5EB4BB57}" type="pres">
      <dgm:prSet presAssocID="{31652B2F-ADF0-48D3-9ECB-46D07B8CE806}" presName="aSpace2" presStyleCnt="0"/>
      <dgm:spPr/>
    </dgm:pt>
    <dgm:pt modelId="{DC89E4B9-B5C5-4E1B-992E-378789F786BF}" type="pres">
      <dgm:prSet presAssocID="{EAC81400-57B1-48FA-888A-354506020E61}" presName="childNode" presStyleLbl="node1" presStyleIdx="3" presStyleCnt="9" custScaleY="163331">
        <dgm:presLayoutVars>
          <dgm:bulletEnabled val="1"/>
        </dgm:presLayoutVars>
      </dgm:prSet>
      <dgm:spPr/>
    </dgm:pt>
    <dgm:pt modelId="{85819DB0-EFEB-427D-BB26-B7B06305377E}" type="pres">
      <dgm:prSet presAssocID="{CF23C833-2E92-4BBF-A15F-3A2DA0E828B8}" presName="aSpace" presStyleCnt="0"/>
      <dgm:spPr/>
    </dgm:pt>
    <dgm:pt modelId="{C33D9518-D741-4479-9FB7-CDEC295AB913}" type="pres">
      <dgm:prSet presAssocID="{6125D43A-4410-4BBA-A540-894F87E2EE91}" presName="compNode" presStyleCnt="0"/>
      <dgm:spPr/>
    </dgm:pt>
    <dgm:pt modelId="{268B69EB-9AA0-43FB-9BBA-52BA90F1CE8B}" type="pres">
      <dgm:prSet presAssocID="{6125D43A-4410-4BBA-A540-894F87E2EE91}" presName="aNode" presStyleLbl="bgShp" presStyleIdx="1" presStyleCnt="3"/>
      <dgm:spPr/>
    </dgm:pt>
    <dgm:pt modelId="{DB951793-F051-41EE-80B0-364F34F7129D}" type="pres">
      <dgm:prSet presAssocID="{6125D43A-4410-4BBA-A540-894F87E2EE91}" presName="textNode" presStyleLbl="bgShp" presStyleIdx="1" presStyleCnt="3"/>
      <dgm:spPr/>
    </dgm:pt>
    <dgm:pt modelId="{7EF09A25-4A3B-4F1B-878F-35738EA89195}" type="pres">
      <dgm:prSet presAssocID="{6125D43A-4410-4BBA-A540-894F87E2EE91}" presName="compChildNode" presStyleCnt="0"/>
      <dgm:spPr/>
    </dgm:pt>
    <dgm:pt modelId="{6B802CFC-DB89-4D0B-81B0-4CEA9526129E}" type="pres">
      <dgm:prSet presAssocID="{6125D43A-4410-4BBA-A540-894F87E2EE91}" presName="theInnerList" presStyleCnt="0"/>
      <dgm:spPr/>
    </dgm:pt>
    <dgm:pt modelId="{4347914A-044C-4469-A716-6699F754F372}" type="pres">
      <dgm:prSet presAssocID="{270E2FA7-5974-4797-9D0C-F444A10EC4CB}" presName="childNode" presStyleLbl="node1" presStyleIdx="4" presStyleCnt="9" custScaleY="115724">
        <dgm:presLayoutVars>
          <dgm:bulletEnabled val="1"/>
        </dgm:presLayoutVars>
      </dgm:prSet>
      <dgm:spPr/>
    </dgm:pt>
    <dgm:pt modelId="{C4486890-2FC0-41AD-B7F8-4919BE64A173}" type="pres">
      <dgm:prSet presAssocID="{270E2FA7-5974-4797-9D0C-F444A10EC4CB}" presName="aSpace2" presStyleCnt="0"/>
      <dgm:spPr/>
    </dgm:pt>
    <dgm:pt modelId="{C9C77DEB-8AC2-4E4F-8B30-56B1D17C80E1}" type="pres">
      <dgm:prSet presAssocID="{7FA72F00-D51A-4AB9-9A6C-9CE0942D7406}" presName="childNode" presStyleLbl="node1" presStyleIdx="5" presStyleCnt="9">
        <dgm:presLayoutVars>
          <dgm:bulletEnabled val="1"/>
        </dgm:presLayoutVars>
      </dgm:prSet>
      <dgm:spPr/>
    </dgm:pt>
    <dgm:pt modelId="{97D0A996-F90B-496D-BEDC-2CC5ECE68AA6}" type="pres">
      <dgm:prSet presAssocID="{7FA72F00-D51A-4AB9-9A6C-9CE0942D7406}" presName="aSpace2" presStyleCnt="0"/>
      <dgm:spPr/>
    </dgm:pt>
    <dgm:pt modelId="{D1233E93-39E8-413C-AF4F-180E49A4128F}" type="pres">
      <dgm:prSet presAssocID="{9D891D68-6AF8-49CD-9A6B-51C676559168}" presName="childNode" presStyleLbl="node1" presStyleIdx="6" presStyleCnt="9">
        <dgm:presLayoutVars>
          <dgm:bulletEnabled val="1"/>
        </dgm:presLayoutVars>
      </dgm:prSet>
      <dgm:spPr/>
    </dgm:pt>
    <dgm:pt modelId="{1EF46135-5255-4459-92E8-3B7840FAC113}" type="pres">
      <dgm:prSet presAssocID="{6125D43A-4410-4BBA-A540-894F87E2EE91}" presName="aSpace" presStyleCnt="0"/>
      <dgm:spPr/>
    </dgm:pt>
    <dgm:pt modelId="{8E9379EB-8E84-4FF1-B5E1-ADC53F13E543}" type="pres">
      <dgm:prSet presAssocID="{59A9C7DC-85DE-4EFF-A11F-10ADEEC70CCD}" presName="compNode" presStyleCnt="0"/>
      <dgm:spPr/>
    </dgm:pt>
    <dgm:pt modelId="{7C0D5B29-B8A0-4F92-AAF5-CBC33F3AD249}" type="pres">
      <dgm:prSet presAssocID="{59A9C7DC-85DE-4EFF-A11F-10ADEEC70CCD}" presName="aNode" presStyleLbl="bgShp" presStyleIdx="2" presStyleCnt="3"/>
      <dgm:spPr/>
    </dgm:pt>
    <dgm:pt modelId="{7ACD153D-52C1-4C76-B89F-823A0E3B2D87}" type="pres">
      <dgm:prSet presAssocID="{59A9C7DC-85DE-4EFF-A11F-10ADEEC70CCD}" presName="textNode" presStyleLbl="bgShp" presStyleIdx="2" presStyleCnt="3"/>
      <dgm:spPr/>
    </dgm:pt>
    <dgm:pt modelId="{D3493F34-E056-4279-8B93-E57C4F9F9FFB}" type="pres">
      <dgm:prSet presAssocID="{59A9C7DC-85DE-4EFF-A11F-10ADEEC70CCD}" presName="compChildNode" presStyleCnt="0"/>
      <dgm:spPr/>
    </dgm:pt>
    <dgm:pt modelId="{DB476043-A6DD-47CD-9E39-8D38B0E84839}" type="pres">
      <dgm:prSet presAssocID="{59A9C7DC-85DE-4EFF-A11F-10ADEEC70CCD}" presName="theInnerList" presStyleCnt="0"/>
      <dgm:spPr/>
    </dgm:pt>
    <dgm:pt modelId="{BED5EB0E-FB94-4370-9614-E6436419BA64}" type="pres">
      <dgm:prSet presAssocID="{889709FF-5BA1-466E-AF1A-F639D4035F79}" presName="childNode" presStyleLbl="node1" presStyleIdx="7" presStyleCnt="9">
        <dgm:presLayoutVars>
          <dgm:bulletEnabled val="1"/>
        </dgm:presLayoutVars>
      </dgm:prSet>
      <dgm:spPr/>
    </dgm:pt>
    <dgm:pt modelId="{FD81E855-7DFB-4261-8D64-12D49DDC56E4}" type="pres">
      <dgm:prSet presAssocID="{889709FF-5BA1-466E-AF1A-F639D4035F79}" presName="aSpace2" presStyleCnt="0"/>
      <dgm:spPr/>
    </dgm:pt>
    <dgm:pt modelId="{1331B81E-EF74-4077-8FED-14BF583B3F53}" type="pres">
      <dgm:prSet presAssocID="{013AA548-F33A-4DDF-B6D4-B5279C0386E3}" presName="childNode" presStyleLbl="node1" presStyleIdx="8" presStyleCnt="9">
        <dgm:presLayoutVars>
          <dgm:bulletEnabled val="1"/>
        </dgm:presLayoutVars>
      </dgm:prSet>
      <dgm:spPr/>
    </dgm:pt>
  </dgm:ptLst>
  <dgm:cxnLst>
    <dgm:cxn modelId="{053F5005-31FF-45F4-9598-69AADE88BA2C}" srcId="{12979C8E-EB79-4E91-9055-51B656FF85F1}" destId="{CF23C833-2E92-4BBF-A15F-3A2DA0E828B8}" srcOrd="0" destOrd="0" parTransId="{1A02D81F-D6BD-4B7C-8140-D3A7D1669F3B}" sibTransId="{11FEA24A-167A-4638-B86A-CA1070916A8A}"/>
    <dgm:cxn modelId="{30E30606-20D7-4C3C-B6B0-AE12BA3C9386}" type="presOf" srcId="{CF23C833-2E92-4BBF-A15F-3A2DA0E828B8}" destId="{A6084174-FB84-45E3-B219-F47694628E1B}" srcOrd="0" destOrd="0" presId="urn:microsoft.com/office/officeart/2005/8/layout/lProcess2"/>
    <dgm:cxn modelId="{2C898F10-D7F7-44B0-9BE5-CD0AADEB74C5}" srcId="{59A9C7DC-85DE-4EFF-A11F-10ADEEC70CCD}" destId="{013AA548-F33A-4DDF-B6D4-B5279C0386E3}" srcOrd="1" destOrd="0" parTransId="{9E90160A-6181-452D-B7F1-6E7A112A68B7}" sibTransId="{6CACA449-10C9-42E9-97DC-91E7774237C4}"/>
    <dgm:cxn modelId="{6CC61C1F-48AE-4AA1-BA65-64FFCE2AE774}" type="presOf" srcId="{59A9C7DC-85DE-4EFF-A11F-10ADEEC70CCD}" destId="{7C0D5B29-B8A0-4F92-AAF5-CBC33F3AD249}" srcOrd="0" destOrd="0" presId="urn:microsoft.com/office/officeart/2005/8/layout/lProcess2"/>
    <dgm:cxn modelId="{D0E26F2E-0854-499C-BBB8-EA025B976489}" srcId="{CF23C833-2E92-4BBF-A15F-3A2DA0E828B8}" destId="{31652B2F-ADF0-48D3-9ECB-46D07B8CE806}" srcOrd="2" destOrd="0" parTransId="{80E0914E-BE2B-4399-8758-ECE4692252CB}" sibTransId="{368AE6B2-7656-4EAE-A286-E0CD9FC57721}"/>
    <dgm:cxn modelId="{72AB8C3A-CAB9-4D4A-9EBA-7704823341FF}" type="presOf" srcId="{31652B2F-ADF0-48D3-9ECB-46D07B8CE806}" destId="{1385830E-E6E4-4D93-B68C-7E32FE76FAC8}" srcOrd="0" destOrd="0" presId="urn:microsoft.com/office/officeart/2005/8/layout/lProcess2"/>
    <dgm:cxn modelId="{BB0BD43A-F9C8-4332-851F-AAD243E53017}" type="presOf" srcId="{CF23C833-2E92-4BBF-A15F-3A2DA0E828B8}" destId="{8C1545F6-4603-4638-B745-0641F875B1D1}" srcOrd="1" destOrd="0" presId="urn:microsoft.com/office/officeart/2005/8/layout/lProcess2"/>
    <dgm:cxn modelId="{531A3240-6ECC-457E-BDE8-A8D3954151AC}" srcId="{CF23C833-2E92-4BBF-A15F-3A2DA0E828B8}" destId="{EAC81400-57B1-48FA-888A-354506020E61}" srcOrd="3" destOrd="0" parTransId="{BC7EACFC-9357-4CE6-AEB9-14D49271E789}" sibTransId="{A770911E-43A2-4EA9-BB1E-66218BEA26C5}"/>
    <dgm:cxn modelId="{0F8A3C42-2F4C-4896-8A7B-62D26D7CAC0D}" type="presOf" srcId="{013AA548-F33A-4DDF-B6D4-B5279C0386E3}" destId="{1331B81E-EF74-4077-8FED-14BF583B3F53}" srcOrd="0" destOrd="0" presId="urn:microsoft.com/office/officeart/2005/8/layout/lProcess2"/>
    <dgm:cxn modelId="{BA9E467B-FBB3-4365-B44A-8A4CF0487F38}" type="presOf" srcId="{889709FF-5BA1-466E-AF1A-F639D4035F79}" destId="{BED5EB0E-FB94-4370-9614-E6436419BA64}" srcOrd="0" destOrd="0" presId="urn:microsoft.com/office/officeart/2005/8/layout/lProcess2"/>
    <dgm:cxn modelId="{2741A67D-59C8-4465-AF72-FD3DF7DF0830}" type="presOf" srcId="{6125D43A-4410-4BBA-A540-894F87E2EE91}" destId="{268B69EB-9AA0-43FB-9BBA-52BA90F1CE8B}" srcOrd="0" destOrd="0" presId="urn:microsoft.com/office/officeart/2005/8/layout/lProcess2"/>
    <dgm:cxn modelId="{FB1A0D7E-E1C1-4A4E-8E19-422AA653C84A}" type="presOf" srcId="{59A9C7DC-85DE-4EFF-A11F-10ADEEC70CCD}" destId="{7ACD153D-52C1-4C76-B89F-823A0E3B2D87}" srcOrd="1" destOrd="0" presId="urn:microsoft.com/office/officeart/2005/8/layout/lProcess2"/>
    <dgm:cxn modelId="{8099D67F-06AA-4DF3-A81D-0B30C614B4C5}" type="presOf" srcId="{EAC81400-57B1-48FA-888A-354506020E61}" destId="{DC89E4B9-B5C5-4E1B-992E-378789F786BF}" srcOrd="0" destOrd="0" presId="urn:microsoft.com/office/officeart/2005/8/layout/lProcess2"/>
    <dgm:cxn modelId="{E879F783-7CC2-4067-9837-A4A7D69E168E}" type="presOf" srcId="{12979C8E-EB79-4E91-9055-51B656FF85F1}" destId="{544C3FA5-8353-4195-905A-21AB1624B37D}" srcOrd="0" destOrd="0" presId="urn:microsoft.com/office/officeart/2005/8/layout/lProcess2"/>
    <dgm:cxn modelId="{5AB56098-5E87-41DB-A8FF-752E9E49A4F1}" type="presOf" srcId="{DC2F5561-945B-4362-8237-9189EBAAE0F4}" destId="{0D69FC67-5DD6-462F-92A5-9129488F25B6}" srcOrd="0" destOrd="0" presId="urn:microsoft.com/office/officeart/2005/8/layout/lProcess2"/>
    <dgm:cxn modelId="{31F424A2-93AF-4715-A94C-82F6BEEC3C31}" srcId="{6125D43A-4410-4BBA-A540-894F87E2EE91}" destId="{7FA72F00-D51A-4AB9-9A6C-9CE0942D7406}" srcOrd="1" destOrd="0" parTransId="{D5EF278B-3FC6-4CC3-B2DE-DC8D19644AF5}" sibTransId="{396C39DE-1761-4B52-8B16-B8318DEDAD62}"/>
    <dgm:cxn modelId="{07584AA8-32BD-4AE1-A30F-B5076E21CF7B}" type="presOf" srcId="{7FA72F00-D51A-4AB9-9A6C-9CE0942D7406}" destId="{C9C77DEB-8AC2-4E4F-8B30-56B1D17C80E1}" srcOrd="0" destOrd="0" presId="urn:microsoft.com/office/officeart/2005/8/layout/lProcess2"/>
    <dgm:cxn modelId="{F68DD8B0-206C-4807-B5B9-EFC2491A8FC7}" srcId="{12979C8E-EB79-4E91-9055-51B656FF85F1}" destId="{59A9C7DC-85DE-4EFF-A11F-10ADEEC70CCD}" srcOrd="2" destOrd="0" parTransId="{5D091EF4-CDEC-4D20-82A2-53B8BD201067}" sibTransId="{3C72DCF8-2E3F-4423-8B31-8D4B701622AB}"/>
    <dgm:cxn modelId="{5BE177BB-63BD-4289-B28F-9A01D4286768}" type="presOf" srcId="{6125D43A-4410-4BBA-A540-894F87E2EE91}" destId="{DB951793-F051-41EE-80B0-364F34F7129D}" srcOrd="1" destOrd="0" presId="urn:microsoft.com/office/officeart/2005/8/layout/lProcess2"/>
    <dgm:cxn modelId="{6A34E4C3-15EF-40FC-B4B7-E0CF0A46B749}" srcId="{12979C8E-EB79-4E91-9055-51B656FF85F1}" destId="{6125D43A-4410-4BBA-A540-894F87E2EE91}" srcOrd="1" destOrd="0" parTransId="{32118CF0-4468-4223-BAAC-317F702743BA}" sibTransId="{AD9B8978-E6CD-4CF6-816B-97EE2EED93BC}"/>
    <dgm:cxn modelId="{661320C8-BF2A-4337-B579-4B10E6338B69}" srcId="{6125D43A-4410-4BBA-A540-894F87E2EE91}" destId="{9D891D68-6AF8-49CD-9A6B-51C676559168}" srcOrd="2" destOrd="0" parTransId="{9DF90752-4306-403D-94E1-D4540C7ED568}" sibTransId="{D4A99AA7-9F2F-40FA-A007-0760D349A6AF}"/>
    <dgm:cxn modelId="{319FBACC-5F0A-4DB1-9513-B33CF6858E69}" type="presOf" srcId="{9D891D68-6AF8-49CD-9A6B-51C676559168}" destId="{D1233E93-39E8-413C-AF4F-180E49A4128F}" srcOrd="0" destOrd="0" presId="urn:microsoft.com/office/officeart/2005/8/layout/lProcess2"/>
    <dgm:cxn modelId="{3776C8CD-4857-41BB-B650-4A7812F0EF6C}" type="presOf" srcId="{C53E3FE0-31BE-49FD-9F6B-5D3D56FD64C9}" destId="{22F2A4D6-06F1-470A-AF5B-D444A58D24B8}" srcOrd="0" destOrd="0" presId="urn:microsoft.com/office/officeart/2005/8/layout/lProcess2"/>
    <dgm:cxn modelId="{2BF9EFCF-7BB1-4041-AA6D-BF428708069F}" srcId="{CF23C833-2E92-4BBF-A15F-3A2DA0E828B8}" destId="{C53E3FE0-31BE-49FD-9F6B-5D3D56FD64C9}" srcOrd="0" destOrd="0" parTransId="{9E126DF8-7C98-4F47-BACA-4276E5155D2E}" sibTransId="{A2CFB6DF-3D36-4B76-B823-93E08A1CDBB8}"/>
    <dgm:cxn modelId="{194428D6-5867-4488-A231-F6D2A9E327A2}" srcId="{CF23C833-2E92-4BBF-A15F-3A2DA0E828B8}" destId="{DC2F5561-945B-4362-8237-9189EBAAE0F4}" srcOrd="1" destOrd="0" parTransId="{9854D061-23CD-4FAB-95CC-EEBDF16130FF}" sibTransId="{D36B38CC-A241-42FB-AA50-6897D8CB92D9}"/>
    <dgm:cxn modelId="{D50F71DD-E701-4DF0-90DC-639E80C63077}" type="presOf" srcId="{270E2FA7-5974-4797-9D0C-F444A10EC4CB}" destId="{4347914A-044C-4469-A716-6699F754F372}" srcOrd="0" destOrd="0" presId="urn:microsoft.com/office/officeart/2005/8/layout/lProcess2"/>
    <dgm:cxn modelId="{7DDB13F1-1A09-434A-8263-2CA814F2F09D}" srcId="{59A9C7DC-85DE-4EFF-A11F-10ADEEC70CCD}" destId="{889709FF-5BA1-466E-AF1A-F639D4035F79}" srcOrd="0" destOrd="0" parTransId="{8E02C99F-3D78-4771-A55F-EF346C7868B0}" sibTransId="{08779B55-DE5E-4C0D-90DE-C3D972B5B63F}"/>
    <dgm:cxn modelId="{52A674FE-055D-438C-918E-85CA8EDA3A4D}" srcId="{6125D43A-4410-4BBA-A540-894F87E2EE91}" destId="{270E2FA7-5974-4797-9D0C-F444A10EC4CB}" srcOrd="0" destOrd="0" parTransId="{0262BE20-55FD-4F7E-85AD-2419CE58DC06}" sibTransId="{70739F45-796B-4A20-80CC-A55080BF44FB}"/>
    <dgm:cxn modelId="{A4391BA7-23EB-4B4D-BBF3-570856144C21}" type="presParOf" srcId="{544C3FA5-8353-4195-905A-21AB1624B37D}" destId="{D7487848-C52D-4509-A927-85683BFE52FB}" srcOrd="0" destOrd="0" presId="urn:microsoft.com/office/officeart/2005/8/layout/lProcess2"/>
    <dgm:cxn modelId="{0A8B532F-9977-4A1F-AE93-23D46876C7FC}" type="presParOf" srcId="{D7487848-C52D-4509-A927-85683BFE52FB}" destId="{A6084174-FB84-45E3-B219-F47694628E1B}" srcOrd="0" destOrd="0" presId="urn:microsoft.com/office/officeart/2005/8/layout/lProcess2"/>
    <dgm:cxn modelId="{6E5297F4-D887-47FB-9C97-8C157094C1AC}" type="presParOf" srcId="{D7487848-C52D-4509-A927-85683BFE52FB}" destId="{8C1545F6-4603-4638-B745-0641F875B1D1}" srcOrd="1" destOrd="0" presId="urn:microsoft.com/office/officeart/2005/8/layout/lProcess2"/>
    <dgm:cxn modelId="{60216DB9-7A86-40AD-BC42-3671461F5C90}" type="presParOf" srcId="{D7487848-C52D-4509-A927-85683BFE52FB}" destId="{392EAE5F-5B8C-4B32-B6A0-92A9971E1692}" srcOrd="2" destOrd="0" presId="urn:microsoft.com/office/officeart/2005/8/layout/lProcess2"/>
    <dgm:cxn modelId="{D1A33968-F4B3-4458-91F1-2CFBEE12076D}" type="presParOf" srcId="{392EAE5F-5B8C-4B32-B6A0-92A9971E1692}" destId="{D350ED2A-2C35-4108-BE4C-6B1CA60D673B}" srcOrd="0" destOrd="0" presId="urn:microsoft.com/office/officeart/2005/8/layout/lProcess2"/>
    <dgm:cxn modelId="{D8F8F7FA-4D5B-45F2-8167-142EB4AE35AA}" type="presParOf" srcId="{D350ED2A-2C35-4108-BE4C-6B1CA60D673B}" destId="{22F2A4D6-06F1-470A-AF5B-D444A58D24B8}" srcOrd="0" destOrd="0" presId="urn:microsoft.com/office/officeart/2005/8/layout/lProcess2"/>
    <dgm:cxn modelId="{D8535F02-5025-4178-9BE1-472ED5C68396}" type="presParOf" srcId="{D350ED2A-2C35-4108-BE4C-6B1CA60D673B}" destId="{C6CBB4C8-DF1C-4D23-8D5C-2805810617C1}" srcOrd="1" destOrd="0" presId="urn:microsoft.com/office/officeart/2005/8/layout/lProcess2"/>
    <dgm:cxn modelId="{78423C64-109B-4554-8319-35E8411F1E93}" type="presParOf" srcId="{D350ED2A-2C35-4108-BE4C-6B1CA60D673B}" destId="{0D69FC67-5DD6-462F-92A5-9129488F25B6}" srcOrd="2" destOrd="0" presId="urn:microsoft.com/office/officeart/2005/8/layout/lProcess2"/>
    <dgm:cxn modelId="{BAC32760-4193-407E-AD28-22448E9769AF}" type="presParOf" srcId="{D350ED2A-2C35-4108-BE4C-6B1CA60D673B}" destId="{855AEAAA-AD70-4D32-9397-136723567274}" srcOrd="3" destOrd="0" presId="urn:microsoft.com/office/officeart/2005/8/layout/lProcess2"/>
    <dgm:cxn modelId="{B0CAC4B4-689B-4B1B-A435-8451705EEE33}" type="presParOf" srcId="{D350ED2A-2C35-4108-BE4C-6B1CA60D673B}" destId="{1385830E-E6E4-4D93-B68C-7E32FE76FAC8}" srcOrd="4" destOrd="0" presId="urn:microsoft.com/office/officeart/2005/8/layout/lProcess2"/>
    <dgm:cxn modelId="{357B7B22-DC6B-41AA-8666-352042E6DA61}" type="presParOf" srcId="{D350ED2A-2C35-4108-BE4C-6B1CA60D673B}" destId="{384A3BF5-2138-4106-894D-6DFD5EB4BB57}" srcOrd="5" destOrd="0" presId="urn:microsoft.com/office/officeart/2005/8/layout/lProcess2"/>
    <dgm:cxn modelId="{AB1772A6-8725-426B-B9F8-BEBF13A64461}" type="presParOf" srcId="{D350ED2A-2C35-4108-BE4C-6B1CA60D673B}" destId="{DC89E4B9-B5C5-4E1B-992E-378789F786BF}" srcOrd="6" destOrd="0" presId="urn:microsoft.com/office/officeart/2005/8/layout/lProcess2"/>
    <dgm:cxn modelId="{376F1626-D30A-469C-8735-A2506C059C85}" type="presParOf" srcId="{544C3FA5-8353-4195-905A-21AB1624B37D}" destId="{85819DB0-EFEB-427D-BB26-B7B06305377E}" srcOrd="1" destOrd="0" presId="urn:microsoft.com/office/officeart/2005/8/layout/lProcess2"/>
    <dgm:cxn modelId="{99EA0545-8CD0-4F75-AACF-BC7FD725B94A}" type="presParOf" srcId="{544C3FA5-8353-4195-905A-21AB1624B37D}" destId="{C33D9518-D741-4479-9FB7-CDEC295AB913}" srcOrd="2" destOrd="0" presId="urn:microsoft.com/office/officeart/2005/8/layout/lProcess2"/>
    <dgm:cxn modelId="{126AE697-B830-405E-9FEA-BD9849AD58F1}" type="presParOf" srcId="{C33D9518-D741-4479-9FB7-CDEC295AB913}" destId="{268B69EB-9AA0-43FB-9BBA-52BA90F1CE8B}" srcOrd="0" destOrd="0" presId="urn:microsoft.com/office/officeart/2005/8/layout/lProcess2"/>
    <dgm:cxn modelId="{71C71DCC-A61D-43D1-87CA-3D548D369AD9}" type="presParOf" srcId="{C33D9518-D741-4479-9FB7-CDEC295AB913}" destId="{DB951793-F051-41EE-80B0-364F34F7129D}" srcOrd="1" destOrd="0" presId="urn:microsoft.com/office/officeart/2005/8/layout/lProcess2"/>
    <dgm:cxn modelId="{3E1786F7-8B16-4BE6-8642-6DF659299C25}" type="presParOf" srcId="{C33D9518-D741-4479-9FB7-CDEC295AB913}" destId="{7EF09A25-4A3B-4F1B-878F-35738EA89195}" srcOrd="2" destOrd="0" presId="urn:microsoft.com/office/officeart/2005/8/layout/lProcess2"/>
    <dgm:cxn modelId="{72103B09-3252-45AE-B7CF-F2F7ED20480D}" type="presParOf" srcId="{7EF09A25-4A3B-4F1B-878F-35738EA89195}" destId="{6B802CFC-DB89-4D0B-81B0-4CEA9526129E}" srcOrd="0" destOrd="0" presId="urn:microsoft.com/office/officeart/2005/8/layout/lProcess2"/>
    <dgm:cxn modelId="{F94D6610-CA93-47D2-A4E3-4089D3F5DD26}" type="presParOf" srcId="{6B802CFC-DB89-4D0B-81B0-4CEA9526129E}" destId="{4347914A-044C-4469-A716-6699F754F372}" srcOrd="0" destOrd="0" presId="urn:microsoft.com/office/officeart/2005/8/layout/lProcess2"/>
    <dgm:cxn modelId="{CEA5598F-3419-461E-A465-3D1C84F3E312}" type="presParOf" srcId="{6B802CFC-DB89-4D0B-81B0-4CEA9526129E}" destId="{C4486890-2FC0-41AD-B7F8-4919BE64A173}" srcOrd="1" destOrd="0" presId="urn:microsoft.com/office/officeart/2005/8/layout/lProcess2"/>
    <dgm:cxn modelId="{E7AD6BD3-A8B5-4B22-B3BA-D88EF9D120BB}" type="presParOf" srcId="{6B802CFC-DB89-4D0B-81B0-4CEA9526129E}" destId="{C9C77DEB-8AC2-4E4F-8B30-56B1D17C80E1}" srcOrd="2" destOrd="0" presId="urn:microsoft.com/office/officeart/2005/8/layout/lProcess2"/>
    <dgm:cxn modelId="{E13D720E-EC33-4827-9446-2A15A3B7D643}" type="presParOf" srcId="{6B802CFC-DB89-4D0B-81B0-4CEA9526129E}" destId="{97D0A996-F90B-496D-BEDC-2CC5ECE68AA6}" srcOrd="3" destOrd="0" presId="urn:microsoft.com/office/officeart/2005/8/layout/lProcess2"/>
    <dgm:cxn modelId="{5C8FF229-2212-41B3-BEC0-EA62F0ABB704}" type="presParOf" srcId="{6B802CFC-DB89-4D0B-81B0-4CEA9526129E}" destId="{D1233E93-39E8-413C-AF4F-180E49A4128F}" srcOrd="4" destOrd="0" presId="urn:microsoft.com/office/officeart/2005/8/layout/lProcess2"/>
    <dgm:cxn modelId="{5DD22B01-B2DA-46C5-A5F3-C334442FEBB2}" type="presParOf" srcId="{544C3FA5-8353-4195-905A-21AB1624B37D}" destId="{1EF46135-5255-4459-92E8-3B7840FAC113}" srcOrd="3" destOrd="0" presId="urn:microsoft.com/office/officeart/2005/8/layout/lProcess2"/>
    <dgm:cxn modelId="{84B5CA74-3856-48AC-96EF-826B865815A8}" type="presParOf" srcId="{544C3FA5-8353-4195-905A-21AB1624B37D}" destId="{8E9379EB-8E84-4FF1-B5E1-ADC53F13E543}" srcOrd="4" destOrd="0" presId="urn:microsoft.com/office/officeart/2005/8/layout/lProcess2"/>
    <dgm:cxn modelId="{04B99682-1402-4A68-AF89-C00A49D48A4E}" type="presParOf" srcId="{8E9379EB-8E84-4FF1-B5E1-ADC53F13E543}" destId="{7C0D5B29-B8A0-4F92-AAF5-CBC33F3AD249}" srcOrd="0" destOrd="0" presId="urn:microsoft.com/office/officeart/2005/8/layout/lProcess2"/>
    <dgm:cxn modelId="{C8ED3AC8-2633-4E1A-9B41-CE15606510AE}" type="presParOf" srcId="{8E9379EB-8E84-4FF1-B5E1-ADC53F13E543}" destId="{7ACD153D-52C1-4C76-B89F-823A0E3B2D87}" srcOrd="1" destOrd="0" presId="urn:microsoft.com/office/officeart/2005/8/layout/lProcess2"/>
    <dgm:cxn modelId="{AD168D7E-0E75-424F-AAEF-0221EC8654C3}" type="presParOf" srcId="{8E9379EB-8E84-4FF1-B5E1-ADC53F13E543}" destId="{D3493F34-E056-4279-8B93-E57C4F9F9FFB}" srcOrd="2" destOrd="0" presId="urn:microsoft.com/office/officeart/2005/8/layout/lProcess2"/>
    <dgm:cxn modelId="{EE461EC4-32DA-4869-B22D-373E0EC5510C}" type="presParOf" srcId="{D3493F34-E056-4279-8B93-E57C4F9F9FFB}" destId="{DB476043-A6DD-47CD-9E39-8D38B0E84839}" srcOrd="0" destOrd="0" presId="urn:microsoft.com/office/officeart/2005/8/layout/lProcess2"/>
    <dgm:cxn modelId="{9404EAA2-1D0F-47AD-9AD5-A38C869588DB}" type="presParOf" srcId="{DB476043-A6DD-47CD-9E39-8D38B0E84839}" destId="{BED5EB0E-FB94-4370-9614-E6436419BA64}" srcOrd="0" destOrd="0" presId="urn:microsoft.com/office/officeart/2005/8/layout/lProcess2"/>
    <dgm:cxn modelId="{DDE91320-F7C2-4E3D-9029-435966755D3D}" type="presParOf" srcId="{DB476043-A6DD-47CD-9E39-8D38B0E84839}" destId="{FD81E855-7DFB-4261-8D64-12D49DDC56E4}" srcOrd="1" destOrd="0" presId="urn:microsoft.com/office/officeart/2005/8/layout/lProcess2"/>
    <dgm:cxn modelId="{F2E5B8E5-9D5A-4FDE-92F1-EB6D359C4896}" type="presParOf" srcId="{DB476043-A6DD-47CD-9E39-8D38B0E84839}" destId="{1331B81E-EF74-4077-8FED-14BF583B3F53}"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06765DD-1771-4AE8-ADFB-81B65F599402}" type="doc">
      <dgm:prSet loTypeId="urn:microsoft.com/office/officeart/2005/8/layout/hList3" loCatId="list" qsTypeId="urn:microsoft.com/office/officeart/2005/8/quickstyle/3d2" qsCatId="3D" csTypeId="urn:microsoft.com/office/officeart/2005/8/colors/accent3_2" csCatId="accent3" phldr="1"/>
      <dgm:spPr/>
      <dgm:t>
        <a:bodyPr/>
        <a:lstStyle/>
        <a:p>
          <a:endParaRPr lang="en-GB"/>
        </a:p>
      </dgm:t>
    </dgm:pt>
    <dgm:pt modelId="{959B597A-D036-4E50-B70B-BA4C9C274831}">
      <dgm:prSet/>
      <dgm:spPr>
        <a:solidFill>
          <a:srgbClr val="002060"/>
        </a:solidFill>
      </dgm:spPr>
      <dgm:t>
        <a:bodyPr/>
        <a:lstStyle/>
        <a:p>
          <a:pPr rtl="0"/>
          <a:r>
            <a:rPr lang="en-US" dirty="0"/>
            <a:t>Since there can be only one final estimate of value, there are three choices at this stage:</a:t>
          </a:r>
          <a:endParaRPr lang="en-GB" dirty="0"/>
        </a:p>
      </dgm:t>
    </dgm:pt>
    <dgm:pt modelId="{B666E54D-22FF-4ADD-BEBF-3A17D40C77DD}" type="parTrans" cxnId="{9111ED1C-78D7-4CFD-8E37-9AB1F81C0DA2}">
      <dgm:prSet/>
      <dgm:spPr/>
      <dgm:t>
        <a:bodyPr/>
        <a:lstStyle/>
        <a:p>
          <a:endParaRPr lang="en-GB"/>
        </a:p>
      </dgm:t>
    </dgm:pt>
    <dgm:pt modelId="{084B0581-4B62-451B-A5D7-C545661680FA}" type="sibTrans" cxnId="{9111ED1C-78D7-4CFD-8E37-9AB1F81C0DA2}">
      <dgm:prSet/>
      <dgm:spPr/>
      <dgm:t>
        <a:bodyPr/>
        <a:lstStyle/>
        <a:p>
          <a:endParaRPr lang="en-GB"/>
        </a:p>
      </dgm:t>
    </dgm:pt>
    <dgm:pt modelId="{CA02E610-78DD-4C0B-8A60-951997220C6B}">
      <dgm:prSet/>
      <dgm:spPr/>
      <dgm:t>
        <a:bodyPr/>
        <a:lstStyle/>
        <a:p>
          <a:pPr rtl="0"/>
          <a:r>
            <a:rPr lang="en-US" dirty="0"/>
            <a:t>Use a simple average of the valuations obtained using a number of different multiples</a:t>
          </a:r>
          <a:endParaRPr lang="en-GB" dirty="0"/>
        </a:p>
      </dgm:t>
    </dgm:pt>
    <dgm:pt modelId="{BB3ABCA4-CF70-4B60-8E09-5A06201246ED}" type="parTrans" cxnId="{2E46DE45-841F-4678-B532-D02FCD5339EB}">
      <dgm:prSet/>
      <dgm:spPr/>
      <dgm:t>
        <a:bodyPr/>
        <a:lstStyle/>
        <a:p>
          <a:endParaRPr lang="en-GB"/>
        </a:p>
      </dgm:t>
    </dgm:pt>
    <dgm:pt modelId="{1B0DD8D8-96AC-4379-B19E-40FF5B1BD715}" type="sibTrans" cxnId="{2E46DE45-841F-4678-B532-D02FCD5339EB}">
      <dgm:prSet/>
      <dgm:spPr/>
      <dgm:t>
        <a:bodyPr/>
        <a:lstStyle/>
        <a:p>
          <a:endParaRPr lang="en-GB"/>
        </a:p>
      </dgm:t>
    </dgm:pt>
    <dgm:pt modelId="{C0E6C894-5525-4B1F-BA6E-FC9536803C9A}">
      <dgm:prSet/>
      <dgm:spPr/>
      <dgm:t>
        <a:bodyPr/>
        <a:lstStyle/>
        <a:p>
          <a:pPr rtl="0"/>
          <a:r>
            <a:rPr lang="en-US"/>
            <a:t>Use a weighted average of the valuations obtained using a number of different multiples</a:t>
          </a:r>
          <a:endParaRPr lang="en-GB"/>
        </a:p>
      </dgm:t>
    </dgm:pt>
    <dgm:pt modelId="{BDC1A0EA-AEA1-40A4-B754-C91E62DE2796}" type="parTrans" cxnId="{95A3E5C8-C635-434B-894A-90059B6C05B2}">
      <dgm:prSet/>
      <dgm:spPr/>
      <dgm:t>
        <a:bodyPr/>
        <a:lstStyle/>
        <a:p>
          <a:endParaRPr lang="en-GB"/>
        </a:p>
      </dgm:t>
    </dgm:pt>
    <dgm:pt modelId="{B933CF0F-8A4F-40B0-82D6-7EE75AB88846}" type="sibTrans" cxnId="{95A3E5C8-C635-434B-894A-90059B6C05B2}">
      <dgm:prSet/>
      <dgm:spPr/>
      <dgm:t>
        <a:bodyPr/>
        <a:lstStyle/>
        <a:p>
          <a:endParaRPr lang="en-GB"/>
        </a:p>
      </dgm:t>
    </dgm:pt>
    <dgm:pt modelId="{56F9F8A4-0073-43F5-A842-783FE520A638}">
      <dgm:prSet/>
      <dgm:spPr/>
      <dgm:t>
        <a:bodyPr/>
        <a:lstStyle/>
        <a:p>
          <a:pPr rtl="0"/>
          <a:r>
            <a:rPr lang="en-US"/>
            <a:t>Choose one of the multiples and base your valuation on that multiple</a:t>
          </a:r>
          <a:endParaRPr lang="en-GB"/>
        </a:p>
      </dgm:t>
    </dgm:pt>
    <dgm:pt modelId="{CADAC93A-AEDD-4A3D-A508-83C86F5D3ACB}" type="parTrans" cxnId="{924924A5-2FB7-4033-AA56-BCED9C96BCCA}">
      <dgm:prSet/>
      <dgm:spPr/>
      <dgm:t>
        <a:bodyPr/>
        <a:lstStyle/>
        <a:p>
          <a:endParaRPr lang="en-GB"/>
        </a:p>
      </dgm:t>
    </dgm:pt>
    <dgm:pt modelId="{B293B7EF-C171-4C32-82B6-8D81E4F04B5C}" type="sibTrans" cxnId="{924924A5-2FB7-4033-AA56-BCED9C96BCCA}">
      <dgm:prSet/>
      <dgm:spPr/>
      <dgm:t>
        <a:bodyPr/>
        <a:lstStyle/>
        <a:p>
          <a:endParaRPr lang="en-GB"/>
        </a:p>
      </dgm:t>
    </dgm:pt>
    <dgm:pt modelId="{E7840ABB-BE02-4B3E-A40B-423F6496DEBC}" type="pres">
      <dgm:prSet presAssocID="{006765DD-1771-4AE8-ADFB-81B65F599402}" presName="composite" presStyleCnt="0">
        <dgm:presLayoutVars>
          <dgm:chMax val="1"/>
          <dgm:dir/>
          <dgm:resizeHandles val="exact"/>
        </dgm:presLayoutVars>
      </dgm:prSet>
      <dgm:spPr/>
    </dgm:pt>
    <dgm:pt modelId="{408DD9FC-E169-4946-BF66-8451D429DB48}" type="pres">
      <dgm:prSet presAssocID="{959B597A-D036-4E50-B70B-BA4C9C274831}" presName="roof" presStyleLbl="dkBgShp" presStyleIdx="0" presStyleCnt="2"/>
      <dgm:spPr/>
    </dgm:pt>
    <dgm:pt modelId="{3D1406A0-3945-4397-8414-D70DC172C26E}" type="pres">
      <dgm:prSet presAssocID="{959B597A-D036-4E50-B70B-BA4C9C274831}" presName="pillars" presStyleCnt="0"/>
      <dgm:spPr/>
    </dgm:pt>
    <dgm:pt modelId="{AF030F7C-B738-45EA-A188-2881B6DF29D5}" type="pres">
      <dgm:prSet presAssocID="{959B597A-D036-4E50-B70B-BA4C9C274831}" presName="pillar1" presStyleLbl="node1" presStyleIdx="0" presStyleCnt="3">
        <dgm:presLayoutVars>
          <dgm:bulletEnabled val="1"/>
        </dgm:presLayoutVars>
      </dgm:prSet>
      <dgm:spPr/>
    </dgm:pt>
    <dgm:pt modelId="{444543F4-F88F-480C-BA38-4CCB223133BB}" type="pres">
      <dgm:prSet presAssocID="{C0E6C894-5525-4B1F-BA6E-FC9536803C9A}" presName="pillarX" presStyleLbl="node1" presStyleIdx="1" presStyleCnt="3">
        <dgm:presLayoutVars>
          <dgm:bulletEnabled val="1"/>
        </dgm:presLayoutVars>
      </dgm:prSet>
      <dgm:spPr/>
    </dgm:pt>
    <dgm:pt modelId="{1231CECC-42A1-46D7-AB49-6B521B85CC0D}" type="pres">
      <dgm:prSet presAssocID="{56F9F8A4-0073-43F5-A842-783FE520A638}" presName="pillarX" presStyleLbl="node1" presStyleIdx="2" presStyleCnt="3">
        <dgm:presLayoutVars>
          <dgm:bulletEnabled val="1"/>
        </dgm:presLayoutVars>
      </dgm:prSet>
      <dgm:spPr/>
    </dgm:pt>
    <dgm:pt modelId="{1C366CF5-3E26-4756-B4B3-B913E3AB37E5}" type="pres">
      <dgm:prSet presAssocID="{959B597A-D036-4E50-B70B-BA4C9C274831}" presName="base" presStyleLbl="dkBgShp" presStyleIdx="1" presStyleCnt="2"/>
      <dgm:spPr>
        <a:solidFill>
          <a:srgbClr val="002060"/>
        </a:solidFill>
      </dgm:spPr>
    </dgm:pt>
  </dgm:ptLst>
  <dgm:cxnLst>
    <dgm:cxn modelId="{9111ED1C-78D7-4CFD-8E37-9AB1F81C0DA2}" srcId="{006765DD-1771-4AE8-ADFB-81B65F599402}" destId="{959B597A-D036-4E50-B70B-BA4C9C274831}" srcOrd="0" destOrd="0" parTransId="{B666E54D-22FF-4ADD-BEBF-3A17D40C77DD}" sibTransId="{084B0581-4B62-451B-A5D7-C545661680FA}"/>
    <dgm:cxn modelId="{F876421E-D3F9-4F6C-B94D-CB10DE2CE94F}" type="presOf" srcId="{959B597A-D036-4E50-B70B-BA4C9C274831}" destId="{408DD9FC-E169-4946-BF66-8451D429DB48}" srcOrd="0" destOrd="0" presId="urn:microsoft.com/office/officeart/2005/8/layout/hList3"/>
    <dgm:cxn modelId="{DB1CBA1E-1A0A-44CE-B451-FC1753397AA2}" type="presOf" srcId="{CA02E610-78DD-4C0B-8A60-951997220C6B}" destId="{AF030F7C-B738-45EA-A188-2881B6DF29D5}" srcOrd="0" destOrd="0" presId="urn:microsoft.com/office/officeart/2005/8/layout/hList3"/>
    <dgm:cxn modelId="{2E46DE45-841F-4678-B532-D02FCD5339EB}" srcId="{959B597A-D036-4E50-B70B-BA4C9C274831}" destId="{CA02E610-78DD-4C0B-8A60-951997220C6B}" srcOrd="0" destOrd="0" parTransId="{BB3ABCA4-CF70-4B60-8E09-5A06201246ED}" sibTransId="{1B0DD8D8-96AC-4379-B19E-40FF5B1BD715}"/>
    <dgm:cxn modelId="{47992B53-B418-438A-A1EB-0473BDD595CF}" type="presOf" srcId="{C0E6C894-5525-4B1F-BA6E-FC9536803C9A}" destId="{444543F4-F88F-480C-BA38-4CCB223133BB}" srcOrd="0" destOrd="0" presId="urn:microsoft.com/office/officeart/2005/8/layout/hList3"/>
    <dgm:cxn modelId="{CE25F3A4-6E09-497E-B86D-875E076756E3}" type="presOf" srcId="{006765DD-1771-4AE8-ADFB-81B65F599402}" destId="{E7840ABB-BE02-4B3E-A40B-423F6496DEBC}" srcOrd="0" destOrd="0" presId="urn:microsoft.com/office/officeart/2005/8/layout/hList3"/>
    <dgm:cxn modelId="{924924A5-2FB7-4033-AA56-BCED9C96BCCA}" srcId="{959B597A-D036-4E50-B70B-BA4C9C274831}" destId="{56F9F8A4-0073-43F5-A842-783FE520A638}" srcOrd="2" destOrd="0" parTransId="{CADAC93A-AEDD-4A3D-A508-83C86F5D3ACB}" sibTransId="{B293B7EF-C171-4C32-82B6-8D81E4F04B5C}"/>
    <dgm:cxn modelId="{F8124DC0-294A-429B-8D06-C242C2FAE638}" type="presOf" srcId="{56F9F8A4-0073-43F5-A842-783FE520A638}" destId="{1231CECC-42A1-46D7-AB49-6B521B85CC0D}" srcOrd="0" destOrd="0" presId="urn:microsoft.com/office/officeart/2005/8/layout/hList3"/>
    <dgm:cxn modelId="{95A3E5C8-C635-434B-894A-90059B6C05B2}" srcId="{959B597A-D036-4E50-B70B-BA4C9C274831}" destId="{C0E6C894-5525-4B1F-BA6E-FC9536803C9A}" srcOrd="1" destOrd="0" parTransId="{BDC1A0EA-AEA1-40A4-B754-C91E62DE2796}" sibTransId="{B933CF0F-8A4F-40B0-82D6-7EE75AB88846}"/>
    <dgm:cxn modelId="{D5E768A8-AF7F-48A1-8E69-37707F854D08}" type="presParOf" srcId="{E7840ABB-BE02-4B3E-A40B-423F6496DEBC}" destId="{408DD9FC-E169-4946-BF66-8451D429DB48}" srcOrd="0" destOrd="0" presId="urn:microsoft.com/office/officeart/2005/8/layout/hList3"/>
    <dgm:cxn modelId="{DA18F6A9-BE61-42AE-9B26-09E6D01DC9F1}" type="presParOf" srcId="{E7840ABB-BE02-4B3E-A40B-423F6496DEBC}" destId="{3D1406A0-3945-4397-8414-D70DC172C26E}" srcOrd="1" destOrd="0" presId="urn:microsoft.com/office/officeart/2005/8/layout/hList3"/>
    <dgm:cxn modelId="{599F800C-6CD7-489A-B1A2-BEC00543A57E}" type="presParOf" srcId="{3D1406A0-3945-4397-8414-D70DC172C26E}" destId="{AF030F7C-B738-45EA-A188-2881B6DF29D5}" srcOrd="0" destOrd="0" presId="urn:microsoft.com/office/officeart/2005/8/layout/hList3"/>
    <dgm:cxn modelId="{8411B203-ED75-4657-8CE1-B7872CBD610D}" type="presParOf" srcId="{3D1406A0-3945-4397-8414-D70DC172C26E}" destId="{444543F4-F88F-480C-BA38-4CCB223133BB}" srcOrd="1" destOrd="0" presId="urn:microsoft.com/office/officeart/2005/8/layout/hList3"/>
    <dgm:cxn modelId="{CB68544A-37A0-4DDD-914B-5CE813EACF71}" type="presParOf" srcId="{3D1406A0-3945-4397-8414-D70DC172C26E}" destId="{1231CECC-42A1-46D7-AB49-6B521B85CC0D}" srcOrd="2" destOrd="0" presId="urn:microsoft.com/office/officeart/2005/8/layout/hList3"/>
    <dgm:cxn modelId="{53B47B4C-4D0D-4667-B7C9-2BFBAB43A8DB}" type="presParOf" srcId="{E7840ABB-BE02-4B3E-A40B-423F6496DEBC}" destId="{1C366CF5-3E26-4756-B4B3-B913E3AB37E5}" srcOrd="2" destOrd="0" presId="urn:microsoft.com/office/officeart/2005/8/layout/hList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C2801C5-5995-444E-B176-4E57A569CC3B}" type="doc">
      <dgm:prSet loTypeId="urn:diagrams.loki3.com/BracketList+Icon" loCatId="officeonline" qsTypeId="urn:microsoft.com/office/officeart/2005/8/quickstyle/3d1" qsCatId="3D" csTypeId="urn:microsoft.com/office/officeart/2005/8/colors/accent0_3" csCatId="mainScheme" phldr="1"/>
      <dgm:spPr/>
      <dgm:t>
        <a:bodyPr/>
        <a:lstStyle/>
        <a:p>
          <a:endParaRPr lang="en-GB"/>
        </a:p>
      </dgm:t>
    </dgm:pt>
    <dgm:pt modelId="{D5803C6A-60D9-47D8-BA1E-141F9FC60DD8}">
      <dgm:prSet/>
      <dgm:spPr/>
      <dgm:t>
        <a:bodyPr/>
        <a:lstStyle/>
        <a:p>
          <a:pPr rtl="0"/>
          <a:r>
            <a:rPr lang="en-US"/>
            <a:t>Use the multiple that </a:t>
          </a:r>
          <a:r>
            <a:rPr lang="en-US" u="sng"/>
            <a:t>best fits your objective</a:t>
          </a:r>
          <a:r>
            <a:rPr lang="en-US"/>
            <a:t>. </a:t>
          </a:r>
          <a:endParaRPr lang="en-GB" dirty="0"/>
        </a:p>
      </dgm:t>
    </dgm:pt>
    <dgm:pt modelId="{32916B6B-73FE-4928-AF35-26BAFD8415E1}" type="parTrans" cxnId="{1B261D7B-1DE8-452F-A469-7DEB2038A41A}">
      <dgm:prSet/>
      <dgm:spPr/>
      <dgm:t>
        <a:bodyPr/>
        <a:lstStyle/>
        <a:p>
          <a:endParaRPr lang="en-GB"/>
        </a:p>
      </dgm:t>
    </dgm:pt>
    <dgm:pt modelId="{80775DE8-62F3-499C-9810-9AC4EBEE79F8}" type="sibTrans" cxnId="{1B261D7B-1DE8-452F-A469-7DEB2038A41A}">
      <dgm:prSet/>
      <dgm:spPr/>
      <dgm:t>
        <a:bodyPr/>
        <a:lstStyle/>
        <a:p>
          <a:endParaRPr lang="en-GB"/>
        </a:p>
      </dgm:t>
    </dgm:pt>
    <dgm:pt modelId="{6B4FC315-B934-4D09-8007-01982666BB68}">
      <dgm:prSet/>
      <dgm:spPr/>
      <dgm:t>
        <a:bodyPr/>
        <a:lstStyle/>
        <a:p>
          <a:pPr rtl="0"/>
          <a:r>
            <a:rPr lang="en-US" dirty="0"/>
            <a:t>Thus, if you want the company to be undervalued, you pick the multiple that yields the highest value.</a:t>
          </a:r>
          <a:endParaRPr lang="en-GB" dirty="0"/>
        </a:p>
      </dgm:t>
    </dgm:pt>
    <dgm:pt modelId="{D407B268-CCFE-4ADA-B23F-8BA6AC8C2A01}" type="parTrans" cxnId="{7A11535B-750D-4DB2-844C-19E5790366FB}">
      <dgm:prSet/>
      <dgm:spPr/>
      <dgm:t>
        <a:bodyPr/>
        <a:lstStyle/>
        <a:p>
          <a:endParaRPr lang="en-GB"/>
        </a:p>
      </dgm:t>
    </dgm:pt>
    <dgm:pt modelId="{52DFD916-9D5E-481E-A448-DFCB94B8A588}" type="sibTrans" cxnId="{7A11535B-750D-4DB2-844C-19E5790366FB}">
      <dgm:prSet/>
      <dgm:spPr/>
      <dgm:t>
        <a:bodyPr/>
        <a:lstStyle/>
        <a:p>
          <a:endParaRPr lang="en-GB"/>
        </a:p>
      </dgm:t>
    </dgm:pt>
    <dgm:pt modelId="{8CB00364-A8E3-4AC6-BBF0-9AD8ED4DEA18}">
      <dgm:prSet/>
      <dgm:spPr/>
      <dgm:t>
        <a:bodyPr/>
        <a:lstStyle/>
        <a:p>
          <a:pPr rtl="0"/>
          <a:r>
            <a:rPr lang="en-US" dirty="0"/>
            <a:t>Use the multiple that </a:t>
          </a:r>
          <a:r>
            <a:rPr lang="en-US" u="sng" dirty="0"/>
            <a:t>has the highest R-squared</a:t>
          </a:r>
          <a:endParaRPr lang="en-GB" dirty="0"/>
        </a:p>
      </dgm:t>
    </dgm:pt>
    <dgm:pt modelId="{F8467BB9-C2DE-42E3-9AE4-B1B90D53A419}" type="parTrans" cxnId="{C880EBB6-3AFB-44B0-8DDE-3EF8CD930FB2}">
      <dgm:prSet/>
      <dgm:spPr/>
      <dgm:t>
        <a:bodyPr/>
        <a:lstStyle/>
        <a:p>
          <a:endParaRPr lang="en-GB"/>
        </a:p>
      </dgm:t>
    </dgm:pt>
    <dgm:pt modelId="{0D28A3D3-7DB6-4902-858F-A172DC98B664}" type="sibTrans" cxnId="{C880EBB6-3AFB-44B0-8DDE-3EF8CD930FB2}">
      <dgm:prSet/>
      <dgm:spPr/>
      <dgm:t>
        <a:bodyPr/>
        <a:lstStyle/>
        <a:p>
          <a:endParaRPr lang="en-GB"/>
        </a:p>
      </dgm:t>
    </dgm:pt>
    <dgm:pt modelId="{C56BD60C-508A-4605-818C-D7D62102F91D}">
      <dgm:prSet/>
      <dgm:spPr/>
      <dgm:t>
        <a:bodyPr/>
        <a:lstStyle/>
        <a:p>
          <a:pPr rtl="0"/>
          <a:r>
            <a:rPr lang="en-US" dirty="0"/>
            <a:t>Use the multiple that seems to </a:t>
          </a:r>
          <a:r>
            <a:rPr lang="en-US" u="sng" dirty="0"/>
            <a:t>make the most sense</a:t>
          </a:r>
          <a:r>
            <a:rPr lang="en-US" dirty="0"/>
            <a:t> for that sector, </a:t>
          </a:r>
          <a:endParaRPr lang="en-GB" dirty="0"/>
        </a:p>
      </dgm:t>
    </dgm:pt>
    <dgm:pt modelId="{B51E4A4D-B404-4828-A82F-20897ADA42A9}" type="parTrans" cxnId="{BDD84D5D-D3CE-437A-93FD-03AEECDFAB6F}">
      <dgm:prSet/>
      <dgm:spPr/>
      <dgm:t>
        <a:bodyPr/>
        <a:lstStyle/>
        <a:p>
          <a:endParaRPr lang="en-GB"/>
        </a:p>
      </dgm:t>
    </dgm:pt>
    <dgm:pt modelId="{DE9C8DD5-2206-4FF7-B5C1-2EF18DC63F91}" type="sibTrans" cxnId="{BDD84D5D-D3CE-437A-93FD-03AEECDFAB6F}">
      <dgm:prSet/>
      <dgm:spPr/>
      <dgm:t>
        <a:bodyPr/>
        <a:lstStyle/>
        <a:p>
          <a:endParaRPr lang="en-GB"/>
        </a:p>
      </dgm:t>
    </dgm:pt>
    <dgm:pt modelId="{B2953109-4A81-4899-A230-F46BDD6F6D8E}">
      <dgm:prSet/>
      <dgm:spPr/>
      <dgm:t>
        <a:bodyPr/>
        <a:lstStyle/>
        <a:p>
          <a:pPr rtl="0"/>
          <a:r>
            <a:rPr lang="en-US" dirty="0"/>
            <a:t>in the sector when regressed against fundamentals. Thus, if you have tried PE, PBV, PS, etc. and run regressions of these multiples against fundamentals, use the multiple that works best at explaining differences across firms in that sector.</a:t>
          </a:r>
          <a:endParaRPr lang="en-GB" dirty="0"/>
        </a:p>
      </dgm:t>
    </dgm:pt>
    <dgm:pt modelId="{8A543173-4FCF-4F5A-9E62-6AA8F7187663}" type="parTrans" cxnId="{A4210568-4A26-43AF-8CFD-3A15A5DC81FF}">
      <dgm:prSet/>
      <dgm:spPr/>
      <dgm:t>
        <a:bodyPr/>
        <a:lstStyle/>
        <a:p>
          <a:endParaRPr lang="en-GB"/>
        </a:p>
      </dgm:t>
    </dgm:pt>
    <dgm:pt modelId="{E65CA24F-E211-46F1-9DBE-FD526FD3D87A}" type="sibTrans" cxnId="{A4210568-4A26-43AF-8CFD-3A15A5DC81FF}">
      <dgm:prSet/>
      <dgm:spPr/>
      <dgm:t>
        <a:bodyPr/>
        <a:lstStyle/>
        <a:p>
          <a:endParaRPr lang="en-GB"/>
        </a:p>
      </dgm:t>
    </dgm:pt>
    <dgm:pt modelId="{7BF28899-B1C2-40AE-A656-B6749DBEA2EA}">
      <dgm:prSet/>
      <dgm:spPr/>
      <dgm:t>
        <a:bodyPr/>
        <a:lstStyle/>
        <a:p>
          <a:pPr rtl="0"/>
          <a:r>
            <a:rPr lang="en-US"/>
            <a:t>given </a:t>
          </a:r>
          <a:r>
            <a:rPr lang="en-US" dirty="0"/>
            <a:t>how value is measured and created.</a:t>
          </a:r>
          <a:endParaRPr lang="en-GB" dirty="0"/>
        </a:p>
      </dgm:t>
    </dgm:pt>
    <dgm:pt modelId="{3953340B-FA2C-400C-9638-6AF6B3555725}" type="parTrans" cxnId="{C09B64B9-ADB6-42C8-90C7-014213709FED}">
      <dgm:prSet/>
      <dgm:spPr/>
      <dgm:t>
        <a:bodyPr/>
        <a:lstStyle/>
        <a:p>
          <a:endParaRPr lang="en-GB"/>
        </a:p>
      </dgm:t>
    </dgm:pt>
    <dgm:pt modelId="{71E7EB96-0E26-4B74-B1C6-D6A6A79AF84C}" type="sibTrans" cxnId="{C09B64B9-ADB6-42C8-90C7-014213709FED}">
      <dgm:prSet/>
      <dgm:spPr/>
      <dgm:t>
        <a:bodyPr/>
        <a:lstStyle/>
        <a:p>
          <a:endParaRPr lang="en-GB"/>
        </a:p>
      </dgm:t>
    </dgm:pt>
    <dgm:pt modelId="{CE0B820C-9509-4403-94A7-E6BA00861A38}" type="pres">
      <dgm:prSet presAssocID="{3C2801C5-5995-444E-B176-4E57A569CC3B}" presName="Name0" presStyleCnt="0">
        <dgm:presLayoutVars>
          <dgm:dir/>
          <dgm:animLvl val="lvl"/>
          <dgm:resizeHandles val="exact"/>
        </dgm:presLayoutVars>
      </dgm:prSet>
      <dgm:spPr/>
    </dgm:pt>
    <dgm:pt modelId="{FD81FA8D-2FDC-44E7-8B37-056D7CDB1874}" type="pres">
      <dgm:prSet presAssocID="{D5803C6A-60D9-47D8-BA1E-141F9FC60DD8}" presName="linNode" presStyleCnt="0"/>
      <dgm:spPr/>
    </dgm:pt>
    <dgm:pt modelId="{F2AAA386-3640-4E7E-941C-E6A18C795048}" type="pres">
      <dgm:prSet presAssocID="{D5803C6A-60D9-47D8-BA1E-141F9FC60DD8}" presName="parTx" presStyleLbl="revTx" presStyleIdx="0" presStyleCnt="3">
        <dgm:presLayoutVars>
          <dgm:chMax val="1"/>
          <dgm:bulletEnabled val="1"/>
        </dgm:presLayoutVars>
      </dgm:prSet>
      <dgm:spPr/>
    </dgm:pt>
    <dgm:pt modelId="{ACB7A8DB-5852-4BA7-BE32-FE10B5D8289F}" type="pres">
      <dgm:prSet presAssocID="{D5803C6A-60D9-47D8-BA1E-141F9FC60DD8}" presName="bracket" presStyleLbl="parChTrans1D1" presStyleIdx="0" presStyleCnt="3"/>
      <dgm:spPr/>
    </dgm:pt>
    <dgm:pt modelId="{88E82028-1C9F-4CCC-B4E6-B40F0592C195}" type="pres">
      <dgm:prSet presAssocID="{D5803C6A-60D9-47D8-BA1E-141F9FC60DD8}" presName="spH" presStyleCnt="0"/>
      <dgm:spPr/>
    </dgm:pt>
    <dgm:pt modelId="{2C00D55D-63E1-4FFA-AA98-C4AEE3522880}" type="pres">
      <dgm:prSet presAssocID="{D5803C6A-60D9-47D8-BA1E-141F9FC60DD8}" presName="desTx" presStyleLbl="node1" presStyleIdx="0" presStyleCnt="3">
        <dgm:presLayoutVars>
          <dgm:bulletEnabled val="1"/>
        </dgm:presLayoutVars>
      </dgm:prSet>
      <dgm:spPr/>
    </dgm:pt>
    <dgm:pt modelId="{A56299F3-CE03-48B6-BE12-0F574182D25D}" type="pres">
      <dgm:prSet presAssocID="{80775DE8-62F3-499C-9810-9AC4EBEE79F8}" presName="spV" presStyleCnt="0"/>
      <dgm:spPr/>
    </dgm:pt>
    <dgm:pt modelId="{2FF46DDD-4374-42C4-9CA0-6698DE9890AD}" type="pres">
      <dgm:prSet presAssocID="{8CB00364-A8E3-4AC6-BBF0-9AD8ED4DEA18}" presName="linNode" presStyleCnt="0"/>
      <dgm:spPr/>
    </dgm:pt>
    <dgm:pt modelId="{D98C2E85-60EA-43FC-A985-82FCACF9EEB7}" type="pres">
      <dgm:prSet presAssocID="{8CB00364-A8E3-4AC6-BBF0-9AD8ED4DEA18}" presName="parTx" presStyleLbl="revTx" presStyleIdx="1" presStyleCnt="3">
        <dgm:presLayoutVars>
          <dgm:chMax val="1"/>
          <dgm:bulletEnabled val="1"/>
        </dgm:presLayoutVars>
      </dgm:prSet>
      <dgm:spPr/>
    </dgm:pt>
    <dgm:pt modelId="{894E70CA-0D34-4A07-8394-D4A64699FCD1}" type="pres">
      <dgm:prSet presAssocID="{8CB00364-A8E3-4AC6-BBF0-9AD8ED4DEA18}" presName="bracket" presStyleLbl="parChTrans1D1" presStyleIdx="1" presStyleCnt="3"/>
      <dgm:spPr/>
    </dgm:pt>
    <dgm:pt modelId="{A783E4E1-19BC-4EEB-8256-AB2BC2D7584C}" type="pres">
      <dgm:prSet presAssocID="{8CB00364-A8E3-4AC6-BBF0-9AD8ED4DEA18}" presName="spH" presStyleCnt="0"/>
      <dgm:spPr/>
    </dgm:pt>
    <dgm:pt modelId="{A7677D8B-C938-4225-8229-8FC55A4CED8C}" type="pres">
      <dgm:prSet presAssocID="{8CB00364-A8E3-4AC6-BBF0-9AD8ED4DEA18}" presName="desTx" presStyleLbl="node1" presStyleIdx="1" presStyleCnt="3">
        <dgm:presLayoutVars>
          <dgm:bulletEnabled val="1"/>
        </dgm:presLayoutVars>
      </dgm:prSet>
      <dgm:spPr/>
    </dgm:pt>
    <dgm:pt modelId="{9AEE8D02-7BA7-47C3-9279-9CD2E11651BD}" type="pres">
      <dgm:prSet presAssocID="{0D28A3D3-7DB6-4902-858F-A172DC98B664}" presName="spV" presStyleCnt="0"/>
      <dgm:spPr/>
    </dgm:pt>
    <dgm:pt modelId="{D94A14CD-EC26-4906-992D-42BA2CB2166F}" type="pres">
      <dgm:prSet presAssocID="{C56BD60C-508A-4605-818C-D7D62102F91D}" presName="linNode" presStyleCnt="0"/>
      <dgm:spPr/>
    </dgm:pt>
    <dgm:pt modelId="{7105538E-A824-44B9-B07E-D7A447862E3E}" type="pres">
      <dgm:prSet presAssocID="{C56BD60C-508A-4605-818C-D7D62102F91D}" presName="parTx" presStyleLbl="revTx" presStyleIdx="2" presStyleCnt="3">
        <dgm:presLayoutVars>
          <dgm:chMax val="1"/>
          <dgm:bulletEnabled val="1"/>
        </dgm:presLayoutVars>
      </dgm:prSet>
      <dgm:spPr/>
    </dgm:pt>
    <dgm:pt modelId="{3784E0A8-605C-45D2-ABCA-3C6A7613B588}" type="pres">
      <dgm:prSet presAssocID="{C56BD60C-508A-4605-818C-D7D62102F91D}" presName="bracket" presStyleLbl="parChTrans1D1" presStyleIdx="2" presStyleCnt="3"/>
      <dgm:spPr/>
    </dgm:pt>
    <dgm:pt modelId="{9770D439-7B03-4A1E-9C71-9935DBA66E80}" type="pres">
      <dgm:prSet presAssocID="{C56BD60C-508A-4605-818C-D7D62102F91D}" presName="spH" presStyleCnt="0"/>
      <dgm:spPr/>
    </dgm:pt>
    <dgm:pt modelId="{F865A8D4-872A-45D3-A5ED-CBF2B59520D2}" type="pres">
      <dgm:prSet presAssocID="{C56BD60C-508A-4605-818C-D7D62102F91D}" presName="desTx" presStyleLbl="node1" presStyleIdx="2" presStyleCnt="3">
        <dgm:presLayoutVars>
          <dgm:bulletEnabled val="1"/>
        </dgm:presLayoutVars>
      </dgm:prSet>
      <dgm:spPr/>
    </dgm:pt>
  </dgm:ptLst>
  <dgm:cxnLst>
    <dgm:cxn modelId="{6419C108-1BFD-4357-8F74-9CFD30445EEA}" type="presOf" srcId="{D5803C6A-60D9-47D8-BA1E-141F9FC60DD8}" destId="{F2AAA386-3640-4E7E-941C-E6A18C795048}" srcOrd="0" destOrd="0" presId="urn:diagrams.loki3.com/BracketList+Icon"/>
    <dgm:cxn modelId="{412B620C-225A-4D83-B46D-81B8F9013C5A}" type="presOf" srcId="{C56BD60C-508A-4605-818C-D7D62102F91D}" destId="{7105538E-A824-44B9-B07E-D7A447862E3E}" srcOrd="0" destOrd="0" presId="urn:diagrams.loki3.com/BracketList+Icon"/>
    <dgm:cxn modelId="{B09B6A3E-7992-41FD-808E-0116628AA87D}" type="presOf" srcId="{6B4FC315-B934-4D09-8007-01982666BB68}" destId="{2C00D55D-63E1-4FFA-AA98-C4AEE3522880}" srcOrd="0" destOrd="0" presId="urn:diagrams.loki3.com/BracketList+Icon"/>
    <dgm:cxn modelId="{7A11535B-750D-4DB2-844C-19E5790366FB}" srcId="{D5803C6A-60D9-47D8-BA1E-141F9FC60DD8}" destId="{6B4FC315-B934-4D09-8007-01982666BB68}" srcOrd="0" destOrd="0" parTransId="{D407B268-CCFE-4ADA-B23F-8BA6AC8C2A01}" sibTransId="{52DFD916-9D5E-481E-A448-DFCB94B8A588}"/>
    <dgm:cxn modelId="{F292115D-54EC-42B7-8CCD-0FC41EF4D176}" type="presOf" srcId="{8CB00364-A8E3-4AC6-BBF0-9AD8ED4DEA18}" destId="{D98C2E85-60EA-43FC-A985-82FCACF9EEB7}" srcOrd="0" destOrd="0" presId="urn:diagrams.loki3.com/BracketList+Icon"/>
    <dgm:cxn modelId="{BDD84D5D-D3CE-437A-93FD-03AEECDFAB6F}" srcId="{3C2801C5-5995-444E-B176-4E57A569CC3B}" destId="{C56BD60C-508A-4605-818C-D7D62102F91D}" srcOrd="2" destOrd="0" parTransId="{B51E4A4D-B404-4828-A82F-20897ADA42A9}" sibTransId="{DE9C8DD5-2206-4FF7-B5C1-2EF18DC63F91}"/>
    <dgm:cxn modelId="{A4210568-4A26-43AF-8CFD-3A15A5DC81FF}" srcId="{8CB00364-A8E3-4AC6-BBF0-9AD8ED4DEA18}" destId="{B2953109-4A81-4899-A230-F46BDD6F6D8E}" srcOrd="0" destOrd="0" parTransId="{8A543173-4FCF-4F5A-9E62-6AA8F7187663}" sibTransId="{E65CA24F-E211-46F1-9DBE-FD526FD3D87A}"/>
    <dgm:cxn modelId="{73759548-9FE5-4291-8F13-50AC6E4218B7}" type="presOf" srcId="{B2953109-4A81-4899-A230-F46BDD6F6D8E}" destId="{A7677D8B-C938-4225-8229-8FC55A4CED8C}" srcOrd="0" destOrd="0" presId="urn:diagrams.loki3.com/BracketList+Icon"/>
    <dgm:cxn modelId="{1B261D7B-1DE8-452F-A469-7DEB2038A41A}" srcId="{3C2801C5-5995-444E-B176-4E57A569CC3B}" destId="{D5803C6A-60D9-47D8-BA1E-141F9FC60DD8}" srcOrd="0" destOrd="0" parTransId="{32916B6B-73FE-4928-AF35-26BAFD8415E1}" sibTransId="{80775DE8-62F3-499C-9810-9AC4EBEE79F8}"/>
    <dgm:cxn modelId="{E1CD23B5-06A9-465A-B687-57F730133753}" type="presOf" srcId="{3C2801C5-5995-444E-B176-4E57A569CC3B}" destId="{CE0B820C-9509-4403-94A7-E6BA00861A38}" srcOrd="0" destOrd="0" presId="urn:diagrams.loki3.com/BracketList+Icon"/>
    <dgm:cxn modelId="{C880EBB6-3AFB-44B0-8DDE-3EF8CD930FB2}" srcId="{3C2801C5-5995-444E-B176-4E57A569CC3B}" destId="{8CB00364-A8E3-4AC6-BBF0-9AD8ED4DEA18}" srcOrd="1" destOrd="0" parTransId="{F8467BB9-C2DE-42E3-9AE4-B1B90D53A419}" sibTransId="{0D28A3D3-7DB6-4902-858F-A172DC98B664}"/>
    <dgm:cxn modelId="{C09B64B9-ADB6-42C8-90C7-014213709FED}" srcId="{C56BD60C-508A-4605-818C-D7D62102F91D}" destId="{7BF28899-B1C2-40AE-A656-B6749DBEA2EA}" srcOrd="0" destOrd="0" parTransId="{3953340B-FA2C-400C-9638-6AF6B3555725}" sibTransId="{71E7EB96-0E26-4B74-B1C6-D6A6A79AF84C}"/>
    <dgm:cxn modelId="{0B764BF7-8099-402C-A1D6-F01325A7A98E}" type="presOf" srcId="{7BF28899-B1C2-40AE-A656-B6749DBEA2EA}" destId="{F865A8D4-872A-45D3-A5ED-CBF2B59520D2}" srcOrd="0" destOrd="0" presId="urn:diagrams.loki3.com/BracketList+Icon"/>
    <dgm:cxn modelId="{782D13F8-B7AF-4F2B-9729-BE22FD85EF27}" type="presParOf" srcId="{CE0B820C-9509-4403-94A7-E6BA00861A38}" destId="{FD81FA8D-2FDC-44E7-8B37-056D7CDB1874}" srcOrd="0" destOrd="0" presId="urn:diagrams.loki3.com/BracketList+Icon"/>
    <dgm:cxn modelId="{4E99B4D9-1965-49F6-8DAB-776DFD35A93C}" type="presParOf" srcId="{FD81FA8D-2FDC-44E7-8B37-056D7CDB1874}" destId="{F2AAA386-3640-4E7E-941C-E6A18C795048}" srcOrd="0" destOrd="0" presId="urn:diagrams.loki3.com/BracketList+Icon"/>
    <dgm:cxn modelId="{D0228A74-298D-4322-99C8-E08FC87A648E}" type="presParOf" srcId="{FD81FA8D-2FDC-44E7-8B37-056D7CDB1874}" destId="{ACB7A8DB-5852-4BA7-BE32-FE10B5D8289F}" srcOrd="1" destOrd="0" presId="urn:diagrams.loki3.com/BracketList+Icon"/>
    <dgm:cxn modelId="{9B5E8D0D-5339-407B-86F2-B8CBCBFC137D}" type="presParOf" srcId="{FD81FA8D-2FDC-44E7-8B37-056D7CDB1874}" destId="{88E82028-1C9F-4CCC-B4E6-B40F0592C195}" srcOrd="2" destOrd="0" presId="urn:diagrams.loki3.com/BracketList+Icon"/>
    <dgm:cxn modelId="{ED5BFAD2-2084-4246-A534-31BE2B53B102}" type="presParOf" srcId="{FD81FA8D-2FDC-44E7-8B37-056D7CDB1874}" destId="{2C00D55D-63E1-4FFA-AA98-C4AEE3522880}" srcOrd="3" destOrd="0" presId="urn:diagrams.loki3.com/BracketList+Icon"/>
    <dgm:cxn modelId="{FCF4F556-43ED-4797-91F9-931FFA04D978}" type="presParOf" srcId="{CE0B820C-9509-4403-94A7-E6BA00861A38}" destId="{A56299F3-CE03-48B6-BE12-0F574182D25D}" srcOrd="1" destOrd="0" presId="urn:diagrams.loki3.com/BracketList+Icon"/>
    <dgm:cxn modelId="{82C59963-6B42-49AD-9BEF-AC010D27C7F0}" type="presParOf" srcId="{CE0B820C-9509-4403-94A7-E6BA00861A38}" destId="{2FF46DDD-4374-42C4-9CA0-6698DE9890AD}" srcOrd="2" destOrd="0" presId="urn:diagrams.loki3.com/BracketList+Icon"/>
    <dgm:cxn modelId="{D42A9763-0240-4349-A6C2-ED9CEC4C6C87}" type="presParOf" srcId="{2FF46DDD-4374-42C4-9CA0-6698DE9890AD}" destId="{D98C2E85-60EA-43FC-A985-82FCACF9EEB7}" srcOrd="0" destOrd="0" presId="urn:diagrams.loki3.com/BracketList+Icon"/>
    <dgm:cxn modelId="{B604B13F-CA1B-4537-BC0A-5C2930E2A2C1}" type="presParOf" srcId="{2FF46DDD-4374-42C4-9CA0-6698DE9890AD}" destId="{894E70CA-0D34-4A07-8394-D4A64699FCD1}" srcOrd="1" destOrd="0" presId="urn:diagrams.loki3.com/BracketList+Icon"/>
    <dgm:cxn modelId="{6C0F0A6C-7B68-460E-959F-53C7454B1377}" type="presParOf" srcId="{2FF46DDD-4374-42C4-9CA0-6698DE9890AD}" destId="{A783E4E1-19BC-4EEB-8256-AB2BC2D7584C}" srcOrd="2" destOrd="0" presId="urn:diagrams.loki3.com/BracketList+Icon"/>
    <dgm:cxn modelId="{64BB93B0-0C27-4A16-88E0-875AD97D4510}" type="presParOf" srcId="{2FF46DDD-4374-42C4-9CA0-6698DE9890AD}" destId="{A7677D8B-C938-4225-8229-8FC55A4CED8C}" srcOrd="3" destOrd="0" presId="urn:diagrams.loki3.com/BracketList+Icon"/>
    <dgm:cxn modelId="{E42AC5FE-82C5-47E5-B4E0-D465ED2177E6}" type="presParOf" srcId="{CE0B820C-9509-4403-94A7-E6BA00861A38}" destId="{9AEE8D02-7BA7-47C3-9279-9CD2E11651BD}" srcOrd="3" destOrd="0" presId="urn:diagrams.loki3.com/BracketList+Icon"/>
    <dgm:cxn modelId="{BD239DEE-1C8D-40D8-92C4-ECB48776D93D}" type="presParOf" srcId="{CE0B820C-9509-4403-94A7-E6BA00861A38}" destId="{D94A14CD-EC26-4906-992D-42BA2CB2166F}" srcOrd="4" destOrd="0" presId="urn:diagrams.loki3.com/BracketList+Icon"/>
    <dgm:cxn modelId="{F2DD160D-993F-4F33-9394-E16BD60BC4AB}" type="presParOf" srcId="{D94A14CD-EC26-4906-992D-42BA2CB2166F}" destId="{7105538E-A824-44B9-B07E-D7A447862E3E}" srcOrd="0" destOrd="0" presId="urn:diagrams.loki3.com/BracketList+Icon"/>
    <dgm:cxn modelId="{139FD004-7D26-4171-B794-A58EC4A53B9B}" type="presParOf" srcId="{D94A14CD-EC26-4906-992D-42BA2CB2166F}" destId="{3784E0A8-605C-45D2-ABCA-3C6A7613B588}" srcOrd="1" destOrd="0" presId="urn:diagrams.loki3.com/BracketList+Icon"/>
    <dgm:cxn modelId="{C47E8D00-D3FE-4169-8A84-330445F48138}" type="presParOf" srcId="{D94A14CD-EC26-4906-992D-42BA2CB2166F}" destId="{9770D439-7B03-4A1E-9C71-9935DBA66E80}" srcOrd="2" destOrd="0" presId="urn:diagrams.loki3.com/BracketList+Icon"/>
    <dgm:cxn modelId="{8E271DAD-8E86-4861-BAF2-468D321F54A4}" type="presParOf" srcId="{D94A14CD-EC26-4906-992D-42BA2CB2166F}" destId="{F865A8D4-872A-45D3-A5ED-CBF2B59520D2}" srcOrd="3" destOrd="0" presId="urn:diagrams.loki3.com/BracketLis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A9F289A-7E80-4309-BA78-73D323B0BE13}" type="doc">
      <dgm:prSet loTypeId="urn:microsoft.com/office/officeart/2005/8/layout/hProcess9" loCatId="process" qsTypeId="urn:microsoft.com/office/officeart/2005/8/quickstyle/3d1" qsCatId="3D" csTypeId="urn:microsoft.com/office/officeart/2005/8/colors/accent0_3" csCatId="mainScheme" phldr="1"/>
      <dgm:spPr/>
      <dgm:t>
        <a:bodyPr/>
        <a:lstStyle/>
        <a:p>
          <a:endParaRPr lang="en-GB"/>
        </a:p>
      </dgm:t>
    </dgm:pt>
    <dgm:pt modelId="{9C821340-FAB0-4190-A029-10A7C0792749}">
      <dgm:prSet custT="1"/>
      <dgm:spPr/>
      <dgm:t>
        <a:bodyPr/>
        <a:lstStyle/>
        <a:p>
          <a:pPr rtl="0"/>
          <a:r>
            <a:rPr lang="en-US" sz="1800"/>
            <a:t>Define the multiple</a:t>
          </a:r>
          <a:endParaRPr lang="en-GB" sz="1800"/>
        </a:p>
      </dgm:t>
    </dgm:pt>
    <dgm:pt modelId="{503EB14D-6F06-4ECE-887D-D7AFE78C39B4}" type="parTrans" cxnId="{894E0B9D-B337-463F-9C0B-799DB42A12DF}">
      <dgm:prSet/>
      <dgm:spPr/>
      <dgm:t>
        <a:bodyPr/>
        <a:lstStyle/>
        <a:p>
          <a:endParaRPr lang="en-GB" sz="2000"/>
        </a:p>
      </dgm:t>
    </dgm:pt>
    <dgm:pt modelId="{577C05BF-47E1-4124-A587-83260BDD2DD2}" type="sibTrans" cxnId="{894E0B9D-B337-463F-9C0B-799DB42A12DF}">
      <dgm:prSet/>
      <dgm:spPr/>
      <dgm:t>
        <a:bodyPr/>
        <a:lstStyle/>
        <a:p>
          <a:endParaRPr lang="en-GB" sz="2000"/>
        </a:p>
      </dgm:t>
    </dgm:pt>
    <dgm:pt modelId="{1AA0C7B6-BC3D-4711-A134-3FE9BCEEA1F2}">
      <dgm:prSet custT="1"/>
      <dgm:spPr/>
      <dgm:t>
        <a:bodyPr/>
        <a:lstStyle/>
        <a:p>
          <a:pPr rtl="0"/>
          <a:r>
            <a:rPr lang="en-US" sz="1400" dirty="0"/>
            <a:t>Check for consistency</a:t>
          </a:r>
          <a:endParaRPr lang="en-GB" sz="1400" dirty="0"/>
        </a:p>
      </dgm:t>
    </dgm:pt>
    <dgm:pt modelId="{D3CFC55F-46EE-48E0-88AC-74374037CBEA}" type="parTrans" cxnId="{FE050336-FC92-47F5-88C6-F9CEA9FFD009}">
      <dgm:prSet/>
      <dgm:spPr/>
      <dgm:t>
        <a:bodyPr/>
        <a:lstStyle/>
        <a:p>
          <a:endParaRPr lang="en-GB" sz="2000"/>
        </a:p>
      </dgm:t>
    </dgm:pt>
    <dgm:pt modelId="{BBDEB42E-70F2-4A3E-9D55-A9A0EB3DA3CC}" type="sibTrans" cxnId="{FE050336-FC92-47F5-88C6-F9CEA9FFD009}">
      <dgm:prSet/>
      <dgm:spPr/>
      <dgm:t>
        <a:bodyPr/>
        <a:lstStyle/>
        <a:p>
          <a:endParaRPr lang="en-GB" sz="2000"/>
        </a:p>
      </dgm:t>
    </dgm:pt>
    <dgm:pt modelId="{87A88DAF-5F6E-4AE6-8A62-D5D68A7906C3}">
      <dgm:prSet custT="1"/>
      <dgm:spPr/>
      <dgm:t>
        <a:bodyPr/>
        <a:lstStyle/>
        <a:p>
          <a:pPr rtl="0"/>
          <a:r>
            <a:rPr lang="en-US" sz="1400" dirty="0"/>
            <a:t>Uniformly estimated</a:t>
          </a:r>
          <a:endParaRPr lang="en-GB" sz="1400" dirty="0"/>
        </a:p>
      </dgm:t>
    </dgm:pt>
    <dgm:pt modelId="{2D9F425D-C60A-4C64-A826-E4517A997A22}" type="parTrans" cxnId="{C96FEF33-28C6-42F9-8F68-65C45132EFD5}">
      <dgm:prSet/>
      <dgm:spPr/>
      <dgm:t>
        <a:bodyPr/>
        <a:lstStyle/>
        <a:p>
          <a:endParaRPr lang="en-GB" sz="2000"/>
        </a:p>
      </dgm:t>
    </dgm:pt>
    <dgm:pt modelId="{34AB4946-BA59-4996-81A5-6F4CA3A623C6}" type="sibTrans" cxnId="{C96FEF33-28C6-42F9-8F68-65C45132EFD5}">
      <dgm:prSet/>
      <dgm:spPr/>
      <dgm:t>
        <a:bodyPr/>
        <a:lstStyle/>
        <a:p>
          <a:endParaRPr lang="en-GB" sz="2000"/>
        </a:p>
      </dgm:t>
    </dgm:pt>
    <dgm:pt modelId="{83CB6C24-514A-4829-8C39-A465B7E9D63A}">
      <dgm:prSet custT="1"/>
      <dgm:spPr/>
      <dgm:t>
        <a:bodyPr/>
        <a:lstStyle/>
        <a:p>
          <a:pPr rtl="0"/>
          <a:r>
            <a:rPr lang="en-US" sz="1800"/>
            <a:t>Describe the multiple</a:t>
          </a:r>
          <a:endParaRPr lang="en-GB" sz="1800"/>
        </a:p>
      </dgm:t>
    </dgm:pt>
    <dgm:pt modelId="{A5C432A3-65DC-4DA4-83BC-4799347A82CE}" type="parTrans" cxnId="{EFB1AE29-EBF2-4804-B809-5F7AE9C68C3C}">
      <dgm:prSet/>
      <dgm:spPr/>
      <dgm:t>
        <a:bodyPr/>
        <a:lstStyle/>
        <a:p>
          <a:endParaRPr lang="en-GB" sz="2000"/>
        </a:p>
      </dgm:t>
    </dgm:pt>
    <dgm:pt modelId="{301A64F6-F007-49FE-B0F1-803AD6880D0A}" type="sibTrans" cxnId="{EFB1AE29-EBF2-4804-B809-5F7AE9C68C3C}">
      <dgm:prSet/>
      <dgm:spPr/>
      <dgm:t>
        <a:bodyPr/>
        <a:lstStyle/>
        <a:p>
          <a:endParaRPr lang="en-GB" sz="2000"/>
        </a:p>
      </dgm:t>
    </dgm:pt>
    <dgm:pt modelId="{36D40517-1F11-42A5-8A88-7FDA92C33A55}">
      <dgm:prSet custT="1"/>
      <dgm:spPr/>
      <dgm:t>
        <a:bodyPr/>
        <a:lstStyle/>
        <a:p>
          <a:pPr rtl="0"/>
          <a:r>
            <a:rPr lang="en-US" sz="1400" dirty="0"/>
            <a:t>Skewed distributions and Averages</a:t>
          </a:r>
          <a:endParaRPr lang="en-GB" sz="1400" dirty="0"/>
        </a:p>
      </dgm:t>
    </dgm:pt>
    <dgm:pt modelId="{185D2132-CF0E-4CA4-9182-CF0B13000754}" type="parTrans" cxnId="{DA206E20-2CEC-4880-BD56-748D5D1182FD}">
      <dgm:prSet/>
      <dgm:spPr/>
      <dgm:t>
        <a:bodyPr/>
        <a:lstStyle/>
        <a:p>
          <a:endParaRPr lang="en-GB" sz="2000"/>
        </a:p>
      </dgm:t>
    </dgm:pt>
    <dgm:pt modelId="{402761CB-092D-48A3-90ED-8839F0BC195F}" type="sibTrans" cxnId="{DA206E20-2CEC-4880-BD56-748D5D1182FD}">
      <dgm:prSet/>
      <dgm:spPr/>
      <dgm:t>
        <a:bodyPr/>
        <a:lstStyle/>
        <a:p>
          <a:endParaRPr lang="en-GB" sz="2000"/>
        </a:p>
      </dgm:t>
    </dgm:pt>
    <dgm:pt modelId="{741AADA4-507A-4F83-9495-DC12BA32B40D}">
      <dgm:prSet custT="1"/>
      <dgm:spPr/>
      <dgm:t>
        <a:bodyPr/>
        <a:lstStyle/>
        <a:p>
          <a:pPr rtl="0"/>
          <a:r>
            <a:rPr lang="en-US" sz="1400" dirty="0"/>
            <a:t>Check for bias and correct and/ or normalize</a:t>
          </a:r>
          <a:endParaRPr lang="en-GB" sz="1400" dirty="0"/>
        </a:p>
      </dgm:t>
    </dgm:pt>
    <dgm:pt modelId="{2D576A7A-FE7B-4620-93E3-6C114A68C493}" type="parTrans" cxnId="{B60B973E-3D34-49EF-ABB7-72AD43A6F3EF}">
      <dgm:prSet/>
      <dgm:spPr/>
      <dgm:t>
        <a:bodyPr/>
        <a:lstStyle/>
        <a:p>
          <a:endParaRPr lang="en-GB" sz="2000"/>
        </a:p>
      </dgm:t>
    </dgm:pt>
    <dgm:pt modelId="{A80B92FF-F32F-4621-B990-139A6C0178F7}" type="sibTrans" cxnId="{B60B973E-3D34-49EF-ABB7-72AD43A6F3EF}">
      <dgm:prSet/>
      <dgm:spPr/>
      <dgm:t>
        <a:bodyPr/>
        <a:lstStyle/>
        <a:p>
          <a:endParaRPr lang="en-GB" sz="2000"/>
        </a:p>
      </dgm:t>
    </dgm:pt>
    <dgm:pt modelId="{6982EF98-B256-435B-ADDA-61BFBE347D31}">
      <dgm:prSet custT="1"/>
      <dgm:spPr/>
      <dgm:t>
        <a:bodyPr/>
        <a:lstStyle/>
        <a:p>
          <a:pPr rtl="0"/>
          <a:r>
            <a:rPr lang="en-US" sz="1800"/>
            <a:t>Analyze the multiple</a:t>
          </a:r>
          <a:endParaRPr lang="en-GB" sz="1800"/>
        </a:p>
      </dgm:t>
    </dgm:pt>
    <dgm:pt modelId="{F26A5391-8D6D-4070-94F3-D1E352A5958B}" type="parTrans" cxnId="{E54E4C3A-41E1-4AE0-8FAC-E2C245C3B40C}">
      <dgm:prSet/>
      <dgm:spPr/>
      <dgm:t>
        <a:bodyPr/>
        <a:lstStyle/>
        <a:p>
          <a:endParaRPr lang="en-GB" sz="2000"/>
        </a:p>
      </dgm:t>
    </dgm:pt>
    <dgm:pt modelId="{274A9302-A603-4E79-8556-3BA1FCB30CA1}" type="sibTrans" cxnId="{E54E4C3A-41E1-4AE0-8FAC-E2C245C3B40C}">
      <dgm:prSet/>
      <dgm:spPr/>
      <dgm:t>
        <a:bodyPr/>
        <a:lstStyle/>
        <a:p>
          <a:endParaRPr lang="en-GB" sz="2000"/>
        </a:p>
      </dgm:t>
    </dgm:pt>
    <dgm:pt modelId="{FFE7FF81-75FC-4CB5-AFC9-8D31E35AD788}">
      <dgm:prSet custT="1"/>
      <dgm:spPr/>
      <dgm:t>
        <a:bodyPr/>
        <a:lstStyle/>
        <a:p>
          <a:pPr rtl="0"/>
          <a:r>
            <a:rPr lang="en-US" sz="1400" dirty="0"/>
            <a:t>Identify the determinants of the multiple</a:t>
          </a:r>
          <a:endParaRPr lang="en-GB" sz="1400" dirty="0"/>
        </a:p>
      </dgm:t>
    </dgm:pt>
    <dgm:pt modelId="{58065160-B02F-44B6-B67C-4CB79882E934}" type="parTrans" cxnId="{A9F4325D-0CB4-4CE3-8DB7-9E7B2CD79F14}">
      <dgm:prSet/>
      <dgm:spPr/>
      <dgm:t>
        <a:bodyPr/>
        <a:lstStyle/>
        <a:p>
          <a:endParaRPr lang="en-GB" sz="2000"/>
        </a:p>
      </dgm:t>
    </dgm:pt>
    <dgm:pt modelId="{6FA3A4CC-A246-4744-82F2-5F8B3FBA5348}" type="sibTrans" cxnId="{A9F4325D-0CB4-4CE3-8DB7-9E7B2CD79F14}">
      <dgm:prSet/>
      <dgm:spPr/>
      <dgm:t>
        <a:bodyPr/>
        <a:lstStyle/>
        <a:p>
          <a:endParaRPr lang="en-GB" sz="2000"/>
        </a:p>
      </dgm:t>
    </dgm:pt>
    <dgm:pt modelId="{6996B070-75DD-4F2E-BD39-833769A977EC}">
      <dgm:prSet custT="1"/>
      <dgm:spPr/>
      <dgm:t>
        <a:bodyPr/>
        <a:lstStyle/>
        <a:p>
          <a:pPr rtl="0"/>
          <a:r>
            <a:rPr lang="en-US" sz="1400" dirty="0"/>
            <a:t>Nature of the relationship</a:t>
          </a:r>
          <a:endParaRPr lang="en-GB" sz="1400" dirty="0"/>
        </a:p>
      </dgm:t>
    </dgm:pt>
    <dgm:pt modelId="{2D946C8A-FF97-4659-B404-CD879EA4E170}" type="parTrans" cxnId="{B88108BA-27EE-4A6F-AFFA-E0EC4873802D}">
      <dgm:prSet/>
      <dgm:spPr/>
      <dgm:t>
        <a:bodyPr/>
        <a:lstStyle/>
        <a:p>
          <a:endParaRPr lang="en-GB" sz="2000"/>
        </a:p>
      </dgm:t>
    </dgm:pt>
    <dgm:pt modelId="{2CFB8AAA-A2B5-482E-9BA3-8B3E347C3813}" type="sibTrans" cxnId="{B88108BA-27EE-4A6F-AFFA-E0EC4873802D}">
      <dgm:prSet/>
      <dgm:spPr/>
      <dgm:t>
        <a:bodyPr/>
        <a:lstStyle/>
        <a:p>
          <a:endParaRPr lang="en-GB" sz="2000"/>
        </a:p>
      </dgm:t>
    </dgm:pt>
    <dgm:pt modelId="{A2B9DFE9-0F6A-4133-BB56-CD2C43032EA1}">
      <dgm:prSet custT="1"/>
      <dgm:spPr/>
      <dgm:t>
        <a:bodyPr/>
        <a:lstStyle/>
        <a:p>
          <a:pPr rtl="0"/>
          <a:r>
            <a:rPr lang="en-US" sz="1800"/>
            <a:t>Apply the multiple</a:t>
          </a:r>
          <a:endParaRPr lang="en-GB" sz="1800"/>
        </a:p>
      </dgm:t>
    </dgm:pt>
    <dgm:pt modelId="{21B47FF3-EDD3-494C-AC97-6A4EEDB95418}" type="parTrans" cxnId="{79A7D76C-079D-4842-A3E8-DEA419C1C466}">
      <dgm:prSet/>
      <dgm:spPr/>
      <dgm:t>
        <a:bodyPr/>
        <a:lstStyle/>
        <a:p>
          <a:endParaRPr lang="en-GB" sz="2000"/>
        </a:p>
      </dgm:t>
    </dgm:pt>
    <dgm:pt modelId="{9A0C3C58-A4F8-4C82-9492-8A9B01D6BEA4}" type="sibTrans" cxnId="{79A7D76C-079D-4842-A3E8-DEA419C1C466}">
      <dgm:prSet/>
      <dgm:spPr/>
      <dgm:t>
        <a:bodyPr/>
        <a:lstStyle/>
        <a:p>
          <a:endParaRPr lang="en-GB" sz="2000"/>
        </a:p>
      </dgm:t>
    </dgm:pt>
    <dgm:pt modelId="{E4CDB338-EBE6-4E1A-A1AF-404E0DEFB70B}" type="pres">
      <dgm:prSet presAssocID="{3A9F289A-7E80-4309-BA78-73D323B0BE13}" presName="CompostProcess" presStyleCnt="0">
        <dgm:presLayoutVars>
          <dgm:dir/>
          <dgm:resizeHandles val="exact"/>
        </dgm:presLayoutVars>
      </dgm:prSet>
      <dgm:spPr/>
    </dgm:pt>
    <dgm:pt modelId="{644FC8FE-C1AD-4A5F-AFAB-61FCF3FA17C3}" type="pres">
      <dgm:prSet presAssocID="{3A9F289A-7E80-4309-BA78-73D323B0BE13}" presName="arrow" presStyleLbl="bgShp" presStyleIdx="0" presStyleCnt="1"/>
      <dgm:spPr/>
    </dgm:pt>
    <dgm:pt modelId="{73FD0C2A-9AC6-4969-80BA-6B8DEE60FE8C}" type="pres">
      <dgm:prSet presAssocID="{3A9F289A-7E80-4309-BA78-73D323B0BE13}" presName="linearProcess" presStyleCnt="0"/>
      <dgm:spPr/>
    </dgm:pt>
    <dgm:pt modelId="{AE41E6C9-AF7C-4A8B-AC91-BE89047C5EE9}" type="pres">
      <dgm:prSet presAssocID="{9C821340-FAB0-4190-A029-10A7C0792749}" presName="textNode" presStyleLbl="node1" presStyleIdx="0" presStyleCnt="4" custScaleY="128049">
        <dgm:presLayoutVars>
          <dgm:bulletEnabled val="1"/>
        </dgm:presLayoutVars>
      </dgm:prSet>
      <dgm:spPr/>
    </dgm:pt>
    <dgm:pt modelId="{098CCB68-315F-4944-B866-280D33BCED95}" type="pres">
      <dgm:prSet presAssocID="{577C05BF-47E1-4124-A587-83260BDD2DD2}" presName="sibTrans" presStyleCnt="0"/>
      <dgm:spPr/>
    </dgm:pt>
    <dgm:pt modelId="{19612188-5A77-4DAA-8B53-9A633509D9D5}" type="pres">
      <dgm:prSet presAssocID="{83CB6C24-514A-4829-8C39-A465B7E9D63A}" presName="textNode" presStyleLbl="node1" presStyleIdx="1" presStyleCnt="4" custScaleY="128049">
        <dgm:presLayoutVars>
          <dgm:bulletEnabled val="1"/>
        </dgm:presLayoutVars>
      </dgm:prSet>
      <dgm:spPr/>
    </dgm:pt>
    <dgm:pt modelId="{4C1E7C75-EA02-45D2-9B0A-0F439B79470B}" type="pres">
      <dgm:prSet presAssocID="{301A64F6-F007-49FE-B0F1-803AD6880D0A}" presName="sibTrans" presStyleCnt="0"/>
      <dgm:spPr/>
    </dgm:pt>
    <dgm:pt modelId="{138EE3C7-0BD2-43DA-A58B-EE55950A4D54}" type="pres">
      <dgm:prSet presAssocID="{6982EF98-B256-435B-ADDA-61BFBE347D31}" presName="textNode" presStyleLbl="node1" presStyleIdx="2" presStyleCnt="4" custScaleY="128049">
        <dgm:presLayoutVars>
          <dgm:bulletEnabled val="1"/>
        </dgm:presLayoutVars>
      </dgm:prSet>
      <dgm:spPr/>
    </dgm:pt>
    <dgm:pt modelId="{C0B7A619-53C2-4063-8F04-57E01C552AC9}" type="pres">
      <dgm:prSet presAssocID="{274A9302-A603-4E79-8556-3BA1FCB30CA1}" presName="sibTrans" presStyleCnt="0"/>
      <dgm:spPr/>
    </dgm:pt>
    <dgm:pt modelId="{849FBAB5-A11B-4890-85EC-95566387D9E2}" type="pres">
      <dgm:prSet presAssocID="{A2B9DFE9-0F6A-4133-BB56-CD2C43032EA1}" presName="textNode" presStyleLbl="node1" presStyleIdx="3" presStyleCnt="4" custScaleY="128049">
        <dgm:presLayoutVars>
          <dgm:bulletEnabled val="1"/>
        </dgm:presLayoutVars>
      </dgm:prSet>
      <dgm:spPr/>
    </dgm:pt>
  </dgm:ptLst>
  <dgm:cxnLst>
    <dgm:cxn modelId="{F6AEB51B-94AB-4354-963C-E255F6FF5C87}" type="presOf" srcId="{6982EF98-B256-435B-ADDA-61BFBE347D31}" destId="{138EE3C7-0BD2-43DA-A58B-EE55950A4D54}" srcOrd="0" destOrd="0" presId="urn:microsoft.com/office/officeart/2005/8/layout/hProcess9"/>
    <dgm:cxn modelId="{DA206E20-2CEC-4880-BD56-748D5D1182FD}" srcId="{83CB6C24-514A-4829-8C39-A465B7E9D63A}" destId="{36D40517-1F11-42A5-8A88-7FDA92C33A55}" srcOrd="0" destOrd="0" parTransId="{185D2132-CF0E-4CA4-9182-CF0B13000754}" sibTransId="{402761CB-092D-48A3-90ED-8839F0BC195F}"/>
    <dgm:cxn modelId="{EFB1AE29-EBF2-4804-B809-5F7AE9C68C3C}" srcId="{3A9F289A-7E80-4309-BA78-73D323B0BE13}" destId="{83CB6C24-514A-4829-8C39-A465B7E9D63A}" srcOrd="1" destOrd="0" parTransId="{A5C432A3-65DC-4DA4-83BC-4799347A82CE}" sibTransId="{301A64F6-F007-49FE-B0F1-803AD6880D0A}"/>
    <dgm:cxn modelId="{C96FEF33-28C6-42F9-8F68-65C45132EFD5}" srcId="{9C821340-FAB0-4190-A029-10A7C0792749}" destId="{87A88DAF-5F6E-4AE6-8A62-D5D68A7906C3}" srcOrd="1" destOrd="0" parTransId="{2D9F425D-C60A-4C64-A826-E4517A997A22}" sibTransId="{34AB4946-BA59-4996-81A5-6F4CA3A623C6}"/>
    <dgm:cxn modelId="{FE050336-FC92-47F5-88C6-F9CEA9FFD009}" srcId="{9C821340-FAB0-4190-A029-10A7C0792749}" destId="{1AA0C7B6-BC3D-4711-A134-3FE9BCEEA1F2}" srcOrd="0" destOrd="0" parTransId="{D3CFC55F-46EE-48E0-88AC-74374037CBEA}" sibTransId="{BBDEB42E-70F2-4A3E-9D55-A9A0EB3DA3CC}"/>
    <dgm:cxn modelId="{E54E4C3A-41E1-4AE0-8FAC-E2C245C3B40C}" srcId="{3A9F289A-7E80-4309-BA78-73D323B0BE13}" destId="{6982EF98-B256-435B-ADDA-61BFBE347D31}" srcOrd="2" destOrd="0" parTransId="{F26A5391-8D6D-4070-94F3-D1E352A5958B}" sibTransId="{274A9302-A603-4E79-8556-3BA1FCB30CA1}"/>
    <dgm:cxn modelId="{B60B973E-3D34-49EF-ABB7-72AD43A6F3EF}" srcId="{83CB6C24-514A-4829-8C39-A465B7E9D63A}" destId="{741AADA4-507A-4F83-9495-DC12BA32B40D}" srcOrd="1" destOrd="0" parTransId="{2D576A7A-FE7B-4620-93E3-6C114A68C493}" sibTransId="{A80B92FF-F32F-4621-B990-139A6C0178F7}"/>
    <dgm:cxn modelId="{A9F4325D-0CB4-4CE3-8DB7-9E7B2CD79F14}" srcId="{6982EF98-B256-435B-ADDA-61BFBE347D31}" destId="{FFE7FF81-75FC-4CB5-AFC9-8D31E35AD788}" srcOrd="0" destOrd="0" parTransId="{58065160-B02F-44B6-B67C-4CB79882E934}" sibTransId="{6FA3A4CC-A246-4744-82F2-5F8B3FBA5348}"/>
    <dgm:cxn modelId="{79A7D76C-079D-4842-A3E8-DEA419C1C466}" srcId="{3A9F289A-7E80-4309-BA78-73D323B0BE13}" destId="{A2B9DFE9-0F6A-4133-BB56-CD2C43032EA1}" srcOrd="3" destOrd="0" parTransId="{21B47FF3-EDD3-494C-AC97-6A4EEDB95418}" sibTransId="{9A0C3C58-A4F8-4C82-9492-8A9B01D6BEA4}"/>
    <dgm:cxn modelId="{E8AB9385-F26C-415F-8091-B82368DBEC21}" type="presOf" srcId="{6996B070-75DD-4F2E-BD39-833769A977EC}" destId="{138EE3C7-0BD2-43DA-A58B-EE55950A4D54}" srcOrd="0" destOrd="2" presId="urn:microsoft.com/office/officeart/2005/8/layout/hProcess9"/>
    <dgm:cxn modelId="{4D3E828A-6A4A-442A-B431-80FE2BCC3302}" type="presOf" srcId="{36D40517-1F11-42A5-8A88-7FDA92C33A55}" destId="{19612188-5A77-4DAA-8B53-9A633509D9D5}" srcOrd="0" destOrd="1" presId="urn:microsoft.com/office/officeart/2005/8/layout/hProcess9"/>
    <dgm:cxn modelId="{5062B98B-FD62-42E2-9700-41B95A7094DA}" type="presOf" srcId="{83CB6C24-514A-4829-8C39-A465B7E9D63A}" destId="{19612188-5A77-4DAA-8B53-9A633509D9D5}" srcOrd="0" destOrd="0" presId="urn:microsoft.com/office/officeart/2005/8/layout/hProcess9"/>
    <dgm:cxn modelId="{6BA5119B-4BF9-42F2-8E95-0B6E7206D6C9}" type="presOf" srcId="{3A9F289A-7E80-4309-BA78-73D323B0BE13}" destId="{E4CDB338-EBE6-4E1A-A1AF-404E0DEFB70B}" srcOrd="0" destOrd="0" presId="urn:microsoft.com/office/officeart/2005/8/layout/hProcess9"/>
    <dgm:cxn modelId="{894E0B9D-B337-463F-9C0B-799DB42A12DF}" srcId="{3A9F289A-7E80-4309-BA78-73D323B0BE13}" destId="{9C821340-FAB0-4190-A029-10A7C0792749}" srcOrd="0" destOrd="0" parTransId="{503EB14D-6F06-4ECE-887D-D7AFE78C39B4}" sibTransId="{577C05BF-47E1-4124-A587-83260BDD2DD2}"/>
    <dgm:cxn modelId="{861FB0AD-47D7-4555-9A11-0DE49EF55FAB}" type="presOf" srcId="{1AA0C7B6-BC3D-4711-A134-3FE9BCEEA1F2}" destId="{AE41E6C9-AF7C-4A8B-AC91-BE89047C5EE9}" srcOrd="0" destOrd="1" presId="urn:microsoft.com/office/officeart/2005/8/layout/hProcess9"/>
    <dgm:cxn modelId="{B88108BA-27EE-4A6F-AFFA-E0EC4873802D}" srcId="{6982EF98-B256-435B-ADDA-61BFBE347D31}" destId="{6996B070-75DD-4F2E-BD39-833769A977EC}" srcOrd="1" destOrd="0" parTransId="{2D946C8A-FF97-4659-B404-CD879EA4E170}" sibTransId="{2CFB8AAA-A2B5-482E-9BA3-8B3E347C3813}"/>
    <dgm:cxn modelId="{E6DB8BD7-AF40-462C-80A8-72B669320BE8}" type="presOf" srcId="{FFE7FF81-75FC-4CB5-AFC9-8D31E35AD788}" destId="{138EE3C7-0BD2-43DA-A58B-EE55950A4D54}" srcOrd="0" destOrd="1" presId="urn:microsoft.com/office/officeart/2005/8/layout/hProcess9"/>
    <dgm:cxn modelId="{AFDFA2D8-5B42-4965-B8CD-8195D0731865}" type="presOf" srcId="{87A88DAF-5F6E-4AE6-8A62-D5D68A7906C3}" destId="{AE41E6C9-AF7C-4A8B-AC91-BE89047C5EE9}" srcOrd="0" destOrd="2" presId="urn:microsoft.com/office/officeart/2005/8/layout/hProcess9"/>
    <dgm:cxn modelId="{DB2F21EC-ECAA-4FF6-962F-41959C92D086}" type="presOf" srcId="{A2B9DFE9-0F6A-4133-BB56-CD2C43032EA1}" destId="{849FBAB5-A11B-4890-85EC-95566387D9E2}" srcOrd="0" destOrd="0" presId="urn:microsoft.com/office/officeart/2005/8/layout/hProcess9"/>
    <dgm:cxn modelId="{AB1A19EE-CC15-48D0-86F4-FF7CC2241D52}" type="presOf" srcId="{741AADA4-507A-4F83-9495-DC12BA32B40D}" destId="{19612188-5A77-4DAA-8B53-9A633509D9D5}" srcOrd="0" destOrd="2" presId="urn:microsoft.com/office/officeart/2005/8/layout/hProcess9"/>
    <dgm:cxn modelId="{63DC8BF0-03FA-4808-9D93-DF71E20A0658}" type="presOf" srcId="{9C821340-FAB0-4190-A029-10A7C0792749}" destId="{AE41E6C9-AF7C-4A8B-AC91-BE89047C5EE9}" srcOrd="0" destOrd="0" presId="urn:microsoft.com/office/officeart/2005/8/layout/hProcess9"/>
    <dgm:cxn modelId="{1838F5EF-00D0-408B-8B2E-AAD2F685FD56}" type="presParOf" srcId="{E4CDB338-EBE6-4E1A-A1AF-404E0DEFB70B}" destId="{644FC8FE-C1AD-4A5F-AFAB-61FCF3FA17C3}" srcOrd="0" destOrd="0" presId="urn:microsoft.com/office/officeart/2005/8/layout/hProcess9"/>
    <dgm:cxn modelId="{BDA2F6D5-62B5-440F-BE58-6FE2968ED728}" type="presParOf" srcId="{E4CDB338-EBE6-4E1A-A1AF-404E0DEFB70B}" destId="{73FD0C2A-9AC6-4969-80BA-6B8DEE60FE8C}" srcOrd="1" destOrd="0" presId="urn:microsoft.com/office/officeart/2005/8/layout/hProcess9"/>
    <dgm:cxn modelId="{C7C959E7-46EC-4494-AF65-0A7EE489A45D}" type="presParOf" srcId="{73FD0C2A-9AC6-4969-80BA-6B8DEE60FE8C}" destId="{AE41E6C9-AF7C-4A8B-AC91-BE89047C5EE9}" srcOrd="0" destOrd="0" presId="urn:microsoft.com/office/officeart/2005/8/layout/hProcess9"/>
    <dgm:cxn modelId="{09E728E3-5897-486C-9B08-4F9BDC5ED3EE}" type="presParOf" srcId="{73FD0C2A-9AC6-4969-80BA-6B8DEE60FE8C}" destId="{098CCB68-315F-4944-B866-280D33BCED95}" srcOrd="1" destOrd="0" presId="urn:microsoft.com/office/officeart/2005/8/layout/hProcess9"/>
    <dgm:cxn modelId="{2FFE7E2C-0306-4EA8-87D6-E156DB0DF40C}" type="presParOf" srcId="{73FD0C2A-9AC6-4969-80BA-6B8DEE60FE8C}" destId="{19612188-5A77-4DAA-8B53-9A633509D9D5}" srcOrd="2" destOrd="0" presId="urn:microsoft.com/office/officeart/2005/8/layout/hProcess9"/>
    <dgm:cxn modelId="{9C508580-E80F-4532-8D59-FE517240A11C}" type="presParOf" srcId="{73FD0C2A-9AC6-4969-80BA-6B8DEE60FE8C}" destId="{4C1E7C75-EA02-45D2-9B0A-0F439B79470B}" srcOrd="3" destOrd="0" presId="urn:microsoft.com/office/officeart/2005/8/layout/hProcess9"/>
    <dgm:cxn modelId="{E799D0E0-954E-4B12-B456-29EFC0CB8BA7}" type="presParOf" srcId="{73FD0C2A-9AC6-4969-80BA-6B8DEE60FE8C}" destId="{138EE3C7-0BD2-43DA-A58B-EE55950A4D54}" srcOrd="4" destOrd="0" presId="urn:microsoft.com/office/officeart/2005/8/layout/hProcess9"/>
    <dgm:cxn modelId="{B4F70609-18A3-438B-8B59-1082486E7802}" type="presParOf" srcId="{73FD0C2A-9AC6-4969-80BA-6B8DEE60FE8C}" destId="{C0B7A619-53C2-4063-8F04-57E01C552AC9}" srcOrd="5" destOrd="0" presId="urn:microsoft.com/office/officeart/2005/8/layout/hProcess9"/>
    <dgm:cxn modelId="{27C936A0-D196-4AE3-BDF3-36D2A64BD387}" type="presParOf" srcId="{73FD0C2A-9AC6-4969-80BA-6B8DEE60FE8C}" destId="{849FBAB5-A11B-4890-85EC-95566387D9E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E42009-7DC1-46D7-8FDA-92A7CB4B47A0}">
      <dsp:nvSpPr>
        <dsp:cNvPr id="0" name=""/>
        <dsp:cNvSpPr/>
      </dsp:nvSpPr>
      <dsp:spPr>
        <a:xfrm>
          <a:off x="0" y="12473"/>
          <a:ext cx="7403231" cy="103194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GB" sz="3600" kern="1200" dirty="0"/>
            <a:t>Discounted Cash Flows</a:t>
          </a:r>
        </a:p>
      </dsp:txBody>
      <dsp:txXfrm>
        <a:off x="50375" y="62848"/>
        <a:ext cx="7302481" cy="931190"/>
      </dsp:txXfrm>
    </dsp:sp>
    <dsp:sp modelId="{9E06FE03-3790-40A2-9B5C-6A3565832511}">
      <dsp:nvSpPr>
        <dsp:cNvPr id="0" name=""/>
        <dsp:cNvSpPr/>
      </dsp:nvSpPr>
      <dsp:spPr>
        <a:xfrm>
          <a:off x="0" y="1148093"/>
          <a:ext cx="7403231" cy="103194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GB" sz="3600" kern="1200" dirty="0"/>
            <a:t>Relative Valuation</a:t>
          </a:r>
        </a:p>
      </dsp:txBody>
      <dsp:txXfrm>
        <a:off x="50375" y="1198468"/>
        <a:ext cx="7302481" cy="931190"/>
      </dsp:txXfrm>
    </dsp:sp>
    <dsp:sp modelId="{453C8899-340E-42E8-928D-FCF254224BC5}">
      <dsp:nvSpPr>
        <dsp:cNvPr id="0" name=""/>
        <dsp:cNvSpPr/>
      </dsp:nvSpPr>
      <dsp:spPr>
        <a:xfrm>
          <a:off x="0" y="2180033"/>
          <a:ext cx="7403231" cy="2608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053" tIns="20320" rIns="113792" bIns="20320" numCol="1" spcCol="1270" anchor="t" anchorCtr="0">
          <a:noAutofit/>
        </a:bodyPr>
        <a:lstStyle/>
        <a:p>
          <a:pPr marL="171450" lvl="1" indent="-171450" algn="l" defTabSz="800100">
            <a:lnSpc>
              <a:spcPct val="90000"/>
            </a:lnSpc>
            <a:spcBef>
              <a:spcPct val="0"/>
            </a:spcBef>
            <a:spcAft>
              <a:spcPct val="20000"/>
            </a:spcAft>
            <a:buChar char="•"/>
          </a:pPr>
          <a:r>
            <a:rPr lang="en-GB" sz="1800" kern="1200" dirty="0"/>
            <a:t>Define a multiple</a:t>
          </a:r>
        </a:p>
        <a:p>
          <a:pPr marL="342900" lvl="2" indent="-171450" algn="l" defTabSz="711200">
            <a:lnSpc>
              <a:spcPct val="90000"/>
            </a:lnSpc>
            <a:spcBef>
              <a:spcPct val="0"/>
            </a:spcBef>
            <a:spcAft>
              <a:spcPct val="20000"/>
            </a:spcAft>
            <a:buChar char="•"/>
          </a:pPr>
          <a:r>
            <a:rPr lang="en-GB" sz="1600" kern="1200" dirty="0"/>
            <a:t>Earnings Multiple</a:t>
          </a:r>
        </a:p>
        <a:p>
          <a:pPr marL="342900" lvl="2" indent="-171450" algn="l" defTabSz="711200">
            <a:lnSpc>
              <a:spcPct val="90000"/>
            </a:lnSpc>
            <a:spcBef>
              <a:spcPct val="0"/>
            </a:spcBef>
            <a:spcAft>
              <a:spcPct val="20000"/>
            </a:spcAft>
            <a:buChar char="•"/>
          </a:pPr>
          <a:r>
            <a:rPr lang="en-GB" sz="1600" kern="1200" dirty="0"/>
            <a:t>Book Value Multiples</a:t>
          </a:r>
        </a:p>
        <a:p>
          <a:pPr marL="342900" lvl="2" indent="-171450" algn="l" defTabSz="711200">
            <a:lnSpc>
              <a:spcPct val="90000"/>
            </a:lnSpc>
            <a:spcBef>
              <a:spcPct val="0"/>
            </a:spcBef>
            <a:spcAft>
              <a:spcPct val="20000"/>
            </a:spcAft>
            <a:buChar char="•"/>
          </a:pPr>
          <a:r>
            <a:rPr lang="en-GB" sz="1600" kern="1200" dirty="0"/>
            <a:t>Revenues Multiple</a:t>
          </a:r>
        </a:p>
        <a:p>
          <a:pPr marL="171450" lvl="1" indent="-171450" algn="l" defTabSz="800100">
            <a:lnSpc>
              <a:spcPct val="90000"/>
            </a:lnSpc>
            <a:spcBef>
              <a:spcPct val="0"/>
            </a:spcBef>
            <a:spcAft>
              <a:spcPct val="20000"/>
            </a:spcAft>
            <a:buChar char="•"/>
          </a:pPr>
          <a:r>
            <a:rPr lang="en-GB" sz="1800" kern="1200" dirty="0"/>
            <a:t>Describe Multiple</a:t>
          </a:r>
        </a:p>
        <a:p>
          <a:pPr marL="171450" lvl="1" indent="-171450" algn="l" defTabSz="800100">
            <a:lnSpc>
              <a:spcPct val="90000"/>
            </a:lnSpc>
            <a:spcBef>
              <a:spcPct val="0"/>
            </a:spcBef>
            <a:spcAft>
              <a:spcPct val="20000"/>
            </a:spcAft>
            <a:buChar char="•"/>
          </a:pPr>
          <a:r>
            <a:rPr lang="en-GB" sz="1800" kern="1200" dirty="0"/>
            <a:t>Analyse Multiple</a:t>
          </a:r>
        </a:p>
        <a:p>
          <a:pPr marL="171450" lvl="1" indent="-171450" algn="l" defTabSz="800100">
            <a:lnSpc>
              <a:spcPct val="90000"/>
            </a:lnSpc>
            <a:spcBef>
              <a:spcPct val="0"/>
            </a:spcBef>
            <a:spcAft>
              <a:spcPct val="20000"/>
            </a:spcAft>
            <a:buChar char="•"/>
          </a:pPr>
          <a:r>
            <a:rPr lang="en-GB" sz="1800" kern="1200" dirty="0"/>
            <a:t>Apply Multiple</a:t>
          </a:r>
        </a:p>
      </dsp:txBody>
      <dsp:txXfrm>
        <a:off x="0" y="2180033"/>
        <a:ext cx="7403231" cy="2608200"/>
      </dsp:txXfrm>
    </dsp:sp>
    <dsp:sp modelId="{AE4DB4B3-A41D-438B-9D3F-C937CD069A97}">
      <dsp:nvSpPr>
        <dsp:cNvPr id="0" name=""/>
        <dsp:cNvSpPr/>
      </dsp:nvSpPr>
      <dsp:spPr>
        <a:xfrm>
          <a:off x="0" y="4788233"/>
          <a:ext cx="7403231" cy="103194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GB" sz="3600" kern="1200" dirty="0"/>
            <a:t>Real Options</a:t>
          </a:r>
        </a:p>
      </dsp:txBody>
      <dsp:txXfrm>
        <a:off x="50375" y="4838608"/>
        <a:ext cx="7302481" cy="9311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B06A94-5C89-4BEF-BB1E-B5A9C9222ABA}">
      <dsp:nvSpPr>
        <dsp:cNvPr id="0" name=""/>
        <dsp:cNvSpPr/>
      </dsp:nvSpPr>
      <dsp:spPr>
        <a:xfrm>
          <a:off x="0" y="86777"/>
          <a:ext cx="8229600" cy="95940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In relative valuation, the value of an asset is compared to the values assessed by the market for similar or comparable assets.</a:t>
          </a:r>
          <a:endParaRPr lang="en-GB" sz="2000" kern="1200" dirty="0"/>
        </a:p>
      </dsp:txBody>
      <dsp:txXfrm>
        <a:off x="46834" y="133611"/>
        <a:ext cx="8135932" cy="865732"/>
      </dsp:txXfrm>
    </dsp:sp>
    <dsp:sp modelId="{1028B5CC-C11A-4771-8B64-31899B36402E}">
      <dsp:nvSpPr>
        <dsp:cNvPr id="0" name=""/>
        <dsp:cNvSpPr/>
      </dsp:nvSpPr>
      <dsp:spPr>
        <a:xfrm>
          <a:off x="0" y="1103778"/>
          <a:ext cx="8229600" cy="959400"/>
        </a:xfrm>
        <a:prstGeom prst="roundRect">
          <a:avLst/>
        </a:prstGeom>
        <a:solidFill>
          <a:schemeClr val="accent1">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To do relative valuation then,</a:t>
          </a:r>
          <a:endParaRPr lang="en-GB" sz="2000" kern="1200" dirty="0"/>
        </a:p>
      </dsp:txBody>
      <dsp:txXfrm>
        <a:off x="46834" y="1150612"/>
        <a:ext cx="8135932" cy="865732"/>
      </dsp:txXfrm>
    </dsp:sp>
    <dsp:sp modelId="{488A8B53-F7E8-4C0D-9241-DCD19201A5AB}">
      <dsp:nvSpPr>
        <dsp:cNvPr id="0" name=""/>
        <dsp:cNvSpPr/>
      </dsp:nvSpPr>
      <dsp:spPr>
        <a:xfrm>
          <a:off x="0" y="2063178"/>
          <a:ext cx="8229600" cy="273240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261290" tIns="25400" rIns="142240" bIns="25400" numCol="1" spcCol="1270" anchor="t" anchorCtr="0">
          <a:noAutofit/>
        </a:bodyPr>
        <a:lstStyle/>
        <a:p>
          <a:pPr marL="171450" lvl="1" indent="-171450" algn="l" defTabSz="711200" rtl="0">
            <a:lnSpc>
              <a:spcPct val="90000"/>
            </a:lnSpc>
            <a:spcBef>
              <a:spcPct val="0"/>
            </a:spcBef>
            <a:spcAft>
              <a:spcPct val="20000"/>
            </a:spcAft>
            <a:buChar char="•"/>
          </a:pPr>
          <a:r>
            <a:rPr lang="en-US" sz="1600" kern="1200" dirty="0"/>
            <a:t>we need to</a:t>
          </a:r>
          <a:r>
            <a:rPr lang="en-US" sz="1600" u="sng" kern="1200" dirty="0"/>
            <a:t> </a:t>
          </a:r>
          <a:r>
            <a:rPr lang="en-US" sz="1600" b="1" u="sng" kern="1200" dirty="0"/>
            <a:t>identify comparable assets </a:t>
          </a:r>
          <a:r>
            <a:rPr lang="en-US" sz="1600" kern="1200" dirty="0"/>
            <a:t>and obtain market values for these assets</a:t>
          </a:r>
          <a:endParaRPr lang="en-GB" sz="1600" kern="1200" dirty="0"/>
        </a:p>
        <a:p>
          <a:pPr marL="171450" lvl="1" indent="-171450" algn="l" defTabSz="711200" rtl="0">
            <a:lnSpc>
              <a:spcPct val="90000"/>
            </a:lnSpc>
            <a:spcBef>
              <a:spcPct val="0"/>
            </a:spcBef>
            <a:spcAft>
              <a:spcPct val="20000"/>
            </a:spcAft>
            <a:buChar char="•"/>
          </a:pPr>
          <a:r>
            <a:rPr lang="en-US" sz="1600" kern="1200" dirty="0"/>
            <a:t>convert these market values into </a:t>
          </a:r>
          <a:r>
            <a:rPr lang="en-US" sz="1600" b="1" u="sng" kern="1200" dirty="0"/>
            <a:t>standardized values</a:t>
          </a:r>
          <a:r>
            <a:rPr lang="en-US" sz="1600" kern="1200" dirty="0"/>
            <a:t>, since the absolute prices cannot be compared This process of standardizing creates price multiples.</a:t>
          </a:r>
          <a:endParaRPr lang="en-GB" sz="1600" kern="1200" dirty="0"/>
        </a:p>
        <a:p>
          <a:pPr marL="171450" lvl="1" indent="-171450" algn="l" defTabSz="711200" rtl="0">
            <a:lnSpc>
              <a:spcPct val="90000"/>
            </a:lnSpc>
            <a:spcBef>
              <a:spcPct val="0"/>
            </a:spcBef>
            <a:spcAft>
              <a:spcPct val="20000"/>
            </a:spcAft>
            <a:buChar char="•"/>
          </a:pPr>
          <a:r>
            <a:rPr lang="en-US" sz="1600" u="sng" kern="1200" dirty="0"/>
            <a:t>compare</a:t>
          </a:r>
          <a:r>
            <a:rPr lang="en-US" sz="1600" kern="1200" dirty="0"/>
            <a:t> the standardized value or multiple for the asset being analyzed to the standardized values for comparable asset,</a:t>
          </a:r>
          <a:r>
            <a:rPr lang="en-US" sz="1600" u="sng" kern="1200" dirty="0"/>
            <a:t> </a:t>
          </a:r>
          <a:r>
            <a:rPr lang="en-US" sz="1600" b="1" u="sng" kern="1200" dirty="0"/>
            <a:t>controlling for any differences </a:t>
          </a:r>
          <a:r>
            <a:rPr lang="en-US" sz="1600" kern="1200" dirty="0"/>
            <a:t>between the firms that might affect the multiple, to judge whether the asset is under or over valued</a:t>
          </a:r>
          <a:endParaRPr lang="en-GB" sz="1600" kern="1200" dirty="0"/>
        </a:p>
      </dsp:txBody>
      <dsp:txXfrm>
        <a:off x="0" y="2063178"/>
        <a:ext cx="8229600" cy="2732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84174-FB84-45E3-B219-F47694628E1B}">
      <dsp:nvSpPr>
        <dsp:cNvPr id="0" name=""/>
        <dsp:cNvSpPr/>
      </dsp:nvSpPr>
      <dsp:spPr>
        <a:xfrm>
          <a:off x="2161" y="0"/>
          <a:ext cx="2120749" cy="525658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Earnings Multiples</a:t>
          </a:r>
          <a:endParaRPr lang="en-GB" sz="2800" kern="1200" dirty="0"/>
        </a:p>
      </dsp:txBody>
      <dsp:txXfrm>
        <a:off x="2161" y="0"/>
        <a:ext cx="2120749" cy="1576975"/>
      </dsp:txXfrm>
    </dsp:sp>
    <dsp:sp modelId="{22F2A4D6-06F1-470A-AF5B-D444A58D24B8}">
      <dsp:nvSpPr>
        <dsp:cNvPr id="0" name=""/>
        <dsp:cNvSpPr/>
      </dsp:nvSpPr>
      <dsp:spPr>
        <a:xfrm>
          <a:off x="214236" y="1578645"/>
          <a:ext cx="1696599" cy="161671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Price/Earnings Ratio (PE)</a:t>
          </a:r>
        </a:p>
        <a:p>
          <a:pPr marL="0" lvl="0" indent="0" algn="ctr" defTabSz="711200" rtl="0">
            <a:lnSpc>
              <a:spcPct val="90000"/>
            </a:lnSpc>
            <a:spcBef>
              <a:spcPct val="0"/>
            </a:spcBef>
            <a:spcAft>
              <a:spcPct val="35000"/>
            </a:spcAft>
            <a:buNone/>
          </a:pPr>
          <a:r>
            <a:rPr lang="en-US" sz="1600" kern="1200" dirty="0"/>
            <a:t> and variants  (PEG and Relative PE)</a:t>
          </a:r>
          <a:endParaRPr lang="en-GB" sz="1600" kern="1200" dirty="0"/>
        </a:p>
      </dsp:txBody>
      <dsp:txXfrm>
        <a:off x="261588" y="1625997"/>
        <a:ext cx="1601895" cy="1522014"/>
      </dsp:txXfrm>
    </dsp:sp>
    <dsp:sp modelId="{0D69FC67-5DD6-462F-92A5-9129488F25B6}">
      <dsp:nvSpPr>
        <dsp:cNvPr id="0" name=""/>
        <dsp:cNvSpPr/>
      </dsp:nvSpPr>
      <dsp:spPr>
        <a:xfrm>
          <a:off x="214236" y="3262867"/>
          <a:ext cx="1696599" cy="438775"/>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a:t>
          </a:r>
          <a:endParaRPr lang="en-GB" sz="1600" kern="1200" dirty="0"/>
        </a:p>
      </dsp:txBody>
      <dsp:txXfrm>
        <a:off x="227087" y="3275718"/>
        <a:ext cx="1670897" cy="413073"/>
      </dsp:txXfrm>
    </dsp:sp>
    <dsp:sp modelId="{1385830E-E6E4-4D93-B68C-7E32FE76FAC8}">
      <dsp:nvSpPr>
        <dsp:cNvPr id="0" name=""/>
        <dsp:cNvSpPr/>
      </dsp:nvSpPr>
      <dsp:spPr>
        <a:xfrm>
          <a:off x="214236" y="3769147"/>
          <a:ext cx="1696599" cy="438775"/>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Value/EBITDA</a:t>
          </a:r>
          <a:endParaRPr lang="en-GB" sz="1600" kern="1200" dirty="0"/>
        </a:p>
      </dsp:txBody>
      <dsp:txXfrm>
        <a:off x="227087" y="3781998"/>
        <a:ext cx="1670897" cy="413073"/>
      </dsp:txXfrm>
    </dsp:sp>
    <dsp:sp modelId="{DC89E4B9-B5C5-4E1B-992E-378789F786BF}">
      <dsp:nvSpPr>
        <dsp:cNvPr id="0" name=""/>
        <dsp:cNvSpPr/>
      </dsp:nvSpPr>
      <dsp:spPr>
        <a:xfrm>
          <a:off x="214236" y="4275427"/>
          <a:ext cx="1696599" cy="71665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Value/Cash Flow</a:t>
          </a:r>
          <a:endParaRPr lang="en-GB" sz="1600" kern="1200" dirty="0"/>
        </a:p>
      </dsp:txBody>
      <dsp:txXfrm>
        <a:off x="235226" y="4296417"/>
        <a:ext cx="1654619" cy="674677"/>
      </dsp:txXfrm>
    </dsp:sp>
    <dsp:sp modelId="{268B69EB-9AA0-43FB-9BBA-52BA90F1CE8B}">
      <dsp:nvSpPr>
        <dsp:cNvPr id="0" name=""/>
        <dsp:cNvSpPr/>
      </dsp:nvSpPr>
      <dsp:spPr>
        <a:xfrm>
          <a:off x="2281966" y="0"/>
          <a:ext cx="2120749" cy="525658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Book Value Multiples</a:t>
          </a:r>
          <a:endParaRPr lang="en-GB" sz="2800" kern="1200" dirty="0"/>
        </a:p>
      </dsp:txBody>
      <dsp:txXfrm>
        <a:off x="2281966" y="0"/>
        <a:ext cx="2120749" cy="1576975"/>
      </dsp:txXfrm>
    </dsp:sp>
    <dsp:sp modelId="{4347914A-044C-4469-A716-6699F754F372}">
      <dsp:nvSpPr>
        <dsp:cNvPr id="0" name=""/>
        <dsp:cNvSpPr/>
      </dsp:nvSpPr>
      <dsp:spPr>
        <a:xfrm>
          <a:off x="2494041" y="1577162"/>
          <a:ext cx="1696599" cy="1141032"/>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Price/Book Value(of Equity) (PBV)</a:t>
          </a:r>
          <a:endParaRPr lang="en-GB" sz="1600" kern="1200" dirty="0"/>
        </a:p>
      </dsp:txBody>
      <dsp:txXfrm>
        <a:off x="2527461" y="1610582"/>
        <a:ext cx="1629759" cy="1074192"/>
      </dsp:txXfrm>
    </dsp:sp>
    <dsp:sp modelId="{C9C77DEB-8AC2-4E4F-8B30-56B1D17C80E1}">
      <dsp:nvSpPr>
        <dsp:cNvPr id="0" name=""/>
        <dsp:cNvSpPr/>
      </dsp:nvSpPr>
      <dsp:spPr>
        <a:xfrm>
          <a:off x="2494041" y="2869886"/>
          <a:ext cx="1696599" cy="985994"/>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 Book Value of Assets</a:t>
          </a:r>
          <a:endParaRPr lang="en-GB" sz="1600" kern="1200" dirty="0"/>
        </a:p>
      </dsp:txBody>
      <dsp:txXfrm>
        <a:off x="2522920" y="2898765"/>
        <a:ext cx="1638841" cy="928236"/>
      </dsp:txXfrm>
    </dsp:sp>
    <dsp:sp modelId="{D1233E93-39E8-413C-AF4F-180E49A4128F}">
      <dsp:nvSpPr>
        <dsp:cNvPr id="0" name=""/>
        <dsp:cNvSpPr/>
      </dsp:nvSpPr>
      <dsp:spPr>
        <a:xfrm>
          <a:off x="2494041" y="4007572"/>
          <a:ext cx="1696599" cy="985994"/>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Value/Replacement Cost (Tobin’s Q)</a:t>
          </a:r>
          <a:endParaRPr lang="en-GB" sz="1600" kern="1200" dirty="0"/>
        </a:p>
      </dsp:txBody>
      <dsp:txXfrm>
        <a:off x="2522920" y="4036451"/>
        <a:ext cx="1638841" cy="928236"/>
      </dsp:txXfrm>
    </dsp:sp>
    <dsp:sp modelId="{7C0D5B29-B8A0-4F92-AAF5-CBC33F3AD249}">
      <dsp:nvSpPr>
        <dsp:cNvPr id="0" name=""/>
        <dsp:cNvSpPr/>
      </dsp:nvSpPr>
      <dsp:spPr>
        <a:xfrm>
          <a:off x="4561772" y="0"/>
          <a:ext cx="2120749" cy="525658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Revenues</a:t>
          </a:r>
          <a:endParaRPr lang="en-GB" sz="2800" kern="1200" dirty="0"/>
        </a:p>
      </dsp:txBody>
      <dsp:txXfrm>
        <a:off x="4561772" y="0"/>
        <a:ext cx="2120749" cy="1576975"/>
      </dsp:txXfrm>
    </dsp:sp>
    <dsp:sp modelId="{BED5EB0E-FB94-4370-9614-E6436419BA64}">
      <dsp:nvSpPr>
        <dsp:cNvPr id="0" name=""/>
        <dsp:cNvSpPr/>
      </dsp:nvSpPr>
      <dsp:spPr>
        <a:xfrm>
          <a:off x="4773847" y="1578515"/>
          <a:ext cx="1696599" cy="1584931"/>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Price/Sales per Share (PS)</a:t>
          </a:r>
          <a:endParaRPr lang="en-GB" sz="1600" kern="1200" dirty="0"/>
        </a:p>
      </dsp:txBody>
      <dsp:txXfrm>
        <a:off x="4820268" y="1624936"/>
        <a:ext cx="1603757" cy="1492089"/>
      </dsp:txXfrm>
    </dsp:sp>
    <dsp:sp modelId="{1331B81E-EF74-4077-8FED-14BF583B3F53}">
      <dsp:nvSpPr>
        <dsp:cNvPr id="0" name=""/>
        <dsp:cNvSpPr/>
      </dsp:nvSpPr>
      <dsp:spPr>
        <a:xfrm>
          <a:off x="4773847" y="3407282"/>
          <a:ext cx="1696599" cy="1584931"/>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Value/Sales</a:t>
          </a:r>
          <a:endParaRPr lang="en-GB" sz="1600" kern="1200" dirty="0"/>
        </a:p>
      </dsp:txBody>
      <dsp:txXfrm>
        <a:off x="4820268" y="3453703"/>
        <a:ext cx="1603757" cy="1492089"/>
      </dsp:txXfrm>
    </dsp:sp>
    <dsp:sp modelId="{8512A87F-5BD6-412A-B894-D91DDC883042}">
      <dsp:nvSpPr>
        <dsp:cNvPr id="0" name=""/>
        <dsp:cNvSpPr/>
      </dsp:nvSpPr>
      <dsp:spPr>
        <a:xfrm>
          <a:off x="6841577" y="0"/>
          <a:ext cx="2120749" cy="525658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Industry Specific</a:t>
          </a:r>
          <a:endParaRPr lang="en-GB" sz="2800" kern="1200" dirty="0"/>
        </a:p>
      </dsp:txBody>
      <dsp:txXfrm>
        <a:off x="6841577" y="0"/>
        <a:ext cx="2120749" cy="1576975"/>
      </dsp:txXfrm>
    </dsp:sp>
    <dsp:sp modelId="{AED171A0-5310-408C-8184-B7158BFFC570}">
      <dsp:nvSpPr>
        <dsp:cNvPr id="0" name=""/>
        <dsp:cNvSpPr/>
      </dsp:nvSpPr>
      <dsp:spPr>
        <a:xfrm>
          <a:off x="7053652" y="1578515"/>
          <a:ext cx="1696599" cy="1584931"/>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a:t>
          </a:r>
          <a:r>
            <a:rPr lang="en-US" sz="1600" kern="1200" dirty="0" err="1"/>
            <a:t>kwh</a:t>
          </a:r>
          <a:r>
            <a:rPr lang="en-US" sz="1600" kern="1200" dirty="0"/>
            <a:t>, </a:t>
          </a:r>
          <a:endParaRPr lang="en-GB" sz="1600" kern="1200" dirty="0"/>
        </a:p>
      </dsp:txBody>
      <dsp:txXfrm>
        <a:off x="7100073" y="1624936"/>
        <a:ext cx="1603757" cy="1492089"/>
      </dsp:txXfrm>
    </dsp:sp>
    <dsp:sp modelId="{066CF19D-5C3C-45DE-B303-076CADE13C09}">
      <dsp:nvSpPr>
        <dsp:cNvPr id="0" name=""/>
        <dsp:cNvSpPr/>
      </dsp:nvSpPr>
      <dsp:spPr>
        <a:xfrm>
          <a:off x="7053652" y="3407282"/>
          <a:ext cx="1696599" cy="1584931"/>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 per ton of steel ....</a:t>
          </a:r>
          <a:endParaRPr lang="en-GB" sz="1600" kern="1200" dirty="0"/>
        </a:p>
      </dsp:txBody>
      <dsp:txXfrm>
        <a:off x="7100073" y="3453703"/>
        <a:ext cx="1603757" cy="14920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BDDB8-B44E-40FE-8F86-06AD9AEBFCEB}">
      <dsp:nvSpPr>
        <dsp:cNvPr id="0" name=""/>
        <dsp:cNvSpPr/>
      </dsp:nvSpPr>
      <dsp:spPr>
        <a:xfrm>
          <a:off x="0" y="17640"/>
          <a:ext cx="8723312" cy="0"/>
        </a:xfrm>
        <a:prstGeom prst="line">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4E6BFA-1EDE-42E0-A16A-911D93E90B17}">
      <dsp:nvSpPr>
        <dsp:cNvPr id="0" name=""/>
        <dsp:cNvSpPr/>
      </dsp:nvSpPr>
      <dsp:spPr>
        <a:xfrm>
          <a:off x="0" y="17640"/>
          <a:ext cx="1545321" cy="1496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dirty="0"/>
            <a:t>Define</a:t>
          </a:r>
          <a:endParaRPr lang="en-GB" sz="2400" kern="1200" dirty="0"/>
        </a:p>
      </dsp:txBody>
      <dsp:txXfrm>
        <a:off x="0" y="17640"/>
        <a:ext cx="1545321" cy="1496501"/>
      </dsp:txXfrm>
    </dsp:sp>
    <dsp:sp modelId="{13436EC6-BFCE-43B7-84CC-E406F924BABF}">
      <dsp:nvSpPr>
        <dsp:cNvPr id="0" name=""/>
        <dsp:cNvSpPr/>
      </dsp:nvSpPr>
      <dsp:spPr>
        <a:xfrm>
          <a:off x="1655092" y="46398"/>
          <a:ext cx="7060671" cy="787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t>Same multiples can be defined in </a:t>
          </a:r>
          <a:r>
            <a:rPr lang="en-US" sz="1400" u="sng" kern="1200" dirty="0"/>
            <a:t>different ways</a:t>
          </a:r>
          <a:r>
            <a:rPr lang="en-US" sz="1400" kern="1200" dirty="0"/>
            <a:t>. When using multiples, estimated by others, we need to know </a:t>
          </a:r>
          <a:r>
            <a:rPr lang="en-US" sz="1400" u="sng" kern="1200" dirty="0"/>
            <a:t>how the multiples have been estimated</a:t>
          </a:r>
          <a:endParaRPr lang="en-US" sz="1400" kern="1200" dirty="0"/>
        </a:p>
      </dsp:txBody>
      <dsp:txXfrm>
        <a:off x="1655092" y="46398"/>
        <a:ext cx="7060671" cy="787825"/>
      </dsp:txXfrm>
    </dsp:sp>
    <dsp:sp modelId="{20E70A45-8E90-46F3-ACA3-278C30246CDE}">
      <dsp:nvSpPr>
        <dsp:cNvPr id="0" name=""/>
        <dsp:cNvSpPr/>
      </dsp:nvSpPr>
      <dsp:spPr>
        <a:xfrm>
          <a:off x="1800175" y="834223"/>
          <a:ext cx="6348179" cy="4572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225F27-CC26-44BA-9688-E3AD73CE14EC}">
      <dsp:nvSpPr>
        <dsp:cNvPr id="0" name=""/>
        <dsp:cNvSpPr/>
      </dsp:nvSpPr>
      <dsp:spPr>
        <a:xfrm>
          <a:off x="1805614" y="908701"/>
          <a:ext cx="2974743" cy="575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US" sz="1400" kern="1200" dirty="0"/>
            <a:t>Consistency</a:t>
          </a:r>
        </a:p>
      </dsp:txBody>
      <dsp:txXfrm>
        <a:off x="1805614" y="908701"/>
        <a:ext cx="2974743" cy="575151"/>
      </dsp:txXfrm>
    </dsp:sp>
    <dsp:sp modelId="{58F88AA7-2676-4E7D-B81B-266BBD17EFD7}">
      <dsp:nvSpPr>
        <dsp:cNvPr id="0" name=""/>
        <dsp:cNvSpPr/>
      </dsp:nvSpPr>
      <dsp:spPr>
        <a:xfrm>
          <a:off x="4890842" y="908701"/>
          <a:ext cx="2974743" cy="575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US" sz="1400" kern="1200" dirty="0"/>
            <a:t>Uniformly Estimated</a:t>
          </a:r>
        </a:p>
      </dsp:txBody>
      <dsp:txXfrm>
        <a:off x="4890842" y="908701"/>
        <a:ext cx="2974743" cy="575151"/>
      </dsp:txXfrm>
    </dsp:sp>
    <dsp:sp modelId="{AA2DD44F-3F2B-4614-A247-421557DBE957}">
      <dsp:nvSpPr>
        <dsp:cNvPr id="0" name=""/>
        <dsp:cNvSpPr/>
      </dsp:nvSpPr>
      <dsp:spPr>
        <a:xfrm>
          <a:off x="1545321" y="1483852"/>
          <a:ext cx="6181284"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9BE7D3-79EC-4A80-9389-BDCE427239FC}">
      <dsp:nvSpPr>
        <dsp:cNvPr id="0" name=""/>
        <dsp:cNvSpPr/>
      </dsp:nvSpPr>
      <dsp:spPr>
        <a:xfrm>
          <a:off x="0" y="1514142"/>
          <a:ext cx="8723312" cy="0"/>
        </a:xfrm>
        <a:prstGeom prst="line">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8F752D-7548-4BF2-A150-083ECE0DD044}">
      <dsp:nvSpPr>
        <dsp:cNvPr id="0" name=""/>
        <dsp:cNvSpPr/>
      </dsp:nvSpPr>
      <dsp:spPr>
        <a:xfrm>
          <a:off x="0" y="1514142"/>
          <a:ext cx="1640732" cy="1496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dirty="0"/>
            <a:t>Describe</a:t>
          </a:r>
          <a:endParaRPr lang="en-GB" sz="2400" kern="1200" dirty="0"/>
        </a:p>
      </dsp:txBody>
      <dsp:txXfrm>
        <a:off x="0" y="1514142"/>
        <a:ext cx="1640732" cy="1496501"/>
      </dsp:txXfrm>
    </dsp:sp>
    <dsp:sp modelId="{6A8D428A-9000-44C9-98AE-0186B7AF7C6F}">
      <dsp:nvSpPr>
        <dsp:cNvPr id="0" name=""/>
        <dsp:cNvSpPr/>
      </dsp:nvSpPr>
      <dsp:spPr>
        <a:xfrm>
          <a:off x="1763787" y="1533615"/>
          <a:ext cx="6954597" cy="6376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t>We need to know what the</a:t>
          </a:r>
          <a:r>
            <a:rPr lang="en-US" sz="1400" u="sng" kern="1200" dirty="0"/>
            <a:t> cross sectional distribution of the multiple</a:t>
          </a:r>
          <a:r>
            <a:rPr lang="en-US" sz="1400" kern="1200" dirty="0"/>
            <a:t> is. If we do not, it is difficult to decide whether it is too high or low.</a:t>
          </a:r>
          <a:endParaRPr lang="en-GB" sz="1400" kern="1200" dirty="0"/>
        </a:p>
      </dsp:txBody>
      <dsp:txXfrm>
        <a:off x="1763787" y="1533615"/>
        <a:ext cx="6954597" cy="637629"/>
      </dsp:txXfrm>
    </dsp:sp>
    <dsp:sp modelId="{692E75AD-DAE2-49B1-BFEA-27B5584036FC}">
      <dsp:nvSpPr>
        <dsp:cNvPr id="0" name=""/>
        <dsp:cNvSpPr/>
      </dsp:nvSpPr>
      <dsp:spPr>
        <a:xfrm>
          <a:off x="1640732" y="2171245"/>
          <a:ext cx="6562929"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7DD435-04F2-441C-B8F7-3E897D2A604C}">
      <dsp:nvSpPr>
        <dsp:cNvPr id="0" name=""/>
        <dsp:cNvSpPr/>
      </dsp:nvSpPr>
      <dsp:spPr>
        <a:xfrm>
          <a:off x="1763787" y="2190718"/>
          <a:ext cx="3158409" cy="38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Mean</a:t>
          </a:r>
        </a:p>
      </dsp:txBody>
      <dsp:txXfrm>
        <a:off x="1763787" y="2190718"/>
        <a:ext cx="3158409" cy="389470"/>
      </dsp:txXfrm>
    </dsp:sp>
    <dsp:sp modelId="{A58F60AD-CBB8-4F28-A152-FFC0B6CD2719}">
      <dsp:nvSpPr>
        <dsp:cNvPr id="0" name=""/>
        <dsp:cNvSpPr/>
      </dsp:nvSpPr>
      <dsp:spPr>
        <a:xfrm>
          <a:off x="5045251" y="2190718"/>
          <a:ext cx="3158409" cy="38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Standard Deviation</a:t>
          </a:r>
        </a:p>
      </dsp:txBody>
      <dsp:txXfrm>
        <a:off x="5045251" y="2190718"/>
        <a:ext cx="3158409" cy="389470"/>
      </dsp:txXfrm>
    </dsp:sp>
    <dsp:sp modelId="{C2C87588-EFD0-41B8-8BE7-B43300940C38}">
      <dsp:nvSpPr>
        <dsp:cNvPr id="0" name=""/>
        <dsp:cNvSpPr/>
      </dsp:nvSpPr>
      <dsp:spPr>
        <a:xfrm>
          <a:off x="1640732" y="2580189"/>
          <a:ext cx="6562929"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F0D3FA-1589-4E51-9190-761EF0AB183C}">
      <dsp:nvSpPr>
        <dsp:cNvPr id="0" name=""/>
        <dsp:cNvSpPr/>
      </dsp:nvSpPr>
      <dsp:spPr>
        <a:xfrm>
          <a:off x="1763787" y="2599662"/>
          <a:ext cx="3158409" cy="38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Outliers</a:t>
          </a:r>
        </a:p>
      </dsp:txBody>
      <dsp:txXfrm>
        <a:off x="1763787" y="2599662"/>
        <a:ext cx="3158409" cy="389470"/>
      </dsp:txXfrm>
    </dsp:sp>
    <dsp:sp modelId="{ECEC8AE9-8AB5-4962-9FE6-A525B1A820B9}">
      <dsp:nvSpPr>
        <dsp:cNvPr id="0" name=""/>
        <dsp:cNvSpPr/>
      </dsp:nvSpPr>
      <dsp:spPr>
        <a:xfrm>
          <a:off x="5045251" y="2599662"/>
          <a:ext cx="3158409" cy="38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Time Variance</a:t>
          </a:r>
        </a:p>
      </dsp:txBody>
      <dsp:txXfrm>
        <a:off x="5045251" y="2599662"/>
        <a:ext cx="3158409" cy="389470"/>
      </dsp:txXfrm>
    </dsp:sp>
    <dsp:sp modelId="{D7FC1993-C274-4AC9-8F83-E00747C33311}">
      <dsp:nvSpPr>
        <dsp:cNvPr id="0" name=""/>
        <dsp:cNvSpPr/>
      </dsp:nvSpPr>
      <dsp:spPr>
        <a:xfrm>
          <a:off x="1640732" y="2989132"/>
          <a:ext cx="6562929"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725305-A49B-40E7-96FF-1ACC30CC89DF}">
      <dsp:nvSpPr>
        <dsp:cNvPr id="0" name=""/>
        <dsp:cNvSpPr/>
      </dsp:nvSpPr>
      <dsp:spPr>
        <a:xfrm>
          <a:off x="0" y="3010644"/>
          <a:ext cx="8723312" cy="0"/>
        </a:xfrm>
        <a:prstGeom prst="line">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BEC7A1-2933-4C1D-97AA-69B8AB72D1B0}">
      <dsp:nvSpPr>
        <dsp:cNvPr id="0" name=""/>
        <dsp:cNvSpPr/>
      </dsp:nvSpPr>
      <dsp:spPr>
        <a:xfrm>
          <a:off x="0" y="3010644"/>
          <a:ext cx="1584507" cy="1496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dirty="0"/>
            <a:t>Analyze</a:t>
          </a:r>
          <a:endParaRPr lang="en-GB" sz="2400" kern="1200" dirty="0"/>
        </a:p>
      </dsp:txBody>
      <dsp:txXfrm>
        <a:off x="0" y="3010644"/>
        <a:ext cx="1584507" cy="1496501"/>
      </dsp:txXfrm>
    </dsp:sp>
    <dsp:sp modelId="{9B9873AA-A0D5-4963-AE63-95BC95EC30FA}">
      <dsp:nvSpPr>
        <dsp:cNvPr id="0" name=""/>
        <dsp:cNvSpPr/>
      </dsp:nvSpPr>
      <dsp:spPr>
        <a:xfrm>
          <a:off x="1703345" y="3045425"/>
          <a:ext cx="7015103" cy="69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t>It is critical that we </a:t>
          </a:r>
          <a:r>
            <a:rPr lang="en-US" sz="1400" u="sng" kern="1200" dirty="0"/>
            <a:t>understand the fundamentals </a:t>
          </a:r>
          <a:r>
            <a:rPr lang="en-US" sz="1400" kern="1200" dirty="0"/>
            <a:t>that drive each multiple, and the </a:t>
          </a:r>
          <a:r>
            <a:rPr lang="en-US" sz="1400" u="sng" kern="1200" dirty="0"/>
            <a:t>nature of the relationship </a:t>
          </a:r>
          <a:r>
            <a:rPr lang="en-US" sz="1400" kern="1200" dirty="0"/>
            <a:t>between the multiple and each variable.</a:t>
          </a:r>
          <a:endParaRPr lang="en-GB" sz="1400" kern="1200" dirty="0"/>
        </a:p>
      </dsp:txBody>
      <dsp:txXfrm>
        <a:off x="1703345" y="3045425"/>
        <a:ext cx="7015103" cy="695639"/>
      </dsp:txXfrm>
    </dsp:sp>
    <dsp:sp modelId="{6E660B18-8CF3-4C36-88F6-0D64E57105AA}">
      <dsp:nvSpPr>
        <dsp:cNvPr id="0" name=""/>
        <dsp:cNvSpPr/>
      </dsp:nvSpPr>
      <dsp:spPr>
        <a:xfrm>
          <a:off x="1584507" y="3741065"/>
          <a:ext cx="6338031"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798408-ECD7-41A3-B8F5-99C3D5055626}">
      <dsp:nvSpPr>
        <dsp:cNvPr id="0" name=""/>
        <dsp:cNvSpPr/>
      </dsp:nvSpPr>
      <dsp:spPr>
        <a:xfrm>
          <a:off x="1703345" y="3775847"/>
          <a:ext cx="3050177" cy="69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Fundamentals</a:t>
          </a:r>
        </a:p>
      </dsp:txBody>
      <dsp:txXfrm>
        <a:off x="1703345" y="3775847"/>
        <a:ext cx="3050177" cy="695639"/>
      </dsp:txXfrm>
    </dsp:sp>
    <dsp:sp modelId="{438A7380-4B7A-4B87-9406-DC698B90B954}">
      <dsp:nvSpPr>
        <dsp:cNvPr id="0" name=""/>
        <dsp:cNvSpPr/>
      </dsp:nvSpPr>
      <dsp:spPr>
        <a:xfrm>
          <a:off x="4872361" y="3775847"/>
          <a:ext cx="3050177" cy="69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Changes in Fundamentals</a:t>
          </a:r>
        </a:p>
      </dsp:txBody>
      <dsp:txXfrm>
        <a:off x="4872361" y="3775847"/>
        <a:ext cx="3050177" cy="695639"/>
      </dsp:txXfrm>
    </dsp:sp>
    <dsp:sp modelId="{C831D013-972B-49A0-8568-B6E74E39EC46}">
      <dsp:nvSpPr>
        <dsp:cNvPr id="0" name=""/>
        <dsp:cNvSpPr/>
      </dsp:nvSpPr>
      <dsp:spPr>
        <a:xfrm>
          <a:off x="1584507" y="4471486"/>
          <a:ext cx="6338031"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1F51AE-741D-4E34-8290-AD1D05A451FD}">
      <dsp:nvSpPr>
        <dsp:cNvPr id="0" name=""/>
        <dsp:cNvSpPr/>
      </dsp:nvSpPr>
      <dsp:spPr>
        <a:xfrm>
          <a:off x="0" y="4507145"/>
          <a:ext cx="8723312" cy="0"/>
        </a:xfrm>
        <a:prstGeom prst="line">
          <a:avLst/>
        </a:prstGeom>
        <a:solidFill>
          <a:schemeClr val="accent1">
            <a:hueOff val="0"/>
            <a:satOff val="0"/>
            <a:lumOff val="0"/>
            <a:alphaOff val="0"/>
          </a:schemeClr>
        </a:solidFill>
        <a:ln w="55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CC36F1-FBFC-4B74-8DBC-02948B56CF18}">
      <dsp:nvSpPr>
        <dsp:cNvPr id="0" name=""/>
        <dsp:cNvSpPr/>
      </dsp:nvSpPr>
      <dsp:spPr>
        <a:xfrm>
          <a:off x="0" y="4507145"/>
          <a:ext cx="1633917" cy="1496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rtl="0">
            <a:lnSpc>
              <a:spcPct val="90000"/>
            </a:lnSpc>
            <a:spcBef>
              <a:spcPct val="0"/>
            </a:spcBef>
            <a:spcAft>
              <a:spcPct val="35000"/>
            </a:spcAft>
            <a:buNone/>
          </a:pPr>
          <a:r>
            <a:rPr lang="en-US" sz="2400" kern="1200" dirty="0"/>
            <a:t>Apply</a:t>
          </a:r>
          <a:endParaRPr lang="en-GB" sz="2400" kern="1200" dirty="0"/>
        </a:p>
      </dsp:txBody>
      <dsp:txXfrm>
        <a:off x="0" y="4507145"/>
        <a:ext cx="1633917" cy="1496501"/>
      </dsp:txXfrm>
    </dsp:sp>
    <dsp:sp modelId="{1848067F-9F7C-4891-8B10-B49301F4D0DF}">
      <dsp:nvSpPr>
        <dsp:cNvPr id="0" name=""/>
        <dsp:cNvSpPr/>
      </dsp:nvSpPr>
      <dsp:spPr>
        <a:xfrm>
          <a:off x="1756461" y="4541927"/>
          <a:ext cx="6964113" cy="69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t>Defining the </a:t>
          </a:r>
          <a:r>
            <a:rPr lang="en-US" sz="1400" u="sng" kern="1200" dirty="0"/>
            <a:t>comparable universe </a:t>
          </a:r>
          <a:r>
            <a:rPr lang="en-US" sz="1400" kern="1200" dirty="0"/>
            <a:t>and </a:t>
          </a:r>
          <a:r>
            <a:rPr lang="en-US" sz="1400" u="sng" kern="1200" dirty="0"/>
            <a:t>controlling for differences </a:t>
          </a:r>
          <a:r>
            <a:rPr lang="en-US" sz="1400" kern="1200" dirty="0"/>
            <a:t>is far more difficult in practice than it is in theory.</a:t>
          </a:r>
          <a:endParaRPr lang="en-GB" sz="1400" kern="1200" dirty="0"/>
        </a:p>
      </dsp:txBody>
      <dsp:txXfrm>
        <a:off x="1756461" y="4541927"/>
        <a:ext cx="6964113" cy="695639"/>
      </dsp:txXfrm>
    </dsp:sp>
    <dsp:sp modelId="{9AF11706-7CD3-4782-BDFC-F271337E9050}">
      <dsp:nvSpPr>
        <dsp:cNvPr id="0" name=""/>
        <dsp:cNvSpPr/>
      </dsp:nvSpPr>
      <dsp:spPr>
        <a:xfrm>
          <a:off x="1633917" y="5237567"/>
          <a:ext cx="6535668"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39F915-DE08-4253-B3EA-F828D8C4119C}">
      <dsp:nvSpPr>
        <dsp:cNvPr id="0" name=""/>
        <dsp:cNvSpPr/>
      </dsp:nvSpPr>
      <dsp:spPr>
        <a:xfrm>
          <a:off x="1756461" y="5272349"/>
          <a:ext cx="3145290" cy="69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Comparable Firms based on Fundamentals</a:t>
          </a:r>
        </a:p>
      </dsp:txBody>
      <dsp:txXfrm>
        <a:off x="1756461" y="5272349"/>
        <a:ext cx="3145290" cy="695639"/>
      </dsp:txXfrm>
    </dsp:sp>
    <dsp:sp modelId="{C53E4847-6926-465C-876B-72570D705DF8}">
      <dsp:nvSpPr>
        <dsp:cNvPr id="0" name=""/>
        <dsp:cNvSpPr/>
      </dsp:nvSpPr>
      <dsp:spPr>
        <a:xfrm>
          <a:off x="5024295" y="5272349"/>
          <a:ext cx="3145290" cy="69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ctr" defTabSz="622300" rtl="0">
            <a:lnSpc>
              <a:spcPct val="90000"/>
            </a:lnSpc>
            <a:spcBef>
              <a:spcPct val="0"/>
            </a:spcBef>
            <a:spcAft>
              <a:spcPct val="35000"/>
            </a:spcAft>
            <a:buNone/>
          </a:pPr>
          <a:r>
            <a:rPr lang="en-GB" sz="1400" kern="1200" dirty="0"/>
            <a:t>Impossible to find identical firm, Control for differences</a:t>
          </a:r>
        </a:p>
      </dsp:txBody>
      <dsp:txXfrm>
        <a:off x="5024295" y="5272349"/>
        <a:ext cx="3145290" cy="695639"/>
      </dsp:txXfrm>
    </dsp:sp>
    <dsp:sp modelId="{670C93D7-3168-4AE0-9A32-CDFC94F0B65F}">
      <dsp:nvSpPr>
        <dsp:cNvPr id="0" name=""/>
        <dsp:cNvSpPr/>
      </dsp:nvSpPr>
      <dsp:spPr>
        <a:xfrm>
          <a:off x="1633917" y="5967988"/>
          <a:ext cx="6535668" cy="0"/>
        </a:xfrm>
        <a:prstGeom prst="line">
          <a:avLst/>
        </a:prstGeom>
        <a:solidFill>
          <a:schemeClr val="accent1">
            <a:hueOff val="0"/>
            <a:satOff val="0"/>
            <a:lumOff val="0"/>
            <a:alphaOff val="0"/>
          </a:schemeClr>
        </a:solidFill>
        <a:ln w="55000" cap="flat" cmpd="thickThin"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84174-FB84-45E3-B219-F47694628E1B}">
      <dsp:nvSpPr>
        <dsp:cNvPr id="0" name=""/>
        <dsp:cNvSpPr/>
      </dsp:nvSpPr>
      <dsp:spPr>
        <a:xfrm>
          <a:off x="1094"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Earnings Multiples</a:t>
          </a:r>
          <a:endParaRPr lang="en-GB" sz="2800" kern="1200" dirty="0"/>
        </a:p>
      </dsp:txBody>
      <dsp:txXfrm>
        <a:off x="1094" y="0"/>
        <a:ext cx="2845174" cy="2057400"/>
      </dsp:txXfrm>
    </dsp:sp>
    <dsp:sp modelId="{22F2A4D6-06F1-470A-AF5B-D444A58D24B8}">
      <dsp:nvSpPr>
        <dsp:cNvPr id="0" name=""/>
        <dsp:cNvSpPr/>
      </dsp:nvSpPr>
      <dsp:spPr>
        <a:xfrm>
          <a:off x="285611" y="2059579"/>
          <a:ext cx="2276139" cy="210925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Price/Earnings Ratio (PE)</a:t>
          </a:r>
        </a:p>
        <a:p>
          <a:pPr marL="0" lvl="0" indent="0" algn="ctr" defTabSz="711200" rtl="0">
            <a:lnSpc>
              <a:spcPct val="90000"/>
            </a:lnSpc>
            <a:spcBef>
              <a:spcPct val="0"/>
            </a:spcBef>
            <a:spcAft>
              <a:spcPct val="35000"/>
            </a:spcAft>
            <a:buNone/>
          </a:pPr>
          <a:r>
            <a:rPr lang="en-US" sz="1600" kern="1200" dirty="0"/>
            <a:t> and variants  (PEG and Relative PE)</a:t>
          </a:r>
          <a:endParaRPr lang="en-GB" sz="1600" kern="1200" dirty="0"/>
        </a:p>
      </dsp:txBody>
      <dsp:txXfrm>
        <a:off x="347389" y="2121357"/>
        <a:ext cx="2152583" cy="1985694"/>
      </dsp:txXfrm>
    </dsp:sp>
    <dsp:sp modelId="{0D69FC67-5DD6-462F-92A5-9129488F25B6}">
      <dsp:nvSpPr>
        <dsp:cNvPr id="0" name=""/>
        <dsp:cNvSpPr/>
      </dsp:nvSpPr>
      <dsp:spPr>
        <a:xfrm>
          <a:off x="285611" y="4256898"/>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a:t>
          </a:r>
          <a:endParaRPr lang="en-GB" sz="1600" kern="1200" dirty="0"/>
        </a:p>
      </dsp:txBody>
      <dsp:txXfrm>
        <a:off x="302377" y="4273664"/>
        <a:ext cx="2242607" cy="538916"/>
      </dsp:txXfrm>
    </dsp:sp>
    <dsp:sp modelId="{1385830E-E6E4-4D93-B68C-7E32FE76FAC8}">
      <dsp:nvSpPr>
        <dsp:cNvPr id="0" name=""/>
        <dsp:cNvSpPr/>
      </dsp:nvSpPr>
      <dsp:spPr>
        <a:xfrm>
          <a:off x="285611" y="4917416"/>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Value/EBITDA</a:t>
          </a:r>
          <a:endParaRPr lang="en-GB" sz="1600" kern="1200" dirty="0"/>
        </a:p>
      </dsp:txBody>
      <dsp:txXfrm>
        <a:off x="302377" y="4934182"/>
        <a:ext cx="2242607" cy="538916"/>
      </dsp:txXfrm>
    </dsp:sp>
    <dsp:sp modelId="{DC89E4B9-B5C5-4E1B-992E-378789F786BF}">
      <dsp:nvSpPr>
        <dsp:cNvPr id="0" name=""/>
        <dsp:cNvSpPr/>
      </dsp:nvSpPr>
      <dsp:spPr>
        <a:xfrm>
          <a:off x="285611" y="5577934"/>
          <a:ext cx="2276139" cy="934986"/>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Value/Cash Flow</a:t>
          </a:r>
          <a:endParaRPr lang="en-GB" sz="1600" kern="1200" dirty="0"/>
        </a:p>
      </dsp:txBody>
      <dsp:txXfrm>
        <a:off x="312996" y="5605319"/>
        <a:ext cx="2221369" cy="880216"/>
      </dsp:txXfrm>
    </dsp:sp>
    <dsp:sp modelId="{268B69EB-9AA0-43FB-9BBA-52BA90F1CE8B}">
      <dsp:nvSpPr>
        <dsp:cNvPr id="0" name=""/>
        <dsp:cNvSpPr/>
      </dsp:nvSpPr>
      <dsp:spPr>
        <a:xfrm>
          <a:off x="3059656"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Book Value Multiples</a:t>
          </a:r>
          <a:endParaRPr lang="en-GB" sz="2800" kern="1200" dirty="0"/>
        </a:p>
      </dsp:txBody>
      <dsp:txXfrm>
        <a:off x="3059656" y="0"/>
        <a:ext cx="2845174" cy="2057400"/>
      </dsp:txXfrm>
    </dsp:sp>
    <dsp:sp modelId="{4347914A-044C-4469-A716-6699F754F372}">
      <dsp:nvSpPr>
        <dsp:cNvPr id="0" name=""/>
        <dsp:cNvSpPr/>
      </dsp:nvSpPr>
      <dsp:spPr>
        <a:xfrm>
          <a:off x="3344174" y="2057644"/>
          <a:ext cx="2276139" cy="148864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Price/Book Value(of Equity) (PBV)</a:t>
          </a:r>
          <a:endParaRPr lang="en-GB" sz="1600" kern="1200" dirty="0"/>
        </a:p>
      </dsp:txBody>
      <dsp:txXfrm>
        <a:off x="3387775" y="2101245"/>
        <a:ext cx="2188937" cy="1401445"/>
      </dsp:txXfrm>
    </dsp:sp>
    <dsp:sp modelId="{C9C77DEB-8AC2-4E4F-8B30-56B1D17C80E1}">
      <dsp:nvSpPr>
        <dsp:cNvPr id="0" name=""/>
        <dsp:cNvSpPr/>
      </dsp:nvSpPr>
      <dsp:spPr>
        <a:xfrm>
          <a:off x="3344174" y="3744196"/>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 Book Value of Assets</a:t>
          </a:r>
          <a:endParaRPr lang="en-GB" sz="1600" kern="1200" dirty="0"/>
        </a:p>
      </dsp:txBody>
      <dsp:txXfrm>
        <a:off x="3381851" y="3781873"/>
        <a:ext cx="2200785" cy="1211023"/>
      </dsp:txXfrm>
    </dsp:sp>
    <dsp:sp modelId="{D1233E93-39E8-413C-AF4F-180E49A4128F}">
      <dsp:nvSpPr>
        <dsp:cNvPr id="0" name=""/>
        <dsp:cNvSpPr/>
      </dsp:nvSpPr>
      <dsp:spPr>
        <a:xfrm>
          <a:off x="3344174" y="5228477"/>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Value/Replacement Cost (Tobin’s Q)</a:t>
          </a:r>
          <a:endParaRPr lang="en-GB" sz="1600" kern="1200" dirty="0"/>
        </a:p>
      </dsp:txBody>
      <dsp:txXfrm>
        <a:off x="3381851" y="5266154"/>
        <a:ext cx="2200785" cy="1211023"/>
      </dsp:txXfrm>
    </dsp:sp>
    <dsp:sp modelId="{7C0D5B29-B8A0-4F92-AAF5-CBC33F3AD249}">
      <dsp:nvSpPr>
        <dsp:cNvPr id="0" name=""/>
        <dsp:cNvSpPr/>
      </dsp:nvSpPr>
      <dsp:spPr>
        <a:xfrm>
          <a:off x="6118219"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Revenues</a:t>
          </a:r>
          <a:endParaRPr lang="en-GB" sz="2800" kern="1200" dirty="0"/>
        </a:p>
      </dsp:txBody>
      <dsp:txXfrm>
        <a:off x="6118219" y="0"/>
        <a:ext cx="2845174" cy="2057400"/>
      </dsp:txXfrm>
    </dsp:sp>
    <dsp:sp modelId="{BED5EB0E-FB94-4370-9614-E6436419BA64}">
      <dsp:nvSpPr>
        <dsp:cNvPr id="0" name=""/>
        <dsp:cNvSpPr/>
      </dsp:nvSpPr>
      <dsp:spPr>
        <a:xfrm>
          <a:off x="6402736" y="2059409"/>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Price/Sales per Share (PS)</a:t>
          </a:r>
          <a:endParaRPr lang="en-GB" sz="1600" kern="1200" dirty="0"/>
        </a:p>
      </dsp:txBody>
      <dsp:txXfrm>
        <a:off x="6463299" y="2119972"/>
        <a:ext cx="2155013" cy="1946654"/>
      </dsp:txXfrm>
    </dsp:sp>
    <dsp:sp modelId="{1331B81E-EF74-4077-8FED-14BF583B3F53}">
      <dsp:nvSpPr>
        <dsp:cNvPr id="0" name=""/>
        <dsp:cNvSpPr/>
      </dsp:nvSpPr>
      <dsp:spPr>
        <a:xfrm>
          <a:off x="6402736" y="4445310"/>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Value/Sales</a:t>
          </a:r>
          <a:endParaRPr lang="en-GB" sz="1600" kern="1200" dirty="0"/>
        </a:p>
      </dsp:txBody>
      <dsp:txXfrm>
        <a:off x="6463299" y="4505873"/>
        <a:ext cx="2155013" cy="19466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C76EB1-8869-4C66-A376-8BC8914F1A17}">
      <dsp:nvSpPr>
        <dsp:cNvPr id="0" name=""/>
        <dsp:cNvSpPr/>
      </dsp:nvSpPr>
      <dsp:spPr>
        <a:xfrm>
          <a:off x="0" y="40407"/>
          <a:ext cx="9036496" cy="100737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GB" sz="2100" kern="1200" dirty="0"/>
            <a:t>Comparable Firms/Sector: What value does the multiple have in firms that are very similar-</a:t>
          </a:r>
          <a:r>
            <a:rPr lang="en-GB" sz="2100" b="1" kern="1200" dirty="0"/>
            <a:t>Regression-Average</a:t>
          </a:r>
        </a:p>
      </dsp:txBody>
      <dsp:txXfrm>
        <a:off x="49176" y="89583"/>
        <a:ext cx="8938144" cy="909018"/>
      </dsp:txXfrm>
    </dsp:sp>
    <dsp:sp modelId="{FF0E3299-05BC-4C30-9780-1611FBF45A63}">
      <dsp:nvSpPr>
        <dsp:cNvPr id="0" name=""/>
        <dsp:cNvSpPr/>
      </dsp:nvSpPr>
      <dsp:spPr>
        <a:xfrm>
          <a:off x="0" y="1047777"/>
          <a:ext cx="9036496" cy="1608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6909" tIns="26670" rIns="149352" bIns="26670" numCol="1" spcCol="1270" anchor="t" anchorCtr="0">
          <a:noAutofit/>
        </a:bodyPr>
        <a:lstStyle/>
        <a:p>
          <a:pPr marL="171450" lvl="1" indent="-171450" algn="l" defTabSz="711200" rtl="0">
            <a:lnSpc>
              <a:spcPct val="90000"/>
            </a:lnSpc>
            <a:spcBef>
              <a:spcPct val="0"/>
            </a:spcBef>
            <a:spcAft>
              <a:spcPct val="20000"/>
            </a:spcAft>
            <a:buChar char="•"/>
          </a:pPr>
          <a:r>
            <a:rPr lang="en-GB" sz="1600" kern="1200" dirty="0"/>
            <a:t>The idea is to find firms that form a group that is very similar to the company we evaluate</a:t>
          </a:r>
        </a:p>
        <a:p>
          <a:pPr marL="171450" lvl="1" indent="-171450" algn="l" defTabSz="711200" rtl="0">
            <a:lnSpc>
              <a:spcPct val="90000"/>
            </a:lnSpc>
            <a:spcBef>
              <a:spcPct val="0"/>
            </a:spcBef>
            <a:spcAft>
              <a:spcPct val="20000"/>
            </a:spcAft>
            <a:buChar char="•"/>
          </a:pPr>
          <a:r>
            <a:rPr lang="en-GB" sz="1600" kern="1200" dirty="0"/>
            <a:t>Then we can compare the value of the multiple you have found to the ones of the competitors/firms in the group</a:t>
          </a:r>
        </a:p>
        <a:p>
          <a:pPr marL="171450" lvl="1" indent="-171450" algn="l" defTabSz="711200" rtl="0">
            <a:lnSpc>
              <a:spcPct val="90000"/>
            </a:lnSpc>
            <a:spcBef>
              <a:spcPct val="0"/>
            </a:spcBef>
            <a:spcAft>
              <a:spcPct val="20000"/>
            </a:spcAft>
            <a:buChar char="•"/>
          </a:pPr>
          <a:r>
            <a:rPr lang="en-GB" sz="1600" kern="1200" dirty="0"/>
            <a:t>You can decide whether the value you have found is higher or lower than the </a:t>
          </a:r>
          <a:r>
            <a:rPr lang="en-GB" sz="1600" b="1" kern="1200" dirty="0"/>
            <a:t>average</a:t>
          </a:r>
        </a:p>
      </dsp:txBody>
      <dsp:txXfrm>
        <a:off x="0" y="1047777"/>
        <a:ext cx="9036496" cy="1608389"/>
      </dsp:txXfrm>
    </dsp:sp>
    <dsp:sp modelId="{1BB39590-91C3-4F7C-89BD-9CFD58EBD68B}">
      <dsp:nvSpPr>
        <dsp:cNvPr id="0" name=""/>
        <dsp:cNvSpPr/>
      </dsp:nvSpPr>
      <dsp:spPr>
        <a:xfrm>
          <a:off x="0" y="2656167"/>
          <a:ext cx="9036496" cy="1007370"/>
        </a:xfrm>
        <a:prstGeom prst="roundRect">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GB" sz="2100" kern="1200" dirty="0"/>
            <a:t>Equivalent Firms/Market: What is the value of the multiple of an average firm that has similar characteristics-</a:t>
          </a:r>
          <a:r>
            <a:rPr lang="en-GB" sz="2100" b="1" kern="1200" dirty="0"/>
            <a:t>Regression</a:t>
          </a:r>
        </a:p>
      </dsp:txBody>
      <dsp:txXfrm>
        <a:off x="49176" y="2705343"/>
        <a:ext cx="8938144" cy="909018"/>
      </dsp:txXfrm>
    </dsp:sp>
    <dsp:sp modelId="{BFA9DA31-B552-40C0-B856-C70E489CCF86}">
      <dsp:nvSpPr>
        <dsp:cNvPr id="0" name=""/>
        <dsp:cNvSpPr/>
      </dsp:nvSpPr>
      <dsp:spPr>
        <a:xfrm>
          <a:off x="0" y="3663537"/>
          <a:ext cx="9036496" cy="1912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6909" tIns="26670" rIns="149352" bIns="26670" numCol="1" spcCol="1270" anchor="t" anchorCtr="0">
          <a:noAutofit/>
        </a:bodyPr>
        <a:lstStyle/>
        <a:p>
          <a:pPr marL="171450" lvl="1" indent="-171450" algn="l" defTabSz="711200" rtl="0">
            <a:lnSpc>
              <a:spcPct val="90000"/>
            </a:lnSpc>
            <a:spcBef>
              <a:spcPct val="0"/>
            </a:spcBef>
            <a:spcAft>
              <a:spcPct val="20000"/>
            </a:spcAft>
            <a:buChar char="•"/>
          </a:pPr>
          <a:r>
            <a:rPr lang="en-GB" sz="1600" kern="1200" dirty="0"/>
            <a:t>The firms do NOT need to be identical</a:t>
          </a:r>
        </a:p>
        <a:p>
          <a:pPr marL="171450" lvl="1" indent="-171450" algn="l" defTabSz="711200" rtl="0">
            <a:lnSpc>
              <a:spcPct val="90000"/>
            </a:lnSpc>
            <a:spcBef>
              <a:spcPct val="0"/>
            </a:spcBef>
            <a:spcAft>
              <a:spcPct val="20000"/>
            </a:spcAft>
            <a:buChar char="•"/>
          </a:pPr>
          <a:r>
            <a:rPr lang="en-GB" sz="1600" kern="1200" dirty="0"/>
            <a:t>They might be comparable in terms of the variables we choose to compare them with</a:t>
          </a:r>
        </a:p>
        <a:p>
          <a:pPr marL="171450" lvl="1" indent="-171450" algn="l" defTabSz="711200" rtl="0">
            <a:lnSpc>
              <a:spcPct val="90000"/>
            </a:lnSpc>
            <a:spcBef>
              <a:spcPct val="0"/>
            </a:spcBef>
            <a:spcAft>
              <a:spcPct val="20000"/>
            </a:spcAft>
            <a:buChar char="•"/>
          </a:pPr>
          <a:r>
            <a:rPr lang="en-GB" sz="1600" kern="1200" dirty="0"/>
            <a:t>We run a </a:t>
          </a:r>
          <a:r>
            <a:rPr lang="en-GB" sz="1600" b="1" kern="1200" dirty="0"/>
            <a:t>regression</a:t>
          </a:r>
          <a:r>
            <a:rPr lang="en-GB" sz="1600" kern="1200" dirty="0"/>
            <a:t> and find what value of the multiple, given that other firms that have similar values for the variables we have chosen exhibit this value on their multiples</a:t>
          </a:r>
        </a:p>
      </dsp:txBody>
      <dsp:txXfrm>
        <a:off x="0" y="3663537"/>
        <a:ext cx="9036496" cy="1912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84174-FB84-45E3-B219-F47694628E1B}">
      <dsp:nvSpPr>
        <dsp:cNvPr id="0" name=""/>
        <dsp:cNvSpPr/>
      </dsp:nvSpPr>
      <dsp:spPr>
        <a:xfrm>
          <a:off x="1094"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Earnings Multiples</a:t>
          </a:r>
          <a:endParaRPr lang="en-GB" sz="2800" kern="1200" dirty="0"/>
        </a:p>
      </dsp:txBody>
      <dsp:txXfrm>
        <a:off x="1094" y="0"/>
        <a:ext cx="2845174" cy="2057400"/>
      </dsp:txXfrm>
    </dsp:sp>
    <dsp:sp modelId="{22F2A4D6-06F1-470A-AF5B-D444A58D24B8}">
      <dsp:nvSpPr>
        <dsp:cNvPr id="0" name=""/>
        <dsp:cNvSpPr/>
      </dsp:nvSpPr>
      <dsp:spPr>
        <a:xfrm>
          <a:off x="285611" y="2059579"/>
          <a:ext cx="2276139" cy="210925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Price/Earnings Ratio (PE)</a:t>
          </a:r>
        </a:p>
        <a:p>
          <a:pPr marL="0" lvl="0" indent="0" algn="ctr" defTabSz="711200" rtl="0">
            <a:lnSpc>
              <a:spcPct val="90000"/>
            </a:lnSpc>
            <a:spcBef>
              <a:spcPct val="0"/>
            </a:spcBef>
            <a:spcAft>
              <a:spcPct val="35000"/>
            </a:spcAft>
            <a:buNone/>
          </a:pPr>
          <a:r>
            <a:rPr lang="en-US" sz="1600" kern="1200" dirty="0"/>
            <a:t> and variants  (PEG and Relative PE)</a:t>
          </a:r>
          <a:endParaRPr lang="en-GB" sz="1600" kern="1200" dirty="0"/>
        </a:p>
      </dsp:txBody>
      <dsp:txXfrm>
        <a:off x="347389" y="2121357"/>
        <a:ext cx="2152583" cy="1985694"/>
      </dsp:txXfrm>
    </dsp:sp>
    <dsp:sp modelId="{0D69FC67-5DD6-462F-92A5-9129488F25B6}">
      <dsp:nvSpPr>
        <dsp:cNvPr id="0" name=""/>
        <dsp:cNvSpPr/>
      </dsp:nvSpPr>
      <dsp:spPr>
        <a:xfrm>
          <a:off x="285611" y="4256898"/>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a:t>
          </a:r>
          <a:endParaRPr lang="en-GB" sz="1600" kern="1200" dirty="0"/>
        </a:p>
      </dsp:txBody>
      <dsp:txXfrm>
        <a:off x="302377" y="4273664"/>
        <a:ext cx="2242607" cy="538916"/>
      </dsp:txXfrm>
    </dsp:sp>
    <dsp:sp modelId="{1385830E-E6E4-4D93-B68C-7E32FE76FAC8}">
      <dsp:nvSpPr>
        <dsp:cNvPr id="0" name=""/>
        <dsp:cNvSpPr/>
      </dsp:nvSpPr>
      <dsp:spPr>
        <a:xfrm>
          <a:off x="285611" y="4917416"/>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Value/EBITDA</a:t>
          </a:r>
          <a:endParaRPr lang="en-GB" sz="1600" kern="1200" dirty="0"/>
        </a:p>
      </dsp:txBody>
      <dsp:txXfrm>
        <a:off x="302377" y="4934182"/>
        <a:ext cx="2242607" cy="538916"/>
      </dsp:txXfrm>
    </dsp:sp>
    <dsp:sp modelId="{DC89E4B9-B5C5-4E1B-992E-378789F786BF}">
      <dsp:nvSpPr>
        <dsp:cNvPr id="0" name=""/>
        <dsp:cNvSpPr/>
      </dsp:nvSpPr>
      <dsp:spPr>
        <a:xfrm>
          <a:off x="285611" y="5577934"/>
          <a:ext cx="2276139" cy="934986"/>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Value/Cash Flow</a:t>
          </a:r>
          <a:endParaRPr lang="en-GB" sz="1600" kern="1200" dirty="0"/>
        </a:p>
      </dsp:txBody>
      <dsp:txXfrm>
        <a:off x="312996" y="5605319"/>
        <a:ext cx="2221369" cy="880216"/>
      </dsp:txXfrm>
    </dsp:sp>
    <dsp:sp modelId="{268B69EB-9AA0-43FB-9BBA-52BA90F1CE8B}">
      <dsp:nvSpPr>
        <dsp:cNvPr id="0" name=""/>
        <dsp:cNvSpPr/>
      </dsp:nvSpPr>
      <dsp:spPr>
        <a:xfrm>
          <a:off x="3059656"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Book Value Multiples</a:t>
          </a:r>
          <a:endParaRPr lang="en-GB" sz="2800" kern="1200" dirty="0"/>
        </a:p>
      </dsp:txBody>
      <dsp:txXfrm>
        <a:off x="3059656" y="0"/>
        <a:ext cx="2845174" cy="2057400"/>
      </dsp:txXfrm>
    </dsp:sp>
    <dsp:sp modelId="{4347914A-044C-4469-A716-6699F754F372}">
      <dsp:nvSpPr>
        <dsp:cNvPr id="0" name=""/>
        <dsp:cNvSpPr/>
      </dsp:nvSpPr>
      <dsp:spPr>
        <a:xfrm>
          <a:off x="3344174" y="2057644"/>
          <a:ext cx="2276139" cy="148864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Price/Book Value(of Equity) (PBV)</a:t>
          </a:r>
          <a:endParaRPr lang="en-GB" sz="1600" kern="1200" dirty="0"/>
        </a:p>
      </dsp:txBody>
      <dsp:txXfrm>
        <a:off x="3387775" y="2101245"/>
        <a:ext cx="2188937" cy="1401445"/>
      </dsp:txXfrm>
    </dsp:sp>
    <dsp:sp modelId="{C9C77DEB-8AC2-4E4F-8B30-56B1D17C80E1}">
      <dsp:nvSpPr>
        <dsp:cNvPr id="0" name=""/>
        <dsp:cNvSpPr/>
      </dsp:nvSpPr>
      <dsp:spPr>
        <a:xfrm>
          <a:off x="3344174" y="3744196"/>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 Book Value of Assets</a:t>
          </a:r>
          <a:endParaRPr lang="en-GB" sz="1600" kern="1200" dirty="0"/>
        </a:p>
      </dsp:txBody>
      <dsp:txXfrm>
        <a:off x="3381851" y="3781873"/>
        <a:ext cx="2200785" cy="1211023"/>
      </dsp:txXfrm>
    </dsp:sp>
    <dsp:sp modelId="{D1233E93-39E8-413C-AF4F-180E49A4128F}">
      <dsp:nvSpPr>
        <dsp:cNvPr id="0" name=""/>
        <dsp:cNvSpPr/>
      </dsp:nvSpPr>
      <dsp:spPr>
        <a:xfrm>
          <a:off x="3344174" y="5228477"/>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Value/Replacement Cost (Tobin’s Q)</a:t>
          </a:r>
          <a:endParaRPr lang="en-GB" sz="1600" kern="1200" dirty="0"/>
        </a:p>
      </dsp:txBody>
      <dsp:txXfrm>
        <a:off x="3381851" y="5266154"/>
        <a:ext cx="2200785" cy="1211023"/>
      </dsp:txXfrm>
    </dsp:sp>
    <dsp:sp modelId="{7C0D5B29-B8A0-4F92-AAF5-CBC33F3AD249}">
      <dsp:nvSpPr>
        <dsp:cNvPr id="0" name=""/>
        <dsp:cNvSpPr/>
      </dsp:nvSpPr>
      <dsp:spPr>
        <a:xfrm>
          <a:off x="6118219"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Revenues</a:t>
          </a:r>
          <a:endParaRPr lang="en-GB" sz="2800" kern="1200" dirty="0"/>
        </a:p>
      </dsp:txBody>
      <dsp:txXfrm>
        <a:off x="6118219" y="0"/>
        <a:ext cx="2845174" cy="2057400"/>
      </dsp:txXfrm>
    </dsp:sp>
    <dsp:sp modelId="{BED5EB0E-FB94-4370-9614-E6436419BA64}">
      <dsp:nvSpPr>
        <dsp:cNvPr id="0" name=""/>
        <dsp:cNvSpPr/>
      </dsp:nvSpPr>
      <dsp:spPr>
        <a:xfrm>
          <a:off x="6402736" y="2059409"/>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Price/Sales per Share (PS)</a:t>
          </a:r>
          <a:endParaRPr lang="en-GB" sz="1600" kern="1200" dirty="0"/>
        </a:p>
      </dsp:txBody>
      <dsp:txXfrm>
        <a:off x="6463299" y="2119972"/>
        <a:ext cx="2155013" cy="1946654"/>
      </dsp:txXfrm>
    </dsp:sp>
    <dsp:sp modelId="{1331B81E-EF74-4077-8FED-14BF583B3F53}">
      <dsp:nvSpPr>
        <dsp:cNvPr id="0" name=""/>
        <dsp:cNvSpPr/>
      </dsp:nvSpPr>
      <dsp:spPr>
        <a:xfrm>
          <a:off x="6402736" y="4445310"/>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Value/Sales</a:t>
          </a:r>
          <a:endParaRPr lang="en-GB" sz="1600" kern="1200" dirty="0"/>
        </a:p>
      </dsp:txBody>
      <dsp:txXfrm>
        <a:off x="6463299" y="4505873"/>
        <a:ext cx="2155013" cy="19466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84174-FB84-45E3-B219-F47694628E1B}">
      <dsp:nvSpPr>
        <dsp:cNvPr id="0" name=""/>
        <dsp:cNvSpPr/>
      </dsp:nvSpPr>
      <dsp:spPr>
        <a:xfrm>
          <a:off x="1094"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Earnings Multiples</a:t>
          </a:r>
          <a:endParaRPr lang="en-GB" sz="2800" kern="1200" dirty="0"/>
        </a:p>
      </dsp:txBody>
      <dsp:txXfrm>
        <a:off x="1094" y="0"/>
        <a:ext cx="2845174" cy="2057400"/>
      </dsp:txXfrm>
    </dsp:sp>
    <dsp:sp modelId="{22F2A4D6-06F1-470A-AF5B-D444A58D24B8}">
      <dsp:nvSpPr>
        <dsp:cNvPr id="0" name=""/>
        <dsp:cNvSpPr/>
      </dsp:nvSpPr>
      <dsp:spPr>
        <a:xfrm>
          <a:off x="285611" y="2059579"/>
          <a:ext cx="2276139" cy="210925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Price/Earnings Ratio (PE)</a:t>
          </a:r>
        </a:p>
        <a:p>
          <a:pPr marL="0" lvl="0" indent="0" algn="ctr" defTabSz="711200" rtl="0">
            <a:lnSpc>
              <a:spcPct val="90000"/>
            </a:lnSpc>
            <a:spcBef>
              <a:spcPct val="0"/>
            </a:spcBef>
            <a:spcAft>
              <a:spcPct val="35000"/>
            </a:spcAft>
            <a:buNone/>
          </a:pPr>
          <a:r>
            <a:rPr lang="en-US" sz="1600" kern="1200" dirty="0"/>
            <a:t> and variants  (PEG and Relative PE)</a:t>
          </a:r>
          <a:endParaRPr lang="en-GB" sz="1600" kern="1200" dirty="0"/>
        </a:p>
      </dsp:txBody>
      <dsp:txXfrm>
        <a:off x="347389" y="2121357"/>
        <a:ext cx="2152583" cy="1985694"/>
      </dsp:txXfrm>
    </dsp:sp>
    <dsp:sp modelId="{0D69FC67-5DD6-462F-92A5-9129488F25B6}">
      <dsp:nvSpPr>
        <dsp:cNvPr id="0" name=""/>
        <dsp:cNvSpPr/>
      </dsp:nvSpPr>
      <dsp:spPr>
        <a:xfrm>
          <a:off x="285611" y="4256898"/>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a:t>
          </a:r>
          <a:endParaRPr lang="en-GB" sz="1600" kern="1200" dirty="0"/>
        </a:p>
      </dsp:txBody>
      <dsp:txXfrm>
        <a:off x="302377" y="4273664"/>
        <a:ext cx="2242607" cy="538916"/>
      </dsp:txXfrm>
    </dsp:sp>
    <dsp:sp modelId="{1385830E-E6E4-4D93-B68C-7E32FE76FAC8}">
      <dsp:nvSpPr>
        <dsp:cNvPr id="0" name=""/>
        <dsp:cNvSpPr/>
      </dsp:nvSpPr>
      <dsp:spPr>
        <a:xfrm>
          <a:off x="285611" y="4917416"/>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Value/EBITDA</a:t>
          </a:r>
          <a:endParaRPr lang="en-GB" sz="1600" kern="1200" dirty="0"/>
        </a:p>
      </dsp:txBody>
      <dsp:txXfrm>
        <a:off x="302377" y="4934182"/>
        <a:ext cx="2242607" cy="538916"/>
      </dsp:txXfrm>
    </dsp:sp>
    <dsp:sp modelId="{DC89E4B9-B5C5-4E1B-992E-378789F786BF}">
      <dsp:nvSpPr>
        <dsp:cNvPr id="0" name=""/>
        <dsp:cNvSpPr/>
      </dsp:nvSpPr>
      <dsp:spPr>
        <a:xfrm>
          <a:off x="285611" y="5577934"/>
          <a:ext cx="2276139" cy="934986"/>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Value/Cash Flow</a:t>
          </a:r>
          <a:endParaRPr lang="en-GB" sz="1600" kern="1200" dirty="0"/>
        </a:p>
      </dsp:txBody>
      <dsp:txXfrm>
        <a:off x="312996" y="5605319"/>
        <a:ext cx="2221369" cy="880216"/>
      </dsp:txXfrm>
    </dsp:sp>
    <dsp:sp modelId="{268B69EB-9AA0-43FB-9BBA-52BA90F1CE8B}">
      <dsp:nvSpPr>
        <dsp:cNvPr id="0" name=""/>
        <dsp:cNvSpPr/>
      </dsp:nvSpPr>
      <dsp:spPr>
        <a:xfrm>
          <a:off x="3059656"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Book Value Multiples</a:t>
          </a:r>
          <a:endParaRPr lang="en-GB" sz="2800" kern="1200" dirty="0"/>
        </a:p>
      </dsp:txBody>
      <dsp:txXfrm>
        <a:off x="3059656" y="0"/>
        <a:ext cx="2845174" cy="2057400"/>
      </dsp:txXfrm>
    </dsp:sp>
    <dsp:sp modelId="{4347914A-044C-4469-A716-6699F754F372}">
      <dsp:nvSpPr>
        <dsp:cNvPr id="0" name=""/>
        <dsp:cNvSpPr/>
      </dsp:nvSpPr>
      <dsp:spPr>
        <a:xfrm>
          <a:off x="3344174" y="2057644"/>
          <a:ext cx="2276139" cy="148864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Price/Book Value(of Equity) (PBV)</a:t>
          </a:r>
          <a:endParaRPr lang="en-GB" sz="1600" kern="1200" dirty="0"/>
        </a:p>
      </dsp:txBody>
      <dsp:txXfrm>
        <a:off x="3387775" y="2101245"/>
        <a:ext cx="2188937" cy="1401445"/>
      </dsp:txXfrm>
    </dsp:sp>
    <dsp:sp modelId="{C9C77DEB-8AC2-4E4F-8B30-56B1D17C80E1}">
      <dsp:nvSpPr>
        <dsp:cNvPr id="0" name=""/>
        <dsp:cNvSpPr/>
      </dsp:nvSpPr>
      <dsp:spPr>
        <a:xfrm>
          <a:off x="3344174" y="3744196"/>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 Book Value of Assets</a:t>
          </a:r>
          <a:endParaRPr lang="en-GB" sz="1600" kern="1200" dirty="0"/>
        </a:p>
      </dsp:txBody>
      <dsp:txXfrm>
        <a:off x="3381851" y="3781873"/>
        <a:ext cx="2200785" cy="1211023"/>
      </dsp:txXfrm>
    </dsp:sp>
    <dsp:sp modelId="{D1233E93-39E8-413C-AF4F-180E49A4128F}">
      <dsp:nvSpPr>
        <dsp:cNvPr id="0" name=""/>
        <dsp:cNvSpPr/>
      </dsp:nvSpPr>
      <dsp:spPr>
        <a:xfrm>
          <a:off x="3344174" y="5228477"/>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Value/Replacement Cost (Tobin’s Q)</a:t>
          </a:r>
          <a:endParaRPr lang="en-GB" sz="1600" kern="1200" dirty="0"/>
        </a:p>
      </dsp:txBody>
      <dsp:txXfrm>
        <a:off x="3381851" y="5266154"/>
        <a:ext cx="2200785" cy="1211023"/>
      </dsp:txXfrm>
    </dsp:sp>
    <dsp:sp modelId="{7C0D5B29-B8A0-4F92-AAF5-CBC33F3AD249}">
      <dsp:nvSpPr>
        <dsp:cNvPr id="0" name=""/>
        <dsp:cNvSpPr/>
      </dsp:nvSpPr>
      <dsp:spPr>
        <a:xfrm>
          <a:off x="6118219"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Revenues</a:t>
          </a:r>
          <a:endParaRPr lang="en-GB" sz="2800" kern="1200" dirty="0"/>
        </a:p>
      </dsp:txBody>
      <dsp:txXfrm>
        <a:off x="6118219" y="0"/>
        <a:ext cx="2845174" cy="2057400"/>
      </dsp:txXfrm>
    </dsp:sp>
    <dsp:sp modelId="{BED5EB0E-FB94-4370-9614-E6436419BA64}">
      <dsp:nvSpPr>
        <dsp:cNvPr id="0" name=""/>
        <dsp:cNvSpPr/>
      </dsp:nvSpPr>
      <dsp:spPr>
        <a:xfrm>
          <a:off x="6402736" y="2059409"/>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Price/Sales per Share (PS)</a:t>
          </a:r>
          <a:endParaRPr lang="en-GB" sz="1600" kern="1200" dirty="0"/>
        </a:p>
      </dsp:txBody>
      <dsp:txXfrm>
        <a:off x="6463299" y="2119972"/>
        <a:ext cx="2155013" cy="1946654"/>
      </dsp:txXfrm>
    </dsp:sp>
    <dsp:sp modelId="{1331B81E-EF74-4077-8FED-14BF583B3F53}">
      <dsp:nvSpPr>
        <dsp:cNvPr id="0" name=""/>
        <dsp:cNvSpPr/>
      </dsp:nvSpPr>
      <dsp:spPr>
        <a:xfrm>
          <a:off x="6402736" y="4445310"/>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Value/Sales</a:t>
          </a:r>
          <a:endParaRPr lang="en-GB" sz="1600" kern="1200" dirty="0"/>
        </a:p>
      </dsp:txBody>
      <dsp:txXfrm>
        <a:off x="6463299" y="4505873"/>
        <a:ext cx="2155013" cy="194665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84174-FB84-45E3-B219-F47694628E1B}">
      <dsp:nvSpPr>
        <dsp:cNvPr id="0" name=""/>
        <dsp:cNvSpPr/>
      </dsp:nvSpPr>
      <dsp:spPr>
        <a:xfrm>
          <a:off x="1094"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Earnings Multiples</a:t>
          </a:r>
          <a:endParaRPr lang="en-GB" sz="2800" kern="1200" dirty="0"/>
        </a:p>
      </dsp:txBody>
      <dsp:txXfrm>
        <a:off x="1094" y="0"/>
        <a:ext cx="2845174" cy="2057400"/>
      </dsp:txXfrm>
    </dsp:sp>
    <dsp:sp modelId="{22F2A4D6-06F1-470A-AF5B-D444A58D24B8}">
      <dsp:nvSpPr>
        <dsp:cNvPr id="0" name=""/>
        <dsp:cNvSpPr/>
      </dsp:nvSpPr>
      <dsp:spPr>
        <a:xfrm>
          <a:off x="285611" y="2059579"/>
          <a:ext cx="2276139" cy="210925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Price/Earnings Ratio (PE)</a:t>
          </a:r>
        </a:p>
        <a:p>
          <a:pPr marL="0" lvl="0" indent="0" algn="ctr" defTabSz="711200" rtl="0">
            <a:lnSpc>
              <a:spcPct val="90000"/>
            </a:lnSpc>
            <a:spcBef>
              <a:spcPct val="0"/>
            </a:spcBef>
            <a:spcAft>
              <a:spcPct val="35000"/>
            </a:spcAft>
            <a:buNone/>
          </a:pPr>
          <a:r>
            <a:rPr lang="en-US" sz="1600" kern="1200" dirty="0"/>
            <a:t> and variants  (PEG and Relative PE)</a:t>
          </a:r>
          <a:endParaRPr lang="en-GB" sz="1600" kern="1200" dirty="0"/>
        </a:p>
      </dsp:txBody>
      <dsp:txXfrm>
        <a:off x="347389" y="2121357"/>
        <a:ext cx="2152583" cy="1985694"/>
      </dsp:txXfrm>
    </dsp:sp>
    <dsp:sp modelId="{0D69FC67-5DD6-462F-92A5-9129488F25B6}">
      <dsp:nvSpPr>
        <dsp:cNvPr id="0" name=""/>
        <dsp:cNvSpPr/>
      </dsp:nvSpPr>
      <dsp:spPr>
        <a:xfrm>
          <a:off x="285611" y="4256898"/>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a:t>
          </a:r>
          <a:endParaRPr lang="en-GB" sz="1600" kern="1200" dirty="0"/>
        </a:p>
      </dsp:txBody>
      <dsp:txXfrm>
        <a:off x="302377" y="4273664"/>
        <a:ext cx="2242607" cy="538916"/>
      </dsp:txXfrm>
    </dsp:sp>
    <dsp:sp modelId="{1385830E-E6E4-4D93-B68C-7E32FE76FAC8}">
      <dsp:nvSpPr>
        <dsp:cNvPr id="0" name=""/>
        <dsp:cNvSpPr/>
      </dsp:nvSpPr>
      <dsp:spPr>
        <a:xfrm>
          <a:off x="285611" y="4917416"/>
          <a:ext cx="2276139" cy="572448"/>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Value/EBITDA</a:t>
          </a:r>
          <a:endParaRPr lang="en-GB" sz="1600" kern="1200" dirty="0"/>
        </a:p>
      </dsp:txBody>
      <dsp:txXfrm>
        <a:off x="302377" y="4934182"/>
        <a:ext cx="2242607" cy="538916"/>
      </dsp:txXfrm>
    </dsp:sp>
    <dsp:sp modelId="{DC89E4B9-B5C5-4E1B-992E-378789F786BF}">
      <dsp:nvSpPr>
        <dsp:cNvPr id="0" name=""/>
        <dsp:cNvSpPr/>
      </dsp:nvSpPr>
      <dsp:spPr>
        <a:xfrm>
          <a:off x="285611" y="5577934"/>
          <a:ext cx="2276139" cy="934986"/>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Value/Cash Flow</a:t>
          </a:r>
          <a:endParaRPr lang="en-GB" sz="1600" kern="1200" dirty="0"/>
        </a:p>
      </dsp:txBody>
      <dsp:txXfrm>
        <a:off x="312996" y="5605319"/>
        <a:ext cx="2221369" cy="880216"/>
      </dsp:txXfrm>
    </dsp:sp>
    <dsp:sp modelId="{268B69EB-9AA0-43FB-9BBA-52BA90F1CE8B}">
      <dsp:nvSpPr>
        <dsp:cNvPr id="0" name=""/>
        <dsp:cNvSpPr/>
      </dsp:nvSpPr>
      <dsp:spPr>
        <a:xfrm>
          <a:off x="3059656"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Book Value Multiples</a:t>
          </a:r>
          <a:endParaRPr lang="en-GB" sz="2800" kern="1200" dirty="0"/>
        </a:p>
      </dsp:txBody>
      <dsp:txXfrm>
        <a:off x="3059656" y="0"/>
        <a:ext cx="2845174" cy="2057400"/>
      </dsp:txXfrm>
    </dsp:sp>
    <dsp:sp modelId="{4347914A-044C-4469-A716-6699F754F372}">
      <dsp:nvSpPr>
        <dsp:cNvPr id="0" name=""/>
        <dsp:cNvSpPr/>
      </dsp:nvSpPr>
      <dsp:spPr>
        <a:xfrm>
          <a:off x="3344174" y="2057644"/>
          <a:ext cx="2276139" cy="148864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Price/Book Value(of Equity) (PBV)</a:t>
          </a:r>
          <a:endParaRPr lang="en-GB" sz="1600" kern="1200" dirty="0"/>
        </a:p>
      </dsp:txBody>
      <dsp:txXfrm>
        <a:off x="3387775" y="2101245"/>
        <a:ext cx="2188937" cy="1401445"/>
      </dsp:txXfrm>
    </dsp:sp>
    <dsp:sp modelId="{C9C77DEB-8AC2-4E4F-8B30-56B1D17C80E1}">
      <dsp:nvSpPr>
        <dsp:cNvPr id="0" name=""/>
        <dsp:cNvSpPr/>
      </dsp:nvSpPr>
      <dsp:spPr>
        <a:xfrm>
          <a:off x="3344174" y="3744196"/>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 Book Value of Assets</a:t>
          </a:r>
          <a:endParaRPr lang="en-GB" sz="1600" kern="1200" dirty="0"/>
        </a:p>
      </dsp:txBody>
      <dsp:txXfrm>
        <a:off x="3381851" y="3781873"/>
        <a:ext cx="2200785" cy="1211023"/>
      </dsp:txXfrm>
    </dsp:sp>
    <dsp:sp modelId="{D1233E93-39E8-413C-AF4F-180E49A4128F}">
      <dsp:nvSpPr>
        <dsp:cNvPr id="0" name=""/>
        <dsp:cNvSpPr/>
      </dsp:nvSpPr>
      <dsp:spPr>
        <a:xfrm>
          <a:off x="3344174" y="5228477"/>
          <a:ext cx="2276139" cy="1286377"/>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Value/Replacement Cost (Tobin’s Q)</a:t>
          </a:r>
          <a:endParaRPr lang="en-GB" sz="1600" kern="1200" dirty="0"/>
        </a:p>
      </dsp:txBody>
      <dsp:txXfrm>
        <a:off x="3381851" y="5266154"/>
        <a:ext cx="2200785" cy="1211023"/>
      </dsp:txXfrm>
    </dsp:sp>
    <dsp:sp modelId="{7C0D5B29-B8A0-4F92-AAF5-CBC33F3AD249}">
      <dsp:nvSpPr>
        <dsp:cNvPr id="0" name=""/>
        <dsp:cNvSpPr/>
      </dsp:nvSpPr>
      <dsp:spPr>
        <a:xfrm>
          <a:off x="6118219" y="0"/>
          <a:ext cx="2845174" cy="68580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Revenues</a:t>
          </a:r>
          <a:endParaRPr lang="en-GB" sz="2800" kern="1200" dirty="0"/>
        </a:p>
      </dsp:txBody>
      <dsp:txXfrm>
        <a:off x="6118219" y="0"/>
        <a:ext cx="2845174" cy="2057400"/>
      </dsp:txXfrm>
    </dsp:sp>
    <dsp:sp modelId="{BED5EB0E-FB94-4370-9614-E6436419BA64}">
      <dsp:nvSpPr>
        <dsp:cNvPr id="0" name=""/>
        <dsp:cNvSpPr/>
      </dsp:nvSpPr>
      <dsp:spPr>
        <a:xfrm>
          <a:off x="6402736" y="2059409"/>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Price/Sales per Share (PS)</a:t>
          </a:r>
          <a:endParaRPr lang="en-GB" sz="1600" kern="1200" dirty="0"/>
        </a:p>
      </dsp:txBody>
      <dsp:txXfrm>
        <a:off x="6463299" y="2119972"/>
        <a:ext cx="2155013" cy="1946654"/>
      </dsp:txXfrm>
    </dsp:sp>
    <dsp:sp modelId="{1331B81E-EF74-4077-8FED-14BF583B3F53}">
      <dsp:nvSpPr>
        <dsp:cNvPr id="0" name=""/>
        <dsp:cNvSpPr/>
      </dsp:nvSpPr>
      <dsp:spPr>
        <a:xfrm>
          <a:off x="6402736" y="4445310"/>
          <a:ext cx="2276139" cy="2067780"/>
        </a:xfrm>
        <a:prstGeom prst="roundRect">
          <a:avLst>
            <a:gd name="adj" fmla="val 10000"/>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t>Value/Sales</a:t>
          </a:r>
          <a:endParaRPr lang="en-GB" sz="1600" kern="1200" dirty="0"/>
        </a:p>
      </dsp:txBody>
      <dsp:txXfrm>
        <a:off x="6463299" y="4505873"/>
        <a:ext cx="2155013" cy="194665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8DD9FC-E169-4946-BF66-8451D429DB48}">
      <dsp:nvSpPr>
        <dsp:cNvPr id="0" name=""/>
        <dsp:cNvSpPr/>
      </dsp:nvSpPr>
      <dsp:spPr>
        <a:xfrm>
          <a:off x="0" y="0"/>
          <a:ext cx="8784976" cy="1287928"/>
        </a:xfrm>
        <a:prstGeom prst="rect">
          <a:avLst/>
        </a:prstGeom>
        <a:solidFill>
          <a:srgbClr val="002060"/>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rtl="0">
            <a:lnSpc>
              <a:spcPct val="90000"/>
            </a:lnSpc>
            <a:spcBef>
              <a:spcPct val="0"/>
            </a:spcBef>
            <a:spcAft>
              <a:spcPct val="35000"/>
            </a:spcAft>
            <a:buNone/>
          </a:pPr>
          <a:r>
            <a:rPr lang="en-US" sz="2900" kern="1200" dirty="0"/>
            <a:t>Since there can be only one final estimate of value, there are three choices at this stage:</a:t>
          </a:r>
          <a:endParaRPr lang="en-GB" sz="2900" kern="1200" dirty="0"/>
        </a:p>
      </dsp:txBody>
      <dsp:txXfrm>
        <a:off x="0" y="0"/>
        <a:ext cx="8784976" cy="1287928"/>
      </dsp:txXfrm>
    </dsp:sp>
    <dsp:sp modelId="{AF030F7C-B738-45EA-A188-2881B6DF29D5}">
      <dsp:nvSpPr>
        <dsp:cNvPr id="0" name=""/>
        <dsp:cNvSpPr/>
      </dsp:nvSpPr>
      <dsp:spPr>
        <a:xfrm>
          <a:off x="4289" y="1287928"/>
          <a:ext cx="2925465" cy="2704650"/>
        </a:xfrm>
        <a:prstGeom prst="rect">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Use a simple average of the valuations obtained using a number of different multiples</a:t>
          </a:r>
          <a:endParaRPr lang="en-GB" sz="2300" kern="1200" dirty="0"/>
        </a:p>
      </dsp:txBody>
      <dsp:txXfrm>
        <a:off x="4289" y="1287928"/>
        <a:ext cx="2925465" cy="2704650"/>
      </dsp:txXfrm>
    </dsp:sp>
    <dsp:sp modelId="{444543F4-F88F-480C-BA38-4CCB223133BB}">
      <dsp:nvSpPr>
        <dsp:cNvPr id="0" name=""/>
        <dsp:cNvSpPr/>
      </dsp:nvSpPr>
      <dsp:spPr>
        <a:xfrm>
          <a:off x="2929755" y="1287928"/>
          <a:ext cx="2925465" cy="2704650"/>
        </a:xfrm>
        <a:prstGeom prst="rect">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a:t>Use a weighted average of the valuations obtained using a number of different multiples</a:t>
          </a:r>
          <a:endParaRPr lang="en-GB" sz="2300" kern="1200"/>
        </a:p>
      </dsp:txBody>
      <dsp:txXfrm>
        <a:off x="2929755" y="1287928"/>
        <a:ext cx="2925465" cy="2704650"/>
      </dsp:txXfrm>
    </dsp:sp>
    <dsp:sp modelId="{1231CECC-42A1-46D7-AB49-6B521B85CC0D}">
      <dsp:nvSpPr>
        <dsp:cNvPr id="0" name=""/>
        <dsp:cNvSpPr/>
      </dsp:nvSpPr>
      <dsp:spPr>
        <a:xfrm>
          <a:off x="5855220" y="1287928"/>
          <a:ext cx="2925465" cy="2704650"/>
        </a:xfrm>
        <a:prstGeom prst="rect">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a:t>Choose one of the multiples and base your valuation on that multiple</a:t>
          </a:r>
          <a:endParaRPr lang="en-GB" sz="2300" kern="1200"/>
        </a:p>
      </dsp:txBody>
      <dsp:txXfrm>
        <a:off x="5855220" y="1287928"/>
        <a:ext cx="2925465" cy="2704650"/>
      </dsp:txXfrm>
    </dsp:sp>
    <dsp:sp modelId="{1C366CF5-3E26-4756-B4B3-B913E3AB37E5}">
      <dsp:nvSpPr>
        <dsp:cNvPr id="0" name=""/>
        <dsp:cNvSpPr/>
      </dsp:nvSpPr>
      <dsp:spPr>
        <a:xfrm>
          <a:off x="0" y="3992579"/>
          <a:ext cx="8784976" cy="300516"/>
        </a:xfrm>
        <a:prstGeom prst="rect">
          <a:avLst/>
        </a:prstGeom>
        <a:solidFill>
          <a:srgbClr val="002060"/>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AAA386-3640-4E7E-941C-E6A18C795048}">
      <dsp:nvSpPr>
        <dsp:cNvPr id="0" name=""/>
        <dsp:cNvSpPr/>
      </dsp:nvSpPr>
      <dsp:spPr>
        <a:xfrm>
          <a:off x="4018" y="106231"/>
          <a:ext cx="2055390" cy="100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43180" rIns="120904" bIns="43180" numCol="1" spcCol="1270" anchor="ctr" anchorCtr="0">
          <a:noAutofit/>
        </a:bodyPr>
        <a:lstStyle/>
        <a:p>
          <a:pPr marL="0" lvl="0" indent="0" algn="r" defTabSz="755650" rtl="0">
            <a:lnSpc>
              <a:spcPct val="90000"/>
            </a:lnSpc>
            <a:spcBef>
              <a:spcPct val="0"/>
            </a:spcBef>
            <a:spcAft>
              <a:spcPct val="35000"/>
            </a:spcAft>
            <a:buNone/>
          </a:pPr>
          <a:r>
            <a:rPr lang="en-US" sz="1700" kern="1200"/>
            <a:t>Use the multiple that </a:t>
          </a:r>
          <a:r>
            <a:rPr lang="en-US" sz="1700" u="sng" kern="1200"/>
            <a:t>best fits your objective</a:t>
          </a:r>
          <a:r>
            <a:rPr lang="en-US" sz="1700" kern="1200"/>
            <a:t>. </a:t>
          </a:r>
          <a:endParaRPr lang="en-GB" sz="1700" kern="1200" dirty="0"/>
        </a:p>
      </dsp:txBody>
      <dsp:txXfrm>
        <a:off x="4018" y="106231"/>
        <a:ext cx="2055390" cy="1009800"/>
      </dsp:txXfrm>
    </dsp:sp>
    <dsp:sp modelId="{ACB7A8DB-5852-4BA7-BE32-FE10B5D8289F}">
      <dsp:nvSpPr>
        <dsp:cNvPr id="0" name=""/>
        <dsp:cNvSpPr/>
      </dsp:nvSpPr>
      <dsp:spPr>
        <a:xfrm>
          <a:off x="2059409" y="90453"/>
          <a:ext cx="411078" cy="1041356"/>
        </a:xfrm>
        <a:prstGeom prst="leftBrace">
          <a:avLst>
            <a:gd name="adj1" fmla="val 35000"/>
            <a:gd name="adj2" fmla="val 50000"/>
          </a:avLst>
        </a:prstGeom>
        <a:noFill/>
        <a:ln w="55000" cap="flat" cmpd="thickThin"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C00D55D-63E1-4FFA-AA98-C4AEE3522880}">
      <dsp:nvSpPr>
        <dsp:cNvPr id="0" name=""/>
        <dsp:cNvSpPr/>
      </dsp:nvSpPr>
      <dsp:spPr>
        <a:xfrm>
          <a:off x="2634918" y="90453"/>
          <a:ext cx="5590663" cy="1041356"/>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t>Thus, if you want the company to be undervalued, you pick the multiple that yields the highest value.</a:t>
          </a:r>
          <a:endParaRPr lang="en-GB" sz="1700" kern="1200" dirty="0"/>
        </a:p>
      </dsp:txBody>
      <dsp:txXfrm>
        <a:off x="2634918" y="90453"/>
        <a:ext cx="5590663" cy="1041356"/>
      </dsp:txXfrm>
    </dsp:sp>
    <dsp:sp modelId="{D98C2E85-60EA-43FC-A985-82FCACF9EEB7}">
      <dsp:nvSpPr>
        <dsp:cNvPr id="0" name=""/>
        <dsp:cNvSpPr/>
      </dsp:nvSpPr>
      <dsp:spPr>
        <a:xfrm>
          <a:off x="4018" y="1519090"/>
          <a:ext cx="2055390" cy="1304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43180" rIns="120904" bIns="43180" numCol="1" spcCol="1270" anchor="ctr" anchorCtr="0">
          <a:noAutofit/>
        </a:bodyPr>
        <a:lstStyle/>
        <a:p>
          <a:pPr marL="0" lvl="0" indent="0" algn="r" defTabSz="755650" rtl="0">
            <a:lnSpc>
              <a:spcPct val="90000"/>
            </a:lnSpc>
            <a:spcBef>
              <a:spcPct val="0"/>
            </a:spcBef>
            <a:spcAft>
              <a:spcPct val="35000"/>
            </a:spcAft>
            <a:buNone/>
          </a:pPr>
          <a:r>
            <a:rPr lang="en-US" sz="1700" kern="1200" dirty="0"/>
            <a:t>Use the multiple that </a:t>
          </a:r>
          <a:r>
            <a:rPr lang="en-US" sz="1700" u="sng" kern="1200" dirty="0"/>
            <a:t>has the highest R-squared</a:t>
          </a:r>
          <a:endParaRPr lang="en-GB" sz="1700" kern="1200" dirty="0"/>
        </a:p>
      </dsp:txBody>
      <dsp:txXfrm>
        <a:off x="4018" y="1519090"/>
        <a:ext cx="2055390" cy="1304325"/>
      </dsp:txXfrm>
    </dsp:sp>
    <dsp:sp modelId="{894E70CA-0D34-4A07-8394-D4A64699FCD1}">
      <dsp:nvSpPr>
        <dsp:cNvPr id="0" name=""/>
        <dsp:cNvSpPr/>
      </dsp:nvSpPr>
      <dsp:spPr>
        <a:xfrm>
          <a:off x="2059409" y="1193009"/>
          <a:ext cx="411078" cy="1956487"/>
        </a:xfrm>
        <a:prstGeom prst="leftBrace">
          <a:avLst>
            <a:gd name="adj1" fmla="val 35000"/>
            <a:gd name="adj2" fmla="val 50000"/>
          </a:avLst>
        </a:prstGeom>
        <a:noFill/>
        <a:ln w="55000" cap="flat" cmpd="thickThin"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7677D8B-C938-4225-8229-8FC55A4CED8C}">
      <dsp:nvSpPr>
        <dsp:cNvPr id="0" name=""/>
        <dsp:cNvSpPr/>
      </dsp:nvSpPr>
      <dsp:spPr>
        <a:xfrm>
          <a:off x="2634918" y="1193009"/>
          <a:ext cx="5590663" cy="1956487"/>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t>in the sector when regressed against fundamentals. Thus, if you have tried PE, PBV, PS, etc. and run regressions of these multiples against fundamentals, use the multiple that works best at explaining differences across firms in that sector.</a:t>
          </a:r>
          <a:endParaRPr lang="en-GB" sz="1700" kern="1200" dirty="0"/>
        </a:p>
      </dsp:txBody>
      <dsp:txXfrm>
        <a:off x="2634918" y="1193009"/>
        <a:ext cx="5590663" cy="1956487"/>
      </dsp:txXfrm>
    </dsp:sp>
    <dsp:sp modelId="{7105538E-A824-44B9-B07E-D7A447862E3E}">
      <dsp:nvSpPr>
        <dsp:cNvPr id="0" name=""/>
        <dsp:cNvSpPr/>
      </dsp:nvSpPr>
      <dsp:spPr>
        <a:xfrm>
          <a:off x="4018" y="3210696"/>
          <a:ext cx="2055390" cy="1598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43180" rIns="120904" bIns="43180" numCol="1" spcCol="1270" anchor="ctr" anchorCtr="0">
          <a:noAutofit/>
        </a:bodyPr>
        <a:lstStyle/>
        <a:p>
          <a:pPr marL="0" lvl="0" indent="0" algn="r" defTabSz="755650" rtl="0">
            <a:lnSpc>
              <a:spcPct val="90000"/>
            </a:lnSpc>
            <a:spcBef>
              <a:spcPct val="0"/>
            </a:spcBef>
            <a:spcAft>
              <a:spcPct val="35000"/>
            </a:spcAft>
            <a:buNone/>
          </a:pPr>
          <a:r>
            <a:rPr lang="en-US" sz="1700" kern="1200" dirty="0"/>
            <a:t>Use the multiple that seems to </a:t>
          </a:r>
          <a:r>
            <a:rPr lang="en-US" sz="1700" u="sng" kern="1200" dirty="0"/>
            <a:t>make the most sense</a:t>
          </a:r>
          <a:r>
            <a:rPr lang="en-US" sz="1700" kern="1200" dirty="0"/>
            <a:t> for that sector, </a:t>
          </a:r>
          <a:endParaRPr lang="en-GB" sz="1700" kern="1200" dirty="0"/>
        </a:p>
      </dsp:txBody>
      <dsp:txXfrm>
        <a:off x="4018" y="3210696"/>
        <a:ext cx="2055390" cy="1598850"/>
      </dsp:txXfrm>
    </dsp:sp>
    <dsp:sp modelId="{3784E0A8-605C-45D2-ABCA-3C6A7613B588}">
      <dsp:nvSpPr>
        <dsp:cNvPr id="0" name=""/>
        <dsp:cNvSpPr/>
      </dsp:nvSpPr>
      <dsp:spPr>
        <a:xfrm>
          <a:off x="2059409" y="3210696"/>
          <a:ext cx="411078" cy="1598850"/>
        </a:xfrm>
        <a:prstGeom prst="leftBrace">
          <a:avLst>
            <a:gd name="adj1" fmla="val 35000"/>
            <a:gd name="adj2" fmla="val 50000"/>
          </a:avLst>
        </a:prstGeom>
        <a:noFill/>
        <a:ln w="55000" cap="flat" cmpd="thickThin" algn="ctr">
          <a:solidFill>
            <a:schemeClr val="dk2">
              <a:shade val="6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865A8D4-872A-45D3-A5ED-CBF2B59520D2}">
      <dsp:nvSpPr>
        <dsp:cNvPr id="0" name=""/>
        <dsp:cNvSpPr/>
      </dsp:nvSpPr>
      <dsp:spPr>
        <a:xfrm>
          <a:off x="2634918" y="3210696"/>
          <a:ext cx="5590663" cy="1598850"/>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171450" lvl="1" indent="-171450" algn="l" defTabSz="755650" rtl="0">
            <a:lnSpc>
              <a:spcPct val="90000"/>
            </a:lnSpc>
            <a:spcBef>
              <a:spcPct val="0"/>
            </a:spcBef>
            <a:spcAft>
              <a:spcPct val="15000"/>
            </a:spcAft>
            <a:buChar char="•"/>
          </a:pPr>
          <a:r>
            <a:rPr lang="en-US" sz="1700" kern="1200"/>
            <a:t>given </a:t>
          </a:r>
          <a:r>
            <a:rPr lang="en-US" sz="1700" kern="1200" dirty="0"/>
            <a:t>how value is measured and created.</a:t>
          </a:r>
          <a:endParaRPr lang="en-GB" sz="1700" kern="1200" dirty="0"/>
        </a:p>
      </dsp:txBody>
      <dsp:txXfrm>
        <a:off x="2634918" y="3210696"/>
        <a:ext cx="5590663" cy="159885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4FC8FE-C1AD-4A5F-AFAB-61FCF3FA17C3}">
      <dsp:nvSpPr>
        <dsp:cNvPr id="0" name=""/>
        <dsp:cNvSpPr/>
      </dsp:nvSpPr>
      <dsp:spPr>
        <a:xfrm>
          <a:off x="651509" y="0"/>
          <a:ext cx="7383780" cy="5904656"/>
        </a:xfrm>
        <a:prstGeom prst="rightArrow">
          <a:avLst/>
        </a:prstGeom>
        <a:gradFill rotWithShape="0">
          <a:gsLst>
            <a:gs pos="0">
              <a:schemeClr val="dk2">
                <a:tint val="40000"/>
                <a:hueOff val="0"/>
                <a:satOff val="0"/>
                <a:lumOff val="0"/>
                <a:alphaOff val="0"/>
                <a:shade val="15000"/>
                <a:satMod val="180000"/>
              </a:schemeClr>
            </a:gs>
            <a:gs pos="50000">
              <a:schemeClr val="dk2">
                <a:tint val="40000"/>
                <a:hueOff val="0"/>
                <a:satOff val="0"/>
                <a:lumOff val="0"/>
                <a:alphaOff val="0"/>
                <a:shade val="45000"/>
                <a:satMod val="170000"/>
              </a:schemeClr>
            </a:gs>
            <a:gs pos="70000">
              <a:schemeClr val="dk2">
                <a:tint val="40000"/>
                <a:hueOff val="0"/>
                <a:satOff val="0"/>
                <a:lumOff val="0"/>
                <a:alphaOff val="0"/>
                <a:tint val="99000"/>
                <a:shade val="65000"/>
                <a:satMod val="155000"/>
              </a:schemeClr>
            </a:gs>
            <a:gs pos="100000">
              <a:schemeClr val="dk2">
                <a:tint val="40000"/>
                <a:hueOff val="0"/>
                <a:satOff val="0"/>
                <a:lumOff val="0"/>
                <a:alphaOff val="0"/>
                <a:tint val="95500"/>
                <a:shade val="100000"/>
                <a:satMod val="155000"/>
              </a:schemeClr>
            </a:gs>
          </a:gsLst>
          <a:lin ang="162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AE41E6C9-AF7C-4A8B-AC91-BE89047C5EE9}">
      <dsp:nvSpPr>
        <dsp:cNvPr id="0" name=""/>
        <dsp:cNvSpPr/>
      </dsp:nvSpPr>
      <dsp:spPr>
        <a:xfrm>
          <a:off x="2120" y="1440157"/>
          <a:ext cx="1944138" cy="3024341"/>
        </a:xfrm>
        <a:prstGeom prst="round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a:t>Define the multiple</a:t>
          </a:r>
          <a:endParaRPr lang="en-GB" sz="1800" kern="1200"/>
        </a:p>
        <a:p>
          <a:pPr marL="114300" lvl="1" indent="-114300" algn="l" defTabSz="622300" rtl="0">
            <a:lnSpc>
              <a:spcPct val="90000"/>
            </a:lnSpc>
            <a:spcBef>
              <a:spcPct val="0"/>
            </a:spcBef>
            <a:spcAft>
              <a:spcPct val="15000"/>
            </a:spcAft>
            <a:buChar char="•"/>
          </a:pPr>
          <a:r>
            <a:rPr lang="en-US" sz="1400" kern="1200" dirty="0"/>
            <a:t>Check for consistency</a:t>
          </a:r>
          <a:endParaRPr lang="en-GB" sz="1400" kern="1200" dirty="0"/>
        </a:p>
        <a:p>
          <a:pPr marL="114300" lvl="1" indent="-114300" algn="l" defTabSz="622300" rtl="0">
            <a:lnSpc>
              <a:spcPct val="90000"/>
            </a:lnSpc>
            <a:spcBef>
              <a:spcPct val="0"/>
            </a:spcBef>
            <a:spcAft>
              <a:spcPct val="15000"/>
            </a:spcAft>
            <a:buChar char="•"/>
          </a:pPr>
          <a:r>
            <a:rPr lang="en-US" sz="1400" kern="1200" dirty="0"/>
            <a:t>Uniformly estimated</a:t>
          </a:r>
          <a:endParaRPr lang="en-GB" sz="1400" kern="1200" dirty="0"/>
        </a:p>
      </dsp:txBody>
      <dsp:txXfrm>
        <a:off x="97025" y="1535062"/>
        <a:ext cx="1754328" cy="2834531"/>
      </dsp:txXfrm>
    </dsp:sp>
    <dsp:sp modelId="{19612188-5A77-4DAA-8B53-9A633509D9D5}">
      <dsp:nvSpPr>
        <dsp:cNvPr id="0" name=""/>
        <dsp:cNvSpPr/>
      </dsp:nvSpPr>
      <dsp:spPr>
        <a:xfrm>
          <a:off x="2248260" y="1440157"/>
          <a:ext cx="1944138" cy="3024341"/>
        </a:xfrm>
        <a:prstGeom prst="round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a:t>Describe the multiple</a:t>
          </a:r>
          <a:endParaRPr lang="en-GB" sz="1800" kern="1200"/>
        </a:p>
        <a:p>
          <a:pPr marL="114300" lvl="1" indent="-114300" algn="l" defTabSz="622300" rtl="0">
            <a:lnSpc>
              <a:spcPct val="90000"/>
            </a:lnSpc>
            <a:spcBef>
              <a:spcPct val="0"/>
            </a:spcBef>
            <a:spcAft>
              <a:spcPct val="15000"/>
            </a:spcAft>
            <a:buChar char="•"/>
          </a:pPr>
          <a:r>
            <a:rPr lang="en-US" sz="1400" kern="1200" dirty="0"/>
            <a:t>Skewed distributions and Averages</a:t>
          </a:r>
          <a:endParaRPr lang="en-GB" sz="1400" kern="1200" dirty="0"/>
        </a:p>
        <a:p>
          <a:pPr marL="114300" lvl="1" indent="-114300" algn="l" defTabSz="622300" rtl="0">
            <a:lnSpc>
              <a:spcPct val="90000"/>
            </a:lnSpc>
            <a:spcBef>
              <a:spcPct val="0"/>
            </a:spcBef>
            <a:spcAft>
              <a:spcPct val="15000"/>
            </a:spcAft>
            <a:buChar char="•"/>
          </a:pPr>
          <a:r>
            <a:rPr lang="en-US" sz="1400" kern="1200" dirty="0"/>
            <a:t>Check for bias and correct and/ or normalize</a:t>
          </a:r>
          <a:endParaRPr lang="en-GB" sz="1400" kern="1200" dirty="0"/>
        </a:p>
      </dsp:txBody>
      <dsp:txXfrm>
        <a:off x="2343165" y="1535062"/>
        <a:ext cx="1754328" cy="2834531"/>
      </dsp:txXfrm>
    </dsp:sp>
    <dsp:sp modelId="{138EE3C7-0BD2-43DA-A58B-EE55950A4D54}">
      <dsp:nvSpPr>
        <dsp:cNvPr id="0" name=""/>
        <dsp:cNvSpPr/>
      </dsp:nvSpPr>
      <dsp:spPr>
        <a:xfrm>
          <a:off x="4494401" y="1440157"/>
          <a:ext cx="1944138" cy="3024341"/>
        </a:xfrm>
        <a:prstGeom prst="round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a:t>Analyze the multiple</a:t>
          </a:r>
          <a:endParaRPr lang="en-GB" sz="1800" kern="1200"/>
        </a:p>
        <a:p>
          <a:pPr marL="114300" lvl="1" indent="-114300" algn="l" defTabSz="622300" rtl="0">
            <a:lnSpc>
              <a:spcPct val="90000"/>
            </a:lnSpc>
            <a:spcBef>
              <a:spcPct val="0"/>
            </a:spcBef>
            <a:spcAft>
              <a:spcPct val="15000"/>
            </a:spcAft>
            <a:buChar char="•"/>
          </a:pPr>
          <a:r>
            <a:rPr lang="en-US" sz="1400" kern="1200" dirty="0"/>
            <a:t>Identify the determinants of the multiple</a:t>
          </a:r>
          <a:endParaRPr lang="en-GB" sz="1400" kern="1200" dirty="0"/>
        </a:p>
        <a:p>
          <a:pPr marL="114300" lvl="1" indent="-114300" algn="l" defTabSz="622300" rtl="0">
            <a:lnSpc>
              <a:spcPct val="90000"/>
            </a:lnSpc>
            <a:spcBef>
              <a:spcPct val="0"/>
            </a:spcBef>
            <a:spcAft>
              <a:spcPct val="15000"/>
            </a:spcAft>
            <a:buChar char="•"/>
          </a:pPr>
          <a:r>
            <a:rPr lang="en-US" sz="1400" kern="1200" dirty="0"/>
            <a:t>Nature of the relationship</a:t>
          </a:r>
          <a:endParaRPr lang="en-GB" sz="1400" kern="1200" dirty="0"/>
        </a:p>
      </dsp:txBody>
      <dsp:txXfrm>
        <a:off x="4589306" y="1535062"/>
        <a:ext cx="1754328" cy="2834531"/>
      </dsp:txXfrm>
    </dsp:sp>
    <dsp:sp modelId="{849FBAB5-A11B-4890-85EC-95566387D9E2}">
      <dsp:nvSpPr>
        <dsp:cNvPr id="0" name=""/>
        <dsp:cNvSpPr/>
      </dsp:nvSpPr>
      <dsp:spPr>
        <a:xfrm>
          <a:off x="6740541" y="1440157"/>
          <a:ext cx="1944138" cy="3024341"/>
        </a:xfrm>
        <a:prstGeom prst="round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a:t>Apply the multiple</a:t>
          </a:r>
          <a:endParaRPr lang="en-GB" sz="1800" kern="1200"/>
        </a:p>
      </dsp:txBody>
      <dsp:txXfrm>
        <a:off x="6835446" y="1535062"/>
        <a:ext cx="1754328" cy="283453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11.xml><?xml version="1.0" encoding="utf-8"?>
<dgm:layoutDef xmlns:dgm="http://schemas.openxmlformats.org/drawingml/2006/diagram" xmlns:a="http://schemas.openxmlformats.org/drawingml/2006/main" uniqueId="urn:diagrams.loki3.com/BracketList+Icon">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BFCB8D-CC7F-4C9C-8E66-432F1509E223}" type="datetimeFigureOut">
              <a:rPr lang="en-GB" smtClean="0"/>
              <a:pPr/>
              <a:t>16/10/2026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C200C4-E9D7-4A2E-93D3-BB845A9C5CC7}" type="slidenum">
              <a:rPr lang="en-GB" smtClean="0"/>
              <a:pPr/>
              <a:t>‹Nº›</a:t>
            </a:fld>
            <a:endParaRPr lang="en-GB"/>
          </a:p>
        </p:txBody>
      </p:sp>
    </p:spTree>
    <p:extLst>
      <p:ext uri="{BB962C8B-B14F-4D97-AF65-F5344CB8AC3E}">
        <p14:creationId xmlns:p14="http://schemas.microsoft.com/office/powerpoint/2010/main" val="1899313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a:xfrm>
            <a:off x="1150938" y="692150"/>
            <a:ext cx="4556125" cy="3416300"/>
          </a:xfrm>
          <a:ln/>
        </p:spPr>
      </p:sp>
      <p:sp>
        <p:nvSpPr>
          <p:cNvPr id="25190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766228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Tree>
    <p:extLst>
      <p:ext uri="{BB962C8B-B14F-4D97-AF65-F5344CB8AC3E}">
        <p14:creationId xmlns:p14="http://schemas.microsoft.com/office/powerpoint/2010/main" val="2114586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Rot="1" noChangeAspect="1" noChangeArrowheads="1" noTextEdit="1"/>
          </p:cNvSpPr>
          <p:nvPr>
            <p:ph type="sldImg"/>
          </p:nvPr>
        </p:nvSpPr>
        <p:spPr>
          <a:xfrm>
            <a:off x="1150938" y="692150"/>
            <a:ext cx="4556125" cy="3416300"/>
          </a:xfrm>
          <a:ln/>
        </p:spPr>
      </p:sp>
      <p:sp>
        <p:nvSpPr>
          <p:cNvPr id="253955" name="Rectangle 3"/>
          <p:cNvSpPr>
            <a:spLocks noGrp="1" noChangeArrowheads="1"/>
          </p:cNvSpPr>
          <p:nvPr>
            <p:ph type="body" idx="1"/>
          </p:nvPr>
        </p:nvSpPr>
        <p:spPr/>
        <p:txBody>
          <a:bodyPr/>
          <a:lstStyle/>
          <a:p>
            <a:r>
              <a:rPr lang="en-US"/>
              <a:t>These are the three ingredients you find in almost every equity research report - comparables, a multiple (or standardized price) and a story (which represents the attempt to control for differences).</a:t>
            </a:r>
          </a:p>
        </p:txBody>
      </p:sp>
    </p:spTree>
    <p:extLst>
      <p:ext uri="{BB962C8B-B14F-4D97-AF65-F5344CB8AC3E}">
        <p14:creationId xmlns:p14="http://schemas.microsoft.com/office/powerpoint/2010/main" val="2913032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Rot="1" noChangeAspect="1" noChangeArrowheads="1" noTextEdit="1"/>
          </p:cNvSpPr>
          <p:nvPr>
            <p:ph type="sldImg"/>
          </p:nvPr>
        </p:nvSpPr>
        <p:spPr>
          <a:xfrm>
            <a:off x="1150938" y="692150"/>
            <a:ext cx="4556125" cy="3416300"/>
          </a:xfrm>
          <a:ln/>
        </p:spPr>
      </p:sp>
      <p:sp>
        <p:nvSpPr>
          <p:cNvPr id="254979" name="Rectangle 3"/>
          <p:cNvSpPr>
            <a:spLocks noGrp="1" noChangeArrowheads="1"/>
          </p:cNvSpPr>
          <p:nvPr>
            <p:ph type="body" idx="1"/>
          </p:nvPr>
        </p:nvSpPr>
        <p:spPr/>
        <p:txBody>
          <a:bodyPr/>
          <a:lstStyle/>
          <a:p>
            <a:r>
              <a:rPr lang="en-US"/>
              <a:t>The distinction between price (representing equity value) and value (representing the combined market value of equity and debt) and enterprise value (representing firm value - cash and marketable securities) should be noted.</a:t>
            </a:r>
          </a:p>
          <a:p>
            <a:r>
              <a:rPr lang="en-US"/>
              <a:t>The last set of multiples - industry specific multiples - will vary depending upon the sector you look at. With power companies, it can take the form of market value of the firm/ kwh of power produced. With new economy companies in the late 1990s, this was taken to whole new levels of detail - value per subscriber, value per web site visitor….</a:t>
            </a:r>
          </a:p>
        </p:txBody>
      </p:sp>
    </p:spTree>
    <p:extLst>
      <p:ext uri="{BB962C8B-B14F-4D97-AF65-F5344CB8AC3E}">
        <p14:creationId xmlns:p14="http://schemas.microsoft.com/office/powerpoint/2010/main" val="1281528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Rot="1" noChangeAspect="1" noChangeArrowheads="1" noTextEdit="1"/>
          </p:cNvSpPr>
          <p:nvPr>
            <p:ph type="sldImg"/>
          </p:nvPr>
        </p:nvSpPr>
        <p:spPr>
          <a:xfrm>
            <a:off x="1150938" y="692150"/>
            <a:ext cx="4556125" cy="3416300"/>
          </a:xfrm>
          <a:ln/>
        </p:spPr>
      </p:sp>
      <p:sp>
        <p:nvSpPr>
          <p:cNvPr id="256003" name="Rectangle 3"/>
          <p:cNvSpPr>
            <a:spLocks noGrp="1" noChangeArrowheads="1"/>
          </p:cNvSpPr>
          <p:nvPr>
            <p:ph type="body" idx="1"/>
          </p:nvPr>
        </p:nvSpPr>
        <p:spPr/>
        <p:txBody>
          <a:bodyPr>
            <a:normAutofit fontScale="25000" lnSpcReduction="20000"/>
          </a:bodyPr>
          <a:lstStyle/>
          <a:p>
            <a:r>
              <a:rPr lang="en-US" dirty="0"/>
              <a:t>While we can rail about the fact that a valuation based upon multiples is not as detailed as a discounted </a:t>
            </a:r>
            <a:r>
              <a:rPr lang="en-US" dirty="0" err="1"/>
              <a:t>cashflow</a:t>
            </a:r>
            <a:r>
              <a:rPr lang="en-US" dirty="0"/>
              <a:t> valuation,, the reality is that analysts will continue to use multiples to value companies and that we will often have to use these valuations.</a:t>
            </a:r>
          </a:p>
          <a:p>
            <a:r>
              <a:rPr lang="en-US" dirty="0"/>
              <a:t>Given this reality, we have to think about how best to use multiples. These four steps represent a way in which we can deconstruct any multiple, understand how to use it well and discover when it is being misused.</a:t>
            </a:r>
          </a:p>
          <a:p>
            <a:endParaRPr lang="en-US" dirty="0"/>
          </a:p>
          <a:p>
            <a:endParaRPr lang="en-US" dirty="0"/>
          </a:p>
          <a:p>
            <a:endParaRPr lang="en-US" dirty="0"/>
          </a:p>
          <a:p>
            <a:endParaRPr lang="en-US" dirty="0"/>
          </a:p>
          <a:p>
            <a:endParaRPr lang="en-US" dirty="0"/>
          </a:p>
          <a:p>
            <a:r>
              <a:rPr lang="en-US" sz="1600" b="1" dirty="0"/>
              <a:t>Definitional Tests</a:t>
            </a:r>
          </a:p>
          <a:p>
            <a:endParaRPr lang="en-US" sz="1600" b="1" dirty="0"/>
          </a:p>
          <a:p>
            <a:r>
              <a:rPr lang="en-US" dirty="0"/>
              <a:t>Is the multiple consistently defined?</a:t>
            </a:r>
          </a:p>
          <a:p>
            <a:pPr lvl="1"/>
            <a:r>
              <a:rPr lang="en-US" b="1" dirty="0">
                <a:solidFill>
                  <a:schemeClr val="accent2"/>
                </a:solidFill>
              </a:rPr>
              <a:t>Proposition 1: Both the value (the numerator) and the standardizing variable ( the denominator) should be to </a:t>
            </a:r>
            <a:r>
              <a:rPr lang="en-US" sz="3000" b="1" dirty="0">
                <a:solidFill>
                  <a:srgbClr val="FF0000"/>
                </a:solidFill>
              </a:rPr>
              <a:t>the same claimholders </a:t>
            </a:r>
            <a:r>
              <a:rPr lang="en-US" b="1" dirty="0">
                <a:solidFill>
                  <a:schemeClr val="accent2"/>
                </a:solidFill>
              </a:rPr>
              <a:t>in the firm. In other words, the value of equity should be divided by equity earnings or equity book value, and firm value should be divided by firm earnings or book value.</a:t>
            </a:r>
          </a:p>
          <a:p>
            <a:r>
              <a:rPr lang="en-US" dirty="0"/>
              <a:t>Is the multiple uniformly estimated?</a:t>
            </a:r>
          </a:p>
          <a:p>
            <a:pPr lvl="1"/>
            <a:r>
              <a:rPr lang="en-US" dirty="0"/>
              <a:t>The variables used in defining the multiple </a:t>
            </a:r>
            <a:r>
              <a:rPr lang="en-US" u="sng" dirty="0"/>
              <a:t>should be estimated uniformly </a:t>
            </a:r>
            <a:r>
              <a:rPr lang="en-US" dirty="0"/>
              <a:t>across assets in the “comparable firm” list.</a:t>
            </a:r>
          </a:p>
          <a:p>
            <a:pPr lvl="1"/>
            <a:r>
              <a:rPr lang="en-US" dirty="0"/>
              <a:t>If earnings-based multiples are used, the </a:t>
            </a:r>
            <a:r>
              <a:rPr lang="en-US" u="sng" dirty="0"/>
              <a:t>accounting rules </a:t>
            </a:r>
            <a:r>
              <a:rPr lang="en-US" dirty="0"/>
              <a:t>to measure earnings should be applied consistently across assets. The same rule applies with book-value based multiples.</a:t>
            </a:r>
          </a:p>
          <a:p>
            <a:pPr marL="228600" indent="-228600"/>
            <a:endParaRPr lang="en-US" i="1" dirty="0"/>
          </a:p>
          <a:p>
            <a:pPr marL="228600" indent="-228600"/>
            <a:r>
              <a:rPr lang="en-US" i="1" dirty="0"/>
              <a:t>Consistent definition:</a:t>
            </a:r>
            <a:endParaRPr lang="en-US" dirty="0"/>
          </a:p>
          <a:p>
            <a:pPr marL="228600" indent="-228600"/>
            <a:r>
              <a:rPr lang="en-US" dirty="0"/>
              <a:t>Consider two widely used multiples that are consistently defined. In the price-earnings ratio (PE), the numerator is equity value per share and the denominator is equity earnings per share. In the enterprise value/ EBITDA multiple, the numerator is firm value and the denominator is a pre-tax cash flow to all claimholders in the firm. In contrast, the price to EBITDA multiple is inconsistent. Why is this a problem? If you are comparing firms with different debt ratios, the firms with more debt will look cheaper on a price to EBITDA basis.</a:t>
            </a:r>
          </a:p>
          <a:p>
            <a:pPr marL="228600" indent="-228600"/>
            <a:r>
              <a:rPr lang="en-US" i="1" dirty="0" err="1"/>
              <a:t>Uniformally</a:t>
            </a:r>
            <a:r>
              <a:rPr lang="en-US" i="1" dirty="0"/>
              <a:t> Estimated:</a:t>
            </a:r>
            <a:endParaRPr lang="en-US" dirty="0"/>
          </a:p>
          <a:p>
            <a:pPr marL="228600" indent="-228600"/>
            <a:r>
              <a:rPr lang="en-US" dirty="0"/>
              <a:t>This is actually much more difficult than it looks. Even if accounting standards are the same across firms, you run into two problems:</a:t>
            </a:r>
          </a:p>
          <a:p>
            <a:pPr marL="228600" indent="-228600">
              <a:buFontTx/>
              <a:buAutoNum type="arabicPeriod"/>
            </a:pPr>
            <a:r>
              <a:rPr lang="en-US" dirty="0"/>
              <a:t>The degree to which firms bend accounting rules for their own purposes varies across firms. Some firms are inherently more conservative in reporting earnings than others.</a:t>
            </a:r>
          </a:p>
          <a:p>
            <a:pPr marL="228600" indent="-228600">
              <a:buFontTx/>
              <a:buAutoNum type="arabicPeriod"/>
            </a:pPr>
            <a:r>
              <a:rPr lang="en-US" dirty="0"/>
              <a:t>The financial year ends at different points for different firms. If the denominator is the earnings in the most recent financial year, the multiple may not be comparable if some firms have December year-ends and some have June year-ends.</a:t>
            </a:r>
          </a:p>
          <a:p>
            <a:endParaRPr lang="en-US" dirty="0"/>
          </a:p>
          <a:p>
            <a:endParaRPr lang="en-US" dirty="0"/>
          </a:p>
          <a:p>
            <a:endParaRPr lang="en-US" dirty="0"/>
          </a:p>
          <a:p>
            <a:endParaRPr lang="en-US" dirty="0"/>
          </a:p>
          <a:p>
            <a:endParaRPr lang="en-US" dirty="0"/>
          </a:p>
          <a:p>
            <a:endParaRPr lang="en-US" dirty="0"/>
          </a:p>
          <a:p>
            <a:r>
              <a:rPr lang="en-US" sz="1600" b="1" dirty="0"/>
              <a:t>Descriptive Tests</a:t>
            </a:r>
          </a:p>
          <a:p>
            <a:endParaRPr lang="en-US" dirty="0"/>
          </a:p>
          <a:p>
            <a:r>
              <a:rPr lang="en-US" dirty="0"/>
              <a:t>What is the </a:t>
            </a:r>
            <a:r>
              <a:rPr lang="en-US" u="sng" dirty="0"/>
              <a:t>average and standard deviation </a:t>
            </a:r>
            <a:r>
              <a:rPr lang="en-US" dirty="0"/>
              <a:t>for this multiple, across the universe (market)?</a:t>
            </a:r>
          </a:p>
          <a:p>
            <a:r>
              <a:rPr lang="en-US" dirty="0"/>
              <a:t>What is the </a:t>
            </a:r>
            <a:r>
              <a:rPr lang="en-US" u="sng" dirty="0"/>
              <a:t>median</a:t>
            </a:r>
            <a:r>
              <a:rPr lang="en-US" dirty="0"/>
              <a:t> for this multiple? </a:t>
            </a:r>
          </a:p>
          <a:p>
            <a:pPr lvl="1"/>
            <a:r>
              <a:rPr lang="en-US" dirty="0"/>
              <a:t>The median for this multiple is often a more reliable comparison point.</a:t>
            </a:r>
          </a:p>
          <a:p>
            <a:r>
              <a:rPr lang="en-US" dirty="0"/>
              <a:t>How </a:t>
            </a:r>
            <a:r>
              <a:rPr lang="en-US" u="sng" dirty="0"/>
              <a:t>large are the outliers </a:t>
            </a:r>
            <a:r>
              <a:rPr lang="en-US" dirty="0"/>
              <a:t>to the distribution, and</a:t>
            </a:r>
            <a:r>
              <a:rPr lang="en-US" u="sng" dirty="0"/>
              <a:t> how do we deal </a:t>
            </a:r>
            <a:r>
              <a:rPr lang="en-US" dirty="0"/>
              <a:t>with the outliers?</a:t>
            </a:r>
          </a:p>
          <a:p>
            <a:pPr lvl="1"/>
            <a:r>
              <a:rPr lang="en-US" dirty="0"/>
              <a:t>Throwing out the outliers may seem like an obvious solution, but if the outliers all lie on one side of the distribution (they usually are large positive numbers), this can lead to a biased estimate.</a:t>
            </a:r>
          </a:p>
          <a:p>
            <a:r>
              <a:rPr lang="en-US" dirty="0"/>
              <a:t>Are there cases where the multiple </a:t>
            </a:r>
            <a:r>
              <a:rPr lang="en-US" u="sng" dirty="0"/>
              <a:t>cannot be estimated</a:t>
            </a:r>
            <a:r>
              <a:rPr lang="en-US" dirty="0"/>
              <a:t>? Will ignoring these cases lead to a </a:t>
            </a:r>
            <a:r>
              <a:rPr lang="en-US" u="sng" dirty="0"/>
              <a:t>biased estimate </a:t>
            </a:r>
            <a:r>
              <a:rPr lang="en-US" dirty="0"/>
              <a:t>of the multiple?</a:t>
            </a:r>
          </a:p>
          <a:p>
            <a:r>
              <a:rPr lang="en-US" dirty="0"/>
              <a:t>How has this multiple </a:t>
            </a:r>
            <a:r>
              <a:rPr lang="en-US" u="sng" dirty="0"/>
              <a:t>changed over time?</a:t>
            </a:r>
          </a:p>
          <a:p>
            <a:endParaRPr lang="en-US" dirty="0"/>
          </a:p>
          <a:p>
            <a:r>
              <a:rPr lang="en-US" dirty="0"/>
              <a:t>Before you use a multiple and develop rules of thumb (8 times EBITDA is cheap), you need to get a sense of the cross-sectional distribution. </a:t>
            </a:r>
          </a:p>
          <a:p>
            <a:r>
              <a:rPr lang="en-US" dirty="0"/>
              <a:t>Multiples have skewed distributions. Because a multiple cannot be less than zero but can potentially be infinite, the averages for multiples will be much higher than their medians, and the difference will increase as the outliers become larger. Many services cap outliers to prevent them from altering the averages too much, results…</a:t>
            </a:r>
          </a:p>
          <a:p>
            <a:r>
              <a:rPr lang="en-US" dirty="0"/>
              <a:t>The PE ratio cannot be estimated when the earnings per share are negative. Thus, if you have a sample of 20 firms and 10 have negative earnings, you will be able to compute the PE ratio for only the 10 that have positive earnings and will throw out the remaining firms. This will induce a bias in your sample. One way to avoid this is to take the cumulative values for market capitalization and net income for all 20 firms, and compute a PE ratio based upon the cumulated values. The resulting PE ratio will generally be much higher….</a:t>
            </a:r>
          </a:p>
          <a:p>
            <a:endParaRPr lang="en-US" dirty="0"/>
          </a:p>
          <a:p>
            <a:endParaRPr lang="en-US" dirty="0"/>
          </a:p>
          <a:p>
            <a:endParaRPr lang="en-US" dirty="0"/>
          </a:p>
          <a:p>
            <a:endParaRPr lang="en-US" dirty="0"/>
          </a:p>
          <a:p>
            <a:endParaRPr lang="en-US" dirty="0"/>
          </a:p>
          <a:p>
            <a:endParaRPr lang="en-US" dirty="0"/>
          </a:p>
          <a:p>
            <a:endParaRPr lang="en-US" dirty="0"/>
          </a:p>
          <a:p>
            <a:r>
              <a:rPr lang="en-US" sz="1600" b="1" dirty="0"/>
              <a:t>Analytical Tests</a:t>
            </a:r>
            <a:endParaRPr lang="en-US" b="1" dirty="0"/>
          </a:p>
          <a:p>
            <a:endParaRPr lang="en-US" dirty="0"/>
          </a:p>
          <a:p>
            <a:r>
              <a:rPr lang="en-US" dirty="0"/>
              <a:t>What are the </a:t>
            </a:r>
            <a:r>
              <a:rPr lang="en-US" u="sng" dirty="0"/>
              <a:t>fundamentals</a:t>
            </a:r>
            <a:r>
              <a:rPr lang="en-US" dirty="0"/>
              <a:t> that determine and drive these multiples?</a:t>
            </a:r>
          </a:p>
          <a:p>
            <a:pPr lvl="1"/>
            <a:r>
              <a:rPr lang="en-US" dirty="0">
                <a:solidFill>
                  <a:schemeClr val="accent2"/>
                </a:solidFill>
              </a:rPr>
              <a:t>Proposition 2: Embedded in every multiple are all of the variables that drive every discounted cash flow valuation - </a:t>
            </a:r>
            <a:r>
              <a:rPr lang="en-US" dirty="0">
                <a:solidFill>
                  <a:srgbClr val="FF0000"/>
                </a:solidFill>
              </a:rPr>
              <a:t>growth, risk and cash flow patterns</a:t>
            </a:r>
            <a:r>
              <a:rPr lang="en-US" dirty="0">
                <a:solidFill>
                  <a:schemeClr val="accent2"/>
                </a:solidFill>
              </a:rPr>
              <a:t>.</a:t>
            </a:r>
          </a:p>
          <a:p>
            <a:pPr lvl="1"/>
            <a:r>
              <a:rPr lang="en-US" dirty="0"/>
              <a:t>In fact, using a simple discounted cash flow model and basic algebra should yield the fundamentals that drive a multiple</a:t>
            </a:r>
          </a:p>
          <a:p>
            <a:r>
              <a:rPr lang="en-US" dirty="0"/>
              <a:t>How do </a:t>
            </a:r>
            <a:r>
              <a:rPr lang="en-US" u="sng" dirty="0"/>
              <a:t>changes in these fundamentals </a:t>
            </a:r>
            <a:r>
              <a:rPr lang="en-US" dirty="0"/>
              <a:t>change the multiple?</a:t>
            </a:r>
          </a:p>
          <a:p>
            <a:pPr lvl="1"/>
            <a:r>
              <a:rPr lang="en-US" dirty="0"/>
              <a:t>The relationship between a fundamental (like growth) and a multiple (such as PE) is seldom linear. For example, if firm A has twice the growth rate of firm B, it will generally not trade at twice its PE ratio</a:t>
            </a:r>
          </a:p>
          <a:p>
            <a:pPr lvl="1"/>
            <a:r>
              <a:rPr lang="en-US" b="1" dirty="0">
                <a:solidFill>
                  <a:schemeClr val="accent2"/>
                </a:solidFill>
              </a:rPr>
              <a:t>Proposition 3: It is impossible to properly compare firms on a multiple, if we do not know the nature of the relationship between fundamentals and the multiple.</a:t>
            </a:r>
            <a:endParaRPr lang="en-US" b="1" dirty="0">
              <a:solidFill>
                <a:schemeClr val="hlink"/>
              </a:solidFill>
            </a:endParaRPr>
          </a:p>
          <a:p>
            <a:endParaRPr lang="en-US" dirty="0"/>
          </a:p>
          <a:p>
            <a:r>
              <a:rPr lang="en-US" dirty="0"/>
              <a:t>Behind every multiple (PE of 22, Value to EBITDA of 9) are implicit assumptions about growth, risk and cash flows.. In fact, you make the same assumptions when you use multiples that you make in discounted </a:t>
            </a:r>
            <a:r>
              <a:rPr lang="en-US" dirty="0" err="1"/>
              <a:t>cashflow</a:t>
            </a:r>
            <a:r>
              <a:rPr lang="en-US" dirty="0"/>
              <a:t> valuation.. The difference is that your assumptions are explicit in the latter. The first step in understanding a multiple is determining its fundamental drives…</a:t>
            </a:r>
          </a:p>
          <a:p>
            <a:r>
              <a:rPr lang="en-US" dirty="0"/>
              <a:t>Not only is it important that you find the drivers for each multiple, but you need to understand how changes in these drivers change the multiple. For example, we all accept the intuition that a company with a 20% growth rate should have a higher PE than an otherwise similar company with a 10% growth rate, but how much higher? Twice as high (which would make the relationship linear), 2.5 times as high, 1.5 times as high…</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600" b="1" dirty="0"/>
              <a:t>Application Tests</a:t>
            </a:r>
            <a:endParaRPr lang="en-US" b="1" dirty="0"/>
          </a:p>
          <a:p>
            <a:endParaRPr lang="en-US" dirty="0"/>
          </a:p>
          <a:p>
            <a:r>
              <a:rPr lang="en-US" dirty="0"/>
              <a:t>Given the firm that we are valuing, what is a “comparable” firm?</a:t>
            </a:r>
          </a:p>
          <a:p>
            <a:pPr lvl="1"/>
            <a:r>
              <a:rPr lang="en-US" dirty="0"/>
              <a:t>While traditional analysis is built on the premise that firms in the same sector are comparable firms, valuation theory would suggest that a comparable firm is one which is similar to the one being analyzed in terms of fundamentals.</a:t>
            </a:r>
          </a:p>
          <a:p>
            <a:pPr lvl="1"/>
            <a:r>
              <a:rPr lang="en-US" b="1" dirty="0">
                <a:solidFill>
                  <a:schemeClr val="accent2"/>
                </a:solidFill>
              </a:rPr>
              <a:t>Proposition 4: There is no reason why a firm cannot be compared with another firm in a very different business, if the two firms have the same risk, growth and cash flow characteristics.</a:t>
            </a:r>
          </a:p>
          <a:p>
            <a:r>
              <a:rPr lang="en-US" dirty="0"/>
              <a:t>Given the comparable firms, how do we adjust for differences across firms on  the fundamentals?</a:t>
            </a:r>
          </a:p>
          <a:p>
            <a:pPr lvl="1"/>
            <a:r>
              <a:rPr lang="en-US" b="1" dirty="0">
                <a:solidFill>
                  <a:schemeClr val="accent2"/>
                </a:solidFill>
              </a:rPr>
              <a:t>Proposition 5: It is impossible to find an exactly identical firm to the one you are valuing.</a:t>
            </a:r>
          </a:p>
          <a:p>
            <a:endParaRPr lang="en-US" dirty="0"/>
          </a:p>
          <a:p>
            <a:endParaRPr lang="en-US" dirty="0"/>
          </a:p>
          <a:p>
            <a:r>
              <a:rPr lang="en-US" dirty="0"/>
              <a:t>In practice, we all too often define comparable as a firm in the same industry or business. This is too narrow a definition. You can have firms in different businesses that have similar </a:t>
            </a:r>
            <a:r>
              <a:rPr lang="en-US" dirty="0" err="1"/>
              <a:t>cashflow</a:t>
            </a:r>
            <a:r>
              <a:rPr lang="en-US" dirty="0"/>
              <a:t>, growth and risk characteristics. These firms can be viewed as comparable firms.</a:t>
            </a:r>
          </a:p>
          <a:p>
            <a:r>
              <a:rPr lang="en-US" dirty="0"/>
              <a:t>You will never find two identical firms, no matter how hard you search. You therefore have to always control for the residual differences when making comparisons.</a:t>
            </a:r>
          </a:p>
          <a:p>
            <a:endParaRPr lang="en-US" dirty="0"/>
          </a:p>
          <a:p>
            <a:endParaRPr lang="en-US" dirty="0"/>
          </a:p>
          <a:p>
            <a:endParaRPr lang="en-US" dirty="0"/>
          </a:p>
        </p:txBody>
      </p:sp>
    </p:spTree>
    <p:extLst>
      <p:ext uri="{BB962C8B-B14F-4D97-AF65-F5344CB8AC3E}">
        <p14:creationId xmlns:p14="http://schemas.microsoft.com/office/powerpoint/2010/main" val="1739007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Rot="1" noChangeAspect="1" noChangeArrowheads="1" noTextEdit="1"/>
          </p:cNvSpPr>
          <p:nvPr>
            <p:ph type="sldImg"/>
          </p:nvPr>
        </p:nvSpPr>
        <p:spPr>
          <a:xfrm>
            <a:off x="1150938" y="692150"/>
            <a:ext cx="4556125" cy="3416300"/>
          </a:xfrm>
          <a:ln/>
        </p:spPr>
      </p:sp>
      <p:sp>
        <p:nvSpPr>
          <p:cNvPr id="254979" name="Rectangle 3"/>
          <p:cNvSpPr>
            <a:spLocks noGrp="1" noChangeArrowheads="1"/>
          </p:cNvSpPr>
          <p:nvPr>
            <p:ph type="body" idx="1"/>
          </p:nvPr>
        </p:nvSpPr>
        <p:spPr/>
        <p:txBody>
          <a:bodyPr/>
          <a:lstStyle/>
          <a:p>
            <a:r>
              <a:rPr lang="en-US"/>
              <a:t>The distinction between price (representing equity value) and value (representing the combined market value of equity and debt) and enterprise value (representing firm value - cash and marketable securities) should be noted.</a:t>
            </a:r>
          </a:p>
          <a:p>
            <a:r>
              <a:rPr lang="en-US"/>
              <a:t>The last set of multiples - industry specific multiples - will vary depending upon the sector you look at. With power companies, it can take the form of market value of the firm/ kwh of power produced. With new economy companies in the late 1990s, this was taken to whole new levels of detail - value per subscriber, value per web site visitor….</a:t>
            </a:r>
            <a:endParaRPr lang="en-US" dirty="0"/>
          </a:p>
        </p:txBody>
      </p:sp>
    </p:spTree>
    <p:extLst>
      <p:ext uri="{BB962C8B-B14F-4D97-AF65-F5344CB8AC3E}">
        <p14:creationId xmlns:p14="http://schemas.microsoft.com/office/powerpoint/2010/main" val="4197133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Rot="1" noChangeAspect="1" noChangeArrowheads="1" noTextEdit="1"/>
          </p:cNvSpPr>
          <p:nvPr>
            <p:ph type="sldImg"/>
          </p:nvPr>
        </p:nvSpPr>
        <p:spPr>
          <a:xfrm>
            <a:off x="1150938" y="692150"/>
            <a:ext cx="4556125" cy="3416300"/>
          </a:xfrm>
          <a:ln/>
        </p:spPr>
      </p:sp>
      <p:sp>
        <p:nvSpPr>
          <p:cNvPr id="261123" name="Rectangle 3"/>
          <p:cNvSpPr>
            <a:spLocks noGrp="1" noChangeArrowheads="1"/>
          </p:cNvSpPr>
          <p:nvPr>
            <p:ph type="body" idx="1"/>
          </p:nvPr>
        </p:nvSpPr>
        <p:spPr/>
        <p:txBody>
          <a:bodyPr/>
          <a:lstStyle/>
          <a:p>
            <a:r>
              <a:rPr lang="en-US"/>
              <a:t>This is only the tip of the iceberg. You can have EPS before and after extraordinary items, primary and diluted EPS..</a:t>
            </a:r>
          </a:p>
          <a:p>
            <a:r>
              <a:rPr lang="en-US"/>
              <a:t>When you are negotiating with someone else and you are both using PE ratios to make your case, the first step is to make sure that you are using the same PE ratio.</a:t>
            </a:r>
          </a:p>
          <a:p>
            <a:r>
              <a:rPr lang="en-US"/>
              <a:t>There is also the tendency on the part of analysts to pick the definition of pE that best fits their biases. For instance, bullish analysts in the 1990s almost always used forward PE whereas bearish analysts used trailing PE. Since earnings were rising the former were generally much lower than the latter. </a:t>
            </a:r>
          </a:p>
        </p:txBody>
      </p:sp>
    </p:spTree>
    <p:extLst>
      <p:ext uri="{BB962C8B-B14F-4D97-AF65-F5344CB8AC3E}">
        <p14:creationId xmlns:p14="http://schemas.microsoft.com/office/powerpoint/2010/main" val="2508429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Rot="1" noChangeAspect="1" noChangeArrowheads="1" noTextEdit="1"/>
          </p:cNvSpPr>
          <p:nvPr>
            <p:ph type="sldImg"/>
          </p:nvPr>
        </p:nvSpPr>
        <p:spPr>
          <a:xfrm>
            <a:off x="1150938" y="692150"/>
            <a:ext cx="4556125" cy="3416300"/>
          </a:xfrm>
          <a:ln/>
        </p:spPr>
      </p:sp>
      <p:sp>
        <p:nvSpPr>
          <p:cNvPr id="262147" name="Rectangle 3"/>
          <p:cNvSpPr>
            <a:spLocks noGrp="1" noChangeArrowheads="1"/>
          </p:cNvSpPr>
          <p:nvPr>
            <p:ph type="body" idx="1"/>
          </p:nvPr>
        </p:nvSpPr>
        <p:spPr/>
        <p:txBody>
          <a:bodyPr/>
          <a:lstStyle/>
          <a:p>
            <a:r>
              <a:rPr lang="en-US"/>
              <a:t>This graph for all U.S. firms with data available on the Value Line CD ROM (contains about 7200 firms in the overall sample). Notice that the distributions are skewed to the left and that we have capped the PE ratios at 100….</a:t>
            </a:r>
          </a:p>
        </p:txBody>
      </p:sp>
    </p:spTree>
    <p:extLst>
      <p:ext uri="{BB962C8B-B14F-4D97-AF65-F5344CB8AC3E}">
        <p14:creationId xmlns:p14="http://schemas.microsoft.com/office/powerpoint/2010/main" val="2356592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Rot="1" noChangeAspect="1" noChangeArrowheads="1" noTextEdit="1"/>
          </p:cNvSpPr>
          <p:nvPr>
            <p:ph type="sldImg"/>
          </p:nvPr>
        </p:nvSpPr>
        <p:spPr>
          <a:xfrm>
            <a:off x="1150938" y="692150"/>
            <a:ext cx="4556125" cy="3416300"/>
          </a:xfrm>
          <a:ln/>
        </p:spPr>
      </p:sp>
      <p:sp>
        <p:nvSpPr>
          <p:cNvPr id="263171" name="Rectangle 3"/>
          <p:cNvSpPr>
            <a:spLocks noGrp="1" noChangeArrowheads="1"/>
          </p:cNvSpPr>
          <p:nvPr>
            <p:ph type="body" idx="1"/>
          </p:nvPr>
        </p:nvSpPr>
        <p:spPr/>
        <p:txBody>
          <a:bodyPr/>
          <a:lstStyle/>
          <a:p>
            <a:pPr marL="228600" indent="-228600"/>
            <a:endParaRPr lang="en-US" dirty="0"/>
          </a:p>
          <a:p>
            <a:pPr marL="228600" indent="-228600"/>
            <a:endParaRPr lang="en-US" dirty="0"/>
          </a:p>
          <a:p>
            <a:pPr marL="228600" indent="-228600"/>
            <a:endParaRPr lang="en-US" dirty="0"/>
          </a:p>
          <a:p>
            <a:pPr marL="228600" indent="-228600"/>
            <a:r>
              <a:rPr lang="en-US" dirty="0"/>
              <a:t>Four things to note…</a:t>
            </a:r>
          </a:p>
          <a:p>
            <a:pPr marL="228600" indent="-228600">
              <a:buFontTx/>
              <a:buAutoNum type="arabicPeriod"/>
            </a:pPr>
            <a:r>
              <a:rPr lang="en-US" dirty="0"/>
              <a:t>Notice the number of firms that we have lost in the sample as we compute PE ratios.</a:t>
            </a:r>
          </a:p>
          <a:p>
            <a:pPr marL="228600" indent="-228600">
              <a:buFontTx/>
              <a:buAutoNum type="arabicPeriod"/>
            </a:pPr>
            <a:r>
              <a:rPr lang="en-US" dirty="0"/>
              <a:t>You lose even more firms as you go to forward PE, because you need analyst estimates of expected earnings per share to compute this. Any firms not followed by analysts will not have a forward PE…</a:t>
            </a:r>
          </a:p>
          <a:p>
            <a:pPr marL="228600" indent="-228600">
              <a:buFontTx/>
              <a:buAutoNum type="arabicPeriod"/>
            </a:pPr>
            <a:r>
              <a:rPr lang="en-US" dirty="0"/>
              <a:t>The means were computed without capping the PE ratios… the outliers (notice the maximum values for the ratios) push the average to almost twice the median.</a:t>
            </a:r>
          </a:p>
          <a:p>
            <a:pPr marL="228600" indent="-228600">
              <a:buFontTx/>
              <a:buAutoNum type="arabicPeriod"/>
            </a:pPr>
            <a:r>
              <a:rPr lang="en-US" dirty="0"/>
              <a:t>The median forward PE is higher than the trailing PE which is higher than the current PE…</a:t>
            </a:r>
          </a:p>
        </p:txBody>
      </p:sp>
    </p:spTree>
    <p:extLst>
      <p:ext uri="{BB962C8B-B14F-4D97-AF65-F5344CB8AC3E}">
        <p14:creationId xmlns:p14="http://schemas.microsoft.com/office/powerpoint/2010/main" val="2405563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Rot="1" noChangeAspect="1" noChangeArrowheads="1" noTextEdit="1"/>
          </p:cNvSpPr>
          <p:nvPr>
            <p:ph type="sldImg"/>
          </p:nvPr>
        </p:nvSpPr>
        <p:spPr>
          <a:xfrm>
            <a:off x="1150938" y="692150"/>
            <a:ext cx="4556125" cy="3416300"/>
          </a:xfrm>
          <a:ln/>
        </p:spPr>
      </p:sp>
      <p:sp>
        <p:nvSpPr>
          <p:cNvPr id="708611" name="Rectangle 3"/>
          <p:cNvSpPr>
            <a:spLocks noGrp="1" noChangeArrowheads="1"/>
          </p:cNvSpPr>
          <p:nvPr>
            <p:ph type="body" idx="1"/>
          </p:nvPr>
        </p:nvSpPr>
        <p:spPr/>
        <p:txBody>
          <a:bodyPr/>
          <a:lstStyle/>
          <a:p>
            <a:pPr marL="228600" indent="-228600"/>
            <a:r>
              <a:rPr lang="en-US" dirty="0"/>
              <a:t>This compares the percentages of firms in each market that trade in each PE ratio class…  Some interesting differences:</a:t>
            </a:r>
          </a:p>
          <a:p>
            <a:pPr marL="228600" indent="-228600">
              <a:buFontTx/>
              <a:buAutoNum type="arabicPeriod"/>
            </a:pPr>
            <a:r>
              <a:rPr lang="en-US" dirty="0"/>
              <a:t>More emerging market companies trade at very low PE ratios (less than 8) than European or US companies </a:t>
            </a:r>
          </a:p>
          <a:p>
            <a:pPr marL="228600" indent="-228600">
              <a:buFontTx/>
              <a:buAutoNum type="arabicPeriod"/>
            </a:pPr>
            <a:r>
              <a:rPr lang="en-US" dirty="0"/>
              <a:t>More emerging market companies also trade at very high multiples of earnings.</a:t>
            </a:r>
          </a:p>
          <a:p>
            <a:pPr marL="228600" indent="-228600">
              <a:buFontTx/>
              <a:buAutoNum type="arabicPeriod"/>
            </a:pPr>
            <a:r>
              <a:rPr lang="en-US" dirty="0"/>
              <a:t>The median PE ratio is lowest in emerging markets, reflecting the effect of country risk on PE.</a:t>
            </a:r>
          </a:p>
        </p:txBody>
      </p:sp>
    </p:spTree>
    <p:extLst>
      <p:ext uri="{BB962C8B-B14F-4D97-AF65-F5344CB8AC3E}">
        <p14:creationId xmlns:p14="http://schemas.microsoft.com/office/powerpoint/2010/main" val="1635541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ChangeArrowheads="1" noTextEdit="1"/>
          </p:cNvSpPr>
          <p:nvPr>
            <p:ph type="sldImg"/>
          </p:nvPr>
        </p:nvSpPr>
        <p:spPr>
          <a:xfrm>
            <a:off x="1150938" y="692150"/>
            <a:ext cx="4556125" cy="3416300"/>
          </a:xfrm>
          <a:ln/>
        </p:spPr>
      </p:sp>
      <p:sp>
        <p:nvSpPr>
          <p:cNvPr id="264195" name="Rectangle 3"/>
          <p:cNvSpPr>
            <a:spLocks noGrp="1" noChangeArrowheads="1"/>
          </p:cNvSpPr>
          <p:nvPr>
            <p:ph type="body" idx="1"/>
          </p:nvPr>
        </p:nvSpPr>
        <p:spPr/>
        <p:txBody>
          <a:bodyPr>
            <a:normAutofit fontScale="92500"/>
          </a:bodyPr>
          <a:lstStyle/>
          <a:p>
            <a:r>
              <a:rPr lang="en-US" dirty="0"/>
              <a:t>PE Ratio and Fundamentals</a:t>
            </a:r>
          </a:p>
          <a:p>
            <a:r>
              <a:rPr lang="en-US" b="1" dirty="0">
                <a:solidFill>
                  <a:schemeClr val="accent2"/>
                </a:solidFill>
              </a:rPr>
              <a:t>Proposition: Other things held equal, </a:t>
            </a:r>
            <a:r>
              <a:rPr lang="en-US" b="1" u="sng" dirty="0">
                <a:solidFill>
                  <a:schemeClr val="accent2"/>
                </a:solidFill>
              </a:rPr>
              <a:t>higher growth firms </a:t>
            </a:r>
            <a:r>
              <a:rPr lang="en-US" b="1" dirty="0">
                <a:solidFill>
                  <a:schemeClr val="accent2"/>
                </a:solidFill>
              </a:rPr>
              <a:t>will have higher PE ratios than lower growth firms.</a:t>
            </a:r>
          </a:p>
          <a:p>
            <a:r>
              <a:rPr lang="en-US" b="1" dirty="0">
                <a:solidFill>
                  <a:schemeClr val="accent2"/>
                </a:solidFill>
              </a:rPr>
              <a:t>Proposition: Other things held equal, </a:t>
            </a:r>
            <a:r>
              <a:rPr lang="en-US" b="1" u="sng" dirty="0">
                <a:solidFill>
                  <a:schemeClr val="accent2"/>
                </a:solidFill>
              </a:rPr>
              <a:t>higher risk firms </a:t>
            </a:r>
            <a:r>
              <a:rPr lang="en-US" b="1" dirty="0">
                <a:solidFill>
                  <a:schemeClr val="accent2"/>
                </a:solidFill>
              </a:rPr>
              <a:t>will have lower PE ratios than lower risk firms</a:t>
            </a:r>
          </a:p>
          <a:p>
            <a:r>
              <a:rPr lang="en-US" b="1" dirty="0">
                <a:solidFill>
                  <a:schemeClr val="accent2"/>
                </a:solidFill>
              </a:rPr>
              <a:t>Proposition: Other things held equal,</a:t>
            </a:r>
            <a:r>
              <a:rPr lang="en-US" b="1" u="sng" dirty="0">
                <a:solidFill>
                  <a:schemeClr val="accent2"/>
                </a:solidFill>
              </a:rPr>
              <a:t> firms with lower reinvestment needs </a:t>
            </a:r>
            <a:r>
              <a:rPr lang="en-US" b="1" dirty="0">
                <a:solidFill>
                  <a:schemeClr val="accent2"/>
                </a:solidFill>
              </a:rPr>
              <a:t>will have higher PE ratios than firms with higher reinvestment rates.</a:t>
            </a:r>
            <a:endParaRPr lang="en-US" dirty="0">
              <a:solidFill>
                <a:schemeClr val="accent2"/>
              </a:solidFill>
            </a:endParaRPr>
          </a:p>
          <a:p>
            <a:r>
              <a:rPr lang="en-US" dirty="0"/>
              <a:t>Of course, other things are difficult to hold equal since high growth firms, tend to have risk and high reinvestment needs.</a:t>
            </a:r>
          </a:p>
          <a:p>
            <a:endParaRPr lang="en-US" dirty="0"/>
          </a:p>
          <a:p>
            <a:endParaRPr lang="en-US" dirty="0"/>
          </a:p>
          <a:p>
            <a:r>
              <a:rPr lang="en-US" dirty="0"/>
              <a:t>At first sight, the second proposition may seem counter intuitive. After all, riskiest firms often have the highest PE ratios. The answer lies, of course, in the reality that firms with high risk also tend to have high growth, and growth usually trumps risk…. </a:t>
            </a:r>
          </a:p>
          <a:p>
            <a:pPr marL="228600" indent="-228600"/>
            <a:endParaRPr lang="en-US" dirty="0"/>
          </a:p>
          <a:p>
            <a:pPr marL="228600" indent="-228600"/>
            <a:endParaRPr lang="en-US" dirty="0"/>
          </a:p>
          <a:p>
            <a:pPr marL="228600" indent="-228600"/>
            <a:r>
              <a:rPr lang="en-US" dirty="0"/>
              <a:t>To get to the heart of equity multiples, we start with an equity DCF model. In this case, we consider the simplest equity valuation model - a stable growth dividend discount model. Restated in terms of the PE ratio, we find that the PE ratio </a:t>
            </a:r>
            <a:r>
              <a:rPr lang="en-US" dirty="0" err="1"/>
              <a:t>fo</a:t>
            </a:r>
            <a:r>
              <a:rPr lang="en-US" dirty="0"/>
              <a:t> a stable growth firm can be written in terms of three variables:</a:t>
            </a:r>
          </a:p>
          <a:p>
            <a:pPr marL="228600" indent="-228600">
              <a:buFontTx/>
              <a:buAutoNum type="arabicPeriod"/>
            </a:pPr>
            <a:r>
              <a:rPr lang="en-US" dirty="0"/>
              <a:t>The expected growth rate in earnings per share</a:t>
            </a:r>
          </a:p>
          <a:p>
            <a:pPr marL="228600" indent="-228600">
              <a:buFontTx/>
              <a:buAutoNum type="arabicPeriod"/>
            </a:pPr>
            <a:r>
              <a:rPr lang="en-US" dirty="0"/>
              <a:t>The riskiness of the equity, which determines the cost of equity</a:t>
            </a:r>
          </a:p>
          <a:p>
            <a:pPr marL="228600" indent="-228600">
              <a:buFontTx/>
              <a:buAutoNum type="arabicPeriod"/>
            </a:pPr>
            <a:r>
              <a:rPr lang="en-US" dirty="0"/>
              <a:t>The efficiency with which the firm generates </a:t>
            </a:r>
            <a:r>
              <a:rPr lang="en-US" dirty="0" err="1"/>
              <a:t>growth,which</a:t>
            </a:r>
            <a:r>
              <a:rPr lang="en-US" dirty="0"/>
              <a:t> is measured by how much the firm can pay out or afford to pay out after reinvested to create the growth.</a:t>
            </a:r>
          </a:p>
        </p:txBody>
      </p:sp>
    </p:spTree>
    <p:extLst>
      <p:ext uri="{BB962C8B-B14F-4D97-AF65-F5344CB8AC3E}">
        <p14:creationId xmlns:p14="http://schemas.microsoft.com/office/powerpoint/2010/main" val="2288570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GB" b="1" dirty="0"/>
              <a:t>PE</a:t>
            </a:r>
            <a:r>
              <a:rPr lang="en-GB" b="1" baseline="0" dirty="0"/>
              <a:t> and Growth</a:t>
            </a:r>
          </a:p>
          <a:p>
            <a:endParaRPr lang="en-GB" baseline="0" dirty="0"/>
          </a:p>
          <a:p>
            <a:r>
              <a:rPr lang="en-US" dirty="0"/>
              <a:t>As expected growth in the high growth period increases, the PE ratio increases, but the change in PE ratio for a given change in the growth rate is much greater when interest rates are low than when they are high. The reason is simple. The value of growth is a present value… If interest rates rise, the present value of growth decreases.</a:t>
            </a:r>
          </a:p>
          <a:p>
            <a:r>
              <a:rPr lang="en-US" dirty="0"/>
              <a:t>If you consider that  expected growth rates in earnings usually change as a result of an earnings surprise, this would suggest that a stock’s price and PE ratio will be most sensitive to earnings surprises when interest rates are low than when they are high.</a:t>
            </a:r>
          </a:p>
          <a:p>
            <a:endParaRPr lang="en-GB" dirty="0"/>
          </a:p>
          <a:p>
            <a:endParaRPr lang="en-GB" dirty="0"/>
          </a:p>
          <a:p>
            <a:r>
              <a:rPr lang="en-GB" b="1" dirty="0"/>
              <a:t>PE and Length of Growth</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As you lengthen the growth period, the PE ratio increases but it increases more when the expected growth rate during the period is a high number than when it is lower… The length of the growth period is a function of competitive advantages. This would indicate that you should be much more informed about a firm’s competitive position and aware of the potential slippage in this position when you are investing in a high growth company than when you are investing in a low growth company.</a:t>
            </a:r>
          </a:p>
          <a:p>
            <a:endParaRPr lang="en-GB" dirty="0"/>
          </a:p>
          <a:p>
            <a:endParaRPr lang="en-GB" dirty="0"/>
          </a:p>
          <a:p>
            <a:r>
              <a:rPr lang="en-GB" b="1" dirty="0"/>
              <a:t>PE and Risk</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As risk increases, PE ratios fall, not matter what the expected growth rate. At very high risk (or perceived risk), the PE ratio becomes relatively insensitive to changes in the growth rate. A manager of a high-growth, high risk firm (say a growth rate of 20% and a beta of 2) will get a much bigger payoff to reducing risk than increasing growth.</a:t>
            </a:r>
          </a:p>
          <a:p>
            <a:endParaRPr lang="en-GB" dirty="0"/>
          </a:p>
          <a:p>
            <a:endParaRPr lang="en-GB" dirty="0"/>
          </a:p>
          <a:p>
            <a:r>
              <a:rPr lang="en-GB" b="1" dirty="0"/>
              <a:t>PE</a:t>
            </a:r>
            <a:r>
              <a:rPr lang="en-GB" b="1" baseline="0" dirty="0"/>
              <a:t> and </a:t>
            </a:r>
            <a:r>
              <a:rPr lang="en-GB" b="1" baseline="0" dirty="0" err="1"/>
              <a:t>Payout</a:t>
            </a:r>
            <a:endParaRPr lang="en-GB" b="1" baseline="0" dirty="0"/>
          </a:p>
          <a:p>
            <a:endParaRPr lang="en-GB" dirty="0"/>
          </a:p>
          <a:p>
            <a:r>
              <a:rPr lang="en-US" dirty="0"/>
              <a:t>Note that this assumes that growth is held constant. The only way you can increase payout, holding growth constant, is to increase the return on equity:</a:t>
            </a:r>
          </a:p>
          <a:p>
            <a:r>
              <a:rPr lang="en-US" dirty="0"/>
              <a:t>Growth rate = (1 - Payout ratio) ROE</a:t>
            </a:r>
          </a:p>
          <a:p>
            <a:r>
              <a:rPr lang="en-US" dirty="0"/>
              <a:t>Thus, this graph could have been drawn in terms of the ROE. Higher return on equity companies will have higher PE ratios than lower ROE companies with the same expected growth rate in earnings. Consider it the payoff to quality growth.</a:t>
            </a:r>
          </a:p>
          <a:p>
            <a:endParaRPr lang="en-GB" dirty="0"/>
          </a:p>
        </p:txBody>
      </p:sp>
      <p:sp>
        <p:nvSpPr>
          <p:cNvPr id="4" name="Slide Number Placeholder 3"/>
          <p:cNvSpPr>
            <a:spLocks noGrp="1"/>
          </p:cNvSpPr>
          <p:nvPr>
            <p:ph type="sldNum" sz="quarter" idx="10"/>
          </p:nvPr>
        </p:nvSpPr>
        <p:spPr/>
        <p:txBody>
          <a:bodyPr/>
          <a:lstStyle/>
          <a:p>
            <a:fld id="{C6C200C4-E9D7-4A2E-93D3-BB845A9C5CC7}" type="slidenum">
              <a:rPr lang="en-GB" smtClean="0"/>
              <a:pPr/>
              <a:t>12</a:t>
            </a:fld>
            <a:endParaRPr lang="en-GB"/>
          </a:p>
        </p:txBody>
      </p:sp>
    </p:spTree>
    <p:extLst>
      <p:ext uri="{BB962C8B-B14F-4D97-AF65-F5344CB8AC3E}">
        <p14:creationId xmlns:p14="http://schemas.microsoft.com/office/powerpoint/2010/main" val="2483629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Rot="1" noChangeAspect="1" noChangeArrowheads="1" noTextEdit="1"/>
          </p:cNvSpPr>
          <p:nvPr>
            <p:ph type="sldImg"/>
          </p:nvPr>
        </p:nvSpPr>
        <p:spPr>
          <a:xfrm>
            <a:off x="1150938" y="692150"/>
            <a:ext cx="4556125" cy="3416300"/>
          </a:xfrm>
          <a:ln/>
        </p:spPr>
      </p:sp>
      <p:sp>
        <p:nvSpPr>
          <p:cNvPr id="281603" name="Rectangle 3"/>
          <p:cNvSpPr>
            <a:spLocks noGrp="1" noChangeArrowheads="1"/>
          </p:cNvSpPr>
          <p:nvPr>
            <p:ph type="body" idx="1"/>
          </p:nvPr>
        </p:nvSpPr>
        <p:spPr/>
        <p:txBody>
          <a:bodyPr>
            <a:normAutofit fontScale="92500" lnSpcReduction="20000"/>
          </a:bodyPr>
          <a:lstStyle/>
          <a:p>
            <a:r>
              <a:rPr lang="en-US" dirty="0"/>
              <a:t>The graph of PE ratios for the S&amp;P 500 show an increasing PE ratio over time… The PE ratio in 1999 was clearly much higher than PE ratios over the prior two decades…</a:t>
            </a:r>
          </a:p>
          <a:p>
            <a:endParaRPr lang="en-US" dirty="0"/>
          </a:p>
          <a:p>
            <a:endParaRPr lang="en-US" dirty="0"/>
          </a:p>
          <a:p>
            <a:endParaRPr lang="en-US" dirty="0"/>
          </a:p>
          <a:p>
            <a:endParaRPr lang="en-US" dirty="0"/>
          </a:p>
          <a:p>
            <a:r>
              <a:rPr lang="en-US" b="1" dirty="0"/>
              <a:t>Is low (high) PE cheap (expensive)?</a:t>
            </a:r>
          </a:p>
          <a:p>
            <a:endParaRPr lang="en-US" dirty="0"/>
          </a:p>
          <a:p>
            <a:r>
              <a:rPr lang="en-US" dirty="0"/>
              <a:t>A market strategist argues that stocks are over priced because the PE ratio today is too high relative to the average PE ratio across time. Do you agree?</a:t>
            </a:r>
          </a:p>
          <a:p>
            <a:pPr lvl="1">
              <a:buFont typeface="Wingdings" charset="2"/>
              <a:buChar char="q"/>
            </a:pPr>
            <a:r>
              <a:rPr lang="en-US" dirty="0"/>
              <a:t>Yes </a:t>
            </a:r>
          </a:p>
          <a:p>
            <a:pPr lvl="1">
              <a:buFont typeface="Wingdings" charset="2"/>
              <a:buChar char="q"/>
            </a:pPr>
            <a:r>
              <a:rPr lang="en-US" dirty="0"/>
              <a:t>No</a:t>
            </a:r>
          </a:p>
          <a:p>
            <a:r>
              <a:rPr lang="en-US" dirty="0"/>
              <a:t>If you do not agree, what factors might explain the higher PE ratio today?</a:t>
            </a:r>
          </a:p>
          <a:p>
            <a:pPr marL="228600" indent="-228600"/>
            <a:endParaRPr lang="en-US" dirty="0"/>
          </a:p>
          <a:p>
            <a:pPr marL="228600" indent="-228600"/>
            <a:endParaRPr lang="en-US" dirty="0"/>
          </a:p>
          <a:p>
            <a:pPr marL="228600" indent="-228600"/>
            <a:r>
              <a:rPr lang="en-US" dirty="0"/>
              <a:t>Not necessarily. There are other possible explanations, that relate back to the fundamentals that determine PE:</a:t>
            </a:r>
          </a:p>
          <a:p>
            <a:pPr marL="228600" indent="-228600">
              <a:buFontTx/>
              <a:buAutoNum type="alphaLcPeriod"/>
            </a:pPr>
            <a:r>
              <a:rPr lang="en-US" dirty="0"/>
              <a:t>Discount rate: The discount rate applied to earnings and </a:t>
            </a:r>
            <a:r>
              <a:rPr lang="en-US" dirty="0" err="1"/>
              <a:t>cashflows</a:t>
            </a:r>
            <a:r>
              <a:rPr lang="en-US" dirty="0"/>
              <a:t> may be lower - this can occur either because </a:t>
            </a:r>
          </a:p>
          <a:p>
            <a:pPr marL="685800" lvl="1" indent="-228600">
              <a:buFontTx/>
              <a:buChar char="-"/>
            </a:pPr>
            <a:r>
              <a:rPr lang="en-US" dirty="0"/>
              <a:t>interest rates were lower in 1999 than they were in the 1980s</a:t>
            </a:r>
          </a:p>
          <a:p>
            <a:pPr marL="685800" lvl="1" indent="-228600">
              <a:buFontTx/>
              <a:buChar char="-"/>
            </a:pPr>
            <a:r>
              <a:rPr lang="en-US" dirty="0"/>
              <a:t>Investors may have perceived that equities were less risky and demanded a lower risk premium (there are related stories including the influx of pension fund money into stocks)</a:t>
            </a:r>
          </a:p>
          <a:p>
            <a:pPr marL="228600" indent="-228600">
              <a:buFontTx/>
              <a:buChar char="-"/>
            </a:pPr>
            <a:r>
              <a:rPr lang="en-US" dirty="0"/>
              <a:t>b. Expected Growth: By 1999, higher-growth technology firms like Cisco and Microsoft  were a much larger segment of the S&amp;P 500. The expected growth rate in earnings for stocks in the index would therefore be higher..</a:t>
            </a:r>
          </a:p>
          <a:p>
            <a:pPr marL="228600" indent="-228600">
              <a:buFontTx/>
              <a:buChar char="-"/>
            </a:pPr>
            <a:r>
              <a:rPr lang="en-US" dirty="0"/>
              <a:t>c. More Efficient Growth: U.S. stocks did increase the returns on their investments during the 1990s. This would translate into the capacity to return more cash to stockholders while maintaining growth…</a:t>
            </a:r>
          </a:p>
          <a:p>
            <a:endParaRPr lang="en-US" dirty="0"/>
          </a:p>
        </p:txBody>
      </p:sp>
    </p:spTree>
    <p:extLst>
      <p:ext uri="{BB962C8B-B14F-4D97-AF65-F5344CB8AC3E}">
        <p14:creationId xmlns:p14="http://schemas.microsoft.com/office/powerpoint/2010/main" val="1027488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GB" b="1" dirty="0"/>
              <a:t>Using </a:t>
            </a:r>
            <a:r>
              <a:rPr lang="en-GB" b="1" dirty="0" err="1"/>
              <a:t>comparables</a:t>
            </a:r>
            <a:r>
              <a:rPr lang="en-GB" b="1" dirty="0"/>
              <a:t> Pros and Cons</a:t>
            </a:r>
          </a:p>
          <a:p>
            <a:endParaRPr lang="en-GB" dirty="0"/>
          </a:p>
          <a:p>
            <a:pPr>
              <a:lnSpc>
                <a:spcPct val="90000"/>
              </a:lnSpc>
            </a:pPr>
            <a:r>
              <a:rPr lang="en-US" dirty="0"/>
              <a:t>The most common approach to estimating the PE ratio for a firm is </a:t>
            </a:r>
          </a:p>
          <a:p>
            <a:pPr lvl="1">
              <a:lnSpc>
                <a:spcPct val="90000"/>
              </a:lnSpc>
            </a:pPr>
            <a:r>
              <a:rPr lang="en-US" dirty="0"/>
              <a:t>to choose a group of comparable firms,</a:t>
            </a:r>
          </a:p>
          <a:p>
            <a:pPr lvl="1">
              <a:lnSpc>
                <a:spcPct val="90000"/>
              </a:lnSpc>
            </a:pPr>
            <a:r>
              <a:rPr lang="en-US" dirty="0"/>
              <a:t>to calculate the average PE ratio for this group and</a:t>
            </a:r>
          </a:p>
          <a:p>
            <a:pPr lvl="1">
              <a:lnSpc>
                <a:spcPct val="90000"/>
              </a:lnSpc>
            </a:pPr>
            <a:r>
              <a:rPr lang="en-US" dirty="0"/>
              <a:t>to subjectively adjust this average for differences between the firm being valued and the comparable firms. </a:t>
            </a:r>
          </a:p>
          <a:p>
            <a:pPr>
              <a:lnSpc>
                <a:spcPct val="90000"/>
              </a:lnSpc>
            </a:pPr>
            <a:r>
              <a:rPr lang="en-US" dirty="0"/>
              <a:t>Problems with this approach. </a:t>
            </a:r>
          </a:p>
          <a:p>
            <a:pPr lvl="1">
              <a:lnSpc>
                <a:spcPct val="90000"/>
              </a:lnSpc>
            </a:pPr>
            <a:r>
              <a:rPr lang="en-US" dirty="0"/>
              <a:t>The definition of a 'comparable' firm is essentially a subjective one. </a:t>
            </a:r>
          </a:p>
          <a:p>
            <a:pPr lvl="1">
              <a:lnSpc>
                <a:spcPct val="90000"/>
              </a:lnSpc>
            </a:pPr>
            <a:r>
              <a:rPr lang="en-US" dirty="0"/>
              <a:t>The use of other firms in the industry as the control group is often not a solution because firms within the same industry can have very different business mixes and risk and growth profiles. </a:t>
            </a:r>
          </a:p>
          <a:p>
            <a:pPr lvl="1">
              <a:lnSpc>
                <a:spcPct val="90000"/>
              </a:lnSpc>
            </a:pPr>
            <a:r>
              <a:rPr lang="en-US" dirty="0"/>
              <a:t>There is also plenty of potential for bias. </a:t>
            </a:r>
          </a:p>
          <a:p>
            <a:pPr lvl="1">
              <a:lnSpc>
                <a:spcPct val="90000"/>
              </a:lnSpc>
            </a:pPr>
            <a:r>
              <a:rPr lang="en-US" dirty="0"/>
              <a:t>Even when a legitimate group of comparable firms can be constructed, differences will continue to persist in fundamentals between the firm being valued and this group.</a:t>
            </a:r>
          </a:p>
          <a:p>
            <a:endParaRPr lang="en-GB" dirty="0"/>
          </a:p>
          <a:p>
            <a:endParaRPr lang="en-GB" dirty="0"/>
          </a:p>
          <a:p>
            <a:endParaRPr lang="en-GB" dirty="0"/>
          </a:p>
          <a:p>
            <a:r>
              <a:rPr lang="en-US" b="1" dirty="0"/>
              <a:t>Using the entire </a:t>
            </a:r>
            <a:r>
              <a:rPr lang="en-US" b="1" dirty="0" err="1"/>
              <a:t>crosssection</a:t>
            </a:r>
            <a:r>
              <a:rPr lang="en-US" b="1" dirty="0"/>
              <a:t>: A regression approach</a:t>
            </a:r>
          </a:p>
          <a:p>
            <a:endParaRPr lang="en-US" dirty="0"/>
          </a:p>
          <a:p>
            <a:r>
              <a:rPr lang="en-US" dirty="0"/>
              <a:t>In contrast to the 'comparable firm' approach, the information in the entire cross-section of firms can be used to predict PE ratios. </a:t>
            </a:r>
          </a:p>
          <a:p>
            <a:r>
              <a:rPr lang="en-US" dirty="0"/>
              <a:t>The simplest way of summarizing this information is with a multiple regression, with the PE ratio as the dependent variable, and proxies for risk, growth and payout forming the independent variables.</a:t>
            </a:r>
          </a:p>
          <a:p>
            <a:r>
              <a:rPr lang="en-US" dirty="0"/>
              <a:t>Potential Problems</a:t>
            </a:r>
          </a:p>
          <a:p>
            <a:pPr lvl="1"/>
            <a:r>
              <a:rPr lang="en-US" dirty="0"/>
              <a:t>Negative Values</a:t>
            </a:r>
          </a:p>
          <a:p>
            <a:pPr lvl="1"/>
            <a:r>
              <a:rPr lang="en-US" dirty="0" err="1"/>
              <a:t>Multicolinearity</a:t>
            </a:r>
            <a:endParaRPr lang="en-US" dirty="0"/>
          </a:p>
          <a:p>
            <a:endParaRPr lang="en-US" dirty="0"/>
          </a:p>
          <a:p>
            <a:endParaRPr lang="en-US" dirty="0"/>
          </a:p>
          <a:p>
            <a:endParaRPr lang="en-US" dirty="0"/>
          </a:p>
          <a:p>
            <a:endParaRPr lang="en-US" dirty="0"/>
          </a:p>
          <a:p>
            <a:r>
              <a:rPr lang="en-US" dirty="0"/>
              <a:t>There is information in how the market prices all firms that can be used to value any firm in that market. </a:t>
            </a:r>
          </a:p>
          <a:p>
            <a:endParaRPr lang="en-US" dirty="0"/>
          </a:p>
          <a:p>
            <a:r>
              <a:rPr lang="en-US" dirty="0"/>
              <a:t>Negative constant (negative</a:t>
            </a:r>
            <a:r>
              <a:rPr lang="en-US" baseline="0" dirty="0"/>
              <a:t> predictions)</a:t>
            </a:r>
          </a:p>
          <a:p>
            <a:endParaRPr lang="en-US" baseline="0" dirty="0"/>
          </a:p>
          <a:p>
            <a:r>
              <a:rPr lang="en-US" baseline="0" dirty="0"/>
              <a:t>Regression without a constant.</a:t>
            </a:r>
          </a:p>
          <a:p>
            <a:endParaRPr lang="en-US" baseline="0" dirty="0"/>
          </a:p>
          <a:p>
            <a:endParaRPr lang="en-US" dirty="0"/>
          </a:p>
          <a:p>
            <a:endParaRPr lang="en-US" dirty="0"/>
          </a:p>
          <a:p>
            <a:r>
              <a:rPr lang="en-US" dirty="0" err="1"/>
              <a:t>Multicolinearity</a:t>
            </a:r>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 a multiple regression, the independent variables should be uncorrelated with each other - the correlations should be zero between growth and beta, growth and payout, payout and beta… As the correlation matrix above indicates, this is not always the case.</a:t>
            </a:r>
          </a:p>
          <a:p>
            <a:endParaRPr lang="en-US" dirty="0"/>
          </a:p>
          <a:p>
            <a:endParaRPr lang="en-GB" dirty="0"/>
          </a:p>
        </p:txBody>
      </p:sp>
      <p:sp>
        <p:nvSpPr>
          <p:cNvPr id="4" name="Slide Number Placeholder 3"/>
          <p:cNvSpPr>
            <a:spLocks noGrp="1"/>
          </p:cNvSpPr>
          <p:nvPr>
            <p:ph type="sldNum" sz="quarter" idx="10"/>
          </p:nvPr>
        </p:nvSpPr>
        <p:spPr/>
        <p:txBody>
          <a:bodyPr/>
          <a:lstStyle/>
          <a:p>
            <a:fld id="{C6C200C4-E9D7-4A2E-93D3-BB845A9C5CC7}" type="slidenum">
              <a:rPr lang="en-GB" smtClean="0"/>
              <a:pPr/>
              <a:t>14</a:t>
            </a:fld>
            <a:endParaRPr lang="en-GB"/>
          </a:p>
        </p:txBody>
      </p:sp>
    </p:spTree>
    <p:extLst>
      <p:ext uri="{BB962C8B-B14F-4D97-AF65-F5344CB8AC3E}">
        <p14:creationId xmlns:p14="http://schemas.microsoft.com/office/powerpoint/2010/main" val="4268690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Rot="1" noChangeAspect="1" noChangeArrowheads="1" noTextEdit="1"/>
          </p:cNvSpPr>
          <p:nvPr>
            <p:ph type="sldImg"/>
          </p:nvPr>
        </p:nvSpPr>
        <p:spPr>
          <a:xfrm>
            <a:off x="1150938" y="692150"/>
            <a:ext cx="4556125" cy="3416300"/>
          </a:xfrm>
          <a:ln/>
        </p:spPr>
      </p:sp>
      <p:sp>
        <p:nvSpPr>
          <p:cNvPr id="288771" name="Rectangle 3"/>
          <p:cNvSpPr>
            <a:spLocks noGrp="1" noChangeArrowheads="1"/>
          </p:cNvSpPr>
          <p:nvPr>
            <p:ph type="body" idx="1"/>
          </p:nvPr>
        </p:nvSpPr>
        <p:spPr/>
        <p:txBody>
          <a:bodyPr/>
          <a:lstStyle/>
          <a:p>
            <a:r>
              <a:rPr lang="en-US"/>
              <a:t>In this sample, note that some of the firms in the sample are emerging market firms any may be exposed to more risk (political risk, economic risk, inflation risk…)</a:t>
            </a:r>
          </a:p>
        </p:txBody>
      </p:sp>
    </p:spTree>
    <p:extLst>
      <p:ext uri="{BB962C8B-B14F-4D97-AF65-F5344CB8AC3E}">
        <p14:creationId xmlns:p14="http://schemas.microsoft.com/office/powerpoint/2010/main" val="1383811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Rot="1" noChangeAspect="1" noChangeArrowheads="1" noTextEdit="1"/>
          </p:cNvSpPr>
          <p:nvPr>
            <p:ph type="sldImg"/>
          </p:nvPr>
        </p:nvSpPr>
        <p:spPr>
          <a:xfrm>
            <a:off x="1150938" y="692150"/>
            <a:ext cx="4556125" cy="3416300"/>
          </a:xfrm>
          <a:ln/>
        </p:spPr>
      </p:sp>
      <p:sp>
        <p:nvSpPr>
          <p:cNvPr id="289795" name="Rectangle 3"/>
          <p:cNvSpPr>
            <a:spLocks noGrp="1" noChangeArrowheads="1"/>
          </p:cNvSpPr>
          <p:nvPr>
            <p:ph type="body" idx="1"/>
          </p:nvPr>
        </p:nvSpPr>
        <p:spPr/>
        <p:txBody>
          <a:bodyPr/>
          <a:lstStyle/>
          <a:p>
            <a:r>
              <a:rPr lang="en-US"/>
              <a:t>Higher growth telecomm companies have higher PE ratios..</a:t>
            </a:r>
          </a:p>
          <a:p>
            <a:r>
              <a:rPr lang="en-US"/>
              <a:t>One way to read this regression: If you have two companies - one with a growth rate of 10% and one with a growth rate of 20%, the latter should have a PE that is 12.1 higher..</a:t>
            </a:r>
          </a:p>
          <a:p>
            <a:r>
              <a:rPr lang="en-US"/>
              <a:t>If the firm happens to be an emerging market firm, though, you would expect its PE ratio to be 13.85 lower than a firm with similar growth in a developed market.</a:t>
            </a:r>
          </a:p>
        </p:txBody>
      </p:sp>
    </p:spTree>
    <p:extLst>
      <p:ext uri="{BB962C8B-B14F-4D97-AF65-F5344CB8AC3E}">
        <p14:creationId xmlns:p14="http://schemas.microsoft.com/office/powerpoint/2010/main" val="1091799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spect="1" noChangeArrowheads="1" noTextEdit="1"/>
          </p:cNvSpPr>
          <p:nvPr>
            <p:ph type="sldImg"/>
          </p:nvPr>
        </p:nvSpPr>
        <p:spPr>
          <a:xfrm>
            <a:off x="1150938" y="692150"/>
            <a:ext cx="4556125" cy="3416300"/>
          </a:xfrm>
          <a:ln/>
        </p:spPr>
      </p:sp>
      <p:sp>
        <p:nvSpPr>
          <p:cNvPr id="290819" name="Rectangle 3"/>
          <p:cNvSpPr>
            <a:spLocks noGrp="1" noChangeArrowheads="1"/>
          </p:cNvSpPr>
          <p:nvPr>
            <p:ph type="body" idx="1"/>
          </p:nvPr>
        </p:nvSpPr>
        <p:spPr/>
        <p:txBody>
          <a:bodyPr/>
          <a:lstStyle/>
          <a:p>
            <a:r>
              <a:rPr lang="en-US" dirty="0"/>
              <a:t>With a 7.5% growth rate and being an emerging market company, </a:t>
            </a:r>
            <a:r>
              <a:rPr lang="en-US" dirty="0" err="1"/>
              <a:t>Telebras</a:t>
            </a:r>
            <a:r>
              <a:rPr lang="en-US" dirty="0"/>
              <a:t> is overvalued slightly, even though it has a low PE ratio.</a:t>
            </a:r>
          </a:p>
        </p:txBody>
      </p:sp>
    </p:spTree>
    <p:extLst>
      <p:ext uri="{BB962C8B-B14F-4D97-AF65-F5344CB8AC3E}">
        <p14:creationId xmlns:p14="http://schemas.microsoft.com/office/powerpoint/2010/main" val="2076696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Rot="1" noChangeAspect="1" noChangeArrowheads="1" noTextEdit="1"/>
          </p:cNvSpPr>
          <p:nvPr>
            <p:ph type="sldImg"/>
          </p:nvPr>
        </p:nvSpPr>
        <p:spPr>
          <a:xfrm>
            <a:off x="1150938" y="692150"/>
            <a:ext cx="4556125" cy="3416300"/>
          </a:xfrm>
          <a:ln/>
        </p:spPr>
      </p:sp>
      <p:sp>
        <p:nvSpPr>
          <p:cNvPr id="25497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4484061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Rot="1" noChangeAspect="1" noChangeArrowheads="1" noTextEdit="1"/>
          </p:cNvSpPr>
          <p:nvPr>
            <p:ph type="sldImg"/>
          </p:nvPr>
        </p:nvSpPr>
        <p:spPr>
          <a:xfrm>
            <a:off x="1150938" y="692150"/>
            <a:ext cx="4556125" cy="3416300"/>
          </a:xfrm>
          <a:ln/>
        </p:spPr>
      </p:sp>
      <p:sp>
        <p:nvSpPr>
          <p:cNvPr id="343043" name="Rectangle 3"/>
          <p:cNvSpPr>
            <a:spLocks noGrp="1" noChangeArrowheads="1"/>
          </p:cNvSpPr>
          <p:nvPr>
            <p:ph type="body" idx="1"/>
          </p:nvPr>
        </p:nvSpPr>
        <p:spPr/>
        <p:txBody>
          <a:bodyPr/>
          <a:lstStyle/>
          <a:p>
            <a:r>
              <a:rPr lang="en-US"/>
              <a:t>In contrast to price multiples, you look at firm or enterprise value when you compute value multiples. Firm value is the market value of equity + market value of debt. Enterprise value = Firm value - cash. Why would you use one as opposed to the other? When we compute value to earnings multiples, the earnings that are used tend to be operating earnings (EBIT, EBITDA etc.). Since the income from cash and marketable securities is not included in operating income, we exclude it from the numerator as well.</a:t>
            </a:r>
          </a:p>
          <a:p>
            <a:r>
              <a:rPr lang="en-US"/>
              <a:t>The most logical denominator for enterprise value is the free cashflow to the firm, which is the cashflow prior to debt payments but after taxes and reinvestment needs.</a:t>
            </a:r>
          </a:p>
        </p:txBody>
      </p:sp>
    </p:spTree>
    <p:extLst>
      <p:ext uri="{BB962C8B-B14F-4D97-AF65-F5344CB8AC3E}">
        <p14:creationId xmlns:p14="http://schemas.microsoft.com/office/powerpoint/2010/main" val="3366341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Rot="1" noChangeAspect="1" noChangeArrowheads="1" noTextEdit="1"/>
          </p:cNvSpPr>
          <p:nvPr>
            <p:ph type="sldImg"/>
          </p:nvPr>
        </p:nvSpPr>
        <p:spPr>
          <a:xfrm>
            <a:off x="1150938" y="692150"/>
            <a:ext cx="4556125" cy="3416300"/>
          </a:xfrm>
          <a:ln/>
        </p:spPr>
      </p:sp>
      <p:sp>
        <p:nvSpPr>
          <p:cNvPr id="345091" name="Rectangle 3"/>
          <p:cNvSpPr>
            <a:spLocks noGrp="1" noChangeArrowheads="1"/>
          </p:cNvSpPr>
          <p:nvPr>
            <p:ph type="body" idx="1"/>
          </p:nvPr>
        </p:nvSpPr>
        <p:spPr/>
        <p:txBody>
          <a:bodyPr/>
          <a:lstStyle/>
          <a:p>
            <a:r>
              <a:rPr lang="en-US"/>
              <a:t>To investigate the determinants of the value to FCFF, we go back to a firm valuation model (rather than an equity valuation model).</a:t>
            </a:r>
          </a:p>
          <a:p>
            <a:r>
              <a:rPr lang="en-US"/>
              <a:t>This is a two-stage FCFF model - the first term in the equation is the present value of FCFF during the high growth phase and the second term is the present value of the terminal value…</a:t>
            </a:r>
          </a:p>
        </p:txBody>
      </p:sp>
    </p:spTree>
    <p:extLst>
      <p:ext uri="{BB962C8B-B14F-4D97-AF65-F5344CB8AC3E}">
        <p14:creationId xmlns:p14="http://schemas.microsoft.com/office/powerpoint/2010/main" val="3193317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Rot="1" noChangeAspect="1" noChangeArrowheads="1" noTextEdit="1"/>
          </p:cNvSpPr>
          <p:nvPr>
            <p:ph type="sldImg"/>
          </p:nvPr>
        </p:nvSpPr>
        <p:spPr>
          <a:xfrm>
            <a:off x="1150938" y="692150"/>
            <a:ext cx="4556125" cy="3416300"/>
          </a:xfrm>
          <a:ln/>
        </p:spPr>
      </p:sp>
      <p:sp>
        <p:nvSpPr>
          <p:cNvPr id="346115" name="Rectangle 3"/>
          <p:cNvSpPr>
            <a:spLocks noGrp="1" noChangeArrowheads="1"/>
          </p:cNvSpPr>
          <p:nvPr>
            <p:ph type="body" idx="1"/>
          </p:nvPr>
        </p:nvSpPr>
        <p:spPr/>
        <p:txBody>
          <a:bodyPr/>
          <a:lstStyle/>
          <a:p>
            <a:r>
              <a:rPr lang="en-US"/>
              <a:t>Dividing both sides by the FCFF, we obtain the determinants of the free cashflow to the firm. In summary, the value to FCFF multiple is determined by the cost of capital and expected growth in FCFF.</a:t>
            </a:r>
          </a:p>
        </p:txBody>
      </p:sp>
    </p:spTree>
    <p:extLst>
      <p:ext uri="{BB962C8B-B14F-4D97-AF65-F5344CB8AC3E}">
        <p14:creationId xmlns:p14="http://schemas.microsoft.com/office/powerpoint/2010/main" val="2118383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Rot="1" noChangeAspect="1" noChangeArrowheads="1" noTextEdit="1"/>
          </p:cNvSpPr>
          <p:nvPr>
            <p:ph type="sldImg"/>
          </p:nvPr>
        </p:nvSpPr>
        <p:spPr>
          <a:xfrm>
            <a:off x="1150938" y="692150"/>
            <a:ext cx="4556125" cy="3416300"/>
          </a:xfrm>
          <a:ln/>
        </p:spPr>
      </p:sp>
      <p:sp>
        <p:nvSpPr>
          <p:cNvPr id="347139" name="Rectangle 3"/>
          <p:cNvSpPr>
            <a:spLocks noGrp="1" noChangeArrowheads="1"/>
          </p:cNvSpPr>
          <p:nvPr>
            <p:ph type="body" idx="1"/>
          </p:nvPr>
        </p:nvSpPr>
        <p:spPr/>
        <p:txBody>
          <a:bodyPr>
            <a:normAutofit fontScale="92500" lnSpcReduction="10000"/>
          </a:bodyPr>
          <a:lstStyle/>
          <a:p>
            <a:r>
              <a:rPr lang="en-US" dirty="0"/>
              <a:t>Analysts prefer short cuts, because they do not require as many estimates. To estimate FCFF, you have to estimate net capital expenditures and working capital changes.. Using EBIT, EBIT (1-t) or EBITDA allows you to get by without these estimates.</a:t>
            </a:r>
          </a:p>
          <a:p>
            <a:endParaRPr lang="en-US" dirty="0"/>
          </a:p>
          <a:p>
            <a:endParaRPr lang="en-US" dirty="0"/>
          </a:p>
          <a:p>
            <a:r>
              <a:rPr lang="en-US" b="1" dirty="0"/>
              <a:t>Reasons for Increased Use of </a:t>
            </a:r>
            <a:r>
              <a:rPr lang="en-US" b="1" dirty="0">
                <a:hlinkClick r:id="" action="ppaction://noaction"/>
              </a:rPr>
              <a:t>Value/EBITDA</a:t>
            </a:r>
            <a:endParaRPr lang="en-US" b="1" dirty="0"/>
          </a:p>
          <a:p>
            <a:endParaRPr lang="en-US" b="1" dirty="0"/>
          </a:p>
          <a:p>
            <a:pPr>
              <a:buFont typeface="Monotype Sorts" charset="2"/>
              <a:buNone/>
            </a:pPr>
            <a:r>
              <a:rPr lang="en-US" sz="1200" dirty="0"/>
              <a:t>1. The multiple </a:t>
            </a:r>
            <a:r>
              <a:rPr lang="en-US" sz="1200" u="sng" dirty="0"/>
              <a:t>can be computed </a:t>
            </a:r>
            <a:r>
              <a:rPr lang="en-US" sz="1200" dirty="0"/>
              <a:t>even for firms that are reporting net losses, since earnings before interest, taxes and depreciation are usually positive. </a:t>
            </a:r>
          </a:p>
          <a:p>
            <a:pPr>
              <a:buFont typeface="Monotype Sorts" charset="2"/>
              <a:buNone/>
            </a:pPr>
            <a:r>
              <a:rPr lang="en-US" sz="1200" dirty="0"/>
              <a:t>2. For firms in </a:t>
            </a:r>
            <a:r>
              <a:rPr lang="en-US" sz="1200" u="sng" dirty="0"/>
              <a:t>certain industries</a:t>
            </a:r>
            <a:r>
              <a:rPr lang="en-US" sz="1200" dirty="0"/>
              <a:t>, such as cellular, which require a substantial investment in infrastructure and long gestation periods, this multiple seems to be more appropriate than the price/earnings ratio.</a:t>
            </a:r>
          </a:p>
          <a:p>
            <a:pPr>
              <a:buFont typeface="Monotype Sorts" charset="2"/>
              <a:buNone/>
            </a:pPr>
            <a:r>
              <a:rPr lang="en-US" sz="1200" dirty="0"/>
              <a:t>3. In </a:t>
            </a:r>
            <a:r>
              <a:rPr lang="en-US" sz="1200" u="sng" dirty="0"/>
              <a:t>leveraged buyouts</a:t>
            </a:r>
            <a:r>
              <a:rPr lang="en-US" sz="1200" dirty="0"/>
              <a:t>, where the key factor is cash generated by the firm prior to all discretionary expenditures, the EBITDA is the measure of cash flows from operations that can be used to support debt payment at least in the short term.</a:t>
            </a:r>
          </a:p>
          <a:p>
            <a:pPr>
              <a:buFont typeface="Monotype Sorts" charset="2"/>
              <a:buNone/>
            </a:pPr>
            <a:r>
              <a:rPr lang="en-US" sz="1200" dirty="0"/>
              <a:t>4. By looking at </a:t>
            </a:r>
            <a:r>
              <a:rPr lang="en-US" sz="1200" dirty="0" err="1"/>
              <a:t>cashflows</a:t>
            </a:r>
            <a:r>
              <a:rPr lang="en-US" sz="1200" dirty="0"/>
              <a:t> prior to capital expenditures, it may provide a better estimate of “optimal value”, especially </a:t>
            </a:r>
            <a:r>
              <a:rPr lang="en-US" sz="1200" u="sng" dirty="0"/>
              <a:t>if the capital expenditures are unwise </a:t>
            </a:r>
            <a:r>
              <a:rPr lang="en-US" sz="1200" dirty="0"/>
              <a:t>or earn substandard returns.</a:t>
            </a:r>
          </a:p>
          <a:p>
            <a:pPr>
              <a:buFont typeface="Monotype Sorts" charset="2"/>
              <a:buNone/>
            </a:pPr>
            <a:r>
              <a:rPr lang="en-US" sz="1200" dirty="0"/>
              <a:t>5. By looking at the value of the firm and </a:t>
            </a:r>
            <a:r>
              <a:rPr lang="en-US" sz="1200" dirty="0" err="1"/>
              <a:t>cashflows</a:t>
            </a:r>
            <a:r>
              <a:rPr lang="en-US" sz="1200" dirty="0"/>
              <a:t> to the firm it allows for comparisons across </a:t>
            </a:r>
            <a:r>
              <a:rPr lang="en-US" sz="1200" u="sng" dirty="0"/>
              <a:t>firms with different financial leverage.</a:t>
            </a:r>
          </a:p>
          <a:p>
            <a:endParaRPr lang="en-US" dirty="0"/>
          </a:p>
          <a:p>
            <a:endParaRPr lang="en-US" dirty="0"/>
          </a:p>
          <a:p>
            <a:endParaRPr lang="en-US" dirty="0"/>
          </a:p>
          <a:p>
            <a:r>
              <a:rPr lang="en-US" dirty="0"/>
              <a:t>The use of EBITDA multiples is relatively new in acquisitions. It acquired a foothold in the mid-1980s with leveraged buyouts but has acquired a large number of adherents since. The growth of cable, cellular and telecommunications companies may explain some of this…</a:t>
            </a:r>
          </a:p>
          <a:p>
            <a:endParaRPr lang="en-US" dirty="0"/>
          </a:p>
        </p:txBody>
      </p:sp>
    </p:spTree>
    <p:extLst>
      <p:ext uri="{BB962C8B-B14F-4D97-AF65-F5344CB8AC3E}">
        <p14:creationId xmlns:p14="http://schemas.microsoft.com/office/powerpoint/2010/main" val="325388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Rot="1" noChangeAspect="1" noChangeArrowheads="1" noTextEdit="1"/>
          </p:cNvSpPr>
          <p:nvPr>
            <p:ph type="sldImg"/>
          </p:nvPr>
        </p:nvSpPr>
        <p:spPr>
          <a:xfrm>
            <a:off x="1150938" y="692150"/>
            <a:ext cx="4556125" cy="3416300"/>
          </a:xfrm>
          <a:ln/>
        </p:spPr>
      </p:sp>
      <p:sp>
        <p:nvSpPr>
          <p:cNvPr id="10915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Times" pitchFamily="3" charset="0"/>
              </a:rPr>
              <a:t>Rules of thumb have to adapt to data… Fixed rules of thumb work sometimes and not at others…</a:t>
            </a:r>
          </a:p>
        </p:txBody>
      </p:sp>
    </p:spTree>
    <p:extLst>
      <p:ext uri="{BB962C8B-B14F-4D97-AF65-F5344CB8AC3E}">
        <p14:creationId xmlns:p14="http://schemas.microsoft.com/office/powerpoint/2010/main" val="385891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Rot="1" noChangeAspect="1" noChangeArrowheads="1" noTextEdit="1"/>
          </p:cNvSpPr>
          <p:nvPr>
            <p:ph type="sldImg"/>
          </p:nvPr>
        </p:nvSpPr>
        <p:spPr>
          <a:xfrm>
            <a:off x="1150938" y="692150"/>
            <a:ext cx="4556125" cy="3416300"/>
          </a:xfrm>
          <a:ln/>
        </p:spPr>
      </p:sp>
      <p:sp>
        <p:nvSpPr>
          <p:cNvPr id="25497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293160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Rot="1" noChangeAspect="1" noChangeArrowheads="1" noTextEdit="1"/>
          </p:cNvSpPr>
          <p:nvPr>
            <p:ph type="sldImg"/>
          </p:nvPr>
        </p:nvSpPr>
        <p:spPr>
          <a:xfrm>
            <a:off x="1150938" y="692150"/>
            <a:ext cx="4556125" cy="3416300"/>
          </a:xfrm>
          <a:ln/>
        </p:spPr>
      </p:sp>
      <p:sp>
        <p:nvSpPr>
          <p:cNvPr id="366595" name="Rectangle 3"/>
          <p:cNvSpPr>
            <a:spLocks noGrp="1" noChangeArrowheads="1"/>
          </p:cNvSpPr>
          <p:nvPr>
            <p:ph type="body" idx="1"/>
          </p:nvPr>
        </p:nvSpPr>
        <p:spPr/>
        <p:txBody>
          <a:bodyPr/>
          <a:lstStyle/>
          <a:p>
            <a:r>
              <a:rPr lang="en-US"/>
              <a:t>Your definitions of equity in the numerator and denominator should be consistent… this may require the breaking down of book equity if there are multiple classes of shares outstanding.</a:t>
            </a:r>
          </a:p>
          <a:p>
            <a:r>
              <a:rPr lang="en-US"/>
              <a:t>If you have a class of shares that is non-traded, you have two choices. You can ignore this in computing market equity and take out a proportional shares of the book equity. Alternatively,  you can estimate a value for the non-traded shares and add them to the market value of traded shares to arrive at a total market value of equity. It is generally not a good idea to include preferred stock in either the numerator or denominator.</a:t>
            </a:r>
          </a:p>
        </p:txBody>
      </p:sp>
    </p:spTree>
    <p:extLst>
      <p:ext uri="{BB962C8B-B14F-4D97-AF65-F5344CB8AC3E}">
        <p14:creationId xmlns:p14="http://schemas.microsoft.com/office/powerpoint/2010/main" val="3134099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Rot="1" noChangeAspect="1" noChangeArrowheads="1" noTextEdit="1"/>
          </p:cNvSpPr>
          <p:nvPr>
            <p:ph type="sldImg"/>
          </p:nvPr>
        </p:nvSpPr>
        <p:spPr>
          <a:xfrm>
            <a:off x="1150938" y="692150"/>
            <a:ext cx="4556125" cy="3416300"/>
          </a:xfrm>
          <a:ln/>
        </p:spPr>
      </p:sp>
      <p:sp>
        <p:nvSpPr>
          <p:cNvPr id="367619" name="Rectangle 3"/>
          <p:cNvSpPr>
            <a:spLocks noGrp="1" noChangeArrowheads="1"/>
          </p:cNvSpPr>
          <p:nvPr>
            <p:ph type="body" idx="1"/>
          </p:nvPr>
        </p:nvSpPr>
        <p:spPr/>
        <p:txBody>
          <a:bodyPr/>
          <a:lstStyle/>
          <a:p>
            <a:r>
              <a:rPr lang="en-US" dirty="0"/>
              <a:t>The median is about half the mean… You do lose some firms (those with negative book equity) but not as many as you do with earnings multiples.</a:t>
            </a:r>
          </a:p>
          <a:p>
            <a:endParaRPr lang="en-US" dirty="0"/>
          </a:p>
          <a:p>
            <a:endParaRPr lang="en-US" dirty="0"/>
          </a:p>
          <a:p>
            <a:endParaRPr lang="en-US" dirty="0"/>
          </a:p>
          <a:p>
            <a:r>
              <a:rPr lang="en-US" dirty="0"/>
              <a:t>Europe-Emerging Markets</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 larger portion of stocks trade at below book value in Europe than do in the United States. An even large proportion trade at below book value in emerging markets, but there are also far more outliers with very high PBV ratios.</a:t>
            </a:r>
          </a:p>
          <a:p>
            <a:endParaRPr lang="en-US" dirty="0"/>
          </a:p>
        </p:txBody>
      </p:sp>
    </p:spTree>
    <p:extLst>
      <p:ext uri="{BB962C8B-B14F-4D97-AF65-F5344CB8AC3E}">
        <p14:creationId xmlns:p14="http://schemas.microsoft.com/office/powerpoint/2010/main" val="11225016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Rot="1" noChangeAspect="1" noChangeArrowheads="1" noTextEdit="1"/>
          </p:cNvSpPr>
          <p:nvPr>
            <p:ph type="sldImg"/>
          </p:nvPr>
        </p:nvSpPr>
        <p:spPr>
          <a:xfrm>
            <a:off x="1150938" y="692150"/>
            <a:ext cx="4556125" cy="3416300"/>
          </a:xfrm>
          <a:ln/>
        </p:spPr>
      </p:sp>
      <p:sp>
        <p:nvSpPr>
          <p:cNvPr id="368643" name="Rectangle 3"/>
          <p:cNvSpPr>
            <a:spLocks noGrp="1" noChangeArrowheads="1"/>
          </p:cNvSpPr>
          <p:nvPr>
            <p:ph type="body" idx="1"/>
          </p:nvPr>
        </p:nvSpPr>
        <p:spPr/>
        <p:txBody>
          <a:bodyPr/>
          <a:lstStyle/>
          <a:p>
            <a:r>
              <a:rPr lang="en-US"/>
              <a:t>Following a familiar route.. The price to book ratio is an equity multiple and you go back to an equity valuation model…</a:t>
            </a:r>
          </a:p>
          <a:p>
            <a:r>
              <a:rPr lang="en-US"/>
              <a:t>The price to book ratio is determined by the three variables that determine the PE ratio (growth, payout and risk) and one variable that is unique to it (the return on equity)</a:t>
            </a:r>
          </a:p>
          <a:p>
            <a:r>
              <a:rPr lang="en-US"/>
              <a:t>Every multiple has one variable that can be considered its key determinant - its companion variable, so to speak. For PE, it was growth.. For Value/EBITDA, it was the reinvestment rate. For price to book, it is return on equity.</a:t>
            </a:r>
          </a:p>
        </p:txBody>
      </p:sp>
    </p:spTree>
    <p:extLst>
      <p:ext uri="{BB962C8B-B14F-4D97-AF65-F5344CB8AC3E}">
        <p14:creationId xmlns:p14="http://schemas.microsoft.com/office/powerpoint/2010/main" val="818861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Rot="1" noChangeAspect="1" noChangeArrowheads="1" noTextEdit="1"/>
          </p:cNvSpPr>
          <p:nvPr>
            <p:ph type="sldImg"/>
          </p:nvPr>
        </p:nvSpPr>
        <p:spPr>
          <a:xfrm>
            <a:off x="1150938" y="692150"/>
            <a:ext cx="4556125" cy="3416300"/>
          </a:xfrm>
          <a:ln/>
        </p:spPr>
      </p:sp>
      <p:sp>
        <p:nvSpPr>
          <p:cNvPr id="718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49433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2"/>
          <p:cNvSpPr>
            <a:spLocks noGrp="1" noRot="1" noChangeAspect="1" noChangeArrowheads="1" noTextEdit="1"/>
          </p:cNvSpPr>
          <p:nvPr>
            <p:ph type="sldImg"/>
          </p:nvPr>
        </p:nvSpPr>
        <p:spPr>
          <a:xfrm>
            <a:off x="1150938" y="692150"/>
            <a:ext cx="4556125" cy="3416300"/>
          </a:xfrm>
          <a:ln/>
        </p:spPr>
      </p:sp>
      <p:sp>
        <p:nvSpPr>
          <p:cNvPr id="720899" name="Rectangle 3"/>
          <p:cNvSpPr>
            <a:spLocks noGrp="1" noChangeArrowheads="1"/>
          </p:cNvSpPr>
          <p:nvPr>
            <p:ph type="body" idx="1"/>
          </p:nvPr>
        </p:nvSpPr>
        <p:spPr/>
        <p:txBody>
          <a:bodyPr/>
          <a:lstStyle/>
          <a:p>
            <a:r>
              <a:rPr lang="en-US"/>
              <a:t>Uses the regression to get predicted values for each bank. You can get a range for each prediction and determine which stocks fall outside the range…</a:t>
            </a:r>
          </a:p>
        </p:txBody>
      </p:sp>
    </p:spTree>
    <p:extLst>
      <p:ext uri="{BB962C8B-B14F-4D97-AF65-F5344CB8AC3E}">
        <p14:creationId xmlns:p14="http://schemas.microsoft.com/office/powerpoint/2010/main" val="2633186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Rot="1" noChangeAspect="1" noChangeArrowheads="1" noTextEdit="1"/>
          </p:cNvSpPr>
          <p:nvPr>
            <p:ph type="sldImg"/>
          </p:nvPr>
        </p:nvSpPr>
        <p:spPr>
          <a:xfrm>
            <a:off x="1150938" y="692150"/>
            <a:ext cx="4556125" cy="3416300"/>
          </a:xfrm>
          <a:ln/>
        </p:spPr>
      </p:sp>
      <p:sp>
        <p:nvSpPr>
          <p:cNvPr id="380931" name="Rectangle 3"/>
          <p:cNvSpPr>
            <a:spLocks noGrp="1" noChangeArrowheads="1"/>
          </p:cNvSpPr>
          <p:nvPr>
            <p:ph type="body" idx="1"/>
          </p:nvPr>
        </p:nvSpPr>
        <p:spPr/>
        <p:txBody>
          <a:bodyPr/>
          <a:lstStyle/>
          <a:p>
            <a:r>
              <a:rPr lang="en-US" dirty="0"/>
              <a:t>Presents the mismatches in a matrix. You want to buy stocks in lower right quadrant and sell the stocks in the upper left quadrant… A hedge fund?</a:t>
            </a:r>
          </a:p>
          <a:p>
            <a:endParaRPr lang="en-US" dirty="0"/>
          </a:p>
          <a:p>
            <a:endParaRPr lang="en-US" dirty="0"/>
          </a:p>
          <a:p>
            <a:r>
              <a:rPr lang="en-US" b="1" dirty="0"/>
              <a:t>Looking for undervalued securities - PBV Ratios and ROE</a:t>
            </a:r>
          </a:p>
          <a:p>
            <a:endParaRPr lang="en-US" dirty="0"/>
          </a:p>
          <a:p>
            <a:r>
              <a:rPr lang="en-US" dirty="0"/>
              <a:t>Given the relationship between price-book value ratios and returns on equity, it is not surprising to see firms which have high returns on equity selling for well above book value and firms which have low returns on equity selling at or below book value. </a:t>
            </a:r>
          </a:p>
          <a:p>
            <a:r>
              <a:rPr lang="en-US" dirty="0"/>
              <a:t>The firms which should draw attention from investors are those which provide mismatches of price-book value ratios and returns on equity - low P/BV ratios and high ROE or high P/BV ratios and low ROE.</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Most companies that trade at high price to book or low price to book deserve to trade at those multiples. The mismatches matter… </a:t>
            </a:r>
          </a:p>
          <a:p>
            <a:endParaRPr lang="en-US" dirty="0"/>
          </a:p>
          <a:p>
            <a:endParaRPr lang="en-US" dirty="0"/>
          </a:p>
        </p:txBody>
      </p:sp>
    </p:spTree>
    <p:extLst>
      <p:ext uri="{BB962C8B-B14F-4D97-AF65-F5344CB8AC3E}">
        <p14:creationId xmlns:p14="http://schemas.microsoft.com/office/powerpoint/2010/main" val="4089450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Rot="1" noChangeAspect="1" noChangeArrowheads="1" noTextEdit="1"/>
          </p:cNvSpPr>
          <p:nvPr>
            <p:ph type="sldImg"/>
          </p:nvPr>
        </p:nvSpPr>
        <p:spPr>
          <a:xfrm>
            <a:off x="1150938" y="692150"/>
            <a:ext cx="4556125" cy="3416300"/>
          </a:xfrm>
          <a:ln/>
        </p:spPr>
      </p:sp>
      <p:sp>
        <p:nvSpPr>
          <p:cNvPr id="458755" name="Rectangle 3"/>
          <p:cNvSpPr>
            <a:spLocks noGrp="1" noChangeArrowheads="1"/>
          </p:cNvSpPr>
          <p:nvPr>
            <p:ph type="body" idx="1"/>
          </p:nvPr>
        </p:nvSpPr>
        <p:spPr/>
        <p:txBody>
          <a:bodyPr/>
          <a:lstStyle/>
          <a:p>
            <a:r>
              <a:rPr lang="en-US" b="1" dirty="0"/>
              <a:t>PBV Matrix</a:t>
            </a:r>
          </a:p>
          <a:p>
            <a:endParaRPr lang="en-US" dirty="0"/>
          </a:p>
          <a:p>
            <a:r>
              <a:rPr lang="en-US" dirty="0"/>
              <a:t>The most undervalued firms are all emerging market telecomm firms.. The implicit assumption we make about companies all being equally risk may be inappropriate here. </a:t>
            </a:r>
          </a:p>
          <a:p>
            <a:r>
              <a:rPr lang="en-US" dirty="0"/>
              <a:t>You could create a three dimensional graph with risk on the third axis. An undervalued firm would then be one with low price to book, high return on equity and low risk.</a:t>
            </a:r>
          </a:p>
          <a:p>
            <a:endParaRPr lang="en-US" dirty="0"/>
          </a:p>
          <a:p>
            <a:endParaRPr lang="en-US" dirty="0"/>
          </a:p>
          <a:p>
            <a:r>
              <a:rPr lang="en-US" b="1" dirty="0"/>
              <a:t>Regression-Strength of the link</a:t>
            </a:r>
          </a:p>
          <a:p>
            <a:endParaRPr lang="en-US" dirty="0"/>
          </a:p>
          <a:p>
            <a:r>
              <a:rPr lang="en-US" dirty="0"/>
              <a:t>Looks at the 100 largest market cap firms in the United States… Shows how strong the link is between price to book and return on equity. With a 90% confidence interval, a handful of stocks fall outside the range, but there may be good reasons for each:</a:t>
            </a:r>
          </a:p>
          <a:p>
            <a:r>
              <a:rPr lang="en-US" dirty="0"/>
              <a:t>The two stocks that fall below the undervalued line are MO (Altria or Philip Morris) and FNMA (because of accounting and management scandals.</a:t>
            </a:r>
          </a:p>
          <a:p>
            <a:r>
              <a:rPr lang="en-US" dirty="0"/>
              <a:t>Above the overvalued line are the high flyers - EBAY, Dell, SAP where presumable investors expect the return on equity to climb over time…</a:t>
            </a:r>
          </a:p>
        </p:txBody>
      </p:sp>
    </p:spTree>
    <p:extLst>
      <p:ext uri="{BB962C8B-B14F-4D97-AF65-F5344CB8AC3E}">
        <p14:creationId xmlns:p14="http://schemas.microsoft.com/office/powerpoint/2010/main" val="4240735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Rot="1" noChangeAspect="1" noChangeArrowheads="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7034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normAutofit lnSpcReduction="10000"/>
          </a:bodyPr>
          <a:lstStyle/>
          <a:p>
            <a:r>
              <a:rPr lang="en-US" b="1" dirty="0"/>
              <a:t>US</a:t>
            </a:r>
          </a:p>
          <a:p>
            <a:endParaRPr lang="en-US" dirty="0"/>
          </a:p>
          <a:p>
            <a:r>
              <a:rPr lang="en-US" dirty="0"/>
              <a:t>Again, we stick with the variables that determine price to book ratios.. ROE is by far the dominant variable explaining PBV ratios…</a:t>
            </a:r>
          </a:p>
          <a:p>
            <a:r>
              <a:rPr lang="en-US" dirty="0"/>
              <a:t>Also, note the jump in R-squared. This is to be expected since the book value of equity now shows up on both sides of the equation (in PBV and ROE)</a:t>
            </a:r>
          </a:p>
          <a:p>
            <a:endParaRPr lang="en-US" dirty="0"/>
          </a:p>
          <a:p>
            <a:r>
              <a:rPr lang="en-US" b="1" dirty="0"/>
              <a:t>Europe</a:t>
            </a:r>
          </a:p>
          <a:p>
            <a:endParaRPr lang="en-US" dirty="0"/>
          </a:p>
          <a:p>
            <a:r>
              <a:rPr lang="en-US" dirty="0"/>
              <a:t>Again, we stick with the variables that determine price to book ratios.. Note that the payoff to having a higher return on equity is slightly lower in Europe than in the US (.099 increase in PBV for every 1% increase in ROE as opposed to .159 increase in PBV for every 1% increase in ROE in the US).</a:t>
            </a:r>
          </a:p>
          <a:p>
            <a:endParaRPr lang="en-US" dirty="0"/>
          </a:p>
          <a:p>
            <a:r>
              <a:rPr lang="en-US" dirty="0"/>
              <a:t>No growth rate in the regression because the input is not widely available for European companies.</a:t>
            </a:r>
          </a:p>
          <a:p>
            <a:endParaRPr lang="en-US" dirty="0"/>
          </a:p>
          <a:p>
            <a:r>
              <a:rPr lang="en-US" b="1" dirty="0"/>
              <a:t>Emerging Markets</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Lower R squared should be expected since the companies in this sample are much more diverse with different degrees of country risk. ROE continues to be the dominant variable explaining differences in PBV across companies but the payoff to having a higher ROE is even lower than in Europe.</a:t>
            </a:r>
          </a:p>
          <a:p>
            <a:endParaRPr lang="en-US" dirty="0"/>
          </a:p>
          <a:p>
            <a:endParaRPr lang="en-US" dirty="0"/>
          </a:p>
        </p:txBody>
      </p:sp>
    </p:spTree>
    <p:extLst>
      <p:ext uri="{BB962C8B-B14F-4D97-AF65-F5344CB8AC3E}">
        <p14:creationId xmlns:p14="http://schemas.microsoft.com/office/powerpoint/2010/main" val="1131134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Rot="1" noChangeAspect="1" noChangeArrowheads="1" noTextEdit="1"/>
          </p:cNvSpPr>
          <p:nvPr>
            <p:ph type="sldImg"/>
          </p:nvPr>
        </p:nvSpPr>
        <p:spPr>
          <a:xfrm>
            <a:off x="1150938" y="692150"/>
            <a:ext cx="4556125" cy="3416300"/>
          </a:xfrm>
          <a:ln/>
        </p:spPr>
      </p:sp>
      <p:sp>
        <p:nvSpPr>
          <p:cNvPr id="25497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2746681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Rot="1" noChangeAspect="1" noChangeArrowheads="1" noTextEdit="1"/>
          </p:cNvSpPr>
          <p:nvPr>
            <p:ph type="sldImg"/>
          </p:nvPr>
        </p:nvSpPr>
        <p:spPr>
          <a:xfrm>
            <a:off x="1150938" y="692150"/>
            <a:ext cx="4556125" cy="3416300"/>
          </a:xfrm>
          <a:ln/>
        </p:spPr>
      </p:sp>
      <p:sp>
        <p:nvSpPr>
          <p:cNvPr id="396291" name="Rectangle 3"/>
          <p:cNvSpPr>
            <a:spLocks noGrp="1" noChangeArrowheads="1"/>
          </p:cNvSpPr>
          <p:nvPr>
            <p:ph type="body" idx="1"/>
          </p:nvPr>
        </p:nvSpPr>
        <p:spPr/>
        <p:txBody>
          <a:bodyPr/>
          <a:lstStyle/>
          <a:p>
            <a:r>
              <a:rPr lang="en-US"/>
              <a:t>The problem with this ratio is that revenues belong to the entire firm rather than just the equity investors in the firm.</a:t>
            </a:r>
          </a:p>
        </p:txBody>
      </p:sp>
    </p:spTree>
    <p:extLst>
      <p:ext uri="{BB962C8B-B14F-4D97-AF65-F5344CB8AC3E}">
        <p14:creationId xmlns:p14="http://schemas.microsoft.com/office/powerpoint/2010/main" val="38289787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Rot="1" noChangeAspect="1" noChangeArrowheads="1" noTextEdit="1"/>
          </p:cNvSpPr>
          <p:nvPr>
            <p:ph type="sldImg"/>
          </p:nvPr>
        </p:nvSpPr>
        <p:spPr>
          <a:xfrm>
            <a:off x="1150938" y="692150"/>
            <a:ext cx="4556125" cy="3416300"/>
          </a:xfrm>
          <a:ln/>
        </p:spPr>
      </p:sp>
      <p:sp>
        <p:nvSpPr>
          <p:cNvPr id="398339" name="Rectangle 3"/>
          <p:cNvSpPr>
            <a:spLocks noGrp="1" noChangeArrowheads="1"/>
          </p:cNvSpPr>
          <p:nvPr>
            <p:ph type="body" idx="1"/>
          </p:nvPr>
        </p:nvSpPr>
        <p:spPr/>
        <p:txBody>
          <a:bodyPr/>
          <a:lstStyle/>
          <a:p>
            <a:r>
              <a:rPr lang="en-US"/>
              <a:t>Perhaps the most skewed of all multiples….</a:t>
            </a:r>
          </a:p>
        </p:txBody>
      </p:sp>
    </p:spTree>
    <p:extLst>
      <p:ext uri="{BB962C8B-B14F-4D97-AF65-F5344CB8AC3E}">
        <p14:creationId xmlns:p14="http://schemas.microsoft.com/office/powerpoint/2010/main" val="6486403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Rot="1" noChangeAspect="1" noChangeArrowheads="1" noTextEdit="1"/>
          </p:cNvSpPr>
          <p:nvPr>
            <p:ph type="sldImg"/>
          </p:nvPr>
        </p:nvSpPr>
        <p:spPr>
          <a:xfrm>
            <a:off x="1150938" y="692150"/>
            <a:ext cx="4556125" cy="3416300"/>
          </a:xfrm>
          <a:ln/>
        </p:spPr>
      </p:sp>
      <p:sp>
        <p:nvSpPr>
          <p:cNvPr id="399363" name="Rectangle 3"/>
          <p:cNvSpPr>
            <a:spLocks noGrp="1" noChangeArrowheads="1"/>
          </p:cNvSpPr>
          <p:nvPr>
            <p:ph type="body" idx="1"/>
          </p:nvPr>
        </p:nvSpPr>
        <p:spPr/>
        <p:txBody>
          <a:bodyPr/>
          <a:lstStyle/>
          <a:p>
            <a:r>
              <a:rPr lang="en-US" dirty="0"/>
              <a:t>The key determinant of the price to sales ratio is the net margin.. The other 3 determinants - payout, growth and cost of equity - are common to all equity multiples.</a:t>
            </a:r>
          </a:p>
          <a:p>
            <a:endParaRPr lang="en-US" dirty="0"/>
          </a:p>
          <a:p>
            <a:endParaRPr lang="en-US" dirty="0"/>
          </a:p>
          <a:p>
            <a:r>
              <a:rPr lang="en-US" b="1" dirty="0"/>
              <a:t>Current versus Predicted Margins</a:t>
            </a:r>
          </a:p>
          <a:p>
            <a:r>
              <a:rPr lang="en-US" dirty="0"/>
              <a:t>One of the limitations of the analysis we did in these last few pages is the focus on current margins. Stocks are priced based upon expected margins rather than current margins. </a:t>
            </a:r>
          </a:p>
          <a:p>
            <a:r>
              <a:rPr lang="en-US" dirty="0"/>
              <a:t>For most firms, current margins and predicted margins are highly correlated, making the analysis still relevant.</a:t>
            </a:r>
          </a:p>
          <a:p>
            <a:r>
              <a:rPr lang="en-US" dirty="0"/>
              <a:t>For firms where current margins have little or no correlation with expected margins, regressions of price to sales ratios against current margins (or price to book against current return on equity) will not provide much explanatory power.</a:t>
            </a:r>
          </a:p>
          <a:p>
            <a:r>
              <a:rPr lang="en-US" dirty="0"/>
              <a:t>In these cases, it makes more sense to </a:t>
            </a:r>
          </a:p>
          <a:p>
            <a:pPr marL="628650" lvl="1" indent="-171450">
              <a:buFont typeface="Arial" pitchFamily="34" charset="0"/>
              <a:buChar char="•"/>
            </a:pPr>
            <a:r>
              <a:rPr lang="en-US" dirty="0"/>
              <a:t>use some proxy for predicted margins</a:t>
            </a:r>
          </a:p>
          <a:p>
            <a:pPr marL="628650" lvl="1" indent="-171450">
              <a:buFont typeface="Arial" pitchFamily="34" charset="0"/>
              <a:buChar char="•"/>
            </a:pPr>
            <a:r>
              <a:rPr lang="en-US" dirty="0"/>
              <a:t>Use forward multiples</a:t>
            </a:r>
          </a:p>
          <a:p>
            <a:endParaRPr lang="en-US" dirty="0"/>
          </a:p>
        </p:txBody>
      </p:sp>
    </p:spTree>
    <p:extLst>
      <p:ext uri="{BB962C8B-B14F-4D97-AF65-F5344CB8AC3E}">
        <p14:creationId xmlns:p14="http://schemas.microsoft.com/office/powerpoint/2010/main" val="39620225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Rot="1" noChangeAspect="1" noChangeArrowheads="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4464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dirty="0"/>
              <a:t>Eyeballing the data.. Lower price to sales ratio firms tend to have low net margins and higher price to sales ratio firms tend to have high margins..</a:t>
            </a:r>
          </a:p>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High R-squared….</a:t>
            </a:r>
          </a:p>
          <a:p>
            <a:endParaRPr lang="en-US" dirty="0"/>
          </a:p>
        </p:txBody>
      </p:sp>
    </p:spTree>
    <p:extLst>
      <p:ext uri="{BB962C8B-B14F-4D97-AF65-F5344CB8AC3E}">
        <p14:creationId xmlns:p14="http://schemas.microsoft.com/office/powerpoint/2010/main" val="7876603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Rot="1" noChangeAspect="1" noChangeArrowheads="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7034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dirty="0"/>
              <a:t>A regression for the entire market…. Again, net margin is the dominant variable determining price to sales ratio. The R-squared of this regression is much higher than the earlier regressions using earnings and book value… </a:t>
            </a:r>
          </a:p>
          <a:p>
            <a:endParaRPr lang="en-US" dirty="0"/>
          </a:p>
          <a:p>
            <a:r>
              <a:rPr lang="en-US" dirty="0"/>
              <a:t>R-</a:t>
            </a:r>
            <a:r>
              <a:rPr lang="en-US" dirty="0" err="1"/>
              <a:t>sq</a:t>
            </a:r>
            <a:r>
              <a:rPr lang="en-US" dirty="0"/>
              <a:t> is lower in Europe and</a:t>
            </a:r>
            <a:r>
              <a:rPr lang="en-US" baseline="0" dirty="0"/>
              <a:t> emerging markets due to other factors affecting PS ratio that are not included in the regression.</a:t>
            </a:r>
            <a:endParaRPr lang="en-US" dirty="0"/>
          </a:p>
        </p:txBody>
      </p:sp>
    </p:spTree>
    <p:extLst>
      <p:ext uri="{BB962C8B-B14F-4D97-AF65-F5344CB8AC3E}">
        <p14:creationId xmlns:p14="http://schemas.microsoft.com/office/powerpoint/2010/main" val="38634217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Rot="1" noChangeAspect="1" noChangeArrowheads="1" noTextEdit="1"/>
          </p:cNvSpPr>
          <p:nvPr>
            <p:ph type="sldImg"/>
          </p:nvPr>
        </p:nvSpPr>
        <p:spPr>
          <a:xfrm>
            <a:off x="1150938" y="692150"/>
            <a:ext cx="4556125" cy="3416300"/>
          </a:xfrm>
          <a:ln/>
        </p:spPr>
      </p:sp>
      <p:sp>
        <p:nvSpPr>
          <p:cNvPr id="427011" name="Rectangle 3"/>
          <p:cNvSpPr>
            <a:spLocks noGrp="1" noChangeArrowheads="1"/>
          </p:cNvSpPr>
          <p:nvPr>
            <p:ph type="body" idx="1"/>
          </p:nvPr>
        </p:nvSpPr>
        <p:spPr/>
        <p:txBody>
          <a:bodyPr/>
          <a:lstStyle/>
          <a:p>
            <a:r>
              <a:rPr lang="en-US"/>
              <a:t>When doing relative valuation, you can choose between potentially a dozen or more multiples. With each multiple, you will estimate a different value for your firm, leaving you with the unenviable task of reconciling these values.</a:t>
            </a:r>
          </a:p>
        </p:txBody>
      </p:sp>
    </p:spTree>
    <p:extLst>
      <p:ext uri="{BB962C8B-B14F-4D97-AF65-F5344CB8AC3E}">
        <p14:creationId xmlns:p14="http://schemas.microsoft.com/office/powerpoint/2010/main" val="17632223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Rot="1" noChangeAspect="1" noChangeArrowheads="1" noTextEdit="1"/>
          </p:cNvSpPr>
          <p:nvPr>
            <p:ph type="sldImg"/>
          </p:nvPr>
        </p:nvSpPr>
        <p:spPr>
          <a:xfrm>
            <a:off x="1150938" y="692150"/>
            <a:ext cx="4556125" cy="3416300"/>
          </a:xfrm>
          <a:ln/>
        </p:spPr>
      </p:sp>
      <p:sp>
        <p:nvSpPr>
          <p:cNvPr id="430083" name="Rectangle 3"/>
          <p:cNvSpPr>
            <a:spLocks noGrp="1" noChangeArrowheads="1"/>
          </p:cNvSpPr>
          <p:nvPr>
            <p:ph type="body" idx="1"/>
          </p:nvPr>
        </p:nvSpPr>
        <p:spPr/>
        <p:txBody>
          <a:bodyPr>
            <a:normAutofit fontScale="77500" lnSpcReduction="20000"/>
          </a:bodyPr>
          <a:lstStyle/>
          <a:p>
            <a:r>
              <a:rPr lang="en-US" dirty="0"/>
              <a:t>This is probably the preferred approach. Pick one multiple, but which one will depend upon what you view your objective to be.</a:t>
            </a:r>
          </a:p>
          <a:p>
            <a:endParaRPr lang="en-US" dirty="0"/>
          </a:p>
          <a:p>
            <a:r>
              <a:rPr lang="en-US" dirty="0"/>
              <a:t>When we say</a:t>
            </a:r>
            <a:r>
              <a:rPr lang="en-US" baseline="0" dirty="0"/>
              <a:t> a multiple that makes sense, this is open to interpretation. However, you could follow a more intuitive approach.</a:t>
            </a:r>
          </a:p>
          <a:p>
            <a:endParaRPr lang="en-US" baseline="0" dirty="0"/>
          </a:p>
          <a:p>
            <a:pPr>
              <a:lnSpc>
                <a:spcPct val="90000"/>
              </a:lnSpc>
              <a:tabLst>
                <a:tab pos="2522538" algn="l"/>
                <a:tab pos="4579938" algn="l"/>
              </a:tabLst>
            </a:pPr>
            <a:r>
              <a:rPr lang="en-US" sz="2000" dirty="0"/>
              <a:t>As a general rule of thumb, the following table provides a way of picking a multiple for a sector</a:t>
            </a:r>
          </a:p>
          <a:p>
            <a:pPr>
              <a:lnSpc>
                <a:spcPct val="90000"/>
              </a:lnSpc>
              <a:buFont typeface="Monotype Sorts" charset="2"/>
              <a:buNone/>
              <a:tabLst>
                <a:tab pos="2522538" algn="l"/>
                <a:tab pos="4579938" algn="l"/>
              </a:tabLst>
            </a:pPr>
            <a:endParaRPr lang="en-US" sz="1200" i="1" dirty="0"/>
          </a:p>
          <a:p>
            <a:pPr>
              <a:lnSpc>
                <a:spcPct val="90000"/>
              </a:lnSpc>
              <a:buFont typeface="Monotype Sorts" charset="2"/>
              <a:buNone/>
              <a:tabLst>
                <a:tab pos="2522538" algn="l"/>
                <a:tab pos="4579938" algn="l"/>
              </a:tabLst>
            </a:pPr>
            <a:endParaRPr lang="en-US" sz="1200" i="1" dirty="0"/>
          </a:p>
          <a:p>
            <a:pPr>
              <a:lnSpc>
                <a:spcPct val="90000"/>
              </a:lnSpc>
              <a:buFont typeface="Monotype Sorts" charset="2"/>
              <a:buNone/>
              <a:tabLst>
                <a:tab pos="2522538" algn="l"/>
                <a:tab pos="4579938" algn="l"/>
              </a:tabLst>
            </a:pPr>
            <a:r>
              <a:rPr lang="en-US" sz="1200" i="1" dirty="0"/>
              <a:t>Sector	Multiple Used	Rationale</a:t>
            </a:r>
          </a:p>
          <a:p>
            <a:pPr>
              <a:lnSpc>
                <a:spcPct val="90000"/>
              </a:lnSpc>
              <a:buFont typeface="Monotype Sorts" charset="2"/>
              <a:buNone/>
              <a:tabLst>
                <a:tab pos="2522538" algn="l"/>
                <a:tab pos="4579938" algn="l"/>
              </a:tabLst>
            </a:pPr>
            <a:r>
              <a:rPr lang="en-US" sz="1200" dirty="0"/>
              <a:t>Cyclical Manufacturing	PE, Relative PE	Often with </a:t>
            </a:r>
            <a:r>
              <a:rPr lang="en-US" sz="1200" u="sng" dirty="0"/>
              <a:t>normalized</a:t>
            </a:r>
            <a:r>
              <a:rPr lang="en-US" sz="1200" dirty="0"/>
              <a:t> earnings</a:t>
            </a:r>
          </a:p>
          <a:p>
            <a:pPr>
              <a:lnSpc>
                <a:spcPct val="90000"/>
              </a:lnSpc>
              <a:buFont typeface="Monotype Sorts" charset="2"/>
              <a:buNone/>
              <a:tabLst>
                <a:tab pos="2522538" algn="l"/>
                <a:tab pos="4579938" algn="l"/>
              </a:tabLst>
            </a:pPr>
            <a:r>
              <a:rPr lang="en-US" sz="1200" dirty="0"/>
              <a:t>High Tech, High Growth	PEG	Big differences in growth across</a:t>
            </a:r>
            <a:r>
              <a:rPr lang="en-US" sz="300" dirty="0"/>
              <a:t> </a:t>
            </a:r>
            <a:r>
              <a:rPr lang="en-US" sz="1200" dirty="0"/>
              <a:t>firms</a:t>
            </a:r>
          </a:p>
          <a:p>
            <a:pPr>
              <a:lnSpc>
                <a:spcPct val="90000"/>
              </a:lnSpc>
              <a:buFont typeface="Monotype Sorts" charset="2"/>
              <a:buNone/>
              <a:tabLst>
                <a:tab pos="2522538" algn="l"/>
                <a:tab pos="4579938" algn="l"/>
              </a:tabLst>
            </a:pPr>
            <a:r>
              <a:rPr lang="en-US" sz="1200" dirty="0"/>
              <a:t>High Growth/No Earnings	PS, VS	Assume future margins will be good</a:t>
            </a:r>
          </a:p>
          <a:p>
            <a:pPr>
              <a:lnSpc>
                <a:spcPct val="90000"/>
              </a:lnSpc>
              <a:buFont typeface="Monotype Sorts" charset="2"/>
              <a:buNone/>
              <a:tabLst>
                <a:tab pos="2522538" algn="l"/>
                <a:tab pos="4579938" algn="l"/>
              </a:tabLst>
            </a:pPr>
            <a:r>
              <a:rPr lang="en-US" sz="1200" dirty="0"/>
              <a:t>Heavy Infrastructure	VEBITDA	Firms in sector have losses in early years and reported earnings can vary depending on depreciation method</a:t>
            </a:r>
          </a:p>
          <a:p>
            <a:pPr>
              <a:lnSpc>
                <a:spcPct val="90000"/>
              </a:lnSpc>
              <a:buFont typeface="Monotype Sorts" charset="2"/>
              <a:buNone/>
              <a:tabLst>
                <a:tab pos="2522538" algn="l"/>
                <a:tab pos="4579938" algn="l"/>
              </a:tabLst>
            </a:pPr>
            <a:r>
              <a:rPr lang="en-US" sz="1200" dirty="0"/>
              <a:t>Financial Services	PBV	Book value often marked to market</a:t>
            </a:r>
          </a:p>
          <a:p>
            <a:pPr>
              <a:lnSpc>
                <a:spcPct val="90000"/>
              </a:lnSpc>
              <a:buFont typeface="Monotype Sorts" charset="2"/>
              <a:buNone/>
              <a:tabLst>
                <a:tab pos="2522538" algn="l"/>
                <a:tab pos="4579938" algn="l"/>
              </a:tabLst>
            </a:pPr>
            <a:r>
              <a:rPr lang="en-US" sz="1200" dirty="0"/>
              <a:t>Retailing	PS	If leverage is similar across firms</a:t>
            </a:r>
          </a:p>
          <a:p>
            <a:pPr>
              <a:lnSpc>
                <a:spcPct val="90000"/>
              </a:lnSpc>
              <a:buFont typeface="Monotype Sorts" charset="2"/>
              <a:buNone/>
              <a:tabLst>
                <a:tab pos="2522538" algn="l"/>
                <a:tab pos="4579938" algn="l"/>
              </a:tabLst>
            </a:pPr>
            <a:r>
              <a:rPr lang="en-US" sz="1200" dirty="0"/>
              <a:t>	VS	If leverage is different</a:t>
            </a:r>
          </a:p>
          <a:p>
            <a:pPr>
              <a:lnSpc>
                <a:spcPct val="90000"/>
              </a:lnSpc>
              <a:buFont typeface="Monotype Sorts" charset="2"/>
              <a:buNone/>
              <a:tabLst>
                <a:tab pos="2522538" algn="l"/>
                <a:tab pos="4579938" algn="l"/>
              </a:tabLst>
            </a:pPr>
            <a:endParaRPr lang="en-US" sz="1200" dirty="0"/>
          </a:p>
          <a:p>
            <a:endParaRPr lang="en-US" dirty="0"/>
          </a:p>
          <a:p>
            <a:r>
              <a:rPr lang="en-US" dirty="0"/>
              <a:t>Not a set of iron-clad rules, but more rules of thumb…</a:t>
            </a:r>
          </a:p>
          <a:p>
            <a:endParaRPr lang="en-US" dirty="0"/>
          </a:p>
          <a:p>
            <a:r>
              <a:rPr lang="en-US" dirty="0"/>
              <a:t>Normalized earnings</a:t>
            </a:r>
          </a:p>
          <a:p>
            <a:endParaRPr lang="en-US" dirty="0"/>
          </a:p>
          <a:p>
            <a:r>
              <a:rPr lang="en-US" dirty="0"/>
              <a:t>You</a:t>
            </a:r>
            <a:r>
              <a:rPr lang="en-US" baseline="0" dirty="0"/>
              <a:t> can normalize earning using various methods:</a:t>
            </a:r>
          </a:p>
          <a:p>
            <a:pPr marL="171450" indent="-171450">
              <a:buFont typeface="Arial" pitchFamily="34" charset="0"/>
              <a:buChar char="•"/>
            </a:pPr>
            <a:r>
              <a:rPr lang="en-US" baseline="0" dirty="0"/>
              <a:t>Arithmetic or Geometric Averages</a:t>
            </a:r>
          </a:p>
          <a:p>
            <a:pPr marL="171450" indent="-171450">
              <a:buFont typeface="Arial" pitchFamily="34" charset="0"/>
              <a:buChar char="•"/>
            </a:pPr>
            <a:r>
              <a:rPr lang="en-US" baseline="0" dirty="0"/>
              <a:t>Trailing</a:t>
            </a:r>
          </a:p>
          <a:p>
            <a:pPr marL="171450" indent="-171450">
              <a:buFont typeface="Arial" pitchFamily="34" charset="0"/>
              <a:buChar char="•"/>
            </a:pPr>
            <a:r>
              <a:rPr lang="en-US" baseline="0" dirty="0"/>
              <a:t>Regressions</a:t>
            </a:r>
          </a:p>
          <a:p>
            <a:pPr marL="171450" indent="-171450">
              <a:buFont typeface="Arial" pitchFamily="34" charset="0"/>
              <a:buChar char="•"/>
            </a:pPr>
            <a:r>
              <a:rPr lang="en-US" baseline="0" dirty="0"/>
              <a:t>Use a proxy and measure the value as a proportion of a more stable figure.</a:t>
            </a:r>
          </a:p>
          <a:p>
            <a:endParaRPr lang="en-US" baseline="0" dirty="0"/>
          </a:p>
          <a:p>
            <a:endParaRPr lang="en-US" dirty="0"/>
          </a:p>
          <a:p>
            <a:endParaRPr lang="en-US" dirty="0"/>
          </a:p>
        </p:txBody>
      </p:sp>
    </p:spTree>
    <p:extLst>
      <p:ext uri="{BB962C8B-B14F-4D97-AF65-F5344CB8AC3E}">
        <p14:creationId xmlns:p14="http://schemas.microsoft.com/office/powerpoint/2010/main" val="5627798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Rot="1" noChangeAspect="1" noChangeArrowheads="1" noTextEdit="1"/>
          </p:cNvSpPr>
          <p:nvPr>
            <p:ph type="sldImg"/>
          </p:nvPr>
        </p:nvSpPr>
        <p:spPr>
          <a:xfrm>
            <a:off x="1150938" y="692150"/>
            <a:ext cx="4556125" cy="3416300"/>
          </a:xfrm>
          <a:ln/>
        </p:spPr>
      </p:sp>
      <p:sp>
        <p:nvSpPr>
          <p:cNvPr id="436227" name="Rectangle 3"/>
          <p:cNvSpPr>
            <a:spLocks noGrp="1" noChangeArrowheads="1"/>
          </p:cNvSpPr>
          <p:nvPr>
            <p:ph type="body" idx="1"/>
          </p:nvPr>
        </p:nvSpPr>
        <p:spPr/>
        <p:txBody>
          <a:bodyPr/>
          <a:lstStyle/>
          <a:p>
            <a:r>
              <a:rPr lang="en-US"/>
              <a:t>Reviews the four basic steps in relative valuation.</a:t>
            </a:r>
          </a:p>
        </p:txBody>
      </p:sp>
    </p:spTree>
    <p:extLst>
      <p:ext uri="{BB962C8B-B14F-4D97-AF65-F5344CB8AC3E}">
        <p14:creationId xmlns:p14="http://schemas.microsoft.com/office/powerpoint/2010/main" val="25131833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6C200C4-E9D7-4A2E-93D3-BB845A9C5CC7}" type="slidenum">
              <a:rPr lang="en-GB" smtClean="0"/>
              <a:pPr/>
              <a:t>43</a:t>
            </a:fld>
            <a:endParaRPr lang="en-GB"/>
          </a:p>
        </p:txBody>
      </p:sp>
    </p:spTree>
    <p:extLst>
      <p:ext uri="{BB962C8B-B14F-4D97-AF65-F5344CB8AC3E}">
        <p14:creationId xmlns:p14="http://schemas.microsoft.com/office/powerpoint/2010/main" val="38904505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768083BA-839E-4AB0-92BC-753854016AD2}" type="datetime1">
              <a:rPr lang="en-GB" smtClean="0"/>
              <a:t>16/10/2026</a:t>
            </a:fld>
            <a:endParaRPr lang="en-GB"/>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GB"/>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0DFAD38-9FB1-4247-9BCA-818DF90CB89D}" type="slidenum">
              <a:rPr lang="en-GB" smtClean="0"/>
              <a:pPr/>
              <a:t>‹Nº›</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7AF7D3B-F6C8-48AD-8A40-46D045047A02}" type="datetime1">
              <a:rPr lang="en-GB" smtClean="0"/>
              <a:t>16/10/2026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DFAD38-9FB1-4247-9BCA-818DF90CB89D}" type="slidenum">
              <a:rPr lang="en-GB" smtClean="0"/>
              <a:pPr/>
              <a:t>‹Nº›</a:t>
            </a:fld>
            <a:endParaRPr lang="en-GB"/>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53349B6-5528-4F79-B08E-4E3B152E86DB}" type="datetime1">
              <a:rPr lang="en-GB" smtClean="0"/>
              <a:t>16/10/2026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DFAD38-9FB1-4247-9BCA-818DF90CB89D}" type="slidenum">
              <a:rPr lang="en-GB" smtClean="0"/>
              <a:pPr/>
              <a:t>‹Nº›</a:t>
            </a:fld>
            <a:endParaRPr lang="en-GB"/>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851430B-58EF-46DE-B3A2-0BE121982ECD}" type="datetime1">
              <a:rPr lang="en-GB" smtClean="0"/>
              <a:t>16/10/2026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0DFAD38-9FB1-4247-9BCA-818DF90CB89D}" type="slidenum">
              <a:rPr lang="en-GB" smtClean="0"/>
              <a:pPr/>
              <a:t>‹Nº›</a:t>
            </a:fld>
            <a:endParaRPr lang="en-GB"/>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FC3CDD-E19A-493D-A403-868C2368A7AE}" type="datetime1">
              <a:rPr lang="en-GB" smtClean="0"/>
              <a:t>16/10/2026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0DFAD38-9FB1-4247-9BCA-818DF90CB89D}" type="slidenum">
              <a:rPr lang="en-GB" smtClean="0"/>
              <a:pPr/>
              <a:t>‹Nº›</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AF24410-8762-41FC-8099-79E59D81779C}" type="datetime1">
              <a:rPr lang="en-GB" smtClean="0"/>
              <a:t>16/10/2026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0DFAD38-9FB1-4247-9BCA-818DF90CB89D}" type="slidenum">
              <a:rPr lang="en-GB" smtClean="0"/>
              <a:pPr/>
              <a:t>‹Nº›</a:t>
            </a:fld>
            <a:endParaRPr lang="en-GB"/>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07C01-0064-4EDC-A8DA-75BA7FC077B8}" type="datetime1">
              <a:rPr lang="en-GB" smtClean="0"/>
              <a:t>16/10/2026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0DFAD38-9FB1-4247-9BCA-818DF90CB89D}" type="slidenum">
              <a:rPr lang="en-GB" smtClean="0"/>
              <a:pPr/>
              <a:t>‹Nº›</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677442A3-44AC-4F4E-8DBD-444E06E63397}" type="datetime1">
              <a:rPr lang="en-GB" smtClean="0"/>
              <a:t>16/10/2026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0DFAD38-9FB1-4247-9BCA-818DF90CB89D}" type="slidenum">
              <a:rPr lang="en-GB" smtClean="0"/>
              <a:pPr/>
              <a:t>‹Nº›</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D5463586-5F5A-490B-A783-7965052015DE}" type="datetime1">
              <a:rPr lang="en-GB" smtClean="0"/>
              <a:t>16/10/2026</a:t>
            </a:fld>
            <a:endParaRPr lang="en-GB"/>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GB"/>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0DFAD38-9FB1-4247-9BCA-818DF90CB89D}" type="slidenum">
              <a:rPr lang="en-GB" smtClean="0"/>
              <a:pPr/>
              <a:t>‹Nº›</a:t>
            </a:fld>
            <a:endParaRPr lang="en-GB"/>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2917751-14DB-4806-ABF7-F9383618B73D}" type="datetime1">
              <a:rPr lang="en-GB" smtClean="0"/>
              <a:t>16/10/2026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DFAD38-9FB1-4247-9BCA-818DF90CB89D}" type="slidenum">
              <a:rPr lang="en-GB" smtClean="0"/>
              <a:pPr/>
              <a:t>‹Nº›</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316951A-6291-4DF5-98F3-C7B7D8F34655}" type="datetime1">
              <a:rPr lang="en-GB" smtClean="0"/>
              <a:t>16/10/2026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0DFAD38-9FB1-4247-9BCA-818DF90CB89D}" type="slidenum">
              <a:rPr lang="en-GB" smtClean="0"/>
              <a:pPr/>
              <a:t>‹Nº›</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6609DA0-E1A2-4EBE-A651-63729FE73FD3}" type="datetime1">
              <a:rPr lang="en-GB" smtClean="0"/>
              <a:t>16/10/2026</a:t>
            </a:fld>
            <a:endParaRPr lang="en-GB"/>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GB"/>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0DFAD38-9FB1-4247-9BCA-818DF90CB89D}" type="slidenum">
              <a:rPr lang="en-GB" smtClean="0"/>
              <a:pPr/>
              <a:t>‹Nº›</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2.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Microsoft_Excel_97-2003_Worksheet.xl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8.bin"/><Relationship Id="rId10" Type="http://schemas.openxmlformats.org/officeDocument/2006/relationships/image" Target="../media/image25.wmf"/><Relationship Id="rId4" Type="http://schemas.openxmlformats.org/officeDocument/2006/relationships/image" Target="../media/image5.wmf"/><Relationship Id="rId9" Type="http://schemas.openxmlformats.org/officeDocument/2006/relationships/oleObject" Target="../embeddings/oleObject10.bin"/></Relationships>
</file>

<file path=ppt/slides/_rels/slide29.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8.wmf"/></Relationships>
</file>

<file path=ppt/slides/_rels/slide32.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0.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3.wmf"/><Relationship Id="rId5" Type="http://schemas.openxmlformats.org/officeDocument/2006/relationships/oleObject" Target="../embeddings/oleObject13.bin"/><Relationship Id="rId4" Type="http://schemas.openxmlformats.org/officeDocument/2006/relationships/image" Target="../media/image5.wmf"/></Relationships>
</file>

<file path=ppt/slides/_rels/slide3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package" Target="../embeddings/Microsoft_Word_Document.docx"/><Relationship Id="rId7" Type="http://schemas.openxmlformats.org/officeDocument/2006/relationships/package" Target="../embeddings/Microsoft_Word_Document2.docx"/><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package" Target="../embeddings/Microsoft_Word_Document1.docx"/><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package" Target="../embeddings/Microsoft_Word_Document3.doc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1484784"/>
            <a:ext cx="7772400" cy="1143000"/>
          </a:xfrm>
          <a:noFill/>
          <a:ln/>
        </p:spPr>
        <p:txBody>
          <a:bodyPr anchor="ctr"/>
          <a:lstStyle/>
          <a:p>
            <a:r>
              <a:rPr lang="en-US" sz="3600" dirty="0"/>
              <a:t>Relative Valuation</a:t>
            </a:r>
            <a:endParaRPr lang="en-US" sz="4800" dirty="0"/>
          </a:p>
        </p:txBody>
      </p:sp>
      <p:sp>
        <p:nvSpPr>
          <p:cNvPr id="4099" name="Rectangle 3"/>
          <p:cNvSpPr>
            <a:spLocks noGrp="1" noChangeArrowheads="1"/>
          </p:cNvSpPr>
          <p:nvPr>
            <p:ph type="subTitle" idx="1"/>
          </p:nvPr>
        </p:nvSpPr>
        <p:spPr>
          <a:xfrm>
            <a:off x="685800" y="2996952"/>
            <a:ext cx="7772400" cy="1814359"/>
          </a:xfrm>
          <a:noFill/>
          <a:ln/>
        </p:spPr>
        <p:txBody>
          <a:bodyPr>
            <a:normAutofit/>
          </a:bodyPr>
          <a:lstStyle/>
          <a:p>
            <a:pPr marL="342900" indent="-342900"/>
            <a:r>
              <a:rPr lang="en-US" dirty="0"/>
              <a:t>Second Valuation Method</a:t>
            </a:r>
          </a:p>
          <a:p>
            <a:pPr marL="342900" indent="-342900"/>
            <a:endParaRPr lang="en-US" dirty="0"/>
          </a:p>
          <a:p>
            <a:pPr marL="342900" indent="-342900"/>
            <a:r>
              <a:rPr lang="en-US" dirty="0" err="1"/>
              <a:t>Kalaitzoglou</a:t>
            </a:r>
            <a:r>
              <a:rPr lang="en-US" dirty="0"/>
              <a:t> </a:t>
            </a:r>
            <a:r>
              <a:rPr lang="en-US" dirty="0" err="1"/>
              <a:t>Iordanis</a:t>
            </a:r>
            <a:endParaRPr lang="en-US" dirty="0"/>
          </a:p>
        </p:txBody>
      </p:sp>
      <p:sp>
        <p:nvSpPr>
          <p:cNvPr id="2" name="Slide Number Placeholder 1"/>
          <p:cNvSpPr>
            <a:spLocks noGrp="1"/>
          </p:cNvSpPr>
          <p:nvPr>
            <p:ph type="sldNum" sz="quarter" idx="12"/>
          </p:nvPr>
        </p:nvSpPr>
        <p:spPr/>
        <p:txBody>
          <a:bodyPr/>
          <a:lstStyle/>
          <a:p>
            <a:fld id="{C0DFAD38-9FB1-4247-9BCA-818DF90CB89D}" type="slidenum">
              <a:rPr lang="en-GB" smtClean="0"/>
              <a:pPr/>
              <a:t>1</a:t>
            </a:fld>
            <a:endParaRPr lang="en-GB"/>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dirty="0"/>
              <a:t>Future Plan</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840457521"/>
              </p:ext>
            </p:extLst>
          </p:nvPr>
        </p:nvGraphicFramePr>
        <p:xfrm>
          <a:off x="301625" y="836713"/>
          <a:ext cx="7403231" cy="58326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Left Arrow 5"/>
          <p:cNvSpPr/>
          <p:nvPr/>
        </p:nvSpPr>
        <p:spPr>
          <a:xfrm>
            <a:off x="7704856" y="3970878"/>
            <a:ext cx="1094100" cy="17820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7452320" y="3108725"/>
            <a:ext cx="1583160" cy="830997"/>
          </a:xfrm>
          <a:prstGeom prst="rect">
            <a:avLst/>
          </a:prstGeom>
          <a:noFill/>
        </p:spPr>
        <p:txBody>
          <a:bodyPr wrap="square" rtlCol="0">
            <a:spAutoFit/>
          </a:bodyPr>
          <a:lstStyle/>
          <a:p>
            <a:pPr algn="ctr"/>
            <a:r>
              <a:rPr lang="en-GB" dirty="0"/>
              <a:t>This Session</a:t>
            </a:r>
          </a:p>
        </p:txBody>
      </p:sp>
      <p:sp>
        <p:nvSpPr>
          <p:cNvPr id="8" name="Rounded Rectangle 7"/>
          <p:cNvSpPr/>
          <p:nvPr/>
        </p:nvSpPr>
        <p:spPr>
          <a:xfrm>
            <a:off x="323528" y="2924944"/>
            <a:ext cx="7128792" cy="2536830"/>
          </a:xfrm>
          <a:prstGeom prst="roundRect">
            <a:avLst/>
          </a:prstGeom>
          <a:solidFill>
            <a:schemeClr val="accent4">
              <a:lumMod val="60000"/>
              <a:lumOff val="40000"/>
              <a:alpha val="18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p:cNvSpPr>
            <a:spLocks noGrp="1"/>
          </p:cNvSpPr>
          <p:nvPr>
            <p:ph type="sldNum" sz="quarter" idx="12"/>
          </p:nvPr>
        </p:nvSpPr>
        <p:spPr/>
        <p:txBody>
          <a:bodyPr/>
          <a:lstStyle/>
          <a:p>
            <a:fld id="{C0DFAD38-9FB1-4247-9BCA-818DF90CB89D}" type="slidenum">
              <a:rPr lang="en-GB" smtClean="0"/>
              <a:pPr/>
              <a:t>2</a:t>
            </a:fld>
            <a:endParaRPr lang="en-GB"/>
          </a:p>
        </p:txBody>
      </p:sp>
    </p:spTree>
    <p:extLst>
      <p:ext uri="{BB962C8B-B14F-4D97-AF65-F5344CB8AC3E}">
        <p14:creationId xmlns:p14="http://schemas.microsoft.com/office/powerpoint/2010/main" val="2334632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124744"/>
          <a:ext cx="8229600" cy="4882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146" name="Rectangle 2"/>
          <p:cNvSpPr>
            <a:spLocks noGrp="1" noChangeArrowheads="1"/>
          </p:cNvSpPr>
          <p:nvPr>
            <p:ph type="title"/>
          </p:nvPr>
        </p:nvSpPr>
        <p:spPr>
          <a:noFill/>
          <a:ln/>
        </p:spPr>
        <p:txBody>
          <a:bodyPr anchor="ctr"/>
          <a:lstStyle/>
          <a:p>
            <a:r>
              <a:rPr lang="en-US"/>
              <a:t>What is relative valuation?</a:t>
            </a:r>
          </a:p>
        </p:txBody>
      </p:sp>
      <p:sp>
        <p:nvSpPr>
          <p:cNvPr id="2" name="Slide Number Placeholder 1"/>
          <p:cNvSpPr>
            <a:spLocks noGrp="1"/>
          </p:cNvSpPr>
          <p:nvPr>
            <p:ph type="sldNum" sz="quarter" idx="12"/>
          </p:nvPr>
        </p:nvSpPr>
        <p:spPr/>
        <p:txBody>
          <a:bodyPr/>
          <a:lstStyle/>
          <a:p>
            <a:fld id="{C0DFAD38-9FB1-4247-9BCA-818DF90CB89D}" type="slidenum">
              <a:rPr lang="en-GB" smtClean="0"/>
              <a:pPr/>
              <a:t>3</a:t>
            </a:fld>
            <a:endParaRPr lang="en-GB"/>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0" y="1412776"/>
          <a:ext cx="8964488" cy="52565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170" name="Rectangle 2"/>
          <p:cNvSpPr>
            <a:spLocks noGrp="1" noChangeArrowheads="1"/>
          </p:cNvSpPr>
          <p:nvPr>
            <p:ph type="title"/>
          </p:nvPr>
        </p:nvSpPr>
        <p:spPr>
          <a:xfrm>
            <a:off x="179512" y="260648"/>
            <a:ext cx="8784976" cy="1224136"/>
          </a:xfrm>
          <a:noFill/>
          <a:ln/>
        </p:spPr>
        <p:txBody>
          <a:bodyPr anchor="ctr">
            <a:noAutofit/>
          </a:bodyPr>
          <a:lstStyle/>
          <a:p>
            <a:pPr algn="ctr">
              <a:spcBef>
                <a:spcPct val="96000"/>
              </a:spcBef>
            </a:pPr>
            <a:r>
              <a:rPr lang="en-US" sz="3200" dirty="0"/>
              <a:t>Standardizing Value</a:t>
            </a:r>
            <a:br>
              <a:rPr lang="en-US" sz="2800" dirty="0"/>
            </a:br>
            <a:r>
              <a:rPr lang="en-US" sz="2000" dirty="0"/>
              <a:t>Prices can be standardized using a common variable such as earnings, </a:t>
            </a:r>
            <a:r>
              <a:rPr lang="en-US" sz="2000" dirty="0" err="1"/>
              <a:t>cashflows</a:t>
            </a:r>
            <a:r>
              <a:rPr lang="en-US" sz="2000" dirty="0"/>
              <a:t>, book value or revenues. </a:t>
            </a:r>
            <a:br>
              <a:rPr lang="en-US" sz="3200" dirty="0"/>
            </a:br>
            <a:endParaRPr lang="en-US" sz="2800" dirty="0"/>
          </a:p>
        </p:txBody>
      </p:sp>
      <p:sp>
        <p:nvSpPr>
          <p:cNvPr id="2" name="Slide Number Placeholder 1"/>
          <p:cNvSpPr>
            <a:spLocks noGrp="1"/>
          </p:cNvSpPr>
          <p:nvPr>
            <p:ph type="sldNum" sz="quarter" idx="12"/>
          </p:nvPr>
        </p:nvSpPr>
        <p:spPr/>
        <p:txBody>
          <a:bodyPr/>
          <a:lstStyle/>
          <a:p>
            <a:fld id="{C0DFAD38-9FB1-4247-9BCA-818DF90CB89D}" type="slidenum">
              <a:rPr lang="en-GB" smtClean="0"/>
              <a:pPr/>
              <a:t>4</a:t>
            </a:fld>
            <a:endParaRPr lang="en-GB"/>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384923281"/>
              </p:ext>
            </p:extLst>
          </p:nvPr>
        </p:nvGraphicFramePr>
        <p:xfrm>
          <a:off x="179512" y="836712"/>
          <a:ext cx="8723312" cy="6021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194" name="Rectangle 2"/>
          <p:cNvSpPr>
            <a:spLocks noGrp="1" noChangeArrowheads="1"/>
          </p:cNvSpPr>
          <p:nvPr>
            <p:ph type="title"/>
          </p:nvPr>
        </p:nvSpPr>
        <p:spPr>
          <a:xfrm>
            <a:off x="395536" y="128024"/>
            <a:ext cx="8686800" cy="852704"/>
          </a:xfrm>
          <a:noFill/>
          <a:ln/>
        </p:spPr>
        <p:txBody>
          <a:bodyPr anchor="ctr">
            <a:noAutofit/>
          </a:bodyPr>
          <a:lstStyle/>
          <a:p>
            <a:r>
              <a:rPr lang="en-US" sz="3200" dirty="0"/>
              <a:t>Four Steps to Understanding Multiples</a:t>
            </a:r>
          </a:p>
        </p:txBody>
      </p:sp>
      <p:sp>
        <p:nvSpPr>
          <p:cNvPr id="2" name="Slide Number Placeholder 1"/>
          <p:cNvSpPr>
            <a:spLocks noGrp="1"/>
          </p:cNvSpPr>
          <p:nvPr>
            <p:ph type="sldNum" sz="quarter" idx="12"/>
          </p:nvPr>
        </p:nvSpPr>
        <p:spPr/>
        <p:txBody>
          <a:bodyPr/>
          <a:lstStyle/>
          <a:p>
            <a:fld id="{C0DFAD38-9FB1-4247-9BCA-818DF90CB89D}" type="slidenum">
              <a:rPr lang="en-GB" smtClean="0"/>
              <a:pPr/>
              <a:t>5</a:t>
            </a:fld>
            <a:endParaRPr lang="en-GB"/>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17127456"/>
              </p:ext>
            </p:extLst>
          </p:nvPr>
        </p:nvGraphicFramePr>
        <p:xfrm>
          <a:off x="0" y="0"/>
          <a:ext cx="8964488"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107504" y="2276872"/>
            <a:ext cx="2592288" cy="93610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p:cNvSpPr>
            <a:spLocks noGrp="1"/>
          </p:cNvSpPr>
          <p:nvPr>
            <p:ph type="sldNum" sz="quarter" idx="12"/>
          </p:nvPr>
        </p:nvSpPr>
        <p:spPr/>
        <p:txBody>
          <a:bodyPr/>
          <a:lstStyle/>
          <a:p>
            <a:fld id="{C0DFAD38-9FB1-4247-9BCA-818DF90CB89D}" type="slidenum">
              <a:rPr lang="en-GB" smtClean="0"/>
              <a:pPr/>
              <a:t>6</a:t>
            </a:fld>
            <a:endParaRPr lang="en-GB"/>
          </a:p>
        </p:txBody>
      </p:sp>
    </p:spTree>
    <p:extLst>
      <p:ext uri="{BB962C8B-B14F-4D97-AF65-F5344CB8AC3E}">
        <p14:creationId xmlns:p14="http://schemas.microsoft.com/office/powerpoint/2010/main" val="95378547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51520" y="1700808"/>
            <a:ext cx="8640960" cy="4320480"/>
          </a:xfrm>
          <a:noFill/>
          <a:ln/>
        </p:spPr>
        <p:txBody>
          <a:bodyPr>
            <a:normAutofit/>
          </a:bodyPr>
          <a:lstStyle/>
          <a:p>
            <a:pPr algn="ctr">
              <a:buFont typeface="Monotype Sorts" charset="2"/>
              <a:buNone/>
            </a:pPr>
            <a:r>
              <a:rPr lang="en-US" sz="1800" b="1" dirty="0">
                <a:solidFill>
                  <a:schemeClr val="accent2"/>
                </a:solidFill>
              </a:rPr>
              <a:t>PE = Market Price per Share / Earnings per Share</a:t>
            </a:r>
          </a:p>
          <a:p>
            <a:pPr algn="ctr">
              <a:buFont typeface="Monotype Sorts" charset="2"/>
              <a:buNone/>
            </a:pPr>
            <a:endParaRPr lang="en-US" sz="1800" b="1" dirty="0">
              <a:solidFill>
                <a:schemeClr val="hlink"/>
              </a:solidFill>
            </a:endParaRPr>
          </a:p>
          <a:p>
            <a:r>
              <a:rPr lang="en-US" sz="2000" dirty="0"/>
              <a:t>There are a number of variants on the basic PE ratio in use. They are based upon how the price and the earnings are defined.</a:t>
            </a:r>
          </a:p>
          <a:p>
            <a:endParaRPr lang="en-US" sz="2000" dirty="0"/>
          </a:p>
          <a:p>
            <a:r>
              <a:rPr lang="en-US" sz="2000" dirty="0"/>
              <a:t>Price:   is usually the current price</a:t>
            </a:r>
          </a:p>
          <a:p>
            <a:pPr>
              <a:buFont typeface="Monotype Sorts" charset="2"/>
              <a:buNone/>
            </a:pPr>
            <a:r>
              <a:rPr lang="en-US" sz="2000" dirty="0"/>
              <a:t>		     is sometimes the average price for the year</a:t>
            </a:r>
          </a:p>
          <a:p>
            <a:pPr>
              <a:buFont typeface="Monotype Sorts" charset="2"/>
              <a:buNone/>
            </a:pPr>
            <a:endParaRPr lang="en-US" sz="2000" dirty="0"/>
          </a:p>
          <a:p>
            <a:r>
              <a:rPr lang="en-US" sz="2000" dirty="0"/>
              <a:t>EPS:	     earnings per share in most recent financial year</a:t>
            </a:r>
          </a:p>
          <a:p>
            <a:pPr>
              <a:buFont typeface="Monotype Sorts" charset="2"/>
              <a:buNone/>
            </a:pPr>
            <a:r>
              <a:rPr lang="en-US" sz="2000" dirty="0"/>
              <a:t>		     earnings per share in trailing 12 months (Trailing PE)</a:t>
            </a:r>
          </a:p>
          <a:p>
            <a:pPr>
              <a:buFont typeface="Monotype Sorts" charset="2"/>
              <a:buNone/>
            </a:pPr>
            <a:r>
              <a:rPr lang="en-US" sz="2000" dirty="0"/>
              <a:t>		     forecasted earnings per share next year (Forward PE)</a:t>
            </a:r>
          </a:p>
          <a:p>
            <a:pPr>
              <a:buFont typeface="Monotype Sorts" charset="2"/>
              <a:buNone/>
            </a:pPr>
            <a:r>
              <a:rPr lang="en-US" sz="2000" dirty="0"/>
              <a:t>		     forecasted earnings per share in future year</a:t>
            </a:r>
          </a:p>
        </p:txBody>
      </p:sp>
      <p:sp>
        <p:nvSpPr>
          <p:cNvPr id="13314" name="Rectangle 2"/>
          <p:cNvSpPr>
            <a:spLocks noGrp="1" noChangeArrowheads="1"/>
          </p:cNvSpPr>
          <p:nvPr>
            <p:ph type="title"/>
          </p:nvPr>
        </p:nvSpPr>
        <p:spPr>
          <a:noFill/>
          <a:ln/>
        </p:spPr>
        <p:txBody>
          <a:bodyPr anchor="ctr"/>
          <a:lstStyle/>
          <a:p>
            <a:r>
              <a:rPr lang="en-US"/>
              <a:t>Price Earnings Ratio: Definition</a:t>
            </a:r>
          </a:p>
        </p:txBody>
      </p:sp>
      <p:sp>
        <p:nvSpPr>
          <p:cNvPr id="2" name="Slide Number Placeholder 1"/>
          <p:cNvSpPr>
            <a:spLocks noGrp="1"/>
          </p:cNvSpPr>
          <p:nvPr>
            <p:ph type="sldNum" sz="quarter" idx="12"/>
          </p:nvPr>
        </p:nvSpPr>
        <p:spPr/>
        <p:txBody>
          <a:bodyPr/>
          <a:lstStyle/>
          <a:p>
            <a:fld id="{C0DFAD38-9FB1-4247-9BCA-818DF90CB89D}" type="slidenum">
              <a:rPr lang="en-GB" smtClean="0"/>
              <a:pPr/>
              <a:t>7</a:t>
            </a:fld>
            <a:endParaRPr lang="en-GB"/>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277" name="Picture 21"/>
          <p:cNvPicPr>
            <a:picLocks noGrp="1" noChangeAspect="1" noChangeArrowheads="1"/>
          </p:cNvPicPr>
          <p:nvPr>
            <p:ph idx="1"/>
          </p:nvPr>
        </p:nvPicPr>
        <p:blipFill>
          <a:blip r:embed="rId3" cstate="print"/>
          <a:srcRect l="2693" t="9496" b="4332"/>
          <a:stretch>
            <a:fillRect/>
          </a:stretch>
        </p:blipFill>
        <p:spPr>
          <a:xfrm>
            <a:off x="110504" y="836712"/>
            <a:ext cx="8925992" cy="5400600"/>
          </a:xfrm>
        </p:spPr>
      </p:pic>
      <p:sp>
        <p:nvSpPr>
          <p:cNvPr id="224258" name="Rectangle 2"/>
          <p:cNvSpPr>
            <a:spLocks noGrp="1" noChangeArrowheads="1"/>
          </p:cNvSpPr>
          <p:nvPr>
            <p:ph type="title"/>
          </p:nvPr>
        </p:nvSpPr>
        <p:spPr>
          <a:xfrm>
            <a:off x="0" y="274638"/>
            <a:ext cx="9144000" cy="562074"/>
          </a:xfrm>
        </p:spPr>
        <p:txBody>
          <a:bodyPr>
            <a:noAutofit/>
          </a:bodyPr>
          <a:lstStyle/>
          <a:p>
            <a:r>
              <a:rPr lang="en-US" sz="3200" dirty="0"/>
              <a:t>PE Ratio: Descriptive Statistics for the US</a:t>
            </a:r>
          </a:p>
        </p:txBody>
      </p:sp>
      <p:sp>
        <p:nvSpPr>
          <p:cNvPr id="2" name="Slide Number Placeholder 1"/>
          <p:cNvSpPr>
            <a:spLocks noGrp="1"/>
          </p:cNvSpPr>
          <p:nvPr>
            <p:ph type="sldNum" sz="quarter" idx="12"/>
          </p:nvPr>
        </p:nvSpPr>
        <p:spPr/>
        <p:txBody>
          <a:bodyPr/>
          <a:lstStyle/>
          <a:p>
            <a:fld id="{C0DFAD38-9FB1-4247-9BCA-818DF90CB89D}" type="slidenum">
              <a:rPr lang="en-GB" smtClean="0"/>
              <a:pPr/>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321" name="Picture 17"/>
          <p:cNvPicPr>
            <a:picLocks noGrp="1" noChangeAspect="1" noChangeArrowheads="1"/>
          </p:cNvPicPr>
          <p:nvPr>
            <p:ph idx="1"/>
          </p:nvPr>
        </p:nvPicPr>
        <p:blipFill>
          <a:blip r:embed="rId3" cstate="print"/>
          <a:srcRect/>
          <a:stretch>
            <a:fillRect/>
          </a:stretch>
        </p:blipFill>
        <p:spPr>
          <a:xfrm>
            <a:off x="192907" y="1988840"/>
            <a:ext cx="8771581" cy="3383632"/>
          </a:xfrm>
          <a:noFill/>
          <a:ln/>
        </p:spPr>
      </p:pic>
      <p:sp>
        <p:nvSpPr>
          <p:cNvPr id="226306" name="Rectangle 2"/>
          <p:cNvSpPr>
            <a:spLocks noGrp="1" noChangeArrowheads="1"/>
          </p:cNvSpPr>
          <p:nvPr>
            <p:ph type="title"/>
          </p:nvPr>
        </p:nvSpPr>
        <p:spPr/>
        <p:txBody>
          <a:bodyPr>
            <a:normAutofit fontScale="90000"/>
          </a:bodyPr>
          <a:lstStyle/>
          <a:p>
            <a:r>
              <a:rPr lang="en-US"/>
              <a:t>PE: Deciphering the Distribution</a:t>
            </a:r>
          </a:p>
        </p:txBody>
      </p:sp>
      <p:sp>
        <p:nvSpPr>
          <p:cNvPr id="2" name="Slide Number Placeholder 1"/>
          <p:cNvSpPr>
            <a:spLocks noGrp="1"/>
          </p:cNvSpPr>
          <p:nvPr>
            <p:ph type="sldNum" sz="quarter" idx="12"/>
          </p:nvPr>
        </p:nvSpPr>
        <p:spPr/>
        <p:txBody>
          <a:bodyPr/>
          <a:lstStyle/>
          <a:p>
            <a:fld id="{C0DFAD38-9FB1-4247-9BCA-818DF90CB89D}" type="slidenum">
              <a:rPr lang="en-GB" smtClean="0"/>
              <a:pPr/>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7592" name="Picture 8"/>
          <p:cNvPicPr>
            <a:picLocks noGrp="1" noChangeAspect="1" noChangeArrowheads="1"/>
          </p:cNvPicPr>
          <p:nvPr>
            <p:ph idx="1"/>
          </p:nvPr>
        </p:nvPicPr>
        <p:blipFill rotWithShape="1">
          <a:blip r:embed="rId3" cstate="print"/>
          <a:srcRect t="9023"/>
          <a:stretch/>
        </p:blipFill>
        <p:spPr>
          <a:xfrm>
            <a:off x="14410" y="1196752"/>
            <a:ext cx="8446022" cy="5661247"/>
          </a:xfrm>
        </p:spPr>
      </p:pic>
      <p:sp>
        <p:nvSpPr>
          <p:cNvPr id="707586" name="Rectangle 2"/>
          <p:cNvSpPr>
            <a:spLocks noGrp="1" noChangeArrowheads="1"/>
          </p:cNvSpPr>
          <p:nvPr>
            <p:ph type="title"/>
          </p:nvPr>
        </p:nvSpPr>
        <p:spPr>
          <a:xfrm>
            <a:off x="457200" y="274638"/>
            <a:ext cx="8229600" cy="706090"/>
          </a:xfrm>
        </p:spPr>
        <p:txBody>
          <a:bodyPr>
            <a:normAutofit fontScale="90000"/>
          </a:bodyPr>
          <a:lstStyle/>
          <a:p>
            <a:r>
              <a:rPr lang="en-US" dirty="0"/>
              <a:t>Comparing PE Ratios: US, Europe and Emerging Markets</a:t>
            </a:r>
          </a:p>
        </p:txBody>
      </p:sp>
      <p:sp>
        <p:nvSpPr>
          <p:cNvPr id="707591" name="Text Box 7"/>
          <p:cNvSpPr txBox="1">
            <a:spLocks noChangeArrowheads="1"/>
          </p:cNvSpPr>
          <p:nvPr/>
        </p:nvSpPr>
        <p:spPr bwMode="auto">
          <a:xfrm>
            <a:off x="7308304" y="836712"/>
            <a:ext cx="1660525" cy="1069975"/>
          </a:xfrm>
          <a:prstGeom prst="rect">
            <a:avLst/>
          </a:prstGeom>
          <a:noFill/>
          <a:ln w="12700">
            <a:noFill/>
            <a:miter lim="800000"/>
            <a:headEnd/>
            <a:tailEnd/>
          </a:ln>
          <a:effectLst/>
        </p:spPr>
        <p:txBody>
          <a:bodyPr wrap="none">
            <a:spAutoFit/>
          </a:bodyPr>
          <a:lstStyle/>
          <a:p>
            <a:pPr algn="ctr"/>
            <a:r>
              <a:rPr lang="en-US" sz="1600" b="1" dirty="0"/>
              <a:t>Median PE</a:t>
            </a:r>
            <a:endParaRPr lang="en-US" sz="1600" dirty="0"/>
          </a:p>
          <a:p>
            <a:pPr algn="ctr"/>
            <a:r>
              <a:rPr lang="en-US" sz="1600" dirty="0"/>
              <a:t>US = 18.25</a:t>
            </a:r>
          </a:p>
          <a:p>
            <a:pPr algn="ctr"/>
            <a:r>
              <a:rPr lang="en-US" sz="1600" dirty="0"/>
              <a:t>Europe = 15.09 </a:t>
            </a:r>
          </a:p>
          <a:p>
            <a:pPr algn="ctr"/>
            <a:r>
              <a:rPr lang="en-US" sz="1600" dirty="0" err="1"/>
              <a:t>Em</a:t>
            </a:r>
            <a:r>
              <a:rPr lang="en-US" sz="1600" dirty="0"/>
              <a:t> </a:t>
            </a:r>
            <a:r>
              <a:rPr lang="en-US" sz="1600" dirty="0" err="1"/>
              <a:t>Mkts</a:t>
            </a:r>
            <a:r>
              <a:rPr lang="en-US" sz="1600" dirty="0"/>
              <a:t> = 14.32 </a:t>
            </a:r>
          </a:p>
        </p:txBody>
      </p:sp>
      <p:sp>
        <p:nvSpPr>
          <p:cNvPr id="2" name="Slide Number Placeholder 1"/>
          <p:cNvSpPr>
            <a:spLocks noGrp="1"/>
          </p:cNvSpPr>
          <p:nvPr>
            <p:ph type="sldNum" sz="quarter" idx="12"/>
          </p:nvPr>
        </p:nvSpPr>
        <p:spPr/>
        <p:txBody>
          <a:bodyPr/>
          <a:lstStyle/>
          <a:p>
            <a:fld id="{C0DFAD38-9FB1-4247-9BCA-818DF90CB89D}" type="slidenum">
              <a:rPr lang="en-GB" smtClean="0"/>
              <a:pPr/>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noFill/>
          <a:ln/>
        </p:spPr>
        <p:txBody>
          <a:bodyPr>
            <a:normAutofit lnSpcReduction="10000"/>
          </a:bodyPr>
          <a:lstStyle/>
          <a:p>
            <a:r>
              <a:rPr lang="en-US" dirty="0"/>
              <a:t>To understand the fundamentals, start with a basic </a:t>
            </a:r>
            <a:r>
              <a:rPr lang="en-US" u="sng" dirty="0"/>
              <a:t>equity</a:t>
            </a:r>
            <a:r>
              <a:rPr lang="en-US" dirty="0"/>
              <a:t> discounted cash flow model. </a:t>
            </a:r>
          </a:p>
          <a:p>
            <a:r>
              <a:rPr lang="en-US" dirty="0"/>
              <a:t>With the dividend discount model,</a:t>
            </a:r>
          </a:p>
          <a:p>
            <a:pPr>
              <a:buFont typeface="Monotype Sorts" charset="2"/>
              <a:buNone/>
            </a:pPr>
            <a:endParaRPr lang="en-US" dirty="0"/>
          </a:p>
          <a:p>
            <a:pPr>
              <a:buFont typeface="Monotype Sorts" charset="2"/>
              <a:buNone/>
            </a:pPr>
            <a:endParaRPr lang="en-US" dirty="0"/>
          </a:p>
          <a:p>
            <a:r>
              <a:rPr lang="en-US" dirty="0"/>
              <a:t>Dividing both sides by the earnings per share,</a:t>
            </a:r>
          </a:p>
          <a:p>
            <a:pPr>
              <a:buFont typeface="Monotype Sorts" charset="2"/>
              <a:buNone/>
            </a:pPr>
            <a:endParaRPr lang="en-US" dirty="0"/>
          </a:p>
          <a:p>
            <a:pPr>
              <a:buFont typeface="Monotype Sorts" charset="2"/>
              <a:buNone/>
            </a:pPr>
            <a:endParaRPr lang="en-US" dirty="0"/>
          </a:p>
          <a:p>
            <a:r>
              <a:rPr lang="en-US" dirty="0"/>
              <a:t>If this had been a FCFE Model,</a:t>
            </a:r>
          </a:p>
          <a:p>
            <a:pPr>
              <a:buFont typeface="Monotype Sorts" charset="2"/>
              <a:buNone/>
            </a:pPr>
            <a:r>
              <a:rPr lang="en-US" dirty="0"/>
              <a:t> </a:t>
            </a:r>
          </a:p>
        </p:txBody>
      </p:sp>
      <p:sp>
        <p:nvSpPr>
          <p:cNvPr id="15362" name="Rectangle 2"/>
          <p:cNvSpPr>
            <a:spLocks noGrp="1" noChangeArrowheads="1"/>
          </p:cNvSpPr>
          <p:nvPr>
            <p:ph type="title"/>
          </p:nvPr>
        </p:nvSpPr>
        <p:spPr>
          <a:noFill/>
          <a:ln/>
        </p:spPr>
        <p:txBody>
          <a:bodyPr anchor="ctr">
            <a:normAutofit fontScale="90000"/>
          </a:bodyPr>
          <a:lstStyle/>
          <a:p>
            <a:r>
              <a:rPr lang="en-US"/>
              <a:t>PE Ratio: Understanding the Fundamentals</a:t>
            </a:r>
          </a:p>
        </p:txBody>
      </p:sp>
      <p:graphicFrame>
        <p:nvGraphicFramePr>
          <p:cNvPr id="15364" name="Object 4"/>
          <p:cNvGraphicFramePr>
            <a:graphicFrameLocks/>
          </p:cNvGraphicFramePr>
          <p:nvPr/>
        </p:nvGraphicFramePr>
        <p:xfrm>
          <a:off x="3810000" y="2936875"/>
          <a:ext cx="923925" cy="479425"/>
        </p:xfrm>
        <a:graphic>
          <a:graphicData uri="http://schemas.openxmlformats.org/presentationml/2006/ole">
            <mc:AlternateContent xmlns:mc="http://schemas.openxmlformats.org/markup-compatibility/2006">
              <mc:Choice xmlns:v="urn:schemas-microsoft-com:vml" Requires="v">
                <p:oleObj name="Equation" r:id="rId3" imgW="749300" imgH="393700" progId="Equation.3">
                  <p:embed/>
                </p:oleObj>
              </mc:Choice>
              <mc:Fallback>
                <p:oleObj name="Equation" r:id="rId3" imgW="749300" imgH="393700" progId="Equation.3">
                  <p:embed/>
                  <p:pic>
                    <p:nvPicPr>
                      <p:cNvPr id="1536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2936875"/>
                        <a:ext cx="923925"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5" name="Object 5"/>
          <p:cNvGraphicFramePr>
            <a:graphicFrameLocks/>
          </p:cNvGraphicFramePr>
          <p:nvPr/>
        </p:nvGraphicFramePr>
        <p:xfrm>
          <a:off x="2971800" y="4079875"/>
          <a:ext cx="2940050" cy="558800"/>
        </p:xfrm>
        <a:graphic>
          <a:graphicData uri="http://schemas.openxmlformats.org/presentationml/2006/ole">
            <mc:AlternateContent xmlns:mc="http://schemas.openxmlformats.org/markup-compatibility/2006">
              <mc:Choice xmlns:v="urn:schemas-microsoft-com:vml" Requires="v">
                <p:oleObj name="Equation" r:id="rId5" imgW="2362200" imgH="457200" progId="Equation.3">
                  <p:embed/>
                </p:oleObj>
              </mc:Choice>
              <mc:Fallback>
                <p:oleObj name="Equation" r:id="rId5" imgW="2362200" imgH="457200" progId="Equation.3">
                  <p:embed/>
                  <p:pic>
                    <p:nvPicPr>
                      <p:cNvPr id="15365"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4079875"/>
                        <a:ext cx="294005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6" name="Object 6"/>
          <p:cNvGraphicFramePr>
            <a:graphicFrameLocks/>
          </p:cNvGraphicFramePr>
          <p:nvPr/>
        </p:nvGraphicFramePr>
        <p:xfrm>
          <a:off x="3124200" y="5299075"/>
          <a:ext cx="2830513" cy="482600"/>
        </p:xfrm>
        <a:graphic>
          <a:graphicData uri="http://schemas.openxmlformats.org/presentationml/2006/ole">
            <mc:AlternateContent xmlns:mc="http://schemas.openxmlformats.org/markup-compatibility/2006">
              <mc:Choice xmlns:v="urn:schemas-microsoft-com:vml" Requires="v">
                <p:oleObj name="Equation" r:id="rId7" imgW="2260600" imgH="393700" progId="Equation.3">
                  <p:embed/>
                </p:oleObj>
              </mc:Choice>
              <mc:Fallback>
                <p:oleObj name="Equation" r:id="rId7" imgW="2260600" imgH="393700" progId="Equation.3">
                  <p:embed/>
                  <p:pic>
                    <p:nvPicPr>
                      <p:cNvPr id="15366"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5299075"/>
                        <a:ext cx="2830513"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7" name="Object 7"/>
          <p:cNvGraphicFramePr>
            <a:graphicFrameLocks/>
          </p:cNvGraphicFramePr>
          <p:nvPr/>
        </p:nvGraphicFramePr>
        <p:xfrm>
          <a:off x="3048000" y="6061075"/>
          <a:ext cx="4767263" cy="796925"/>
        </p:xfrm>
        <a:graphic>
          <a:graphicData uri="http://schemas.openxmlformats.org/presentationml/2006/ole">
            <mc:AlternateContent xmlns:mc="http://schemas.openxmlformats.org/markup-compatibility/2006">
              <mc:Choice xmlns:v="urn:schemas-microsoft-com:vml" Requires="v">
                <p:oleObj name="Equation" r:id="rId9" imgW="3886200" imgH="647700" progId="Equation.3">
                  <p:embed/>
                </p:oleObj>
              </mc:Choice>
              <mc:Fallback>
                <p:oleObj name="Equation" r:id="rId9" imgW="3886200" imgH="647700" progId="Equation.3">
                  <p:embed/>
                  <p:pic>
                    <p:nvPicPr>
                      <p:cNvPr id="15367"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0" y="6061075"/>
                        <a:ext cx="4767263"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0DFAD38-9FB1-4247-9BCA-818DF90CB89D}" type="slidenum">
              <a:rPr lang="en-GB" smtClean="0"/>
              <a:pPr/>
              <a:t>11</a:t>
            </a:fld>
            <a:endParaRPr lang="en-GB"/>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0DFAD38-9FB1-4247-9BCA-818DF90CB89D}" type="slidenum">
              <a:rPr lang="en-GB" smtClean="0"/>
              <a:pPr/>
              <a:t>12</a:t>
            </a:fld>
            <a:endParaRPr lang="en-GB"/>
          </a:p>
        </p:txBody>
      </p:sp>
      <p:pic>
        <p:nvPicPr>
          <p:cNvPr id="6" name="Picture 5"/>
          <p:cNvPicPr>
            <a:picLocks noChangeAspect="1"/>
          </p:cNvPicPr>
          <p:nvPr/>
        </p:nvPicPr>
        <p:blipFill>
          <a:blip r:embed="rId3"/>
          <a:stretch>
            <a:fillRect/>
          </a:stretch>
        </p:blipFill>
        <p:spPr>
          <a:xfrm>
            <a:off x="107504" y="44624"/>
            <a:ext cx="4572638" cy="3429479"/>
          </a:xfrm>
          <a:prstGeom prst="rect">
            <a:avLst/>
          </a:prstGeom>
        </p:spPr>
      </p:pic>
      <p:pic>
        <p:nvPicPr>
          <p:cNvPr id="7" name="Picture 6"/>
          <p:cNvPicPr>
            <a:picLocks noChangeAspect="1"/>
          </p:cNvPicPr>
          <p:nvPr/>
        </p:nvPicPr>
        <p:blipFill>
          <a:blip r:embed="rId4"/>
          <a:stretch>
            <a:fillRect/>
          </a:stretch>
        </p:blipFill>
        <p:spPr>
          <a:xfrm>
            <a:off x="4535866" y="44624"/>
            <a:ext cx="4572638" cy="3429479"/>
          </a:xfrm>
          <a:prstGeom prst="rect">
            <a:avLst/>
          </a:prstGeom>
        </p:spPr>
      </p:pic>
      <p:pic>
        <p:nvPicPr>
          <p:cNvPr id="8" name="Picture 7"/>
          <p:cNvPicPr>
            <a:picLocks noChangeAspect="1"/>
          </p:cNvPicPr>
          <p:nvPr/>
        </p:nvPicPr>
        <p:blipFill>
          <a:blip r:embed="rId5"/>
          <a:stretch>
            <a:fillRect/>
          </a:stretch>
        </p:blipFill>
        <p:spPr>
          <a:xfrm>
            <a:off x="109786" y="3343962"/>
            <a:ext cx="4572638" cy="3429479"/>
          </a:xfrm>
          <a:prstGeom prst="rect">
            <a:avLst/>
          </a:prstGeom>
        </p:spPr>
      </p:pic>
      <p:pic>
        <p:nvPicPr>
          <p:cNvPr id="9" name="Picture 8"/>
          <p:cNvPicPr>
            <a:picLocks noChangeAspect="1"/>
          </p:cNvPicPr>
          <p:nvPr/>
        </p:nvPicPr>
        <p:blipFill>
          <a:blip r:embed="rId6"/>
          <a:stretch>
            <a:fillRect/>
          </a:stretch>
        </p:blipFill>
        <p:spPr>
          <a:xfrm>
            <a:off x="4535866" y="3356992"/>
            <a:ext cx="4584508" cy="3438382"/>
          </a:xfrm>
          <a:prstGeom prst="rect">
            <a:avLst/>
          </a:prstGeom>
        </p:spPr>
      </p:pic>
    </p:spTree>
    <p:extLst>
      <p:ext uri="{BB962C8B-B14F-4D97-AF65-F5344CB8AC3E}">
        <p14:creationId xmlns:p14="http://schemas.microsoft.com/office/powerpoint/2010/main" val="551670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32" name="Picture 16"/>
          <p:cNvPicPr>
            <a:picLocks noGrp="1" noChangeAspect="1" noChangeArrowheads="1"/>
          </p:cNvPicPr>
          <p:nvPr>
            <p:ph idx="1"/>
          </p:nvPr>
        </p:nvPicPr>
        <p:blipFill rotWithShape="1">
          <a:blip r:embed="rId3" cstate="print"/>
          <a:srcRect t="9424" b="7604"/>
          <a:stretch/>
        </p:blipFill>
        <p:spPr>
          <a:xfrm>
            <a:off x="441593" y="548680"/>
            <a:ext cx="8064895" cy="5442665"/>
          </a:xfrm>
          <a:noFill/>
          <a:ln/>
        </p:spPr>
      </p:pic>
      <p:sp>
        <p:nvSpPr>
          <p:cNvPr id="34818" name="Rectangle 2"/>
          <p:cNvSpPr>
            <a:spLocks noGrp="1" noChangeArrowheads="1"/>
          </p:cNvSpPr>
          <p:nvPr>
            <p:ph type="title"/>
          </p:nvPr>
        </p:nvSpPr>
        <p:spPr>
          <a:xfrm>
            <a:off x="0" y="130622"/>
            <a:ext cx="9144000" cy="778098"/>
          </a:xfrm>
          <a:noFill/>
          <a:ln/>
        </p:spPr>
        <p:txBody>
          <a:bodyPr anchor="ctr">
            <a:normAutofit/>
          </a:bodyPr>
          <a:lstStyle/>
          <a:p>
            <a:pPr algn="ctr"/>
            <a:r>
              <a:rPr lang="en-US" dirty="0"/>
              <a:t>PE across time: S&amp;P 500</a:t>
            </a:r>
          </a:p>
        </p:txBody>
      </p:sp>
      <p:sp>
        <p:nvSpPr>
          <p:cNvPr id="2" name="Slide Number Placeholder 1"/>
          <p:cNvSpPr>
            <a:spLocks noGrp="1"/>
          </p:cNvSpPr>
          <p:nvPr>
            <p:ph type="sldNum" sz="quarter" idx="12"/>
          </p:nvPr>
        </p:nvSpPr>
        <p:spPr/>
        <p:txBody>
          <a:bodyPr/>
          <a:lstStyle/>
          <a:p>
            <a:fld id="{C0DFAD38-9FB1-4247-9BCA-818DF90CB89D}" type="slidenum">
              <a:rPr lang="en-GB" smtClean="0"/>
              <a:pPr/>
              <a:t>13</a:t>
            </a:fld>
            <a:endParaRPr lang="en-GB"/>
          </a:p>
        </p:txBody>
      </p:sp>
      <p:sp>
        <p:nvSpPr>
          <p:cNvPr id="3" name="Rectangle 2"/>
          <p:cNvSpPr/>
          <p:nvPr/>
        </p:nvSpPr>
        <p:spPr>
          <a:xfrm>
            <a:off x="2987824" y="6021288"/>
            <a:ext cx="6207148" cy="523220"/>
          </a:xfrm>
          <a:prstGeom prst="rect">
            <a:avLst/>
          </a:prstGeom>
        </p:spPr>
        <p:txBody>
          <a:bodyPr wrap="none">
            <a:spAutoFit/>
          </a:bodyPr>
          <a:lstStyle/>
          <a:p>
            <a:r>
              <a:rPr lang="en-US" sz="2800" b="1" dirty="0"/>
              <a:t>Is low (high) PE cheap (expensive)?</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37231504"/>
              </p:ext>
            </p:extLst>
          </p:nvPr>
        </p:nvGraphicFramePr>
        <p:xfrm>
          <a:off x="72008" y="980728"/>
          <a:ext cx="9036496" cy="5616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a:xfrm>
            <a:off x="457200" y="188640"/>
            <a:ext cx="8229600" cy="850106"/>
          </a:xfrm>
        </p:spPr>
        <p:txBody>
          <a:bodyPr/>
          <a:lstStyle/>
          <a:p>
            <a:r>
              <a:rPr lang="en-GB" dirty="0"/>
              <a:t>Apply the Multiple</a:t>
            </a:r>
          </a:p>
        </p:txBody>
      </p:sp>
      <p:sp>
        <p:nvSpPr>
          <p:cNvPr id="2" name="Slide Number Placeholder 1"/>
          <p:cNvSpPr>
            <a:spLocks noGrp="1"/>
          </p:cNvSpPr>
          <p:nvPr>
            <p:ph type="sldNum" sz="quarter" idx="12"/>
          </p:nvPr>
        </p:nvSpPr>
        <p:spPr/>
        <p:txBody>
          <a:bodyPr/>
          <a:lstStyle/>
          <a:p>
            <a:fld id="{C0DFAD38-9FB1-4247-9BCA-818DF90CB89D}" type="slidenum">
              <a:rPr lang="en-GB" smtClean="0"/>
              <a:pPr/>
              <a:t>14</a:t>
            </a:fld>
            <a:endParaRPr lang="en-GB"/>
          </a:p>
        </p:txBody>
      </p:sp>
    </p:spTree>
    <p:extLst>
      <p:ext uri="{BB962C8B-B14F-4D97-AF65-F5344CB8AC3E}">
        <p14:creationId xmlns:p14="http://schemas.microsoft.com/office/powerpoint/2010/main" val="2936289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GB" dirty="0"/>
              <a:t>Running a regression</a:t>
            </a: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1604554723"/>
              </p:ext>
            </p:extLst>
          </p:nvPr>
        </p:nvGraphicFramePr>
        <p:xfrm>
          <a:off x="2987675" y="2205038"/>
          <a:ext cx="3305175" cy="2787650"/>
        </p:xfrm>
        <a:graphic>
          <a:graphicData uri="http://schemas.openxmlformats.org/presentationml/2006/ole">
            <mc:AlternateContent xmlns:mc="http://schemas.openxmlformats.org/markup-compatibility/2006">
              <mc:Choice xmlns:v="urn:schemas-microsoft-com:vml" Requires="v">
                <p:oleObj name="Worksheet" showAsIcon="1" r:id="rId2" imgW="914400" imgH="771480" progId="Excel.Sheet.8">
                  <p:embed/>
                </p:oleObj>
              </mc:Choice>
              <mc:Fallback>
                <p:oleObj name="Worksheet" showAsIcon="1" r:id="rId2" imgW="914400" imgH="771480" progId="Excel.Sheet.8">
                  <p:embed/>
                  <p:pic>
                    <p:nvPicPr>
                      <p:cNvPr id="4" name="Content Placeholder 3"/>
                      <p:cNvPicPr/>
                      <p:nvPr/>
                    </p:nvPicPr>
                    <p:blipFill>
                      <a:blip r:embed="rId3"/>
                      <a:stretch>
                        <a:fillRect/>
                      </a:stretch>
                    </p:blipFill>
                    <p:spPr>
                      <a:xfrm>
                        <a:off x="2987675" y="2205038"/>
                        <a:ext cx="3305175" cy="2787650"/>
                      </a:xfrm>
                      <a:prstGeom prst="rect">
                        <a:avLst/>
                      </a:prstGeom>
                    </p:spPr>
                  </p:pic>
                </p:oleObj>
              </mc:Fallback>
            </mc:AlternateContent>
          </a:graphicData>
        </a:graphic>
      </p:graphicFrame>
      <p:sp>
        <p:nvSpPr>
          <p:cNvPr id="2" name="Slide Number Placeholder 1"/>
          <p:cNvSpPr>
            <a:spLocks noGrp="1"/>
          </p:cNvSpPr>
          <p:nvPr>
            <p:ph type="sldNum" sz="quarter" idx="12"/>
          </p:nvPr>
        </p:nvSpPr>
        <p:spPr/>
        <p:txBody>
          <a:bodyPr/>
          <a:lstStyle/>
          <a:p>
            <a:fld id="{C0DFAD38-9FB1-4247-9BCA-818DF90CB89D}" type="slidenum">
              <a:rPr lang="en-GB" smtClean="0"/>
              <a:pPr/>
              <a:t>15</a:t>
            </a:fld>
            <a:endParaRPr lang="en-GB"/>
          </a:p>
        </p:txBody>
      </p:sp>
    </p:spTree>
    <p:extLst>
      <p:ext uri="{BB962C8B-B14F-4D97-AF65-F5344CB8AC3E}">
        <p14:creationId xmlns:p14="http://schemas.microsoft.com/office/powerpoint/2010/main" val="2647774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4739" name="Object 3"/>
          <p:cNvGraphicFramePr>
            <a:graphicFrameLocks noGrp="1" noChangeAspect="1"/>
          </p:cNvGraphicFramePr>
          <p:nvPr>
            <p:ph idx="1"/>
          </p:nvPr>
        </p:nvGraphicFramePr>
        <p:xfrm>
          <a:off x="2771800" y="908720"/>
          <a:ext cx="6048672" cy="5512097"/>
        </p:xfrm>
        <a:graphic>
          <a:graphicData uri="http://schemas.openxmlformats.org/presentationml/2006/ole">
            <mc:AlternateContent xmlns:mc="http://schemas.openxmlformats.org/markup-compatibility/2006">
              <mc:Choice xmlns:v="urn:schemas-microsoft-com:vml" Requires="v">
                <p:oleObj name="Worksheet" r:id="rId3" imgW="4724400" imgH="4305300" progId="Excel.Sheet.8">
                  <p:embed/>
                </p:oleObj>
              </mc:Choice>
              <mc:Fallback>
                <p:oleObj name="Worksheet" r:id="rId3" imgW="4724400" imgH="4305300" progId="Excel.Sheet.8">
                  <p:embed/>
                  <p:pic>
                    <p:nvPicPr>
                      <p:cNvPr id="24473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908720"/>
                        <a:ext cx="6048672" cy="5512097"/>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244738" name="Rectangle 2"/>
          <p:cNvSpPr>
            <a:spLocks noGrp="1" noChangeArrowheads="1"/>
          </p:cNvSpPr>
          <p:nvPr>
            <p:ph type="title"/>
          </p:nvPr>
        </p:nvSpPr>
        <p:spPr/>
        <p:txBody>
          <a:bodyPr>
            <a:normAutofit fontScale="90000"/>
          </a:bodyPr>
          <a:lstStyle/>
          <a:p>
            <a:r>
              <a:rPr lang="en-US" dirty="0"/>
              <a:t>Comparing PE Ratios across a Sector</a:t>
            </a:r>
          </a:p>
        </p:txBody>
      </p:sp>
      <p:sp>
        <p:nvSpPr>
          <p:cNvPr id="2" name="Slide Number Placeholder 1"/>
          <p:cNvSpPr>
            <a:spLocks noGrp="1"/>
          </p:cNvSpPr>
          <p:nvPr>
            <p:ph type="sldNum" sz="quarter" idx="12"/>
          </p:nvPr>
        </p:nvSpPr>
        <p:spPr/>
        <p:txBody>
          <a:bodyPr/>
          <a:lstStyle/>
          <a:p>
            <a:fld id="{C0DFAD38-9FB1-4247-9BCA-818DF90CB89D}" type="slidenum">
              <a:rPr lang="en-GB" smtClean="0"/>
              <a:pPr/>
              <a:t>16</a:t>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7" name="Rectangle 3"/>
          <p:cNvSpPr>
            <a:spLocks noGrp="1" noChangeArrowheads="1"/>
          </p:cNvSpPr>
          <p:nvPr>
            <p:ph idx="1"/>
          </p:nvPr>
        </p:nvSpPr>
        <p:spPr/>
        <p:txBody>
          <a:bodyPr>
            <a:normAutofit/>
          </a:bodyPr>
          <a:lstStyle/>
          <a:p>
            <a:pPr>
              <a:buFont typeface="Monotype Sorts" charset="2"/>
              <a:buNone/>
              <a:tabLst>
                <a:tab pos="2627313" algn="l"/>
                <a:tab pos="4059238" algn="l"/>
                <a:tab pos="5141913" algn="l"/>
                <a:tab pos="6511925" algn="l"/>
              </a:tabLst>
            </a:pPr>
            <a:r>
              <a:rPr lang="en-US" sz="1800" dirty="0"/>
              <a:t>Dependent variable is:	PE	 </a:t>
            </a:r>
          </a:p>
          <a:p>
            <a:pPr>
              <a:buFont typeface="Monotype Sorts" charset="2"/>
              <a:buNone/>
              <a:tabLst>
                <a:tab pos="2627313" algn="l"/>
                <a:tab pos="4059238" algn="l"/>
                <a:tab pos="5141913" algn="l"/>
                <a:tab pos="6511925" algn="l"/>
              </a:tabLst>
            </a:pPr>
            <a:endParaRPr lang="en-US" sz="1800" dirty="0"/>
          </a:p>
          <a:p>
            <a:pPr>
              <a:buFont typeface="Monotype Sorts" charset="2"/>
              <a:buNone/>
              <a:tabLst>
                <a:tab pos="2627313" algn="l"/>
                <a:tab pos="4059238" algn="l"/>
                <a:tab pos="5141913" algn="l"/>
                <a:tab pos="6511925" algn="l"/>
              </a:tabLst>
            </a:pPr>
            <a:r>
              <a:rPr lang="en-US" sz="1800" dirty="0"/>
              <a:t>R squared = 66.2%     R squared (adjusted) = 63.1%</a:t>
            </a:r>
          </a:p>
          <a:p>
            <a:pPr>
              <a:buFont typeface="Monotype Sorts" charset="2"/>
              <a:buNone/>
              <a:tabLst>
                <a:tab pos="2627313" algn="l"/>
                <a:tab pos="4059238" algn="l"/>
                <a:tab pos="5141913" algn="l"/>
                <a:tab pos="6511925" algn="l"/>
              </a:tabLst>
            </a:pPr>
            <a:endParaRPr lang="en-US" sz="1800" dirty="0"/>
          </a:p>
          <a:p>
            <a:pPr>
              <a:buFont typeface="Monotype Sorts" charset="2"/>
              <a:buNone/>
              <a:tabLst>
                <a:tab pos="2627313" algn="l"/>
                <a:tab pos="4059238" algn="l"/>
                <a:tab pos="5141913" algn="l"/>
                <a:tab pos="6511925" algn="l"/>
              </a:tabLst>
            </a:pPr>
            <a:r>
              <a:rPr lang="en-US" sz="1800" dirty="0"/>
              <a:t>Variable	Coefficient	SE	t-ratio	</a:t>
            </a:r>
            <a:r>
              <a:rPr lang="en-US" sz="1800" dirty="0" err="1"/>
              <a:t>prob</a:t>
            </a:r>
            <a:endParaRPr lang="en-US" sz="1800" dirty="0"/>
          </a:p>
          <a:p>
            <a:pPr>
              <a:buFont typeface="Monotype Sorts" charset="2"/>
              <a:buNone/>
              <a:tabLst>
                <a:tab pos="2627313" algn="l"/>
                <a:tab pos="4059238" algn="l"/>
                <a:tab pos="5141913" algn="l"/>
                <a:tab pos="6511925" algn="l"/>
              </a:tabLst>
            </a:pPr>
            <a:r>
              <a:rPr lang="en-US" sz="1800" dirty="0"/>
              <a:t>Constant	13.1151	3.471	3.78	0.0010</a:t>
            </a:r>
          </a:p>
          <a:p>
            <a:pPr>
              <a:buFont typeface="Monotype Sorts" charset="2"/>
              <a:buNone/>
              <a:tabLst>
                <a:tab pos="2627313" algn="l"/>
                <a:tab pos="4059238" algn="l"/>
                <a:tab pos="5141913" algn="l"/>
                <a:tab pos="6511925" algn="l"/>
              </a:tabLst>
            </a:pPr>
            <a:r>
              <a:rPr lang="en-US" sz="1800" dirty="0"/>
              <a:t>Growth rate	 1.21223	19.27	6.29	 ≤ 0.0001</a:t>
            </a:r>
          </a:p>
          <a:p>
            <a:pPr>
              <a:buFont typeface="Monotype Sorts" charset="2"/>
              <a:buNone/>
              <a:tabLst>
                <a:tab pos="2627313" algn="l"/>
                <a:tab pos="4059238" algn="l"/>
                <a:tab pos="5141913" algn="l"/>
                <a:tab pos="6511925" algn="l"/>
              </a:tabLst>
            </a:pPr>
            <a:r>
              <a:rPr lang="en-US" sz="1800" dirty="0"/>
              <a:t>Emerging Market       -13.8531	3.606	-3.84	0.0009</a:t>
            </a:r>
          </a:p>
          <a:p>
            <a:pPr>
              <a:buFont typeface="Monotype Sorts" charset="2"/>
              <a:buNone/>
              <a:tabLst>
                <a:tab pos="2627313" algn="l"/>
                <a:tab pos="4059238" algn="l"/>
                <a:tab pos="5141913" algn="l"/>
                <a:tab pos="6511925" algn="l"/>
              </a:tabLst>
            </a:pPr>
            <a:endParaRPr lang="en-US" sz="1800" dirty="0"/>
          </a:p>
          <a:p>
            <a:pPr>
              <a:buFont typeface="Monotype Sorts" charset="2"/>
              <a:buNone/>
              <a:tabLst>
                <a:tab pos="2627313" algn="l"/>
                <a:tab pos="4059238" algn="l"/>
                <a:tab pos="5141913" algn="l"/>
                <a:tab pos="6511925" algn="l"/>
              </a:tabLst>
            </a:pPr>
            <a:r>
              <a:rPr lang="en-US" sz="1800" dirty="0"/>
              <a:t>Emerging Market is a dummy: 1 if emerging market</a:t>
            </a:r>
          </a:p>
          <a:p>
            <a:pPr>
              <a:buFont typeface="Monotype Sorts" charset="2"/>
              <a:buNone/>
              <a:tabLst>
                <a:tab pos="2627313" algn="l"/>
                <a:tab pos="4059238" algn="l"/>
                <a:tab pos="5141913" algn="l"/>
                <a:tab pos="6511925" algn="l"/>
              </a:tabLst>
            </a:pPr>
            <a:r>
              <a:rPr lang="en-US" sz="1800" dirty="0"/>
              <a:t>		            0 if not</a:t>
            </a:r>
          </a:p>
          <a:p>
            <a:pPr>
              <a:tabLst>
                <a:tab pos="2627313" algn="l"/>
                <a:tab pos="4059238" algn="l"/>
                <a:tab pos="5141913" algn="l"/>
                <a:tab pos="6511925" algn="l"/>
              </a:tabLst>
            </a:pPr>
            <a:endParaRPr lang="en-US" sz="1800" dirty="0"/>
          </a:p>
        </p:txBody>
      </p:sp>
      <p:sp>
        <p:nvSpPr>
          <p:cNvPr id="246786" name="Rectangle 2"/>
          <p:cNvSpPr>
            <a:spLocks noGrp="1" noChangeArrowheads="1"/>
          </p:cNvSpPr>
          <p:nvPr>
            <p:ph type="title"/>
          </p:nvPr>
        </p:nvSpPr>
        <p:spPr/>
        <p:txBody>
          <a:bodyPr/>
          <a:lstStyle/>
          <a:p>
            <a:r>
              <a:rPr lang="en-US"/>
              <a:t>PE, Growth and Risk</a:t>
            </a:r>
          </a:p>
        </p:txBody>
      </p:sp>
      <p:sp>
        <p:nvSpPr>
          <p:cNvPr id="2" name="Slide Number Placeholder 1"/>
          <p:cNvSpPr>
            <a:spLocks noGrp="1"/>
          </p:cNvSpPr>
          <p:nvPr>
            <p:ph type="sldNum" sz="quarter" idx="12"/>
          </p:nvPr>
        </p:nvSpPr>
        <p:spPr/>
        <p:txBody>
          <a:bodyPr/>
          <a:lstStyle/>
          <a:p>
            <a:fld id="{C0DFAD38-9FB1-4247-9BCA-818DF90CB89D}" type="slidenum">
              <a:rPr lang="en-GB" smtClean="0"/>
              <a:pPr/>
              <a:t>17</a:t>
            </a:fld>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1" name="Rectangle 3"/>
          <p:cNvSpPr>
            <a:spLocks noGrp="1" noChangeArrowheads="1"/>
          </p:cNvSpPr>
          <p:nvPr>
            <p:ph idx="1"/>
          </p:nvPr>
        </p:nvSpPr>
        <p:spPr/>
        <p:txBody>
          <a:bodyPr>
            <a:normAutofit/>
          </a:bodyPr>
          <a:lstStyle/>
          <a:p>
            <a:r>
              <a:rPr lang="en-US" sz="2400" dirty="0"/>
              <a:t>Predicted PE = 13.12 + 1.2122 (7.5) - 13.85 (1) </a:t>
            </a:r>
          </a:p>
          <a:p>
            <a:pPr marL="109728" indent="0">
              <a:buNone/>
            </a:pPr>
            <a:r>
              <a:rPr lang="en-US" sz="2400" dirty="0"/>
              <a:t>		     = 8.35</a:t>
            </a:r>
          </a:p>
          <a:p>
            <a:r>
              <a:rPr lang="en-US" sz="2400" dirty="0"/>
              <a:t>At an actual price to earnings ratio of 8.9, </a:t>
            </a:r>
            <a:r>
              <a:rPr lang="en-US" sz="2400" dirty="0" err="1"/>
              <a:t>Telebras</a:t>
            </a:r>
            <a:r>
              <a:rPr lang="en-US" sz="2400" dirty="0"/>
              <a:t> is slightly overvalued.</a:t>
            </a:r>
          </a:p>
        </p:txBody>
      </p:sp>
      <p:sp>
        <p:nvSpPr>
          <p:cNvPr id="247810" name="Rectangle 2"/>
          <p:cNvSpPr>
            <a:spLocks noGrp="1" noChangeArrowheads="1"/>
          </p:cNvSpPr>
          <p:nvPr>
            <p:ph type="title"/>
          </p:nvPr>
        </p:nvSpPr>
        <p:spPr/>
        <p:txBody>
          <a:bodyPr/>
          <a:lstStyle/>
          <a:p>
            <a:r>
              <a:rPr lang="en-US"/>
              <a:t>Is Telebras under valued?</a:t>
            </a:r>
          </a:p>
        </p:txBody>
      </p:sp>
      <p:sp>
        <p:nvSpPr>
          <p:cNvPr id="2" name="Slide Number Placeholder 1"/>
          <p:cNvSpPr>
            <a:spLocks noGrp="1"/>
          </p:cNvSpPr>
          <p:nvPr>
            <p:ph type="sldNum" sz="quarter" idx="12"/>
          </p:nvPr>
        </p:nvSpPr>
        <p:spPr/>
        <p:txBody>
          <a:bodyPr/>
          <a:lstStyle/>
          <a:p>
            <a:fld id="{C0DFAD38-9FB1-4247-9BCA-818DF90CB89D}" type="slidenum">
              <a:rPr lang="en-GB" smtClean="0"/>
              <a:pPr/>
              <a:t>18</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78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78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88379873"/>
              </p:ext>
            </p:extLst>
          </p:nvPr>
        </p:nvGraphicFramePr>
        <p:xfrm>
          <a:off x="0" y="0"/>
          <a:ext cx="8964488"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107504" y="4077072"/>
            <a:ext cx="2592288" cy="25922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p:cNvSpPr>
            <a:spLocks noGrp="1"/>
          </p:cNvSpPr>
          <p:nvPr>
            <p:ph type="sldNum" sz="quarter" idx="12"/>
          </p:nvPr>
        </p:nvSpPr>
        <p:spPr/>
        <p:txBody>
          <a:bodyPr/>
          <a:lstStyle/>
          <a:p>
            <a:fld id="{C0DFAD38-9FB1-4247-9BCA-818DF90CB89D}" type="slidenum">
              <a:rPr lang="en-GB" smtClean="0"/>
              <a:pPr/>
              <a:t>19</a:t>
            </a:fld>
            <a:endParaRPr lang="en-GB"/>
          </a:p>
        </p:txBody>
      </p:sp>
    </p:spTree>
    <p:extLst>
      <p:ext uri="{BB962C8B-B14F-4D97-AF65-F5344CB8AC3E}">
        <p14:creationId xmlns:p14="http://schemas.microsoft.com/office/powerpoint/2010/main" val="68152149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1"/>
          </p:nvPr>
        </p:nvSpPr>
        <p:spPr>
          <a:noFill/>
          <a:ln/>
        </p:spPr>
        <p:txBody>
          <a:bodyPr>
            <a:normAutofit lnSpcReduction="10000"/>
          </a:bodyPr>
          <a:lstStyle/>
          <a:p>
            <a:r>
              <a:rPr lang="en-US" sz="1800" dirty="0"/>
              <a:t>While Price earnings ratios look at the market value of equity relative to earnings to equity investors, Value earnings ratios look at the market value of the firm relative to operating earnings. Value to cash flow ratios modify the earnings number to make it a cash flow number.</a:t>
            </a:r>
          </a:p>
          <a:p>
            <a:r>
              <a:rPr lang="en-US" sz="1800" dirty="0"/>
              <a:t>The form of value to cash flow ratios that has the closest parallels in DCF valuation is the value to Free Cash Flow to the Firm, which is defined as:</a:t>
            </a:r>
          </a:p>
          <a:p>
            <a:pPr>
              <a:buFont typeface="Monotype Sorts" charset="2"/>
              <a:buNone/>
            </a:pPr>
            <a:r>
              <a:rPr lang="en-US" sz="1800" dirty="0"/>
              <a:t>Value/FCFF =	</a:t>
            </a:r>
            <a:r>
              <a:rPr lang="en-US" sz="1800" u="sng" dirty="0"/>
              <a:t> (Market Value of Equity + Market Value of Debt-Cash)</a:t>
            </a:r>
          </a:p>
          <a:p>
            <a:pPr>
              <a:buFont typeface="Monotype Sorts" charset="2"/>
              <a:buNone/>
            </a:pPr>
            <a:r>
              <a:rPr lang="en-US" sz="1800" dirty="0"/>
              <a:t>			EBIT (1-t) - (Cap Ex - </a:t>
            </a:r>
            <a:r>
              <a:rPr lang="en-US" sz="1800" dirty="0" err="1"/>
              <a:t>Deprecn</a:t>
            </a:r>
            <a:r>
              <a:rPr lang="en-US" sz="1800" dirty="0"/>
              <a:t>) - </a:t>
            </a:r>
            <a:r>
              <a:rPr lang="en-US" sz="1800" dirty="0" err="1"/>
              <a:t>Chg</a:t>
            </a:r>
            <a:r>
              <a:rPr lang="en-US" sz="1800" dirty="0"/>
              <a:t> in WC</a:t>
            </a:r>
          </a:p>
          <a:p>
            <a:r>
              <a:rPr lang="en-US" sz="1800" dirty="0"/>
              <a:t>Consistency Tests:</a:t>
            </a:r>
          </a:p>
          <a:p>
            <a:pPr lvl="1"/>
            <a:r>
              <a:rPr lang="en-US" sz="1600" dirty="0"/>
              <a:t>If the numerator is net of cash (or if net debt is used, then the interest income from the cash should not be in denominator</a:t>
            </a:r>
          </a:p>
          <a:p>
            <a:pPr lvl="1"/>
            <a:r>
              <a:rPr lang="en-US" sz="1600" dirty="0"/>
              <a:t>The interest expenses added back to get to EBIT should correspond to the debt in the numerator. If only long term debt is considered, only long term interest should be added back.</a:t>
            </a:r>
          </a:p>
        </p:txBody>
      </p:sp>
      <p:sp>
        <p:nvSpPr>
          <p:cNvPr id="84994" name="Rectangle 2"/>
          <p:cNvSpPr>
            <a:spLocks noGrp="1" noChangeArrowheads="1"/>
          </p:cNvSpPr>
          <p:nvPr>
            <p:ph type="title"/>
          </p:nvPr>
        </p:nvSpPr>
        <p:spPr>
          <a:noFill/>
          <a:ln/>
        </p:spPr>
        <p:txBody>
          <a:bodyPr anchor="ctr">
            <a:normAutofit fontScale="90000"/>
          </a:bodyPr>
          <a:lstStyle/>
          <a:p>
            <a:r>
              <a:rPr lang="en-US" dirty="0"/>
              <a:t>Value/Earnings and </a:t>
            </a:r>
            <a:r>
              <a:rPr lang="en-US" dirty="0">
                <a:hlinkClick r:id="" action="ppaction://noaction"/>
              </a:rPr>
              <a:t>Value/</a:t>
            </a:r>
            <a:r>
              <a:rPr lang="en-US" dirty="0" err="1">
                <a:hlinkClick r:id="" action="ppaction://noaction"/>
              </a:rPr>
              <a:t>Cashflow</a:t>
            </a:r>
            <a:r>
              <a:rPr lang="en-US" dirty="0">
                <a:hlinkClick r:id="" action="ppaction://noaction"/>
              </a:rPr>
              <a:t> Ratios</a:t>
            </a:r>
            <a:endParaRPr lang="en-US" dirty="0"/>
          </a:p>
        </p:txBody>
      </p:sp>
      <p:sp>
        <p:nvSpPr>
          <p:cNvPr id="2" name="Slide Number Placeholder 1"/>
          <p:cNvSpPr>
            <a:spLocks noGrp="1"/>
          </p:cNvSpPr>
          <p:nvPr>
            <p:ph type="sldNum" sz="quarter" idx="12"/>
          </p:nvPr>
        </p:nvSpPr>
        <p:spPr/>
        <p:txBody>
          <a:bodyPr/>
          <a:lstStyle/>
          <a:p>
            <a:fld id="{C0DFAD38-9FB1-4247-9BCA-818DF90CB89D}" type="slidenum">
              <a:rPr lang="en-GB" smtClean="0"/>
              <a:pPr/>
              <a:t>20</a:t>
            </a:fld>
            <a:endParaRPr lang="en-GB"/>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noFill/>
          <a:ln/>
        </p:spPr>
        <p:txBody>
          <a:bodyPr>
            <a:normAutofit fontScale="92500" lnSpcReduction="20000"/>
          </a:bodyPr>
          <a:lstStyle/>
          <a:p>
            <a:r>
              <a:rPr lang="en-US"/>
              <a:t>Reverting back to a two-stage FCFF DCF model, we get:</a:t>
            </a:r>
          </a:p>
          <a:p>
            <a:pPr>
              <a:buFont typeface="Monotype Sorts" charset="2"/>
              <a:buNone/>
            </a:pPr>
            <a:endParaRPr lang="en-US"/>
          </a:p>
          <a:p>
            <a:pPr>
              <a:buFont typeface="Monotype Sorts" charset="2"/>
              <a:buNone/>
            </a:pPr>
            <a:endParaRPr lang="en-US"/>
          </a:p>
          <a:p>
            <a:pPr>
              <a:buFont typeface="Monotype Sorts" charset="2"/>
              <a:buNone/>
            </a:pPr>
            <a:endParaRPr lang="en-US"/>
          </a:p>
          <a:p>
            <a:pPr>
              <a:buFont typeface="Monotype Sorts" charset="2"/>
              <a:buNone/>
            </a:pPr>
            <a:endParaRPr lang="en-US"/>
          </a:p>
          <a:p>
            <a:pPr lvl="1"/>
            <a:r>
              <a:rPr lang="en-US"/>
              <a:t>	V</a:t>
            </a:r>
            <a:r>
              <a:rPr lang="en-US" baseline="-25000"/>
              <a:t>0</a:t>
            </a:r>
            <a:r>
              <a:rPr lang="en-US"/>
              <a:t> = Value of the firm (today)</a:t>
            </a:r>
          </a:p>
          <a:p>
            <a:pPr lvl="1"/>
            <a:r>
              <a:rPr lang="en-US"/>
              <a:t>	FCFF</a:t>
            </a:r>
            <a:r>
              <a:rPr lang="en-US" baseline="-25000"/>
              <a:t>0</a:t>
            </a:r>
            <a:r>
              <a:rPr lang="en-US"/>
              <a:t> = Free Cashflow to the firm in current year</a:t>
            </a:r>
          </a:p>
          <a:p>
            <a:pPr lvl="1"/>
            <a:r>
              <a:rPr lang="en-US"/>
              <a:t>	g = Expected growth rate in FCFF in extraordinary growth period (first n years)</a:t>
            </a:r>
          </a:p>
          <a:p>
            <a:pPr lvl="1"/>
            <a:r>
              <a:rPr lang="en-US"/>
              <a:t>	WACC = Weighted average cost of capital</a:t>
            </a:r>
          </a:p>
          <a:p>
            <a:pPr lvl="1"/>
            <a:r>
              <a:rPr lang="en-US"/>
              <a:t>	 g</a:t>
            </a:r>
            <a:r>
              <a:rPr lang="en-US" baseline="-25000"/>
              <a:t>n</a:t>
            </a:r>
            <a:r>
              <a:rPr lang="en-US"/>
              <a:t> = Expected growth rate in FCFF in stable growth period (after n years)</a:t>
            </a:r>
          </a:p>
        </p:txBody>
      </p:sp>
      <p:sp>
        <p:nvSpPr>
          <p:cNvPr id="87042" name="Rectangle 2"/>
          <p:cNvSpPr>
            <a:spLocks noGrp="1" noChangeArrowheads="1"/>
          </p:cNvSpPr>
          <p:nvPr>
            <p:ph type="title"/>
          </p:nvPr>
        </p:nvSpPr>
        <p:spPr>
          <a:xfrm>
            <a:off x="251520" y="274638"/>
            <a:ext cx="8435280" cy="1143000"/>
          </a:xfrm>
          <a:noFill/>
          <a:ln/>
        </p:spPr>
        <p:txBody>
          <a:bodyPr anchor="ctr">
            <a:normAutofit fontScale="90000"/>
          </a:bodyPr>
          <a:lstStyle/>
          <a:p>
            <a:r>
              <a:rPr lang="en-US" dirty="0"/>
              <a:t>Value of Firm/FCFF: Determinants</a:t>
            </a:r>
          </a:p>
        </p:txBody>
      </p:sp>
      <p:graphicFrame>
        <p:nvGraphicFramePr>
          <p:cNvPr id="87044" name="Object 4"/>
          <p:cNvGraphicFramePr>
            <a:graphicFrameLocks/>
          </p:cNvGraphicFramePr>
          <p:nvPr>
            <p:extLst>
              <p:ext uri="{D42A27DB-BD31-4B8C-83A1-F6EECF244321}">
                <p14:modId xmlns:p14="http://schemas.microsoft.com/office/powerpoint/2010/main" val="953948759"/>
              </p:ext>
            </p:extLst>
          </p:nvPr>
        </p:nvGraphicFramePr>
        <p:xfrm>
          <a:off x="835025" y="2133600"/>
          <a:ext cx="8850313" cy="1355725"/>
        </p:xfrm>
        <a:graphic>
          <a:graphicData uri="http://schemas.openxmlformats.org/presentationml/2006/ole">
            <mc:AlternateContent xmlns:mc="http://schemas.openxmlformats.org/markup-compatibility/2006">
              <mc:Choice xmlns:v="urn:schemas-microsoft-com:vml" Requires="v">
                <p:oleObj name="Equation" r:id="rId3" imgW="6019800" imgH="876300" progId="Equation.3">
                  <p:embed/>
                </p:oleObj>
              </mc:Choice>
              <mc:Fallback>
                <p:oleObj name="Equation" r:id="rId3" imgW="6019800" imgH="876300" progId="Equation.3">
                  <p:embed/>
                  <p:pic>
                    <p:nvPicPr>
                      <p:cNvPr id="8704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25" y="2133600"/>
                        <a:ext cx="8850313"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0DFAD38-9FB1-4247-9BCA-818DF90CB89D}" type="slidenum">
              <a:rPr lang="en-GB" smtClean="0"/>
              <a:pPr/>
              <a:t>21</a:t>
            </a:fld>
            <a:endParaRPr lang="en-GB"/>
          </a:p>
        </p:txBody>
      </p:sp>
    </p:spTree>
    <p:extLst>
      <p:ext uri="{BB962C8B-B14F-4D97-AF65-F5344CB8AC3E}">
        <p14:creationId xmlns:p14="http://schemas.microsoft.com/office/powerpoint/2010/main" val="376732751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idx="1"/>
          </p:nvPr>
        </p:nvSpPr>
        <p:spPr>
          <a:noFill/>
          <a:ln/>
        </p:spPr>
        <p:txBody>
          <a:bodyPr>
            <a:normAutofit/>
          </a:bodyPr>
          <a:lstStyle/>
          <a:p>
            <a:r>
              <a:rPr lang="en-US" dirty="0"/>
              <a:t>Value of the firm today (if you divide by FCFF, you get the </a:t>
            </a:r>
            <a:r>
              <a:rPr lang="en-US" dirty="0" err="1"/>
              <a:t>Vf</a:t>
            </a:r>
            <a:r>
              <a:rPr lang="en-US" dirty="0"/>
              <a:t>/FCFF)</a:t>
            </a:r>
          </a:p>
          <a:p>
            <a:pPr>
              <a:buFont typeface="Monotype Sorts" charset="2"/>
              <a:buNone/>
            </a:pPr>
            <a:endParaRPr lang="en-US" dirty="0"/>
          </a:p>
          <a:p>
            <a:pPr>
              <a:buFont typeface="Monotype Sorts" charset="2"/>
              <a:buNone/>
            </a:pPr>
            <a:endParaRPr lang="en-US" dirty="0"/>
          </a:p>
          <a:p>
            <a:pPr>
              <a:buFont typeface="Monotype Sorts" charset="2"/>
              <a:buNone/>
            </a:pPr>
            <a:endParaRPr lang="en-US" dirty="0"/>
          </a:p>
          <a:p>
            <a:pPr>
              <a:buFont typeface="Monotype Sorts" charset="2"/>
              <a:buNone/>
            </a:pPr>
            <a:endParaRPr lang="en-US" dirty="0"/>
          </a:p>
          <a:p>
            <a:r>
              <a:rPr lang="en-US" dirty="0"/>
              <a:t>The value/FCFF multiples is a function of</a:t>
            </a:r>
          </a:p>
          <a:p>
            <a:pPr lvl="1"/>
            <a:r>
              <a:rPr lang="en-US" dirty="0"/>
              <a:t>the cost of capital</a:t>
            </a:r>
          </a:p>
          <a:p>
            <a:pPr lvl="1"/>
            <a:r>
              <a:rPr lang="en-US" dirty="0"/>
              <a:t>the expected growth	 	 	 </a:t>
            </a:r>
          </a:p>
        </p:txBody>
      </p:sp>
      <p:sp>
        <p:nvSpPr>
          <p:cNvPr id="88066" name="Rectangle 2"/>
          <p:cNvSpPr>
            <a:spLocks noGrp="1" noChangeArrowheads="1"/>
          </p:cNvSpPr>
          <p:nvPr>
            <p:ph type="title"/>
          </p:nvPr>
        </p:nvSpPr>
        <p:spPr>
          <a:noFill/>
          <a:ln/>
        </p:spPr>
        <p:txBody>
          <a:bodyPr anchor="ctr"/>
          <a:lstStyle/>
          <a:p>
            <a:r>
              <a:rPr lang="en-US"/>
              <a:t>Value Multiples</a:t>
            </a:r>
          </a:p>
        </p:txBody>
      </p:sp>
      <p:sp>
        <p:nvSpPr>
          <p:cNvPr id="2" name="Slide Number Placeholder 1"/>
          <p:cNvSpPr>
            <a:spLocks noGrp="1"/>
          </p:cNvSpPr>
          <p:nvPr>
            <p:ph type="sldNum" sz="quarter" idx="12"/>
          </p:nvPr>
        </p:nvSpPr>
        <p:spPr/>
        <p:txBody>
          <a:bodyPr/>
          <a:lstStyle/>
          <a:p>
            <a:fld id="{C0DFAD38-9FB1-4247-9BCA-818DF90CB89D}" type="slidenum">
              <a:rPr lang="en-GB" smtClean="0"/>
              <a:pPr/>
              <a:t>22</a:t>
            </a:fld>
            <a:endParaRPr lang="en-GB"/>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73EAE18-853D-E545-740D-B6383BFA2755}"/>
                  </a:ext>
                </a:extLst>
              </p:cNvPr>
              <p:cNvSpPr txBox="1"/>
              <p:nvPr/>
            </p:nvSpPr>
            <p:spPr>
              <a:xfrm>
                <a:off x="2483768" y="2865749"/>
                <a:ext cx="3744416" cy="896207"/>
              </a:xfrm>
              <a:prstGeom prst="rect">
                <a:avLst/>
              </a:prstGeom>
              <a:noFill/>
            </p:spPr>
            <p:txBody>
              <a:bodyPr wrap="square" lIns="0" tIns="0" rIns="0" bIns="0" rtlCol="0">
                <a:spAutoFit/>
              </a:bodyPr>
              <a:lstStyle/>
              <a:p>
                <a:pPr/>
                <a14:m>
                  <m:oMathPara xmlns:m="http://schemas.openxmlformats.org/officeDocument/2006/math">
                    <m:o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𝑉</m:t>
                          </m:r>
                        </m:e>
                        <m:sub>
                          <m:r>
                            <a:rPr lang="en-GB" sz="2800" b="0" i="1" smtClean="0">
                              <a:latin typeface="Cambria Math" panose="02040503050406030204" pitchFamily="18" charset="0"/>
                            </a:rPr>
                            <m:t>0</m:t>
                          </m:r>
                        </m:sub>
                      </m:sSub>
                      <m:r>
                        <a:rPr lang="en-GB" sz="2800" b="0" i="1" smtClean="0">
                          <a:latin typeface="Cambria Math" panose="02040503050406030204" pitchFamily="18" charset="0"/>
                        </a:rPr>
                        <m:t>=</m:t>
                      </m:r>
                      <m:f>
                        <m:fPr>
                          <m:ctrlPr>
                            <a:rPr lang="en-GB" sz="2800" i="1">
                              <a:latin typeface="Cambria Math" panose="02040503050406030204" pitchFamily="18" charset="0"/>
                            </a:rPr>
                          </m:ctrlPr>
                        </m:fPr>
                        <m:num>
                          <m:sSub>
                            <m:sSubPr>
                              <m:ctrlPr>
                                <a:rPr lang="en-GB" sz="2800" i="1">
                                  <a:latin typeface="Cambria Math" panose="02040503050406030204" pitchFamily="18" charset="0"/>
                                </a:rPr>
                              </m:ctrlPr>
                            </m:sSubPr>
                            <m:e>
                              <m:r>
                                <a:rPr lang="en-GB" sz="2800" i="1">
                                  <a:latin typeface="Cambria Math" panose="02040503050406030204" pitchFamily="18" charset="0"/>
                                </a:rPr>
                                <m:t>𝐹𝐶𝐹𝐹</m:t>
                              </m:r>
                            </m:e>
                            <m:sub>
                              <m:r>
                                <a:rPr lang="en-GB" sz="2800" b="0" i="1" smtClean="0">
                                  <a:latin typeface="Cambria Math" panose="02040503050406030204" pitchFamily="18" charset="0"/>
                                </a:rPr>
                                <m:t>0</m:t>
                              </m:r>
                            </m:sub>
                          </m:sSub>
                          <m:r>
                            <a:rPr lang="en-GB" sz="2800" b="0" i="1" smtClean="0">
                              <a:latin typeface="Cambria Math" panose="02040503050406030204" pitchFamily="18" charset="0"/>
                            </a:rPr>
                            <m:t>(1+</m:t>
                          </m:r>
                          <m:sSub>
                            <m:sSubPr>
                              <m:ctrlPr>
                                <a:rPr lang="en-GB" sz="2800" i="1">
                                  <a:latin typeface="Cambria Math" panose="02040503050406030204" pitchFamily="18" charset="0"/>
                                </a:rPr>
                              </m:ctrlPr>
                            </m:sSubPr>
                            <m:e>
                              <m:r>
                                <a:rPr lang="en-GB" sz="2800" i="1">
                                  <a:latin typeface="Cambria Math" panose="02040503050406030204" pitchFamily="18" charset="0"/>
                                </a:rPr>
                                <m:t>𝑔</m:t>
                              </m:r>
                            </m:e>
                            <m:sub>
                              <m:r>
                                <a:rPr lang="en-GB" sz="2800" i="1">
                                  <a:latin typeface="Cambria Math" panose="02040503050406030204" pitchFamily="18" charset="0"/>
                                </a:rPr>
                                <m:t>𝐹𝐶𝐹𝐹</m:t>
                              </m:r>
                            </m:sub>
                          </m:sSub>
                          <m:r>
                            <a:rPr lang="en-GB" sz="2800" b="0" i="1" smtClean="0">
                              <a:latin typeface="Cambria Math" panose="02040503050406030204" pitchFamily="18" charset="0"/>
                            </a:rPr>
                            <m:t>)</m:t>
                          </m:r>
                        </m:num>
                        <m:den>
                          <m:r>
                            <a:rPr lang="en-GB" sz="2800" b="0" i="1" smtClean="0">
                              <a:latin typeface="Cambria Math" panose="02040503050406030204" pitchFamily="18" charset="0"/>
                            </a:rPr>
                            <m:t>𝑤𝑎𝑐𝑐</m:t>
                          </m:r>
                          <m:r>
                            <a:rPr lang="en-GB" sz="2800" b="0" i="1" smtClean="0">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𝑔</m:t>
                              </m:r>
                            </m:e>
                            <m:sub>
                              <m:r>
                                <a:rPr lang="en-GB" sz="2800" b="0" i="1" smtClean="0">
                                  <a:latin typeface="Cambria Math" panose="02040503050406030204" pitchFamily="18" charset="0"/>
                                </a:rPr>
                                <m:t>𝐹𝐶𝐹𝐹</m:t>
                              </m:r>
                            </m:sub>
                          </m:sSub>
                        </m:den>
                      </m:f>
                    </m:oMath>
                  </m:oMathPara>
                </a14:m>
                <a:endParaRPr lang="en-GB" sz="2800" dirty="0"/>
              </a:p>
            </p:txBody>
          </p:sp>
        </mc:Choice>
        <mc:Fallback xmlns="">
          <p:sp>
            <p:nvSpPr>
              <p:cNvPr id="3" name="TextBox 2">
                <a:extLst>
                  <a:ext uri="{FF2B5EF4-FFF2-40B4-BE49-F238E27FC236}">
                    <a16:creationId xmlns:a16="http://schemas.microsoft.com/office/drawing/2014/main" id="{E73EAE18-853D-E545-740D-B6383BFA2755}"/>
                  </a:ext>
                </a:extLst>
              </p:cNvPr>
              <p:cNvSpPr txBox="1">
                <a:spLocks noRot="1" noChangeAspect="1" noMove="1" noResize="1" noEditPoints="1" noAdjustHandles="1" noChangeArrowheads="1" noChangeShapeType="1" noTextEdit="1"/>
              </p:cNvSpPr>
              <p:nvPr/>
            </p:nvSpPr>
            <p:spPr>
              <a:xfrm>
                <a:off x="2483768" y="2865749"/>
                <a:ext cx="3744416" cy="896207"/>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41610425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a:noFill/>
          <a:ln/>
        </p:spPr>
        <p:txBody>
          <a:bodyPr>
            <a:normAutofit fontScale="92500" lnSpcReduction="10000"/>
          </a:bodyPr>
          <a:lstStyle/>
          <a:p>
            <a:r>
              <a:rPr lang="en-US" dirty="0"/>
              <a:t>Most analysts find FCFF too complex or messy to use in multiples (partly because capital expenditures and working capital have to be estimated). They use modified versions of the multiple with the following alternative denominator:</a:t>
            </a:r>
          </a:p>
          <a:p>
            <a:pPr lvl="1"/>
            <a:r>
              <a:rPr lang="en-US" dirty="0"/>
              <a:t>after-tax operating income or EBIT(1-t)</a:t>
            </a:r>
          </a:p>
          <a:p>
            <a:pPr lvl="1"/>
            <a:r>
              <a:rPr lang="en-US" dirty="0"/>
              <a:t>pre-tax operating income or EBIT</a:t>
            </a:r>
          </a:p>
          <a:p>
            <a:pPr lvl="1"/>
            <a:r>
              <a:rPr lang="en-US" dirty="0"/>
              <a:t>net operating income (NOI), a slightly modified version of operating income, where any non-operating expenses and income is removed from the EBIT</a:t>
            </a:r>
          </a:p>
          <a:p>
            <a:pPr lvl="1"/>
            <a:r>
              <a:rPr lang="en-US" dirty="0"/>
              <a:t>EBITDA, which is earnings before interest, taxes, depreciation and amortization.</a:t>
            </a:r>
          </a:p>
          <a:p>
            <a:endParaRPr lang="en-US" sz="1800" dirty="0"/>
          </a:p>
        </p:txBody>
      </p:sp>
      <p:sp>
        <p:nvSpPr>
          <p:cNvPr id="89090" name="Rectangle 2"/>
          <p:cNvSpPr>
            <a:spLocks noGrp="1" noChangeArrowheads="1"/>
          </p:cNvSpPr>
          <p:nvPr>
            <p:ph type="title"/>
          </p:nvPr>
        </p:nvSpPr>
        <p:spPr>
          <a:noFill/>
          <a:ln/>
        </p:spPr>
        <p:txBody>
          <a:bodyPr anchor="ctr">
            <a:normAutofit fontScale="90000"/>
          </a:bodyPr>
          <a:lstStyle/>
          <a:p>
            <a:r>
              <a:rPr lang="en-US"/>
              <a:t>Alternatives to FCFF - EBIT and EBITDA</a:t>
            </a:r>
          </a:p>
        </p:txBody>
      </p:sp>
      <p:sp>
        <p:nvSpPr>
          <p:cNvPr id="2" name="Slide Number Placeholder 1"/>
          <p:cNvSpPr>
            <a:spLocks noGrp="1"/>
          </p:cNvSpPr>
          <p:nvPr>
            <p:ph type="sldNum" sz="quarter" idx="12"/>
          </p:nvPr>
        </p:nvSpPr>
        <p:spPr/>
        <p:txBody>
          <a:bodyPr/>
          <a:lstStyle/>
          <a:p>
            <a:fld id="{C0DFAD38-9FB1-4247-9BCA-818DF90CB89D}" type="slidenum">
              <a:rPr lang="en-GB" smtClean="0"/>
              <a:pPr/>
              <a:t>23</a:t>
            </a:fld>
            <a:endParaRPr lang="en-GB"/>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1026"/>
          <p:cNvSpPr>
            <a:spLocks noGrp="1" noChangeArrowheads="1"/>
          </p:cNvSpPr>
          <p:nvPr>
            <p:ph type="title"/>
          </p:nvPr>
        </p:nvSpPr>
        <p:spPr>
          <a:xfrm>
            <a:off x="158629" y="61172"/>
            <a:ext cx="6347048" cy="1143000"/>
          </a:xfrm>
        </p:spPr>
        <p:txBody>
          <a:bodyPr>
            <a:noAutofit/>
          </a:bodyPr>
          <a:lstStyle/>
          <a:p>
            <a:pPr eaLnBrk="1" hangingPunct="1"/>
            <a:r>
              <a:rPr lang="en-US" sz="1800" dirty="0"/>
              <a:t>Enterprise Value/EBITDA : Global Data</a:t>
            </a:r>
            <a:br>
              <a:rPr lang="en-US" sz="1800" dirty="0"/>
            </a:br>
            <a:r>
              <a:rPr lang="en-US" sz="1800" dirty="0"/>
              <a:t>6 times EBITDA may seem like a good rule of thumb..</a:t>
            </a:r>
          </a:p>
        </p:txBody>
      </p:sp>
      <p:pic>
        <p:nvPicPr>
          <p:cNvPr id="412675"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3061" r="-2823"/>
          <a:stretch/>
        </p:blipFill>
        <p:spPr>
          <a:xfrm>
            <a:off x="179512" y="980728"/>
            <a:ext cx="4608512" cy="3015412"/>
          </a:xfrm>
        </p:spPr>
      </p:pic>
      <p:pic>
        <p:nvPicPr>
          <p:cNvPr id="412676" name="Picture 4"/>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7664" y="1412776"/>
            <a:ext cx="3105314" cy="769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C0DFAD38-9FB1-4247-9BCA-818DF90CB89D}" type="slidenum">
              <a:rPr lang="en-GB" smtClean="0"/>
              <a:pPr/>
              <a:t>24</a:t>
            </a:fld>
            <a:endParaRPr lang="en-GB"/>
          </a:p>
        </p:txBody>
      </p:sp>
      <p:pic>
        <p:nvPicPr>
          <p:cNvPr id="6" name="Content Placeholder 5"/>
          <p:cNvPicPr>
            <a:picLocks noChangeAspect="1"/>
          </p:cNvPicPr>
          <p:nvPr/>
        </p:nvPicPr>
        <p:blipFill rotWithShape="1">
          <a:blip r:embed="rId5">
            <a:extLst>
              <a:ext uri="{28A0092B-C50C-407E-A947-70E740481C1C}">
                <a14:useLocalDpi xmlns:a14="http://schemas.microsoft.com/office/drawing/2010/main" val="0"/>
              </a:ext>
            </a:extLst>
          </a:blip>
          <a:srcRect l="2940" r="1491"/>
          <a:stretch/>
        </p:blipFill>
        <p:spPr>
          <a:xfrm>
            <a:off x="4614889" y="3284984"/>
            <a:ext cx="4382535" cy="3177115"/>
          </a:xfrm>
          <a:prstGeom prst="rect">
            <a:avLst/>
          </a:prstGeom>
        </p:spPr>
      </p:pic>
      <p:sp>
        <p:nvSpPr>
          <p:cNvPr id="7" name="Slide Number Placeholder 1"/>
          <p:cNvSpPr txBox="1">
            <a:spLocks/>
          </p:cNvSpPr>
          <p:nvPr/>
        </p:nvSpPr>
        <p:spPr>
          <a:xfrm>
            <a:off x="12511875" y="8501387"/>
            <a:ext cx="197029" cy="76641"/>
          </a:xfrm>
          <a:prstGeom prst="rect">
            <a:avLst/>
          </a:prstGeom>
        </p:spPr>
        <p:txBody>
          <a:bodyPr vert="horz" anchor="b"/>
          <a:lstStyle>
            <a:defPPr>
              <a:defRPr lang="en-US"/>
            </a:defPPr>
            <a:lvl1pPr marL="0" algn="r" defTabSz="914400" rtl="0" eaLnBrk="1" latinLnBrk="0" hangingPunct="1">
              <a:defRPr kumimoji="0" sz="10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DFAD38-9FB1-4247-9BCA-818DF90CB89D}" type="slidenum">
              <a:rPr lang="en-GB" smtClean="0"/>
              <a:pPr/>
              <a:t>24</a:t>
            </a:fld>
            <a:endParaRPr lang="en-GB"/>
          </a:p>
        </p:txBody>
      </p:sp>
      <p:sp>
        <p:nvSpPr>
          <p:cNvPr id="8" name="Rectangle 1026"/>
          <p:cNvSpPr txBox="1">
            <a:spLocks noChangeArrowheads="1"/>
          </p:cNvSpPr>
          <p:nvPr/>
        </p:nvSpPr>
        <p:spPr>
          <a:xfrm>
            <a:off x="5258936" y="2685982"/>
            <a:ext cx="3571216" cy="576064"/>
          </a:xfrm>
          <a:prstGeom prst="rect">
            <a:avLst/>
          </a:prstGeom>
        </p:spPr>
        <p:txBody>
          <a:bodyPr vert="horz" rtlCol="0" anchor="ctr">
            <a:normAutofit fontScale="55000" lnSpcReduction="20000"/>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a:latin typeface="Helvetica" pitchFamily="3" charset="0"/>
              </a:rPr>
              <a:t>But not in early 2009…</a:t>
            </a:r>
            <a:endParaRPr lang="en-US" dirty="0">
              <a:latin typeface="Helvetica" pitchFamily="3" charset="0"/>
            </a:endParaRPr>
          </a:p>
        </p:txBody>
      </p:sp>
    </p:spTree>
    <p:extLst>
      <p:ext uri="{BB962C8B-B14F-4D97-AF65-F5344CB8AC3E}">
        <p14:creationId xmlns:p14="http://schemas.microsoft.com/office/powerpoint/2010/main" val="2611281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88379873"/>
              </p:ext>
            </p:extLst>
          </p:nvPr>
        </p:nvGraphicFramePr>
        <p:xfrm>
          <a:off x="0" y="0"/>
          <a:ext cx="8964488"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3203848" y="2204864"/>
            <a:ext cx="2592288" cy="11521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p:cNvSpPr>
            <a:spLocks noGrp="1"/>
          </p:cNvSpPr>
          <p:nvPr>
            <p:ph type="sldNum" sz="quarter" idx="12"/>
          </p:nvPr>
        </p:nvSpPr>
        <p:spPr/>
        <p:txBody>
          <a:bodyPr/>
          <a:lstStyle/>
          <a:p>
            <a:fld id="{C0DFAD38-9FB1-4247-9BCA-818DF90CB89D}" type="slidenum">
              <a:rPr lang="en-GB" smtClean="0"/>
              <a:pPr/>
              <a:t>25</a:t>
            </a:fld>
            <a:endParaRPr lang="en-GB"/>
          </a:p>
        </p:txBody>
      </p:sp>
    </p:spTree>
    <p:extLst>
      <p:ext uri="{BB962C8B-B14F-4D97-AF65-F5344CB8AC3E}">
        <p14:creationId xmlns:p14="http://schemas.microsoft.com/office/powerpoint/2010/main" val="68152149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idx="1"/>
          </p:nvPr>
        </p:nvSpPr>
        <p:spPr>
          <a:xfrm>
            <a:off x="457200" y="1481328"/>
            <a:ext cx="8229600" cy="4972008"/>
          </a:xfrm>
          <a:noFill/>
          <a:ln/>
        </p:spPr>
        <p:txBody>
          <a:bodyPr>
            <a:noAutofit/>
          </a:bodyPr>
          <a:lstStyle/>
          <a:p>
            <a:r>
              <a:rPr lang="en-US" sz="2400" dirty="0"/>
              <a:t>The price/book value ratio is the ratio of the market value of equity to the book value of equity, i.e., the measure of shareholders’ equity in the balance sheet.</a:t>
            </a:r>
          </a:p>
          <a:p>
            <a:r>
              <a:rPr lang="en-US" sz="2400" dirty="0"/>
              <a:t>Price/Book Value = 	</a:t>
            </a:r>
            <a:r>
              <a:rPr lang="en-US" sz="2400" u="sng" dirty="0"/>
              <a:t>Market Value of Equity</a:t>
            </a:r>
          </a:p>
          <a:p>
            <a:pPr>
              <a:buFont typeface="Monotype Sorts" charset="2"/>
              <a:buNone/>
            </a:pPr>
            <a:r>
              <a:rPr lang="en-US" sz="2400" dirty="0"/>
              <a:t>					  Book Value of Equity</a:t>
            </a:r>
          </a:p>
          <a:p>
            <a:r>
              <a:rPr lang="en-US" sz="2400" dirty="0"/>
              <a:t>Consistency Tests:</a:t>
            </a:r>
          </a:p>
          <a:p>
            <a:pPr lvl="1"/>
            <a:r>
              <a:rPr lang="en-US" sz="2000" dirty="0"/>
              <a:t>If the market value of equity refers to the market value of equity of common stock outstanding, the book value of common equity should be used in the denominator.</a:t>
            </a:r>
          </a:p>
          <a:p>
            <a:pPr lvl="1"/>
            <a:r>
              <a:rPr lang="en-US" sz="2000" dirty="0"/>
              <a:t>If there is more that one class of common stock outstanding, the market values of all classes (even the non-traded classes) needs to be factored in.</a:t>
            </a:r>
          </a:p>
        </p:txBody>
      </p:sp>
      <p:sp>
        <p:nvSpPr>
          <p:cNvPr id="108546" name="Rectangle 2"/>
          <p:cNvSpPr>
            <a:spLocks noGrp="1" noChangeArrowheads="1"/>
          </p:cNvSpPr>
          <p:nvPr>
            <p:ph type="title"/>
          </p:nvPr>
        </p:nvSpPr>
        <p:spPr>
          <a:noFill/>
          <a:ln/>
        </p:spPr>
        <p:txBody>
          <a:bodyPr anchor="ctr">
            <a:normAutofit fontScale="90000"/>
          </a:bodyPr>
          <a:lstStyle/>
          <a:p>
            <a:r>
              <a:rPr lang="en-US"/>
              <a:t>Price-Book Value Ratio: Definition</a:t>
            </a:r>
          </a:p>
        </p:txBody>
      </p:sp>
      <p:sp>
        <p:nvSpPr>
          <p:cNvPr id="2" name="Slide Number Placeholder 1"/>
          <p:cNvSpPr>
            <a:spLocks noGrp="1"/>
          </p:cNvSpPr>
          <p:nvPr>
            <p:ph type="sldNum" sz="quarter" idx="12"/>
          </p:nvPr>
        </p:nvSpPr>
        <p:spPr/>
        <p:txBody>
          <a:bodyPr/>
          <a:lstStyle/>
          <a:p>
            <a:fld id="{C0DFAD38-9FB1-4247-9BCA-818DF90CB89D}" type="slidenum">
              <a:rPr lang="en-GB" smtClean="0"/>
              <a:pPr/>
              <a:t>26</a:t>
            </a:fld>
            <a:endParaRPr lang="en-GB"/>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0DFAD38-9FB1-4247-9BCA-818DF90CB89D}" type="slidenum">
              <a:rPr lang="en-GB" smtClean="0"/>
              <a:pPr/>
              <a:t>27</a:t>
            </a:fld>
            <a:endParaRPr lang="en-GB"/>
          </a:p>
        </p:txBody>
      </p:sp>
      <p:pic>
        <p:nvPicPr>
          <p:cNvPr id="5" name="Picture 5"/>
          <p:cNvPicPr>
            <a:picLocks noChangeAspect="1" noChangeArrowheads="1"/>
          </p:cNvPicPr>
          <p:nvPr/>
        </p:nvPicPr>
        <p:blipFill rotWithShape="1">
          <a:blip r:embed="rId3" cstate="print"/>
          <a:srcRect l="4304" t="10243"/>
          <a:stretch/>
        </p:blipFill>
        <p:spPr>
          <a:xfrm>
            <a:off x="107504" y="3259258"/>
            <a:ext cx="5040560" cy="3598742"/>
          </a:xfrm>
          <a:prstGeom prst="rect">
            <a:avLst/>
          </a:prstGeom>
        </p:spPr>
      </p:pic>
      <p:pic>
        <p:nvPicPr>
          <p:cNvPr id="230419" name="Picture 19"/>
          <p:cNvPicPr>
            <a:picLocks noGrp="1" noChangeAspect="1" noChangeArrowheads="1"/>
          </p:cNvPicPr>
          <p:nvPr>
            <p:ph idx="1"/>
          </p:nvPr>
        </p:nvPicPr>
        <p:blipFill rotWithShape="1">
          <a:blip r:embed="rId4" cstate="print"/>
          <a:srcRect l="2850" t="8762"/>
          <a:stretch/>
        </p:blipFill>
        <p:spPr>
          <a:xfrm>
            <a:off x="4211960" y="476672"/>
            <a:ext cx="4908436" cy="3384376"/>
          </a:xfrm>
        </p:spPr>
      </p:pic>
      <p:sp>
        <p:nvSpPr>
          <p:cNvPr id="230402" name="Rectangle 2"/>
          <p:cNvSpPr>
            <a:spLocks noGrp="1" noChangeArrowheads="1"/>
          </p:cNvSpPr>
          <p:nvPr>
            <p:ph type="title"/>
          </p:nvPr>
        </p:nvSpPr>
        <p:spPr>
          <a:xfrm>
            <a:off x="4355976" y="44624"/>
            <a:ext cx="4402832" cy="634082"/>
          </a:xfrm>
        </p:spPr>
        <p:txBody>
          <a:bodyPr>
            <a:noAutofit/>
          </a:bodyPr>
          <a:lstStyle/>
          <a:p>
            <a:pPr algn="ctr"/>
            <a:r>
              <a:rPr lang="en-US" sz="2000" dirty="0"/>
              <a:t>Price to Book Value: US stocks</a:t>
            </a:r>
          </a:p>
        </p:txBody>
      </p:sp>
      <p:sp>
        <p:nvSpPr>
          <p:cNvPr id="6" name="Rectangle 2"/>
          <p:cNvSpPr txBox="1">
            <a:spLocks noChangeArrowheads="1"/>
          </p:cNvSpPr>
          <p:nvPr/>
        </p:nvSpPr>
        <p:spPr>
          <a:xfrm>
            <a:off x="288032" y="2636912"/>
            <a:ext cx="3707904" cy="576064"/>
          </a:xfrm>
          <a:prstGeom prst="rect">
            <a:avLst/>
          </a:prstGeom>
        </p:spPr>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lgn="ctr"/>
            <a:r>
              <a:rPr lang="en-US" sz="2000"/>
              <a:t>Price to Book: Europe and Emerging Markets</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idx="1"/>
          </p:nvPr>
        </p:nvSpPr>
        <p:spPr>
          <a:xfrm>
            <a:off x="457200" y="1556792"/>
            <a:ext cx="8229600" cy="4464496"/>
          </a:xfrm>
          <a:noFill/>
          <a:ln/>
        </p:spPr>
        <p:txBody>
          <a:bodyPr>
            <a:normAutofit lnSpcReduction="10000"/>
          </a:bodyPr>
          <a:lstStyle/>
          <a:p>
            <a:pPr>
              <a:lnSpc>
                <a:spcPct val="90000"/>
              </a:lnSpc>
            </a:pPr>
            <a:r>
              <a:rPr lang="en-US" sz="1800" dirty="0"/>
              <a:t>Going back to a simple dividend discount model,</a:t>
            </a:r>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pPr>
            <a:r>
              <a:rPr lang="en-US" sz="1800" dirty="0"/>
              <a:t>Defining the return on equity (ROE) = EPS</a:t>
            </a:r>
            <a:r>
              <a:rPr lang="en-US" sz="1800" baseline="-25000" dirty="0"/>
              <a:t>0</a:t>
            </a:r>
            <a:r>
              <a:rPr lang="en-US" sz="1800" dirty="0"/>
              <a:t> / Book Value of Equity, the value of equity can be written as:</a:t>
            </a:r>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buFont typeface="Monotype Sorts" charset="2"/>
              <a:buNone/>
            </a:pPr>
            <a:endParaRPr lang="en-US" sz="1800" dirty="0"/>
          </a:p>
          <a:p>
            <a:pPr>
              <a:lnSpc>
                <a:spcPct val="90000"/>
              </a:lnSpc>
            </a:pPr>
            <a:r>
              <a:rPr lang="en-US" sz="1800" dirty="0"/>
              <a:t>If the return on equity is based upon expected earnings in the next time period, this can be simplified to,</a:t>
            </a:r>
          </a:p>
          <a:p>
            <a:pPr>
              <a:lnSpc>
                <a:spcPct val="90000"/>
              </a:lnSpc>
              <a:buFont typeface="Monotype Sorts" charset="2"/>
              <a:buNone/>
            </a:pPr>
            <a:r>
              <a:rPr lang="en-US" sz="1800" dirty="0"/>
              <a:t>	 </a:t>
            </a:r>
          </a:p>
          <a:p>
            <a:pPr>
              <a:lnSpc>
                <a:spcPct val="90000"/>
              </a:lnSpc>
            </a:pPr>
            <a:endParaRPr lang="en-US" sz="1800" dirty="0"/>
          </a:p>
        </p:txBody>
      </p:sp>
      <p:sp>
        <p:nvSpPr>
          <p:cNvPr id="110594" name="Rectangle 2"/>
          <p:cNvSpPr>
            <a:spLocks noGrp="1" noChangeArrowheads="1"/>
          </p:cNvSpPr>
          <p:nvPr>
            <p:ph type="title"/>
          </p:nvPr>
        </p:nvSpPr>
        <p:spPr>
          <a:noFill/>
          <a:ln/>
        </p:spPr>
        <p:txBody>
          <a:bodyPr anchor="ctr">
            <a:normAutofit fontScale="90000"/>
          </a:bodyPr>
          <a:lstStyle/>
          <a:p>
            <a:r>
              <a:rPr lang="en-US"/>
              <a:t>Price Book Value Ratio: Stable Growth Firm</a:t>
            </a:r>
          </a:p>
        </p:txBody>
      </p:sp>
      <p:graphicFrame>
        <p:nvGraphicFramePr>
          <p:cNvPr id="110596" name="Object 4"/>
          <p:cNvGraphicFramePr>
            <a:graphicFrameLocks/>
          </p:cNvGraphicFramePr>
          <p:nvPr/>
        </p:nvGraphicFramePr>
        <p:xfrm>
          <a:off x="3962400" y="2133600"/>
          <a:ext cx="1113656" cy="647328"/>
        </p:xfrm>
        <a:graphic>
          <a:graphicData uri="http://schemas.openxmlformats.org/presentationml/2006/ole">
            <mc:AlternateContent xmlns:mc="http://schemas.openxmlformats.org/markup-compatibility/2006">
              <mc:Choice xmlns:v="urn:schemas-microsoft-com:vml" Requires="v">
                <p:oleObj name="Equation" r:id="rId3" imgW="749300" imgH="393700" progId="Equation.3">
                  <p:embed/>
                </p:oleObj>
              </mc:Choice>
              <mc:Fallback>
                <p:oleObj name="Equation" r:id="rId3" imgW="749300" imgH="393700" progId="Equation.3">
                  <p:embed/>
                  <p:pic>
                    <p:nvPicPr>
                      <p:cNvPr id="110596"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133600"/>
                        <a:ext cx="1113656" cy="64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597" name="Object 5"/>
          <p:cNvGraphicFramePr>
            <a:graphicFrameLocks/>
          </p:cNvGraphicFramePr>
          <p:nvPr>
            <p:extLst>
              <p:ext uri="{D42A27DB-BD31-4B8C-83A1-F6EECF244321}">
                <p14:modId xmlns:p14="http://schemas.microsoft.com/office/powerpoint/2010/main" val="2801321239"/>
              </p:ext>
            </p:extLst>
          </p:nvPr>
        </p:nvGraphicFramePr>
        <p:xfrm>
          <a:off x="3128392" y="3509392"/>
          <a:ext cx="3243808" cy="567680"/>
        </p:xfrm>
        <a:graphic>
          <a:graphicData uri="http://schemas.openxmlformats.org/presentationml/2006/ole">
            <mc:AlternateContent xmlns:mc="http://schemas.openxmlformats.org/markup-compatibility/2006">
              <mc:Choice xmlns:v="urn:schemas-microsoft-com:vml" Requires="v">
                <p:oleObj name="Equation" r:id="rId5" imgW="2679700" imgH="457200" progId="Equation.3">
                  <p:embed/>
                </p:oleObj>
              </mc:Choice>
              <mc:Fallback>
                <p:oleObj name="Equation" r:id="rId5" imgW="2679700" imgH="457200" progId="Equation.3">
                  <p:embed/>
                  <p:pic>
                    <p:nvPicPr>
                      <p:cNvPr id="110597"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8392" y="3509392"/>
                        <a:ext cx="3243808" cy="567680"/>
                      </a:xfrm>
                      <a:prstGeom prst="rect">
                        <a:avLst/>
                      </a:prstGeom>
                      <a:noFill/>
                      <a:ln>
                        <a:noFill/>
                      </a:ln>
                      <a:effectLst/>
                    </p:spPr>
                  </p:pic>
                </p:oleObj>
              </mc:Fallback>
            </mc:AlternateContent>
          </a:graphicData>
        </a:graphic>
      </p:graphicFrame>
      <p:graphicFrame>
        <p:nvGraphicFramePr>
          <p:cNvPr id="110598" name="Object 6"/>
          <p:cNvGraphicFramePr>
            <a:graphicFrameLocks/>
          </p:cNvGraphicFramePr>
          <p:nvPr>
            <p:extLst>
              <p:ext uri="{D42A27DB-BD31-4B8C-83A1-F6EECF244321}">
                <p14:modId xmlns:p14="http://schemas.microsoft.com/office/powerpoint/2010/main" val="2160021309"/>
              </p:ext>
            </p:extLst>
          </p:nvPr>
        </p:nvGraphicFramePr>
        <p:xfrm>
          <a:off x="3124200" y="4191000"/>
          <a:ext cx="3320008" cy="534144"/>
        </p:xfrm>
        <a:graphic>
          <a:graphicData uri="http://schemas.openxmlformats.org/presentationml/2006/ole">
            <mc:AlternateContent xmlns:mc="http://schemas.openxmlformats.org/markup-compatibility/2006">
              <mc:Choice xmlns:v="urn:schemas-microsoft-com:vml" Requires="v">
                <p:oleObj name="Equation" r:id="rId7" imgW="2870200" imgH="457200" progId="Equation.3">
                  <p:embed/>
                </p:oleObj>
              </mc:Choice>
              <mc:Fallback>
                <p:oleObj name="Equation" r:id="rId7" imgW="2870200" imgH="457200" progId="Equation.3">
                  <p:embed/>
                  <p:pic>
                    <p:nvPicPr>
                      <p:cNvPr id="110598"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4191000"/>
                        <a:ext cx="3320008" cy="534144"/>
                      </a:xfrm>
                      <a:prstGeom prst="rect">
                        <a:avLst/>
                      </a:prstGeom>
                      <a:noFill/>
                      <a:ln>
                        <a:noFill/>
                      </a:ln>
                      <a:effectLst/>
                    </p:spPr>
                  </p:pic>
                </p:oleObj>
              </mc:Fallback>
            </mc:AlternateContent>
          </a:graphicData>
        </a:graphic>
      </p:graphicFrame>
      <p:graphicFrame>
        <p:nvGraphicFramePr>
          <p:cNvPr id="110599" name="Object 7"/>
          <p:cNvGraphicFramePr>
            <a:graphicFrameLocks/>
          </p:cNvGraphicFramePr>
          <p:nvPr>
            <p:extLst>
              <p:ext uri="{D42A27DB-BD31-4B8C-83A1-F6EECF244321}">
                <p14:modId xmlns:p14="http://schemas.microsoft.com/office/powerpoint/2010/main" val="3306977400"/>
              </p:ext>
            </p:extLst>
          </p:nvPr>
        </p:nvGraphicFramePr>
        <p:xfrm>
          <a:off x="3419872" y="5661248"/>
          <a:ext cx="3600400" cy="576064"/>
        </p:xfrm>
        <a:graphic>
          <a:graphicData uri="http://schemas.openxmlformats.org/presentationml/2006/ole">
            <mc:AlternateContent xmlns:mc="http://schemas.openxmlformats.org/markup-compatibility/2006">
              <mc:Choice xmlns:v="urn:schemas-microsoft-com:vml" Requires="v">
                <p:oleObj name="Equation" r:id="rId9" imgW="2286000" imgH="457200" progId="Equation.3">
                  <p:embed/>
                </p:oleObj>
              </mc:Choice>
              <mc:Fallback>
                <p:oleObj name="Equation" r:id="rId9" imgW="2286000" imgH="457200" progId="Equation.3">
                  <p:embed/>
                  <p:pic>
                    <p:nvPicPr>
                      <p:cNvPr id="110599"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19872" y="5661248"/>
                        <a:ext cx="3600400" cy="576064"/>
                      </a:xfrm>
                      <a:prstGeom prst="rect">
                        <a:avLst/>
                      </a:prstGeom>
                      <a:noFill/>
                      <a:ln>
                        <a:noFill/>
                      </a:ln>
                      <a:effectLst/>
                    </p:spPr>
                  </p:pic>
                </p:oleObj>
              </mc:Fallback>
            </mc:AlternateContent>
          </a:graphicData>
        </a:graphic>
      </p:graphicFrame>
      <p:sp>
        <p:nvSpPr>
          <p:cNvPr id="2" name="Slide Number Placeholder 1"/>
          <p:cNvSpPr>
            <a:spLocks noGrp="1"/>
          </p:cNvSpPr>
          <p:nvPr>
            <p:ph type="sldNum" sz="quarter" idx="12"/>
          </p:nvPr>
        </p:nvSpPr>
        <p:spPr/>
        <p:txBody>
          <a:bodyPr/>
          <a:lstStyle/>
          <a:p>
            <a:fld id="{C0DFAD38-9FB1-4247-9BCA-818DF90CB89D}" type="slidenum">
              <a:rPr lang="en-GB" smtClean="0"/>
              <a:pPr/>
              <a:t>28</a:t>
            </a:fld>
            <a:endParaRPr lang="en-GB"/>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3" name="Rectangle 3"/>
          <p:cNvSpPr>
            <a:spLocks noGrp="1" noChangeArrowheads="1"/>
          </p:cNvSpPr>
          <p:nvPr>
            <p:ph idx="1"/>
          </p:nvPr>
        </p:nvSpPr>
        <p:spPr>
          <a:xfrm>
            <a:off x="1066800" y="1066800"/>
            <a:ext cx="7753350" cy="4191000"/>
          </a:xfrm>
        </p:spPr>
        <p:txBody>
          <a:bodyPr/>
          <a:lstStyle/>
          <a:p>
            <a:pPr>
              <a:buFont typeface="Monotype Sorts" charset="2"/>
              <a:buNone/>
              <a:tabLst>
                <a:tab pos="2054225" algn="l"/>
                <a:tab pos="3200400" algn="l"/>
                <a:tab pos="4233863" algn="l"/>
              </a:tabLst>
            </a:pPr>
            <a:r>
              <a:rPr lang="en-US" sz="1400">
                <a:solidFill>
                  <a:srgbClr val="000000"/>
                </a:solidFill>
              </a:rPr>
              <a:t>	</a:t>
            </a:r>
            <a:endParaRPr lang="en-US" sz="2400">
              <a:solidFill>
                <a:srgbClr val="000000"/>
              </a:solidFill>
              <a:latin typeface="Geneva"/>
            </a:endParaRPr>
          </a:p>
          <a:p>
            <a:pPr>
              <a:buFont typeface="Monotype Sorts" charset="2"/>
              <a:buNone/>
              <a:tabLst>
                <a:tab pos="2054225" algn="l"/>
                <a:tab pos="3200400" algn="l"/>
                <a:tab pos="4233863" algn="l"/>
              </a:tabLst>
            </a:pPr>
            <a:r>
              <a:rPr lang="en-US" sz="2400">
                <a:solidFill>
                  <a:srgbClr val="000000"/>
                </a:solidFill>
                <a:latin typeface="Geneva"/>
              </a:rPr>
              <a:t>	</a:t>
            </a:r>
          </a:p>
          <a:p>
            <a:pPr>
              <a:buFont typeface="Monotype Sorts" charset="2"/>
              <a:buNone/>
              <a:tabLst>
                <a:tab pos="2054225" algn="l"/>
                <a:tab pos="3200400" algn="l"/>
                <a:tab pos="4233863" algn="l"/>
              </a:tabLst>
            </a:pPr>
            <a:endParaRPr lang="en-US" sz="2400">
              <a:solidFill>
                <a:srgbClr val="000000"/>
              </a:solidFill>
              <a:latin typeface="Geneva"/>
            </a:endParaRPr>
          </a:p>
          <a:p>
            <a:pPr>
              <a:buFont typeface="Monotype Sorts" charset="2"/>
              <a:buNone/>
              <a:tabLst>
                <a:tab pos="2054225" algn="l"/>
                <a:tab pos="3200400" algn="l"/>
                <a:tab pos="4233863" algn="l"/>
              </a:tabLst>
            </a:pPr>
            <a:r>
              <a:rPr lang="en-US" sz="2400">
                <a:solidFill>
                  <a:srgbClr val="000000"/>
                </a:solidFill>
                <a:latin typeface="Geneva"/>
              </a:rPr>
              <a:t>	</a:t>
            </a:r>
          </a:p>
        </p:txBody>
      </p:sp>
      <p:sp>
        <p:nvSpPr>
          <p:cNvPr id="440322" name="Rectangle 2"/>
          <p:cNvSpPr>
            <a:spLocks noGrp="1" noChangeArrowheads="1"/>
          </p:cNvSpPr>
          <p:nvPr>
            <p:ph type="title"/>
          </p:nvPr>
        </p:nvSpPr>
        <p:spPr>
          <a:xfrm>
            <a:off x="457200" y="44624"/>
            <a:ext cx="8229600" cy="634082"/>
          </a:xfrm>
          <a:noFill/>
          <a:ln/>
        </p:spPr>
        <p:txBody>
          <a:bodyPr anchor="ctr">
            <a:normAutofit fontScale="90000"/>
          </a:bodyPr>
          <a:lstStyle/>
          <a:p>
            <a:r>
              <a:rPr lang="en-US" dirty="0"/>
              <a:t>PBV/ROE: European Banks</a:t>
            </a:r>
          </a:p>
        </p:txBody>
      </p:sp>
      <p:pic>
        <p:nvPicPr>
          <p:cNvPr id="440324" name="Picture 4"/>
          <p:cNvPicPr>
            <a:picLocks noChangeAspect="1" noChangeArrowheads="1"/>
          </p:cNvPicPr>
          <p:nvPr/>
        </p:nvPicPr>
        <p:blipFill>
          <a:blip r:embed="rId3" cstate="print"/>
          <a:srcRect/>
          <a:stretch>
            <a:fillRect/>
          </a:stretch>
        </p:blipFill>
        <p:spPr bwMode="auto">
          <a:xfrm>
            <a:off x="79995" y="620688"/>
            <a:ext cx="5572125" cy="5278438"/>
          </a:xfrm>
          <a:prstGeom prst="rect">
            <a:avLst/>
          </a:prstGeom>
          <a:noFill/>
          <a:ln w="12700">
            <a:noFill/>
            <a:miter lim="800000"/>
            <a:headEnd/>
            <a:tailEnd/>
          </a:ln>
          <a:effectLst/>
        </p:spPr>
      </p:pic>
      <p:sp>
        <p:nvSpPr>
          <p:cNvPr id="5" name="Rectangle 3"/>
          <p:cNvSpPr txBox="1">
            <a:spLocks noChangeArrowheads="1"/>
          </p:cNvSpPr>
          <p:nvPr/>
        </p:nvSpPr>
        <p:spPr>
          <a:xfrm>
            <a:off x="5713784" y="1135285"/>
            <a:ext cx="3394720" cy="4525963"/>
          </a:xfrm>
          <a:prstGeom prst="rect">
            <a:avLst/>
          </a:prstGeom>
          <a:no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sz="2000" dirty="0"/>
              <a:t>Regressing </a:t>
            </a:r>
          </a:p>
          <a:p>
            <a:endParaRPr lang="en-US" sz="2000" dirty="0"/>
          </a:p>
          <a:p>
            <a:r>
              <a:rPr lang="en-US" sz="2000" dirty="0"/>
              <a:t>PBV ratios against ROE</a:t>
            </a:r>
          </a:p>
          <a:p>
            <a:endParaRPr lang="en-US" sz="2000" dirty="0"/>
          </a:p>
          <a:p>
            <a:endParaRPr lang="en-US" sz="2000" dirty="0"/>
          </a:p>
          <a:p>
            <a:pPr algn="ctr">
              <a:buFont typeface="Monotype Sorts" charset="2"/>
              <a:buNone/>
            </a:pPr>
            <a:r>
              <a:rPr lang="en-US" sz="2000" dirty="0"/>
              <a:t>PBV = 0.81 + 5.32 (ROE)	R</a:t>
            </a:r>
            <a:r>
              <a:rPr lang="en-US" sz="2000" baseline="30000" dirty="0"/>
              <a:t>2</a:t>
            </a:r>
            <a:r>
              <a:rPr lang="en-US" sz="2000" dirty="0"/>
              <a:t> = 46%</a:t>
            </a:r>
          </a:p>
          <a:p>
            <a:endParaRPr lang="en-US" sz="2000" dirty="0"/>
          </a:p>
          <a:p>
            <a:endParaRPr lang="en-US" sz="2000" dirty="0"/>
          </a:p>
          <a:p>
            <a:pPr lvl="1"/>
            <a:r>
              <a:rPr lang="en-US" sz="1600" dirty="0"/>
              <a:t>For every 1% increase in ROE, the PBV ratio should increase by 0.0532.</a:t>
            </a:r>
          </a:p>
        </p:txBody>
      </p:sp>
      <p:sp>
        <p:nvSpPr>
          <p:cNvPr id="2" name="Slide Number Placeholder 1"/>
          <p:cNvSpPr>
            <a:spLocks noGrp="1"/>
          </p:cNvSpPr>
          <p:nvPr>
            <p:ph type="sldNum" sz="quarter" idx="12"/>
          </p:nvPr>
        </p:nvSpPr>
        <p:spPr/>
        <p:txBody>
          <a:bodyPr/>
          <a:lstStyle/>
          <a:p>
            <a:fld id="{C0DFAD38-9FB1-4247-9BCA-818DF90CB89D}" type="slidenum">
              <a:rPr lang="en-GB" smtClean="0"/>
              <a:pPr/>
              <a:t>29</a:t>
            </a:fld>
            <a:endParaRPr lang="en-GB"/>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2371" name="Picture 3"/>
          <p:cNvPicPr>
            <a:picLocks noGrp="1" noChangeAspect="1" noChangeArrowheads="1"/>
          </p:cNvPicPr>
          <p:nvPr>
            <p:ph idx="1"/>
          </p:nvPr>
        </p:nvPicPr>
        <p:blipFill>
          <a:blip r:embed="rId3" cstate="print"/>
          <a:stretch>
            <a:fillRect/>
          </a:stretch>
        </p:blipFill>
        <p:spPr>
          <a:xfrm>
            <a:off x="2699793" y="692696"/>
            <a:ext cx="6192688" cy="5684536"/>
          </a:xfrm>
          <a:ln/>
        </p:spPr>
      </p:pic>
      <p:sp>
        <p:nvSpPr>
          <p:cNvPr id="442370" name="Rectangle 2"/>
          <p:cNvSpPr>
            <a:spLocks noGrp="1" noChangeArrowheads="1"/>
          </p:cNvSpPr>
          <p:nvPr>
            <p:ph type="title"/>
          </p:nvPr>
        </p:nvSpPr>
        <p:spPr>
          <a:xfrm>
            <a:off x="457200" y="116632"/>
            <a:ext cx="8229600" cy="706090"/>
          </a:xfrm>
          <a:noFill/>
          <a:ln/>
        </p:spPr>
        <p:txBody>
          <a:bodyPr anchor="ctr">
            <a:normAutofit fontScale="90000"/>
          </a:bodyPr>
          <a:lstStyle/>
          <a:p>
            <a:r>
              <a:rPr lang="en-US" dirty="0"/>
              <a:t>Under and Over Valued Banks?</a:t>
            </a:r>
          </a:p>
        </p:txBody>
      </p:sp>
      <p:sp>
        <p:nvSpPr>
          <p:cNvPr id="2" name="Slide Number Placeholder 1"/>
          <p:cNvSpPr>
            <a:spLocks noGrp="1"/>
          </p:cNvSpPr>
          <p:nvPr>
            <p:ph type="sldNum" sz="quarter" idx="12"/>
          </p:nvPr>
        </p:nvSpPr>
        <p:spPr/>
        <p:txBody>
          <a:bodyPr/>
          <a:lstStyle/>
          <a:p>
            <a:fld id="{C0DFAD38-9FB1-4247-9BCA-818DF90CB89D}" type="slidenum">
              <a:rPr lang="en-GB" smtClean="0"/>
              <a:pPr/>
              <a:t>30</a:t>
            </a:fld>
            <a:endParaRPr lang="en-GB"/>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883" name="Object 3"/>
          <p:cNvGraphicFramePr>
            <a:graphicFrameLocks noGrp="1"/>
          </p:cNvGraphicFramePr>
          <p:nvPr>
            <p:ph idx="1"/>
            <p:extLst>
              <p:ext uri="{D42A27DB-BD31-4B8C-83A1-F6EECF244321}">
                <p14:modId xmlns:p14="http://schemas.microsoft.com/office/powerpoint/2010/main" val="1787264636"/>
              </p:ext>
            </p:extLst>
          </p:nvPr>
        </p:nvGraphicFramePr>
        <p:xfrm>
          <a:off x="683568" y="1196753"/>
          <a:ext cx="8064896" cy="5472607"/>
        </p:xfrm>
        <a:graphic>
          <a:graphicData uri="http://schemas.openxmlformats.org/presentationml/2006/ole">
            <mc:AlternateContent xmlns:mc="http://schemas.openxmlformats.org/markup-compatibility/2006">
              <mc:Choice xmlns:v="urn:schemas-microsoft-com:vml" Requires="v">
                <p:oleObj name="Document" r:id="rId3" imgW="4229100" imgH="3848100" progId="Word.Document.8">
                  <p:embed/>
                </p:oleObj>
              </mc:Choice>
              <mc:Fallback>
                <p:oleObj name="Document" r:id="rId3" imgW="4229100" imgH="3848100" progId="Word.Document.8">
                  <p:embed/>
                  <p:pic>
                    <p:nvPicPr>
                      <p:cNvPr id="12288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1196753"/>
                        <a:ext cx="8064896" cy="5472607"/>
                      </a:xfrm>
                      <a:prstGeom prst="rect">
                        <a:avLst/>
                      </a:prstGeom>
                      <a:solidFill>
                        <a:schemeClr val="accent1"/>
                      </a:solidFill>
                      <a:ln>
                        <a:noFill/>
                      </a:ln>
                    </p:spPr>
                  </p:pic>
                </p:oleObj>
              </mc:Fallback>
            </mc:AlternateContent>
          </a:graphicData>
        </a:graphic>
      </p:graphicFrame>
      <p:sp>
        <p:nvSpPr>
          <p:cNvPr id="122882" name="Rectangle 2"/>
          <p:cNvSpPr>
            <a:spLocks noGrp="1" noChangeArrowheads="1"/>
          </p:cNvSpPr>
          <p:nvPr>
            <p:ph type="title"/>
          </p:nvPr>
        </p:nvSpPr>
        <p:spPr>
          <a:xfrm>
            <a:off x="457200" y="125760"/>
            <a:ext cx="8229600" cy="1143000"/>
          </a:xfrm>
          <a:noFill/>
          <a:ln/>
        </p:spPr>
        <p:txBody>
          <a:bodyPr anchor="ctr"/>
          <a:lstStyle/>
          <a:p>
            <a:r>
              <a:rPr lang="en-US" dirty="0"/>
              <a:t>The Valuation Matrix</a:t>
            </a:r>
          </a:p>
        </p:txBody>
      </p:sp>
      <p:sp>
        <p:nvSpPr>
          <p:cNvPr id="2" name="Slide Number Placeholder 1"/>
          <p:cNvSpPr>
            <a:spLocks noGrp="1"/>
          </p:cNvSpPr>
          <p:nvPr>
            <p:ph type="sldNum" sz="quarter" idx="12"/>
          </p:nvPr>
        </p:nvSpPr>
        <p:spPr/>
        <p:txBody>
          <a:bodyPr/>
          <a:lstStyle/>
          <a:p>
            <a:fld id="{C0DFAD38-9FB1-4247-9BCA-818DF90CB89D}" type="slidenum">
              <a:rPr lang="en-GB" smtClean="0"/>
              <a:pPr/>
              <a:t>31</a:t>
            </a:fld>
            <a:endParaRPr lang="en-GB"/>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4662" name="Picture 6"/>
          <p:cNvPicPr>
            <a:picLocks noGrp="1" noChangeAspect="1" noChangeArrowheads="1"/>
          </p:cNvPicPr>
          <p:nvPr>
            <p:ph idx="1"/>
          </p:nvPr>
        </p:nvPicPr>
        <p:blipFill>
          <a:blip r:embed="rId3" cstate="print"/>
          <a:stretch>
            <a:fillRect/>
          </a:stretch>
        </p:blipFill>
        <p:spPr>
          <a:xfrm>
            <a:off x="5154125" y="3415010"/>
            <a:ext cx="3882371" cy="3175496"/>
          </a:xfrm>
          <a:noFill/>
          <a:ln/>
        </p:spPr>
      </p:pic>
      <p:sp>
        <p:nvSpPr>
          <p:cNvPr id="454658" name="Rectangle 2"/>
          <p:cNvSpPr>
            <a:spLocks noGrp="1" noChangeArrowheads="1"/>
          </p:cNvSpPr>
          <p:nvPr>
            <p:ph type="title"/>
          </p:nvPr>
        </p:nvSpPr>
        <p:spPr>
          <a:xfrm>
            <a:off x="5425752" y="2492896"/>
            <a:ext cx="3466728" cy="922114"/>
          </a:xfrm>
        </p:spPr>
        <p:txBody>
          <a:bodyPr>
            <a:noAutofit/>
          </a:bodyPr>
          <a:lstStyle/>
          <a:p>
            <a:pPr algn="ctr"/>
            <a:r>
              <a:rPr lang="en-US" sz="1600" dirty="0"/>
              <a:t>Price to Book </a:t>
            </a:r>
            <a:r>
              <a:rPr lang="en-US" sz="1600" dirty="0" err="1"/>
              <a:t>vs</a:t>
            </a:r>
            <a:r>
              <a:rPr lang="en-US" sz="1600" dirty="0"/>
              <a:t> ROE: Largest Market Cap Firms in the United States</a:t>
            </a:r>
          </a:p>
        </p:txBody>
      </p:sp>
      <p:sp>
        <p:nvSpPr>
          <p:cNvPr id="2" name="Slide Number Placeholder 1"/>
          <p:cNvSpPr>
            <a:spLocks noGrp="1"/>
          </p:cNvSpPr>
          <p:nvPr>
            <p:ph type="sldNum" sz="quarter" idx="12"/>
          </p:nvPr>
        </p:nvSpPr>
        <p:spPr/>
        <p:txBody>
          <a:bodyPr/>
          <a:lstStyle/>
          <a:p>
            <a:fld id="{C0DFAD38-9FB1-4247-9BCA-818DF90CB89D}" type="slidenum">
              <a:rPr lang="en-GB" smtClean="0"/>
              <a:pPr/>
              <a:t>32</a:t>
            </a:fld>
            <a:endParaRPr lang="en-GB"/>
          </a:p>
        </p:txBody>
      </p:sp>
      <p:pic>
        <p:nvPicPr>
          <p:cNvPr id="5" name="Picture 3"/>
          <p:cNvPicPr>
            <a:picLocks noChangeAspect="1" noChangeArrowheads="1"/>
          </p:cNvPicPr>
          <p:nvPr/>
        </p:nvPicPr>
        <p:blipFill rotWithShape="1">
          <a:blip r:embed="rId4" cstate="print"/>
          <a:srcRect l="3258" t="8500" r="5841" b="1374"/>
          <a:stretch/>
        </p:blipFill>
        <p:spPr>
          <a:xfrm>
            <a:off x="0" y="692696"/>
            <a:ext cx="5609260" cy="3596305"/>
          </a:xfrm>
          <a:prstGeom prst="rect">
            <a:avLst/>
          </a:prstGeom>
          <a:noFill/>
          <a:ln/>
        </p:spPr>
      </p:pic>
      <p:sp>
        <p:nvSpPr>
          <p:cNvPr id="6" name="Rectangle 2"/>
          <p:cNvSpPr txBox="1">
            <a:spLocks noChangeArrowheads="1"/>
          </p:cNvSpPr>
          <p:nvPr/>
        </p:nvSpPr>
        <p:spPr>
          <a:xfrm>
            <a:off x="251520" y="188640"/>
            <a:ext cx="5205264" cy="504056"/>
          </a:xfrm>
          <a:prstGeom prst="rect">
            <a:avLst/>
          </a:prstGeom>
        </p:spPr>
        <p:txBody>
          <a:bodyPr vert="horz" rtlCol="0" anchor="ctr">
            <a:normAutofit fontScale="60000" lnSpcReduction="20000"/>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lgn="ctr"/>
            <a:r>
              <a:rPr lang="en-US"/>
              <a:t>PBV Matrix: Telecom Companies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normAutofit/>
          </a:bodyPr>
          <a:lstStyle/>
          <a:p>
            <a:r>
              <a:rPr lang="en-US" dirty="0"/>
              <a:t>PBV Regression</a:t>
            </a:r>
          </a:p>
        </p:txBody>
      </p:sp>
      <p:graphicFrame>
        <p:nvGraphicFramePr>
          <p:cNvPr id="2" name="Table 1"/>
          <p:cNvGraphicFramePr>
            <a:graphicFrameLocks noGrp="1"/>
          </p:cNvGraphicFramePr>
          <p:nvPr>
            <p:extLst>
              <p:ext uri="{D42A27DB-BD31-4B8C-83A1-F6EECF244321}">
                <p14:modId xmlns:p14="http://schemas.microsoft.com/office/powerpoint/2010/main" val="2691260873"/>
              </p:ext>
            </p:extLst>
          </p:nvPr>
        </p:nvGraphicFramePr>
        <p:xfrm>
          <a:off x="179516" y="1196752"/>
          <a:ext cx="8712964" cy="5328593"/>
        </p:xfrm>
        <a:graphic>
          <a:graphicData uri="http://schemas.openxmlformats.org/drawingml/2006/table">
            <a:tbl>
              <a:tblPr firstRow="1" firstCol="1" bandRow="1">
                <a:tableStyleId>{5C22544A-7EE6-4342-B048-85BDC9FD1C3A}</a:tableStyleId>
              </a:tblPr>
              <a:tblGrid>
                <a:gridCol w="1291954">
                  <a:extLst>
                    <a:ext uri="{9D8B030D-6E8A-4147-A177-3AD203B41FA5}">
                      <a16:colId xmlns:a16="http://schemas.microsoft.com/office/drawing/2014/main" val="20000"/>
                    </a:ext>
                  </a:extLst>
                </a:gridCol>
                <a:gridCol w="1236835">
                  <a:extLst>
                    <a:ext uri="{9D8B030D-6E8A-4147-A177-3AD203B41FA5}">
                      <a16:colId xmlns:a16="http://schemas.microsoft.com/office/drawing/2014/main" val="20001"/>
                    </a:ext>
                  </a:extLst>
                </a:gridCol>
                <a:gridCol w="1236835">
                  <a:extLst>
                    <a:ext uri="{9D8B030D-6E8A-4147-A177-3AD203B41FA5}">
                      <a16:colId xmlns:a16="http://schemas.microsoft.com/office/drawing/2014/main" val="20002"/>
                    </a:ext>
                  </a:extLst>
                </a:gridCol>
                <a:gridCol w="1236835">
                  <a:extLst>
                    <a:ext uri="{9D8B030D-6E8A-4147-A177-3AD203B41FA5}">
                      <a16:colId xmlns:a16="http://schemas.microsoft.com/office/drawing/2014/main" val="20003"/>
                    </a:ext>
                  </a:extLst>
                </a:gridCol>
                <a:gridCol w="1236835">
                  <a:extLst>
                    <a:ext uri="{9D8B030D-6E8A-4147-A177-3AD203B41FA5}">
                      <a16:colId xmlns:a16="http://schemas.microsoft.com/office/drawing/2014/main" val="20004"/>
                    </a:ext>
                  </a:extLst>
                </a:gridCol>
                <a:gridCol w="1236835">
                  <a:extLst>
                    <a:ext uri="{9D8B030D-6E8A-4147-A177-3AD203B41FA5}">
                      <a16:colId xmlns:a16="http://schemas.microsoft.com/office/drawing/2014/main" val="20005"/>
                    </a:ext>
                  </a:extLst>
                </a:gridCol>
                <a:gridCol w="1236835">
                  <a:extLst>
                    <a:ext uri="{9D8B030D-6E8A-4147-A177-3AD203B41FA5}">
                      <a16:colId xmlns:a16="http://schemas.microsoft.com/office/drawing/2014/main" val="20006"/>
                    </a:ext>
                  </a:extLst>
                </a:gridCol>
              </a:tblGrid>
              <a:tr h="1135872">
                <a:tc>
                  <a:txBody>
                    <a:bodyPr/>
                    <a:lstStyle/>
                    <a:p>
                      <a:pPr algn="ctr">
                        <a:lnSpc>
                          <a:spcPct val="115000"/>
                        </a:lnSpc>
                        <a:spcAft>
                          <a:spcPts val="0"/>
                        </a:spcAft>
                      </a:pPr>
                      <a:r>
                        <a:rPr lang="en-GB" sz="2000" dirty="0">
                          <a:effectLst/>
                        </a:rPr>
                        <a:t> </a:t>
                      </a:r>
                      <a:endParaRPr lang="en-GB" sz="2000" dirty="0">
                        <a:effectLst/>
                        <a:latin typeface="Calibri"/>
                        <a:ea typeface="Calibri"/>
                        <a:cs typeface="Times New Roman"/>
                      </a:endParaRPr>
                    </a:p>
                  </a:txBody>
                  <a:tcPr marL="68580" marR="68580" marT="0" marB="0" anchor="ctr"/>
                </a:tc>
                <a:tc gridSpan="2">
                  <a:txBody>
                    <a:bodyPr/>
                    <a:lstStyle/>
                    <a:p>
                      <a:pPr algn="ctr">
                        <a:lnSpc>
                          <a:spcPct val="115000"/>
                        </a:lnSpc>
                        <a:spcAft>
                          <a:spcPts val="0"/>
                        </a:spcAft>
                      </a:pPr>
                      <a:r>
                        <a:rPr lang="en-GB" sz="2000" dirty="0">
                          <a:effectLst/>
                        </a:rPr>
                        <a:t>US</a:t>
                      </a:r>
                      <a:endParaRPr lang="en-GB" sz="2000" dirty="0">
                        <a:effectLst/>
                        <a:latin typeface="Calibri"/>
                        <a:ea typeface="Calibri"/>
                        <a:cs typeface="Times New Roman"/>
                      </a:endParaRPr>
                    </a:p>
                  </a:txBody>
                  <a:tcPr marL="68580" marR="68580" marT="0" marB="0" anchor="ctr"/>
                </a:tc>
                <a:tc hMerge="1">
                  <a:txBody>
                    <a:bodyPr/>
                    <a:lstStyle/>
                    <a:p>
                      <a:endParaRPr lang="en-GB"/>
                    </a:p>
                  </a:txBody>
                  <a:tcPr/>
                </a:tc>
                <a:tc gridSpan="2">
                  <a:txBody>
                    <a:bodyPr/>
                    <a:lstStyle/>
                    <a:p>
                      <a:pPr algn="ctr">
                        <a:lnSpc>
                          <a:spcPct val="115000"/>
                        </a:lnSpc>
                        <a:spcAft>
                          <a:spcPts val="0"/>
                        </a:spcAft>
                      </a:pPr>
                      <a:r>
                        <a:rPr lang="en-GB" sz="2000">
                          <a:effectLst/>
                        </a:rPr>
                        <a:t>Europe</a:t>
                      </a:r>
                      <a:endParaRPr lang="en-GB" sz="2000">
                        <a:effectLst/>
                        <a:latin typeface="Calibri"/>
                        <a:ea typeface="Calibri"/>
                        <a:cs typeface="Times New Roman"/>
                      </a:endParaRPr>
                    </a:p>
                  </a:txBody>
                  <a:tcPr marL="68580" marR="68580" marT="0" marB="0" anchor="ctr"/>
                </a:tc>
                <a:tc hMerge="1">
                  <a:txBody>
                    <a:bodyPr/>
                    <a:lstStyle/>
                    <a:p>
                      <a:endParaRPr lang="en-GB"/>
                    </a:p>
                  </a:txBody>
                  <a:tcPr/>
                </a:tc>
                <a:tc gridSpan="2">
                  <a:txBody>
                    <a:bodyPr/>
                    <a:lstStyle/>
                    <a:p>
                      <a:pPr algn="ctr">
                        <a:lnSpc>
                          <a:spcPct val="115000"/>
                        </a:lnSpc>
                        <a:spcAft>
                          <a:spcPts val="0"/>
                        </a:spcAft>
                      </a:pPr>
                      <a:r>
                        <a:rPr lang="en-GB" sz="2000" dirty="0">
                          <a:effectLst/>
                        </a:rPr>
                        <a:t>Emerging Markets</a:t>
                      </a:r>
                      <a:endParaRPr lang="en-GB" sz="2000" dirty="0">
                        <a:effectLst/>
                        <a:latin typeface="Calibri"/>
                        <a:ea typeface="Calibri"/>
                        <a:cs typeface="Times New Roman"/>
                      </a:endParaRPr>
                    </a:p>
                  </a:txBody>
                  <a:tcPr marL="68580" marR="68580" marT="0" marB="0" anchor="ctr"/>
                </a:tc>
                <a:tc hMerge="1">
                  <a:txBody>
                    <a:bodyPr/>
                    <a:lstStyle/>
                    <a:p>
                      <a:endParaRPr lang="en-GB"/>
                    </a:p>
                  </a:txBody>
                  <a:tcPr/>
                </a:tc>
                <a:extLst>
                  <a:ext uri="{0D108BD9-81ED-4DB2-BD59-A6C34878D82A}">
                    <a16:rowId xmlns:a16="http://schemas.microsoft.com/office/drawing/2014/main" val="10000"/>
                  </a:ext>
                </a:extLst>
              </a:tr>
              <a:tr h="857516">
                <a:tc>
                  <a:txBody>
                    <a:bodyPr/>
                    <a:lstStyle/>
                    <a:p>
                      <a:pPr algn="ctr">
                        <a:lnSpc>
                          <a:spcPct val="115000"/>
                        </a:lnSpc>
                        <a:spcAft>
                          <a:spcPts val="0"/>
                        </a:spcAft>
                      </a:pPr>
                      <a:r>
                        <a:rPr lang="en-GB" sz="2000">
                          <a:effectLst/>
                        </a:rPr>
                        <a:t>g</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0.117</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600" dirty="0">
                          <a:effectLst/>
                        </a:rPr>
                        <a:t>(17.98)</a:t>
                      </a:r>
                      <a:endParaRPr lang="en-GB" sz="16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Ins</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Ins</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Ins</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Ins</a:t>
                      </a:r>
                      <a:endParaRPr lang="en-GB" sz="20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772642">
                <a:tc>
                  <a:txBody>
                    <a:bodyPr/>
                    <a:lstStyle/>
                    <a:p>
                      <a:pPr algn="ctr">
                        <a:lnSpc>
                          <a:spcPct val="115000"/>
                        </a:lnSpc>
                        <a:spcAft>
                          <a:spcPts val="0"/>
                        </a:spcAft>
                      </a:pPr>
                      <a:r>
                        <a:rPr lang="en-GB" sz="2000" dirty="0">
                          <a:effectLst/>
                        </a:rPr>
                        <a:t>PR</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-0.011</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600" dirty="0">
                          <a:effectLst/>
                        </a:rPr>
                        <a:t>(-5.73)</a:t>
                      </a:r>
                      <a:endParaRPr lang="en-GB" sz="16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0.0034</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600" dirty="0">
                          <a:effectLst/>
                        </a:rPr>
                        <a:t>(2.93)</a:t>
                      </a:r>
                      <a:endParaRPr lang="en-GB" sz="16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0.0172</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600" dirty="0">
                          <a:effectLst/>
                        </a:rPr>
                        <a:t>(12.76)</a:t>
                      </a:r>
                      <a:endParaRPr lang="en-GB" sz="16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932407">
                <a:tc>
                  <a:txBody>
                    <a:bodyPr/>
                    <a:lstStyle/>
                    <a:p>
                      <a:pPr algn="ctr">
                        <a:lnSpc>
                          <a:spcPct val="115000"/>
                        </a:lnSpc>
                        <a:spcAft>
                          <a:spcPts val="0"/>
                        </a:spcAft>
                      </a:pPr>
                      <a:r>
                        <a:rPr lang="el-GR" sz="2000">
                          <a:effectLst/>
                          <a:latin typeface="Calibri"/>
                          <a:ea typeface="Calibri"/>
                          <a:cs typeface="Times New Roman"/>
                        </a:rPr>
                        <a:t>β</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kumimoji="0" lang="en-GB" sz="2000" kern="1200" dirty="0">
                          <a:solidFill>
                            <a:schemeClr val="dk1"/>
                          </a:solidFill>
                          <a:effectLst/>
                          <a:latin typeface="+mn-lt"/>
                          <a:ea typeface="+mn-ea"/>
                          <a:cs typeface="+mn-cs"/>
                        </a:rPr>
                        <a:t>0.358</a:t>
                      </a:r>
                    </a:p>
                  </a:txBody>
                  <a:tcPr marL="68580" marR="68580" marT="0" marB="0" anchor="ctr"/>
                </a:tc>
                <a:tc>
                  <a:txBody>
                    <a:bodyPr/>
                    <a:lstStyle/>
                    <a:p>
                      <a:pPr algn="ctr">
                        <a:lnSpc>
                          <a:spcPct val="115000"/>
                        </a:lnSpc>
                        <a:spcAft>
                          <a:spcPts val="0"/>
                        </a:spcAft>
                      </a:pPr>
                      <a:r>
                        <a:rPr kumimoji="0" lang="en-GB" sz="1600" kern="1200" dirty="0">
                          <a:solidFill>
                            <a:schemeClr val="dk1"/>
                          </a:solidFill>
                          <a:effectLst/>
                          <a:latin typeface="+mn-lt"/>
                          <a:ea typeface="+mn-ea"/>
                          <a:cs typeface="+mn-cs"/>
                        </a:rPr>
                        <a:t>(3.47)</a:t>
                      </a:r>
                    </a:p>
                  </a:txBody>
                  <a:tcPr marL="68580" marR="68580" marT="0" marB="0" anchor="ctr"/>
                </a:tc>
                <a:tc>
                  <a:txBody>
                    <a:bodyPr/>
                    <a:lstStyle/>
                    <a:p>
                      <a:pPr algn="ctr">
                        <a:lnSpc>
                          <a:spcPct val="115000"/>
                        </a:lnSpc>
                        <a:spcAft>
                          <a:spcPts val="0"/>
                        </a:spcAft>
                      </a:pPr>
                      <a:r>
                        <a:rPr kumimoji="0" lang="en-GB" sz="2000" kern="1200" dirty="0">
                          <a:solidFill>
                            <a:schemeClr val="dk1"/>
                          </a:solidFill>
                          <a:effectLst/>
                          <a:latin typeface="+mn-lt"/>
                          <a:ea typeface="+mn-ea"/>
                          <a:cs typeface="+mn-cs"/>
                        </a:rPr>
                        <a:t>0.820</a:t>
                      </a:r>
                    </a:p>
                  </a:txBody>
                  <a:tcPr marL="68580" marR="68580" marT="0" marB="0" anchor="ctr"/>
                </a:tc>
                <a:tc>
                  <a:txBody>
                    <a:bodyPr/>
                    <a:lstStyle/>
                    <a:p>
                      <a:pPr algn="ctr">
                        <a:lnSpc>
                          <a:spcPct val="115000"/>
                        </a:lnSpc>
                        <a:spcAft>
                          <a:spcPts val="0"/>
                        </a:spcAft>
                      </a:pPr>
                      <a:r>
                        <a:rPr kumimoji="0" lang="en-GB" sz="1600" kern="1200" dirty="0">
                          <a:solidFill>
                            <a:schemeClr val="dk1"/>
                          </a:solidFill>
                          <a:effectLst/>
                          <a:latin typeface="+mn-lt"/>
                          <a:ea typeface="+mn-ea"/>
                          <a:cs typeface="+mn-cs"/>
                        </a:rPr>
                        <a:t>(9.29)</a:t>
                      </a:r>
                    </a:p>
                  </a:txBody>
                  <a:tcPr marL="68580" marR="68580" marT="0" marB="0" anchor="ctr"/>
                </a:tc>
                <a:tc>
                  <a:txBody>
                    <a:bodyPr/>
                    <a:lstStyle/>
                    <a:p>
                      <a:pPr algn="ctr">
                        <a:lnSpc>
                          <a:spcPct val="115000"/>
                        </a:lnSpc>
                        <a:spcAft>
                          <a:spcPts val="0"/>
                        </a:spcAft>
                      </a:pPr>
                      <a:r>
                        <a:rPr kumimoji="0" lang="en-GB" sz="2000" kern="1200" dirty="0">
                          <a:solidFill>
                            <a:schemeClr val="dk1"/>
                          </a:solidFill>
                          <a:effectLst/>
                          <a:latin typeface="+mn-lt"/>
                          <a:ea typeface="+mn-ea"/>
                          <a:cs typeface="+mn-cs"/>
                        </a:rPr>
                        <a:t>-1.452</a:t>
                      </a:r>
                    </a:p>
                  </a:txBody>
                  <a:tcPr marL="68580" marR="68580" marT="0" marB="0" anchor="ctr"/>
                </a:tc>
                <a:tc>
                  <a:txBody>
                    <a:bodyPr/>
                    <a:lstStyle/>
                    <a:p>
                      <a:pPr algn="ctr">
                        <a:lnSpc>
                          <a:spcPct val="115000"/>
                        </a:lnSpc>
                        <a:spcAft>
                          <a:spcPts val="0"/>
                        </a:spcAft>
                      </a:pPr>
                      <a:r>
                        <a:rPr kumimoji="0" lang="en-GB" sz="1600" kern="1200" dirty="0">
                          <a:solidFill>
                            <a:schemeClr val="dk1"/>
                          </a:solidFill>
                          <a:effectLst/>
                          <a:latin typeface="+mn-lt"/>
                          <a:ea typeface="+mn-ea"/>
                          <a:cs typeface="+mn-cs"/>
                        </a:rPr>
                        <a:t>(-10.11)</a:t>
                      </a:r>
                    </a:p>
                  </a:txBody>
                  <a:tcPr marL="68580" marR="68580" marT="0" marB="0" anchor="ctr"/>
                </a:tc>
                <a:extLst>
                  <a:ext uri="{0D108BD9-81ED-4DB2-BD59-A6C34878D82A}">
                    <a16:rowId xmlns:a16="http://schemas.microsoft.com/office/drawing/2014/main" val="10003"/>
                  </a:ext>
                </a:extLst>
              </a:tr>
              <a:tr h="815078">
                <a:tc>
                  <a:txBody>
                    <a:bodyPr/>
                    <a:lstStyle/>
                    <a:p>
                      <a:pPr algn="ctr">
                        <a:lnSpc>
                          <a:spcPct val="115000"/>
                        </a:lnSpc>
                        <a:spcAft>
                          <a:spcPts val="0"/>
                        </a:spcAft>
                      </a:pPr>
                      <a:r>
                        <a:rPr lang="en-GB" sz="2000" dirty="0">
                          <a:effectLst/>
                          <a:latin typeface="+mn-lt"/>
                          <a:ea typeface="+mn-ea"/>
                          <a:cs typeface="+mn-cs"/>
                        </a:rPr>
                        <a:t>ROE</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0.159</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600" dirty="0">
                          <a:effectLst/>
                        </a:rPr>
                        <a:t>(48.72)</a:t>
                      </a:r>
                      <a:endParaRPr lang="en-GB" sz="16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0.095</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600" dirty="0">
                          <a:effectLst/>
                        </a:rPr>
                        <a:t>(34.59)</a:t>
                      </a:r>
                      <a:endParaRPr lang="en-GB" sz="16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0.0751</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600" dirty="0">
                          <a:effectLst/>
                        </a:rPr>
                        <a:t>(32.06)</a:t>
                      </a:r>
                      <a:endParaRPr lang="en-GB" sz="16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4"/>
                  </a:ext>
                </a:extLst>
              </a:tr>
              <a:tr h="815078">
                <a:tc>
                  <a:txBody>
                    <a:bodyPr/>
                    <a:lstStyle/>
                    <a:p>
                      <a:pPr algn="ctr">
                        <a:lnSpc>
                          <a:spcPct val="115000"/>
                        </a:lnSpc>
                        <a:spcAft>
                          <a:spcPts val="0"/>
                        </a:spcAft>
                      </a:pPr>
                      <a:r>
                        <a:rPr lang="en-GB" sz="2000">
                          <a:effectLst/>
                        </a:rPr>
                        <a:t>R</a:t>
                      </a:r>
                      <a:r>
                        <a:rPr lang="en-GB" sz="2000" baseline="30000">
                          <a:effectLst/>
                        </a:rPr>
                        <a:t>2</a:t>
                      </a:r>
                      <a:endParaRPr lang="en-GB" sz="20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0.909</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a:effectLst/>
                        </a:rPr>
                        <a:t> </a:t>
                      </a:r>
                      <a:endParaRPr lang="en-GB" sz="20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0.827</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a:effectLst/>
                        </a:rPr>
                        <a:t> </a:t>
                      </a:r>
                      <a:endParaRPr lang="en-GB" sz="20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0.561</a:t>
                      </a:r>
                      <a:endParaRPr lang="en-GB" sz="20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2000" dirty="0">
                          <a:effectLst/>
                        </a:rPr>
                        <a:t> </a:t>
                      </a:r>
                      <a:endParaRPr lang="en-GB" sz="20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5"/>
                  </a:ext>
                </a:extLst>
              </a:tr>
            </a:tbl>
          </a:graphicData>
        </a:graphic>
      </p:graphicFrame>
      <p:sp>
        <p:nvSpPr>
          <p:cNvPr id="3" name="Slide Number Placeholder 2"/>
          <p:cNvSpPr>
            <a:spLocks noGrp="1"/>
          </p:cNvSpPr>
          <p:nvPr>
            <p:ph type="sldNum" sz="quarter" idx="12"/>
          </p:nvPr>
        </p:nvSpPr>
        <p:spPr/>
        <p:txBody>
          <a:bodyPr/>
          <a:lstStyle/>
          <a:p>
            <a:fld id="{C0DFAD38-9FB1-4247-9BCA-818DF90CB89D}" type="slidenum">
              <a:rPr lang="en-GB" smtClean="0"/>
              <a:pPr/>
              <a:t>33</a:t>
            </a:fld>
            <a:endParaRPr lang="en-GB"/>
          </a:p>
        </p:txBody>
      </p:sp>
    </p:spTree>
    <p:extLst>
      <p:ext uri="{BB962C8B-B14F-4D97-AF65-F5344CB8AC3E}">
        <p14:creationId xmlns:p14="http://schemas.microsoft.com/office/powerpoint/2010/main" val="2649918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88379873"/>
              </p:ext>
            </p:extLst>
          </p:nvPr>
        </p:nvGraphicFramePr>
        <p:xfrm>
          <a:off x="0" y="0"/>
          <a:ext cx="8964488"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6228184" y="2492896"/>
            <a:ext cx="2592288" cy="122413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p:cNvSpPr>
            <a:spLocks noGrp="1"/>
          </p:cNvSpPr>
          <p:nvPr>
            <p:ph type="sldNum" sz="quarter" idx="12"/>
          </p:nvPr>
        </p:nvSpPr>
        <p:spPr/>
        <p:txBody>
          <a:bodyPr/>
          <a:lstStyle/>
          <a:p>
            <a:fld id="{C0DFAD38-9FB1-4247-9BCA-818DF90CB89D}" type="slidenum">
              <a:rPr lang="en-GB" smtClean="0"/>
              <a:pPr/>
              <a:t>34</a:t>
            </a:fld>
            <a:endParaRPr lang="en-GB"/>
          </a:p>
        </p:txBody>
      </p:sp>
    </p:spTree>
    <p:extLst>
      <p:ext uri="{BB962C8B-B14F-4D97-AF65-F5344CB8AC3E}">
        <p14:creationId xmlns:p14="http://schemas.microsoft.com/office/powerpoint/2010/main" val="68152149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p:cNvSpPr>
            <a:spLocks noGrp="1" noChangeArrowheads="1"/>
          </p:cNvSpPr>
          <p:nvPr>
            <p:ph idx="1"/>
          </p:nvPr>
        </p:nvSpPr>
        <p:spPr>
          <a:noFill/>
          <a:ln/>
        </p:spPr>
        <p:txBody>
          <a:bodyPr/>
          <a:lstStyle/>
          <a:p>
            <a:r>
              <a:rPr lang="en-US" dirty="0"/>
              <a:t>The price/sales ratio is the ratio of the market value of equity to the sales.</a:t>
            </a:r>
          </a:p>
          <a:p>
            <a:r>
              <a:rPr lang="en-US" dirty="0"/>
              <a:t>Price/ Sales= 	</a:t>
            </a:r>
            <a:r>
              <a:rPr lang="en-US" u="sng" dirty="0"/>
              <a:t>Market Value of Equity</a:t>
            </a:r>
          </a:p>
          <a:p>
            <a:pPr>
              <a:buFont typeface="Monotype Sorts" charset="2"/>
              <a:buNone/>
            </a:pPr>
            <a:r>
              <a:rPr lang="en-US" dirty="0"/>
              <a:t>				Total Revenues</a:t>
            </a:r>
          </a:p>
          <a:p>
            <a:r>
              <a:rPr lang="en-US" dirty="0"/>
              <a:t>Consistency Tests</a:t>
            </a:r>
          </a:p>
          <a:p>
            <a:pPr lvl="1"/>
            <a:r>
              <a:rPr lang="en-US" dirty="0"/>
              <a:t>The price/sales ratio is internally inconsistent, since the market value of equity is divided by the total revenues of the firm. </a:t>
            </a:r>
          </a:p>
        </p:txBody>
      </p:sp>
      <p:sp>
        <p:nvSpPr>
          <p:cNvPr id="134146" name="Rectangle 2"/>
          <p:cNvSpPr>
            <a:spLocks noGrp="1" noChangeArrowheads="1"/>
          </p:cNvSpPr>
          <p:nvPr>
            <p:ph type="title"/>
          </p:nvPr>
        </p:nvSpPr>
        <p:spPr>
          <a:noFill/>
          <a:ln/>
        </p:spPr>
        <p:txBody>
          <a:bodyPr anchor="ctr"/>
          <a:lstStyle/>
          <a:p>
            <a:r>
              <a:rPr lang="en-US" dirty="0"/>
              <a:t>Price Sales Ratio: Definition</a:t>
            </a:r>
          </a:p>
        </p:txBody>
      </p:sp>
      <p:sp>
        <p:nvSpPr>
          <p:cNvPr id="2" name="Slide Number Placeholder 1"/>
          <p:cNvSpPr>
            <a:spLocks noGrp="1"/>
          </p:cNvSpPr>
          <p:nvPr>
            <p:ph type="sldNum" sz="quarter" idx="12"/>
          </p:nvPr>
        </p:nvSpPr>
        <p:spPr/>
        <p:txBody>
          <a:bodyPr/>
          <a:lstStyle/>
          <a:p>
            <a:fld id="{C0DFAD38-9FB1-4247-9BCA-818DF90CB89D}" type="slidenum">
              <a:rPr lang="en-GB" smtClean="0"/>
              <a:pPr/>
              <a:t>35</a:t>
            </a:fld>
            <a:endParaRPr lang="en-GB"/>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5647113" y="2464956"/>
            <a:ext cx="3259274" cy="490066"/>
          </a:xfrm>
          <a:noFill/>
          <a:ln/>
        </p:spPr>
        <p:txBody>
          <a:bodyPr anchor="ctr">
            <a:noAutofit/>
          </a:bodyPr>
          <a:lstStyle/>
          <a:p>
            <a:pPr algn="ctr"/>
            <a:r>
              <a:rPr lang="en-US" sz="2000" dirty="0"/>
              <a:t>Price/Sales Ratio:  US stocks</a:t>
            </a:r>
          </a:p>
        </p:txBody>
      </p:sp>
      <p:sp>
        <p:nvSpPr>
          <p:cNvPr id="2" name="Slide Number Placeholder 1"/>
          <p:cNvSpPr>
            <a:spLocks noGrp="1"/>
          </p:cNvSpPr>
          <p:nvPr>
            <p:ph type="sldNum" sz="quarter" idx="12"/>
          </p:nvPr>
        </p:nvSpPr>
        <p:spPr/>
        <p:txBody>
          <a:bodyPr/>
          <a:lstStyle/>
          <a:p>
            <a:fld id="{C0DFAD38-9FB1-4247-9BCA-818DF90CB89D}" type="slidenum">
              <a:rPr lang="en-GB" smtClean="0"/>
              <a:pPr/>
              <a:t>36</a:t>
            </a:fld>
            <a:endParaRPr lang="en-GB"/>
          </a:p>
        </p:txBody>
      </p:sp>
      <p:pic>
        <p:nvPicPr>
          <p:cNvPr id="136230" name="Picture 38"/>
          <p:cNvPicPr>
            <a:picLocks noGrp="1" noChangeAspect="1" noChangeArrowheads="1"/>
          </p:cNvPicPr>
          <p:nvPr>
            <p:ph idx="1"/>
          </p:nvPr>
        </p:nvPicPr>
        <p:blipFill rotWithShape="1">
          <a:blip r:embed="rId3" cstate="print"/>
          <a:srcRect t="8366"/>
          <a:stretch/>
        </p:blipFill>
        <p:spPr>
          <a:xfrm>
            <a:off x="3558142" y="3041576"/>
            <a:ext cx="5585858" cy="3816424"/>
          </a:xfrm>
        </p:spPr>
      </p:pic>
      <p:pic>
        <p:nvPicPr>
          <p:cNvPr id="5" name="Picture 5"/>
          <p:cNvPicPr>
            <a:picLocks noChangeAspect="1" noChangeArrowheads="1"/>
          </p:cNvPicPr>
          <p:nvPr/>
        </p:nvPicPr>
        <p:blipFill rotWithShape="1">
          <a:blip r:embed="rId4" cstate="print"/>
          <a:srcRect t="8923"/>
          <a:stretch/>
        </p:blipFill>
        <p:spPr>
          <a:xfrm>
            <a:off x="0" y="504258"/>
            <a:ext cx="5387998" cy="3644822"/>
          </a:xfrm>
          <a:prstGeom prst="rect">
            <a:avLst/>
          </a:prstGeom>
        </p:spPr>
      </p:pic>
      <p:sp>
        <p:nvSpPr>
          <p:cNvPr id="6" name="Rectangle 2"/>
          <p:cNvSpPr txBox="1">
            <a:spLocks noChangeArrowheads="1"/>
          </p:cNvSpPr>
          <p:nvPr/>
        </p:nvSpPr>
        <p:spPr>
          <a:xfrm>
            <a:off x="395536" y="247052"/>
            <a:ext cx="3970784" cy="229620"/>
          </a:xfrm>
          <a:prstGeom prst="rect">
            <a:avLst/>
          </a:prstGeom>
        </p:spPr>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lgn="ctr"/>
            <a:r>
              <a:rPr lang="en-US" sz="2000"/>
              <a:t>Price to Sales: Europe and Emerging Markets</a:t>
            </a:r>
            <a:endParaRPr lang="en-US" sz="20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3"/>
          <p:cNvSpPr>
            <a:spLocks noGrp="1" noChangeArrowheads="1"/>
          </p:cNvSpPr>
          <p:nvPr>
            <p:ph idx="1"/>
          </p:nvPr>
        </p:nvSpPr>
        <p:spPr>
          <a:noFill/>
          <a:ln/>
        </p:spPr>
        <p:txBody>
          <a:bodyPr/>
          <a:lstStyle/>
          <a:p>
            <a:r>
              <a:rPr lang="en-US" dirty="0"/>
              <a:t>The price/sales ratio of a stable growth firm can be estimated beginning with a stable growth equity valuation model:</a:t>
            </a:r>
          </a:p>
          <a:p>
            <a:pPr>
              <a:buFont typeface="Monotype Sorts" charset="2"/>
              <a:buNone/>
            </a:pPr>
            <a:endParaRPr lang="en-US" dirty="0"/>
          </a:p>
          <a:p>
            <a:pPr>
              <a:buFont typeface="Monotype Sorts" charset="2"/>
              <a:buNone/>
            </a:pPr>
            <a:endParaRPr lang="en-US" dirty="0"/>
          </a:p>
          <a:p>
            <a:r>
              <a:rPr lang="en-US" dirty="0"/>
              <a:t>Dividing both sides by the sales per share:</a:t>
            </a:r>
          </a:p>
          <a:p>
            <a:endParaRPr lang="en-US" dirty="0"/>
          </a:p>
        </p:txBody>
      </p:sp>
      <p:sp>
        <p:nvSpPr>
          <p:cNvPr id="139266" name="Rectangle 2"/>
          <p:cNvSpPr>
            <a:spLocks noGrp="1" noChangeArrowheads="1"/>
          </p:cNvSpPr>
          <p:nvPr>
            <p:ph type="title"/>
          </p:nvPr>
        </p:nvSpPr>
        <p:spPr>
          <a:noFill/>
          <a:ln/>
        </p:spPr>
        <p:txBody>
          <a:bodyPr anchor="ctr"/>
          <a:lstStyle/>
          <a:p>
            <a:r>
              <a:rPr lang="en-US"/>
              <a:t>Price/Sales Ratio: Determinants</a:t>
            </a:r>
          </a:p>
        </p:txBody>
      </p:sp>
      <p:graphicFrame>
        <p:nvGraphicFramePr>
          <p:cNvPr id="139268" name="Object 4"/>
          <p:cNvGraphicFramePr>
            <a:graphicFrameLocks/>
          </p:cNvGraphicFramePr>
          <p:nvPr/>
        </p:nvGraphicFramePr>
        <p:xfrm>
          <a:off x="3810000" y="2858517"/>
          <a:ext cx="962025" cy="498475"/>
        </p:xfrm>
        <a:graphic>
          <a:graphicData uri="http://schemas.openxmlformats.org/presentationml/2006/ole">
            <mc:AlternateContent xmlns:mc="http://schemas.openxmlformats.org/markup-compatibility/2006">
              <mc:Choice xmlns:v="urn:schemas-microsoft-com:vml" Requires="v">
                <p:oleObj name="Equation" r:id="rId3" imgW="749300" imgH="393700" progId="Equation.3">
                  <p:embed/>
                </p:oleObj>
              </mc:Choice>
              <mc:Fallback>
                <p:oleObj name="Equation" r:id="rId3" imgW="749300" imgH="393700" progId="Equation.3">
                  <p:embed/>
                  <p:pic>
                    <p:nvPicPr>
                      <p:cNvPr id="139268"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2858517"/>
                        <a:ext cx="9620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9269" name="Object 5"/>
          <p:cNvGraphicFramePr>
            <a:graphicFrameLocks/>
          </p:cNvGraphicFramePr>
          <p:nvPr/>
        </p:nvGraphicFramePr>
        <p:xfrm>
          <a:off x="1219200" y="4869160"/>
          <a:ext cx="6902450" cy="673100"/>
        </p:xfrm>
        <a:graphic>
          <a:graphicData uri="http://schemas.openxmlformats.org/presentationml/2006/ole">
            <mc:AlternateContent xmlns:mc="http://schemas.openxmlformats.org/markup-compatibility/2006">
              <mc:Choice xmlns:v="urn:schemas-microsoft-com:vml" Requires="v">
                <p:oleObj name="Equation" r:id="rId5" imgW="4610100" imgH="457200" progId="Equation.3">
                  <p:embed/>
                </p:oleObj>
              </mc:Choice>
              <mc:Fallback>
                <p:oleObj name="Equation" r:id="rId5" imgW="4610100" imgH="457200" progId="Equation.3">
                  <p:embed/>
                  <p:pic>
                    <p:nvPicPr>
                      <p:cNvPr id="139269"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4869160"/>
                        <a:ext cx="690245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0DFAD38-9FB1-4247-9BCA-818DF90CB89D}" type="slidenum">
              <a:rPr lang="en-GB" smtClean="0"/>
              <a:pPr/>
              <a:t>37</a:t>
            </a:fld>
            <a:endParaRPr lang="en-GB"/>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5446" name="Picture 6"/>
          <p:cNvPicPr>
            <a:picLocks noGrp="1" noChangeAspect="1" noChangeArrowheads="1"/>
          </p:cNvPicPr>
          <p:nvPr>
            <p:ph idx="1"/>
          </p:nvPr>
        </p:nvPicPr>
        <p:blipFill>
          <a:blip r:embed="rId3" cstate="print"/>
          <a:stretch>
            <a:fillRect/>
          </a:stretch>
        </p:blipFill>
        <p:spPr>
          <a:xfrm>
            <a:off x="11258" y="1556792"/>
            <a:ext cx="4533900" cy="3708400"/>
          </a:xfrm>
          <a:noFill/>
          <a:ln/>
        </p:spPr>
      </p:pic>
      <p:sp>
        <p:nvSpPr>
          <p:cNvPr id="445442" name="Rectangle 2"/>
          <p:cNvSpPr>
            <a:spLocks noGrp="1" noChangeArrowheads="1"/>
          </p:cNvSpPr>
          <p:nvPr>
            <p:ph type="title"/>
          </p:nvPr>
        </p:nvSpPr>
        <p:spPr>
          <a:noFill/>
          <a:ln/>
        </p:spPr>
        <p:txBody>
          <a:bodyPr anchor="ctr">
            <a:normAutofit fontScale="90000"/>
          </a:bodyPr>
          <a:lstStyle/>
          <a:p>
            <a:r>
              <a:rPr lang="en-US"/>
              <a:t>PS/Margins: European Retailers - September 2003</a:t>
            </a:r>
          </a:p>
        </p:txBody>
      </p:sp>
      <p:sp>
        <p:nvSpPr>
          <p:cNvPr id="2" name="Slide Number Placeholder 1"/>
          <p:cNvSpPr>
            <a:spLocks noGrp="1"/>
          </p:cNvSpPr>
          <p:nvPr>
            <p:ph type="sldNum" sz="quarter" idx="12"/>
          </p:nvPr>
        </p:nvSpPr>
        <p:spPr/>
        <p:txBody>
          <a:bodyPr/>
          <a:lstStyle/>
          <a:p>
            <a:fld id="{C0DFAD38-9FB1-4247-9BCA-818DF90CB89D}" type="slidenum">
              <a:rPr lang="en-GB" smtClean="0"/>
              <a:pPr/>
              <a:t>38</a:t>
            </a:fld>
            <a:endParaRPr lang="en-GB"/>
          </a:p>
        </p:txBody>
      </p:sp>
      <p:sp>
        <p:nvSpPr>
          <p:cNvPr id="5" name="Rectangle 3"/>
          <p:cNvSpPr txBox="1">
            <a:spLocks noChangeArrowheads="1"/>
          </p:cNvSpPr>
          <p:nvPr/>
        </p:nvSpPr>
        <p:spPr>
          <a:xfrm>
            <a:off x="4355976" y="1556792"/>
            <a:ext cx="4680520" cy="4738531"/>
          </a:xfrm>
          <a:prstGeom prst="rect">
            <a:avLst/>
          </a:prstGeom>
          <a:noFill/>
          <a:ln/>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sz="2000" dirty="0"/>
              <a:t>Regressing PS ratios against net margins,</a:t>
            </a:r>
          </a:p>
          <a:p>
            <a:pPr algn="ctr">
              <a:buFont typeface="Monotype Sorts" charset="2"/>
              <a:buNone/>
            </a:pPr>
            <a:r>
              <a:rPr lang="en-US" sz="2000" dirty="0"/>
              <a:t>PS = -.39 + 0.6548 (Net Margin)	</a:t>
            </a:r>
          </a:p>
          <a:p>
            <a:pPr algn="ctr">
              <a:buFont typeface="Monotype Sorts" charset="2"/>
              <a:buNone/>
            </a:pPr>
            <a:r>
              <a:rPr lang="en-US" sz="2000" dirty="0"/>
              <a:t>R</a:t>
            </a:r>
            <a:r>
              <a:rPr lang="en-US" sz="2000" baseline="30000" dirty="0"/>
              <a:t>2</a:t>
            </a:r>
            <a:r>
              <a:rPr lang="en-US" sz="2000" dirty="0"/>
              <a:t> = 43.5%</a:t>
            </a:r>
          </a:p>
          <a:p>
            <a:r>
              <a:rPr lang="en-US" sz="2000" dirty="0"/>
              <a:t>Thus, a 1% increase in the margin results in an increase of 0.6548 in the price sales ratios.</a:t>
            </a:r>
          </a:p>
          <a:p>
            <a:r>
              <a:rPr lang="en-US" sz="2000" dirty="0"/>
              <a:t>The regression also allows us to get predicted PS ratios for these firms</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normAutofit/>
          </a:bodyPr>
          <a:lstStyle/>
          <a:p>
            <a:r>
              <a:rPr lang="en-US" dirty="0"/>
              <a:t>PS Regression</a:t>
            </a:r>
          </a:p>
        </p:txBody>
      </p:sp>
      <p:graphicFrame>
        <p:nvGraphicFramePr>
          <p:cNvPr id="2" name="Table 1"/>
          <p:cNvGraphicFramePr>
            <a:graphicFrameLocks noGrp="1"/>
          </p:cNvGraphicFramePr>
          <p:nvPr>
            <p:extLst>
              <p:ext uri="{D42A27DB-BD31-4B8C-83A1-F6EECF244321}">
                <p14:modId xmlns:p14="http://schemas.microsoft.com/office/powerpoint/2010/main" val="4199646865"/>
              </p:ext>
            </p:extLst>
          </p:nvPr>
        </p:nvGraphicFramePr>
        <p:xfrm>
          <a:off x="323528" y="1340768"/>
          <a:ext cx="8496942" cy="5112566"/>
        </p:xfrm>
        <a:graphic>
          <a:graphicData uri="http://schemas.openxmlformats.org/drawingml/2006/table">
            <a:tbl>
              <a:tblPr firstRow="1" firstCol="1" bandRow="1">
                <a:tableStyleId>{5C22544A-7EE6-4342-B048-85BDC9FD1C3A}</a:tableStyleId>
              </a:tblPr>
              <a:tblGrid>
                <a:gridCol w="1259922">
                  <a:extLst>
                    <a:ext uri="{9D8B030D-6E8A-4147-A177-3AD203B41FA5}">
                      <a16:colId xmlns:a16="http://schemas.microsoft.com/office/drawing/2014/main" val="20000"/>
                    </a:ext>
                  </a:extLst>
                </a:gridCol>
                <a:gridCol w="1206170">
                  <a:extLst>
                    <a:ext uri="{9D8B030D-6E8A-4147-A177-3AD203B41FA5}">
                      <a16:colId xmlns:a16="http://schemas.microsoft.com/office/drawing/2014/main" val="20001"/>
                    </a:ext>
                  </a:extLst>
                </a:gridCol>
                <a:gridCol w="1206170">
                  <a:extLst>
                    <a:ext uri="{9D8B030D-6E8A-4147-A177-3AD203B41FA5}">
                      <a16:colId xmlns:a16="http://schemas.microsoft.com/office/drawing/2014/main" val="20002"/>
                    </a:ext>
                  </a:extLst>
                </a:gridCol>
                <a:gridCol w="1206170">
                  <a:extLst>
                    <a:ext uri="{9D8B030D-6E8A-4147-A177-3AD203B41FA5}">
                      <a16:colId xmlns:a16="http://schemas.microsoft.com/office/drawing/2014/main" val="20003"/>
                    </a:ext>
                  </a:extLst>
                </a:gridCol>
                <a:gridCol w="1206170">
                  <a:extLst>
                    <a:ext uri="{9D8B030D-6E8A-4147-A177-3AD203B41FA5}">
                      <a16:colId xmlns:a16="http://schemas.microsoft.com/office/drawing/2014/main" val="20004"/>
                    </a:ext>
                  </a:extLst>
                </a:gridCol>
                <a:gridCol w="1206170">
                  <a:extLst>
                    <a:ext uri="{9D8B030D-6E8A-4147-A177-3AD203B41FA5}">
                      <a16:colId xmlns:a16="http://schemas.microsoft.com/office/drawing/2014/main" val="20005"/>
                    </a:ext>
                  </a:extLst>
                </a:gridCol>
                <a:gridCol w="1206170">
                  <a:extLst>
                    <a:ext uri="{9D8B030D-6E8A-4147-A177-3AD203B41FA5}">
                      <a16:colId xmlns:a16="http://schemas.microsoft.com/office/drawing/2014/main" val="20006"/>
                    </a:ext>
                  </a:extLst>
                </a:gridCol>
              </a:tblGrid>
              <a:tr h="1471183">
                <a:tc>
                  <a:txBody>
                    <a:bodyPr/>
                    <a:lstStyle/>
                    <a:p>
                      <a:pPr algn="ctr">
                        <a:lnSpc>
                          <a:spcPct val="115000"/>
                        </a:lnSpc>
                        <a:spcAft>
                          <a:spcPts val="0"/>
                        </a:spcAft>
                      </a:pPr>
                      <a:r>
                        <a:rPr lang="en-GB" sz="1800" dirty="0">
                          <a:effectLst/>
                        </a:rPr>
                        <a:t> </a:t>
                      </a:r>
                      <a:endParaRPr lang="en-GB" sz="1800" dirty="0">
                        <a:effectLst/>
                        <a:latin typeface="Calibri"/>
                        <a:ea typeface="Calibri"/>
                        <a:cs typeface="Times New Roman"/>
                      </a:endParaRPr>
                    </a:p>
                  </a:txBody>
                  <a:tcPr marL="68580" marR="68580" marT="0" marB="0" anchor="ctr"/>
                </a:tc>
                <a:tc gridSpan="2">
                  <a:txBody>
                    <a:bodyPr/>
                    <a:lstStyle/>
                    <a:p>
                      <a:pPr algn="ctr">
                        <a:lnSpc>
                          <a:spcPct val="115000"/>
                        </a:lnSpc>
                        <a:spcAft>
                          <a:spcPts val="0"/>
                        </a:spcAft>
                      </a:pPr>
                      <a:r>
                        <a:rPr lang="en-GB" sz="1800">
                          <a:effectLst/>
                        </a:rPr>
                        <a:t>US</a:t>
                      </a:r>
                      <a:endParaRPr lang="en-GB" sz="1800">
                        <a:effectLst/>
                        <a:latin typeface="Calibri"/>
                        <a:ea typeface="Calibri"/>
                        <a:cs typeface="Times New Roman"/>
                      </a:endParaRPr>
                    </a:p>
                  </a:txBody>
                  <a:tcPr marL="68580" marR="68580" marT="0" marB="0" anchor="ctr"/>
                </a:tc>
                <a:tc hMerge="1">
                  <a:txBody>
                    <a:bodyPr/>
                    <a:lstStyle/>
                    <a:p>
                      <a:endParaRPr lang="en-GB"/>
                    </a:p>
                  </a:txBody>
                  <a:tcPr/>
                </a:tc>
                <a:tc gridSpan="2">
                  <a:txBody>
                    <a:bodyPr/>
                    <a:lstStyle/>
                    <a:p>
                      <a:pPr algn="ctr">
                        <a:lnSpc>
                          <a:spcPct val="115000"/>
                        </a:lnSpc>
                        <a:spcAft>
                          <a:spcPts val="0"/>
                        </a:spcAft>
                      </a:pPr>
                      <a:r>
                        <a:rPr lang="en-GB" sz="1800">
                          <a:effectLst/>
                        </a:rPr>
                        <a:t>Europe</a:t>
                      </a:r>
                      <a:endParaRPr lang="en-GB" sz="1800">
                        <a:effectLst/>
                        <a:latin typeface="Calibri"/>
                        <a:ea typeface="Calibri"/>
                        <a:cs typeface="Times New Roman"/>
                      </a:endParaRPr>
                    </a:p>
                  </a:txBody>
                  <a:tcPr marL="68580" marR="68580" marT="0" marB="0" anchor="ctr"/>
                </a:tc>
                <a:tc hMerge="1">
                  <a:txBody>
                    <a:bodyPr/>
                    <a:lstStyle/>
                    <a:p>
                      <a:endParaRPr lang="en-GB"/>
                    </a:p>
                  </a:txBody>
                  <a:tcPr/>
                </a:tc>
                <a:tc gridSpan="2">
                  <a:txBody>
                    <a:bodyPr/>
                    <a:lstStyle/>
                    <a:p>
                      <a:pPr algn="ctr">
                        <a:lnSpc>
                          <a:spcPct val="115000"/>
                        </a:lnSpc>
                        <a:spcAft>
                          <a:spcPts val="0"/>
                        </a:spcAft>
                      </a:pPr>
                      <a:r>
                        <a:rPr lang="en-GB" sz="1800">
                          <a:effectLst/>
                        </a:rPr>
                        <a:t>Emerging Markets</a:t>
                      </a:r>
                      <a:endParaRPr lang="en-GB" sz="1800">
                        <a:effectLst/>
                        <a:latin typeface="Calibri"/>
                        <a:ea typeface="Calibri"/>
                        <a:cs typeface="Times New Roman"/>
                      </a:endParaRPr>
                    </a:p>
                  </a:txBody>
                  <a:tcPr marL="68580" marR="68580" marT="0" marB="0" anchor="ctr"/>
                </a:tc>
                <a:tc hMerge="1">
                  <a:txBody>
                    <a:bodyPr/>
                    <a:lstStyle/>
                    <a:p>
                      <a:endParaRPr lang="en-GB"/>
                    </a:p>
                  </a:txBody>
                  <a:tcPr/>
                </a:tc>
                <a:extLst>
                  <a:ext uri="{0D108BD9-81ED-4DB2-BD59-A6C34878D82A}">
                    <a16:rowId xmlns:a16="http://schemas.microsoft.com/office/drawing/2014/main" val="10000"/>
                  </a:ext>
                </a:extLst>
              </a:tr>
              <a:tr h="723400">
                <a:tc>
                  <a:txBody>
                    <a:bodyPr/>
                    <a:lstStyle/>
                    <a:p>
                      <a:pPr algn="ctr">
                        <a:lnSpc>
                          <a:spcPct val="115000"/>
                        </a:lnSpc>
                        <a:spcAft>
                          <a:spcPts val="0"/>
                        </a:spcAft>
                      </a:pPr>
                      <a:r>
                        <a:rPr lang="en-GB" sz="1800" dirty="0">
                          <a:effectLst/>
                        </a:rPr>
                        <a:t>Net Margin</a:t>
                      </a:r>
                      <a:endParaRPr lang="en-GB"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0.2100</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(35.96)</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0.202</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(50.85)</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0.061</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(27.59)</a:t>
                      </a:r>
                      <a:endParaRPr lang="en-GB" sz="1800">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1471183">
                <a:tc>
                  <a:txBody>
                    <a:bodyPr/>
                    <a:lstStyle/>
                    <a:p>
                      <a:pPr algn="ctr">
                        <a:lnSpc>
                          <a:spcPct val="115000"/>
                        </a:lnSpc>
                        <a:spcAft>
                          <a:spcPts val="0"/>
                        </a:spcAft>
                      </a:pPr>
                      <a:r>
                        <a:rPr lang="en-GB" sz="1800">
                          <a:effectLst/>
                        </a:rPr>
                        <a:t>Payout Ratio</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-0.0243</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(-11.73)</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0.020</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(9.25)</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0.008</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(7.91)</a:t>
                      </a:r>
                      <a:endParaRPr lang="en-GB" sz="1800">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723400">
                <a:tc>
                  <a:txBody>
                    <a:bodyPr/>
                    <a:lstStyle/>
                    <a:p>
                      <a:pPr algn="ctr">
                        <a:lnSpc>
                          <a:spcPct val="115000"/>
                        </a:lnSpc>
                        <a:spcAft>
                          <a:spcPts val="0"/>
                        </a:spcAft>
                      </a:pPr>
                      <a:r>
                        <a:rPr lang="en-GB" sz="1800">
                          <a:effectLst/>
                        </a:rPr>
                        <a:t>Growth</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0.1290</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dirty="0">
                          <a:effectLst/>
                        </a:rPr>
                        <a:t>(16.77)</a:t>
                      </a:r>
                      <a:endParaRPr lang="en-GB"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0.145</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(15.55)</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0.163</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(16.67)</a:t>
                      </a:r>
                      <a:endParaRPr lang="en-GB" sz="1800">
                        <a:effectLst/>
                        <a:latin typeface="Calibri"/>
                        <a:ea typeface="Calibri"/>
                        <a:cs typeface="Times New Roman"/>
                      </a:endParaRPr>
                    </a:p>
                  </a:txBody>
                  <a:tcPr marL="68580" marR="68580" marT="0" marB="0" anchor="ctr"/>
                </a:tc>
                <a:extLst>
                  <a:ext uri="{0D108BD9-81ED-4DB2-BD59-A6C34878D82A}">
                    <a16:rowId xmlns:a16="http://schemas.microsoft.com/office/drawing/2014/main" val="10003"/>
                  </a:ext>
                </a:extLst>
              </a:tr>
              <a:tr h="723400">
                <a:tc>
                  <a:txBody>
                    <a:bodyPr/>
                    <a:lstStyle/>
                    <a:p>
                      <a:pPr algn="ctr">
                        <a:lnSpc>
                          <a:spcPct val="115000"/>
                        </a:lnSpc>
                        <a:spcAft>
                          <a:spcPts val="0"/>
                        </a:spcAft>
                      </a:pPr>
                      <a:r>
                        <a:rPr lang="en-GB" sz="1800">
                          <a:effectLst/>
                        </a:rPr>
                        <a:t>R</a:t>
                      </a:r>
                      <a:r>
                        <a:rPr lang="en-GB" sz="1800" baseline="30000">
                          <a:effectLst/>
                        </a:rPr>
                        <a:t>2</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0.8540</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 </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dirty="0">
                          <a:effectLst/>
                        </a:rPr>
                        <a:t>0.826</a:t>
                      </a:r>
                      <a:endParaRPr lang="en-GB" sz="1800" dirty="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 </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a:effectLst/>
                        </a:rPr>
                        <a:t>0.507</a:t>
                      </a:r>
                      <a:endParaRPr lang="en-GB" sz="1800">
                        <a:effectLst/>
                        <a:latin typeface="Calibri"/>
                        <a:ea typeface="Calibri"/>
                        <a:cs typeface="Times New Roman"/>
                      </a:endParaRPr>
                    </a:p>
                  </a:txBody>
                  <a:tcPr marL="68580" marR="68580" marT="0" marB="0" anchor="ctr"/>
                </a:tc>
                <a:tc>
                  <a:txBody>
                    <a:bodyPr/>
                    <a:lstStyle/>
                    <a:p>
                      <a:pPr algn="ctr">
                        <a:lnSpc>
                          <a:spcPct val="115000"/>
                        </a:lnSpc>
                        <a:spcAft>
                          <a:spcPts val="0"/>
                        </a:spcAft>
                      </a:pPr>
                      <a:r>
                        <a:rPr lang="en-GB" sz="1800" dirty="0">
                          <a:effectLst/>
                        </a:rPr>
                        <a:t> </a:t>
                      </a:r>
                      <a:endParaRPr lang="en-GB" sz="18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
        <p:nvSpPr>
          <p:cNvPr id="3" name="Slide Number Placeholder 2"/>
          <p:cNvSpPr>
            <a:spLocks noGrp="1"/>
          </p:cNvSpPr>
          <p:nvPr>
            <p:ph type="sldNum" sz="quarter" idx="12"/>
          </p:nvPr>
        </p:nvSpPr>
        <p:spPr/>
        <p:txBody>
          <a:bodyPr/>
          <a:lstStyle/>
          <a:p>
            <a:fld id="{C0DFAD38-9FB1-4247-9BCA-818DF90CB89D}" type="slidenum">
              <a:rPr lang="en-GB" smtClean="0"/>
              <a:pPr/>
              <a:t>39</a:t>
            </a:fld>
            <a:endParaRPr lang="en-GB"/>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3"/>
          <p:cNvSpPr>
            <a:spLocks noGrp="1" noChangeArrowheads="1"/>
          </p:cNvSpPr>
          <p:nvPr>
            <p:ph idx="1"/>
          </p:nvPr>
        </p:nvSpPr>
        <p:spPr>
          <a:xfrm>
            <a:off x="179512" y="764704"/>
            <a:ext cx="8856984" cy="1944216"/>
          </a:xfrm>
        </p:spPr>
        <p:txBody>
          <a:bodyPr>
            <a:normAutofit fontScale="92500" lnSpcReduction="10000"/>
          </a:bodyPr>
          <a:lstStyle/>
          <a:p>
            <a:r>
              <a:rPr lang="en-US" dirty="0"/>
              <a:t>There are many multiples that can be potentially used to value an individual firm. </a:t>
            </a:r>
          </a:p>
          <a:p>
            <a:r>
              <a:rPr lang="en-US" dirty="0"/>
              <a:t>Relative valuation can be relative: </a:t>
            </a:r>
          </a:p>
          <a:p>
            <a:pPr lvl="1"/>
            <a:r>
              <a:rPr lang="en-US" dirty="0"/>
              <a:t>to a sector (or comparable firms) or </a:t>
            </a:r>
          </a:p>
          <a:p>
            <a:pPr lvl="1"/>
            <a:r>
              <a:rPr lang="en-US" dirty="0"/>
              <a:t>to the entire market (using the regressions)</a:t>
            </a:r>
          </a:p>
        </p:txBody>
      </p:sp>
      <p:sp>
        <p:nvSpPr>
          <p:cNvPr id="191490" name="Rectangle 2"/>
          <p:cNvSpPr>
            <a:spLocks noGrp="1" noChangeArrowheads="1"/>
          </p:cNvSpPr>
          <p:nvPr>
            <p:ph type="title"/>
          </p:nvPr>
        </p:nvSpPr>
        <p:spPr>
          <a:xfrm>
            <a:off x="457200" y="116632"/>
            <a:ext cx="8229600" cy="706090"/>
          </a:xfrm>
        </p:spPr>
        <p:txBody>
          <a:bodyPr>
            <a:normAutofit fontScale="90000"/>
          </a:bodyPr>
          <a:lstStyle/>
          <a:p>
            <a:r>
              <a:rPr lang="en-US" dirty="0"/>
              <a:t>Choosing Between the Multiples</a:t>
            </a:r>
          </a:p>
        </p:txBody>
      </p:sp>
      <p:graphicFrame>
        <p:nvGraphicFramePr>
          <p:cNvPr id="4" name="Diagram 3"/>
          <p:cNvGraphicFramePr/>
          <p:nvPr>
            <p:extLst>
              <p:ext uri="{D42A27DB-BD31-4B8C-83A1-F6EECF244321}">
                <p14:modId xmlns:p14="http://schemas.microsoft.com/office/powerpoint/2010/main" val="3272031190"/>
              </p:ext>
            </p:extLst>
          </p:nvPr>
        </p:nvGraphicFramePr>
        <p:xfrm>
          <a:off x="179512" y="2564904"/>
          <a:ext cx="8784976" cy="4293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2"/>
          </p:nvPr>
        </p:nvSpPr>
        <p:spPr/>
        <p:txBody>
          <a:bodyPr/>
          <a:lstStyle/>
          <a:p>
            <a:fld id="{C0DFAD38-9FB1-4247-9BCA-818DF90CB89D}" type="slidenum">
              <a:rPr lang="en-GB" smtClean="0"/>
              <a:pPr/>
              <a:t>40</a:t>
            </a:fld>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1"/>
            <p:extLst>
              <p:ext uri="{D42A27DB-BD31-4B8C-83A1-F6EECF244321}">
                <p14:modId xmlns:p14="http://schemas.microsoft.com/office/powerpoint/2010/main" val="2029850958"/>
              </p:ext>
            </p:extLst>
          </p:nvPr>
        </p:nvGraphicFramePr>
        <p:xfrm>
          <a:off x="457200" y="1481328"/>
          <a:ext cx="8229600" cy="490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oup 5"/>
          <p:cNvGrpSpPr/>
          <p:nvPr/>
        </p:nvGrpSpPr>
        <p:grpSpPr>
          <a:xfrm>
            <a:off x="467544" y="332656"/>
            <a:ext cx="8424936" cy="1152128"/>
            <a:chOff x="4018" y="243381"/>
            <a:chExt cx="2055390" cy="4039200"/>
          </a:xfrm>
        </p:grpSpPr>
        <p:sp>
          <p:nvSpPr>
            <p:cNvPr id="7" name="Rectangle 6"/>
            <p:cNvSpPr/>
            <p:nvPr/>
          </p:nvSpPr>
          <p:spPr>
            <a:xfrm>
              <a:off x="4018" y="243381"/>
              <a:ext cx="2055390" cy="40392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8" name="Rectangle 7"/>
            <p:cNvSpPr/>
            <p:nvPr/>
          </p:nvSpPr>
          <p:spPr>
            <a:xfrm>
              <a:off x="4018" y="243381"/>
              <a:ext cx="2055390" cy="40392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0904" tIns="43180" rIns="120904" bIns="43180" numCol="1" spcCol="1270" anchor="ctr" anchorCtr="0">
              <a:noAutofit/>
            </a:bodyPr>
            <a:lstStyle/>
            <a:p>
              <a:pPr lvl="0" algn="ctr" defTabSz="755650" rtl="0">
                <a:lnSpc>
                  <a:spcPct val="90000"/>
                </a:lnSpc>
                <a:spcBef>
                  <a:spcPct val="0"/>
                </a:spcBef>
                <a:spcAft>
                  <a:spcPct val="35000"/>
                </a:spcAft>
              </a:pPr>
              <a:r>
                <a:rPr lang="en-US" sz="2800" b="1" kern="1200" dirty="0"/>
                <a:t>Picking one Multiple</a:t>
              </a:r>
            </a:p>
            <a:p>
              <a:pPr lvl="0" algn="ctr" defTabSz="755650" rtl="0">
                <a:lnSpc>
                  <a:spcPct val="90000"/>
                </a:lnSpc>
                <a:spcBef>
                  <a:spcPct val="0"/>
                </a:spcBef>
                <a:spcAft>
                  <a:spcPct val="35000"/>
                </a:spcAft>
              </a:pPr>
              <a:r>
                <a:rPr lang="en-US" sz="1700" kern="1200" dirty="0"/>
                <a:t>This is usually the best way to approach this issue. While a range of values can be obtained from a number of multiples, the “best estimate” value is obtained using one multiple.</a:t>
              </a:r>
              <a:endParaRPr lang="en-GB" sz="1700" kern="1200" dirty="0"/>
            </a:p>
          </p:txBody>
        </p:sp>
      </p:grpSp>
      <p:sp>
        <p:nvSpPr>
          <p:cNvPr id="2" name="Slide Number Placeholder 1"/>
          <p:cNvSpPr>
            <a:spLocks noGrp="1"/>
          </p:cNvSpPr>
          <p:nvPr>
            <p:ph type="sldNum" sz="quarter" idx="12"/>
          </p:nvPr>
        </p:nvSpPr>
        <p:spPr/>
        <p:txBody>
          <a:bodyPr/>
          <a:lstStyle/>
          <a:p>
            <a:fld id="{C0DFAD38-9FB1-4247-9BCA-818DF90CB89D}" type="slidenum">
              <a:rPr lang="en-GB" smtClean="0"/>
              <a:pPr/>
              <a:t>41</a:t>
            </a:fld>
            <a:endParaRPr lang="en-GB"/>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677824342"/>
              </p:ext>
            </p:extLst>
          </p:nvPr>
        </p:nvGraphicFramePr>
        <p:xfrm>
          <a:off x="205680" y="764704"/>
          <a:ext cx="8686800" cy="5904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1794" name="Rectangle 2"/>
          <p:cNvSpPr>
            <a:spLocks noGrp="1" noChangeArrowheads="1"/>
          </p:cNvSpPr>
          <p:nvPr>
            <p:ph type="title"/>
          </p:nvPr>
        </p:nvSpPr>
        <p:spPr>
          <a:noFill/>
          <a:ln/>
        </p:spPr>
        <p:txBody>
          <a:bodyPr anchor="ctr">
            <a:normAutofit fontScale="90000"/>
          </a:bodyPr>
          <a:lstStyle/>
          <a:p>
            <a:r>
              <a:rPr lang="en-US" dirty="0"/>
              <a:t>Reviewing: The Four Steps to Understanding Multiples</a:t>
            </a:r>
          </a:p>
        </p:txBody>
      </p:sp>
      <p:sp>
        <p:nvSpPr>
          <p:cNvPr id="3" name="Slide Number Placeholder 2"/>
          <p:cNvSpPr>
            <a:spLocks noGrp="1"/>
          </p:cNvSpPr>
          <p:nvPr>
            <p:ph type="sldNum" sz="quarter" idx="12"/>
          </p:nvPr>
        </p:nvSpPr>
        <p:spPr/>
        <p:txBody>
          <a:bodyPr/>
          <a:lstStyle/>
          <a:p>
            <a:fld id="{C0DFAD38-9FB1-4247-9BCA-818DF90CB89D}" type="slidenum">
              <a:rPr lang="en-GB" smtClean="0"/>
              <a:pPr/>
              <a:t>42</a:t>
            </a:fld>
            <a:endParaRPr lang="en-GB"/>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idx="1"/>
          </p:nvPr>
        </p:nvSpPr>
        <p:spPr>
          <a:xfrm>
            <a:off x="457200" y="1484784"/>
            <a:ext cx="8229600" cy="4525963"/>
          </a:xfrm>
        </p:spPr>
        <p:txBody>
          <a:bodyPr/>
          <a:lstStyle/>
          <a:p>
            <a:endParaRPr lang="en-GB" dirty="0"/>
          </a:p>
        </p:txBody>
      </p:sp>
      <p:sp>
        <p:nvSpPr>
          <p:cNvPr id="3" name="Slide Number Placeholder 2"/>
          <p:cNvSpPr>
            <a:spLocks noGrp="1"/>
          </p:cNvSpPr>
          <p:nvPr>
            <p:ph type="sldNum" sz="quarter" idx="12"/>
          </p:nvPr>
        </p:nvSpPr>
        <p:spPr/>
        <p:txBody>
          <a:bodyPr/>
          <a:lstStyle/>
          <a:p>
            <a:fld id="{C0DFAD38-9FB1-4247-9BCA-818DF90CB89D}" type="slidenum">
              <a:rPr lang="en-GB" smtClean="0"/>
              <a:pPr/>
              <a:t>43</a:t>
            </a:fld>
            <a:endParaRPr lang="en-GB"/>
          </a:p>
        </p:txBody>
      </p:sp>
      <p:sp>
        <p:nvSpPr>
          <p:cNvPr id="4" name="Title 3"/>
          <p:cNvSpPr>
            <a:spLocks noGrp="1"/>
          </p:cNvSpPr>
          <p:nvPr>
            <p:ph type="title"/>
          </p:nvPr>
        </p:nvSpPr>
        <p:spPr>
          <a:xfrm>
            <a:off x="457200" y="269614"/>
            <a:ext cx="8229600" cy="1143000"/>
          </a:xfrm>
        </p:spPr>
        <p:txBody>
          <a:bodyPr/>
          <a:lstStyle/>
          <a:p>
            <a:r>
              <a:rPr lang="en-GB" dirty="0"/>
              <a:t>Relative Valuation Examples</a:t>
            </a:r>
          </a:p>
        </p:txBody>
      </p:sp>
      <p:graphicFrame>
        <p:nvGraphicFramePr>
          <p:cNvPr id="6" name="Object 5"/>
          <p:cNvGraphicFramePr>
            <a:graphicFrameLocks noChangeAspect="1"/>
          </p:cNvGraphicFramePr>
          <p:nvPr>
            <p:extLst>
              <p:ext uri="{D42A27DB-BD31-4B8C-83A1-F6EECF244321}">
                <p14:modId xmlns:p14="http://schemas.microsoft.com/office/powerpoint/2010/main" val="2820560087"/>
              </p:ext>
            </p:extLst>
          </p:nvPr>
        </p:nvGraphicFramePr>
        <p:xfrm>
          <a:off x="827585" y="3990644"/>
          <a:ext cx="2736304" cy="1761946"/>
        </p:xfrm>
        <a:graphic>
          <a:graphicData uri="http://schemas.openxmlformats.org/presentationml/2006/ole">
            <mc:AlternateContent xmlns:mc="http://schemas.openxmlformats.org/markup-compatibility/2006">
              <mc:Choice xmlns:v="urn:schemas-microsoft-com:vml" Requires="v">
                <p:oleObj name="Document" showAsIcon="1" r:id="rId3" imgW="914400" imgH="771480" progId="Word.Document.12">
                  <p:embed/>
                </p:oleObj>
              </mc:Choice>
              <mc:Fallback>
                <p:oleObj name="Document" showAsIcon="1" r:id="rId3" imgW="914400" imgH="771480" progId="Word.Document.12">
                  <p:embed/>
                  <p:pic>
                    <p:nvPicPr>
                      <p:cNvPr id="6" name="Object 5"/>
                      <p:cNvPicPr/>
                      <p:nvPr/>
                    </p:nvPicPr>
                    <p:blipFill>
                      <a:blip r:embed="rId4"/>
                      <a:stretch>
                        <a:fillRect/>
                      </a:stretch>
                    </p:blipFill>
                    <p:spPr>
                      <a:xfrm>
                        <a:off x="827585" y="3990644"/>
                        <a:ext cx="2736304" cy="1761946"/>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526564617"/>
              </p:ext>
            </p:extLst>
          </p:nvPr>
        </p:nvGraphicFramePr>
        <p:xfrm>
          <a:off x="5364088" y="4113032"/>
          <a:ext cx="2520280" cy="1518919"/>
        </p:xfrm>
        <a:graphic>
          <a:graphicData uri="http://schemas.openxmlformats.org/presentationml/2006/ole">
            <mc:AlternateContent xmlns:mc="http://schemas.openxmlformats.org/markup-compatibility/2006">
              <mc:Choice xmlns:v="urn:schemas-microsoft-com:vml" Requires="v">
                <p:oleObj name="Document" showAsIcon="1" r:id="rId5" imgW="914400" imgH="771480" progId="Word.Document.12">
                  <p:embed/>
                </p:oleObj>
              </mc:Choice>
              <mc:Fallback>
                <p:oleObj name="Document" showAsIcon="1" r:id="rId5" imgW="914400" imgH="771480" progId="Word.Document.12">
                  <p:embed/>
                  <p:pic>
                    <p:nvPicPr>
                      <p:cNvPr id="7" name="Object 6"/>
                      <p:cNvPicPr/>
                      <p:nvPr/>
                    </p:nvPicPr>
                    <p:blipFill>
                      <a:blip r:embed="rId6"/>
                      <a:stretch>
                        <a:fillRect/>
                      </a:stretch>
                    </p:blipFill>
                    <p:spPr>
                      <a:xfrm>
                        <a:off x="5364088" y="4113032"/>
                        <a:ext cx="2520280" cy="1518919"/>
                      </a:xfrm>
                      <a:prstGeom prst="rect">
                        <a:avLst/>
                      </a:prstGeom>
                    </p:spPr>
                  </p:pic>
                </p:oleObj>
              </mc:Fallback>
            </mc:AlternateContent>
          </a:graphicData>
        </a:graphic>
      </p:graphicFrame>
      <p:sp>
        <p:nvSpPr>
          <p:cNvPr id="5" name="TextBox 4"/>
          <p:cNvSpPr txBox="1"/>
          <p:nvPr/>
        </p:nvSpPr>
        <p:spPr>
          <a:xfrm>
            <a:off x="4106635" y="2988128"/>
            <a:ext cx="65" cy="276999"/>
          </a:xfrm>
          <a:prstGeom prst="rect">
            <a:avLst/>
          </a:prstGeom>
          <a:noFill/>
        </p:spPr>
        <p:txBody>
          <a:bodyPr wrap="none" lIns="0" tIns="0" rIns="0" bIns="0" rtlCol="0">
            <a:spAutoFit/>
          </a:bodyPr>
          <a:lstStyle/>
          <a:p>
            <a:endParaRPr lang="en-US" dirty="0"/>
          </a:p>
        </p:txBody>
      </p:sp>
      <p:graphicFrame>
        <p:nvGraphicFramePr>
          <p:cNvPr id="10" name="Object 9"/>
          <p:cNvGraphicFramePr>
            <a:graphicFrameLocks noChangeAspect="1"/>
          </p:cNvGraphicFramePr>
          <p:nvPr>
            <p:extLst>
              <p:ext uri="{D42A27DB-BD31-4B8C-83A1-F6EECF244321}">
                <p14:modId xmlns:p14="http://schemas.microsoft.com/office/powerpoint/2010/main" val="1668022354"/>
              </p:ext>
            </p:extLst>
          </p:nvPr>
        </p:nvGraphicFramePr>
        <p:xfrm>
          <a:off x="5320839" y="1268760"/>
          <a:ext cx="2037769" cy="1719368"/>
        </p:xfrm>
        <a:graphic>
          <a:graphicData uri="http://schemas.openxmlformats.org/presentationml/2006/ole">
            <mc:AlternateContent xmlns:mc="http://schemas.openxmlformats.org/markup-compatibility/2006">
              <mc:Choice xmlns:v="urn:schemas-microsoft-com:vml" Requires="v">
                <p:oleObj name="Document" showAsIcon="1" r:id="rId7" imgW="914400" imgH="771480" progId="Word.Document.12">
                  <p:embed/>
                </p:oleObj>
              </mc:Choice>
              <mc:Fallback>
                <p:oleObj name="Document" showAsIcon="1" r:id="rId7" imgW="914400" imgH="771480" progId="Word.Document.12">
                  <p:embed/>
                  <p:pic>
                    <p:nvPicPr>
                      <p:cNvPr id="10" name="Object 9"/>
                      <p:cNvPicPr/>
                      <p:nvPr/>
                    </p:nvPicPr>
                    <p:blipFill>
                      <a:blip r:embed="rId8"/>
                      <a:stretch>
                        <a:fillRect/>
                      </a:stretch>
                    </p:blipFill>
                    <p:spPr>
                      <a:xfrm>
                        <a:off x="5320839" y="1268760"/>
                        <a:ext cx="2037769" cy="1719368"/>
                      </a:xfrm>
                      <a:prstGeom prst="rect">
                        <a:avLst/>
                      </a:prstGeom>
                    </p:spPr>
                  </p:pic>
                </p:oleObj>
              </mc:Fallback>
            </mc:AlternateContent>
          </a:graphicData>
        </a:graphic>
      </p:graphicFrame>
      <p:sp>
        <p:nvSpPr>
          <p:cNvPr id="8" name="TextBox 7"/>
          <p:cNvSpPr txBox="1"/>
          <p:nvPr/>
        </p:nvSpPr>
        <p:spPr>
          <a:xfrm>
            <a:off x="4107263" y="2981848"/>
            <a:ext cx="65" cy="276999"/>
          </a:xfrm>
          <a:prstGeom prst="rect">
            <a:avLst/>
          </a:prstGeom>
          <a:noFill/>
        </p:spPr>
        <p:txBody>
          <a:bodyPr wrap="none" lIns="0" tIns="0" rIns="0" bIns="0" rtlCol="0">
            <a:spAutoFit/>
          </a:bodyPr>
          <a:lstStyle/>
          <a:p>
            <a:endParaRPr lang="en-GB" dirty="0"/>
          </a:p>
        </p:txBody>
      </p:sp>
      <p:graphicFrame>
        <p:nvGraphicFramePr>
          <p:cNvPr id="12" name="Object 11"/>
          <p:cNvGraphicFramePr>
            <a:graphicFrameLocks noChangeAspect="1"/>
          </p:cNvGraphicFramePr>
          <p:nvPr>
            <p:extLst>
              <p:ext uri="{D42A27DB-BD31-4B8C-83A1-F6EECF244321}">
                <p14:modId xmlns:p14="http://schemas.microsoft.com/office/powerpoint/2010/main" val="297910027"/>
              </p:ext>
            </p:extLst>
          </p:nvPr>
        </p:nvGraphicFramePr>
        <p:xfrm>
          <a:off x="1403648" y="1273019"/>
          <a:ext cx="1728192" cy="1491165"/>
        </p:xfrm>
        <a:graphic>
          <a:graphicData uri="http://schemas.openxmlformats.org/presentationml/2006/ole">
            <mc:AlternateContent xmlns:mc="http://schemas.openxmlformats.org/markup-compatibility/2006">
              <mc:Choice xmlns:v="urn:schemas-microsoft-com:vml" Requires="v">
                <p:oleObj name="Document" showAsIcon="1" r:id="rId9" imgW="914400" imgH="788760" progId="Word.Document.12">
                  <p:embed/>
                </p:oleObj>
              </mc:Choice>
              <mc:Fallback>
                <p:oleObj name="Document" showAsIcon="1" r:id="rId9" imgW="914400" imgH="788760" progId="Word.Document.12">
                  <p:embed/>
                  <p:pic>
                    <p:nvPicPr>
                      <p:cNvPr id="12" name="Object 11"/>
                      <p:cNvPicPr/>
                      <p:nvPr/>
                    </p:nvPicPr>
                    <p:blipFill>
                      <a:blip r:embed="rId10"/>
                      <a:stretch>
                        <a:fillRect/>
                      </a:stretch>
                    </p:blipFill>
                    <p:spPr>
                      <a:xfrm>
                        <a:off x="1403648" y="1273019"/>
                        <a:ext cx="1728192" cy="1491165"/>
                      </a:xfrm>
                      <a:prstGeom prst="rect">
                        <a:avLst/>
                      </a:prstGeom>
                    </p:spPr>
                  </p:pic>
                </p:oleObj>
              </mc:Fallback>
            </mc:AlternateContent>
          </a:graphicData>
        </a:graphic>
      </p:graphicFrame>
    </p:spTree>
    <p:extLst>
      <p:ext uri="{BB962C8B-B14F-4D97-AF65-F5344CB8AC3E}">
        <p14:creationId xmlns:p14="http://schemas.microsoft.com/office/powerpoint/2010/main" val="3528294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E17CEDC22C6E4C817BE2B85326AFED" ma:contentTypeVersion="13" ma:contentTypeDescription="Crée un document." ma:contentTypeScope="" ma:versionID="340fd81ba66454462264ca5c01740633">
  <xsd:schema xmlns:xsd="http://www.w3.org/2001/XMLSchema" xmlns:xs="http://www.w3.org/2001/XMLSchema" xmlns:p="http://schemas.microsoft.com/office/2006/metadata/properties" xmlns:ns3="68c52cd0-c861-4c82-9a1a-0aa4e6c6a5db" xmlns:ns4="92df8fb2-6fee-4711-b57a-2112678babd5" targetNamespace="http://schemas.microsoft.com/office/2006/metadata/properties" ma:root="true" ma:fieldsID="1c5f93696f663e032a9d9d87df367f12" ns3:_="" ns4:_="">
    <xsd:import namespace="68c52cd0-c861-4c82-9a1a-0aa4e6c6a5db"/>
    <xsd:import namespace="92df8fb2-6fee-4711-b57a-2112678babd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ServiceLocation"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c52cd0-c861-4c82-9a1a-0aa4e6c6a5db"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SharingHintHash" ma:index="10" nillable="true" ma:displayName="Partage du hachage d’indicateu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df8fb2-6fee-4711-b57a-2112678babd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00A6DE9-B737-4240-9409-BB7B0E3D48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c52cd0-c861-4c82-9a1a-0aa4e6c6a5db"/>
    <ds:schemaRef ds:uri="92df8fb2-6fee-4711-b57a-2112678bab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88020-17F2-4E82-8FE7-C5BDB7B1D8B3}">
  <ds:schemaRefs>
    <ds:schemaRef ds:uri="http://schemas.microsoft.com/sharepoint/v3/contenttype/forms"/>
  </ds:schemaRefs>
</ds:datastoreItem>
</file>

<file path=customXml/itemProps3.xml><?xml version="1.0" encoding="utf-8"?>
<ds:datastoreItem xmlns:ds="http://schemas.openxmlformats.org/officeDocument/2006/customXml" ds:itemID="{633E07B4-5B9D-4236-92D6-DDFAD3B0D04F}">
  <ds:schemaRefs>
    <ds:schemaRef ds:uri="http://purl.org/dc/elements/1.1/"/>
    <ds:schemaRef ds:uri="http://purl.org/dc/dcmitype/"/>
    <ds:schemaRef ds:uri="68c52cd0-c861-4c82-9a1a-0aa4e6c6a5db"/>
    <ds:schemaRef ds:uri="http://schemas.openxmlformats.org/package/2006/metadata/core-properties"/>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92df8fb2-6fee-4711-b57a-2112678babd5"/>
    <ds:schemaRef ds:uri="http://purl.org/dc/terms/"/>
  </ds:schemaRefs>
</ds:datastoreItem>
</file>

<file path=docProps/app.xml><?xml version="1.0" encoding="utf-8"?>
<Properties xmlns="http://schemas.openxmlformats.org/officeDocument/2006/extended-properties" xmlns:vt="http://schemas.openxmlformats.org/officeDocument/2006/docPropsVTypes">
  <Template>Concourse</Template>
  <TotalTime>13298</TotalTime>
  <Words>7637</Words>
  <Application>Microsoft Office PowerPoint</Application>
  <PresentationFormat>Presentación en pantalla (4:3)</PresentationFormat>
  <Paragraphs>724</Paragraphs>
  <Slides>43</Slides>
  <Notes>42</Notes>
  <HiddenSlides>0</HiddenSlides>
  <MMClips>0</MMClips>
  <ScaleCrop>false</ScaleCrop>
  <HeadingPairs>
    <vt:vector size="8" baseType="variant">
      <vt:variant>
        <vt:lpstr>Fuentes usadas</vt:lpstr>
      </vt:variant>
      <vt:variant>
        <vt:i4>12</vt:i4>
      </vt:variant>
      <vt:variant>
        <vt:lpstr>Tema</vt:lpstr>
      </vt:variant>
      <vt:variant>
        <vt:i4>1</vt:i4>
      </vt:variant>
      <vt:variant>
        <vt:lpstr>Servidores OLE incrustados</vt:lpstr>
      </vt:variant>
      <vt:variant>
        <vt:i4>5</vt:i4>
      </vt:variant>
      <vt:variant>
        <vt:lpstr>Títulos de diapositiva</vt:lpstr>
      </vt:variant>
      <vt:variant>
        <vt:i4>43</vt:i4>
      </vt:variant>
    </vt:vector>
  </HeadingPairs>
  <TitlesOfParts>
    <vt:vector size="61" baseType="lpstr">
      <vt:lpstr>Arial</vt:lpstr>
      <vt:lpstr>Calibri</vt:lpstr>
      <vt:lpstr>Cambria Math</vt:lpstr>
      <vt:lpstr>Geneva</vt:lpstr>
      <vt:lpstr>Helvetica</vt:lpstr>
      <vt:lpstr>Lucida Sans Unicode</vt:lpstr>
      <vt:lpstr>Monotype Sorts</vt:lpstr>
      <vt:lpstr>Times</vt:lpstr>
      <vt:lpstr>Verdana</vt:lpstr>
      <vt:lpstr>Wingdings</vt:lpstr>
      <vt:lpstr>Wingdings 2</vt:lpstr>
      <vt:lpstr>Wingdings 3</vt:lpstr>
      <vt:lpstr>Concourse</vt:lpstr>
      <vt:lpstr>Document</vt:lpstr>
      <vt:lpstr>Documento de Microsoft Word</vt:lpstr>
      <vt:lpstr>Equation</vt:lpstr>
      <vt:lpstr>Worksheet</vt:lpstr>
      <vt:lpstr>Hoja de cálculo de Microsoft Excel 97-2003</vt:lpstr>
      <vt:lpstr>Relative Valuation</vt:lpstr>
      <vt:lpstr>Future Plan</vt:lpstr>
      <vt:lpstr>What is relative valuation?</vt:lpstr>
      <vt:lpstr>Standardizing Value Prices can be standardized using a common variable such as earnings, cashflows, book value or revenues.  </vt:lpstr>
      <vt:lpstr>Four Steps to Understanding Multiples</vt:lpstr>
      <vt:lpstr>Presentación de PowerPoint</vt:lpstr>
      <vt:lpstr>Price Earnings Ratio: Definition</vt:lpstr>
      <vt:lpstr>PE Ratio: Descriptive Statistics for the US</vt:lpstr>
      <vt:lpstr>PE: Deciphering the Distribution</vt:lpstr>
      <vt:lpstr>Comparing PE Ratios: US, Europe and Emerging Markets</vt:lpstr>
      <vt:lpstr>PE Ratio: Understanding the Fundamentals</vt:lpstr>
      <vt:lpstr>Presentación de PowerPoint</vt:lpstr>
      <vt:lpstr>PE across time: S&amp;P 500</vt:lpstr>
      <vt:lpstr>Apply the Multiple</vt:lpstr>
      <vt:lpstr>Running a regression</vt:lpstr>
      <vt:lpstr>Comparing PE Ratios across a Sector</vt:lpstr>
      <vt:lpstr>PE, Growth and Risk</vt:lpstr>
      <vt:lpstr>Is Telebras under valued?</vt:lpstr>
      <vt:lpstr>Presentación de PowerPoint</vt:lpstr>
      <vt:lpstr>Value/Earnings and Value/Cashflow Ratios</vt:lpstr>
      <vt:lpstr>Value of Firm/FCFF: Determinants</vt:lpstr>
      <vt:lpstr>Value Multiples</vt:lpstr>
      <vt:lpstr>Alternatives to FCFF - EBIT and EBITDA</vt:lpstr>
      <vt:lpstr>Enterprise Value/EBITDA : Global Data 6 times EBITDA may seem like a good rule of thumb..</vt:lpstr>
      <vt:lpstr>Presentación de PowerPoint</vt:lpstr>
      <vt:lpstr>Price-Book Value Ratio: Definition</vt:lpstr>
      <vt:lpstr>Price to Book Value: US stocks</vt:lpstr>
      <vt:lpstr>Price Book Value Ratio: Stable Growth Firm</vt:lpstr>
      <vt:lpstr>PBV/ROE: European Banks</vt:lpstr>
      <vt:lpstr>Under and Over Valued Banks?</vt:lpstr>
      <vt:lpstr>The Valuation Matrix</vt:lpstr>
      <vt:lpstr>Price to Book vs ROE: Largest Market Cap Firms in the United States</vt:lpstr>
      <vt:lpstr>PBV Regression</vt:lpstr>
      <vt:lpstr>Presentación de PowerPoint</vt:lpstr>
      <vt:lpstr>Price Sales Ratio: Definition</vt:lpstr>
      <vt:lpstr>Price/Sales Ratio:  US stocks</vt:lpstr>
      <vt:lpstr>Price/Sales Ratio: Determinants</vt:lpstr>
      <vt:lpstr>PS/Margins: European Retailers - September 2003</vt:lpstr>
      <vt:lpstr>PS Regression</vt:lpstr>
      <vt:lpstr>Choosing Between the Multiples</vt:lpstr>
      <vt:lpstr>Presentación de PowerPoint</vt:lpstr>
      <vt:lpstr>Reviewing: The Four Steps to Understanding Multiples</vt:lpstr>
      <vt:lpstr>Relative Valuation Examples</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Relative Valuation</dc:title>
  <dc:creator>rv</dc:creator>
  <cp:lastModifiedBy>HINCAPIE MARTINEZ Juan</cp:lastModifiedBy>
  <cp:revision>100</cp:revision>
  <dcterms:created xsi:type="dcterms:W3CDTF">2012-11-22T15:39:42Z</dcterms:created>
  <dcterms:modified xsi:type="dcterms:W3CDTF">2026-10-18T18:21:02Z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0x0101005DE17CEDC22C6E4C817BE2B85326AFED</vt:lpwstr>
  </property>
</Properties>
</file>