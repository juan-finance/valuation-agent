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webextensions/webextension1.xml" ContentType="application/vnd.ms-office.webextension+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webextensions/webextension2.xml" ContentType="application/vnd.ms-office.webextension+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webextensions/webextension3.xml" ContentType="application/vnd.ms-office.webextension+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webextensions/webextension4.xml" ContentType="application/vnd.ms-office.webextension+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3"/>
  </p:notesMasterIdLst>
  <p:sldIdLst>
    <p:sldId id="256" r:id="rId5"/>
    <p:sldId id="339" r:id="rId6"/>
    <p:sldId id="331" r:id="rId7"/>
    <p:sldId id="340" r:id="rId8"/>
    <p:sldId id="352" r:id="rId9"/>
    <p:sldId id="338" r:id="rId10"/>
    <p:sldId id="353" r:id="rId11"/>
    <p:sldId id="332" r:id="rId12"/>
    <p:sldId id="354" r:id="rId13"/>
    <p:sldId id="341" r:id="rId14"/>
    <p:sldId id="334" r:id="rId15"/>
    <p:sldId id="342" r:id="rId16"/>
    <p:sldId id="329" r:id="rId17"/>
    <p:sldId id="351" r:id="rId18"/>
    <p:sldId id="350" r:id="rId19"/>
    <p:sldId id="343" r:id="rId20"/>
    <p:sldId id="330" r:id="rId21"/>
    <p:sldId id="346" r:id="rId22"/>
    <p:sldId id="258" r:id="rId23"/>
    <p:sldId id="348" r:id="rId24"/>
    <p:sldId id="347" r:id="rId25"/>
    <p:sldId id="336" r:id="rId26"/>
    <p:sldId id="259" r:id="rId27"/>
    <p:sldId id="264" r:id="rId28"/>
    <p:sldId id="266" r:id="rId29"/>
    <p:sldId id="269" r:id="rId30"/>
    <p:sldId id="271" r:id="rId31"/>
    <p:sldId id="272" r:id="rId32"/>
    <p:sldId id="267" r:id="rId33"/>
    <p:sldId id="273" r:id="rId34"/>
    <p:sldId id="274" r:id="rId35"/>
    <p:sldId id="268" r:id="rId36"/>
    <p:sldId id="275" r:id="rId37"/>
    <p:sldId id="344" r:id="rId38"/>
    <p:sldId id="328" r:id="rId39"/>
    <p:sldId id="324" r:id="rId40"/>
    <p:sldId id="345" r:id="rId41"/>
    <p:sldId id="34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84978D-1786-4CC1-8557-DD206287FECA}" v="19" dt="2026-09-13T08:22:26.6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470" autoAdjust="0"/>
  </p:normalViewPr>
  <p:slideViewPr>
    <p:cSldViewPr>
      <p:cViewPr>
        <p:scale>
          <a:sx n="74" d="100"/>
          <a:sy n="74" d="100"/>
        </p:scale>
        <p:origin x="1458" y="105"/>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LAITZOGLOU Iordanis" userId="59a78b65-5149-4b7e-9a03-bcb365d691a2" providerId="ADAL" clId="{DD3CBDC3-F255-4437-BA5F-C63C0C4F1C5E}"/>
    <pc:docChg chg="undo custSel addSld modSld">
      <pc:chgData name="KALAITZOGLOU Iordanis" userId="59a78b65-5149-4b7e-9a03-bcb365d691a2" providerId="ADAL" clId="{DD3CBDC3-F255-4437-BA5F-C63C0C4F1C5E}" dt="2026-09-13T08:40:14.714" v="560" actId="1076"/>
      <pc:docMkLst>
        <pc:docMk/>
      </pc:docMkLst>
      <pc:sldChg chg="modSp mod">
        <pc:chgData name="KALAITZOGLOU Iordanis" userId="59a78b65-5149-4b7e-9a03-bcb365d691a2" providerId="ADAL" clId="{DD3CBDC3-F255-4437-BA5F-C63C0C4F1C5E}" dt="2026-09-13T08:40:14.714" v="560" actId="1076"/>
        <pc:sldMkLst>
          <pc:docMk/>
          <pc:sldMk cId="2667547231" sldId="328"/>
        </pc:sldMkLst>
        <pc:graphicFrameChg chg="mod modGraphic">
          <ac:chgData name="KALAITZOGLOU Iordanis" userId="59a78b65-5149-4b7e-9a03-bcb365d691a2" providerId="ADAL" clId="{DD3CBDC3-F255-4437-BA5F-C63C0C4F1C5E}" dt="2026-09-13T08:40:14.714" v="560" actId="1076"/>
          <ac:graphicFrameMkLst>
            <pc:docMk/>
            <pc:sldMk cId="2667547231" sldId="328"/>
            <ac:graphicFrameMk id="3" creationId="{00000000-0000-0000-0000-000000000000}"/>
          </ac:graphicFrameMkLst>
        </pc:graphicFrameChg>
      </pc:sldChg>
      <pc:sldChg chg="addSp delSp modSp mod">
        <pc:chgData name="KALAITZOGLOU Iordanis" userId="59a78b65-5149-4b7e-9a03-bcb365d691a2" providerId="ADAL" clId="{DD3CBDC3-F255-4437-BA5F-C63C0C4F1C5E}" dt="2026-09-13T08:23:01.237" v="457" actId="14100"/>
        <pc:sldMkLst>
          <pc:docMk/>
          <pc:sldMk cId="790945634" sldId="330"/>
        </pc:sldMkLst>
        <pc:spChg chg="mod">
          <ac:chgData name="KALAITZOGLOU Iordanis" userId="59a78b65-5149-4b7e-9a03-bcb365d691a2" providerId="ADAL" clId="{DD3CBDC3-F255-4437-BA5F-C63C0C4F1C5E}" dt="2026-09-13T08:16:48.548" v="422" actId="14100"/>
          <ac:spMkLst>
            <pc:docMk/>
            <pc:sldMk cId="790945634" sldId="330"/>
            <ac:spMk id="2" creationId="{00000000-0000-0000-0000-000000000000}"/>
          </ac:spMkLst>
        </pc:spChg>
        <pc:spChg chg="add del mod ord">
          <ac:chgData name="KALAITZOGLOU Iordanis" userId="59a78b65-5149-4b7e-9a03-bcb365d691a2" providerId="ADAL" clId="{DD3CBDC3-F255-4437-BA5F-C63C0C4F1C5E}" dt="2026-09-13T08:22:36.676" v="451" actId="21"/>
          <ac:spMkLst>
            <pc:docMk/>
            <pc:sldMk cId="790945634" sldId="330"/>
            <ac:spMk id="10" creationId="{012688CD-555E-E7EC-C655-4E65B4F649C2}"/>
          </ac:spMkLst>
        </pc:spChg>
        <pc:spChg chg="add del mod">
          <ac:chgData name="KALAITZOGLOU Iordanis" userId="59a78b65-5149-4b7e-9a03-bcb365d691a2" providerId="ADAL" clId="{DD3CBDC3-F255-4437-BA5F-C63C0C4F1C5E}" dt="2026-09-13T08:22:30.922" v="450"/>
          <ac:spMkLst>
            <pc:docMk/>
            <pc:sldMk cId="790945634" sldId="330"/>
            <ac:spMk id="11" creationId="{9104DC07-E034-14AC-F6A2-3DD5DB90428F}"/>
          </ac:spMkLst>
        </pc:spChg>
        <pc:graphicFrameChg chg="del mod">
          <ac:chgData name="KALAITZOGLOU Iordanis" userId="59a78b65-5149-4b7e-9a03-bcb365d691a2" providerId="ADAL" clId="{DD3CBDC3-F255-4437-BA5F-C63C0C4F1C5E}" dt="2026-09-13T08:17:49.804" v="433" actId="21"/>
          <ac:graphicFrameMkLst>
            <pc:docMk/>
            <pc:sldMk cId="790945634" sldId="330"/>
            <ac:graphicFrameMk id="3" creationId="{09C6EFB7-2AD4-A009-0B6E-65A8509C3738}"/>
          </ac:graphicFrameMkLst>
        </pc:graphicFrameChg>
        <pc:picChg chg="add mod ord">
          <ac:chgData name="KALAITZOGLOU Iordanis" userId="59a78b65-5149-4b7e-9a03-bcb365d691a2" providerId="ADAL" clId="{DD3CBDC3-F255-4437-BA5F-C63C0C4F1C5E}" dt="2026-09-13T08:23:01.237" v="457" actId="14100"/>
          <ac:picMkLst>
            <pc:docMk/>
            <pc:sldMk cId="790945634" sldId="330"/>
            <ac:picMk id="5" creationId="{7F550B29-FF23-4A38-3D34-553D8CE9B80C}"/>
          </ac:picMkLst>
        </pc:picChg>
        <pc:picChg chg="add del mod">
          <ac:chgData name="KALAITZOGLOU Iordanis" userId="59a78b65-5149-4b7e-9a03-bcb365d691a2" providerId="ADAL" clId="{DD3CBDC3-F255-4437-BA5F-C63C0C4F1C5E}" dt="2026-09-13T08:22:36.676" v="451" actId="21"/>
          <ac:picMkLst>
            <pc:docMk/>
            <pc:sldMk cId="790945634" sldId="330"/>
            <ac:picMk id="7" creationId="{ACA86F0E-697A-87EF-6CCD-F81F6EA7F9F0}"/>
          </ac:picMkLst>
        </pc:picChg>
        <pc:picChg chg="add del mod">
          <ac:chgData name="KALAITZOGLOU Iordanis" userId="59a78b65-5149-4b7e-9a03-bcb365d691a2" providerId="ADAL" clId="{DD3CBDC3-F255-4437-BA5F-C63C0C4F1C5E}" dt="2026-09-13T08:18:33.628" v="439" actId="478"/>
          <ac:picMkLst>
            <pc:docMk/>
            <pc:sldMk cId="790945634" sldId="330"/>
            <ac:picMk id="9" creationId="{27CB08FA-6F0B-A3CF-C2B2-E634382432FA}"/>
          </ac:picMkLst>
        </pc:picChg>
        <pc:picChg chg="add mod">
          <ac:chgData name="KALAITZOGLOU Iordanis" userId="59a78b65-5149-4b7e-9a03-bcb365d691a2" providerId="ADAL" clId="{DD3CBDC3-F255-4437-BA5F-C63C0C4F1C5E}" dt="2026-09-13T08:22:56.622" v="456" actId="1076"/>
          <ac:picMkLst>
            <pc:docMk/>
            <pc:sldMk cId="790945634" sldId="330"/>
            <ac:picMk id="13" creationId="{F82D7CAF-56E0-8F61-DEC8-95B6CFB6B699}"/>
          </ac:picMkLst>
        </pc:picChg>
      </pc:sldChg>
      <pc:sldChg chg="modSp mod">
        <pc:chgData name="KALAITZOGLOU Iordanis" userId="59a78b65-5149-4b7e-9a03-bcb365d691a2" providerId="ADAL" clId="{DD3CBDC3-F255-4437-BA5F-C63C0C4F1C5E}" dt="2026-09-13T08:10:27.618" v="168" actId="20577"/>
        <pc:sldMkLst>
          <pc:docMk/>
          <pc:sldMk cId="1676697206" sldId="332"/>
        </pc:sldMkLst>
        <pc:graphicFrameChg chg="modGraphic">
          <ac:chgData name="KALAITZOGLOU Iordanis" userId="59a78b65-5149-4b7e-9a03-bcb365d691a2" providerId="ADAL" clId="{DD3CBDC3-F255-4437-BA5F-C63C0C4F1C5E}" dt="2026-09-13T08:10:27.618" v="168" actId="20577"/>
          <ac:graphicFrameMkLst>
            <pc:docMk/>
            <pc:sldMk cId="1676697206" sldId="332"/>
            <ac:graphicFrameMk id="4" creationId="{00000000-0000-0000-0000-000000000000}"/>
          </ac:graphicFrameMkLst>
        </pc:graphicFrameChg>
      </pc:sldChg>
      <pc:sldChg chg="addSp modSp mod">
        <pc:chgData name="KALAITZOGLOU Iordanis" userId="59a78b65-5149-4b7e-9a03-bcb365d691a2" providerId="ADAL" clId="{DD3CBDC3-F255-4437-BA5F-C63C0C4F1C5E}" dt="2026-09-13T08:00:23.040" v="12" actId="1076"/>
        <pc:sldMkLst>
          <pc:docMk/>
          <pc:sldMk cId="86820650" sldId="339"/>
        </pc:sldMkLst>
        <pc:spChg chg="mod">
          <ac:chgData name="KALAITZOGLOU Iordanis" userId="59a78b65-5149-4b7e-9a03-bcb365d691a2" providerId="ADAL" clId="{DD3CBDC3-F255-4437-BA5F-C63C0C4F1C5E}" dt="2026-09-13T07:52:21.226" v="6" actId="1076"/>
          <ac:spMkLst>
            <pc:docMk/>
            <pc:sldMk cId="86820650" sldId="339"/>
            <ac:spMk id="2" creationId="{00000000-0000-0000-0000-000000000000}"/>
          </ac:spMkLst>
        </pc:spChg>
        <pc:graphicFrameChg chg="add mod">
          <ac:chgData name="KALAITZOGLOU Iordanis" userId="59a78b65-5149-4b7e-9a03-bcb365d691a2" providerId="ADAL" clId="{DD3CBDC3-F255-4437-BA5F-C63C0C4F1C5E}" dt="2026-09-13T08:00:23.040" v="12" actId="1076"/>
          <ac:graphicFrameMkLst>
            <pc:docMk/>
            <pc:sldMk cId="86820650" sldId="339"/>
            <ac:graphicFrameMk id="3" creationId="{533DC5F9-CC27-7ECF-E568-13B8D6084C46}"/>
          </ac:graphicFrameMkLst>
        </pc:graphicFrameChg>
      </pc:sldChg>
      <pc:sldChg chg="addSp modSp mod modAnim">
        <pc:chgData name="KALAITZOGLOU Iordanis" userId="59a78b65-5149-4b7e-9a03-bcb365d691a2" providerId="ADAL" clId="{DD3CBDC3-F255-4437-BA5F-C63C0C4F1C5E}" dt="2026-09-13T08:05:29.969" v="33" actId="14100"/>
        <pc:sldMkLst>
          <pc:docMk/>
          <pc:sldMk cId="2572539199" sldId="340"/>
        </pc:sldMkLst>
        <pc:spChg chg="mod">
          <ac:chgData name="KALAITZOGLOU Iordanis" userId="59a78b65-5149-4b7e-9a03-bcb365d691a2" providerId="ADAL" clId="{DD3CBDC3-F255-4437-BA5F-C63C0C4F1C5E}" dt="2026-09-13T08:05:11.038" v="29" actId="1076"/>
          <ac:spMkLst>
            <pc:docMk/>
            <pc:sldMk cId="2572539199" sldId="340"/>
            <ac:spMk id="2" creationId="{00000000-0000-0000-0000-000000000000}"/>
          </ac:spMkLst>
        </pc:spChg>
        <pc:graphicFrameChg chg="mod">
          <ac:chgData name="KALAITZOGLOU Iordanis" userId="59a78b65-5149-4b7e-9a03-bcb365d691a2" providerId="ADAL" clId="{DD3CBDC3-F255-4437-BA5F-C63C0C4F1C5E}" dt="2026-09-13T08:05:19.771" v="31" actId="1076"/>
          <ac:graphicFrameMkLst>
            <pc:docMk/>
            <pc:sldMk cId="2572539199" sldId="340"/>
            <ac:graphicFrameMk id="5" creationId="{00000000-0000-0000-0000-000000000000}"/>
          </ac:graphicFrameMkLst>
        </pc:graphicFrameChg>
        <pc:picChg chg="add mod">
          <ac:chgData name="KALAITZOGLOU Iordanis" userId="59a78b65-5149-4b7e-9a03-bcb365d691a2" providerId="ADAL" clId="{DD3CBDC3-F255-4437-BA5F-C63C0C4F1C5E}" dt="2026-09-13T08:05:29.969" v="33" actId="14100"/>
          <ac:picMkLst>
            <pc:docMk/>
            <pc:sldMk cId="2572539199" sldId="340"/>
            <ac:picMk id="4" creationId="{8E7DAC35-1484-4BFA-913A-1C15C0569E9D}"/>
          </ac:picMkLst>
        </pc:picChg>
      </pc:sldChg>
      <pc:sldChg chg="modSp mod">
        <pc:chgData name="KALAITZOGLOU Iordanis" userId="59a78b65-5149-4b7e-9a03-bcb365d691a2" providerId="ADAL" clId="{DD3CBDC3-F255-4437-BA5F-C63C0C4F1C5E}" dt="2026-09-13T08:15:05.965" v="392" actId="20577"/>
        <pc:sldMkLst>
          <pc:docMk/>
          <pc:sldMk cId="1444396074" sldId="341"/>
        </pc:sldMkLst>
        <pc:spChg chg="mod">
          <ac:chgData name="KALAITZOGLOU Iordanis" userId="59a78b65-5149-4b7e-9a03-bcb365d691a2" providerId="ADAL" clId="{DD3CBDC3-F255-4437-BA5F-C63C0C4F1C5E}" dt="2026-09-13T08:15:05.965" v="392" actId="20577"/>
          <ac:spMkLst>
            <pc:docMk/>
            <pc:sldMk cId="1444396074" sldId="341"/>
            <ac:spMk id="3" creationId="{00000000-0000-0000-0000-000000000000}"/>
          </ac:spMkLst>
        </pc:spChg>
      </pc:sldChg>
      <pc:sldChg chg="mod modShow">
        <pc:chgData name="KALAITZOGLOU Iordanis" userId="59a78b65-5149-4b7e-9a03-bcb365d691a2" providerId="ADAL" clId="{DD3CBDC3-F255-4437-BA5F-C63C0C4F1C5E}" dt="2026-09-13T08:23:08.739" v="458" actId="729"/>
        <pc:sldMkLst>
          <pc:docMk/>
          <pc:sldMk cId="3796367346" sldId="343"/>
        </pc:sldMkLst>
      </pc:sldChg>
      <pc:sldChg chg="addSp delSp modSp mod">
        <pc:chgData name="KALAITZOGLOU Iordanis" userId="59a78b65-5149-4b7e-9a03-bcb365d691a2" providerId="ADAL" clId="{DD3CBDC3-F255-4437-BA5F-C63C0C4F1C5E}" dt="2026-09-13T08:29:15.634" v="513" actId="14100"/>
        <pc:sldMkLst>
          <pc:docMk/>
          <pc:sldMk cId="3100806396" sldId="347"/>
        </pc:sldMkLst>
        <pc:spChg chg="add del">
          <ac:chgData name="KALAITZOGLOU Iordanis" userId="59a78b65-5149-4b7e-9a03-bcb365d691a2" providerId="ADAL" clId="{DD3CBDC3-F255-4437-BA5F-C63C0C4F1C5E}" dt="2026-09-13T08:27:41.790" v="503" actId="478"/>
          <ac:spMkLst>
            <pc:docMk/>
            <pc:sldMk cId="3100806396" sldId="347"/>
            <ac:spMk id="7" creationId="{3C824C08-180B-D8B8-4FF9-B6381E35D632}"/>
          </ac:spMkLst>
        </pc:spChg>
        <pc:picChg chg="mod">
          <ac:chgData name="KALAITZOGLOU Iordanis" userId="59a78b65-5149-4b7e-9a03-bcb365d691a2" providerId="ADAL" clId="{DD3CBDC3-F255-4437-BA5F-C63C0C4F1C5E}" dt="2026-09-13T08:28:12.414" v="505" actId="1076"/>
          <ac:picMkLst>
            <pc:docMk/>
            <pc:sldMk cId="3100806396" sldId="347"/>
            <ac:picMk id="5" creationId="{D0C03002-C1D3-2B56-1D5B-D7D2B3F51B75}"/>
          </ac:picMkLst>
        </pc:picChg>
        <pc:picChg chg="del">
          <ac:chgData name="KALAITZOGLOU Iordanis" userId="59a78b65-5149-4b7e-9a03-bcb365d691a2" providerId="ADAL" clId="{DD3CBDC3-F255-4437-BA5F-C63C0C4F1C5E}" dt="2026-09-13T08:28:08.774" v="504" actId="478"/>
          <ac:picMkLst>
            <pc:docMk/>
            <pc:sldMk cId="3100806396" sldId="347"/>
            <ac:picMk id="6" creationId="{00000000-0000-0000-0000-000000000000}"/>
          </ac:picMkLst>
        </pc:picChg>
        <pc:picChg chg="add del">
          <ac:chgData name="KALAITZOGLOU Iordanis" userId="59a78b65-5149-4b7e-9a03-bcb365d691a2" providerId="ADAL" clId="{DD3CBDC3-F255-4437-BA5F-C63C0C4F1C5E}" dt="2026-09-13T08:27:41.790" v="503" actId="478"/>
          <ac:picMkLst>
            <pc:docMk/>
            <pc:sldMk cId="3100806396" sldId="347"/>
            <ac:picMk id="9" creationId="{A8BC28EC-D404-4E87-5323-6F2E71009A79}"/>
          </ac:picMkLst>
        </pc:picChg>
        <pc:picChg chg="add mod modCrop">
          <ac:chgData name="KALAITZOGLOU Iordanis" userId="59a78b65-5149-4b7e-9a03-bcb365d691a2" providerId="ADAL" clId="{DD3CBDC3-F255-4437-BA5F-C63C0C4F1C5E}" dt="2026-09-13T08:29:15.634" v="513" actId="14100"/>
          <ac:picMkLst>
            <pc:docMk/>
            <pc:sldMk cId="3100806396" sldId="347"/>
            <ac:picMk id="11" creationId="{437610BC-C73C-523A-774E-3709468851D8}"/>
          </ac:picMkLst>
        </pc:picChg>
      </pc:sldChg>
      <pc:sldChg chg="modSp mod">
        <pc:chgData name="KALAITZOGLOU Iordanis" userId="59a78b65-5149-4b7e-9a03-bcb365d691a2" providerId="ADAL" clId="{DD3CBDC3-F255-4437-BA5F-C63C0C4F1C5E}" dt="2026-09-13T08:24:57.656" v="501" actId="1076"/>
        <pc:sldMkLst>
          <pc:docMk/>
          <pc:sldMk cId="3594726665" sldId="348"/>
        </pc:sldMkLst>
        <pc:spChg chg="mod">
          <ac:chgData name="KALAITZOGLOU Iordanis" userId="59a78b65-5149-4b7e-9a03-bcb365d691a2" providerId="ADAL" clId="{DD3CBDC3-F255-4437-BA5F-C63C0C4F1C5E}" dt="2026-09-13T08:24:57.656" v="501" actId="1076"/>
          <ac:spMkLst>
            <pc:docMk/>
            <pc:sldMk cId="3594726665" sldId="348"/>
            <ac:spMk id="2" creationId="{00000000-0000-0000-0000-000000000000}"/>
          </ac:spMkLst>
        </pc:spChg>
      </pc:sldChg>
      <pc:sldChg chg="modSp mod">
        <pc:chgData name="KALAITZOGLOU Iordanis" userId="59a78b65-5149-4b7e-9a03-bcb365d691a2" providerId="ADAL" clId="{DD3CBDC3-F255-4437-BA5F-C63C0C4F1C5E}" dt="2026-09-13T08:39:19.818" v="549" actId="27636"/>
        <pc:sldMkLst>
          <pc:docMk/>
          <pc:sldMk cId="579638545" sldId="349"/>
        </pc:sldMkLst>
        <pc:spChg chg="mod">
          <ac:chgData name="KALAITZOGLOU Iordanis" userId="59a78b65-5149-4b7e-9a03-bcb365d691a2" providerId="ADAL" clId="{DD3CBDC3-F255-4437-BA5F-C63C0C4F1C5E}" dt="2026-09-13T08:39:11.381" v="546" actId="1076"/>
          <ac:spMkLst>
            <pc:docMk/>
            <pc:sldMk cId="579638545" sldId="349"/>
            <ac:spMk id="2" creationId="{00000000-0000-0000-0000-000000000000}"/>
          </ac:spMkLst>
        </pc:spChg>
        <pc:spChg chg="mod">
          <ac:chgData name="KALAITZOGLOU Iordanis" userId="59a78b65-5149-4b7e-9a03-bcb365d691a2" providerId="ADAL" clId="{DD3CBDC3-F255-4437-BA5F-C63C0C4F1C5E}" dt="2026-09-13T08:39:19.818" v="549" actId="27636"/>
          <ac:spMkLst>
            <pc:docMk/>
            <pc:sldMk cId="579638545" sldId="349"/>
            <ac:spMk id="3" creationId="{00000000-0000-0000-0000-000000000000}"/>
          </ac:spMkLst>
        </pc:spChg>
      </pc:sldChg>
      <pc:sldChg chg="addSp delSp modSp new mod">
        <pc:chgData name="KALAITZOGLOU Iordanis" userId="59a78b65-5149-4b7e-9a03-bcb365d691a2" providerId="ADAL" clId="{DD3CBDC3-F255-4437-BA5F-C63C0C4F1C5E}" dt="2026-09-13T08:06:54.168" v="65" actId="14100"/>
        <pc:sldMkLst>
          <pc:docMk/>
          <pc:sldMk cId="3106523172" sldId="352"/>
        </pc:sldMkLst>
        <pc:spChg chg="mod">
          <ac:chgData name="KALAITZOGLOU Iordanis" userId="59a78b65-5149-4b7e-9a03-bcb365d691a2" providerId="ADAL" clId="{DD3CBDC3-F255-4437-BA5F-C63C0C4F1C5E}" dt="2026-09-13T08:06:42.533" v="62" actId="14100"/>
          <ac:spMkLst>
            <pc:docMk/>
            <pc:sldMk cId="3106523172" sldId="352"/>
            <ac:spMk id="2" creationId="{7BACFB7D-14F6-DC2D-B01C-85B5A95008AF}"/>
          </ac:spMkLst>
        </pc:spChg>
        <pc:spChg chg="del">
          <ac:chgData name="KALAITZOGLOU Iordanis" userId="59a78b65-5149-4b7e-9a03-bcb365d691a2" providerId="ADAL" clId="{DD3CBDC3-F255-4437-BA5F-C63C0C4F1C5E}" dt="2026-09-13T08:06:01.263" v="61" actId="546"/>
          <ac:spMkLst>
            <pc:docMk/>
            <pc:sldMk cId="3106523172" sldId="352"/>
            <ac:spMk id="3" creationId="{E8132EB8-D261-DA21-8DF2-C956E6F629FF}"/>
          </ac:spMkLst>
        </pc:spChg>
        <pc:graphicFrameChg chg="add mod">
          <ac:chgData name="KALAITZOGLOU Iordanis" userId="59a78b65-5149-4b7e-9a03-bcb365d691a2" providerId="ADAL" clId="{DD3CBDC3-F255-4437-BA5F-C63C0C4F1C5E}" dt="2026-09-13T08:06:54.168" v="65" actId="14100"/>
          <ac:graphicFrameMkLst>
            <pc:docMk/>
            <pc:sldMk cId="3106523172" sldId="352"/>
            <ac:graphicFrameMk id="4" creationId="{F1DCDEA8-A64E-AEC8-63BD-F17E9D8509C6}"/>
          </ac:graphicFrameMkLst>
        </pc:graphicFrameChg>
      </pc:sldChg>
      <pc:sldChg chg="addSp delSp modSp new mod">
        <pc:chgData name="KALAITZOGLOU Iordanis" userId="59a78b65-5149-4b7e-9a03-bcb365d691a2" providerId="ADAL" clId="{DD3CBDC3-F255-4437-BA5F-C63C0C4F1C5E}" dt="2026-09-13T08:10:14.083" v="167" actId="1037"/>
        <pc:sldMkLst>
          <pc:docMk/>
          <pc:sldMk cId="3407411289" sldId="353"/>
        </pc:sldMkLst>
        <pc:spChg chg="mod">
          <ac:chgData name="KALAITZOGLOU Iordanis" userId="59a78b65-5149-4b7e-9a03-bcb365d691a2" providerId="ADAL" clId="{DD3CBDC3-F255-4437-BA5F-C63C0C4F1C5E}" dt="2026-09-13T08:08:44.805" v="160" actId="404"/>
          <ac:spMkLst>
            <pc:docMk/>
            <pc:sldMk cId="3407411289" sldId="353"/>
            <ac:spMk id="2" creationId="{AF58B8D2-440D-E685-8E46-0C14F8E5F9F9}"/>
          </ac:spMkLst>
        </pc:spChg>
        <pc:spChg chg="del">
          <ac:chgData name="KALAITZOGLOU Iordanis" userId="59a78b65-5149-4b7e-9a03-bcb365d691a2" providerId="ADAL" clId="{DD3CBDC3-F255-4437-BA5F-C63C0C4F1C5E}" dt="2026-09-13T08:08:50.175" v="161" actId="546"/>
          <ac:spMkLst>
            <pc:docMk/>
            <pc:sldMk cId="3407411289" sldId="353"/>
            <ac:spMk id="3" creationId="{C1D367EA-0F83-0977-C69C-382B399FA9BD}"/>
          </ac:spMkLst>
        </pc:spChg>
        <pc:graphicFrameChg chg="add mod">
          <ac:chgData name="KALAITZOGLOU Iordanis" userId="59a78b65-5149-4b7e-9a03-bcb365d691a2" providerId="ADAL" clId="{DD3CBDC3-F255-4437-BA5F-C63C0C4F1C5E}" dt="2026-09-13T08:10:14.083" v="167" actId="1037"/>
          <ac:graphicFrameMkLst>
            <pc:docMk/>
            <pc:sldMk cId="3407411289" sldId="353"/>
            <ac:graphicFrameMk id="4" creationId="{224CD2CD-0CEA-FD4D-40E2-8EBDC4587ADD}"/>
          </ac:graphicFrameMkLst>
        </pc:graphicFrameChg>
      </pc:sldChg>
      <pc:sldChg chg="addSp delSp modSp new mod">
        <pc:chgData name="KALAITZOGLOU Iordanis" userId="59a78b65-5149-4b7e-9a03-bcb365d691a2" providerId="ADAL" clId="{DD3CBDC3-F255-4437-BA5F-C63C0C4F1C5E}" dt="2026-09-13T08:14:27.276" v="353" actId="1038"/>
        <pc:sldMkLst>
          <pc:docMk/>
          <pc:sldMk cId="707083010" sldId="354"/>
        </pc:sldMkLst>
        <pc:spChg chg="mod">
          <ac:chgData name="KALAITZOGLOU Iordanis" userId="59a78b65-5149-4b7e-9a03-bcb365d691a2" providerId="ADAL" clId="{DD3CBDC3-F255-4437-BA5F-C63C0C4F1C5E}" dt="2026-09-13T08:13:12.667" v="346" actId="122"/>
          <ac:spMkLst>
            <pc:docMk/>
            <pc:sldMk cId="707083010" sldId="354"/>
            <ac:spMk id="2" creationId="{16DF3A09-B7A8-193B-58E7-8FA6C300FD53}"/>
          </ac:spMkLst>
        </pc:spChg>
        <pc:spChg chg="del">
          <ac:chgData name="KALAITZOGLOU Iordanis" userId="59a78b65-5149-4b7e-9a03-bcb365d691a2" providerId="ADAL" clId="{DD3CBDC3-F255-4437-BA5F-C63C0C4F1C5E}" dt="2026-09-13T08:13:19.543" v="347" actId="546"/>
          <ac:spMkLst>
            <pc:docMk/>
            <pc:sldMk cId="707083010" sldId="354"/>
            <ac:spMk id="3" creationId="{F0CC6E92-0CBD-3B18-80D5-C28AAD302B89}"/>
          </ac:spMkLst>
        </pc:spChg>
        <pc:graphicFrameChg chg="add mod">
          <ac:chgData name="KALAITZOGLOU Iordanis" userId="59a78b65-5149-4b7e-9a03-bcb365d691a2" providerId="ADAL" clId="{DD3CBDC3-F255-4437-BA5F-C63C0C4F1C5E}" dt="2026-09-13T08:14:27.276" v="353" actId="1038"/>
          <ac:graphicFrameMkLst>
            <pc:docMk/>
            <pc:sldMk cId="707083010" sldId="354"/>
            <ac:graphicFrameMk id="4" creationId="{C581C39D-6BCF-5140-0D57-9273460063CE}"/>
          </ac:graphicFrameMkLst>
        </pc:graphicFrame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5" Type="http://schemas.openxmlformats.org/officeDocument/2006/relationships/chartUserShapes" Target="../drawings/drawing1.xml"/><Relationship Id="rId4" Type="http://schemas.openxmlformats.org/officeDocument/2006/relationships/oleObject" Target="../embeddings/oleObject1.bin"/></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r>
              <a:rPr lang="en-US"/>
              <a:t>Disney</a:t>
            </a:r>
          </a:p>
        </c:rich>
      </c:tx>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9.9775371828521434E-2"/>
          <c:y val="2.8194444444444446E-2"/>
          <c:w val="0.78026837270341198"/>
          <c:h val="0.85396653543307088"/>
        </c:manualLayout>
      </c:layout>
      <c:barChart>
        <c:barDir val="col"/>
        <c:grouping val="clustered"/>
        <c:varyColors val="0"/>
        <c:ser>
          <c:idx val="1"/>
          <c:order val="1"/>
          <c:tx>
            <c:strRef>
              <c:f>'[Worksheet in Lecture 1-Company Valuation-Introduction 2025]Disney'!$M$5</c:f>
              <c:strCache>
                <c:ptCount val="1"/>
                <c:pt idx="0">
                  <c:v>Total Volume</c:v>
                </c:pt>
              </c:strCache>
            </c:strRef>
          </c:tx>
          <c:spPr>
            <a:solidFill>
              <a:schemeClr val="accent2"/>
            </a:solidFill>
            <a:ln w="3175">
              <a:noFill/>
            </a:ln>
            <a:effectLst/>
          </c:spPr>
          <c:invertIfNegative val="0"/>
          <c:cat>
            <c:strRef>
              <c:f>'[Worksheet in Lecture 1-Company Valuation-Introduction 2025]Disney'!$K$6:$K$140</c:f>
              <c:strCache>
                <c:ptCount val="133"/>
                <c:pt idx="0">
                  <c:v>1992</c:v>
                </c:pt>
                <c:pt idx="4">
                  <c:v>1993</c:v>
                </c:pt>
                <c:pt idx="8">
                  <c:v>1994</c:v>
                </c:pt>
                <c:pt idx="12">
                  <c:v>1995</c:v>
                </c:pt>
                <c:pt idx="16">
                  <c:v>1996</c:v>
                </c:pt>
                <c:pt idx="20">
                  <c:v>1997</c:v>
                </c:pt>
                <c:pt idx="24">
                  <c:v>1998</c:v>
                </c:pt>
                <c:pt idx="28">
                  <c:v>1999</c:v>
                </c:pt>
                <c:pt idx="32">
                  <c:v>2000</c:v>
                </c:pt>
                <c:pt idx="36">
                  <c:v>2001</c:v>
                </c:pt>
                <c:pt idx="40">
                  <c:v>2002</c:v>
                </c:pt>
                <c:pt idx="44">
                  <c:v>2003</c:v>
                </c:pt>
                <c:pt idx="48">
                  <c:v>2004</c:v>
                </c:pt>
                <c:pt idx="52">
                  <c:v>2005</c:v>
                </c:pt>
                <c:pt idx="56">
                  <c:v>2006</c:v>
                </c:pt>
                <c:pt idx="60">
                  <c:v>2007</c:v>
                </c:pt>
                <c:pt idx="64">
                  <c:v>2008</c:v>
                </c:pt>
                <c:pt idx="68">
                  <c:v>2009</c:v>
                </c:pt>
                <c:pt idx="72">
                  <c:v>2010</c:v>
                </c:pt>
                <c:pt idx="76">
                  <c:v>2011</c:v>
                </c:pt>
                <c:pt idx="80">
                  <c:v>2012</c:v>
                </c:pt>
                <c:pt idx="84">
                  <c:v>2013</c:v>
                </c:pt>
                <c:pt idx="88">
                  <c:v>2014</c:v>
                </c:pt>
                <c:pt idx="92">
                  <c:v>2015</c:v>
                </c:pt>
                <c:pt idx="96">
                  <c:v>2016</c:v>
                </c:pt>
                <c:pt idx="100">
                  <c:v>2017</c:v>
                </c:pt>
                <c:pt idx="104">
                  <c:v>2018</c:v>
                </c:pt>
                <c:pt idx="108">
                  <c:v>2019</c:v>
                </c:pt>
                <c:pt idx="112">
                  <c:v>2020</c:v>
                </c:pt>
                <c:pt idx="116">
                  <c:v>2021</c:v>
                </c:pt>
                <c:pt idx="120">
                  <c:v>2022</c:v>
                </c:pt>
                <c:pt idx="124">
                  <c:v>2023</c:v>
                </c:pt>
                <c:pt idx="128">
                  <c:v>2024</c:v>
                </c:pt>
                <c:pt idx="132">
                  <c:v>2025</c:v>
                </c:pt>
              </c:strCache>
            </c:strRef>
          </c:cat>
          <c:val>
            <c:numRef>
              <c:f>'[Worksheet in Lecture 1-Company Valuation-Introduction 2025]Disney'!$M$6:$M$140</c:f>
              <c:numCache>
                <c:formatCode>#,##0</c:formatCode>
                <c:ptCount val="135"/>
                <c:pt idx="0">
                  <c:v>418878413</c:v>
                </c:pt>
                <c:pt idx="1">
                  <c:v>257979909</c:v>
                </c:pt>
                <c:pt idx="2">
                  <c:v>268893709</c:v>
                </c:pt>
                <c:pt idx="3">
                  <c:v>197316308</c:v>
                </c:pt>
                <c:pt idx="4">
                  <c:v>224735408</c:v>
                </c:pt>
                <c:pt idx="5">
                  <c:v>311870122</c:v>
                </c:pt>
                <c:pt idx="6">
                  <c:v>233054407</c:v>
                </c:pt>
                <c:pt idx="7">
                  <c:v>305575832</c:v>
                </c:pt>
                <c:pt idx="8">
                  <c:v>185300104</c:v>
                </c:pt>
                <c:pt idx="9">
                  <c:v>245401813</c:v>
                </c:pt>
                <c:pt idx="10">
                  <c:v>255859816</c:v>
                </c:pt>
                <c:pt idx="11">
                  <c:v>220619412</c:v>
                </c:pt>
                <c:pt idx="12">
                  <c:v>208928408</c:v>
                </c:pt>
                <c:pt idx="13">
                  <c:v>224184909</c:v>
                </c:pt>
                <c:pt idx="14">
                  <c:v>281091613</c:v>
                </c:pt>
                <c:pt idx="15">
                  <c:v>301623915</c:v>
                </c:pt>
                <c:pt idx="16">
                  <c:v>309250515</c:v>
                </c:pt>
                <c:pt idx="17">
                  <c:v>244692911</c:v>
                </c:pt>
                <c:pt idx="18">
                  <c:v>356612717</c:v>
                </c:pt>
                <c:pt idx="19">
                  <c:v>278217322</c:v>
                </c:pt>
                <c:pt idx="20">
                  <c:v>251404511</c:v>
                </c:pt>
                <c:pt idx="21">
                  <c:v>269136917</c:v>
                </c:pt>
                <c:pt idx="22">
                  <c:v>260772913</c:v>
                </c:pt>
                <c:pt idx="23">
                  <c:v>292122923</c:v>
                </c:pt>
                <c:pt idx="24">
                  <c:v>412101930</c:v>
                </c:pt>
                <c:pt idx="25">
                  <c:v>355431297</c:v>
                </c:pt>
                <c:pt idx="26">
                  <c:v>269693115</c:v>
                </c:pt>
                <c:pt idx="27">
                  <c:v>477405402</c:v>
                </c:pt>
                <c:pt idx="28">
                  <c:v>413158103</c:v>
                </c:pt>
                <c:pt idx="29">
                  <c:v>508096905</c:v>
                </c:pt>
                <c:pt idx="30">
                  <c:v>429460588</c:v>
                </c:pt>
                <c:pt idx="31">
                  <c:v>438341717</c:v>
                </c:pt>
                <c:pt idx="32">
                  <c:v>304934794</c:v>
                </c:pt>
                <c:pt idx="33">
                  <c:v>360250800</c:v>
                </c:pt>
                <c:pt idx="34">
                  <c:v>568192211</c:v>
                </c:pt>
                <c:pt idx="35">
                  <c:v>253587300</c:v>
                </c:pt>
                <c:pt idx="36">
                  <c:v>322729100</c:v>
                </c:pt>
                <c:pt idx="37">
                  <c:v>549637100</c:v>
                </c:pt>
                <c:pt idx="38">
                  <c:v>374713500</c:v>
                </c:pt>
                <c:pt idx="39">
                  <c:v>537394700</c:v>
                </c:pt>
                <c:pt idx="40">
                  <c:v>448373800</c:v>
                </c:pt>
                <c:pt idx="41">
                  <c:v>513762800</c:v>
                </c:pt>
                <c:pt idx="42">
                  <c:v>463682200</c:v>
                </c:pt>
                <c:pt idx="43">
                  <c:v>602828800</c:v>
                </c:pt>
                <c:pt idx="44">
                  <c:v>590522600</c:v>
                </c:pt>
                <c:pt idx="45">
                  <c:v>448755923</c:v>
                </c:pt>
                <c:pt idx="46">
                  <c:v>457471000</c:v>
                </c:pt>
                <c:pt idx="47">
                  <c:v>547582900</c:v>
                </c:pt>
                <c:pt idx="48">
                  <c:v>518064000</c:v>
                </c:pt>
                <c:pt idx="49">
                  <c:v>391258100</c:v>
                </c:pt>
                <c:pt idx="50">
                  <c:v>785723600</c:v>
                </c:pt>
                <c:pt idx="51">
                  <c:v>385562300</c:v>
                </c:pt>
                <c:pt idx="52">
                  <c:v>392286200</c:v>
                </c:pt>
                <c:pt idx="53">
                  <c:v>519536100</c:v>
                </c:pt>
                <c:pt idx="54">
                  <c:v>416764000</c:v>
                </c:pt>
                <c:pt idx="55">
                  <c:v>501534200</c:v>
                </c:pt>
                <c:pt idx="56">
                  <c:v>724198200</c:v>
                </c:pt>
                <c:pt idx="57">
                  <c:v>534665200</c:v>
                </c:pt>
                <c:pt idx="58">
                  <c:v>761036000</c:v>
                </c:pt>
                <c:pt idx="59">
                  <c:v>604824300</c:v>
                </c:pt>
                <c:pt idx="60">
                  <c:v>638120990</c:v>
                </c:pt>
                <c:pt idx="61">
                  <c:v>585108982</c:v>
                </c:pt>
                <c:pt idx="62">
                  <c:v>661162886</c:v>
                </c:pt>
                <c:pt idx="63">
                  <c:v>645750969</c:v>
                </c:pt>
                <c:pt idx="64">
                  <c:v>822940936</c:v>
                </c:pt>
                <c:pt idx="65">
                  <c:v>1194332272</c:v>
                </c:pt>
                <c:pt idx="66">
                  <c:v>811700620</c:v>
                </c:pt>
                <c:pt idx="67">
                  <c:v>918213020</c:v>
                </c:pt>
                <c:pt idx="68">
                  <c:v>913082655</c:v>
                </c:pt>
                <c:pt idx="69">
                  <c:v>716462590</c:v>
                </c:pt>
                <c:pt idx="70">
                  <c:v>1041192116</c:v>
                </c:pt>
                <c:pt idx="71">
                  <c:v>805377821</c:v>
                </c:pt>
                <c:pt idx="72">
                  <c:v>907032819</c:v>
                </c:pt>
                <c:pt idx="73">
                  <c:v>669333531</c:v>
                </c:pt>
                <c:pt idx="74">
                  <c:v>768962275</c:v>
                </c:pt>
                <c:pt idx="75">
                  <c:v>665923346</c:v>
                </c:pt>
                <c:pt idx="76">
                  <c:v>601492430</c:v>
                </c:pt>
                <c:pt idx="77">
                  <c:v>731189918</c:v>
                </c:pt>
                <c:pt idx="78">
                  <c:v>657395677</c:v>
                </c:pt>
                <c:pt idx="79">
                  <c:v>986734006</c:v>
                </c:pt>
                <c:pt idx="80">
                  <c:v>573434303</c:v>
                </c:pt>
                <c:pt idx="81">
                  <c:v>537713119</c:v>
                </c:pt>
                <c:pt idx="82">
                  <c:v>603709430</c:v>
                </c:pt>
                <c:pt idx="83">
                  <c:v>515463445</c:v>
                </c:pt>
                <c:pt idx="84">
                  <c:v>534847537</c:v>
                </c:pt>
                <c:pt idx="85">
                  <c:v>416668649</c:v>
                </c:pt>
                <c:pt idx="86">
                  <c:v>505472917</c:v>
                </c:pt>
                <c:pt idx="87">
                  <c:v>501123671</c:v>
                </c:pt>
                <c:pt idx="88">
                  <c:v>406432435</c:v>
                </c:pt>
                <c:pt idx="89">
                  <c:v>470370524</c:v>
                </c:pt>
                <c:pt idx="90">
                  <c:v>451984342</c:v>
                </c:pt>
                <c:pt idx="91">
                  <c:v>351941364</c:v>
                </c:pt>
                <c:pt idx="92">
                  <c:v>371532977</c:v>
                </c:pt>
                <c:pt idx="93">
                  <c:v>581817620</c:v>
                </c:pt>
                <c:pt idx="94">
                  <c:v>416396684</c:v>
                </c:pt>
                <c:pt idx="95">
                  <c:v>726380264</c:v>
                </c:pt>
                <c:pt idx="96">
                  <c:v>482667961</c:v>
                </c:pt>
                <c:pt idx="97">
                  <c:v>504914399</c:v>
                </c:pt>
                <c:pt idx="98">
                  <c:v>575765590</c:v>
                </c:pt>
                <c:pt idx="99">
                  <c:v>479814884</c:v>
                </c:pt>
                <c:pt idx="100">
                  <c:v>502895997</c:v>
                </c:pt>
                <c:pt idx="101" formatCode="_-* #,##0_-;\-* #,##0_-;_-* &quot;-&quot;??_-;_-@_-">
                  <c:v>456278056</c:v>
                </c:pt>
                <c:pt idx="102" formatCode="_-* #,##0_-;\-* #,##0_-;_-* &quot;-&quot;??_-;_-@_-">
                  <c:v>524998704</c:v>
                </c:pt>
                <c:pt idx="103" formatCode="_-* #,##0_-;\-* #,##0_-;_-* &quot;-&quot;??_-;_-@_-">
                  <c:v>536715952</c:v>
                </c:pt>
                <c:pt idx="104" formatCode="_-* #,##0_-;\-* #,##0_-;_-* &quot;-&quot;??_-;_-@_-">
                  <c:v>696373247</c:v>
                </c:pt>
                <c:pt idx="105" formatCode="_-* #,##0_-;\-* #,##0_-;_-* &quot;-&quot;??_-;_-@_-">
                  <c:v>494513268</c:v>
                </c:pt>
                <c:pt idx="106">
                  <c:v>502080885</c:v>
                </c:pt>
                <c:pt idx="107">
                  <c:v>348737019</c:v>
                </c:pt>
                <c:pt idx="108">
                  <c:v>68455600</c:v>
                </c:pt>
                <c:pt idx="109">
                  <c:v>851321800</c:v>
                </c:pt>
                <c:pt idx="110">
                  <c:v>566102300</c:v>
                </c:pt>
                <c:pt idx="111">
                  <c:v>540681200</c:v>
                </c:pt>
                <c:pt idx="112">
                  <c:v>570957100</c:v>
                </c:pt>
                <c:pt idx="113">
                  <c:v>1292266600</c:v>
                </c:pt>
                <c:pt idx="114">
                  <c:v>1006361900</c:v>
                </c:pt>
                <c:pt idx="115">
                  <c:v>645471400</c:v>
                </c:pt>
                <c:pt idx="116">
                  <c:v>682792400</c:v>
                </c:pt>
                <c:pt idx="117">
                  <c:v>530000000</c:v>
                </c:pt>
                <c:pt idx="118">
                  <c:v>543000000</c:v>
                </c:pt>
                <c:pt idx="119">
                  <c:v>778000000</c:v>
                </c:pt>
                <c:pt idx="120" formatCode="_-* #,##0_-;\-* #,##0_-;_-* &quot;-&quot;??_-;_-@_-">
                  <c:v>747177668</c:v>
                </c:pt>
                <c:pt idx="121" formatCode="_-* #,##0_-;\-* #,##0_-;_-* &quot;-&quot;??_-;_-@_-">
                  <c:v>838932168</c:v>
                </c:pt>
                <c:pt idx="122" formatCode="_-* #,##0_-;\-* #,##0_-;_-* &quot;-&quot;??_-;_-@_-">
                  <c:v>700265048</c:v>
                </c:pt>
                <c:pt idx="123" formatCode="_-* #,##0_-;\-* #,##0_-;_-* &quot;-&quot;??_-;_-@_-">
                  <c:v>909559141</c:v>
                </c:pt>
                <c:pt idx="124" formatCode="_-* #,##0_-;\-* #,##0_-;_-* &quot;-&quot;??_-;_-@_-">
                  <c:v>678487405</c:v>
                </c:pt>
                <c:pt idx="125" formatCode="_-* #,##0_-;\-* #,##0_-;_-* &quot;-&quot;??_-;_-@_-">
                  <c:v>774403547</c:v>
                </c:pt>
                <c:pt idx="126" formatCode="_-* #,##0_-;\-* #,##0_-;_-* &quot;-&quot;??_-;_-@_-">
                  <c:v>1017734917</c:v>
                </c:pt>
                <c:pt idx="127" formatCode="_-* #,##0_-;\-* #,##0_-;_-* &quot;-&quot;??_-;_-@_-">
                  <c:v>789767158</c:v>
                </c:pt>
                <c:pt idx="128" formatCode="_-* #,##0_-;\-* #,##0_-;_-* &quot;-&quot;??_-;_-@_-">
                  <c:v>767289454</c:v>
                </c:pt>
                <c:pt idx="129" formatCode="_-* #,##0_-;\-* #,##0_-;_-* &quot;-&quot;??_-;_-@_-">
                  <c:v>657192956</c:v>
                </c:pt>
                <c:pt idx="130" formatCode="_-* #,##0_-;\-* #,##0_-;_-* &quot;-&quot;??_-;_-@_-">
                  <c:v>679580847</c:v>
                </c:pt>
                <c:pt idx="131" formatCode="_-* #,##0_-;\-* #,##0_-;_-* &quot;-&quot;??_-;_-@_-">
                  <c:v>593293629</c:v>
                </c:pt>
                <c:pt idx="132" formatCode="_-* #,##0_-;\-* #,##0_-;_-* &quot;-&quot;??_-;_-@_-">
                  <c:v>534354003</c:v>
                </c:pt>
                <c:pt idx="133" formatCode="_-* #,##0_-;\-* #,##0_-;_-* &quot;-&quot;??_-;_-@_-">
                  <c:v>716093512</c:v>
                </c:pt>
                <c:pt idx="134" formatCode="_-* #,##0_-;\-* #,##0_-;_-* &quot;-&quot;??_-;_-@_-">
                  <c:v>342627938</c:v>
                </c:pt>
              </c:numCache>
            </c:numRef>
          </c:val>
          <c:extLst>
            <c:ext xmlns:c16="http://schemas.microsoft.com/office/drawing/2014/chart" uri="{C3380CC4-5D6E-409C-BE32-E72D297353CC}">
              <c16:uniqueId val="{00000000-B70E-4E1A-92AA-8EC3B65972BD}"/>
            </c:ext>
          </c:extLst>
        </c:ser>
        <c:dLbls>
          <c:showLegendKey val="0"/>
          <c:showVal val="0"/>
          <c:showCatName val="0"/>
          <c:showSerName val="0"/>
          <c:showPercent val="0"/>
          <c:showBubbleSize val="0"/>
        </c:dLbls>
        <c:gapWidth val="150"/>
        <c:axId val="221078000"/>
        <c:axId val="221077440"/>
      </c:barChart>
      <c:lineChart>
        <c:grouping val="standard"/>
        <c:varyColors val="0"/>
        <c:ser>
          <c:idx val="0"/>
          <c:order val="0"/>
          <c:tx>
            <c:strRef>
              <c:f>'[Worksheet in Lecture 1-Company Valuation-Introduction 2025]Disney'!$L$5</c:f>
              <c:strCache>
                <c:ptCount val="1"/>
                <c:pt idx="0">
                  <c:v>Price</c:v>
                </c:pt>
              </c:strCache>
            </c:strRef>
          </c:tx>
          <c:spPr>
            <a:ln w="28575" cap="rnd">
              <a:solidFill>
                <a:schemeClr val="accent1"/>
              </a:solidFill>
              <a:round/>
            </a:ln>
            <a:effectLst/>
          </c:spPr>
          <c:marker>
            <c:symbol val="none"/>
          </c:marker>
          <c:cat>
            <c:strRef>
              <c:f>'[Worksheet in Lecture 1-Company Valuation-Introduction 2025]Disney'!$K$6:$K$140</c:f>
              <c:strCache>
                <c:ptCount val="133"/>
                <c:pt idx="0">
                  <c:v>1992</c:v>
                </c:pt>
                <c:pt idx="4">
                  <c:v>1993</c:v>
                </c:pt>
                <c:pt idx="8">
                  <c:v>1994</c:v>
                </c:pt>
                <c:pt idx="12">
                  <c:v>1995</c:v>
                </c:pt>
                <c:pt idx="16">
                  <c:v>1996</c:v>
                </c:pt>
                <c:pt idx="20">
                  <c:v>1997</c:v>
                </c:pt>
                <c:pt idx="24">
                  <c:v>1998</c:v>
                </c:pt>
                <c:pt idx="28">
                  <c:v>1999</c:v>
                </c:pt>
                <c:pt idx="32">
                  <c:v>2000</c:v>
                </c:pt>
                <c:pt idx="36">
                  <c:v>2001</c:v>
                </c:pt>
                <c:pt idx="40">
                  <c:v>2002</c:v>
                </c:pt>
                <c:pt idx="44">
                  <c:v>2003</c:v>
                </c:pt>
                <c:pt idx="48">
                  <c:v>2004</c:v>
                </c:pt>
                <c:pt idx="52">
                  <c:v>2005</c:v>
                </c:pt>
                <c:pt idx="56">
                  <c:v>2006</c:v>
                </c:pt>
                <c:pt idx="60">
                  <c:v>2007</c:v>
                </c:pt>
                <c:pt idx="64">
                  <c:v>2008</c:v>
                </c:pt>
                <c:pt idx="68">
                  <c:v>2009</c:v>
                </c:pt>
                <c:pt idx="72">
                  <c:v>2010</c:v>
                </c:pt>
                <c:pt idx="76">
                  <c:v>2011</c:v>
                </c:pt>
                <c:pt idx="80">
                  <c:v>2012</c:v>
                </c:pt>
                <c:pt idx="84">
                  <c:v>2013</c:v>
                </c:pt>
                <c:pt idx="88">
                  <c:v>2014</c:v>
                </c:pt>
                <c:pt idx="92">
                  <c:v>2015</c:v>
                </c:pt>
                <c:pt idx="96">
                  <c:v>2016</c:v>
                </c:pt>
                <c:pt idx="100">
                  <c:v>2017</c:v>
                </c:pt>
                <c:pt idx="104">
                  <c:v>2018</c:v>
                </c:pt>
                <c:pt idx="108">
                  <c:v>2019</c:v>
                </c:pt>
                <c:pt idx="112">
                  <c:v>2020</c:v>
                </c:pt>
                <c:pt idx="116">
                  <c:v>2021</c:v>
                </c:pt>
                <c:pt idx="120">
                  <c:v>2022</c:v>
                </c:pt>
                <c:pt idx="124">
                  <c:v>2023</c:v>
                </c:pt>
                <c:pt idx="128">
                  <c:v>2024</c:v>
                </c:pt>
                <c:pt idx="132">
                  <c:v>2025</c:v>
                </c:pt>
              </c:strCache>
            </c:strRef>
          </c:cat>
          <c:val>
            <c:numRef>
              <c:f>'[Worksheet in Lecture 1-Company Valuation-Introduction 2025]Disney'!$L$6:$L$140</c:f>
              <c:numCache>
                <c:formatCode>0.00</c:formatCode>
                <c:ptCount val="135"/>
                <c:pt idx="0">
                  <c:v>12.2627333333333</c:v>
                </c:pt>
                <c:pt idx="1">
                  <c:v>13.815566666666667</c:v>
                </c:pt>
                <c:pt idx="2">
                  <c:v>12.7012</c:v>
                </c:pt>
                <c:pt idx="3">
                  <c:v>11.839866666666667</c:v>
                </c:pt>
                <c:pt idx="4">
                  <c:v>13.919466666666665</c:v>
                </c:pt>
                <c:pt idx="5">
                  <c:v>13.919499999999999</c:v>
                </c:pt>
                <c:pt idx="6">
                  <c:v>14.917700000000002</c:v>
                </c:pt>
                <c:pt idx="7">
                  <c:v>12.699466666666666</c:v>
                </c:pt>
                <c:pt idx="8">
                  <c:v>14.141333333333334</c:v>
                </c:pt>
                <c:pt idx="9">
                  <c:v>14.307699999999999</c:v>
                </c:pt>
                <c:pt idx="10">
                  <c:v>15.222733333333332</c:v>
                </c:pt>
                <c:pt idx="11">
                  <c:v>13.572899999999999</c:v>
                </c:pt>
                <c:pt idx="12">
                  <c:v>18.453033333333334</c:v>
                </c:pt>
                <c:pt idx="13">
                  <c:v>19.5899</c:v>
                </c:pt>
                <c:pt idx="14">
                  <c:v>17.496466666666667</c:v>
                </c:pt>
                <c:pt idx="15">
                  <c:v>19.104666666666667</c:v>
                </c:pt>
                <c:pt idx="16">
                  <c:v>20.588133333333332</c:v>
                </c:pt>
                <c:pt idx="17">
                  <c:v>23.236166666666666</c:v>
                </c:pt>
                <c:pt idx="18">
                  <c:v>21.475433333333331</c:v>
                </c:pt>
                <c:pt idx="19">
                  <c:v>19.506700000000002</c:v>
                </c:pt>
                <c:pt idx="20">
                  <c:v>27.0488</c:v>
                </c:pt>
                <c:pt idx="21">
                  <c:v>30.646500000000003</c:v>
                </c:pt>
                <c:pt idx="22">
                  <c:v>24.400733333333335</c:v>
                </c:pt>
                <c:pt idx="23">
                  <c:v>26.424899999999997</c:v>
                </c:pt>
                <c:pt idx="24">
                  <c:v>38.02923333333333</c:v>
                </c:pt>
                <c:pt idx="25">
                  <c:v>29.655233333333332</c:v>
                </c:pt>
                <c:pt idx="26">
                  <c:v>36.109000000000002</c:v>
                </c:pt>
                <c:pt idx="27">
                  <c:v>29.031300000000002</c:v>
                </c:pt>
                <c:pt idx="28">
                  <c:v>30.507833333333334</c:v>
                </c:pt>
                <c:pt idx="29">
                  <c:v>27.825166666666664</c:v>
                </c:pt>
                <c:pt idx="30">
                  <c:v>33.045000000000002</c:v>
                </c:pt>
                <c:pt idx="31">
                  <c:v>27.055700000000002</c:v>
                </c:pt>
                <c:pt idx="32">
                  <c:v>41.280566666666665</c:v>
                </c:pt>
                <c:pt idx="33">
                  <c:v>31.173866666666669</c:v>
                </c:pt>
                <c:pt idx="34">
                  <c:v>36.954666666666668</c:v>
                </c:pt>
                <c:pt idx="35">
                  <c:v>38.556266666666666</c:v>
                </c:pt>
                <c:pt idx="36">
                  <c:v>30.19926666666667</c:v>
                </c:pt>
                <c:pt idx="37">
                  <c:v>19.891066666666667</c:v>
                </c:pt>
                <c:pt idx="38">
                  <c:v>29.946400000000001</c:v>
                </c:pt>
                <c:pt idx="39">
                  <c:v>23.424700000000001</c:v>
                </c:pt>
                <c:pt idx="40">
                  <c:v>21.624599999999997</c:v>
                </c:pt>
                <c:pt idx="41">
                  <c:v>17.578500000000002</c:v>
                </c:pt>
                <c:pt idx="42">
                  <c:v>22.339966666666669</c:v>
                </c:pt>
                <c:pt idx="43">
                  <c:v>16.154399999999999</c:v>
                </c:pt>
                <c:pt idx="44">
                  <c:v>19.318733333333334</c:v>
                </c:pt>
                <c:pt idx="45">
                  <c:v>22.978833333333331</c:v>
                </c:pt>
                <c:pt idx="46">
                  <c:v>17.162599999999998</c:v>
                </c:pt>
                <c:pt idx="47">
                  <c:v>20.826033333333331</c:v>
                </c:pt>
                <c:pt idx="48">
                  <c:v>23.953733333333332</c:v>
                </c:pt>
                <c:pt idx="49">
                  <c:v>26.585699999999999</c:v>
                </c:pt>
                <c:pt idx="50">
                  <c:v>25.128333333333334</c:v>
                </c:pt>
                <c:pt idx="51">
                  <c:v>22.656099999999999</c:v>
                </c:pt>
                <c:pt idx="52">
                  <c:v>26.292899999999999</c:v>
                </c:pt>
                <c:pt idx="53">
                  <c:v>24.379633333333331</c:v>
                </c:pt>
                <c:pt idx="54">
                  <c:v>28.382466666666669</c:v>
                </c:pt>
                <c:pt idx="55">
                  <c:v>24.942033333333331</c:v>
                </c:pt>
                <c:pt idx="56">
                  <c:v>29.433966666666667</c:v>
                </c:pt>
                <c:pt idx="57">
                  <c:v>32.867799999999995</c:v>
                </c:pt>
                <c:pt idx="58">
                  <c:v>27.01496666666667</c:v>
                </c:pt>
                <c:pt idx="59">
                  <c:v>30.029533333333337</c:v>
                </c:pt>
                <c:pt idx="60">
                  <c:v>34.811366666666665</c:v>
                </c:pt>
                <c:pt idx="61">
                  <c:v>33.353333333333332</c:v>
                </c:pt>
                <c:pt idx="62">
                  <c:v>34.554766666666666</c:v>
                </c:pt>
                <c:pt idx="63">
                  <c:v>33.663333333333334</c:v>
                </c:pt>
                <c:pt idx="64">
                  <c:v>32.410000000000004</c:v>
                </c:pt>
                <c:pt idx="65">
                  <c:v>23.706666666666667</c:v>
                </c:pt>
                <c:pt idx="66">
                  <c:v>31.209999999999997</c:v>
                </c:pt>
                <c:pt idx="67">
                  <c:v>31.13</c:v>
                </c:pt>
                <c:pt idx="68">
                  <c:v>23.149999999999995</c:v>
                </c:pt>
                <c:pt idx="69">
                  <c:v>29.946666666666669</c:v>
                </c:pt>
                <c:pt idx="70">
                  <c:v>18.536666666666665</c:v>
                </c:pt>
                <c:pt idx="71">
                  <c:v>26.206666666666667</c:v>
                </c:pt>
                <c:pt idx="72">
                  <c:v>33.92</c:v>
                </c:pt>
                <c:pt idx="73">
                  <c:v>36.714999999999996</c:v>
                </c:pt>
                <c:pt idx="74">
                  <c:v>31.899999999999995</c:v>
                </c:pt>
                <c:pt idx="75">
                  <c:v>33.109999999999992</c:v>
                </c:pt>
                <c:pt idx="76">
                  <c:v>41.256666666666668</c:v>
                </c:pt>
                <c:pt idx="77">
                  <c:v>36.076666666666668</c:v>
                </c:pt>
                <c:pt idx="78">
                  <c:v>41.9</c:v>
                </c:pt>
                <c:pt idx="79">
                  <c:v>34.28</c:v>
                </c:pt>
                <c:pt idx="80">
                  <c:v>45.773333333333333</c:v>
                </c:pt>
                <c:pt idx="81">
                  <c:v>49.523333333333333</c:v>
                </c:pt>
                <c:pt idx="82">
                  <c:v>41.556666666666665</c:v>
                </c:pt>
                <c:pt idx="83">
                  <c:v>50.29666666666666</c:v>
                </c:pt>
                <c:pt idx="84">
                  <c:v>63.023333333333333</c:v>
                </c:pt>
                <c:pt idx="85">
                  <c:v>71.843333333333334</c:v>
                </c:pt>
                <c:pt idx="86">
                  <c:v>55.089999999999996</c:v>
                </c:pt>
                <c:pt idx="87">
                  <c:v>63.323333333333331</c:v>
                </c:pt>
                <c:pt idx="88">
                  <c:v>83.030000000000015</c:v>
                </c:pt>
                <c:pt idx="89">
                  <c:v>92.693333333333328</c:v>
                </c:pt>
                <c:pt idx="90">
                  <c:v>77.83</c:v>
                </c:pt>
                <c:pt idx="91">
                  <c:v>88.263333333333321</c:v>
                </c:pt>
                <c:pt idx="92">
                  <c:v>111.07666666666667</c:v>
                </c:pt>
                <c:pt idx="93">
                  <c:v>110.76333333333332</c:v>
                </c:pt>
                <c:pt idx="94">
                  <c:v>99.976666666666674</c:v>
                </c:pt>
                <c:pt idx="95">
                  <c:v>108.02666666666666</c:v>
                </c:pt>
                <c:pt idx="96">
                  <c:v>100.10000000000001</c:v>
                </c:pt>
                <c:pt idx="97">
                  <c:v>98.676666666666662</c:v>
                </c:pt>
                <c:pt idx="98">
                  <c:v>96.883333333333326</c:v>
                </c:pt>
                <c:pt idx="99">
                  <c:v>94.423333333333332</c:v>
                </c:pt>
                <c:pt idx="100">
                  <c:v>108.06</c:v>
                </c:pt>
                <c:pt idx="101" formatCode="General">
                  <c:v>113.39</c:v>
                </c:pt>
                <c:pt idx="102" formatCode="General">
                  <c:v>106.25</c:v>
                </c:pt>
                <c:pt idx="103" formatCode="General">
                  <c:v>98.57</c:v>
                </c:pt>
                <c:pt idx="104" formatCode="General">
                  <c:v>107.51</c:v>
                </c:pt>
                <c:pt idx="105" formatCode="General">
                  <c:v>100.44</c:v>
                </c:pt>
                <c:pt idx="106" formatCode="_-* #,##0_-;\-* #,##0_-;_-* &quot;-&quot;??_-;_-@_-">
                  <c:v>104.81</c:v>
                </c:pt>
                <c:pt idx="107" formatCode="_-* #,##0_-;\-* #,##0_-;_-* &quot;-&quot;??_-;_-@_-">
                  <c:v>116.94</c:v>
                </c:pt>
                <c:pt idx="108" formatCode="_-* #,##0_-;\-* #,##0_-;_-* &quot;-&quot;??_-;_-@_-">
                  <c:v>109.65</c:v>
                </c:pt>
                <c:pt idx="109" formatCode="_-* #,##0_-;\-* #,##0_-;_-* &quot;-&quot;??_-;_-@_-">
                  <c:v>111.589996</c:v>
                </c:pt>
                <c:pt idx="110" formatCode="_-* #,##0_-;\-* #,##0_-;_-* &quot;-&quot;??_-;_-@_-">
                  <c:v>140.449997</c:v>
                </c:pt>
                <c:pt idx="111" formatCode="_-* #,##0_-;\-* #,##0_-;_-* &quot;-&quot;??_-;_-@_-">
                  <c:v>130.800003</c:v>
                </c:pt>
                <c:pt idx="112" formatCode="_-* #,##0_-;\-* #,##0_-;_-* &quot;-&quot;??_-;_-@_-">
                  <c:v>145.28999300000001</c:v>
                </c:pt>
                <c:pt idx="113" formatCode="0">
                  <c:v>93.5</c:v>
                </c:pt>
                <c:pt idx="114" formatCode="0">
                  <c:v>112.82</c:v>
                </c:pt>
                <c:pt idx="115" formatCode="0">
                  <c:v>124.94000200000001</c:v>
                </c:pt>
                <c:pt idx="116" formatCode="0">
                  <c:v>193.23</c:v>
                </c:pt>
                <c:pt idx="117">
                  <c:v>180.18</c:v>
                </c:pt>
                <c:pt idx="118">
                  <c:v>181.96</c:v>
                </c:pt>
                <c:pt idx="119">
                  <c:v>146.69999999999999</c:v>
                </c:pt>
                <c:pt idx="120" formatCode="General">
                  <c:v>147.86000000000001</c:v>
                </c:pt>
                <c:pt idx="121" formatCode="General">
                  <c:v>112.01</c:v>
                </c:pt>
                <c:pt idx="122" formatCode="General">
                  <c:v>113.05</c:v>
                </c:pt>
                <c:pt idx="123" formatCode="General">
                  <c:v>98.24</c:v>
                </c:pt>
                <c:pt idx="124" formatCode="General">
                  <c:v>101.61</c:v>
                </c:pt>
                <c:pt idx="125" formatCode="General">
                  <c:v>92.78</c:v>
                </c:pt>
                <c:pt idx="126" formatCode="General">
                  <c:v>82.105000000000004</c:v>
                </c:pt>
                <c:pt idx="127" formatCode="General">
                  <c:v>92.74</c:v>
                </c:pt>
                <c:pt idx="128" formatCode="General">
                  <c:v>113.61</c:v>
                </c:pt>
                <c:pt idx="129" formatCode="General">
                  <c:v>104.17</c:v>
                </c:pt>
                <c:pt idx="130" formatCode="General">
                  <c:v>89.665000000000006</c:v>
                </c:pt>
                <c:pt idx="131" formatCode="General">
                  <c:v>117.78</c:v>
                </c:pt>
                <c:pt idx="132" formatCode="General">
                  <c:v>114.07</c:v>
                </c:pt>
                <c:pt idx="133" formatCode="General">
                  <c:v>113.855</c:v>
                </c:pt>
                <c:pt idx="134" formatCode="General">
                  <c:v>117.83</c:v>
                </c:pt>
              </c:numCache>
            </c:numRef>
          </c:val>
          <c:smooth val="0"/>
          <c:extLst>
            <c:ext xmlns:c16="http://schemas.microsoft.com/office/drawing/2014/chart" uri="{C3380CC4-5D6E-409C-BE32-E72D297353CC}">
              <c16:uniqueId val="{00000001-B70E-4E1A-92AA-8EC3B65972BD}"/>
            </c:ext>
          </c:extLst>
        </c:ser>
        <c:dLbls>
          <c:showLegendKey val="0"/>
          <c:showVal val="0"/>
          <c:showCatName val="0"/>
          <c:showSerName val="0"/>
          <c:showPercent val="0"/>
          <c:showBubbleSize val="0"/>
        </c:dLbls>
        <c:marker val="1"/>
        <c:smooth val="0"/>
        <c:axId val="221076320"/>
        <c:axId val="221076880"/>
      </c:lineChart>
      <c:catAx>
        <c:axId val="22107632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21076880"/>
        <c:crosses val="autoZero"/>
        <c:auto val="1"/>
        <c:lblAlgn val="ctr"/>
        <c:lblOffset val="100"/>
        <c:noMultiLvlLbl val="0"/>
      </c:catAx>
      <c:valAx>
        <c:axId val="221076880"/>
        <c:scaling>
          <c:orientation val="minMax"/>
        </c:scaling>
        <c:delete val="0"/>
        <c:axPos val="l"/>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Price</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21076320"/>
        <c:crosses val="autoZero"/>
        <c:crossBetween val="between"/>
      </c:valAx>
      <c:valAx>
        <c:axId val="221077440"/>
        <c:scaling>
          <c:orientation val="minMax"/>
        </c:scaling>
        <c:delete val="0"/>
        <c:axPos val="r"/>
        <c:title>
          <c:tx>
            <c:rich>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r>
                  <a:rPr lang="en-US"/>
                  <a:t>Total Volume</a:t>
                </a:r>
              </a:p>
            </c:rich>
          </c:tx>
          <c:overlay val="0"/>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title>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221078000"/>
        <c:crosses val="max"/>
        <c:crossBetween val="between"/>
        <c:dispUnits>
          <c:builtInUnit val="billions"/>
          <c:dispUnitsLbl>
            <c:spPr>
              <a:noFill/>
              <a:ln>
                <a:noFill/>
              </a:ln>
              <a:effectLst/>
            </c:spPr>
            <c:txPr>
              <a:bodyPr rot="-54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dispUnitsLbl>
        </c:dispUnits>
      </c:valAx>
      <c:catAx>
        <c:axId val="221078000"/>
        <c:scaling>
          <c:orientation val="minMax"/>
        </c:scaling>
        <c:delete val="1"/>
        <c:axPos val="b"/>
        <c:numFmt formatCode="General" sourceLinked="1"/>
        <c:majorTickMark val="out"/>
        <c:minorTickMark val="none"/>
        <c:tickLblPos val="nextTo"/>
        <c:crossAx val="221077440"/>
        <c:crosses val="autoZero"/>
        <c:auto val="1"/>
        <c:lblAlgn val="ctr"/>
        <c:lblOffset val="100"/>
        <c:noMultiLvlLbl val="0"/>
      </c:catAx>
      <c:spPr>
        <a:noFill/>
        <a:ln>
          <a:noFill/>
        </a:ln>
        <a:effectLst/>
      </c:spPr>
    </c:plotArea>
    <c:legend>
      <c:legendPos val="b"/>
      <c:layout>
        <c:manualLayout>
          <c:xMode val="edge"/>
          <c:yMode val="edge"/>
          <c:x val="0.11109383202099739"/>
          <c:y val="2.8355934674832307E-2"/>
          <c:w val="0.25281233595800523"/>
          <c:h val="0.12442184310294549"/>
        </c:manualLayout>
      </c:layout>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sz="1600"/>
      </a:pPr>
      <a:endParaRPr lang="en-US"/>
    </a:p>
  </c:txPr>
  <c:externalData r:id="rId4">
    <c:autoUpdate val="0"/>
  </c:externalData>
  <c:userShapes r:id="rId5"/>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_rels/data10.xml.rels><?xml version="1.0" encoding="UTF-8" standalone="yes"?>
<Relationships xmlns="http://schemas.openxmlformats.org/package/2006/relationships"><Relationship Id="rId2" Type="http://schemas.openxmlformats.org/officeDocument/2006/relationships/hyperlink" Target="http://www.businessinsider.com/warren-buffett-quotes-2012-8?op=1" TargetMode="External"/><Relationship Id="rId1" Type="http://schemas.openxmlformats.org/officeDocument/2006/relationships/hyperlink" Target="http://www.investopedia.com/articles/01/071801.asp" TargetMode="External"/></Relationships>
</file>

<file path=ppt/diagrams/_rels/drawing10.xml.rels><?xml version="1.0" encoding="UTF-8" standalone="yes"?>
<Relationships xmlns="http://schemas.openxmlformats.org/package/2006/relationships"><Relationship Id="rId2" Type="http://schemas.openxmlformats.org/officeDocument/2006/relationships/hyperlink" Target="http://www.businessinsider.com/warren-buffett-quotes-2012-8?op=1" TargetMode="External"/><Relationship Id="rId1" Type="http://schemas.openxmlformats.org/officeDocument/2006/relationships/hyperlink" Target="http://www.investopedia.com/articles/01/071801.asp" TargetMode="External"/></Relationships>
</file>

<file path=ppt/diagrams/colors1.xml><?xml version="1.0" encoding="utf-8"?>
<dgm:colorsDef xmlns:dgm="http://schemas.openxmlformats.org/drawingml/2006/diagram" xmlns:a="http://schemas.openxmlformats.org/drawingml/2006/main" uniqueId="urn:microsoft.com/office/officeart/2005/8/colors/accent2_2#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1">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2">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3">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1#6">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E7D3A2-8610-4F0C-9062-72F81E3403AB}" type="doc">
      <dgm:prSet loTypeId="urn:microsoft.com/office/officeart/2005/8/layout/default" loCatId="list" qsTypeId="urn:microsoft.com/office/officeart/2005/8/quickstyle/3d2#1" qsCatId="3D" csTypeId="urn:microsoft.com/office/officeart/2005/8/colors/accent2_2#1" csCatId="accent2" phldr="1"/>
      <dgm:spPr/>
      <dgm:t>
        <a:bodyPr/>
        <a:lstStyle/>
        <a:p>
          <a:endParaRPr lang="en-GB"/>
        </a:p>
      </dgm:t>
    </dgm:pt>
    <dgm:pt modelId="{2CACA8BF-D1BF-4D6B-A452-DB42A0FB73F8}">
      <dgm:prSet phldrT="[Text]"/>
      <dgm:spPr/>
      <dgm:t>
        <a:bodyPr/>
        <a:lstStyle/>
        <a:p>
          <a:r>
            <a:rPr lang="en-GB" dirty="0"/>
            <a:t>Fixed Assets</a:t>
          </a:r>
        </a:p>
      </dgm:t>
    </dgm:pt>
    <dgm:pt modelId="{4AD44905-4A5C-40FB-899A-EA5B27F0D7D6}" type="parTrans" cxnId="{CF4C18FB-52F0-4B15-9804-421D224CEDCB}">
      <dgm:prSet/>
      <dgm:spPr/>
      <dgm:t>
        <a:bodyPr/>
        <a:lstStyle/>
        <a:p>
          <a:endParaRPr lang="en-GB"/>
        </a:p>
      </dgm:t>
    </dgm:pt>
    <dgm:pt modelId="{92E152E6-EF33-4DB3-8B7B-62B0ADDBEE03}" type="sibTrans" cxnId="{CF4C18FB-52F0-4B15-9804-421D224CEDCB}">
      <dgm:prSet/>
      <dgm:spPr/>
      <dgm:t>
        <a:bodyPr/>
        <a:lstStyle/>
        <a:p>
          <a:endParaRPr lang="en-GB"/>
        </a:p>
      </dgm:t>
    </dgm:pt>
    <dgm:pt modelId="{2AE73030-A468-4C46-893D-C58ABDD0C591}">
      <dgm:prSet phldrT="[Text]"/>
      <dgm:spPr/>
      <dgm:t>
        <a:bodyPr/>
        <a:lstStyle/>
        <a:p>
          <a:r>
            <a:rPr lang="en-GB" dirty="0"/>
            <a:t>Equity</a:t>
          </a:r>
        </a:p>
      </dgm:t>
    </dgm:pt>
    <dgm:pt modelId="{49DBC055-2A9F-4EBC-B202-4464EDD58C43}" type="parTrans" cxnId="{B4BA9A80-F6A8-42A6-8F5B-FE68BBD80F43}">
      <dgm:prSet/>
      <dgm:spPr/>
      <dgm:t>
        <a:bodyPr/>
        <a:lstStyle/>
        <a:p>
          <a:endParaRPr lang="en-GB"/>
        </a:p>
      </dgm:t>
    </dgm:pt>
    <dgm:pt modelId="{CF434B31-A307-46B7-A5DB-BD0434C99EE0}" type="sibTrans" cxnId="{B4BA9A80-F6A8-42A6-8F5B-FE68BBD80F43}">
      <dgm:prSet/>
      <dgm:spPr/>
      <dgm:t>
        <a:bodyPr/>
        <a:lstStyle/>
        <a:p>
          <a:endParaRPr lang="en-GB"/>
        </a:p>
      </dgm:t>
    </dgm:pt>
    <dgm:pt modelId="{1CB66B6D-6919-45B4-B664-F2CBD5B420B2}">
      <dgm:prSet phldrT="[Text]"/>
      <dgm:spPr/>
      <dgm:t>
        <a:bodyPr/>
        <a:lstStyle/>
        <a:p>
          <a:r>
            <a:rPr lang="en-GB" dirty="0"/>
            <a:t>Current Assets</a:t>
          </a:r>
        </a:p>
      </dgm:t>
    </dgm:pt>
    <dgm:pt modelId="{E1ED1B3E-F71C-4459-9DB5-6FEC32315097}" type="parTrans" cxnId="{FAEBD4A0-807C-4F84-8098-E3D1F825A32E}">
      <dgm:prSet/>
      <dgm:spPr/>
      <dgm:t>
        <a:bodyPr/>
        <a:lstStyle/>
        <a:p>
          <a:endParaRPr lang="en-GB"/>
        </a:p>
      </dgm:t>
    </dgm:pt>
    <dgm:pt modelId="{8558E508-E435-4AF1-BD01-05596BA089AE}" type="sibTrans" cxnId="{FAEBD4A0-807C-4F84-8098-E3D1F825A32E}">
      <dgm:prSet/>
      <dgm:spPr/>
      <dgm:t>
        <a:bodyPr/>
        <a:lstStyle/>
        <a:p>
          <a:endParaRPr lang="en-GB"/>
        </a:p>
      </dgm:t>
    </dgm:pt>
    <dgm:pt modelId="{66293661-6DB3-4DDD-8068-63FDD9EC286E}">
      <dgm:prSet phldrT="[Text]"/>
      <dgm:spPr/>
      <dgm:t>
        <a:bodyPr/>
        <a:lstStyle/>
        <a:p>
          <a:r>
            <a:rPr lang="en-GB" dirty="0"/>
            <a:t>Debt</a:t>
          </a:r>
        </a:p>
      </dgm:t>
    </dgm:pt>
    <dgm:pt modelId="{C82BCA4C-08C8-4216-89BD-72BD492F51A7}" type="parTrans" cxnId="{8D53D67D-741A-4D8E-822A-4D0D0A4351A7}">
      <dgm:prSet/>
      <dgm:spPr/>
      <dgm:t>
        <a:bodyPr/>
        <a:lstStyle/>
        <a:p>
          <a:endParaRPr lang="en-GB"/>
        </a:p>
      </dgm:t>
    </dgm:pt>
    <dgm:pt modelId="{1CFF82DA-898C-4C6C-BAE7-42011951FB1F}" type="sibTrans" cxnId="{8D53D67D-741A-4D8E-822A-4D0D0A4351A7}">
      <dgm:prSet/>
      <dgm:spPr/>
      <dgm:t>
        <a:bodyPr/>
        <a:lstStyle/>
        <a:p>
          <a:endParaRPr lang="en-GB"/>
        </a:p>
      </dgm:t>
    </dgm:pt>
    <dgm:pt modelId="{98155B26-E0A5-40C1-B389-0C673BCC1D13}" type="pres">
      <dgm:prSet presAssocID="{96E7D3A2-8610-4F0C-9062-72F81E3403AB}" presName="diagram" presStyleCnt="0">
        <dgm:presLayoutVars>
          <dgm:dir/>
          <dgm:resizeHandles val="exact"/>
        </dgm:presLayoutVars>
      </dgm:prSet>
      <dgm:spPr/>
    </dgm:pt>
    <dgm:pt modelId="{84B05EB8-2684-4701-B9E8-C57D008FC842}" type="pres">
      <dgm:prSet presAssocID="{2CACA8BF-D1BF-4D6B-A452-DB42A0FB73F8}" presName="node" presStyleLbl="node1" presStyleIdx="0" presStyleCnt="4">
        <dgm:presLayoutVars>
          <dgm:bulletEnabled val="1"/>
        </dgm:presLayoutVars>
      </dgm:prSet>
      <dgm:spPr/>
    </dgm:pt>
    <dgm:pt modelId="{D2C9EB98-7553-4CE6-A15F-8C1054001EB3}" type="pres">
      <dgm:prSet presAssocID="{92E152E6-EF33-4DB3-8B7B-62B0ADDBEE03}" presName="sibTrans" presStyleCnt="0"/>
      <dgm:spPr/>
    </dgm:pt>
    <dgm:pt modelId="{4DAE63BD-5160-4867-9496-89745FD3AA54}" type="pres">
      <dgm:prSet presAssocID="{2AE73030-A468-4C46-893D-C58ABDD0C591}" presName="node" presStyleLbl="node1" presStyleIdx="1" presStyleCnt="4">
        <dgm:presLayoutVars>
          <dgm:bulletEnabled val="1"/>
        </dgm:presLayoutVars>
      </dgm:prSet>
      <dgm:spPr/>
    </dgm:pt>
    <dgm:pt modelId="{45A093EB-D105-49D5-889E-8D71D2E2C6FB}" type="pres">
      <dgm:prSet presAssocID="{CF434B31-A307-46B7-A5DB-BD0434C99EE0}" presName="sibTrans" presStyleCnt="0"/>
      <dgm:spPr/>
    </dgm:pt>
    <dgm:pt modelId="{FB107DA2-99F7-4CCF-88C1-E7B1B0DBEAEE}" type="pres">
      <dgm:prSet presAssocID="{1CB66B6D-6919-45B4-B664-F2CBD5B420B2}" presName="node" presStyleLbl="node1" presStyleIdx="2" presStyleCnt="4">
        <dgm:presLayoutVars>
          <dgm:bulletEnabled val="1"/>
        </dgm:presLayoutVars>
      </dgm:prSet>
      <dgm:spPr/>
    </dgm:pt>
    <dgm:pt modelId="{0C281D7E-2BC4-4394-9906-C3E2E7DBF62D}" type="pres">
      <dgm:prSet presAssocID="{8558E508-E435-4AF1-BD01-05596BA089AE}" presName="sibTrans" presStyleCnt="0"/>
      <dgm:spPr/>
    </dgm:pt>
    <dgm:pt modelId="{FC54FB1A-A79B-4CEC-ACD2-D4124CF3F111}" type="pres">
      <dgm:prSet presAssocID="{66293661-6DB3-4DDD-8068-63FDD9EC286E}" presName="node" presStyleLbl="node1" presStyleIdx="3" presStyleCnt="4">
        <dgm:presLayoutVars>
          <dgm:bulletEnabled val="1"/>
        </dgm:presLayoutVars>
      </dgm:prSet>
      <dgm:spPr/>
    </dgm:pt>
  </dgm:ptLst>
  <dgm:cxnLst>
    <dgm:cxn modelId="{679FD76F-4BC9-4840-A271-D294D6AD063E}" type="presOf" srcId="{66293661-6DB3-4DDD-8068-63FDD9EC286E}" destId="{FC54FB1A-A79B-4CEC-ACD2-D4124CF3F111}" srcOrd="0" destOrd="0" presId="urn:microsoft.com/office/officeart/2005/8/layout/default"/>
    <dgm:cxn modelId="{AB28EB78-AAE0-4BC7-88C0-6E0F7A1FA97C}" type="presOf" srcId="{1CB66B6D-6919-45B4-B664-F2CBD5B420B2}" destId="{FB107DA2-99F7-4CCF-88C1-E7B1B0DBEAEE}" srcOrd="0" destOrd="0" presId="urn:microsoft.com/office/officeart/2005/8/layout/default"/>
    <dgm:cxn modelId="{8D53D67D-741A-4D8E-822A-4D0D0A4351A7}" srcId="{96E7D3A2-8610-4F0C-9062-72F81E3403AB}" destId="{66293661-6DB3-4DDD-8068-63FDD9EC286E}" srcOrd="3" destOrd="0" parTransId="{C82BCA4C-08C8-4216-89BD-72BD492F51A7}" sibTransId="{1CFF82DA-898C-4C6C-BAE7-42011951FB1F}"/>
    <dgm:cxn modelId="{814E2D7F-16B2-4835-8766-A3C889F7D423}" type="presOf" srcId="{2AE73030-A468-4C46-893D-C58ABDD0C591}" destId="{4DAE63BD-5160-4867-9496-89745FD3AA54}" srcOrd="0" destOrd="0" presId="urn:microsoft.com/office/officeart/2005/8/layout/default"/>
    <dgm:cxn modelId="{B4BA9A80-F6A8-42A6-8F5B-FE68BBD80F43}" srcId="{96E7D3A2-8610-4F0C-9062-72F81E3403AB}" destId="{2AE73030-A468-4C46-893D-C58ABDD0C591}" srcOrd="1" destOrd="0" parTransId="{49DBC055-2A9F-4EBC-B202-4464EDD58C43}" sibTransId="{CF434B31-A307-46B7-A5DB-BD0434C99EE0}"/>
    <dgm:cxn modelId="{1E383286-0E67-4488-97BD-A09A965828AA}" type="presOf" srcId="{2CACA8BF-D1BF-4D6B-A452-DB42A0FB73F8}" destId="{84B05EB8-2684-4701-B9E8-C57D008FC842}" srcOrd="0" destOrd="0" presId="urn:microsoft.com/office/officeart/2005/8/layout/default"/>
    <dgm:cxn modelId="{FAEBD4A0-807C-4F84-8098-E3D1F825A32E}" srcId="{96E7D3A2-8610-4F0C-9062-72F81E3403AB}" destId="{1CB66B6D-6919-45B4-B664-F2CBD5B420B2}" srcOrd="2" destOrd="0" parTransId="{E1ED1B3E-F71C-4459-9DB5-6FEC32315097}" sibTransId="{8558E508-E435-4AF1-BD01-05596BA089AE}"/>
    <dgm:cxn modelId="{42E8DADC-9866-467C-AE66-DF951C493745}" type="presOf" srcId="{96E7D3A2-8610-4F0C-9062-72F81E3403AB}" destId="{98155B26-E0A5-40C1-B389-0C673BCC1D13}" srcOrd="0" destOrd="0" presId="urn:microsoft.com/office/officeart/2005/8/layout/default"/>
    <dgm:cxn modelId="{CF4C18FB-52F0-4B15-9804-421D224CEDCB}" srcId="{96E7D3A2-8610-4F0C-9062-72F81E3403AB}" destId="{2CACA8BF-D1BF-4D6B-A452-DB42A0FB73F8}" srcOrd="0" destOrd="0" parTransId="{4AD44905-4A5C-40FB-899A-EA5B27F0D7D6}" sibTransId="{92E152E6-EF33-4DB3-8B7B-62B0ADDBEE03}"/>
    <dgm:cxn modelId="{2254313C-5CA3-4BAC-A990-F80273B95185}" type="presParOf" srcId="{98155B26-E0A5-40C1-B389-0C673BCC1D13}" destId="{84B05EB8-2684-4701-B9E8-C57D008FC842}" srcOrd="0" destOrd="0" presId="urn:microsoft.com/office/officeart/2005/8/layout/default"/>
    <dgm:cxn modelId="{4E2161F0-9B82-4869-847C-F8459A6C16E6}" type="presParOf" srcId="{98155B26-E0A5-40C1-B389-0C673BCC1D13}" destId="{D2C9EB98-7553-4CE6-A15F-8C1054001EB3}" srcOrd="1" destOrd="0" presId="urn:microsoft.com/office/officeart/2005/8/layout/default"/>
    <dgm:cxn modelId="{528FBDC8-D910-441F-9DB4-253FB81D53CB}" type="presParOf" srcId="{98155B26-E0A5-40C1-B389-0C673BCC1D13}" destId="{4DAE63BD-5160-4867-9496-89745FD3AA54}" srcOrd="2" destOrd="0" presId="urn:microsoft.com/office/officeart/2005/8/layout/default"/>
    <dgm:cxn modelId="{42E90C5D-A2AF-4969-9FC5-FF2548B7F4A1}" type="presParOf" srcId="{98155B26-E0A5-40C1-B389-0C673BCC1D13}" destId="{45A093EB-D105-49D5-889E-8D71D2E2C6FB}" srcOrd="3" destOrd="0" presId="urn:microsoft.com/office/officeart/2005/8/layout/default"/>
    <dgm:cxn modelId="{CCE26C7E-02B4-42BB-BB51-93173A89B7AD}" type="presParOf" srcId="{98155B26-E0A5-40C1-B389-0C673BCC1D13}" destId="{FB107DA2-99F7-4CCF-88C1-E7B1B0DBEAEE}" srcOrd="4" destOrd="0" presId="urn:microsoft.com/office/officeart/2005/8/layout/default"/>
    <dgm:cxn modelId="{8834F8C5-F49E-430E-AC47-745E79A64028}" type="presParOf" srcId="{98155B26-E0A5-40C1-B389-0C673BCC1D13}" destId="{0C281D7E-2BC4-4394-9906-C3E2E7DBF62D}" srcOrd="5" destOrd="0" presId="urn:microsoft.com/office/officeart/2005/8/layout/default"/>
    <dgm:cxn modelId="{CF5F1723-CAA0-46BB-ACB6-B26D93CFEBFC}" type="presParOf" srcId="{98155B26-E0A5-40C1-B389-0C673BCC1D13}" destId="{FC54FB1A-A79B-4CEC-ACD2-D4124CF3F111}"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3E4A4C-93E0-49E0-BCAC-61699D0BE662}" type="doc">
      <dgm:prSet loTypeId="urn:microsoft.com/office/officeart/2024/layout/BulletTimeline" loCatId="process" qsTypeId="urn:microsoft.com/office/officeart/2005/8/quickstyle/simple1#1" qsCatId="simple" csTypeId="urn:microsoft.com/office/officeart/2005/8/colors/accent1_2#1" csCatId="accent1" phldr="1"/>
      <dgm:spPr/>
      <dgm:t>
        <a:bodyPr/>
        <a:lstStyle/>
        <a:p>
          <a:endParaRPr lang="en-GB"/>
        </a:p>
      </dgm:t>
    </dgm:pt>
    <dgm:pt modelId="{BCB38E4D-9ED5-4409-A55A-3A7601AD0956}">
      <dgm:prSet/>
      <dgm:spPr/>
      <dgm:t>
        <a:bodyPr/>
        <a:lstStyle/>
        <a:p>
          <a:pPr>
            <a:defRPr b="1"/>
          </a:pPr>
          <a:r>
            <a:rPr lang="en-GB" baseline="0" dirty="0"/>
            <a:t>How much is apple worth today?</a:t>
          </a:r>
          <a:endParaRPr lang="en-GB" dirty="0"/>
        </a:p>
      </dgm:t>
    </dgm:pt>
    <dgm:pt modelId="{00B4DBAF-167F-48B7-B036-5CD91472D1B3}" type="parTrans" cxnId="{CE3805CE-40F5-4BFB-BA05-D2DC3837B73E}">
      <dgm:prSet/>
      <dgm:spPr/>
      <dgm:t>
        <a:bodyPr/>
        <a:lstStyle/>
        <a:p>
          <a:endParaRPr lang="en-GB"/>
        </a:p>
      </dgm:t>
    </dgm:pt>
    <dgm:pt modelId="{DCE01954-1F31-4708-9C06-717BDA571324}" type="sibTrans" cxnId="{CE3805CE-40F5-4BFB-BA05-D2DC3837B73E}">
      <dgm:prSet/>
      <dgm:spPr/>
      <dgm:t>
        <a:bodyPr/>
        <a:lstStyle/>
        <a:p>
          <a:endParaRPr lang="en-GB"/>
        </a:p>
      </dgm:t>
    </dgm:pt>
    <dgm:pt modelId="{CDA5013E-CD4E-47BF-88A7-B2CBC5F4F3BD}">
      <dgm:prSet/>
      <dgm:spPr/>
      <dgm:t>
        <a:bodyPr/>
        <a:lstStyle/>
        <a:p>
          <a:pPr>
            <a:defRPr b="1"/>
          </a:pPr>
          <a:r>
            <a:rPr lang="en-GB" baseline="0" dirty="0"/>
            <a:t>Would you buy or sell?</a:t>
          </a:r>
          <a:endParaRPr lang="en-GB" dirty="0"/>
        </a:p>
      </dgm:t>
    </dgm:pt>
    <dgm:pt modelId="{14AFB855-3A70-4803-AB24-3DDB2D949ADE}" type="parTrans" cxnId="{03E67627-EC9E-4A17-BA35-908E3B3CAF18}">
      <dgm:prSet/>
      <dgm:spPr/>
      <dgm:t>
        <a:bodyPr/>
        <a:lstStyle/>
        <a:p>
          <a:endParaRPr lang="en-GB"/>
        </a:p>
      </dgm:t>
    </dgm:pt>
    <dgm:pt modelId="{9B675265-0685-461C-ACC0-7A92DEE3EF5B}" type="sibTrans" cxnId="{03E67627-EC9E-4A17-BA35-908E3B3CAF18}">
      <dgm:prSet/>
      <dgm:spPr/>
      <dgm:t>
        <a:bodyPr/>
        <a:lstStyle/>
        <a:p>
          <a:endParaRPr lang="en-GB"/>
        </a:p>
      </dgm:t>
    </dgm:pt>
    <dgm:pt modelId="{9B7E8381-C634-42D3-BA77-98AA5D957A70}">
      <dgm:prSet/>
      <dgm:spPr/>
      <dgm:t>
        <a:bodyPr/>
        <a:lstStyle/>
        <a:p>
          <a:pPr>
            <a:defRPr b="1"/>
          </a:pPr>
          <a:r>
            <a:rPr lang="en-GB" baseline="0" dirty="0"/>
            <a:t>How much would you be willing to pay?</a:t>
          </a:r>
          <a:endParaRPr lang="en-GB" dirty="0"/>
        </a:p>
      </dgm:t>
    </dgm:pt>
    <dgm:pt modelId="{B693A960-765B-490F-8750-58176826238A}" type="parTrans" cxnId="{1833B98C-BAE9-47C5-B3D1-63E89D39705F}">
      <dgm:prSet/>
      <dgm:spPr/>
      <dgm:t>
        <a:bodyPr/>
        <a:lstStyle/>
        <a:p>
          <a:endParaRPr lang="en-GB"/>
        </a:p>
      </dgm:t>
    </dgm:pt>
    <dgm:pt modelId="{D852022D-E08F-4AA7-91E0-013B38275414}" type="sibTrans" cxnId="{1833B98C-BAE9-47C5-B3D1-63E89D39705F}">
      <dgm:prSet/>
      <dgm:spPr/>
      <dgm:t>
        <a:bodyPr/>
        <a:lstStyle/>
        <a:p>
          <a:endParaRPr lang="en-GB"/>
        </a:p>
      </dgm:t>
    </dgm:pt>
    <dgm:pt modelId="{842BC3F3-E558-4999-8BB1-B5DC5826FDDD}">
      <dgm:prSet/>
      <dgm:spPr/>
      <dgm:t>
        <a:bodyPr/>
        <a:lstStyle/>
        <a:p>
          <a:pPr>
            <a:defRPr b="1"/>
          </a:pPr>
          <a:r>
            <a:rPr lang="en-GB" baseline="0" dirty="0"/>
            <a:t>What drives value?</a:t>
          </a:r>
          <a:endParaRPr lang="en-GB" dirty="0"/>
        </a:p>
      </dgm:t>
    </dgm:pt>
    <dgm:pt modelId="{5F42D691-C406-410F-BD0E-676D19B71FCB}" type="parTrans" cxnId="{234F9B0C-7382-435C-BBDB-D622C9CB8641}">
      <dgm:prSet/>
      <dgm:spPr/>
      <dgm:t>
        <a:bodyPr/>
        <a:lstStyle/>
        <a:p>
          <a:endParaRPr lang="en-GB"/>
        </a:p>
      </dgm:t>
    </dgm:pt>
    <dgm:pt modelId="{28248455-F660-40F4-97CE-1AD3EC03E4B4}" type="sibTrans" cxnId="{234F9B0C-7382-435C-BBDB-D622C9CB8641}">
      <dgm:prSet/>
      <dgm:spPr/>
      <dgm:t>
        <a:bodyPr/>
        <a:lstStyle/>
        <a:p>
          <a:endParaRPr lang="en-GB"/>
        </a:p>
      </dgm:t>
    </dgm:pt>
    <dgm:pt modelId="{666CAEB1-C51C-4292-B8F0-E43EA8FE8503}" type="pres">
      <dgm:prSet presAssocID="{923E4A4C-93E0-49E0-BCAC-61699D0BE662}" presName="root" presStyleCnt="0">
        <dgm:presLayoutVars>
          <dgm:dir/>
          <dgm:animLvl val="lvl"/>
        </dgm:presLayoutVars>
      </dgm:prSet>
      <dgm:spPr/>
    </dgm:pt>
    <dgm:pt modelId="{6FD848AE-1769-4B51-90B3-A8DA46F4D14F}" type="pres">
      <dgm:prSet presAssocID="{923E4A4C-93E0-49E0-BCAC-61699D0BE662}" presName="divider" presStyleCnt="0"/>
      <dgm:spPr/>
    </dgm:pt>
    <dgm:pt modelId="{10926662-D068-4E2C-A580-0A52C025DC22}" type="pres">
      <dgm:prSet presAssocID="{923E4A4C-93E0-49E0-BCAC-61699D0BE662}" presName="rectBar" presStyleLbl="dkBgShp" presStyleIdx="0" presStyleCnt="6"/>
      <dgm:spPr>
        <a:gradFill rotWithShape="0">
          <a:gsLst>
            <a:gs pos="0">
              <a:schemeClr val="accent1">
                <a:tint val="76000"/>
              </a:schemeClr>
            </a:gs>
            <a:gs pos="100000">
              <a:schemeClr val="accent1">
                <a:tint val="76000"/>
              </a:schemeClr>
            </a:gs>
          </a:gsLst>
          <a:lin ang="0" scaled="0"/>
        </a:gradFill>
        <a:ln>
          <a:noFill/>
        </a:ln>
        <a:effectLst/>
      </dgm:spPr>
    </dgm:pt>
    <dgm:pt modelId="{4D0E46E9-743F-4A8B-87FF-DF3F52EDB6C2}" type="pres">
      <dgm:prSet presAssocID="{923E4A4C-93E0-49E0-BCAC-61699D0BE662}" presName="chevronArrow" presStyleLbl="dkBgShp" presStyleIdx="1" presStyleCnt="6"/>
      <dgm:spPr>
        <a:gradFill rotWithShape="0">
          <a:gsLst>
            <a:gs pos="0">
              <a:schemeClr val="accent1">
                <a:tint val="76000"/>
              </a:schemeClr>
            </a:gs>
            <a:gs pos="100000">
              <a:schemeClr val="accent1">
                <a:tint val="76000"/>
              </a:schemeClr>
            </a:gs>
          </a:gsLst>
          <a:lin ang="0" scaled="0"/>
        </a:gradFill>
        <a:ln>
          <a:noFill/>
        </a:ln>
        <a:effectLst/>
      </dgm:spPr>
    </dgm:pt>
    <dgm:pt modelId="{C8CA0C0F-2D9D-4B67-B8C6-D12AC4DA3B51}" type="pres">
      <dgm:prSet presAssocID="{923E4A4C-93E0-49E0-BCAC-61699D0BE662}" presName="nodes" presStyleCnt="0">
        <dgm:presLayoutVars>
          <dgm:chMax/>
          <dgm:chPref/>
          <dgm:animLvl val="lvl"/>
        </dgm:presLayoutVars>
      </dgm:prSet>
      <dgm:spPr/>
    </dgm:pt>
    <dgm:pt modelId="{24B267F6-CEA1-4E42-BBDE-54E39865D03C}" type="pres">
      <dgm:prSet presAssocID="{BCB38E4D-9ED5-4409-A55A-3A7601AD0956}" presName="composite" presStyleCnt="0"/>
      <dgm:spPr/>
    </dgm:pt>
    <dgm:pt modelId="{DE1B3F67-5BB6-4E18-B37C-5CF9B0DDB816}" type="pres">
      <dgm:prSet presAssocID="{BCB38E4D-9ED5-4409-A55A-3A7601AD0956}" presName="DropPinPlaceHolder" presStyleCnt="0"/>
      <dgm:spPr/>
    </dgm:pt>
    <dgm:pt modelId="{23FB24C4-219E-4BAE-B04F-EF5A85F5D4FF}" type="pres">
      <dgm:prSet presAssocID="{BCB38E4D-9ED5-4409-A55A-3A7601AD0956}" presName="DropPin" presStyleLbl="alignNode1" presStyleIdx="0" presStyleCnt="4"/>
      <dgm:spPr/>
    </dgm:pt>
    <dgm:pt modelId="{01B432CB-68F9-43E3-B143-3A407FAAEACF}" type="pres">
      <dgm:prSet presAssocID="{BCB38E4D-9ED5-4409-A55A-3A7601AD0956}" presName="Ellipse" presStyleLbl="fgAcc1" presStyleIdx="0" presStyleCnt="4"/>
      <dgm:spPr/>
    </dgm:pt>
    <dgm:pt modelId="{9E7A7A11-90D1-4C20-8E20-ADBCA6FB689A}" type="pres">
      <dgm:prSet presAssocID="{BCB38E4D-9ED5-4409-A55A-3A7601AD0956}" presName="L2TextContainer" presStyleLbl="revTx" presStyleIdx="0" presStyleCnt="8">
        <dgm:presLayoutVars>
          <dgm:bulletEnabled val="1"/>
        </dgm:presLayoutVars>
      </dgm:prSet>
      <dgm:spPr/>
    </dgm:pt>
    <dgm:pt modelId="{1F3485FA-A121-4745-8933-BEB4B432CB29}" type="pres">
      <dgm:prSet presAssocID="{BCB38E4D-9ED5-4409-A55A-3A7601AD0956}" presName="L1TextContainer" presStyleLbl="revTx" presStyleIdx="1" presStyleCnt="8">
        <dgm:presLayoutVars>
          <dgm:chMax val="1"/>
          <dgm:chPref val="1"/>
          <dgm:bulletEnabled val="1"/>
        </dgm:presLayoutVars>
      </dgm:prSet>
      <dgm:spPr/>
    </dgm:pt>
    <dgm:pt modelId="{1935C1D9-D07C-419A-B523-CF1A7B531B1C}" type="pres">
      <dgm:prSet presAssocID="{BCB38E4D-9ED5-4409-A55A-3A7601AD0956}" presName="ConnectLine" presStyleLbl="dkBgShp" presStyleIdx="2" presStyleCnt="6"/>
      <dgm:spPr>
        <a:gradFill rotWithShape="0">
          <a:gsLst>
            <a:gs pos="0">
              <a:schemeClr val="accent1">
                <a:tint val="76000"/>
              </a:schemeClr>
            </a:gs>
            <a:gs pos="100000">
              <a:schemeClr val="accent1">
                <a:tint val="76000"/>
              </a:schemeClr>
            </a:gs>
          </a:gsLst>
          <a:lin ang="0" scaled="0"/>
        </a:gradFill>
        <a:ln>
          <a:noFill/>
        </a:ln>
        <a:effectLst/>
      </dgm:spPr>
    </dgm:pt>
    <dgm:pt modelId="{8DDA2D86-4104-4960-9111-DA7CEC3FF5A4}" type="pres">
      <dgm:prSet presAssocID="{BCB38E4D-9ED5-4409-A55A-3A7601AD0956}" presName="ConnectorPoint" presStyleCnt="0"/>
      <dgm:spPr/>
    </dgm:pt>
    <dgm:pt modelId="{937AD9B3-1D5C-41FE-BBB9-FF121EFB9BAA}" type="pres">
      <dgm:prSet presAssocID="{BCB38E4D-9ED5-4409-A55A-3A7601AD0956}" presName="Bullet" presStyleLbl="node1NoLn" presStyleIdx="0" presStyleCnt="4"/>
      <dgm:spPr/>
    </dgm:pt>
    <dgm:pt modelId="{81E3F11A-FC30-4945-BBD0-126BB0C2D7A8}" type="pres">
      <dgm:prSet presAssocID="{BCB38E4D-9ED5-4409-A55A-3A7601AD0956}" presName="EmptyPlaceHolder" presStyleCnt="0"/>
      <dgm:spPr/>
    </dgm:pt>
    <dgm:pt modelId="{2E61D249-BA9F-4246-935E-837EFA7FB000}" type="pres">
      <dgm:prSet presAssocID="{DCE01954-1F31-4708-9C06-717BDA571324}" presName="spaceBetweenRectangles" presStyleCnt="0"/>
      <dgm:spPr/>
    </dgm:pt>
    <dgm:pt modelId="{23C607DF-52E3-4AD3-B7B9-A634916F43EC}" type="pres">
      <dgm:prSet presAssocID="{CDA5013E-CD4E-47BF-88A7-B2CBC5F4F3BD}" presName="composite" presStyleCnt="0"/>
      <dgm:spPr/>
    </dgm:pt>
    <dgm:pt modelId="{F4F8A99C-6CA2-4155-A5F7-0ED6A12918DE}" type="pres">
      <dgm:prSet presAssocID="{CDA5013E-CD4E-47BF-88A7-B2CBC5F4F3BD}" presName="DropPinPlaceHolder" presStyleCnt="0"/>
      <dgm:spPr/>
    </dgm:pt>
    <dgm:pt modelId="{6D0DFDFC-E75A-49BF-A4B1-64432778A559}" type="pres">
      <dgm:prSet presAssocID="{CDA5013E-CD4E-47BF-88A7-B2CBC5F4F3BD}" presName="DropPin" presStyleLbl="alignNode1" presStyleIdx="1" presStyleCnt="4"/>
      <dgm:spPr/>
    </dgm:pt>
    <dgm:pt modelId="{376B1ED2-E036-4211-A298-1474605CB998}" type="pres">
      <dgm:prSet presAssocID="{CDA5013E-CD4E-47BF-88A7-B2CBC5F4F3BD}" presName="Ellipse" presStyleLbl="fgAcc1" presStyleIdx="1" presStyleCnt="4"/>
      <dgm:spPr/>
    </dgm:pt>
    <dgm:pt modelId="{F5837ACB-7F18-4DF5-BFEE-03B337CE24A9}" type="pres">
      <dgm:prSet presAssocID="{CDA5013E-CD4E-47BF-88A7-B2CBC5F4F3BD}" presName="L2TextContainer" presStyleLbl="revTx" presStyleIdx="2" presStyleCnt="8">
        <dgm:presLayoutVars>
          <dgm:bulletEnabled val="1"/>
        </dgm:presLayoutVars>
      </dgm:prSet>
      <dgm:spPr/>
    </dgm:pt>
    <dgm:pt modelId="{C715489F-2E53-4C5B-BB41-5DAE5CF3CFD2}" type="pres">
      <dgm:prSet presAssocID="{CDA5013E-CD4E-47BF-88A7-B2CBC5F4F3BD}" presName="L1TextContainer" presStyleLbl="revTx" presStyleIdx="3" presStyleCnt="8">
        <dgm:presLayoutVars>
          <dgm:chMax val="1"/>
          <dgm:chPref val="1"/>
          <dgm:bulletEnabled val="1"/>
        </dgm:presLayoutVars>
      </dgm:prSet>
      <dgm:spPr/>
    </dgm:pt>
    <dgm:pt modelId="{BF5C4683-DFE6-4A8A-9103-B785C036735F}" type="pres">
      <dgm:prSet presAssocID="{CDA5013E-CD4E-47BF-88A7-B2CBC5F4F3BD}" presName="ConnectLine" presStyleLbl="dkBgShp" presStyleIdx="3" presStyleCnt="6"/>
      <dgm:spPr>
        <a:gradFill rotWithShape="0">
          <a:gsLst>
            <a:gs pos="0">
              <a:schemeClr val="accent1">
                <a:tint val="76000"/>
              </a:schemeClr>
            </a:gs>
            <a:gs pos="100000">
              <a:schemeClr val="accent1">
                <a:tint val="76000"/>
              </a:schemeClr>
            </a:gs>
          </a:gsLst>
          <a:lin ang="0" scaled="0"/>
        </a:gradFill>
        <a:ln>
          <a:noFill/>
        </a:ln>
        <a:effectLst/>
      </dgm:spPr>
    </dgm:pt>
    <dgm:pt modelId="{2D58F164-0BDB-456E-93E2-446E1326E4E4}" type="pres">
      <dgm:prSet presAssocID="{CDA5013E-CD4E-47BF-88A7-B2CBC5F4F3BD}" presName="ConnectorPoint" presStyleCnt="0"/>
      <dgm:spPr/>
    </dgm:pt>
    <dgm:pt modelId="{C3B5BCE9-4E80-46A2-B133-390D73ACA735}" type="pres">
      <dgm:prSet presAssocID="{CDA5013E-CD4E-47BF-88A7-B2CBC5F4F3BD}" presName="Bullet" presStyleLbl="node1NoLn" presStyleIdx="1" presStyleCnt="4"/>
      <dgm:spPr/>
    </dgm:pt>
    <dgm:pt modelId="{187BC875-A8A1-450F-A625-82BB41D000CD}" type="pres">
      <dgm:prSet presAssocID="{CDA5013E-CD4E-47BF-88A7-B2CBC5F4F3BD}" presName="EmptyPlaceHolder" presStyleCnt="0"/>
      <dgm:spPr/>
    </dgm:pt>
    <dgm:pt modelId="{58B24346-536E-4E8E-A594-0E206AEF276C}" type="pres">
      <dgm:prSet presAssocID="{9B675265-0685-461C-ACC0-7A92DEE3EF5B}" presName="spaceBetweenRectangles" presStyleCnt="0"/>
      <dgm:spPr/>
    </dgm:pt>
    <dgm:pt modelId="{61E4C2BA-02FF-4368-99DC-9E15324A2C4B}" type="pres">
      <dgm:prSet presAssocID="{9B7E8381-C634-42D3-BA77-98AA5D957A70}" presName="composite" presStyleCnt="0"/>
      <dgm:spPr/>
    </dgm:pt>
    <dgm:pt modelId="{7F2FAD3F-539B-4127-B70A-563D96B84BDD}" type="pres">
      <dgm:prSet presAssocID="{9B7E8381-C634-42D3-BA77-98AA5D957A70}" presName="DropPinPlaceHolder" presStyleCnt="0"/>
      <dgm:spPr/>
    </dgm:pt>
    <dgm:pt modelId="{A9CA9994-1965-43B2-B475-9E0B3703B78C}" type="pres">
      <dgm:prSet presAssocID="{9B7E8381-C634-42D3-BA77-98AA5D957A70}" presName="DropPin" presStyleLbl="alignNode1" presStyleIdx="2" presStyleCnt="4"/>
      <dgm:spPr/>
    </dgm:pt>
    <dgm:pt modelId="{7FF7847F-3024-467B-A14C-76E5BAF08B91}" type="pres">
      <dgm:prSet presAssocID="{9B7E8381-C634-42D3-BA77-98AA5D957A70}" presName="Ellipse" presStyleLbl="fgAcc1" presStyleIdx="2" presStyleCnt="4"/>
      <dgm:spPr/>
    </dgm:pt>
    <dgm:pt modelId="{47E592D5-1518-4194-97C9-D67C34BD6481}" type="pres">
      <dgm:prSet presAssocID="{9B7E8381-C634-42D3-BA77-98AA5D957A70}" presName="L2TextContainer" presStyleLbl="revTx" presStyleIdx="4" presStyleCnt="8">
        <dgm:presLayoutVars>
          <dgm:bulletEnabled val="1"/>
        </dgm:presLayoutVars>
      </dgm:prSet>
      <dgm:spPr/>
    </dgm:pt>
    <dgm:pt modelId="{012563D4-0CBE-47A4-8B36-D1CDB10B572B}" type="pres">
      <dgm:prSet presAssocID="{9B7E8381-C634-42D3-BA77-98AA5D957A70}" presName="L1TextContainer" presStyleLbl="revTx" presStyleIdx="5" presStyleCnt="8">
        <dgm:presLayoutVars>
          <dgm:chMax val="1"/>
          <dgm:chPref val="1"/>
          <dgm:bulletEnabled val="1"/>
        </dgm:presLayoutVars>
      </dgm:prSet>
      <dgm:spPr/>
    </dgm:pt>
    <dgm:pt modelId="{9EFF1713-C7C6-4545-8EAF-C54AE4B209D7}" type="pres">
      <dgm:prSet presAssocID="{9B7E8381-C634-42D3-BA77-98AA5D957A70}" presName="ConnectLine" presStyleLbl="dkBgShp" presStyleIdx="4" presStyleCnt="6"/>
      <dgm:spPr>
        <a:gradFill rotWithShape="0">
          <a:gsLst>
            <a:gs pos="0">
              <a:schemeClr val="accent1">
                <a:tint val="76000"/>
              </a:schemeClr>
            </a:gs>
            <a:gs pos="100000">
              <a:schemeClr val="accent1">
                <a:tint val="76000"/>
              </a:schemeClr>
            </a:gs>
          </a:gsLst>
          <a:lin ang="0" scaled="0"/>
        </a:gradFill>
        <a:ln>
          <a:noFill/>
        </a:ln>
        <a:effectLst/>
      </dgm:spPr>
    </dgm:pt>
    <dgm:pt modelId="{F873A405-3AF4-4239-ABCF-D225D34FDAA4}" type="pres">
      <dgm:prSet presAssocID="{9B7E8381-C634-42D3-BA77-98AA5D957A70}" presName="ConnectorPoint" presStyleCnt="0"/>
      <dgm:spPr/>
    </dgm:pt>
    <dgm:pt modelId="{C71AEF30-7F42-439B-97B0-24E3967A90C2}" type="pres">
      <dgm:prSet presAssocID="{9B7E8381-C634-42D3-BA77-98AA5D957A70}" presName="Bullet" presStyleLbl="node1NoLn" presStyleIdx="2" presStyleCnt="4"/>
      <dgm:spPr/>
    </dgm:pt>
    <dgm:pt modelId="{6B386303-6ED6-4A8F-AFA1-B007E111FCFA}" type="pres">
      <dgm:prSet presAssocID="{9B7E8381-C634-42D3-BA77-98AA5D957A70}" presName="EmptyPlaceHolder" presStyleCnt="0"/>
      <dgm:spPr/>
    </dgm:pt>
    <dgm:pt modelId="{D780D27B-8BDF-4919-A0A6-1F459E466173}" type="pres">
      <dgm:prSet presAssocID="{D852022D-E08F-4AA7-91E0-013B38275414}" presName="spaceBetweenRectangles" presStyleCnt="0"/>
      <dgm:spPr/>
    </dgm:pt>
    <dgm:pt modelId="{7E7694B9-D39E-4D42-A060-37DF4361348E}" type="pres">
      <dgm:prSet presAssocID="{842BC3F3-E558-4999-8BB1-B5DC5826FDDD}" presName="composite" presStyleCnt="0"/>
      <dgm:spPr/>
    </dgm:pt>
    <dgm:pt modelId="{8DF16750-C6D9-40F7-BB6A-227F0AB55206}" type="pres">
      <dgm:prSet presAssocID="{842BC3F3-E558-4999-8BB1-B5DC5826FDDD}" presName="DropPinPlaceHolder" presStyleCnt="0"/>
      <dgm:spPr/>
    </dgm:pt>
    <dgm:pt modelId="{2F9376F0-2D7E-4E2D-B673-D5C923172701}" type="pres">
      <dgm:prSet presAssocID="{842BC3F3-E558-4999-8BB1-B5DC5826FDDD}" presName="DropPin" presStyleLbl="alignNode1" presStyleIdx="3" presStyleCnt="4"/>
      <dgm:spPr/>
    </dgm:pt>
    <dgm:pt modelId="{61D684D1-A2D1-4164-A201-97660C4F4809}" type="pres">
      <dgm:prSet presAssocID="{842BC3F3-E558-4999-8BB1-B5DC5826FDDD}" presName="Ellipse" presStyleLbl="fgAcc1" presStyleIdx="3" presStyleCnt="4"/>
      <dgm:spPr/>
    </dgm:pt>
    <dgm:pt modelId="{4566F08E-8726-4553-9F7D-5085E664934D}" type="pres">
      <dgm:prSet presAssocID="{842BC3F3-E558-4999-8BB1-B5DC5826FDDD}" presName="L2TextContainer" presStyleLbl="revTx" presStyleIdx="6" presStyleCnt="8">
        <dgm:presLayoutVars>
          <dgm:bulletEnabled val="1"/>
        </dgm:presLayoutVars>
      </dgm:prSet>
      <dgm:spPr/>
    </dgm:pt>
    <dgm:pt modelId="{8C98E0DA-CB04-4596-B088-C2F5FA84F689}" type="pres">
      <dgm:prSet presAssocID="{842BC3F3-E558-4999-8BB1-B5DC5826FDDD}" presName="L1TextContainer" presStyleLbl="revTx" presStyleIdx="7" presStyleCnt="8">
        <dgm:presLayoutVars>
          <dgm:chMax val="1"/>
          <dgm:chPref val="1"/>
          <dgm:bulletEnabled val="1"/>
        </dgm:presLayoutVars>
      </dgm:prSet>
      <dgm:spPr/>
    </dgm:pt>
    <dgm:pt modelId="{5E87CAC7-E465-4A29-A4CD-C078BC128B57}" type="pres">
      <dgm:prSet presAssocID="{842BC3F3-E558-4999-8BB1-B5DC5826FDDD}" presName="ConnectLine" presStyleLbl="dkBgShp" presStyleIdx="5" presStyleCnt="6"/>
      <dgm:spPr>
        <a:gradFill rotWithShape="0">
          <a:gsLst>
            <a:gs pos="0">
              <a:schemeClr val="accent1">
                <a:tint val="76000"/>
              </a:schemeClr>
            </a:gs>
            <a:gs pos="100000">
              <a:schemeClr val="accent1">
                <a:tint val="76000"/>
              </a:schemeClr>
            </a:gs>
          </a:gsLst>
          <a:lin ang="0" scaled="0"/>
        </a:gradFill>
        <a:ln>
          <a:noFill/>
        </a:ln>
        <a:effectLst/>
      </dgm:spPr>
    </dgm:pt>
    <dgm:pt modelId="{85863588-06A2-4B2B-8125-7484A1C70301}" type="pres">
      <dgm:prSet presAssocID="{842BC3F3-E558-4999-8BB1-B5DC5826FDDD}" presName="ConnectorPoint" presStyleCnt="0"/>
      <dgm:spPr/>
    </dgm:pt>
    <dgm:pt modelId="{F9DAFB59-4620-428F-A05E-C6974A0B35AB}" type="pres">
      <dgm:prSet presAssocID="{842BC3F3-E558-4999-8BB1-B5DC5826FDDD}" presName="Bullet" presStyleLbl="node1NoLn" presStyleIdx="3" presStyleCnt="4"/>
      <dgm:spPr/>
    </dgm:pt>
    <dgm:pt modelId="{2736EC93-9C6A-435D-8A24-BD393907A941}" type="pres">
      <dgm:prSet presAssocID="{842BC3F3-E558-4999-8BB1-B5DC5826FDDD}" presName="EmptyPlaceHolder" presStyleCnt="0"/>
      <dgm:spPr/>
    </dgm:pt>
  </dgm:ptLst>
  <dgm:cxnLst>
    <dgm:cxn modelId="{234F9B0C-7382-435C-BBDB-D622C9CB8641}" srcId="{923E4A4C-93E0-49E0-BCAC-61699D0BE662}" destId="{842BC3F3-E558-4999-8BB1-B5DC5826FDDD}" srcOrd="3" destOrd="0" parTransId="{5F42D691-C406-410F-BD0E-676D19B71FCB}" sibTransId="{28248455-F660-40F4-97CE-1AD3EC03E4B4}"/>
    <dgm:cxn modelId="{8695C40F-1A1C-4AFE-9032-24182FDFD750}" type="presOf" srcId="{842BC3F3-E558-4999-8BB1-B5DC5826FDDD}" destId="{8C98E0DA-CB04-4596-B088-C2F5FA84F689}" srcOrd="0" destOrd="0" presId="urn:microsoft.com/office/officeart/2024/layout/BulletTimeline"/>
    <dgm:cxn modelId="{A554DF1A-E226-441E-9B82-6EDA32B99BF9}" type="presOf" srcId="{CDA5013E-CD4E-47BF-88A7-B2CBC5F4F3BD}" destId="{C715489F-2E53-4C5B-BB41-5DAE5CF3CFD2}" srcOrd="0" destOrd="0" presId="urn:microsoft.com/office/officeart/2024/layout/BulletTimeline"/>
    <dgm:cxn modelId="{8FD07A20-1015-4829-9E27-83F1B241C692}" type="presOf" srcId="{923E4A4C-93E0-49E0-BCAC-61699D0BE662}" destId="{666CAEB1-C51C-4292-B8F0-E43EA8FE8503}" srcOrd="0" destOrd="0" presId="urn:microsoft.com/office/officeart/2024/layout/BulletTimeline"/>
    <dgm:cxn modelId="{03E67627-EC9E-4A17-BA35-908E3B3CAF18}" srcId="{923E4A4C-93E0-49E0-BCAC-61699D0BE662}" destId="{CDA5013E-CD4E-47BF-88A7-B2CBC5F4F3BD}" srcOrd="1" destOrd="0" parTransId="{14AFB855-3A70-4803-AB24-3DDB2D949ADE}" sibTransId="{9B675265-0685-461C-ACC0-7A92DEE3EF5B}"/>
    <dgm:cxn modelId="{1833B98C-BAE9-47C5-B3D1-63E89D39705F}" srcId="{923E4A4C-93E0-49E0-BCAC-61699D0BE662}" destId="{9B7E8381-C634-42D3-BA77-98AA5D957A70}" srcOrd="2" destOrd="0" parTransId="{B693A960-765B-490F-8750-58176826238A}" sibTransId="{D852022D-E08F-4AA7-91E0-013B38275414}"/>
    <dgm:cxn modelId="{6DB43AA1-9097-4106-94F6-DBC47D26ACAC}" type="presOf" srcId="{BCB38E4D-9ED5-4409-A55A-3A7601AD0956}" destId="{1F3485FA-A121-4745-8933-BEB4B432CB29}" srcOrd="0" destOrd="0" presId="urn:microsoft.com/office/officeart/2024/layout/BulletTimeline"/>
    <dgm:cxn modelId="{B4EE43CC-BEED-4B3B-9479-95E2BDD6A1F3}" type="presOf" srcId="{9B7E8381-C634-42D3-BA77-98AA5D957A70}" destId="{012563D4-0CBE-47A4-8B36-D1CDB10B572B}" srcOrd="0" destOrd="0" presId="urn:microsoft.com/office/officeart/2024/layout/BulletTimeline"/>
    <dgm:cxn modelId="{CE3805CE-40F5-4BFB-BA05-D2DC3837B73E}" srcId="{923E4A4C-93E0-49E0-BCAC-61699D0BE662}" destId="{BCB38E4D-9ED5-4409-A55A-3A7601AD0956}" srcOrd="0" destOrd="0" parTransId="{00B4DBAF-167F-48B7-B036-5CD91472D1B3}" sibTransId="{DCE01954-1F31-4708-9C06-717BDA571324}"/>
    <dgm:cxn modelId="{EEE9A247-4F7B-47F2-A710-C6F8108AC0C7}" type="presParOf" srcId="{666CAEB1-C51C-4292-B8F0-E43EA8FE8503}" destId="{6FD848AE-1769-4B51-90B3-A8DA46F4D14F}" srcOrd="0" destOrd="0" presId="urn:microsoft.com/office/officeart/2024/layout/BulletTimeline"/>
    <dgm:cxn modelId="{8A45E55C-1BB8-4C21-AA7F-F804C02292F5}" type="presParOf" srcId="{6FD848AE-1769-4B51-90B3-A8DA46F4D14F}" destId="{10926662-D068-4E2C-A580-0A52C025DC22}" srcOrd="0" destOrd="0" presId="urn:microsoft.com/office/officeart/2024/layout/BulletTimeline"/>
    <dgm:cxn modelId="{375C69CB-529B-4D3B-80AA-62E8C1684055}" type="presParOf" srcId="{6FD848AE-1769-4B51-90B3-A8DA46F4D14F}" destId="{4D0E46E9-743F-4A8B-87FF-DF3F52EDB6C2}" srcOrd="1" destOrd="0" presId="urn:microsoft.com/office/officeart/2024/layout/BulletTimeline"/>
    <dgm:cxn modelId="{FA93CC60-E906-4FCB-80B2-68AB34DA1B6C}" type="presParOf" srcId="{666CAEB1-C51C-4292-B8F0-E43EA8FE8503}" destId="{C8CA0C0F-2D9D-4B67-B8C6-D12AC4DA3B51}" srcOrd="1" destOrd="0" presId="urn:microsoft.com/office/officeart/2024/layout/BulletTimeline"/>
    <dgm:cxn modelId="{7F65AE52-F0FF-4AED-866E-A4521846AF0A}" type="presParOf" srcId="{C8CA0C0F-2D9D-4B67-B8C6-D12AC4DA3B51}" destId="{24B267F6-CEA1-4E42-BBDE-54E39865D03C}" srcOrd="0" destOrd="0" presId="urn:microsoft.com/office/officeart/2024/layout/BulletTimeline"/>
    <dgm:cxn modelId="{4FEF58C4-B25A-4F19-92D1-4431BB3AE310}" type="presParOf" srcId="{24B267F6-CEA1-4E42-BBDE-54E39865D03C}" destId="{DE1B3F67-5BB6-4E18-B37C-5CF9B0DDB816}" srcOrd="0" destOrd="0" presId="urn:microsoft.com/office/officeart/2024/layout/BulletTimeline"/>
    <dgm:cxn modelId="{4502BC69-9FA1-4DD0-A469-44B911D0FE67}" type="presParOf" srcId="{DE1B3F67-5BB6-4E18-B37C-5CF9B0DDB816}" destId="{23FB24C4-219E-4BAE-B04F-EF5A85F5D4FF}" srcOrd="0" destOrd="0" presId="urn:microsoft.com/office/officeart/2024/layout/BulletTimeline"/>
    <dgm:cxn modelId="{1A672A28-D55F-4E71-9C71-8EC0958F9CF9}" type="presParOf" srcId="{DE1B3F67-5BB6-4E18-B37C-5CF9B0DDB816}" destId="{01B432CB-68F9-43E3-B143-3A407FAAEACF}" srcOrd="1" destOrd="0" presId="urn:microsoft.com/office/officeart/2024/layout/BulletTimeline"/>
    <dgm:cxn modelId="{974E9450-7264-4557-B968-04ECC20EACC9}" type="presParOf" srcId="{24B267F6-CEA1-4E42-BBDE-54E39865D03C}" destId="{9E7A7A11-90D1-4C20-8E20-ADBCA6FB689A}" srcOrd="1" destOrd="0" presId="urn:microsoft.com/office/officeart/2024/layout/BulletTimeline"/>
    <dgm:cxn modelId="{0D1FCCF4-A0F5-4B62-B5AF-45F4C9516C89}" type="presParOf" srcId="{24B267F6-CEA1-4E42-BBDE-54E39865D03C}" destId="{1F3485FA-A121-4745-8933-BEB4B432CB29}" srcOrd="2" destOrd="0" presId="urn:microsoft.com/office/officeart/2024/layout/BulletTimeline"/>
    <dgm:cxn modelId="{DC2CB42C-79C1-4456-8A52-729D4EDACFC7}" type="presParOf" srcId="{24B267F6-CEA1-4E42-BBDE-54E39865D03C}" destId="{1935C1D9-D07C-419A-B523-CF1A7B531B1C}" srcOrd="3" destOrd="0" presId="urn:microsoft.com/office/officeart/2024/layout/BulletTimeline"/>
    <dgm:cxn modelId="{C02CD583-EA42-46EE-9C29-5003B2BA087B}" type="presParOf" srcId="{24B267F6-CEA1-4E42-BBDE-54E39865D03C}" destId="{8DDA2D86-4104-4960-9111-DA7CEC3FF5A4}" srcOrd="4" destOrd="0" presId="urn:microsoft.com/office/officeart/2024/layout/BulletTimeline"/>
    <dgm:cxn modelId="{D30A86D0-CDBC-4EFD-B1E5-244746A49CF3}" type="presParOf" srcId="{8DDA2D86-4104-4960-9111-DA7CEC3FF5A4}" destId="{937AD9B3-1D5C-41FE-BBB9-FF121EFB9BAA}" srcOrd="0" destOrd="0" presId="urn:microsoft.com/office/officeart/2024/layout/BulletTimeline"/>
    <dgm:cxn modelId="{417DCE30-CA9B-4A3F-8848-3C11DADF3D9D}" type="presParOf" srcId="{24B267F6-CEA1-4E42-BBDE-54E39865D03C}" destId="{81E3F11A-FC30-4945-BBD0-126BB0C2D7A8}" srcOrd="5" destOrd="0" presId="urn:microsoft.com/office/officeart/2024/layout/BulletTimeline"/>
    <dgm:cxn modelId="{BDAB57A3-D792-4DEB-BD07-7D508B93BFE1}" type="presParOf" srcId="{C8CA0C0F-2D9D-4B67-B8C6-D12AC4DA3B51}" destId="{2E61D249-BA9F-4246-935E-837EFA7FB000}" srcOrd="1" destOrd="0" presId="urn:microsoft.com/office/officeart/2024/layout/BulletTimeline"/>
    <dgm:cxn modelId="{564ABC51-E03F-4F8A-8161-A1431D162FFD}" type="presParOf" srcId="{C8CA0C0F-2D9D-4B67-B8C6-D12AC4DA3B51}" destId="{23C607DF-52E3-4AD3-B7B9-A634916F43EC}" srcOrd="2" destOrd="0" presId="urn:microsoft.com/office/officeart/2024/layout/BulletTimeline"/>
    <dgm:cxn modelId="{9D7941CA-6355-4C89-B5AB-9548F9A2A1AA}" type="presParOf" srcId="{23C607DF-52E3-4AD3-B7B9-A634916F43EC}" destId="{F4F8A99C-6CA2-4155-A5F7-0ED6A12918DE}" srcOrd="0" destOrd="0" presId="urn:microsoft.com/office/officeart/2024/layout/BulletTimeline"/>
    <dgm:cxn modelId="{09A17D81-2145-406B-83AD-76C5E512BBBA}" type="presParOf" srcId="{F4F8A99C-6CA2-4155-A5F7-0ED6A12918DE}" destId="{6D0DFDFC-E75A-49BF-A4B1-64432778A559}" srcOrd="0" destOrd="0" presId="urn:microsoft.com/office/officeart/2024/layout/BulletTimeline"/>
    <dgm:cxn modelId="{DC6FFD1C-3829-45F3-B017-BF18CD083D4D}" type="presParOf" srcId="{F4F8A99C-6CA2-4155-A5F7-0ED6A12918DE}" destId="{376B1ED2-E036-4211-A298-1474605CB998}" srcOrd="1" destOrd="0" presId="urn:microsoft.com/office/officeart/2024/layout/BulletTimeline"/>
    <dgm:cxn modelId="{FC1A5F4D-F77D-4A82-9E6E-451706A27E4F}" type="presParOf" srcId="{23C607DF-52E3-4AD3-B7B9-A634916F43EC}" destId="{F5837ACB-7F18-4DF5-BFEE-03B337CE24A9}" srcOrd="1" destOrd="0" presId="urn:microsoft.com/office/officeart/2024/layout/BulletTimeline"/>
    <dgm:cxn modelId="{A44BA499-C2EF-4066-86F1-A01C57F617E3}" type="presParOf" srcId="{23C607DF-52E3-4AD3-B7B9-A634916F43EC}" destId="{C715489F-2E53-4C5B-BB41-5DAE5CF3CFD2}" srcOrd="2" destOrd="0" presId="urn:microsoft.com/office/officeart/2024/layout/BulletTimeline"/>
    <dgm:cxn modelId="{D82F6D96-F5E5-462B-8B21-5822D11BBF48}" type="presParOf" srcId="{23C607DF-52E3-4AD3-B7B9-A634916F43EC}" destId="{BF5C4683-DFE6-4A8A-9103-B785C036735F}" srcOrd="3" destOrd="0" presId="urn:microsoft.com/office/officeart/2024/layout/BulletTimeline"/>
    <dgm:cxn modelId="{A07E5C95-5D90-4D50-8B59-0946A1436F51}" type="presParOf" srcId="{23C607DF-52E3-4AD3-B7B9-A634916F43EC}" destId="{2D58F164-0BDB-456E-93E2-446E1326E4E4}" srcOrd="4" destOrd="0" presId="urn:microsoft.com/office/officeart/2024/layout/BulletTimeline"/>
    <dgm:cxn modelId="{C9B03E5F-DFD9-4FF8-8E9D-8FF7DE5D5FA0}" type="presParOf" srcId="{2D58F164-0BDB-456E-93E2-446E1326E4E4}" destId="{C3B5BCE9-4E80-46A2-B133-390D73ACA735}" srcOrd="0" destOrd="0" presId="urn:microsoft.com/office/officeart/2024/layout/BulletTimeline"/>
    <dgm:cxn modelId="{5B0E848E-B5A1-4AB7-9717-1FFDE8D7EE03}" type="presParOf" srcId="{23C607DF-52E3-4AD3-B7B9-A634916F43EC}" destId="{187BC875-A8A1-450F-A625-82BB41D000CD}" srcOrd="5" destOrd="0" presId="urn:microsoft.com/office/officeart/2024/layout/BulletTimeline"/>
    <dgm:cxn modelId="{55EDD46E-9C50-4B28-BD95-C62A978BC1BC}" type="presParOf" srcId="{C8CA0C0F-2D9D-4B67-B8C6-D12AC4DA3B51}" destId="{58B24346-536E-4E8E-A594-0E206AEF276C}" srcOrd="3" destOrd="0" presId="urn:microsoft.com/office/officeart/2024/layout/BulletTimeline"/>
    <dgm:cxn modelId="{994F0A39-0C4D-45D7-8082-0B8355DC1AF3}" type="presParOf" srcId="{C8CA0C0F-2D9D-4B67-B8C6-D12AC4DA3B51}" destId="{61E4C2BA-02FF-4368-99DC-9E15324A2C4B}" srcOrd="4" destOrd="0" presId="urn:microsoft.com/office/officeart/2024/layout/BulletTimeline"/>
    <dgm:cxn modelId="{F498585E-6AAC-406A-8BBC-3E4CEBA239C4}" type="presParOf" srcId="{61E4C2BA-02FF-4368-99DC-9E15324A2C4B}" destId="{7F2FAD3F-539B-4127-B70A-563D96B84BDD}" srcOrd="0" destOrd="0" presId="urn:microsoft.com/office/officeart/2024/layout/BulletTimeline"/>
    <dgm:cxn modelId="{EF2F9528-9E14-4166-A3B7-78B57824C1B2}" type="presParOf" srcId="{7F2FAD3F-539B-4127-B70A-563D96B84BDD}" destId="{A9CA9994-1965-43B2-B475-9E0B3703B78C}" srcOrd="0" destOrd="0" presId="urn:microsoft.com/office/officeart/2024/layout/BulletTimeline"/>
    <dgm:cxn modelId="{650BB19F-1684-4ED5-9E82-A2D067580867}" type="presParOf" srcId="{7F2FAD3F-539B-4127-B70A-563D96B84BDD}" destId="{7FF7847F-3024-467B-A14C-76E5BAF08B91}" srcOrd="1" destOrd="0" presId="urn:microsoft.com/office/officeart/2024/layout/BulletTimeline"/>
    <dgm:cxn modelId="{FAB95507-CC27-4F22-948C-9F787A337F34}" type="presParOf" srcId="{61E4C2BA-02FF-4368-99DC-9E15324A2C4B}" destId="{47E592D5-1518-4194-97C9-D67C34BD6481}" srcOrd="1" destOrd="0" presId="urn:microsoft.com/office/officeart/2024/layout/BulletTimeline"/>
    <dgm:cxn modelId="{7E4C87F0-709E-47E6-A201-F51D58DB575B}" type="presParOf" srcId="{61E4C2BA-02FF-4368-99DC-9E15324A2C4B}" destId="{012563D4-0CBE-47A4-8B36-D1CDB10B572B}" srcOrd="2" destOrd="0" presId="urn:microsoft.com/office/officeart/2024/layout/BulletTimeline"/>
    <dgm:cxn modelId="{F71F912E-6BAC-467B-A4C7-57EB987A8918}" type="presParOf" srcId="{61E4C2BA-02FF-4368-99DC-9E15324A2C4B}" destId="{9EFF1713-C7C6-4545-8EAF-C54AE4B209D7}" srcOrd="3" destOrd="0" presId="urn:microsoft.com/office/officeart/2024/layout/BulletTimeline"/>
    <dgm:cxn modelId="{33BC0375-FDFB-4337-8060-B47B165516EB}" type="presParOf" srcId="{61E4C2BA-02FF-4368-99DC-9E15324A2C4B}" destId="{F873A405-3AF4-4239-ABCF-D225D34FDAA4}" srcOrd="4" destOrd="0" presId="urn:microsoft.com/office/officeart/2024/layout/BulletTimeline"/>
    <dgm:cxn modelId="{D84AE2A5-12D2-4C48-A572-4EF4E54BCD5E}" type="presParOf" srcId="{F873A405-3AF4-4239-ABCF-D225D34FDAA4}" destId="{C71AEF30-7F42-439B-97B0-24E3967A90C2}" srcOrd="0" destOrd="0" presId="urn:microsoft.com/office/officeart/2024/layout/BulletTimeline"/>
    <dgm:cxn modelId="{14AAE2D1-BF47-4FCB-A958-FBD46AC6ED10}" type="presParOf" srcId="{61E4C2BA-02FF-4368-99DC-9E15324A2C4B}" destId="{6B386303-6ED6-4A8F-AFA1-B007E111FCFA}" srcOrd="5" destOrd="0" presId="urn:microsoft.com/office/officeart/2024/layout/BulletTimeline"/>
    <dgm:cxn modelId="{866CCFD9-2886-44BA-BD23-339CAD7E8040}" type="presParOf" srcId="{C8CA0C0F-2D9D-4B67-B8C6-D12AC4DA3B51}" destId="{D780D27B-8BDF-4919-A0A6-1F459E466173}" srcOrd="5" destOrd="0" presId="urn:microsoft.com/office/officeart/2024/layout/BulletTimeline"/>
    <dgm:cxn modelId="{D6E59066-D506-4F8E-A62B-00A0371D37B1}" type="presParOf" srcId="{C8CA0C0F-2D9D-4B67-B8C6-D12AC4DA3B51}" destId="{7E7694B9-D39E-4D42-A060-37DF4361348E}" srcOrd="6" destOrd="0" presId="urn:microsoft.com/office/officeart/2024/layout/BulletTimeline"/>
    <dgm:cxn modelId="{5DA45D70-8133-41F2-A36B-10BA01D55D9F}" type="presParOf" srcId="{7E7694B9-D39E-4D42-A060-37DF4361348E}" destId="{8DF16750-C6D9-40F7-BB6A-227F0AB55206}" srcOrd="0" destOrd="0" presId="urn:microsoft.com/office/officeart/2024/layout/BulletTimeline"/>
    <dgm:cxn modelId="{B4039922-9AC5-41C8-B364-0654F0C9A8D4}" type="presParOf" srcId="{8DF16750-C6D9-40F7-BB6A-227F0AB55206}" destId="{2F9376F0-2D7E-4E2D-B673-D5C923172701}" srcOrd="0" destOrd="0" presId="urn:microsoft.com/office/officeart/2024/layout/BulletTimeline"/>
    <dgm:cxn modelId="{3129D71F-E15C-4614-A161-36AF74F24D2A}" type="presParOf" srcId="{8DF16750-C6D9-40F7-BB6A-227F0AB55206}" destId="{61D684D1-A2D1-4164-A201-97660C4F4809}" srcOrd="1" destOrd="0" presId="urn:microsoft.com/office/officeart/2024/layout/BulletTimeline"/>
    <dgm:cxn modelId="{996C558D-6759-49AD-B083-250017FC4256}" type="presParOf" srcId="{7E7694B9-D39E-4D42-A060-37DF4361348E}" destId="{4566F08E-8726-4553-9F7D-5085E664934D}" srcOrd="1" destOrd="0" presId="urn:microsoft.com/office/officeart/2024/layout/BulletTimeline"/>
    <dgm:cxn modelId="{8B9A86A8-6754-4E7C-8990-7C3B144E4BBA}" type="presParOf" srcId="{7E7694B9-D39E-4D42-A060-37DF4361348E}" destId="{8C98E0DA-CB04-4596-B088-C2F5FA84F689}" srcOrd="2" destOrd="0" presId="urn:microsoft.com/office/officeart/2024/layout/BulletTimeline"/>
    <dgm:cxn modelId="{1796737A-2334-492D-9FCF-17D39EADACAA}" type="presParOf" srcId="{7E7694B9-D39E-4D42-A060-37DF4361348E}" destId="{5E87CAC7-E465-4A29-A4CD-C078BC128B57}" srcOrd="3" destOrd="0" presId="urn:microsoft.com/office/officeart/2024/layout/BulletTimeline"/>
    <dgm:cxn modelId="{F32CB9DD-0ABA-4C9D-8AB3-32E3447A26E9}" type="presParOf" srcId="{7E7694B9-D39E-4D42-A060-37DF4361348E}" destId="{85863588-06A2-4B2B-8125-7484A1C70301}" srcOrd="4" destOrd="0" presId="urn:microsoft.com/office/officeart/2024/layout/BulletTimeline"/>
    <dgm:cxn modelId="{602175BA-8509-4550-AA6C-E7FF3529B0B4}" type="presParOf" srcId="{85863588-06A2-4B2B-8125-7484A1C70301}" destId="{F9DAFB59-4620-428F-A05E-C6974A0B35AB}" srcOrd="0" destOrd="0" presId="urn:microsoft.com/office/officeart/2024/layout/BulletTimeline"/>
    <dgm:cxn modelId="{570CA32B-AD33-499D-BBBE-8A6CC782BAA1}" type="presParOf" srcId="{7E7694B9-D39E-4D42-A060-37DF4361348E}" destId="{2736EC93-9C6A-435D-8A24-BD393907A941}" srcOrd="5" destOrd="0" presId="urn:microsoft.com/office/officeart/2024/layout/Bullet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2BD67A1-169F-4C74-B30F-5CF34E181265}" type="doc">
      <dgm:prSet loTypeId="urn:microsoft.com/office/officeart/2005/8/layout/hierarchy1" loCatId="hierarchy" qsTypeId="urn:microsoft.com/office/officeart/2005/8/quickstyle/simple1#2" qsCatId="simple" csTypeId="urn:microsoft.com/office/officeart/2005/8/colors/colorful2#1" csCatId="colorful" phldr="1"/>
      <dgm:spPr/>
      <dgm:t>
        <a:bodyPr/>
        <a:lstStyle/>
        <a:p>
          <a:endParaRPr lang="en-GB"/>
        </a:p>
      </dgm:t>
    </dgm:pt>
    <dgm:pt modelId="{C6D86AFC-10DF-4E4F-93CB-F35234C341AF}">
      <dgm:prSet phldrT="[Text]"/>
      <dgm:spPr/>
      <dgm:t>
        <a:bodyPr/>
        <a:lstStyle/>
        <a:p>
          <a:r>
            <a:rPr lang="en-GB" dirty="0"/>
            <a:t>Value</a:t>
          </a:r>
        </a:p>
      </dgm:t>
    </dgm:pt>
    <dgm:pt modelId="{3F51087C-3C26-4B41-90FB-EBB022656437}" type="parTrans" cxnId="{3E00CD14-A6DA-4EF3-8901-966C8A0A061C}">
      <dgm:prSet/>
      <dgm:spPr/>
      <dgm:t>
        <a:bodyPr/>
        <a:lstStyle/>
        <a:p>
          <a:endParaRPr lang="en-GB"/>
        </a:p>
      </dgm:t>
    </dgm:pt>
    <dgm:pt modelId="{62CD29AD-787C-4F17-A482-4A9DBCBBEC67}" type="sibTrans" cxnId="{3E00CD14-A6DA-4EF3-8901-966C8A0A061C}">
      <dgm:prSet/>
      <dgm:spPr/>
      <dgm:t>
        <a:bodyPr/>
        <a:lstStyle/>
        <a:p>
          <a:endParaRPr lang="en-GB"/>
        </a:p>
      </dgm:t>
    </dgm:pt>
    <dgm:pt modelId="{40A21EE9-8B1F-47B5-976A-7B139367C96E}">
      <dgm:prSet phldrT="[Text]"/>
      <dgm:spPr/>
      <dgm:t>
        <a:bodyPr/>
        <a:lstStyle/>
        <a:p>
          <a:r>
            <a:rPr lang="en-GB" dirty="0"/>
            <a:t>Cash Flows</a:t>
          </a:r>
        </a:p>
      </dgm:t>
    </dgm:pt>
    <dgm:pt modelId="{7D711651-E30E-48DE-BF1D-2EA5B6C60A33}" type="parTrans" cxnId="{B1CEAA1E-A5B3-4ED0-AF67-67CAF908DC09}">
      <dgm:prSet/>
      <dgm:spPr/>
      <dgm:t>
        <a:bodyPr/>
        <a:lstStyle/>
        <a:p>
          <a:endParaRPr lang="en-GB"/>
        </a:p>
      </dgm:t>
    </dgm:pt>
    <dgm:pt modelId="{2AA9FFBD-9954-4BEC-B82C-7CF64E71FCCF}" type="sibTrans" cxnId="{B1CEAA1E-A5B3-4ED0-AF67-67CAF908DC09}">
      <dgm:prSet/>
      <dgm:spPr/>
      <dgm:t>
        <a:bodyPr/>
        <a:lstStyle/>
        <a:p>
          <a:endParaRPr lang="en-GB"/>
        </a:p>
      </dgm:t>
    </dgm:pt>
    <dgm:pt modelId="{29B1FFFE-1530-4E41-A0AD-C19D8D764813}">
      <dgm:prSet phldrT="[Text]"/>
      <dgm:spPr/>
      <dgm:t>
        <a:bodyPr/>
        <a:lstStyle/>
        <a:p>
          <a:r>
            <a:rPr lang="en-GB" dirty="0"/>
            <a:t>Risk</a:t>
          </a:r>
        </a:p>
      </dgm:t>
    </dgm:pt>
    <dgm:pt modelId="{749FABAB-A1E1-485B-A5CA-8DB003005EB0}" type="parTrans" cxnId="{94987853-2EEA-4681-A6E3-D449F23D47D1}">
      <dgm:prSet/>
      <dgm:spPr/>
      <dgm:t>
        <a:bodyPr/>
        <a:lstStyle/>
        <a:p>
          <a:endParaRPr lang="en-GB"/>
        </a:p>
      </dgm:t>
    </dgm:pt>
    <dgm:pt modelId="{F70BE82D-9509-4AC4-A923-D49A00A2972C}" type="sibTrans" cxnId="{94987853-2EEA-4681-A6E3-D449F23D47D1}">
      <dgm:prSet/>
      <dgm:spPr/>
      <dgm:t>
        <a:bodyPr/>
        <a:lstStyle/>
        <a:p>
          <a:endParaRPr lang="en-GB"/>
        </a:p>
      </dgm:t>
    </dgm:pt>
    <dgm:pt modelId="{D39485BB-A463-4070-9BE6-BE0C24C6751D}">
      <dgm:prSet phldrT="[Text]"/>
      <dgm:spPr/>
      <dgm:t>
        <a:bodyPr/>
        <a:lstStyle/>
        <a:p>
          <a:r>
            <a:rPr lang="en-GB" dirty="0"/>
            <a:t>ROIC</a:t>
          </a:r>
        </a:p>
      </dgm:t>
    </dgm:pt>
    <dgm:pt modelId="{BF6454BE-A2C5-451D-AD41-915772137ECA}" type="parTrans" cxnId="{D8FEFDFE-674C-4C1D-91D4-AE2F3268FE52}">
      <dgm:prSet/>
      <dgm:spPr/>
      <dgm:t>
        <a:bodyPr/>
        <a:lstStyle/>
        <a:p>
          <a:endParaRPr lang="en-GB"/>
        </a:p>
      </dgm:t>
    </dgm:pt>
    <dgm:pt modelId="{0625D12C-B9B6-4698-8C5D-21FFB771A3C5}" type="sibTrans" cxnId="{D8FEFDFE-674C-4C1D-91D4-AE2F3268FE52}">
      <dgm:prSet/>
      <dgm:spPr/>
      <dgm:t>
        <a:bodyPr/>
        <a:lstStyle/>
        <a:p>
          <a:endParaRPr lang="en-GB"/>
        </a:p>
      </dgm:t>
    </dgm:pt>
    <dgm:pt modelId="{1EAF7C0D-838C-4725-86E3-0FDE2B99531F}">
      <dgm:prSet phldrT="[Text]"/>
      <dgm:spPr/>
      <dgm:t>
        <a:bodyPr/>
        <a:lstStyle/>
        <a:p>
          <a:r>
            <a:rPr lang="en-GB" dirty="0"/>
            <a:t>Growth</a:t>
          </a:r>
        </a:p>
      </dgm:t>
    </dgm:pt>
    <dgm:pt modelId="{31582308-B47A-4FCD-96D9-373BB6BC2738}" type="parTrans" cxnId="{66E078FD-247B-4A13-97E8-9EC506868201}">
      <dgm:prSet/>
      <dgm:spPr/>
      <dgm:t>
        <a:bodyPr/>
        <a:lstStyle/>
        <a:p>
          <a:endParaRPr lang="en-GB"/>
        </a:p>
      </dgm:t>
    </dgm:pt>
    <dgm:pt modelId="{6D45E0F2-A161-43D6-9BC7-BDA5A10D49DC}" type="sibTrans" cxnId="{66E078FD-247B-4A13-97E8-9EC506868201}">
      <dgm:prSet/>
      <dgm:spPr/>
      <dgm:t>
        <a:bodyPr/>
        <a:lstStyle/>
        <a:p>
          <a:endParaRPr lang="en-GB"/>
        </a:p>
      </dgm:t>
    </dgm:pt>
    <dgm:pt modelId="{AC61364E-A465-46A8-AA7F-D384E3855029}">
      <dgm:prSet phldrT="[Text]"/>
      <dgm:spPr/>
      <dgm:t>
        <a:bodyPr/>
        <a:lstStyle/>
        <a:p>
          <a:r>
            <a:rPr lang="en-GB" dirty="0"/>
            <a:t>Cost of Capital</a:t>
          </a:r>
        </a:p>
      </dgm:t>
    </dgm:pt>
    <dgm:pt modelId="{CEF2807D-BEFF-4455-ACB7-7E953853E554}" type="parTrans" cxnId="{B5E95013-F89D-4A84-8153-DF92C9B8E524}">
      <dgm:prSet/>
      <dgm:spPr/>
      <dgm:t>
        <a:bodyPr/>
        <a:lstStyle/>
        <a:p>
          <a:endParaRPr lang="en-GB"/>
        </a:p>
      </dgm:t>
    </dgm:pt>
    <dgm:pt modelId="{0CAE7C37-039F-4B11-AF5A-9C6E0E639F12}" type="sibTrans" cxnId="{B5E95013-F89D-4A84-8153-DF92C9B8E524}">
      <dgm:prSet/>
      <dgm:spPr/>
      <dgm:t>
        <a:bodyPr/>
        <a:lstStyle/>
        <a:p>
          <a:endParaRPr lang="en-GB"/>
        </a:p>
      </dgm:t>
    </dgm:pt>
    <dgm:pt modelId="{AE38545F-D441-4F60-8B3D-7B5DC0C80E26}" type="pres">
      <dgm:prSet presAssocID="{82BD67A1-169F-4C74-B30F-5CF34E181265}" presName="hierChild1" presStyleCnt="0">
        <dgm:presLayoutVars>
          <dgm:chPref val="1"/>
          <dgm:dir/>
          <dgm:animOne val="branch"/>
          <dgm:animLvl val="lvl"/>
          <dgm:resizeHandles/>
        </dgm:presLayoutVars>
      </dgm:prSet>
      <dgm:spPr/>
    </dgm:pt>
    <dgm:pt modelId="{31D74DF7-776A-40BE-BE6D-AE2F9F82619C}" type="pres">
      <dgm:prSet presAssocID="{C6D86AFC-10DF-4E4F-93CB-F35234C341AF}" presName="hierRoot1" presStyleCnt="0"/>
      <dgm:spPr/>
    </dgm:pt>
    <dgm:pt modelId="{C976FF3B-20CE-461A-8F93-C19B76F24444}" type="pres">
      <dgm:prSet presAssocID="{C6D86AFC-10DF-4E4F-93CB-F35234C341AF}" presName="composite" presStyleCnt="0"/>
      <dgm:spPr/>
    </dgm:pt>
    <dgm:pt modelId="{BEDCE8C1-CB86-44F4-95C5-5342BE25D359}" type="pres">
      <dgm:prSet presAssocID="{C6D86AFC-10DF-4E4F-93CB-F35234C341AF}" presName="background" presStyleLbl="node0" presStyleIdx="0" presStyleCnt="1"/>
      <dgm:spPr/>
    </dgm:pt>
    <dgm:pt modelId="{A3AFA754-4133-4D59-8A32-DCF041AC9820}" type="pres">
      <dgm:prSet presAssocID="{C6D86AFC-10DF-4E4F-93CB-F35234C341AF}" presName="text" presStyleLbl="fgAcc0" presStyleIdx="0" presStyleCnt="1">
        <dgm:presLayoutVars>
          <dgm:chPref val="3"/>
        </dgm:presLayoutVars>
      </dgm:prSet>
      <dgm:spPr/>
    </dgm:pt>
    <dgm:pt modelId="{B596CCB1-9F59-4F86-9CF3-0376C7D495FF}" type="pres">
      <dgm:prSet presAssocID="{C6D86AFC-10DF-4E4F-93CB-F35234C341AF}" presName="hierChild2" presStyleCnt="0"/>
      <dgm:spPr/>
    </dgm:pt>
    <dgm:pt modelId="{6B295ADB-0634-48FF-8429-4D016E801560}" type="pres">
      <dgm:prSet presAssocID="{7D711651-E30E-48DE-BF1D-2EA5B6C60A33}" presName="Name10" presStyleLbl="parChTrans1D2" presStyleIdx="0" presStyleCnt="2"/>
      <dgm:spPr/>
    </dgm:pt>
    <dgm:pt modelId="{2809FCB5-4397-425A-B906-C386BCF460B8}" type="pres">
      <dgm:prSet presAssocID="{40A21EE9-8B1F-47B5-976A-7B139367C96E}" presName="hierRoot2" presStyleCnt="0"/>
      <dgm:spPr/>
    </dgm:pt>
    <dgm:pt modelId="{62D6FD90-F29D-4EB0-A00B-FF898BF89526}" type="pres">
      <dgm:prSet presAssocID="{40A21EE9-8B1F-47B5-976A-7B139367C96E}" presName="composite2" presStyleCnt="0"/>
      <dgm:spPr/>
    </dgm:pt>
    <dgm:pt modelId="{1247F1BA-DC7B-4E58-8719-5DE2D6A036CB}" type="pres">
      <dgm:prSet presAssocID="{40A21EE9-8B1F-47B5-976A-7B139367C96E}" presName="background2" presStyleLbl="node2" presStyleIdx="0" presStyleCnt="2"/>
      <dgm:spPr/>
    </dgm:pt>
    <dgm:pt modelId="{26BA87B4-813B-4203-A694-E17DACDD435D}" type="pres">
      <dgm:prSet presAssocID="{40A21EE9-8B1F-47B5-976A-7B139367C96E}" presName="text2" presStyleLbl="fgAcc2" presStyleIdx="0" presStyleCnt="2">
        <dgm:presLayoutVars>
          <dgm:chPref val="3"/>
        </dgm:presLayoutVars>
      </dgm:prSet>
      <dgm:spPr/>
    </dgm:pt>
    <dgm:pt modelId="{F1C23386-A2B8-40EB-9EA5-B686641F0A0D}" type="pres">
      <dgm:prSet presAssocID="{40A21EE9-8B1F-47B5-976A-7B139367C96E}" presName="hierChild3" presStyleCnt="0"/>
      <dgm:spPr/>
    </dgm:pt>
    <dgm:pt modelId="{AC4A2B96-12E3-4290-8305-936F8043EC28}" type="pres">
      <dgm:prSet presAssocID="{BF6454BE-A2C5-451D-AD41-915772137ECA}" presName="Name17" presStyleLbl="parChTrans1D3" presStyleIdx="0" presStyleCnt="3"/>
      <dgm:spPr/>
    </dgm:pt>
    <dgm:pt modelId="{F994212F-FD77-4C66-ABCB-66763419DAB8}" type="pres">
      <dgm:prSet presAssocID="{D39485BB-A463-4070-9BE6-BE0C24C6751D}" presName="hierRoot3" presStyleCnt="0"/>
      <dgm:spPr/>
    </dgm:pt>
    <dgm:pt modelId="{D89FDA2B-3C49-4AD7-A8B2-2F9CF52E25FA}" type="pres">
      <dgm:prSet presAssocID="{D39485BB-A463-4070-9BE6-BE0C24C6751D}" presName="composite3" presStyleCnt="0"/>
      <dgm:spPr/>
    </dgm:pt>
    <dgm:pt modelId="{27358E0F-E69B-4786-9A91-B07811F8577F}" type="pres">
      <dgm:prSet presAssocID="{D39485BB-A463-4070-9BE6-BE0C24C6751D}" presName="background3" presStyleLbl="node3" presStyleIdx="0" presStyleCnt="3"/>
      <dgm:spPr/>
    </dgm:pt>
    <dgm:pt modelId="{87EE71E3-8151-494E-951B-8E865DF557A2}" type="pres">
      <dgm:prSet presAssocID="{D39485BB-A463-4070-9BE6-BE0C24C6751D}" presName="text3" presStyleLbl="fgAcc3" presStyleIdx="0" presStyleCnt="3">
        <dgm:presLayoutVars>
          <dgm:chPref val="3"/>
        </dgm:presLayoutVars>
      </dgm:prSet>
      <dgm:spPr/>
    </dgm:pt>
    <dgm:pt modelId="{F9E5939D-48FC-428C-9B26-389963BB39BD}" type="pres">
      <dgm:prSet presAssocID="{D39485BB-A463-4070-9BE6-BE0C24C6751D}" presName="hierChild4" presStyleCnt="0"/>
      <dgm:spPr/>
    </dgm:pt>
    <dgm:pt modelId="{5D76067E-DC35-44A5-9C03-D14616DE7343}" type="pres">
      <dgm:prSet presAssocID="{31582308-B47A-4FCD-96D9-373BB6BC2738}" presName="Name17" presStyleLbl="parChTrans1D3" presStyleIdx="1" presStyleCnt="3"/>
      <dgm:spPr/>
    </dgm:pt>
    <dgm:pt modelId="{850C98D8-E62E-451A-BE89-DE9E5DB7AD2A}" type="pres">
      <dgm:prSet presAssocID="{1EAF7C0D-838C-4725-86E3-0FDE2B99531F}" presName="hierRoot3" presStyleCnt="0"/>
      <dgm:spPr/>
    </dgm:pt>
    <dgm:pt modelId="{57025D54-79A9-44FC-8E40-3F9B41893278}" type="pres">
      <dgm:prSet presAssocID="{1EAF7C0D-838C-4725-86E3-0FDE2B99531F}" presName="composite3" presStyleCnt="0"/>
      <dgm:spPr/>
    </dgm:pt>
    <dgm:pt modelId="{9CFCB95F-B2A5-402C-A9FA-9DABC3659FA2}" type="pres">
      <dgm:prSet presAssocID="{1EAF7C0D-838C-4725-86E3-0FDE2B99531F}" presName="background3" presStyleLbl="node3" presStyleIdx="1" presStyleCnt="3"/>
      <dgm:spPr/>
    </dgm:pt>
    <dgm:pt modelId="{CA6B1E93-CFCF-4920-8500-4EA3D1F8D4BF}" type="pres">
      <dgm:prSet presAssocID="{1EAF7C0D-838C-4725-86E3-0FDE2B99531F}" presName="text3" presStyleLbl="fgAcc3" presStyleIdx="1" presStyleCnt="3">
        <dgm:presLayoutVars>
          <dgm:chPref val="3"/>
        </dgm:presLayoutVars>
      </dgm:prSet>
      <dgm:spPr/>
    </dgm:pt>
    <dgm:pt modelId="{9A30B01F-5D83-4E12-8AA4-71B40A45FBAF}" type="pres">
      <dgm:prSet presAssocID="{1EAF7C0D-838C-4725-86E3-0FDE2B99531F}" presName="hierChild4" presStyleCnt="0"/>
      <dgm:spPr/>
    </dgm:pt>
    <dgm:pt modelId="{610CB24F-CE5B-493D-8A1C-1D75706C0DBC}" type="pres">
      <dgm:prSet presAssocID="{749FABAB-A1E1-485B-A5CA-8DB003005EB0}" presName="Name10" presStyleLbl="parChTrans1D2" presStyleIdx="1" presStyleCnt="2"/>
      <dgm:spPr/>
    </dgm:pt>
    <dgm:pt modelId="{F0530ED2-C26F-4E61-8631-06655990FE27}" type="pres">
      <dgm:prSet presAssocID="{29B1FFFE-1530-4E41-A0AD-C19D8D764813}" presName="hierRoot2" presStyleCnt="0"/>
      <dgm:spPr/>
    </dgm:pt>
    <dgm:pt modelId="{73D83D50-86E4-4835-B254-D0E8CA1659D2}" type="pres">
      <dgm:prSet presAssocID="{29B1FFFE-1530-4E41-A0AD-C19D8D764813}" presName="composite2" presStyleCnt="0"/>
      <dgm:spPr/>
    </dgm:pt>
    <dgm:pt modelId="{6F1CE85E-23FB-4A7D-A579-EAEF34022DC2}" type="pres">
      <dgm:prSet presAssocID="{29B1FFFE-1530-4E41-A0AD-C19D8D764813}" presName="background2" presStyleLbl="node2" presStyleIdx="1" presStyleCnt="2"/>
      <dgm:spPr/>
    </dgm:pt>
    <dgm:pt modelId="{0A665C77-BA8D-499A-AE29-71B5DFB4F0F3}" type="pres">
      <dgm:prSet presAssocID="{29B1FFFE-1530-4E41-A0AD-C19D8D764813}" presName="text2" presStyleLbl="fgAcc2" presStyleIdx="1" presStyleCnt="2">
        <dgm:presLayoutVars>
          <dgm:chPref val="3"/>
        </dgm:presLayoutVars>
      </dgm:prSet>
      <dgm:spPr/>
    </dgm:pt>
    <dgm:pt modelId="{20E22141-D96F-4E08-A735-B3589815AB61}" type="pres">
      <dgm:prSet presAssocID="{29B1FFFE-1530-4E41-A0AD-C19D8D764813}" presName="hierChild3" presStyleCnt="0"/>
      <dgm:spPr/>
    </dgm:pt>
    <dgm:pt modelId="{0F0AA6E0-72BB-4EF8-9364-1F555131C28B}" type="pres">
      <dgm:prSet presAssocID="{CEF2807D-BEFF-4455-ACB7-7E953853E554}" presName="Name17" presStyleLbl="parChTrans1D3" presStyleIdx="2" presStyleCnt="3"/>
      <dgm:spPr/>
    </dgm:pt>
    <dgm:pt modelId="{EDE7E5D9-0415-40B6-B402-252603266AD2}" type="pres">
      <dgm:prSet presAssocID="{AC61364E-A465-46A8-AA7F-D384E3855029}" presName="hierRoot3" presStyleCnt="0"/>
      <dgm:spPr/>
    </dgm:pt>
    <dgm:pt modelId="{66D4BCD4-1801-41F1-B191-98EDA2435B7D}" type="pres">
      <dgm:prSet presAssocID="{AC61364E-A465-46A8-AA7F-D384E3855029}" presName="composite3" presStyleCnt="0"/>
      <dgm:spPr/>
    </dgm:pt>
    <dgm:pt modelId="{93B65044-DDD9-46CA-81AB-E36E7C44CFF0}" type="pres">
      <dgm:prSet presAssocID="{AC61364E-A465-46A8-AA7F-D384E3855029}" presName="background3" presStyleLbl="node3" presStyleIdx="2" presStyleCnt="3"/>
      <dgm:spPr/>
    </dgm:pt>
    <dgm:pt modelId="{D9758C58-6368-42ED-A283-B2B1776DDB87}" type="pres">
      <dgm:prSet presAssocID="{AC61364E-A465-46A8-AA7F-D384E3855029}" presName="text3" presStyleLbl="fgAcc3" presStyleIdx="2" presStyleCnt="3">
        <dgm:presLayoutVars>
          <dgm:chPref val="3"/>
        </dgm:presLayoutVars>
      </dgm:prSet>
      <dgm:spPr/>
    </dgm:pt>
    <dgm:pt modelId="{9836EB6B-2D9E-4E58-AB3E-CB0B8BE40779}" type="pres">
      <dgm:prSet presAssocID="{AC61364E-A465-46A8-AA7F-D384E3855029}" presName="hierChild4" presStyleCnt="0"/>
      <dgm:spPr/>
    </dgm:pt>
  </dgm:ptLst>
  <dgm:cxnLst>
    <dgm:cxn modelId="{4A9FF709-2D83-4F32-A14C-B907CB4B49D8}" type="presOf" srcId="{31582308-B47A-4FCD-96D9-373BB6BC2738}" destId="{5D76067E-DC35-44A5-9C03-D14616DE7343}" srcOrd="0" destOrd="0" presId="urn:microsoft.com/office/officeart/2005/8/layout/hierarchy1"/>
    <dgm:cxn modelId="{B1204F13-1BD1-4197-91D0-B162CF837714}" type="presOf" srcId="{7D711651-E30E-48DE-BF1D-2EA5B6C60A33}" destId="{6B295ADB-0634-48FF-8429-4D016E801560}" srcOrd="0" destOrd="0" presId="urn:microsoft.com/office/officeart/2005/8/layout/hierarchy1"/>
    <dgm:cxn modelId="{B5E95013-F89D-4A84-8153-DF92C9B8E524}" srcId="{29B1FFFE-1530-4E41-A0AD-C19D8D764813}" destId="{AC61364E-A465-46A8-AA7F-D384E3855029}" srcOrd="0" destOrd="0" parTransId="{CEF2807D-BEFF-4455-ACB7-7E953853E554}" sibTransId="{0CAE7C37-039F-4B11-AF5A-9C6E0E639F12}"/>
    <dgm:cxn modelId="{3E00CD14-A6DA-4EF3-8901-966C8A0A061C}" srcId="{82BD67A1-169F-4C74-B30F-5CF34E181265}" destId="{C6D86AFC-10DF-4E4F-93CB-F35234C341AF}" srcOrd="0" destOrd="0" parTransId="{3F51087C-3C26-4B41-90FB-EBB022656437}" sibTransId="{62CD29AD-787C-4F17-A482-4A9DBCBBEC67}"/>
    <dgm:cxn modelId="{B1CEAA1E-A5B3-4ED0-AF67-67CAF908DC09}" srcId="{C6D86AFC-10DF-4E4F-93CB-F35234C341AF}" destId="{40A21EE9-8B1F-47B5-976A-7B139367C96E}" srcOrd="0" destOrd="0" parTransId="{7D711651-E30E-48DE-BF1D-2EA5B6C60A33}" sibTransId="{2AA9FFBD-9954-4BEC-B82C-7CF64E71FCCF}"/>
    <dgm:cxn modelId="{94987853-2EEA-4681-A6E3-D449F23D47D1}" srcId="{C6D86AFC-10DF-4E4F-93CB-F35234C341AF}" destId="{29B1FFFE-1530-4E41-A0AD-C19D8D764813}" srcOrd="1" destOrd="0" parTransId="{749FABAB-A1E1-485B-A5CA-8DB003005EB0}" sibTransId="{F70BE82D-9509-4AC4-A923-D49A00A2972C}"/>
    <dgm:cxn modelId="{2DF46D9C-1688-4F3F-8037-06B3CAA79D52}" type="presOf" srcId="{CEF2807D-BEFF-4455-ACB7-7E953853E554}" destId="{0F0AA6E0-72BB-4EF8-9364-1F555131C28B}" srcOrd="0" destOrd="0" presId="urn:microsoft.com/office/officeart/2005/8/layout/hierarchy1"/>
    <dgm:cxn modelId="{1E0298A2-F2DF-4513-BFB4-3D6D4BBDE723}" type="presOf" srcId="{29B1FFFE-1530-4E41-A0AD-C19D8D764813}" destId="{0A665C77-BA8D-499A-AE29-71B5DFB4F0F3}" srcOrd="0" destOrd="0" presId="urn:microsoft.com/office/officeart/2005/8/layout/hierarchy1"/>
    <dgm:cxn modelId="{7A80E2A2-3163-41FF-BE2D-4C9533F384F0}" type="presOf" srcId="{BF6454BE-A2C5-451D-AD41-915772137ECA}" destId="{AC4A2B96-12E3-4290-8305-936F8043EC28}" srcOrd="0" destOrd="0" presId="urn:microsoft.com/office/officeart/2005/8/layout/hierarchy1"/>
    <dgm:cxn modelId="{08D49EB4-FDCB-4612-A0A6-ECE3843BE4AA}" type="presOf" srcId="{C6D86AFC-10DF-4E4F-93CB-F35234C341AF}" destId="{A3AFA754-4133-4D59-8A32-DCF041AC9820}" srcOrd="0" destOrd="0" presId="urn:microsoft.com/office/officeart/2005/8/layout/hierarchy1"/>
    <dgm:cxn modelId="{ADF69AB7-63E4-4D04-9182-4A857A45AE1E}" type="presOf" srcId="{1EAF7C0D-838C-4725-86E3-0FDE2B99531F}" destId="{CA6B1E93-CFCF-4920-8500-4EA3D1F8D4BF}" srcOrd="0" destOrd="0" presId="urn:microsoft.com/office/officeart/2005/8/layout/hierarchy1"/>
    <dgm:cxn modelId="{3A94DABA-F6FF-49A7-9512-FCB194FAEEDA}" type="presOf" srcId="{82BD67A1-169F-4C74-B30F-5CF34E181265}" destId="{AE38545F-D441-4F60-8B3D-7B5DC0C80E26}" srcOrd="0" destOrd="0" presId="urn:microsoft.com/office/officeart/2005/8/layout/hierarchy1"/>
    <dgm:cxn modelId="{69B353CF-B1DF-4088-BF54-AF5DA1160E66}" type="presOf" srcId="{749FABAB-A1E1-485B-A5CA-8DB003005EB0}" destId="{610CB24F-CE5B-493D-8A1C-1D75706C0DBC}" srcOrd="0" destOrd="0" presId="urn:microsoft.com/office/officeart/2005/8/layout/hierarchy1"/>
    <dgm:cxn modelId="{AECCD0D8-08EB-4012-9373-9D67C3ABA350}" type="presOf" srcId="{D39485BB-A463-4070-9BE6-BE0C24C6751D}" destId="{87EE71E3-8151-494E-951B-8E865DF557A2}" srcOrd="0" destOrd="0" presId="urn:microsoft.com/office/officeart/2005/8/layout/hierarchy1"/>
    <dgm:cxn modelId="{DE1FCAE2-C7DD-47B9-B4DF-7338142D8A17}" type="presOf" srcId="{AC61364E-A465-46A8-AA7F-D384E3855029}" destId="{D9758C58-6368-42ED-A283-B2B1776DDB87}" srcOrd="0" destOrd="0" presId="urn:microsoft.com/office/officeart/2005/8/layout/hierarchy1"/>
    <dgm:cxn modelId="{EFB162F2-2DB7-464D-8CCC-C20E23494F1F}" type="presOf" srcId="{40A21EE9-8B1F-47B5-976A-7B139367C96E}" destId="{26BA87B4-813B-4203-A694-E17DACDD435D}" srcOrd="0" destOrd="0" presId="urn:microsoft.com/office/officeart/2005/8/layout/hierarchy1"/>
    <dgm:cxn modelId="{66E078FD-247B-4A13-97E8-9EC506868201}" srcId="{40A21EE9-8B1F-47B5-976A-7B139367C96E}" destId="{1EAF7C0D-838C-4725-86E3-0FDE2B99531F}" srcOrd="1" destOrd="0" parTransId="{31582308-B47A-4FCD-96D9-373BB6BC2738}" sibTransId="{6D45E0F2-A161-43D6-9BC7-BDA5A10D49DC}"/>
    <dgm:cxn modelId="{D8FEFDFE-674C-4C1D-91D4-AE2F3268FE52}" srcId="{40A21EE9-8B1F-47B5-976A-7B139367C96E}" destId="{D39485BB-A463-4070-9BE6-BE0C24C6751D}" srcOrd="0" destOrd="0" parTransId="{BF6454BE-A2C5-451D-AD41-915772137ECA}" sibTransId="{0625D12C-B9B6-4698-8C5D-21FFB771A3C5}"/>
    <dgm:cxn modelId="{A18EEB2C-4FF7-471F-8BD3-2D4D0F324BFD}" type="presParOf" srcId="{AE38545F-D441-4F60-8B3D-7B5DC0C80E26}" destId="{31D74DF7-776A-40BE-BE6D-AE2F9F82619C}" srcOrd="0" destOrd="0" presId="urn:microsoft.com/office/officeart/2005/8/layout/hierarchy1"/>
    <dgm:cxn modelId="{66A89E25-B57F-4DF5-8453-45421B9164D6}" type="presParOf" srcId="{31D74DF7-776A-40BE-BE6D-AE2F9F82619C}" destId="{C976FF3B-20CE-461A-8F93-C19B76F24444}" srcOrd="0" destOrd="0" presId="urn:microsoft.com/office/officeart/2005/8/layout/hierarchy1"/>
    <dgm:cxn modelId="{E638C001-EF03-4072-92C3-095D076E6B7F}" type="presParOf" srcId="{C976FF3B-20CE-461A-8F93-C19B76F24444}" destId="{BEDCE8C1-CB86-44F4-95C5-5342BE25D359}" srcOrd="0" destOrd="0" presId="urn:microsoft.com/office/officeart/2005/8/layout/hierarchy1"/>
    <dgm:cxn modelId="{FCF02ACC-4BBF-445F-A575-822F24D0CE27}" type="presParOf" srcId="{C976FF3B-20CE-461A-8F93-C19B76F24444}" destId="{A3AFA754-4133-4D59-8A32-DCF041AC9820}" srcOrd="1" destOrd="0" presId="urn:microsoft.com/office/officeart/2005/8/layout/hierarchy1"/>
    <dgm:cxn modelId="{B78A7B1B-C186-43FC-ACAD-45BB8A5CAB9B}" type="presParOf" srcId="{31D74DF7-776A-40BE-BE6D-AE2F9F82619C}" destId="{B596CCB1-9F59-4F86-9CF3-0376C7D495FF}" srcOrd="1" destOrd="0" presId="urn:microsoft.com/office/officeart/2005/8/layout/hierarchy1"/>
    <dgm:cxn modelId="{540E0F51-C15B-44D0-A374-49B5D2D29418}" type="presParOf" srcId="{B596CCB1-9F59-4F86-9CF3-0376C7D495FF}" destId="{6B295ADB-0634-48FF-8429-4D016E801560}" srcOrd="0" destOrd="0" presId="urn:microsoft.com/office/officeart/2005/8/layout/hierarchy1"/>
    <dgm:cxn modelId="{98C50E84-A1B4-459C-A95B-E83CB3DF7288}" type="presParOf" srcId="{B596CCB1-9F59-4F86-9CF3-0376C7D495FF}" destId="{2809FCB5-4397-425A-B906-C386BCF460B8}" srcOrd="1" destOrd="0" presId="urn:microsoft.com/office/officeart/2005/8/layout/hierarchy1"/>
    <dgm:cxn modelId="{1519262E-A64F-465C-931F-42E7F9417745}" type="presParOf" srcId="{2809FCB5-4397-425A-B906-C386BCF460B8}" destId="{62D6FD90-F29D-4EB0-A00B-FF898BF89526}" srcOrd="0" destOrd="0" presId="urn:microsoft.com/office/officeart/2005/8/layout/hierarchy1"/>
    <dgm:cxn modelId="{64304C8E-17BE-4B2B-9261-534D996B5F63}" type="presParOf" srcId="{62D6FD90-F29D-4EB0-A00B-FF898BF89526}" destId="{1247F1BA-DC7B-4E58-8719-5DE2D6A036CB}" srcOrd="0" destOrd="0" presId="urn:microsoft.com/office/officeart/2005/8/layout/hierarchy1"/>
    <dgm:cxn modelId="{C302B2F7-716E-4D2C-A357-F9230A4FDAEE}" type="presParOf" srcId="{62D6FD90-F29D-4EB0-A00B-FF898BF89526}" destId="{26BA87B4-813B-4203-A694-E17DACDD435D}" srcOrd="1" destOrd="0" presId="urn:microsoft.com/office/officeart/2005/8/layout/hierarchy1"/>
    <dgm:cxn modelId="{4B7DE47E-1B1C-454C-B0BC-1EB2DC823C1D}" type="presParOf" srcId="{2809FCB5-4397-425A-B906-C386BCF460B8}" destId="{F1C23386-A2B8-40EB-9EA5-B686641F0A0D}" srcOrd="1" destOrd="0" presId="urn:microsoft.com/office/officeart/2005/8/layout/hierarchy1"/>
    <dgm:cxn modelId="{4EB1ACD6-B6D2-4A0C-BC39-23FFE92CF6E5}" type="presParOf" srcId="{F1C23386-A2B8-40EB-9EA5-B686641F0A0D}" destId="{AC4A2B96-12E3-4290-8305-936F8043EC28}" srcOrd="0" destOrd="0" presId="urn:microsoft.com/office/officeart/2005/8/layout/hierarchy1"/>
    <dgm:cxn modelId="{1EB81A79-8C7F-4B1C-A8DC-290DFB56D5C1}" type="presParOf" srcId="{F1C23386-A2B8-40EB-9EA5-B686641F0A0D}" destId="{F994212F-FD77-4C66-ABCB-66763419DAB8}" srcOrd="1" destOrd="0" presId="urn:microsoft.com/office/officeart/2005/8/layout/hierarchy1"/>
    <dgm:cxn modelId="{5B91C705-B9A1-4923-ABBC-28B67BEA8821}" type="presParOf" srcId="{F994212F-FD77-4C66-ABCB-66763419DAB8}" destId="{D89FDA2B-3C49-4AD7-A8B2-2F9CF52E25FA}" srcOrd="0" destOrd="0" presId="urn:microsoft.com/office/officeart/2005/8/layout/hierarchy1"/>
    <dgm:cxn modelId="{54829A95-D055-454B-BDE0-F7F106596166}" type="presParOf" srcId="{D89FDA2B-3C49-4AD7-A8B2-2F9CF52E25FA}" destId="{27358E0F-E69B-4786-9A91-B07811F8577F}" srcOrd="0" destOrd="0" presId="urn:microsoft.com/office/officeart/2005/8/layout/hierarchy1"/>
    <dgm:cxn modelId="{E6D8B799-4FEF-4CE7-8C5C-1AF2AE0EC120}" type="presParOf" srcId="{D89FDA2B-3C49-4AD7-A8B2-2F9CF52E25FA}" destId="{87EE71E3-8151-494E-951B-8E865DF557A2}" srcOrd="1" destOrd="0" presId="urn:microsoft.com/office/officeart/2005/8/layout/hierarchy1"/>
    <dgm:cxn modelId="{7E65AE16-7EFA-421D-B7AE-C326AE624CB3}" type="presParOf" srcId="{F994212F-FD77-4C66-ABCB-66763419DAB8}" destId="{F9E5939D-48FC-428C-9B26-389963BB39BD}" srcOrd="1" destOrd="0" presId="urn:microsoft.com/office/officeart/2005/8/layout/hierarchy1"/>
    <dgm:cxn modelId="{725E6DED-D93C-4AF4-A509-EA68E92D722B}" type="presParOf" srcId="{F1C23386-A2B8-40EB-9EA5-B686641F0A0D}" destId="{5D76067E-DC35-44A5-9C03-D14616DE7343}" srcOrd="2" destOrd="0" presId="urn:microsoft.com/office/officeart/2005/8/layout/hierarchy1"/>
    <dgm:cxn modelId="{E3A5DCC9-F977-47ED-A107-6C2348055AEB}" type="presParOf" srcId="{F1C23386-A2B8-40EB-9EA5-B686641F0A0D}" destId="{850C98D8-E62E-451A-BE89-DE9E5DB7AD2A}" srcOrd="3" destOrd="0" presId="urn:microsoft.com/office/officeart/2005/8/layout/hierarchy1"/>
    <dgm:cxn modelId="{24FA730C-61F1-4941-B214-949A7C88DE1A}" type="presParOf" srcId="{850C98D8-E62E-451A-BE89-DE9E5DB7AD2A}" destId="{57025D54-79A9-44FC-8E40-3F9B41893278}" srcOrd="0" destOrd="0" presId="urn:microsoft.com/office/officeart/2005/8/layout/hierarchy1"/>
    <dgm:cxn modelId="{422669F9-AE6D-4D6F-9C26-0ED0E0D52F64}" type="presParOf" srcId="{57025D54-79A9-44FC-8E40-3F9B41893278}" destId="{9CFCB95F-B2A5-402C-A9FA-9DABC3659FA2}" srcOrd="0" destOrd="0" presId="urn:microsoft.com/office/officeart/2005/8/layout/hierarchy1"/>
    <dgm:cxn modelId="{5EAB346B-9D03-4B5E-8D74-915B0A259508}" type="presParOf" srcId="{57025D54-79A9-44FC-8E40-3F9B41893278}" destId="{CA6B1E93-CFCF-4920-8500-4EA3D1F8D4BF}" srcOrd="1" destOrd="0" presId="urn:microsoft.com/office/officeart/2005/8/layout/hierarchy1"/>
    <dgm:cxn modelId="{BF3A8F55-F87D-4C51-858C-D8F9C69C4F82}" type="presParOf" srcId="{850C98D8-E62E-451A-BE89-DE9E5DB7AD2A}" destId="{9A30B01F-5D83-4E12-8AA4-71B40A45FBAF}" srcOrd="1" destOrd="0" presId="urn:microsoft.com/office/officeart/2005/8/layout/hierarchy1"/>
    <dgm:cxn modelId="{4094B6D2-C2A8-4471-9DA4-3434B0F44D4D}" type="presParOf" srcId="{B596CCB1-9F59-4F86-9CF3-0376C7D495FF}" destId="{610CB24F-CE5B-493D-8A1C-1D75706C0DBC}" srcOrd="2" destOrd="0" presId="urn:microsoft.com/office/officeart/2005/8/layout/hierarchy1"/>
    <dgm:cxn modelId="{E021E3A2-4BE8-4A9E-ADF7-4356F99959DE}" type="presParOf" srcId="{B596CCB1-9F59-4F86-9CF3-0376C7D495FF}" destId="{F0530ED2-C26F-4E61-8631-06655990FE27}" srcOrd="3" destOrd="0" presId="urn:microsoft.com/office/officeart/2005/8/layout/hierarchy1"/>
    <dgm:cxn modelId="{DE6AB07C-83B9-4AC7-BEEC-1D866188073F}" type="presParOf" srcId="{F0530ED2-C26F-4E61-8631-06655990FE27}" destId="{73D83D50-86E4-4835-B254-D0E8CA1659D2}" srcOrd="0" destOrd="0" presId="urn:microsoft.com/office/officeart/2005/8/layout/hierarchy1"/>
    <dgm:cxn modelId="{5B910EC2-51B0-488F-B654-6597A41B4807}" type="presParOf" srcId="{73D83D50-86E4-4835-B254-D0E8CA1659D2}" destId="{6F1CE85E-23FB-4A7D-A579-EAEF34022DC2}" srcOrd="0" destOrd="0" presId="urn:microsoft.com/office/officeart/2005/8/layout/hierarchy1"/>
    <dgm:cxn modelId="{3D6DF670-C4F2-4E48-A12B-083D3AC5347D}" type="presParOf" srcId="{73D83D50-86E4-4835-B254-D0E8CA1659D2}" destId="{0A665C77-BA8D-499A-AE29-71B5DFB4F0F3}" srcOrd="1" destOrd="0" presId="urn:microsoft.com/office/officeart/2005/8/layout/hierarchy1"/>
    <dgm:cxn modelId="{B8781293-4F49-4B75-9C18-308A46E55E1A}" type="presParOf" srcId="{F0530ED2-C26F-4E61-8631-06655990FE27}" destId="{20E22141-D96F-4E08-A735-B3589815AB61}" srcOrd="1" destOrd="0" presId="urn:microsoft.com/office/officeart/2005/8/layout/hierarchy1"/>
    <dgm:cxn modelId="{768385DA-DD56-4053-ABFD-B0CAA4D9F292}" type="presParOf" srcId="{20E22141-D96F-4E08-A735-B3589815AB61}" destId="{0F0AA6E0-72BB-4EF8-9364-1F555131C28B}" srcOrd="0" destOrd="0" presId="urn:microsoft.com/office/officeart/2005/8/layout/hierarchy1"/>
    <dgm:cxn modelId="{9B8870B7-B4E7-42C8-A609-3D68EF645A19}" type="presParOf" srcId="{20E22141-D96F-4E08-A735-B3589815AB61}" destId="{EDE7E5D9-0415-40B6-B402-252603266AD2}" srcOrd="1" destOrd="0" presId="urn:microsoft.com/office/officeart/2005/8/layout/hierarchy1"/>
    <dgm:cxn modelId="{DE46B2AD-1BC0-45F7-9D77-775E9DCED9AB}" type="presParOf" srcId="{EDE7E5D9-0415-40B6-B402-252603266AD2}" destId="{66D4BCD4-1801-41F1-B191-98EDA2435B7D}" srcOrd="0" destOrd="0" presId="urn:microsoft.com/office/officeart/2005/8/layout/hierarchy1"/>
    <dgm:cxn modelId="{0A5826D7-184F-44D2-901A-75B1CB12BFE1}" type="presParOf" srcId="{66D4BCD4-1801-41F1-B191-98EDA2435B7D}" destId="{93B65044-DDD9-46CA-81AB-E36E7C44CFF0}" srcOrd="0" destOrd="0" presId="urn:microsoft.com/office/officeart/2005/8/layout/hierarchy1"/>
    <dgm:cxn modelId="{382907FC-D967-4F2E-82B8-9FB136E3CD9A}" type="presParOf" srcId="{66D4BCD4-1801-41F1-B191-98EDA2435B7D}" destId="{D9758C58-6368-42ED-A283-B2B1776DDB87}" srcOrd="1" destOrd="0" presId="urn:microsoft.com/office/officeart/2005/8/layout/hierarchy1"/>
    <dgm:cxn modelId="{08AFB452-159A-4A6B-A8D4-CDFC3A7579A7}" type="presParOf" srcId="{EDE7E5D9-0415-40B6-B402-252603266AD2}" destId="{9836EB6B-2D9E-4E58-AB3E-CB0B8BE40779}"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C239419-4BAB-4290-8DC2-49559D005C3A}" type="doc">
      <dgm:prSet loTypeId="urn:microsoft.com/office/officeart/2005/8/layout/arrow2" loCatId="process" qsTypeId="urn:microsoft.com/office/officeart/2005/8/quickstyle/3d2#2" qsCatId="3D" csTypeId="urn:microsoft.com/office/officeart/2005/8/colors/accent1_2#2" csCatId="accent1" phldr="1"/>
      <dgm:spPr/>
    </dgm:pt>
    <dgm:pt modelId="{9016B71C-61C2-43DC-A5F4-F669E6600D26}">
      <dgm:prSet phldrT="[Text]" custT="1"/>
      <dgm:spPr/>
      <dgm:t>
        <a:bodyPr/>
        <a:lstStyle/>
        <a:p>
          <a:pPr algn="ctr"/>
          <a:r>
            <a:rPr lang="en-GB" sz="2400" dirty="0"/>
            <a:t>Optimal Financing Mix</a:t>
          </a:r>
        </a:p>
      </dgm:t>
    </dgm:pt>
    <dgm:pt modelId="{607C068F-FE1A-47DE-B0C4-2B43835F5E40}" type="parTrans" cxnId="{8F1522C1-54B2-4A0F-92C0-A3F12EF49610}">
      <dgm:prSet/>
      <dgm:spPr/>
      <dgm:t>
        <a:bodyPr/>
        <a:lstStyle/>
        <a:p>
          <a:endParaRPr lang="en-GB" sz="2000"/>
        </a:p>
      </dgm:t>
    </dgm:pt>
    <dgm:pt modelId="{F2258483-64AA-4B01-9021-0DF28CB6E938}" type="sibTrans" cxnId="{8F1522C1-54B2-4A0F-92C0-A3F12EF49610}">
      <dgm:prSet/>
      <dgm:spPr/>
      <dgm:t>
        <a:bodyPr/>
        <a:lstStyle/>
        <a:p>
          <a:endParaRPr lang="en-GB" sz="2000"/>
        </a:p>
      </dgm:t>
    </dgm:pt>
    <dgm:pt modelId="{FA56113D-7A0A-4C3A-A3C6-C94CEC38E7B6}">
      <dgm:prSet phldrT="[Text]" custT="1"/>
      <dgm:spPr/>
      <dgm:t>
        <a:bodyPr/>
        <a:lstStyle/>
        <a:p>
          <a:pPr algn="ctr"/>
          <a:r>
            <a:rPr lang="en-GB" sz="2400" dirty="0"/>
            <a:t>Invest in Profitable Projects</a:t>
          </a:r>
        </a:p>
      </dgm:t>
    </dgm:pt>
    <dgm:pt modelId="{C772F9C5-E403-4248-9594-06AD446CA303}" type="parTrans" cxnId="{8490BD44-578B-4CCF-A3BC-0408CB2CD565}">
      <dgm:prSet/>
      <dgm:spPr/>
      <dgm:t>
        <a:bodyPr/>
        <a:lstStyle/>
        <a:p>
          <a:endParaRPr lang="en-GB" sz="2000"/>
        </a:p>
      </dgm:t>
    </dgm:pt>
    <dgm:pt modelId="{A87E8F30-CC69-40E9-BD55-B804C523077E}" type="sibTrans" cxnId="{8490BD44-578B-4CCF-A3BC-0408CB2CD565}">
      <dgm:prSet/>
      <dgm:spPr/>
      <dgm:t>
        <a:bodyPr/>
        <a:lstStyle/>
        <a:p>
          <a:endParaRPr lang="en-GB" sz="2000"/>
        </a:p>
      </dgm:t>
    </dgm:pt>
    <dgm:pt modelId="{5EF75E75-0E48-429C-8FC7-9FAE48E3259E}">
      <dgm:prSet phldrT="[Text]" custT="1"/>
      <dgm:spPr/>
      <dgm:t>
        <a:bodyPr/>
        <a:lstStyle/>
        <a:p>
          <a:pPr algn="ctr"/>
          <a:r>
            <a:rPr lang="en-GB" sz="2400" dirty="0"/>
            <a:t>Increase Share Value</a:t>
          </a:r>
        </a:p>
      </dgm:t>
    </dgm:pt>
    <dgm:pt modelId="{4237F279-635F-4A1E-AED5-A013DAC50402}" type="parTrans" cxnId="{956B07BD-C21E-4E4D-99BB-C2E3408B7164}">
      <dgm:prSet/>
      <dgm:spPr/>
      <dgm:t>
        <a:bodyPr/>
        <a:lstStyle/>
        <a:p>
          <a:endParaRPr lang="en-GB" sz="2000"/>
        </a:p>
      </dgm:t>
    </dgm:pt>
    <dgm:pt modelId="{DF6600F6-88CA-4D62-9BA4-B013BAE77F77}" type="sibTrans" cxnId="{956B07BD-C21E-4E4D-99BB-C2E3408B7164}">
      <dgm:prSet/>
      <dgm:spPr/>
      <dgm:t>
        <a:bodyPr/>
        <a:lstStyle/>
        <a:p>
          <a:endParaRPr lang="en-GB" sz="2000"/>
        </a:p>
      </dgm:t>
    </dgm:pt>
    <dgm:pt modelId="{E2B623A2-230D-467B-9C54-5C583F8D2531}">
      <dgm:prSet phldrT="[Text]" custT="1"/>
      <dgm:spPr/>
      <dgm:t>
        <a:bodyPr/>
        <a:lstStyle/>
        <a:p>
          <a:pPr algn="ctr"/>
          <a:r>
            <a:rPr lang="en-GB" sz="2400" dirty="0"/>
            <a:t>Decide how profits are utilized</a:t>
          </a:r>
        </a:p>
      </dgm:t>
    </dgm:pt>
    <dgm:pt modelId="{3069F5DA-8A76-4731-95F9-AAB9271569FB}" type="parTrans" cxnId="{1BDA7448-2A68-480C-994F-1892C31171FF}">
      <dgm:prSet/>
      <dgm:spPr/>
      <dgm:t>
        <a:bodyPr/>
        <a:lstStyle/>
        <a:p>
          <a:endParaRPr lang="en-GB" sz="2000"/>
        </a:p>
      </dgm:t>
    </dgm:pt>
    <dgm:pt modelId="{0C71B59A-674A-48C8-B037-1F9640ADA87E}" type="sibTrans" cxnId="{1BDA7448-2A68-480C-994F-1892C31171FF}">
      <dgm:prSet/>
      <dgm:spPr/>
      <dgm:t>
        <a:bodyPr/>
        <a:lstStyle/>
        <a:p>
          <a:endParaRPr lang="en-GB" sz="2000"/>
        </a:p>
      </dgm:t>
    </dgm:pt>
    <dgm:pt modelId="{B2402A83-5DFA-4991-8C12-4597600130BC}" type="pres">
      <dgm:prSet presAssocID="{1C239419-4BAB-4290-8DC2-49559D005C3A}" presName="arrowDiagram" presStyleCnt="0">
        <dgm:presLayoutVars>
          <dgm:chMax val="5"/>
          <dgm:dir/>
          <dgm:resizeHandles val="exact"/>
        </dgm:presLayoutVars>
      </dgm:prSet>
      <dgm:spPr/>
    </dgm:pt>
    <dgm:pt modelId="{FD3A3EC1-5EF2-440F-A396-30297A37AEDF}" type="pres">
      <dgm:prSet presAssocID="{1C239419-4BAB-4290-8DC2-49559D005C3A}" presName="arrow" presStyleLbl="bgShp" presStyleIdx="0" presStyleCnt="1" custScaleX="114353"/>
      <dgm:spPr/>
    </dgm:pt>
    <dgm:pt modelId="{59367754-3D17-4886-B310-D686E76997A2}" type="pres">
      <dgm:prSet presAssocID="{1C239419-4BAB-4290-8DC2-49559D005C3A}" presName="arrowDiagram4" presStyleCnt="0"/>
      <dgm:spPr/>
    </dgm:pt>
    <dgm:pt modelId="{A8E626A8-F9F8-4CC5-A994-34FD6A921425}" type="pres">
      <dgm:prSet presAssocID="{9016B71C-61C2-43DC-A5F4-F669E6600D26}" presName="bullet4a" presStyleLbl="node1" presStyleIdx="0" presStyleCnt="4"/>
      <dgm:spPr/>
    </dgm:pt>
    <dgm:pt modelId="{B58E6758-9E36-469D-845C-8334D0E55426}" type="pres">
      <dgm:prSet presAssocID="{9016B71C-61C2-43DC-A5F4-F669E6600D26}" presName="textBox4a" presStyleLbl="revTx" presStyleIdx="0" presStyleCnt="4">
        <dgm:presLayoutVars>
          <dgm:bulletEnabled val="1"/>
        </dgm:presLayoutVars>
      </dgm:prSet>
      <dgm:spPr/>
    </dgm:pt>
    <dgm:pt modelId="{5184438E-6F89-4DE2-842E-D82CC365027F}" type="pres">
      <dgm:prSet presAssocID="{FA56113D-7A0A-4C3A-A3C6-C94CEC38E7B6}" presName="bullet4b" presStyleLbl="node1" presStyleIdx="1" presStyleCnt="4"/>
      <dgm:spPr/>
    </dgm:pt>
    <dgm:pt modelId="{1B56CFC3-EF52-49B2-9909-97706F1E27D8}" type="pres">
      <dgm:prSet presAssocID="{FA56113D-7A0A-4C3A-A3C6-C94CEC38E7B6}" presName="textBox4b" presStyleLbl="revTx" presStyleIdx="1" presStyleCnt="4">
        <dgm:presLayoutVars>
          <dgm:bulletEnabled val="1"/>
        </dgm:presLayoutVars>
      </dgm:prSet>
      <dgm:spPr/>
    </dgm:pt>
    <dgm:pt modelId="{E35F53E2-0B20-4472-81EE-0F7F3FAA9002}" type="pres">
      <dgm:prSet presAssocID="{E2B623A2-230D-467B-9C54-5C583F8D2531}" presName="bullet4c" presStyleLbl="node1" presStyleIdx="2" presStyleCnt="4"/>
      <dgm:spPr/>
    </dgm:pt>
    <dgm:pt modelId="{B38B70E9-0DAB-4073-9D5D-F99B942D4150}" type="pres">
      <dgm:prSet presAssocID="{E2B623A2-230D-467B-9C54-5C583F8D2531}" presName="textBox4c" presStyleLbl="revTx" presStyleIdx="2" presStyleCnt="4">
        <dgm:presLayoutVars>
          <dgm:bulletEnabled val="1"/>
        </dgm:presLayoutVars>
      </dgm:prSet>
      <dgm:spPr/>
    </dgm:pt>
    <dgm:pt modelId="{CC87F0C7-FA40-438A-BF4E-44CA47156CE6}" type="pres">
      <dgm:prSet presAssocID="{5EF75E75-0E48-429C-8FC7-9FAE48E3259E}" presName="bullet4d" presStyleLbl="node1" presStyleIdx="3" presStyleCnt="4"/>
      <dgm:spPr/>
    </dgm:pt>
    <dgm:pt modelId="{A0A9B357-EDCF-42AD-AC66-BA1484709B9B}" type="pres">
      <dgm:prSet presAssocID="{5EF75E75-0E48-429C-8FC7-9FAE48E3259E}" presName="textBox4d" presStyleLbl="revTx" presStyleIdx="3" presStyleCnt="4">
        <dgm:presLayoutVars>
          <dgm:bulletEnabled val="1"/>
        </dgm:presLayoutVars>
      </dgm:prSet>
      <dgm:spPr/>
    </dgm:pt>
  </dgm:ptLst>
  <dgm:cxnLst>
    <dgm:cxn modelId="{29E8D536-613B-4759-AB31-FDD780D77BF0}" type="presOf" srcId="{E2B623A2-230D-467B-9C54-5C583F8D2531}" destId="{B38B70E9-0DAB-4073-9D5D-F99B942D4150}" srcOrd="0" destOrd="0" presId="urn:microsoft.com/office/officeart/2005/8/layout/arrow2"/>
    <dgm:cxn modelId="{A786C638-2981-4E43-B00A-6FE423717285}" type="presOf" srcId="{9016B71C-61C2-43DC-A5F4-F669E6600D26}" destId="{B58E6758-9E36-469D-845C-8334D0E55426}" srcOrd="0" destOrd="0" presId="urn:microsoft.com/office/officeart/2005/8/layout/arrow2"/>
    <dgm:cxn modelId="{8490BD44-578B-4CCF-A3BC-0408CB2CD565}" srcId="{1C239419-4BAB-4290-8DC2-49559D005C3A}" destId="{FA56113D-7A0A-4C3A-A3C6-C94CEC38E7B6}" srcOrd="1" destOrd="0" parTransId="{C772F9C5-E403-4248-9594-06AD446CA303}" sibTransId="{A87E8F30-CC69-40E9-BD55-B804C523077E}"/>
    <dgm:cxn modelId="{1BDA7448-2A68-480C-994F-1892C31171FF}" srcId="{1C239419-4BAB-4290-8DC2-49559D005C3A}" destId="{E2B623A2-230D-467B-9C54-5C583F8D2531}" srcOrd="2" destOrd="0" parTransId="{3069F5DA-8A76-4731-95F9-AAB9271569FB}" sibTransId="{0C71B59A-674A-48C8-B037-1F9640ADA87E}"/>
    <dgm:cxn modelId="{7B127F84-ABCC-4515-B1EE-FBE0C0B38101}" type="presOf" srcId="{1C239419-4BAB-4290-8DC2-49559D005C3A}" destId="{B2402A83-5DFA-4991-8C12-4597600130BC}" srcOrd="0" destOrd="0" presId="urn:microsoft.com/office/officeart/2005/8/layout/arrow2"/>
    <dgm:cxn modelId="{9A329597-2273-4159-AE33-50F324C466A3}" type="presOf" srcId="{FA56113D-7A0A-4C3A-A3C6-C94CEC38E7B6}" destId="{1B56CFC3-EF52-49B2-9909-97706F1E27D8}" srcOrd="0" destOrd="0" presId="urn:microsoft.com/office/officeart/2005/8/layout/arrow2"/>
    <dgm:cxn modelId="{956B07BD-C21E-4E4D-99BB-C2E3408B7164}" srcId="{1C239419-4BAB-4290-8DC2-49559D005C3A}" destId="{5EF75E75-0E48-429C-8FC7-9FAE48E3259E}" srcOrd="3" destOrd="0" parTransId="{4237F279-635F-4A1E-AED5-A013DAC50402}" sibTransId="{DF6600F6-88CA-4D62-9BA4-B013BAE77F77}"/>
    <dgm:cxn modelId="{8F1522C1-54B2-4A0F-92C0-A3F12EF49610}" srcId="{1C239419-4BAB-4290-8DC2-49559D005C3A}" destId="{9016B71C-61C2-43DC-A5F4-F669E6600D26}" srcOrd="0" destOrd="0" parTransId="{607C068F-FE1A-47DE-B0C4-2B43835F5E40}" sibTransId="{F2258483-64AA-4B01-9021-0DF28CB6E938}"/>
    <dgm:cxn modelId="{011246F9-B330-45AC-8E7B-F9FD0DF82739}" type="presOf" srcId="{5EF75E75-0E48-429C-8FC7-9FAE48E3259E}" destId="{A0A9B357-EDCF-42AD-AC66-BA1484709B9B}" srcOrd="0" destOrd="0" presId="urn:microsoft.com/office/officeart/2005/8/layout/arrow2"/>
    <dgm:cxn modelId="{A5E90EE2-C6DD-4956-9624-4A11FE6945B6}" type="presParOf" srcId="{B2402A83-5DFA-4991-8C12-4597600130BC}" destId="{FD3A3EC1-5EF2-440F-A396-30297A37AEDF}" srcOrd="0" destOrd="0" presId="urn:microsoft.com/office/officeart/2005/8/layout/arrow2"/>
    <dgm:cxn modelId="{4C2D8F78-6310-41E6-A9DD-1AF37D8669E9}" type="presParOf" srcId="{B2402A83-5DFA-4991-8C12-4597600130BC}" destId="{59367754-3D17-4886-B310-D686E76997A2}" srcOrd="1" destOrd="0" presId="urn:microsoft.com/office/officeart/2005/8/layout/arrow2"/>
    <dgm:cxn modelId="{B829DE78-61A3-4165-86D5-FAD3977E9085}" type="presParOf" srcId="{59367754-3D17-4886-B310-D686E76997A2}" destId="{A8E626A8-F9F8-4CC5-A994-34FD6A921425}" srcOrd="0" destOrd="0" presId="urn:microsoft.com/office/officeart/2005/8/layout/arrow2"/>
    <dgm:cxn modelId="{11C31B89-F3A6-474E-9C59-4D9234874229}" type="presParOf" srcId="{59367754-3D17-4886-B310-D686E76997A2}" destId="{B58E6758-9E36-469D-845C-8334D0E55426}" srcOrd="1" destOrd="0" presId="urn:microsoft.com/office/officeart/2005/8/layout/arrow2"/>
    <dgm:cxn modelId="{C7164539-DD1D-48A0-87A0-C9B6CC955268}" type="presParOf" srcId="{59367754-3D17-4886-B310-D686E76997A2}" destId="{5184438E-6F89-4DE2-842E-D82CC365027F}" srcOrd="2" destOrd="0" presId="urn:microsoft.com/office/officeart/2005/8/layout/arrow2"/>
    <dgm:cxn modelId="{79B78259-505A-454E-B516-370DF4B99AF0}" type="presParOf" srcId="{59367754-3D17-4886-B310-D686E76997A2}" destId="{1B56CFC3-EF52-49B2-9909-97706F1E27D8}" srcOrd="3" destOrd="0" presId="urn:microsoft.com/office/officeart/2005/8/layout/arrow2"/>
    <dgm:cxn modelId="{9E037E5E-C556-40FD-BD33-67A730CC3AFD}" type="presParOf" srcId="{59367754-3D17-4886-B310-D686E76997A2}" destId="{E35F53E2-0B20-4472-81EE-0F7F3FAA9002}" srcOrd="4" destOrd="0" presId="urn:microsoft.com/office/officeart/2005/8/layout/arrow2"/>
    <dgm:cxn modelId="{DA3F9690-9102-450F-A000-F8130EB7D22E}" type="presParOf" srcId="{59367754-3D17-4886-B310-D686E76997A2}" destId="{B38B70E9-0DAB-4073-9D5D-F99B942D4150}" srcOrd="5" destOrd="0" presId="urn:microsoft.com/office/officeart/2005/8/layout/arrow2"/>
    <dgm:cxn modelId="{EC4EAAC7-38BE-496A-BA99-933FABB1E90E}" type="presParOf" srcId="{59367754-3D17-4886-B310-D686E76997A2}" destId="{CC87F0C7-FA40-438A-BF4E-44CA47156CE6}" srcOrd="6" destOrd="0" presId="urn:microsoft.com/office/officeart/2005/8/layout/arrow2"/>
    <dgm:cxn modelId="{335F9412-3A2A-416E-AF23-4D3B74E71788}" type="presParOf" srcId="{59367754-3D17-4886-B310-D686E76997A2}" destId="{A0A9B357-EDCF-42AD-AC66-BA1484709B9B}" srcOrd="7" destOrd="0" presId="urn:microsoft.com/office/officeart/2005/8/layout/arrow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32D1CF0-145D-469E-8ECE-A4C63FCF58E1}" type="doc">
      <dgm:prSet loTypeId="urn:microsoft.com/office/officeart/2005/8/layout/radial5" loCatId="cycle" qsTypeId="urn:microsoft.com/office/officeart/2005/8/quickstyle/3d2#3" qsCatId="3D" csTypeId="urn:microsoft.com/office/officeart/2005/8/colors/colorful2#2" csCatId="colorful" phldr="1"/>
      <dgm:spPr/>
      <dgm:t>
        <a:bodyPr/>
        <a:lstStyle/>
        <a:p>
          <a:endParaRPr lang="en-GB"/>
        </a:p>
      </dgm:t>
    </dgm:pt>
    <dgm:pt modelId="{09EB6F70-5576-40F4-8F90-9E9E1C18DF96}">
      <dgm:prSet phldrT="[Text]" custT="1"/>
      <dgm:spPr/>
      <dgm:t>
        <a:bodyPr/>
        <a:lstStyle/>
        <a:p>
          <a:r>
            <a:rPr lang="en-GB" sz="2400" dirty="0"/>
            <a:t>Managers</a:t>
          </a:r>
        </a:p>
      </dgm:t>
    </dgm:pt>
    <dgm:pt modelId="{97092EB1-EC2E-4FF5-8DC2-2ADE50F3F2FD}" type="parTrans" cxnId="{1409F69E-E641-4883-8D37-7F3EBB84D527}">
      <dgm:prSet/>
      <dgm:spPr/>
      <dgm:t>
        <a:bodyPr/>
        <a:lstStyle/>
        <a:p>
          <a:endParaRPr lang="en-GB"/>
        </a:p>
      </dgm:t>
    </dgm:pt>
    <dgm:pt modelId="{719586FB-E0D0-47FB-BB7B-82E6F585638E}" type="sibTrans" cxnId="{1409F69E-E641-4883-8D37-7F3EBB84D527}">
      <dgm:prSet/>
      <dgm:spPr/>
      <dgm:t>
        <a:bodyPr/>
        <a:lstStyle/>
        <a:p>
          <a:endParaRPr lang="en-GB"/>
        </a:p>
      </dgm:t>
    </dgm:pt>
    <dgm:pt modelId="{FD3372BA-05C1-453F-A23C-5484F0F689A2}">
      <dgm:prSet phldrT="[Text]" custT="1"/>
      <dgm:spPr/>
      <dgm:t>
        <a:bodyPr/>
        <a:lstStyle/>
        <a:p>
          <a:r>
            <a:rPr lang="en-GB" sz="2400" dirty="0"/>
            <a:t>Owners</a:t>
          </a:r>
        </a:p>
      </dgm:t>
    </dgm:pt>
    <dgm:pt modelId="{4EF58ED5-D738-4DE4-B049-E7840E60A8BE}" type="parTrans" cxnId="{77A19B71-114C-44CD-96C2-AE9210078039}">
      <dgm:prSet/>
      <dgm:spPr/>
      <dgm:t>
        <a:bodyPr/>
        <a:lstStyle/>
        <a:p>
          <a:endParaRPr lang="en-GB"/>
        </a:p>
      </dgm:t>
    </dgm:pt>
    <dgm:pt modelId="{1649E8CD-9ECE-436F-9013-289838EAC9D0}" type="sibTrans" cxnId="{77A19B71-114C-44CD-96C2-AE9210078039}">
      <dgm:prSet/>
      <dgm:spPr/>
      <dgm:t>
        <a:bodyPr/>
        <a:lstStyle/>
        <a:p>
          <a:endParaRPr lang="en-GB"/>
        </a:p>
      </dgm:t>
    </dgm:pt>
    <dgm:pt modelId="{6679EEF9-015B-4836-8926-9E0B5ADC0E3F}">
      <dgm:prSet phldrT="[Text]" custT="1"/>
      <dgm:spPr/>
      <dgm:t>
        <a:bodyPr/>
        <a:lstStyle/>
        <a:p>
          <a:r>
            <a:rPr lang="en-GB" sz="2400" dirty="0"/>
            <a:t>Society</a:t>
          </a:r>
        </a:p>
      </dgm:t>
    </dgm:pt>
    <dgm:pt modelId="{4B4DE6EF-1E41-4AB0-A787-E1D765A62546}" type="parTrans" cxnId="{B25E6C9B-2E32-4798-8828-6D6D32BCD1B6}">
      <dgm:prSet/>
      <dgm:spPr/>
      <dgm:t>
        <a:bodyPr/>
        <a:lstStyle/>
        <a:p>
          <a:endParaRPr lang="en-GB"/>
        </a:p>
      </dgm:t>
    </dgm:pt>
    <dgm:pt modelId="{DF579D60-671B-483F-A91B-8A35A946F817}" type="sibTrans" cxnId="{B25E6C9B-2E32-4798-8828-6D6D32BCD1B6}">
      <dgm:prSet/>
      <dgm:spPr/>
      <dgm:t>
        <a:bodyPr/>
        <a:lstStyle/>
        <a:p>
          <a:endParaRPr lang="en-GB"/>
        </a:p>
      </dgm:t>
    </dgm:pt>
    <dgm:pt modelId="{4923246D-B5E6-4BFF-8BD1-355DF22D1DB2}">
      <dgm:prSet phldrT="[Text]" custT="1"/>
      <dgm:spPr/>
      <dgm:t>
        <a:bodyPr/>
        <a:lstStyle/>
        <a:p>
          <a:r>
            <a:rPr lang="en-GB" sz="2400"/>
            <a:t>Markets</a:t>
          </a:r>
          <a:endParaRPr lang="en-GB" sz="2400" dirty="0"/>
        </a:p>
      </dgm:t>
    </dgm:pt>
    <dgm:pt modelId="{FC3A5B1E-E55A-422C-8093-973B54C8BB88}" type="parTrans" cxnId="{6FB2DA67-9573-42F4-B5DE-F0B7DE75F075}">
      <dgm:prSet/>
      <dgm:spPr/>
      <dgm:t>
        <a:bodyPr/>
        <a:lstStyle/>
        <a:p>
          <a:endParaRPr lang="en-GB"/>
        </a:p>
      </dgm:t>
    </dgm:pt>
    <dgm:pt modelId="{35775571-49F9-4F00-9AA7-597FAF33D51B}" type="sibTrans" cxnId="{6FB2DA67-9573-42F4-B5DE-F0B7DE75F075}">
      <dgm:prSet/>
      <dgm:spPr/>
      <dgm:t>
        <a:bodyPr/>
        <a:lstStyle/>
        <a:p>
          <a:endParaRPr lang="en-GB"/>
        </a:p>
      </dgm:t>
    </dgm:pt>
    <dgm:pt modelId="{351F2723-E993-462E-83CC-D7DA29ADE54F}">
      <dgm:prSet phldrT="[Text]" custT="1"/>
      <dgm:spPr/>
      <dgm:t>
        <a:bodyPr/>
        <a:lstStyle/>
        <a:p>
          <a:r>
            <a:rPr lang="en-GB" sz="2400" dirty="0"/>
            <a:t>Lenders</a:t>
          </a:r>
        </a:p>
      </dgm:t>
    </dgm:pt>
    <dgm:pt modelId="{19DC4AF4-69AC-41CC-934D-1479AD6F0FFC}" type="parTrans" cxnId="{0E33678C-C388-47EE-9CBD-7215DF0E5AA7}">
      <dgm:prSet/>
      <dgm:spPr/>
      <dgm:t>
        <a:bodyPr/>
        <a:lstStyle/>
        <a:p>
          <a:endParaRPr lang="en-GB"/>
        </a:p>
      </dgm:t>
    </dgm:pt>
    <dgm:pt modelId="{B00209F2-8907-4940-B231-29A2EC74A7FA}" type="sibTrans" cxnId="{0E33678C-C388-47EE-9CBD-7215DF0E5AA7}">
      <dgm:prSet/>
      <dgm:spPr/>
      <dgm:t>
        <a:bodyPr/>
        <a:lstStyle/>
        <a:p>
          <a:endParaRPr lang="en-GB"/>
        </a:p>
      </dgm:t>
    </dgm:pt>
    <dgm:pt modelId="{471943EA-BAA3-476F-A5BF-408692347083}" type="pres">
      <dgm:prSet presAssocID="{732D1CF0-145D-469E-8ECE-A4C63FCF58E1}" presName="Name0" presStyleCnt="0">
        <dgm:presLayoutVars>
          <dgm:chMax val="1"/>
          <dgm:dir/>
          <dgm:animLvl val="ctr"/>
          <dgm:resizeHandles val="exact"/>
        </dgm:presLayoutVars>
      </dgm:prSet>
      <dgm:spPr/>
    </dgm:pt>
    <dgm:pt modelId="{2A05DFA8-4C01-4113-92A5-351E481A4B05}" type="pres">
      <dgm:prSet presAssocID="{09EB6F70-5576-40F4-8F90-9E9E1C18DF96}" presName="centerShape" presStyleLbl="node0" presStyleIdx="0" presStyleCnt="1" custScaleX="164220" custScaleY="75171"/>
      <dgm:spPr/>
    </dgm:pt>
    <dgm:pt modelId="{BE657DE8-4043-491F-8200-D94683FBA2B9}" type="pres">
      <dgm:prSet presAssocID="{4EF58ED5-D738-4DE4-B049-E7840E60A8BE}" presName="parTrans" presStyleLbl="sibTrans2D1" presStyleIdx="0" presStyleCnt="4"/>
      <dgm:spPr/>
    </dgm:pt>
    <dgm:pt modelId="{6B8E9580-EAAC-47B9-AE82-87811CB3761C}" type="pres">
      <dgm:prSet presAssocID="{4EF58ED5-D738-4DE4-B049-E7840E60A8BE}" presName="connectorText" presStyleLbl="sibTrans2D1" presStyleIdx="0" presStyleCnt="4"/>
      <dgm:spPr/>
    </dgm:pt>
    <dgm:pt modelId="{F0A391E1-F295-4C8F-91CA-34FF7EBFC3A7}" type="pres">
      <dgm:prSet presAssocID="{FD3372BA-05C1-453F-A23C-5484F0F689A2}" presName="node" presStyleLbl="node1" presStyleIdx="0" presStyleCnt="4" custScaleX="155736" custScaleY="132829">
        <dgm:presLayoutVars>
          <dgm:bulletEnabled val="1"/>
        </dgm:presLayoutVars>
      </dgm:prSet>
      <dgm:spPr/>
    </dgm:pt>
    <dgm:pt modelId="{396993C5-A660-4FEF-95FE-80F871453B3E}" type="pres">
      <dgm:prSet presAssocID="{4B4DE6EF-1E41-4AB0-A787-E1D765A62546}" presName="parTrans" presStyleLbl="sibTrans2D1" presStyleIdx="1" presStyleCnt="4"/>
      <dgm:spPr/>
    </dgm:pt>
    <dgm:pt modelId="{25C34567-6DB3-4D2D-82BD-0EB77421FE4E}" type="pres">
      <dgm:prSet presAssocID="{4B4DE6EF-1E41-4AB0-A787-E1D765A62546}" presName="connectorText" presStyleLbl="sibTrans2D1" presStyleIdx="1" presStyleCnt="4"/>
      <dgm:spPr/>
    </dgm:pt>
    <dgm:pt modelId="{67F3DE2B-E7E2-4F68-B5C1-6A19200F553D}" type="pres">
      <dgm:prSet presAssocID="{6679EEF9-015B-4836-8926-9E0B5ADC0E3F}" presName="node" presStyleLbl="node1" presStyleIdx="1" presStyleCnt="4" custScaleX="155736" custScaleY="132829" custRadScaleRad="259452">
        <dgm:presLayoutVars>
          <dgm:bulletEnabled val="1"/>
        </dgm:presLayoutVars>
      </dgm:prSet>
      <dgm:spPr/>
    </dgm:pt>
    <dgm:pt modelId="{07665A25-6D73-45C2-97B0-8BCE9652247F}" type="pres">
      <dgm:prSet presAssocID="{FC3A5B1E-E55A-422C-8093-973B54C8BB88}" presName="parTrans" presStyleLbl="sibTrans2D1" presStyleIdx="2" presStyleCnt="4"/>
      <dgm:spPr/>
    </dgm:pt>
    <dgm:pt modelId="{99A2871A-4AA1-43B6-B822-07626D2DE9D8}" type="pres">
      <dgm:prSet presAssocID="{FC3A5B1E-E55A-422C-8093-973B54C8BB88}" presName="connectorText" presStyleLbl="sibTrans2D1" presStyleIdx="2" presStyleCnt="4"/>
      <dgm:spPr/>
    </dgm:pt>
    <dgm:pt modelId="{2CF9D6F6-5B34-41F4-9FFE-FB8DBE14F0D1}" type="pres">
      <dgm:prSet presAssocID="{4923246D-B5E6-4BFF-8BD1-355DF22D1DB2}" presName="node" presStyleLbl="node1" presStyleIdx="2" presStyleCnt="4" custScaleX="155736" custScaleY="132829">
        <dgm:presLayoutVars>
          <dgm:bulletEnabled val="1"/>
        </dgm:presLayoutVars>
      </dgm:prSet>
      <dgm:spPr/>
    </dgm:pt>
    <dgm:pt modelId="{139CF41D-4B1C-4D32-AB04-E84D77C39BFA}" type="pres">
      <dgm:prSet presAssocID="{19DC4AF4-69AC-41CC-934D-1479AD6F0FFC}" presName="parTrans" presStyleLbl="sibTrans2D1" presStyleIdx="3" presStyleCnt="4"/>
      <dgm:spPr/>
    </dgm:pt>
    <dgm:pt modelId="{39FC352A-0742-493F-8629-46776C0E5B91}" type="pres">
      <dgm:prSet presAssocID="{19DC4AF4-69AC-41CC-934D-1479AD6F0FFC}" presName="connectorText" presStyleLbl="sibTrans2D1" presStyleIdx="3" presStyleCnt="4"/>
      <dgm:spPr/>
    </dgm:pt>
    <dgm:pt modelId="{1D5DE4D4-6125-4369-866B-432E3F2F2808}" type="pres">
      <dgm:prSet presAssocID="{351F2723-E993-462E-83CC-D7DA29ADE54F}" presName="node" presStyleLbl="node1" presStyleIdx="3" presStyleCnt="4" custScaleX="155736" custScaleY="132829" custRadScaleRad="229185">
        <dgm:presLayoutVars>
          <dgm:bulletEnabled val="1"/>
        </dgm:presLayoutVars>
      </dgm:prSet>
      <dgm:spPr/>
    </dgm:pt>
  </dgm:ptLst>
  <dgm:cxnLst>
    <dgm:cxn modelId="{798B0106-92D6-465C-9026-73A8D81C9157}" type="presOf" srcId="{19DC4AF4-69AC-41CC-934D-1479AD6F0FFC}" destId="{139CF41D-4B1C-4D32-AB04-E84D77C39BFA}" srcOrd="0" destOrd="0" presId="urn:microsoft.com/office/officeart/2005/8/layout/radial5"/>
    <dgm:cxn modelId="{4E58F62A-4211-4AA3-9C77-605BB1845413}" type="presOf" srcId="{6679EEF9-015B-4836-8926-9E0B5ADC0E3F}" destId="{67F3DE2B-E7E2-4F68-B5C1-6A19200F553D}" srcOrd="0" destOrd="0" presId="urn:microsoft.com/office/officeart/2005/8/layout/radial5"/>
    <dgm:cxn modelId="{558C665B-7969-4DD4-B563-BB9D6936F4DC}" type="presOf" srcId="{09EB6F70-5576-40F4-8F90-9E9E1C18DF96}" destId="{2A05DFA8-4C01-4113-92A5-351E481A4B05}" srcOrd="0" destOrd="0" presId="urn:microsoft.com/office/officeart/2005/8/layout/radial5"/>
    <dgm:cxn modelId="{6FB2DA67-9573-42F4-B5DE-F0B7DE75F075}" srcId="{09EB6F70-5576-40F4-8F90-9E9E1C18DF96}" destId="{4923246D-B5E6-4BFF-8BD1-355DF22D1DB2}" srcOrd="2" destOrd="0" parTransId="{FC3A5B1E-E55A-422C-8093-973B54C8BB88}" sibTransId="{35775571-49F9-4F00-9AA7-597FAF33D51B}"/>
    <dgm:cxn modelId="{8B0CA26F-5DE8-4508-8FB9-4E18FCD4BFB8}" type="presOf" srcId="{4EF58ED5-D738-4DE4-B049-E7840E60A8BE}" destId="{BE657DE8-4043-491F-8200-D94683FBA2B9}" srcOrd="0" destOrd="0" presId="urn:microsoft.com/office/officeart/2005/8/layout/radial5"/>
    <dgm:cxn modelId="{77A19B71-114C-44CD-96C2-AE9210078039}" srcId="{09EB6F70-5576-40F4-8F90-9E9E1C18DF96}" destId="{FD3372BA-05C1-453F-A23C-5484F0F689A2}" srcOrd="0" destOrd="0" parTransId="{4EF58ED5-D738-4DE4-B049-E7840E60A8BE}" sibTransId="{1649E8CD-9ECE-436F-9013-289838EAC9D0}"/>
    <dgm:cxn modelId="{06A96757-8933-4E1E-9ADF-ECF0511BD646}" type="presOf" srcId="{FC3A5B1E-E55A-422C-8093-973B54C8BB88}" destId="{99A2871A-4AA1-43B6-B822-07626D2DE9D8}" srcOrd="1" destOrd="0" presId="urn:microsoft.com/office/officeart/2005/8/layout/radial5"/>
    <dgm:cxn modelId="{0E33678C-C388-47EE-9CBD-7215DF0E5AA7}" srcId="{09EB6F70-5576-40F4-8F90-9E9E1C18DF96}" destId="{351F2723-E993-462E-83CC-D7DA29ADE54F}" srcOrd="3" destOrd="0" parTransId="{19DC4AF4-69AC-41CC-934D-1479AD6F0FFC}" sibTransId="{B00209F2-8907-4940-B231-29A2EC74A7FA}"/>
    <dgm:cxn modelId="{B25E6C9B-2E32-4798-8828-6D6D32BCD1B6}" srcId="{09EB6F70-5576-40F4-8F90-9E9E1C18DF96}" destId="{6679EEF9-015B-4836-8926-9E0B5ADC0E3F}" srcOrd="1" destOrd="0" parTransId="{4B4DE6EF-1E41-4AB0-A787-E1D765A62546}" sibTransId="{DF579D60-671B-483F-A91B-8A35A946F817}"/>
    <dgm:cxn modelId="{1409F69E-E641-4883-8D37-7F3EBB84D527}" srcId="{732D1CF0-145D-469E-8ECE-A4C63FCF58E1}" destId="{09EB6F70-5576-40F4-8F90-9E9E1C18DF96}" srcOrd="0" destOrd="0" parTransId="{97092EB1-EC2E-4FF5-8DC2-2ADE50F3F2FD}" sibTransId="{719586FB-E0D0-47FB-BB7B-82E6F585638E}"/>
    <dgm:cxn modelId="{3D2250A3-BFCB-4884-9BA5-597EF3CF4754}" type="presOf" srcId="{4EF58ED5-D738-4DE4-B049-E7840E60A8BE}" destId="{6B8E9580-EAAC-47B9-AE82-87811CB3761C}" srcOrd="1" destOrd="0" presId="urn:microsoft.com/office/officeart/2005/8/layout/radial5"/>
    <dgm:cxn modelId="{18CB2FA5-BA84-4055-843D-901EE2E04EB0}" type="presOf" srcId="{732D1CF0-145D-469E-8ECE-A4C63FCF58E1}" destId="{471943EA-BAA3-476F-A5BF-408692347083}" srcOrd="0" destOrd="0" presId="urn:microsoft.com/office/officeart/2005/8/layout/radial5"/>
    <dgm:cxn modelId="{0D6E6BAA-6635-4122-863E-14F144D5242A}" type="presOf" srcId="{19DC4AF4-69AC-41CC-934D-1479AD6F0FFC}" destId="{39FC352A-0742-493F-8629-46776C0E5B91}" srcOrd="1" destOrd="0" presId="urn:microsoft.com/office/officeart/2005/8/layout/radial5"/>
    <dgm:cxn modelId="{34B09EBA-CBCE-47DD-BDFA-A3C842C91EB6}" type="presOf" srcId="{4B4DE6EF-1E41-4AB0-A787-E1D765A62546}" destId="{396993C5-A660-4FEF-95FE-80F871453B3E}" srcOrd="0" destOrd="0" presId="urn:microsoft.com/office/officeart/2005/8/layout/radial5"/>
    <dgm:cxn modelId="{6011A0BB-5B3A-4ED3-8206-603F777A3C04}" type="presOf" srcId="{4B4DE6EF-1E41-4AB0-A787-E1D765A62546}" destId="{25C34567-6DB3-4D2D-82BD-0EB77421FE4E}" srcOrd="1" destOrd="0" presId="urn:microsoft.com/office/officeart/2005/8/layout/radial5"/>
    <dgm:cxn modelId="{72031DC6-F0C2-403C-97A4-CB0521AE904D}" type="presOf" srcId="{351F2723-E993-462E-83CC-D7DA29ADE54F}" destId="{1D5DE4D4-6125-4369-866B-432E3F2F2808}" srcOrd="0" destOrd="0" presId="urn:microsoft.com/office/officeart/2005/8/layout/radial5"/>
    <dgm:cxn modelId="{BE30C7E7-A4BA-4D64-9A55-B584641E1F3D}" type="presOf" srcId="{4923246D-B5E6-4BFF-8BD1-355DF22D1DB2}" destId="{2CF9D6F6-5B34-41F4-9FFE-FB8DBE14F0D1}" srcOrd="0" destOrd="0" presId="urn:microsoft.com/office/officeart/2005/8/layout/radial5"/>
    <dgm:cxn modelId="{9CA54BE8-3371-4510-986A-2D962B233EC0}" type="presOf" srcId="{FD3372BA-05C1-453F-A23C-5484F0F689A2}" destId="{F0A391E1-F295-4C8F-91CA-34FF7EBFC3A7}" srcOrd="0" destOrd="0" presId="urn:microsoft.com/office/officeart/2005/8/layout/radial5"/>
    <dgm:cxn modelId="{3B073DFE-82B1-487C-80B9-29A3716DFCB8}" type="presOf" srcId="{FC3A5B1E-E55A-422C-8093-973B54C8BB88}" destId="{07665A25-6D73-45C2-97B0-8BCE9652247F}" srcOrd="0" destOrd="0" presId="urn:microsoft.com/office/officeart/2005/8/layout/radial5"/>
    <dgm:cxn modelId="{0898324B-E4AD-4CF5-9B7A-6AC1DE58A2ED}" type="presParOf" srcId="{471943EA-BAA3-476F-A5BF-408692347083}" destId="{2A05DFA8-4C01-4113-92A5-351E481A4B05}" srcOrd="0" destOrd="0" presId="urn:microsoft.com/office/officeart/2005/8/layout/radial5"/>
    <dgm:cxn modelId="{C8BB122A-5D10-4884-95CD-57C86349F456}" type="presParOf" srcId="{471943EA-BAA3-476F-A5BF-408692347083}" destId="{BE657DE8-4043-491F-8200-D94683FBA2B9}" srcOrd="1" destOrd="0" presId="urn:microsoft.com/office/officeart/2005/8/layout/radial5"/>
    <dgm:cxn modelId="{F8D1A8FC-91F2-4B4D-A143-0659B1A92E3E}" type="presParOf" srcId="{BE657DE8-4043-491F-8200-D94683FBA2B9}" destId="{6B8E9580-EAAC-47B9-AE82-87811CB3761C}" srcOrd="0" destOrd="0" presId="urn:microsoft.com/office/officeart/2005/8/layout/radial5"/>
    <dgm:cxn modelId="{6B99D5AF-459D-44E4-9BE0-A3390551A532}" type="presParOf" srcId="{471943EA-BAA3-476F-A5BF-408692347083}" destId="{F0A391E1-F295-4C8F-91CA-34FF7EBFC3A7}" srcOrd="2" destOrd="0" presId="urn:microsoft.com/office/officeart/2005/8/layout/radial5"/>
    <dgm:cxn modelId="{D06637D4-FA59-420E-AD62-14DB0C4E0360}" type="presParOf" srcId="{471943EA-BAA3-476F-A5BF-408692347083}" destId="{396993C5-A660-4FEF-95FE-80F871453B3E}" srcOrd="3" destOrd="0" presId="urn:microsoft.com/office/officeart/2005/8/layout/radial5"/>
    <dgm:cxn modelId="{31AF7E13-3983-450B-8180-5021183FA652}" type="presParOf" srcId="{396993C5-A660-4FEF-95FE-80F871453B3E}" destId="{25C34567-6DB3-4D2D-82BD-0EB77421FE4E}" srcOrd="0" destOrd="0" presId="urn:microsoft.com/office/officeart/2005/8/layout/radial5"/>
    <dgm:cxn modelId="{B3AAD1EA-7CC2-4565-BC32-B314397E2299}" type="presParOf" srcId="{471943EA-BAA3-476F-A5BF-408692347083}" destId="{67F3DE2B-E7E2-4F68-B5C1-6A19200F553D}" srcOrd="4" destOrd="0" presId="urn:microsoft.com/office/officeart/2005/8/layout/radial5"/>
    <dgm:cxn modelId="{7069EBF0-C43A-4ED4-B2B7-48C180357744}" type="presParOf" srcId="{471943EA-BAA3-476F-A5BF-408692347083}" destId="{07665A25-6D73-45C2-97B0-8BCE9652247F}" srcOrd="5" destOrd="0" presId="urn:microsoft.com/office/officeart/2005/8/layout/radial5"/>
    <dgm:cxn modelId="{7351B662-4A2F-424F-B3C6-1223A9BFC1B8}" type="presParOf" srcId="{07665A25-6D73-45C2-97B0-8BCE9652247F}" destId="{99A2871A-4AA1-43B6-B822-07626D2DE9D8}" srcOrd="0" destOrd="0" presId="urn:microsoft.com/office/officeart/2005/8/layout/radial5"/>
    <dgm:cxn modelId="{F1F42D80-88FD-4C8B-BBFE-97BE36E28E37}" type="presParOf" srcId="{471943EA-BAA3-476F-A5BF-408692347083}" destId="{2CF9D6F6-5B34-41F4-9FFE-FB8DBE14F0D1}" srcOrd="6" destOrd="0" presId="urn:microsoft.com/office/officeart/2005/8/layout/radial5"/>
    <dgm:cxn modelId="{9E5C5FDB-9B23-44B4-863E-948CAE4216E0}" type="presParOf" srcId="{471943EA-BAA3-476F-A5BF-408692347083}" destId="{139CF41D-4B1C-4D32-AB04-E84D77C39BFA}" srcOrd="7" destOrd="0" presId="urn:microsoft.com/office/officeart/2005/8/layout/radial5"/>
    <dgm:cxn modelId="{5E42FE88-4133-43F1-84EF-5906DD8C8D64}" type="presParOf" srcId="{139CF41D-4B1C-4D32-AB04-E84D77C39BFA}" destId="{39FC352A-0742-493F-8629-46776C0E5B91}" srcOrd="0" destOrd="0" presId="urn:microsoft.com/office/officeart/2005/8/layout/radial5"/>
    <dgm:cxn modelId="{7647A683-7690-40CB-A036-C3B0D079D020}" type="presParOf" srcId="{471943EA-BAA3-476F-A5BF-408692347083}" destId="{1D5DE4D4-6125-4369-866B-432E3F2F2808}"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6C1CC6F-A5C7-470D-B85C-D3C099C3F6B6}" type="doc">
      <dgm:prSet loTypeId="urn:microsoft.com/office/officeart/2005/8/layout/vList2" loCatId="list" qsTypeId="urn:microsoft.com/office/officeart/2005/8/quickstyle/3d1#1" qsCatId="3D" csTypeId="urn:microsoft.com/office/officeart/2005/8/colors/accent0_3#1" csCatId="mainScheme"/>
      <dgm:spPr/>
      <dgm:t>
        <a:bodyPr/>
        <a:lstStyle/>
        <a:p>
          <a:endParaRPr lang="en-GB"/>
        </a:p>
      </dgm:t>
    </dgm:pt>
    <dgm:pt modelId="{C8E6DA90-8B9C-4720-A597-FB706D9373AD}">
      <dgm:prSet/>
      <dgm:spPr/>
      <dgm:t>
        <a:bodyPr/>
        <a:lstStyle/>
        <a:p>
          <a:pPr rtl="0"/>
          <a:r>
            <a:rPr lang="en-GB" dirty="0"/>
            <a:t>It reflects investors opinions about</a:t>
          </a:r>
        </a:p>
      </dgm:t>
    </dgm:pt>
    <dgm:pt modelId="{0F07D11E-BEB5-4045-BDB5-59D183808DE8}" type="parTrans" cxnId="{94944469-5CDE-4122-9D63-380AF8097A6F}">
      <dgm:prSet/>
      <dgm:spPr/>
      <dgm:t>
        <a:bodyPr/>
        <a:lstStyle/>
        <a:p>
          <a:endParaRPr lang="en-GB"/>
        </a:p>
      </dgm:t>
    </dgm:pt>
    <dgm:pt modelId="{4B87BA68-E9DC-4EE8-BCAD-B55ACB43A82D}" type="sibTrans" cxnId="{94944469-5CDE-4122-9D63-380AF8097A6F}">
      <dgm:prSet/>
      <dgm:spPr/>
      <dgm:t>
        <a:bodyPr/>
        <a:lstStyle/>
        <a:p>
          <a:endParaRPr lang="en-GB"/>
        </a:p>
      </dgm:t>
    </dgm:pt>
    <dgm:pt modelId="{1D402B1B-F2F8-493A-A5C3-EEDC8F87C728}">
      <dgm:prSet/>
      <dgm:spPr/>
      <dgm:t>
        <a:bodyPr/>
        <a:lstStyle/>
        <a:p>
          <a:pPr rtl="0"/>
          <a:r>
            <a:rPr lang="en-GB"/>
            <a:t>The quality of the investments</a:t>
          </a:r>
        </a:p>
      </dgm:t>
    </dgm:pt>
    <dgm:pt modelId="{A6329AA2-1C4C-457B-AACD-B69A1404A28D}" type="parTrans" cxnId="{57BC908F-63CC-420E-9A53-CB2D179C9AAD}">
      <dgm:prSet/>
      <dgm:spPr/>
      <dgm:t>
        <a:bodyPr/>
        <a:lstStyle/>
        <a:p>
          <a:endParaRPr lang="en-GB"/>
        </a:p>
      </dgm:t>
    </dgm:pt>
    <dgm:pt modelId="{309FDEF1-4788-404D-9A9C-C6560F75451B}" type="sibTrans" cxnId="{57BC908F-63CC-420E-9A53-CB2D179C9AAD}">
      <dgm:prSet/>
      <dgm:spPr/>
      <dgm:t>
        <a:bodyPr/>
        <a:lstStyle/>
        <a:p>
          <a:endParaRPr lang="en-GB"/>
        </a:p>
      </dgm:t>
    </dgm:pt>
    <dgm:pt modelId="{EF03AE17-C98C-4D17-B7B0-5C23107BA058}">
      <dgm:prSet/>
      <dgm:spPr/>
      <dgm:t>
        <a:bodyPr/>
        <a:lstStyle/>
        <a:p>
          <a:pPr rtl="0"/>
          <a:r>
            <a:rPr lang="en-GB"/>
            <a:t>The riskiness of the firm and thus, its cost</a:t>
          </a:r>
        </a:p>
      </dgm:t>
    </dgm:pt>
    <dgm:pt modelId="{BEF402C7-63D9-40C6-AFD5-B83CD6FF8A56}" type="parTrans" cxnId="{EDCB9448-268F-4A99-8491-A44122A29728}">
      <dgm:prSet/>
      <dgm:spPr/>
      <dgm:t>
        <a:bodyPr/>
        <a:lstStyle/>
        <a:p>
          <a:endParaRPr lang="en-GB"/>
        </a:p>
      </dgm:t>
    </dgm:pt>
    <dgm:pt modelId="{CF4CCE76-52EE-4E9B-81CC-796B3E8FF3B8}" type="sibTrans" cxnId="{EDCB9448-268F-4A99-8491-A44122A29728}">
      <dgm:prSet/>
      <dgm:spPr/>
      <dgm:t>
        <a:bodyPr/>
        <a:lstStyle/>
        <a:p>
          <a:endParaRPr lang="en-GB"/>
        </a:p>
      </dgm:t>
    </dgm:pt>
    <dgm:pt modelId="{B68E3974-4F36-45F3-819D-5682840A5118}">
      <dgm:prSet/>
      <dgm:spPr/>
      <dgm:t>
        <a:bodyPr/>
        <a:lstStyle/>
        <a:p>
          <a:pPr rtl="0"/>
          <a:r>
            <a:rPr lang="en-GB" dirty="0"/>
            <a:t>Quality of decisions-management</a:t>
          </a:r>
        </a:p>
      </dgm:t>
    </dgm:pt>
    <dgm:pt modelId="{6012DC1B-88C6-470C-A961-304177B4D9E5}" type="parTrans" cxnId="{0BB8EE09-C469-4BDD-AF49-C9D2C30381C7}">
      <dgm:prSet/>
      <dgm:spPr/>
      <dgm:t>
        <a:bodyPr/>
        <a:lstStyle/>
        <a:p>
          <a:endParaRPr lang="en-GB"/>
        </a:p>
      </dgm:t>
    </dgm:pt>
    <dgm:pt modelId="{C863CB05-E903-4613-B3DE-0C4BD0A2D933}" type="sibTrans" cxnId="{0BB8EE09-C469-4BDD-AF49-C9D2C30381C7}">
      <dgm:prSet/>
      <dgm:spPr/>
      <dgm:t>
        <a:bodyPr/>
        <a:lstStyle/>
        <a:p>
          <a:endParaRPr lang="en-GB"/>
        </a:p>
      </dgm:t>
    </dgm:pt>
    <dgm:pt modelId="{02A3F367-C791-42DF-8618-C700EDFE4557}">
      <dgm:prSet/>
      <dgm:spPr/>
      <dgm:t>
        <a:bodyPr/>
        <a:lstStyle/>
        <a:p>
          <a:pPr rtl="0"/>
          <a:r>
            <a:rPr lang="en-GB"/>
            <a:t>Maximizing stock price does not mean that </a:t>
          </a:r>
        </a:p>
      </dgm:t>
    </dgm:pt>
    <dgm:pt modelId="{86F2B81D-0076-45DB-A81E-DC7165E4B29C}" type="parTrans" cxnId="{E603D25F-7272-484C-849A-E64E34E8A54F}">
      <dgm:prSet/>
      <dgm:spPr/>
      <dgm:t>
        <a:bodyPr/>
        <a:lstStyle/>
        <a:p>
          <a:endParaRPr lang="en-GB"/>
        </a:p>
      </dgm:t>
    </dgm:pt>
    <dgm:pt modelId="{A1B3323A-B167-44BE-94BA-D1B9380B9DE6}" type="sibTrans" cxnId="{E603D25F-7272-484C-849A-E64E34E8A54F}">
      <dgm:prSet/>
      <dgm:spPr/>
      <dgm:t>
        <a:bodyPr/>
        <a:lstStyle/>
        <a:p>
          <a:endParaRPr lang="en-GB"/>
        </a:p>
      </dgm:t>
    </dgm:pt>
    <dgm:pt modelId="{52A98B02-E5ED-45F9-A4E6-9B0D84AA758A}">
      <dgm:prSet/>
      <dgm:spPr/>
      <dgm:t>
        <a:bodyPr/>
        <a:lstStyle/>
        <a:p>
          <a:pPr rtl="0"/>
          <a:r>
            <a:rPr lang="en-GB"/>
            <a:t>We do not care about employees</a:t>
          </a:r>
        </a:p>
      </dgm:t>
    </dgm:pt>
    <dgm:pt modelId="{97E4F0E1-BE1A-47DA-8E33-AE29C275B115}" type="parTrans" cxnId="{D51EB2D8-0A96-4366-8BDA-E4E6C6706C4B}">
      <dgm:prSet/>
      <dgm:spPr/>
      <dgm:t>
        <a:bodyPr/>
        <a:lstStyle/>
        <a:p>
          <a:endParaRPr lang="en-GB"/>
        </a:p>
      </dgm:t>
    </dgm:pt>
    <dgm:pt modelId="{5B98CEEB-C449-437C-8E2D-7F51C05586DD}" type="sibTrans" cxnId="{D51EB2D8-0A96-4366-8BDA-E4E6C6706C4B}">
      <dgm:prSet/>
      <dgm:spPr/>
      <dgm:t>
        <a:bodyPr/>
        <a:lstStyle/>
        <a:p>
          <a:endParaRPr lang="en-GB"/>
        </a:p>
      </dgm:t>
    </dgm:pt>
    <dgm:pt modelId="{DB713050-5880-42BE-908A-65BE677306ED}">
      <dgm:prSet/>
      <dgm:spPr/>
      <dgm:t>
        <a:bodyPr/>
        <a:lstStyle/>
        <a:p>
          <a:pPr rtl="0"/>
          <a:r>
            <a:rPr lang="en-GB"/>
            <a:t>We do not care about customers </a:t>
          </a:r>
        </a:p>
      </dgm:t>
    </dgm:pt>
    <dgm:pt modelId="{CD321C4D-90F6-47F5-840C-7BDA18ACB4E3}" type="parTrans" cxnId="{AEC05D9E-7F00-4D94-BF5B-67109B92E2F3}">
      <dgm:prSet/>
      <dgm:spPr/>
      <dgm:t>
        <a:bodyPr/>
        <a:lstStyle/>
        <a:p>
          <a:endParaRPr lang="en-GB"/>
        </a:p>
      </dgm:t>
    </dgm:pt>
    <dgm:pt modelId="{75AD1ABD-253D-4809-BB1E-5D935CAAFF55}" type="sibTrans" cxnId="{AEC05D9E-7F00-4D94-BF5B-67109B92E2F3}">
      <dgm:prSet/>
      <dgm:spPr/>
      <dgm:t>
        <a:bodyPr/>
        <a:lstStyle/>
        <a:p>
          <a:endParaRPr lang="en-GB"/>
        </a:p>
      </dgm:t>
    </dgm:pt>
    <dgm:pt modelId="{FCEF8D9A-17ED-49DD-B65C-4A1FB608DA0E}">
      <dgm:prSet/>
      <dgm:spPr/>
      <dgm:t>
        <a:bodyPr/>
        <a:lstStyle/>
        <a:p>
          <a:pPr rtl="0"/>
          <a:r>
            <a:rPr lang="en-GB"/>
            <a:t>We do not care about social interactions</a:t>
          </a:r>
        </a:p>
      </dgm:t>
    </dgm:pt>
    <dgm:pt modelId="{44C1B72B-4579-4F8F-8E06-F831CC02C434}" type="parTrans" cxnId="{A05B66F7-08EB-4643-938E-04A938086B4F}">
      <dgm:prSet/>
      <dgm:spPr/>
      <dgm:t>
        <a:bodyPr/>
        <a:lstStyle/>
        <a:p>
          <a:endParaRPr lang="en-GB"/>
        </a:p>
      </dgm:t>
    </dgm:pt>
    <dgm:pt modelId="{258B2D63-7697-426D-9264-39063EFE9EC8}" type="sibTrans" cxnId="{A05B66F7-08EB-4643-938E-04A938086B4F}">
      <dgm:prSet/>
      <dgm:spPr/>
      <dgm:t>
        <a:bodyPr/>
        <a:lstStyle/>
        <a:p>
          <a:endParaRPr lang="en-GB"/>
        </a:p>
      </dgm:t>
    </dgm:pt>
    <dgm:pt modelId="{796C4829-C35A-4E59-9F6D-79C8A74BE999}">
      <dgm:prSet/>
      <dgm:spPr/>
      <dgm:t>
        <a:bodyPr/>
        <a:lstStyle/>
        <a:p>
          <a:pPr rtl="0"/>
          <a:r>
            <a:rPr lang="en-GB"/>
            <a:t>If investors are rational (are they?), stock prices reflect the wisdom of decisions</a:t>
          </a:r>
        </a:p>
      </dgm:t>
    </dgm:pt>
    <dgm:pt modelId="{29071890-8240-4FBE-B38C-72E3C0E3A4DB}" type="parTrans" cxnId="{E2413D97-514B-4C4E-B66C-E7B86C6338FB}">
      <dgm:prSet/>
      <dgm:spPr/>
      <dgm:t>
        <a:bodyPr/>
        <a:lstStyle/>
        <a:p>
          <a:endParaRPr lang="en-GB"/>
        </a:p>
      </dgm:t>
    </dgm:pt>
    <dgm:pt modelId="{9CA8F1E2-8B83-4445-922E-EAFC96FC86AF}" type="sibTrans" cxnId="{E2413D97-514B-4C4E-B66C-E7B86C6338FB}">
      <dgm:prSet/>
      <dgm:spPr/>
      <dgm:t>
        <a:bodyPr/>
        <a:lstStyle/>
        <a:p>
          <a:endParaRPr lang="en-GB"/>
        </a:p>
      </dgm:t>
    </dgm:pt>
    <dgm:pt modelId="{4E61D75B-55C5-4403-8172-E91C123C5835}">
      <dgm:prSet/>
      <dgm:spPr/>
      <dgm:t>
        <a:bodyPr/>
        <a:lstStyle/>
        <a:p>
          <a:pPr rtl="0"/>
          <a:r>
            <a:rPr lang="en-GB"/>
            <a:t>Instantaneously</a:t>
          </a:r>
        </a:p>
      </dgm:t>
    </dgm:pt>
    <dgm:pt modelId="{E24C8C1F-D5D2-4A3E-BB9C-52A9CA419D56}" type="parTrans" cxnId="{49FD090A-E2C5-4268-BDF3-BEF56F0CD07D}">
      <dgm:prSet/>
      <dgm:spPr/>
      <dgm:t>
        <a:bodyPr/>
        <a:lstStyle/>
        <a:p>
          <a:endParaRPr lang="en-GB"/>
        </a:p>
      </dgm:t>
    </dgm:pt>
    <dgm:pt modelId="{1A351A6C-FD5E-4A6C-BCD0-03AD11C4C513}" type="sibTrans" cxnId="{49FD090A-E2C5-4268-BDF3-BEF56F0CD07D}">
      <dgm:prSet/>
      <dgm:spPr/>
      <dgm:t>
        <a:bodyPr/>
        <a:lstStyle/>
        <a:p>
          <a:endParaRPr lang="en-GB"/>
        </a:p>
      </dgm:t>
    </dgm:pt>
    <dgm:pt modelId="{70097B47-56B8-4CFB-988C-7DDACC4DD0BF}">
      <dgm:prSet/>
      <dgm:spPr/>
      <dgm:t>
        <a:bodyPr/>
        <a:lstStyle/>
        <a:p>
          <a:pPr rtl="0"/>
          <a:r>
            <a:rPr lang="en-GB" dirty="0"/>
            <a:t>Are updated continuously</a:t>
          </a:r>
        </a:p>
      </dgm:t>
    </dgm:pt>
    <dgm:pt modelId="{8EEA121A-23D5-4679-A088-EA8F9AE94D1C}" type="parTrans" cxnId="{8285A20F-88C2-4B7F-85F0-DDD9A203AADB}">
      <dgm:prSet/>
      <dgm:spPr/>
      <dgm:t>
        <a:bodyPr/>
        <a:lstStyle/>
        <a:p>
          <a:endParaRPr lang="en-GB"/>
        </a:p>
      </dgm:t>
    </dgm:pt>
    <dgm:pt modelId="{98CC4492-D380-4EFF-A119-3F3394640C3B}" type="sibTrans" cxnId="{8285A20F-88C2-4B7F-85F0-DDD9A203AADB}">
      <dgm:prSet/>
      <dgm:spPr/>
      <dgm:t>
        <a:bodyPr/>
        <a:lstStyle/>
        <a:p>
          <a:endParaRPr lang="en-GB"/>
        </a:p>
      </dgm:t>
    </dgm:pt>
    <dgm:pt modelId="{9222228D-2BBD-4F9B-AC28-C4F7F305CF34}" type="pres">
      <dgm:prSet presAssocID="{D6C1CC6F-A5C7-470D-B85C-D3C099C3F6B6}" presName="linear" presStyleCnt="0">
        <dgm:presLayoutVars>
          <dgm:animLvl val="lvl"/>
          <dgm:resizeHandles val="exact"/>
        </dgm:presLayoutVars>
      </dgm:prSet>
      <dgm:spPr/>
    </dgm:pt>
    <dgm:pt modelId="{BACF2A49-1C98-47D2-B137-86E50A17B059}" type="pres">
      <dgm:prSet presAssocID="{C8E6DA90-8B9C-4720-A597-FB706D9373AD}" presName="parentText" presStyleLbl="node1" presStyleIdx="0" presStyleCnt="3">
        <dgm:presLayoutVars>
          <dgm:chMax val="0"/>
          <dgm:bulletEnabled val="1"/>
        </dgm:presLayoutVars>
      </dgm:prSet>
      <dgm:spPr/>
    </dgm:pt>
    <dgm:pt modelId="{F9325057-98E3-4459-8D49-AE0B964490E6}" type="pres">
      <dgm:prSet presAssocID="{C8E6DA90-8B9C-4720-A597-FB706D9373AD}" presName="childText" presStyleLbl="revTx" presStyleIdx="0" presStyleCnt="3">
        <dgm:presLayoutVars>
          <dgm:bulletEnabled val="1"/>
        </dgm:presLayoutVars>
      </dgm:prSet>
      <dgm:spPr/>
    </dgm:pt>
    <dgm:pt modelId="{E4DC4114-AD2D-4631-BF61-1D3746BA7282}" type="pres">
      <dgm:prSet presAssocID="{02A3F367-C791-42DF-8618-C700EDFE4557}" presName="parentText" presStyleLbl="node1" presStyleIdx="1" presStyleCnt="3">
        <dgm:presLayoutVars>
          <dgm:chMax val="0"/>
          <dgm:bulletEnabled val="1"/>
        </dgm:presLayoutVars>
      </dgm:prSet>
      <dgm:spPr/>
    </dgm:pt>
    <dgm:pt modelId="{FFD40CA7-8702-4A5C-B00A-66B215E145A7}" type="pres">
      <dgm:prSet presAssocID="{02A3F367-C791-42DF-8618-C700EDFE4557}" presName="childText" presStyleLbl="revTx" presStyleIdx="1" presStyleCnt="3">
        <dgm:presLayoutVars>
          <dgm:bulletEnabled val="1"/>
        </dgm:presLayoutVars>
      </dgm:prSet>
      <dgm:spPr/>
    </dgm:pt>
    <dgm:pt modelId="{AF9A446C-D11C-4A17-B50E-D97783050259}" type="pres">
      <dgm:prSet presAssocID="{796C4829-C35A-4E59-9F6D-79C8A74BE999}" presName="parentText" presStyleLbl="node1" presStyleIdx="2" presStyleCnt="3">
        <dgm:presLayoutVars>
          <dgm:chMax val="0"/>
          <dgm:bulletEnabled val="1"/>
        </dgm:presLayoutVars>
      </dgm:prSet>
      <dgm:spPr/>
    </dgm:pt>
    <dgm:pt modelId="{02DE6D2A-5B27-4782-955D-AD298CD4E3A6}" type="pres">
      <dgm:prSet presAssocID="{796C4829-C35A-4E59-9F6D-79C8A74BE999}" presName="childText" presStyleLbl="revTx" presStyleIdx="2" presStyleCnt="3">
        <dgm:presLayoutVars>
          <dgm:bulletEnabled val="1"/>
        </dgm:presLayoutVars>
      </dgm:prSet>
      <dgm:spPr/>
    </dgm:pt>
  </dgm:ptLst>
  <dgm:cxnLst>
    <dgm:cxn modelId="{756EBC00-A9C3-4275-853F-3CB1847C6145}" type="presOf" srcId="{796C4829-C35A-4E59-9F6D-79C8A74BE999}" destId="{AF9A446C-D11C-4A17-B50E-D97783050259}" srcOrd="0" destOrd="0" presId="urn:microsoft.com/office/officeart/2005/8/layout/vList2"/>
    <dgm:cxn modelId="{0BB8EE09-C469-4BDD-AF49-C9D2C30381C7}" srcId="{C8E6DA90-8B9C-4720-A597-FB706D9373AD}" destId="{B68E3974-4F36-45F3-819D-5682840A5118}" srcOrd="2" destOrd="0" parTransId="{6012DC1B-88C6-470C-A961-304177B4D9E5}" sibTransId="{C863CB05-E903-4613-B3DE-0C4BD0A2D933}"/>
    <dgm:cxn modelId="{49FD090A-E2C5-4268-BDF3-BEF56F0CD07D}" srcId="{796C4829-C35A-4E59-9F6D-79C8A74BE999}" destId="{4E61D75B-55C5-4403-8172-E91C123C5835}" srcOrd="0" destOrd="0" parTransId="{E24C8C1F-D5D2-4A3E-BB9C-52A9CA419D56}" sibTransId="{1A351A6C-FD5E-4A6C-BCD0-03AD11C4C513}"/>
    <dgm:cxn modelId="{8285A20F-88C2-4B7F-85F0-DDD9A203AADB}" srcId="{796C4829-C35A-4E59-9F6D-79C8A74BE999}" destId="{70097B47-56B8-4CFB-988C-7DDACC4DD0BF}" srcOrd="1" destOrd="0" parTransId="{8EEA121A-23D5-4679-A088-EA8F9AE94D1C}" sibTransId="{98CC4492-D380-4EFF-A119-3F3394640C3B}"/>
    <dgm:cxn modelId="{0C3F1F14-8B73-4F39-A087-D1BFAB293113}" type="presOf" srcId="{1D402B1B-F2F8-493A-A5C3-EEDC8F87C728}" destId="{F9325057-98E3-4459-8D49-AE0B964490E6}" srcOrd="0" destOrd="0" presId="urn:microsoft.com/office/officeart/2005/8/layout/vList2"/>
    <dgm:cxn modelId="{CD9D871F-E443-4FC7-9453-701CC2C92DAD}" type="presOf" srcId="{DB713050-5880-42BE-908A-65BE677306ED}" destId="{FFD40CA7-8702-4A5C-B00A-66B215E145A7}" srcOrd="0" destOrd="1" presId="urn:microsoft.com/office/officeart/2005/8/layout/vList2"/>
    <dgm:cxn modelId="{F840AA21-85E5-4B90-AF81-C58DFBEB694A}" type="presOf" srcId="{70097B47-56B8-4CFB-988C-7DDACC4DD0BF}" destId="{02DE6D2A-5B27-4782-955D-AD298CD4E3A6}" srcOrd="0" destOrd="1" presId="urn:microsoft.com/office/officeart/2005/8/layout/vList2"/>
    <dgm:cxn modelId="{5F81C829-4273-4783-B88F-8C21DFA921AA}" type="presOf" srcId="{FCEF8D9A-17ED-49DD-B65C-4A1FB608DA0E}" destId="{FFD40CA7-8702-4A5C-B00A-66B215E145A7}" srcOrd="0" destOrd="2" presId="urn:microsoft.com/office/officeart/2005/8/layout/vList2"/>
    <dgm:cxn modelId="{E603D25F-7272-484C-849A-E64E34E8A54F}" srcId="{D6C1CC6F-A5C7-470D-B85C-D3C099C3F6B6}" destId="{02A3F367-C791-42DF-8618-C700EDFE4557}" srcOrd="1" destOrd="0" parTransId="{86F2B81D-0076-45DB-A81E-DC7165E4B29C}" sibTransId="{A1B3323A-B167-44BE-94BA-D1B9380B9DE6}"/>
    <dgm:cxn modelId="{EDCB9448-268F-4A99-8491-A44122A29728}" srcId="{C8E6DA90-8B9C-4720-A597-FB706D9373AD}" destId="{EF03AE17-C98C-4D17-B7B0-5C23107BA058}" srcOrd="1" destOrd="0" parTransId="{BEF402C7-63D9-40C6-AFD5-B83CD6FF8A56}" sibTransId="{CF4CCE76-52EE-4E9B-81CC-796B3E8FF3B8}"/>
    <dgm:cxn modelId="{94944469-5CDE-4122-9D63-380AF8097A6F}" srcId="{D6C1CC6F-A5C7-470D-B85C-D3C099C3F6B6}" destId="{C8E6DA90-8B9C-4720-A597-FB706D9373AD}" srcOrd="0" destOrd="0" parTransId="{0F07D11E-BEB5-4045-BDB5-59D183808DE8}" sibTransId="{4B87BA68-E9DC-4EE8-BCAD-B55ACB43A82D}"/>
    <dgm:cxn modelId="{C41E1A57-9139-4921-B5FF-7D270D90EC0C}" type="presOf" srcId="{52A98B02-E5ED-45F9-A4E6-9B0D84AA758A}" destId="{FFD40CA7-8702-4A5C-B00A-66B215E145A7}" srcOrd="0" destOrd="0" presId="urn:microsoft.com/office/officeart/2005/8/layout/vList2"/>
    <dgm:cxn modelId="{1AAA0481-2E96-45A4-939C-095C194023D4}" type="presOf" srcId="{C8E6DA90-8B9C-4720-A597-FB706D9373AD}" destId="{BACF2A49-1C98-47D2-B137-86E50A17B059}" srcOrd="0" destOrd="0" presId="urn:microsoft.com/office/officeart/2005/8/layout/vList2"/>
    <dgm:cxn modelId="{57BC908F-63CC-420E-9A53-CB2D179C9AAD}" srcId="{C8E6DA90-8B9C-4720-A597-FB706D9373AD}" destId="{1D402B1B-F2F8-493A-A5C3-EEDC8F87C728}" srcOrd="0" destOrd="0" parTransId="{A6329AA2-1C4C-457B-AACD-B69A1404A28D}" sibTransId="{309FDEF1-4788-404D-9A9C-C6560F75451B}"/>
    <dgm:cxn modelId="{FE34B093-A281-4D8A-8742-2103DF20D6AF}" type="presOf" srcId="{4E61D75B-55C5-4403-8172-E91C123C5835}" destId="{02DE6D2A-5B27-4782-955D-AD298CD4E3A6}" srcOrd="0" destOrd="0" presId="urn:microsoft.com/office/officeart/2005/8/layout/vList2"/>
    <dgm:cxn modelId="{E2413D97-514B-4C4E-B66C-E7B86C6338FB}" srcId="{D6C1CC6F-A5C7-470D-B85C-D3C099C3F6B6}" destId="{796C4829-C35A-4E59-9F6D-79C8A74BE999}" srcOrd="2" destOrd="0" parTransId="{29071890-8240-4FBE-B38C-72E3C0E3A4DB}" sibTransId="{9CA8F1E2-8B83-4445-922E-EAFC96FC86AF}"/>
    <dgm:cxn modelId="{86955F99-3B17-4E76-9B55-7537E0662AE3}" type="presOf" srcId="{B68E3974-4F36-45F3-819D-5682840A5118}" destId="{F9325057-98E3-4459-8D49-AE0B964490E6}" srcOrd="0" destOrd="2" presId="urn:microsoft.com/office/officeart/2005/8/layout/vList2"/>
    <dgm:cxn modelId="{AEC05D9E-7F00-4D94-BF5B-67109B92E2F3}" srcId="{02A3F367-C791-42DF-8618-C700EDFE4557}" destId="{DB713050-5880-42BE-908A-65BE677306ED}" srcOrd="1" destOrd="0" parTransId="{CD321C4D-90F6-47F5-840C-7BDA18ACB4E3}" sibTransId="{75AD1ABD-253D-4809-BB1E-5D935CAAFF55}"/>
    <dgm:cxn modelId="{CD4C8AB3-40EC-4AD6-94F3-2CABA9780AD6}" type="presOf" srcId="{02A3F367-C791-42DF-8618-C700EDFE4557}" destId="{E4DC4114-AD2D-4631-BF61-1D3746BA7282}" srcOrd="0" destOrd="0" presId="urn:microsoft.com/office/officeart/2005/8/layout/vList2"/>
    <dgm:cxn modelId="{F23D25C1-EF57-43E1-9578-4DD207D49D66}" type="presOf" srcId="{EF03AE17-C98C-4D17-B7B0-5C23107BA058}" destId="{F9325057-98E3-4459-8D49-AE0B964490E6}" srcOrd="0" destOrd="1" presId="urn:microsoft.com/office/officeart/2005/8/layout/vList2"/>
    <dgm:cxn modelId="{D51EB2D8-0A96-4366-8BDA-E4E6C6706C4B}" srcId="{02A3F367-C791-42DF-8618-C700EDFE4557}" destId="{52A98B02-E5ED-45F9-A4E6-9B0D84AA758A}" srcOrd="0" destOrd="0" parTransId="{97E4F0E1-BE1A-47DA-8E33-AE29C275B115}" sibTransId="{5B98CEEB-C449-437C-8E2D-7F51C05586DD}"/>
    <dgm:cxn modelId="{D6D386DB-2FC4-4087-972B-7194659A41D8}" type="presOf" srcId="{D6C1CC6F-A5C7-470D-B85C-D3C099C3F6B6}" destId="{9222228D-2BBD-4F9B-AC28-C4F7F305CF34}" srcOrd="0" destOrd="0" presId="urn:microsoft.com/office/officeart/2005/8/layout/vList2"/>
    <dgm:cxn modelId="{A05B66F7-08EB-4643-938E-04A938086B4F}" srcId="{02A3F367-C791-42DF-8618-C700EDFE4557}" destId="{FCEF8D9A-17ED-49DD-B65C-4A1FB608DA0E}" srcOrd="2" destOrd="0" parTransId="{44C1B72B-4579-4F8F-8E06-F831CC02C434}" sibTransId="{258B2D63-7697-426D-9264-39063EFE9EC8}"/>
    <dgm:cxn modelId="{02AF4F74-A736-4A51-B758-2B20B3AD47E3}" type="presParOf" srcId="{9222228D-2BBD-4F9B-AC28-C4F7F305CF34}" destId="{BACF2A49-1C98-47D2-B137-86E50A17B059}" srcOrd="0" destOrd="0" presId="urn:microsoft.com/office/officeart/2005/8/layout/vList2"/>
    <dgm:cxn modelId="{6AE66A55-3062-443C-BDB7-0A46C9A04A35}" type="presParOf" srcId="{9222228D-2BBD-4F9B-AC28-C4F7F305CF34}" destId="{F9325057-98E3-4459-8D49-AE0B964490E6}" srcOrd="1" destOrd="0" presId="urn:microsoft.com/office/officeart/2005/8/layout/vList2"/>
    <dgm:cxn modelId="{FC8401E0-E2BB-485E-8593-04D12202A079}" type="presParOf" srcId="{9222228D-2BBD-4F9B-AC28-C4F7F305CF34}" destId="{E4DC4114-AD2D-4631-BF61-1D3746BA7282}" srcOrd="2" destOrd="0" presId="urn:microsoft.com/office/officeart/2005/8/layout/vList2"/>
    <dgm:cxn modelId="{AB0958C9-205C-4FEB-BC27-F8962FFCF250}" type="presParOf" srcId="{9222228D-2BBD-4F9B-AC28-C4F7F305CF34}" destId="{FFD40CA7-8702-4A5C-B00A-66B215E145A7}" srcOrd="3" destOrd="0" presId="urn:microsoft.com/office/officeart/2005/8/layout/vList2"/>
    <dgm:cxn modelId="{507C831E-ADD3-4C86-9160-57BC1BDBA7DB}" type="presParOf" srcId="{9222228D-2BBD-4F9B-AC28-C4F7F305CF34}" destId="{AF9A446C-D11C-4A17-B50E-D97783050259}" srcOrd="4" destOrd="0" presId="urn:microsoft.com/office/officeart/2005/8/layout/vList2"/>
    <dgm:cxn modelId="{8EB72A6A-20A6-449F-92FA-3DAC6CA4455F}" type="presParOf" srcId="{9222228D-2BBD-4F9B-AC28-C4F7F305CF34}" destId="{02DE6D2A-5B27-4782-955D-AD298CD4E3A6}"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BF73B61-81E9-40E5-A80A-CBC79995BA40}" type="doc">
      <dgm:prSet loTypeId="urn:microsoft.com/office/officeart/2005/8/layout/hList6" loCatId="list" qsTypeId="urn:microsoft.com/office/officeart/2005/8/quickstyle/3d3#1" qsCatId="3D" csTypeId="urn:microsoft.com/office/officeart/2005/8/colors/accent0_3#2" csCatId="mainScheme" phldr="1"/>
      <dgm:spPr/>
      <dgm:t>
        <a:bodyPr/>
        <a:lstStyle/>
        <a:p>
          <a:endParaRPr lang="en-GB"/>
        </a:p>
      </dgm:t>
    </dgm:pt>
    <dgm:pt modelId="{4C6768C5-C312-4C43-BC63-B4D4819207A7}">
      <dgm:prSet/>
      <dgm:spPr/>
      <dgm:t>
        <a:bodyPr/>
        <a:lstStyle/>
        <a:p>
          <a:pPr rtl="0"/>
          <a:r>
            <a:rPr lang="en-GB" b="1" baseline="0" dirty="0"/>
            <a:t>BIAS</a:t>
          </a:r>
        </a:p>
      </dgm:t>
    </dgm:pt>
    <dgm:pt modelId="{8EE42D62-2060-4112-BFBA-9874B2D8608F}" type="parTrans" cxnId="{F1DE7131-9BEC-4C11-AEE3-30634E3D71C2}">
      <dgm:prSet/>
      <dgm:spPr/>
      <dgm:t>
        <a:bodyPr/>
        <a:lstStyle/>
        <a:p>
          <a:endParaRPr lang="en-GB"/>
        </a:p>
      </dgm:t>
    </dgm:pt>
    <dgm:pt modelId="{B3C6C040-196A-4A23-9435-D8CFFAB1CBDF}" type="sibTrans" cxnId="{F1DE7131-9BEC-4C11-AEE3-30634E3D71C2}">
      <dgm:prSet/>
      <dgm:spPr/>
      <dgm:t>
        <a:bodyPr/>
        <a:lstStyle/>
        <a:p>
          <a:endParaRPr lang="en-GB"/>
        </a:p>
      </dgm:t>
    </dgm:pt>
    <dgm:pt modelId="{C46599EB-D11E-49A4-B204-5FEF7886C020}">
      <dgm:prSet/>
      <dgm:spPr/>
      <dgm:t>
        <a:bodyPr/>
        <a:lstStyle/>
        <a:p>
          <a:pPr rtl="0"/>
          <a:r>
            <a:rPr lang="en-GB" dirty="0"/>
            <a:t>All valuations are biased</a:t>
          </a:r>
        </a:p>
      </dgm:t>
    </dgm:pt>
    <dgm:pt modelId="{EE0C60B6-AAD3-42E8-8A0E-6D595B963DB4}" type="parTrans" cxnId="{E3A851C1-B8BB-4FE9-A21A-A1590CE7E41A}">
      <dgm:prSet/>
      <dgm:spPr/>
      <dgm:t>
        <a:bodyPr/>
        <a:lstStyle/>
        <a:p>
          <a:endParaRPr lang="en-GB"/>
        </a:p>
      </dgm:t>
    </dgm:pt>
    <dgm:pt modelId="{6AD2557E-B81E-497D-B3B5-81B954C8B741}" type="sibTrans" cxnId="{E3A851C1-B8BB-4FE9-A21A-A1590CE7E41A}">
      <dgm:prSet/>
      <dgm:spPr/>
      <dgm:t>
        <a:bodyPr/>
        <a:lstStyle/>
        <a:p>
          <a:endParaRPr lang="en-GB"/>
        </a:p>
      </dgm:t>
    </dgm:pt>
    <dgm:pt modelId="{C5BF9769-D26C-48FC-A303-9E63EA068C82}">
      <dgm:prSet/>
      <dgm:spPr/>
      <dgm:t>
        <a:bodyPr/>
        <a:lstStyle/>
        <a:p>
          <a:pPr rtl="0"/>
          <a:r>
            <a:rPr lang="en-GB" baseline="0" dirty="0"/>
            <a:t> </a:t>
          </a:r>
          <a:r>
            <a:rPr lang="en-GB" b="1" baseline="0" dirty="0"/>
            <a:t>Uncertainty</a:t>
          </a:r>
        </a:p>
      </dgm:t>
    </dgm:pt>
    <dgm:pt modelId="{901051D2-D6A0-47B9-82FB-BB203FDCDB05}" type="parTrans" cxnId="{68FA2BAC-B0E7-463B-91C6-4F28F8DDB52C}">
      <dgm:prSet/>
      <dgm:spPr/>
      <dgm:t>
        <a:bodyPr/>
        <a:lstStyle/>
        <a:p>
          <a:endParaRPr lang="en-GB"/>
        </a:p>
      </dgm:t>
    </dgm:pt>
    <dgm:pt modelId="{339D9B0B-7E71-41AB-811B-C1872D1834DC}" type="sibTrans" cxnId="{68FA2BAC-B0E7-463B-91C6-4F28F8DDB52C}">
      <dgm:prSet/>
      <dgm:spPr/>
      <dgm:t>
        <a:bodyPr/>
        <a:lstStyle/>
        <a:p>
          <a:endParaRPr lang="en-GB"/>
        </a:p>
      </dgm:t>
    </dgm:pt>
    <dgm:pt modelId="{819DB601-781A-4886-B0C2-BD589C56F966}">
      <dgm:prSet/>
      <dgm:spPr/>
      <dgm:t>
        <a:bodyPr/>
        <a:lstStyle/>
        <a:p>
          <a:pPr rtl="0"/>
          <a:r>
            <a:rPr lang="en-GB" dirty="0"/>
            <a:t>There are </a:t>
          </a:r>
          <a:r>
            <a:rPr lang="en-GB" u="sng" dirty="0">
              <a:solidFill>
                <a:srgbClr val="FFFF00"/>
              </a:solidFill>
            </a:rPr>
            <a:t>no precise</a:t>
          </a:r>
          <a:r>
            <a:rPr lang="en-GB" u="sng" dirty="0"/>
            <a:t> </a:t>
          </a:r>
          <a:r>
            <a:rPr lang="en-GB" dirty="0"/>
            <a:t>valuations</a:t>
          </a:r>
        </a:p>
      </dgm:t>
    </dgm:pt>
    <dgm:pt modelId="{E5C1DA61-D289-4B48-B83C-7136AF1F5CF3}" type="parTrans" cxnId="{5726BB72-5E7B-4F25-B0A0-79256089AF82}">
      <dgm:prSet/>
      <dgm:spPr/>
      <dgm:t>
        <a:bodyPr/>
        <a:lstStyle/>
        <a:p>
          <a:endParaRPr lang="en-GB"/>
        </a:p>
      </dgm:t>
    </dgm:pt>
    <dgm:pt modelId="{16A680A2-7CDC-47D3-B2FC-788FC796DC35}" type="sibTrans" cxnId="{5726BB72-5E7B-4F25-B0A0-79256089AF82}">
      <dgm:prSet/>
      <dgm:spPr/>
      <dgm:t>
        <a:bodyPr/>
        <a:lstStyle/>
        <a:p>
          <a:endParaRPr lang="en-GB"/>
        </a:p>
      </dgm:t>
    </dgm:pt>
    <dgm:pt modelId="{896F5761-18FE-410D-AF64-61294865618E}">
      <dgm:prSet/>
      <dgm:spPr/>
      <dgm:t>
        <a:bodyPr/>
        <a:lstStyle/>
        <a:p>
          <a:pPr rtl="0"/>
          <a:r>
            <a:rPr lang="en-GB" dirty="0"/>
            <a:t>Higher Uncertainty-Less Precision-Higher Risk-Higher Payoff</a:t>
          </a:r>
        </a:p>
      </dgm:t>
    </dgm:pt>
    <dgm:pt modelId="{B2FEF68B-C6D3-46C0-83ED-E47A33D8CCFB}" type="parTrans" cxnId="{F887F86B-2966-4870-9EB3-DCDB97661531}">
      <dgm:prSet/>
      <dgm:spPr/>
      <dgm:t>
        <a:bodyPr/>
        <a:lstStyle/>
        <a:p>
          <a:endParaRPr lang="en-GB"/>
        </a:p>
      </dgm:t>
    </dgm:pt>
    <dgm:pt modelId="{6B851928-F94B-4D90-B01D-85754F90592A}" type="sibTrans" cxnId="{F887F86B-2966-4870-9EB3-DCDB97661531}">
      <dgm:prSet/>
      <dgm:spPr/>
      <dgm:t>
        <a:bodyPr/>
        <a:lstStyle/>
        <a:p>
          <a:endParaRPr lang="en-GB"/>
        </a:p>
      </dgm:t>
    </dgm:pt>
    <dgm:pt modelId="{0CB5F8FD-E40D-40EB-A05E-D008D42AA3EE}">
      <dgm:prSet/>
      <dgm:spPr/>
      <dgm:t>
        <a:bodyPr/>
        <a:lstStyle/>
        <a:p>
          <a:pPr rtl="0"/>
          <a:r>
            <a:rPr lang="en-GB" b="1" baseline="0" dirty="0"/>
            <a:t>Complexity</a:t>
          </a:r>
        </a:p>
      </dgm:t>
    </dgm:pt>
    <dgm:pt modelId="{0096927C-6AFC-43B7-AA51-6A72E108E334}" type="parTrans" cxnId="{2B896966-CB55-473B-B533-BDCAB681B0CA}">
      <dgm:prSet/>
      <dgm:spPr/>
      <dgm:t>
        <a:bodyPr/>
        <a:lstStyle/>
        <a:p>
          <a:endParaRPr lang="en-GB"/>
        </a:p>
      </dgm:t>
    </dgm:pt>
    <dgm:pt modelId="{5EE77526-0196-4015-8384-9C2EA59019D9}" type="sibTrans" cxnId="{2B896966-CB55-473B-B533-BDCAB681B0CA}">
      <dgm:prSet/>
      <dgm:spPr/>
      <dgm:t>
        <a:bodyPr/>
        <a:lstStyle/>
        <a:p>
          <a:endParaRPr lang="en-GB"/>
        </a:p>
      </dgm:t>
    </dgm:pt>
    <dgm:pt modelId="{BEA014E1-7BB7-48D2-8089-22F53D338EF0}">
      <dgm:prSet/>
      <dgm:spPr/>
      <dgm:t>
        <a:bodyPr/>
        <a:lstStyle/>
        <a:p>
          <a:pPr rtl="0"/>
          <a:r>
            <a:rPr lang="en-GB" baseline="0" dirty="0"/>
            <a:t>A valuation </a:t>
          </a:r>
          <a:r>
            <a:rPr lang="en-GB" b="1" u="sng" baseline="0" dirty="0">
              <a:solidFill>
                <a:srgbClr val="FFFF00"/>
              </a:solidFill>
            </a:rPr>
            <a:t>cannot</a:t>
          </a:r>
          <a:r>
            <a:rPr lang="en-GB" baseline="0" dirty="0">
              <a:solidFill>
                <a:srgbClr val="FFFF00"/>
              </a:solidFill>
            </a:rPr>
            <a:t> </a:t>
          </a:r>
          <a:r>
            <a:rPr lang="en-GB" baseline="0" dirty="0"/>
            <a:t>estimate the “TRUE” value</a:t>
          </a:r>
          <a:endParaRPr lang="en-GB" dirty="0"/>
        </a:p>
      </dgm:t>
    </dgm:pt>
    <dgm:pt modelId="{228D6009-5049-4F0C-9FB0-0A33130A3C90}" type="parTrans" cxnId="{891FEF08-A55F-4800-AD7A-43BB3D1008AB}">
      <dgm:prSet/>
      <dgm:spPr/>
      <dgm:t>
        <a:bodyPr/>
        <a:lstStyle/>
        <a:p>
          <a:endParaRPr lang="en-US"/>
        </a:p>
      </dgm:t>
    </dgm:pt>
    <dgm:pt modelId="{41EF2167-E72A-4CF1-BC94-56E88409B197}" type="sibTrans" cxnId="{891FEF08-A55F-4800-AD7A-43BB3D1008AB}">
      <dgm:prSet/>
      <dgm:spPr/>
      <dgm:t>
        <a:bodyPr/>
        <a:lstStyle/>
        <a:p>
          <a:endParaRPr lang="en-US"/>
        </a:p>
      </dgm:t>
    </dgm:pt>
    <dgm:pt modelId="{7D70B54F-BBFE-4F72-8801-98470302BD1C}">
      <dgm:prSet/>
      <dgm:spPr/>
      <dgm:t>
        <a:bodyPr/>
        <a:lstStyle/>
        <a:p>
          <a:pPr rtl="0"/>
          <a:r>
            <a:rPr lang="en-GB" b="1" u="sng" baseline="0" dirty="0">
              <a:solidFill>
                <a:srgbClr val="FFFF00"/>
              </a:solidFill>
            </a:rPr>
            <a:t>More Complex models</a:t>
          </a:r>
          <a:r>
            <a:rPr lang="en-GB" baseline="0" dirty="0"/>
            <a:t>-</a:t>
          </a:r>
          <a:r>
            <a:rPr lang="en-GB" dirty="0"/>
            <a:t>More inputs-More uncertainty-</a:t>
          </a:r>
          <a:r>
            <a:rPr lang="en-GB" b="1" u="sng" dirty="0">
              <a:solidFill>
                <a:srgbClr val="FFFF00"/>
              </a:solidFill>
            </a:rPr>
            <a:t>less precision</a:t>
          </a:r>
        </a:p>
      </dgm:t>
    </dgm:pt>
    <dgm:pt modelId="{E1FA7A7C-11DC-4871-ABDB-7FD5C4F6A370}" type="parTrans" cxnId="{1333EAE0-2AF5-4B2B-93C1-D48D112C824F}">
      <dgm:prSet/>
      <dgm:spPr/>
      <dgm:t>
        <a:bodyPr/>
        <a:lstStyle/>
        <a:p>
          <a:endParaRPr lang="en-US"/>
        </a:p>
      </dgm:t>
    </dgm:pt>
    <dgm:pt modelId="{7AFB7EF9-2364-4404-9B7C-89998B422A25}" type="sibTrans" cxnId="{1333EAE0-2AF5-4B2B-93C1-D48D112C824F}">
      <dgm:prSet/>
      <dgm:spPr/>
      <dgm:t>
        <a:bodyPr/>
        <a:lstStyle/>
        <a:p>
          <a:endParaRPr lang="en-US"/>
        </a:p>
      </dgm:t>
    </dgm:pt>
    <dgm:pt modelId="{0D3E848C-280B-4E85-AD88-FD316052F076}">
      <dgm:prSet/>
      <dgm:spPr/>
      <dgm:t>
        <a:bodyPr/>
        <a:lstStyle/>
        <a:p>
          <a:pPr rtl="0"/>
          <a:r>
            <a:rPr lang="en-GB" dirty="0"/>
            <a:t>Simpler models are more flexible</a:t>
          </a:r>
        </a:p>
      </dgm:t>
    </dgm:pt>
    <dgm:pt modelId="{9DECB028-AF82-4023-A3FE-3E3FB7E5214B}" type="sibTrans" cxnId="{E05572CE-1A96-4833-93E1-46A8D8D82607}">
      <dgm:prSet/>
      <dgm:spPr/>
      <dgm:t>
        <a:bodyPr/>
        <a:lstStyle/>
        <a:p>
          <a:endParaRPr lang="en-GB"/>
        </a:p>
      </dgm:t>
    </dgm:pt>
    <dgm:pt modelId="{8E6204DB-5989-410F-9A19-717E9296E0A5}" type="parTrans" cxnId="{E05572CE-1A96-4833-93E1-46A8D8D82607}">
      <dgm:prSet/>
      <dgm:spPr/>
      <dgm:t>
        <a:bodyPr/>
        <a:lstStyle/>
        <a:p>
          <a:endParaRPr lang="en-GB"/>
        </a:p>
      </dgm:t>
    </dgm:pt>
    <dgm:pt modelId="{F9521C81-7F6A-452D-9B58-AAFDECA977E1}" type="pres">
      <dgm:prSet presAssocID="{7BF73B61-81E9-40E5-A80A-CBC79995BA40}" presName="Name0" presStyleCnt="0">
        <dgm:presLayoutVars>
          <dgm:dir/>
          <dgm:resizeHandles val="exact"/>
        </dgm:presLayoutVars>
      </dgm:prSet>
      <dgm:spPr/>
    </dgm:pt>
    <dgm:pt modelId="{0C34113E-B0D9-408B-905E-30C3E64FB584}" type="pres">
      <dgm:prSet presAssocID="{4C6768C5-C312-4C43-BC63-B4D4819207A7}" presName="node" presStyleLbl="node1" presStyleIdx="0" presStyleCnt="3">
        <dgm:presLayoutVars>
          <dgm:bulletEnabled val="1"/>
        </dgm:presLayoutVars>
      </dgm:prSet>
      <dgm:spPr/>
    </dgm:pt>
    <dgm:pt modelId="{986F01B0-1CC7-49E2-9B70-1863562727B9}" type="pres">
      <dgm:prSet presAssocID="{B3C6C040-196A-4A23-9435-D8CFFAB1CBDF}" presName="sibTrans" presStyleCnt="0"/>
      <dgm:spPr/>
    </dgm:pt>
    <dgm:pt modelId="{2E96B785-39AE-4271-986B-1FCB3F3C7BB2}" type="pres">
      <dgm:prSet presAssocID="{C5BF9769-D26C-48FC-A303-9E63EA068C82}" presName="node" presStyleLbl="node1" presStyleIdx="1" presStyleCnt="3">
        <dgm:presLayoutVars>
          <dgm:bulletEnabled val="1"/>
        </dgm:presLayoutVars>
      </dgm:prSet>
      <dgm:spPr/>
    </dgm:pt>
    <dgm:pt modelId="{2E9D92B9-B6CB-47E6-91A8-8EA021AABA0D}" type="pres">
      <dgm:prSet presAssocID="{339D9B0B-7E71-41AB-811B-C1872D1834DC}" presName="sibTrans" presStyleCnt="0"/>
      <dgm:spPr/>
    </dgm:pt>
    <dgm:pt modelId="{2862D89C-A699-4C16-A122-FF0E4EA74CF7}" type="pres">
      <dgm:prSet presAssocID="{0CB5F8FD-E40D-40EB-A05E-D008D42AA3EE}" presName="node" presStyleLbl="node1" presStyleIdx="2" presStyleCnt="3">
        <dgm:presLayoutVars>
          <dgm:bulletEnabled val="1"/>
        </dgm:presLayoutVars>
      </dgm:prSet>
      <dgm:spPr/>
    </dgm:pt>
  </dgm:ptLst>
  <dgm:cxnLst>
    <dgm:cxn modelId="{891FEF08-A55F-4800-AD7A-43BB3D1008AB}" srcId="{4C6768C5-C312-4C43-BC63-B4D4819207A7}" destId="{BEA014E1-7BB7-48D2-8089-22F53D338EF0}" srcOrd="0" destOrd="0" parTransId="{228D6009-5049-4F0C-9FB0-0A33130A3C90}" sibTransId="{41EF2167-E72A-4CF1-BC94-56E88409B197}"/>
    <dgm:cxn modelId="{52A90230-255D-4235-A70A-5A6A0CEEDB3A}" type="presOf" srcId="{BEA014E1-7BB7-48D2-8089-22F53D338EF0}" destId="{0C34113E-B0D9-408B-905E-30C3E64FB584}" srcOrd="0" destOrd="1" presId="urn:microsoft.com/office/officeart/2005/8/layout/hList6"/>
    <dgm:cxn modelId="{F1DE7131-9BEC-4C11-AEE3-30634E3D71C2}" srcId="{7BF73B61-81E9-40E5-A80A-CBC79995BA40}" destId="{4C6768C5-C312-4C43-BC63-B4D4819207A7}" srcOrd="0" destOrd="0" parTransId="{8EE42D62-2060-4112-BFBA-9874B2D8608F}" sibTransId="{B3C6C040-196A-4A23-9435-D8CFFAB1CBDF}"/>
    <dgm:cxn modelId="{87B7E438-B576-4D04-A11E-6F53213CF416}" type="presOf" srcId="{896F5761-18FE-410D-AF64-61294865618E}" destId="{2E96B785-39AE-4271-986B-1FCB3F3C7BB2}" srcOrd="0" destOrd="2" presId="urn:microsoft.com/office/officeart/2005/8/layout/hList6"/>
    <dgm:cxn modelId="{CE928961-0F6D-4742-98B8-FCEB0539B8EA}" type="presOf" srcId="{C46599EB-D11E-49A4-B204-5FEF7886C020}" destId="{0C34113E-B0D9-408B-905E-30C3E64FB584}" srcOrd="0" destOrd="2" presId="urn:microsoft.com/office/officeart/2005/8/layout/hList6"/>
    <dgm:cxn modelId="{2B896966-CB55-473B-B533-BDCAB681B0CA}" srcId="{7BF73B61-81E9-40E5-A80A-CBC79995BA40}" destId="{0CB5F8FD-E40D-40EB-A05E-D008D42AA3EE}" srcOrd="2" destOrd="0" parTransId="{0096927C-6AFC-43B7-AA51-6A72E108E334}" sibTransId="{5EE77526-0196-4015-8384-9C2EA59019D9}"/>
    <dgm:cxn modelId="{F887F86B-2966-4870-9EB3-DCDB97661531}" srcId="{C5BF9769-D26C-48FC-A303-9E63EA068C82}" destId="{896F5761-18FE-410D-AF64-61294865618E}" srcOrd="1" destOrd="0" parTransId="{B2FEF68B-C6D3-46C0-83ED-E47A33D8CCFB}" sibTransId="{6B851928-F94B-4D90-B01D-85754F90592A}"/>
    <dgm:cxn modelId="{55F20E4E-1B93-432D-B0A0-F4212685F1A5}" type="presOf" srcId="{C5BF9769-D26C-48FC-A303-9E63EA068C82}" destId="{2E96B785-39AE-4271-986B-1FCB3F3C7BB2}" srcOrd="0" destOrd="0" presId="urn:microsoft.com/office/officeart/2005/8/layout/hList6"/>
    <dgm:cxn modelId="{0FDB3F6F-4C1C-4945-8D06-2EFFD5D32A0C}" type="presOf" srcId="{0CB5F8FD-E40D-40EB-A05E-D008D42AA3EE}" destId="{2862D89C-A699-4C16-A122-FF0E4EA74CF7}" srcOrd="0" destOrd="0" presId="urn:microsoft.com/office/officeart/2005/8/layout/hList6"/>
    <dgm:cxn modelId="{5726BB72-5E7B-4F25-B0A0-79256089AF82}" srcId="{C5BF9769-D26C-48FC-A303-9E63EA068C82}" destId="{819DB601-781A-4886-B0C2-BD589C56F966}" srcOrd="0" destOrd="0" parTransId="{E5C1DA61-D289-4B48-B83C-7136AF1F5CF3}" sibTransId="{16A680A2-7CDC-47D3-B2FC-788FC796DC35}"/>
    <dgm:cxn modelId="{45581091-FCF2-4CCE-A680-AC2007C2638C}" type="presOf" srcId="{819DB601-781A-4886-B0C2-BD589C56F966}" destId="{2E96B785-39AE-4271-986B-1FCB3F3C7BB2}" srcOrd="0" destOrd="1" presId="urn:microsoft.com/office/officeart/2005/8/layout/hList6"/>
    <dgm:cxn modelId="{B348889E-8618-472C-BE7F-2F403E018902}" type="presOf" srcId="{7BF73B61-81E9-40E5-A80A-CBC79995BA40}" destId="{F9521C81-7F6A-452D-9B58-AAFDECA977E1}" srcOrd="0" destOrd="0" presId="urn:microsoft.com/office/officeart/2005/8/layout/hList6"/>
    <dgm:cxn modelId="{68FA2BAC-B0E7-463B-91C6-4F28F8DDB52C}" srcId="{7BF73B61-81E9-40E5-A80A-CBC79995BA40}" destId="{C5BF9769-D26C-48FC-A303-9E63EA068C82}" srcOrd="1" destOrd="0" parTransId="{901051D2-D6A0-47B9-82FB-BB203FDCDB05}" sibTransId="{339D9B0B-7E71-41AB-811B-C1872D1834DC}"/>
    <dgm:cxn modelId="{B82340C0-E89D-40EA-BA1B-D93154BDDEBB}" type="presOf" srcId="{4C6768C5-C312-4C43-BC63-B4D4819207A7}" destId="{0C34113E-B0D9-408B-905E-30C3E64FB584}" srcOrd="0" destOrd="0" presId="urn:microsoft.com/office/officeart/2005/8/layout/hList6"/>
    <dgm:cxn modelId="{E3A851C1-B8BB-4FE9-A21A-A1590CE7E41A}" srcId="{4C6768C5-C312-4C43-BC63-B4D4819207A7}" destId="{C46599EB-D11E-49A4-B204-5FEF7886C020}" srcOrd="1" destOrd="0" parTransId="{EE0C60B6-AAD3-42E8-8A0E-6D595B963DB4}" sibTransId="{6AD2557E-B81E-497D-B3B5-81B954C8B741}"/>
    <dgm:cxn modelId="{E84E6DCB-D92A-4A9C-94AB-3E48E6EC41BF}" type="presOf" srcId="{0D3E848C-280B-4E85-AD88-FD316052F076}" destId="{2862D89C-A699-4C16-A122-FF0E4EA74CF7}" srcOrd="0" destOrd="2" presId="urn:microsoft.com/office/officeart/2005/8/layout/hList6"/>
    <dgm:cxn modelId="{E05572CE-1A96-4833-93E1-46A8D8D82607}" srcId="{0CB5F8FD-E40D-40EB-A05E-D008D42AA3EE}" destId="{0D3E848C-280B-4E85-AD88-FD316052F076}" srcOrd="1" destOrd="0" parTransId="{8E6204DB-5989-410F-9A19-717E9296E0A5}" sibTransId="{9DECB028-AF82-4023-A3FE-3E3FB7E5214B}"/>
    <dgm:cxn modelId="{4B3CACD1-3AA1-49A9-A5C1-DD7876C0F010}" type="presOf" srcId="{7D70B54F-BBFE-4F72-8801-98470302BD1C}" destId="{2862D89C-A699-4C16-A122-FF0E4EA74CF7}" srcOrd="0" destOrd="1" presId="urn:microsoft.com/office/officeart/2005/8/layout/hList6"/>
    <dgm:cxn modelId="{1333EAE0-2AF5-4B2B-93C1-D48D112C824F}" srcId="{0CB5F8FD-E40D-40EB-A05E-D008D42AA3EE}" destId="{7D70B54F-BBFE-4F72-8801-98470302BD1C}" srcOrd="0" destOrd="0" parTransId="{E1FA7A7C-11DC-4871-ABDB-7FD5C4F6A370}" sibTransId="{7AFB7EF9-2364-4404-9B7C-89998B422A25}"/>
    <dgm:cxn modelId="{84E91154-8441-42A7-BC86-C67AEA21B3DF}" type="presParOf" srcId="{F9521C81-7F6A-452D-9B58-AAFDECA977E1}" destId="{0C34113E-B0D9-408B-905E-30C3E64FB584}" srcOrd="0" destOrd="0" presId="urn:microsoft.com/office/officeart/2005/8/layout/hList6"/>
    <dgm:cxn modelId="{4082218F-CBA9-4524-ACE8-1AA65D940026}" type="presParOf" srcId="{F9521C81-7F6A-452D-9B58-AAFDECA977E1}" destId="{986F01B0-1CC7-49E2-9B70-1863562727B9}" srcOrd="1" destOrd="0" presId="urn:microsoft.com/office/officeart/2005/8/layout/hList6"/>
    <dgm:cxn modelId="{033A6A59-AA7A-49E3-A3F8-D9E67560BECA}" type="presParOf" srcId="{F9521C81-7F6A-452D-9B58-AAFDECA977E1}" destId="{2E96B785-39AE-4271-986B-1FCB3F3C7BB2}" srcOrd="2" destOrd="0" presId="urn:microsoft.com/office/officeart/2005/8/layout/hList6"/>
    <dgm:cxn modelId="{E36FFA96-77DC-4C81-BFC0-DE5BB7C40097}" type="presParOf" srcId="{F9521C81-7F6A-452D-9B58-AAFDECA977E1}" destId="{2E9D92B9-B6CB-47E6-91A8-8EA021AABA0D}" srcOrd="3" destOrd="0" presId="urn:microsoft.com/office/officeart/2005/8/layout/hList6"/>
    <dgm:cxn modelId="{C38D919D-2F00-4345-B5ED-393232F16D1A}" type="presParOf" srcId="{F9521C81-7F6A-452D-9B58-AAFDECA977E1}" destId="{2862D89C-A699-4C16-A122-FF0E4EA74CF7}"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20F93A9-7BCD-4672-AB3F-316E20E8F557}" type="doc">
      <dgm:prSet loTypeId="urn:microsoft.com/office/officeart/2005/8/layout/vList5" loCatId="list" qsTypeId="urn:microsoft.com/office/officeart/2005/8/quickstyle/3d1#2" qsCatId="3D" csTypeId="urn:microsoft.com/office/officeart/2005/8/colors/colorful1#1" csCatId="colorful" phldr="1"/>
      <dgm:spPr/>
      <dgm:t>
        <a:bodyPr/>
        <a:lstStyle/>
        <a:p>
          <a:endParaRPr lang="en-GB"/>
        </a:p>
      </dgm:t>
    </dgm:pt>
    <dgm:pt modelId="{0F6BF769-5722-4F1D-9DFC-2B17E8C3FE41}">
      <dgm:prSet/>
      <dgm:spPr/>
      <dgm:t>
        <a:bodyPr/>
        <a:lstStyle/>
        <a:p>
          <a:pPr rtl="0"/>
          <a:r>
            <a:rPr lang="en-GB" baseline="0" dirty="0"/>
            <a:t>How much is it worth?</a:t>
          </a:r>
          <a:endParaRPr lang="en-GB" dirty="0"/>
        </a:p>
      </dgm:t>
    </dgm:pt>
    <dgm:pt modelId="{58690E81-8676-474D-8BDF-93BE5D5845BE}" type="parTrans" cxnId="{D0DFB681-A3EB-4C67-8E8F-C598E62E0763}">
      <dgm:prSet/>
      <dgm:spPr/>
      <dgm:t>
        <a:bodyPr/>
        <a:lstStyle/>
        <a:p>
          <a:endParaRPr lang="en-GB"/>
        </a:p>
      </dgm:t>
    </dgm:pt>
    <dgm:pt modelId="{6E1C00D6-0C65-44F9-BE13-EAB3D033E6A6}" type="sibTrans" cxnId="{D0DFB681-A3EB-4C67-8E8F-C598E62E0763}">
      <dgm:prSet/>
      <dgm:spPr/>
      <dgm:t>
        <a:bodyPr/>
        <a:lstStyle/>
        <a:p>
          <a:endParaRPr lang="en-GB"/>
        </a:p>
      </dgm:t>
    </dgm:pt>
    <dgm:pt modelId="{A6F2F2B0-6901-4C6B-9F18-82420764B867}">
      <dgm:prSet/>
      <dgm:spPr/>
      <dgm:t>
        <a:bodyPr/>
        <a:lstStyle/>
        <a:p>
          <a:pPr rtl="0"/>
          <a:r>
            <a:rPr lang="en-GB" dirty="0"/>
            <a:t>Intrinsic Value</a:t>
          </a:r>
        </a:p>
      </dgm:t>
    </dgm:pt>
    <dgm:pt modelId="{D1AB6DEA-E807-4A61-9543-168BF21685E5}" type="parTrans" cxnId="{60E8AC00-3D91-4DC9-9E4C-39DCC5172A40}">
      <dgm:prSet/>
      <dgm:spPr/>
      <dgm:t>
        <a:bodyPr/>
        <a:lstStyle/>
        <a:p>
          <a:endParaRPr lang="en-GB"/>
        </a:p>
      </dgm:t>
    </dgm:pt>
    <dgm:pt modelId="{EB622D93-3913-4538-A64F-6BCFC66D2E9D}" type="sibTrans" cxnId="{60E8AC00-3D91-4DC9-9E4C-39DCC5172A40}">
      <dgm:prSet/>
      <dgm:spPr/>
      <dgm:t>
        <a:bodyPr/>
        <a:lstStyle/>
        <a:p>
          <a:endParaRPr lang="en-GB"/>
        </a:p>
      </dgm:t>
    </dgm:pt>
    <dgm:pt modelId="{752487B0-9A73-46A3-B119-983EF207ECBD}">
      <dgm:prSet/>
      <dgm:spPr/>
      <dgm:t>
        <a:bodyPr/>
        <a:lstStyle/>
        <a:p>
          <a:pPr rtl="0"/>
          <a:r>
            <a:rPr lang="en-GB" dirty="0"/>
            <a:t>DCF-Present Value of Future Cash Flows</a:t>
          </a:r>
        </a:p>
      </dgm:t>
    </dgm:pt>
    <dgm:pt modelId="{A3841D4B-600C-46D0-ACE4-68FF232137BE}" type="parTrans" cxnId="{07875653-B068-447D-AC01-A84ECDCBC25E}">
      <dgm:prSet/>
      <dgm:spPr/>
      <dgm:t>
        <a:bodyPr/>
        <a:lstStyle/>
        <a:p>
          <a:endParaRPr lang="en-GB"/>
        </a:p>
      </dgm:t>
    </dgm:pt>
    <dgm:pt modelId="{363D74F3-1366-4AF8-80E1-A98971B07EB3}" type="sibTrans" cxnId="{07875653-B068-447D-AC01-A84ECDCBC25E}">
      <dgm:prSet/>
      <dgm:spPr/>
      <dgm:t>
        <a:bodyPr/>
        <a:lstStyle/>
        <a:p>
          <a:endParaRPr lang="en-GB"/>
        </a:p>
      </dgm:t>
    </dgm:pt>
    <dgm:pt modelId="{E816DBB1-2A3B-4947-A945-2B00CD939764}">
      <dgm:prSet/>
      <dgm:spPr/>
      <dgm:t>
        <a:bodyPr/>
        <a:lstStyle/>
        <a:p>
          <a:pPr rtl="0"/>
          <a:r>
            <a:rPr lang="en-GB" baseline="0" dirty="0"/>
            <a:t>How much are you willing to pay</a:t>
          </a:r>
          <a:endParaRPr lang="en-GB" dirty="0"/>
        </a:p>
      </dgm:t>
    </dgm:pt>
    <dgm:pt modelId="{8A5E9167-7B88-4F21-AAFE-9FBD359A32AB}" type="parTrans" cxnId="{B9595F30-314C-4152-AA68-04A76BD069F3}">
      <dgm:prSet/>
      <dgm:spPr/>
      <dgm:t>
        <a:bodyPr/>
        <a:lstStyle/>
        <a:p>
          <a:endParaRPr lang="en-GB"/>
        </a:p>
      </dgm:t>
    </dgm:pt>
    <dgm:pt modelId="{3F8211DA-06F5-4B05-A472-86B14D43B75D}" type="sibTrans" cxnId="{B9595F30-314C-4152-AA68-04A76BD069F3}">
      <dgm:prSet/>
      <dgm:spPr/>
      <dgm:t>
        <a:bodyPr/>
        <a:lstStyle/>
        <a:p>
          <a:endParaRPr lang="en-GB"/>
        </a:p>
      </dgm:t>
    </dgm:pt>
    <dgm:pt modelId="{07DBAD40-F3C6-4BA4-8CAE-413F6B925774}">
      <dgm:prSet/>
      <dgm:spPr/>
      <dgm:t>
        <a:bodyPr/>
        <a:lstStyle/>
        <a:p>
          <a:pPr rtl="0"/>
          <a:r>
            <a:rPr lang="en-GB" dirty="0"/>
            <a:t>Expectations</a:t>
          </a:r>
        </a:p>
      </dgm:t>
    </dgm:pt>
    <dgm:pt modelId="{F997B919-C29A-4217-91A3-CD743CCE0D67}" type="parTrans" cxnId="{E26D84CA-4BE2-4360-B3D0-B120AF167C3D}">
      <dgm:prSet/>
      <dgm:spPr/>
      <dgm:t>
        <a:bodyPr/>
        <a:lstStyle/>
        <a:p>
          <a:endParaRPr lang="en-GB"/>
        </a:p>
      </dgm:t>
    </dgm:pt>
    <dgm:pt modelId="{DFA6D0A9-ED22-4460-A702-1EA37CF82908}" type="sibTrans" cxnId="{E26D84CA-4BE2-4360-B3D0-B120AF167C3D}">
      <dgm:prSet/>
      <dgm:spPr/>
      <dgm:t>
        <a:bodyPr/>
        <a:lstStyle/>
        <a:p>
          <a:endParaRPr lang="en-GB"/>
        </a:p>
      </dgm:t>
    </dgm:pt>
    <dgm:pt modelId="{73BCFCDD-19D8-4B55-8B00-EF4D6F9EBD4B}">
      <dgm:prSet/>
      <dgm:spPr/>
      <dgm:t>
        <a:bodyPr/>
        <a:lstStyle/>
        <a:p>
          <a:pPr rtl="0"/>
          <a:r>
            <a:rPr lang="en-GB" dirty="0"/>
            <a:t>Relative Valuation-What are others willing to pay?</a:t>
          </a:r>
        </a:p>
      </dgm:t>
    </dgm:pt>
    <dgm:pt modelId="{C0B87B98-8DCB-4860-99CD-BDECAA9BE1C2}" type="parTrans" cxnId="{8E6B8285-E67F-4D36-883F-310D955DE717}">
      <dgm:prSet/>
      <dgm:spPr/>
      <dgm:t>
        <a:bodyPr/>
        <a:lstStyle/>
        <a:p>
          <a:endParaRPr lang="en-GB"/>
        </a:p>
      </dgm:t>
    </dgm:pt>
    <dgm:pt modelId="{3B40E185-63B9-4C1E-8B85-A4DAA6DC4735}" type="sibTrans" cxnId="{8E6B8285-E67F-4D36-883F-310D955DE717}">
      <dgm:prSet/>
      <dgm:spPr/>
      <dgm:t>
        <a:bodyPr/>
        <a:lstStyle/>
        <a:p>
          <a:endParaRPr lang="en-GB"/>
        </a:p>
      </dgm:t>
    </dgm:pt>
    <dgm:pt modelId="{8A4D82F9-8EA2-4A7E-9DE3-E79D790421B7}">
      <dgm:prSet/>
      <dgm:spPr/>
      <dgm:t>
        <a:bodyPr/>
        <a:lstStyle/>
        <a:p>
          <a:pPr rtl="0"/>
          <a:r>
            <a:rPr lang="en-GB" baseline="0" dirty="0"/>
            <a:t>Does flexibility have value?</a:t>
          </a:r>
          <a:endParaRPr lang="en-GB" dirty="0"/>
        </a:p>
      </dgm:t>
    </dgm:pt>
    <dgm:pt modelId="{9E029B9B-25B0-44C9-B747-0F3091C8AF86}" type="parTrans" cxnId="{34A16AE3-C7DE-4C53-89D5-A754FFCCB289}">
      <dgm:prSet/>
      <dgm:spPr/>
      <dgm:t>
        <a:bodyPr/>
        <a:lstStyle/>
        <a:p>
          <a:endParaRPr lang="en-GB"/>
        </a:p>
      </dgm:t>
    </dgm:pt>
    <dgm:pt modelId="{9B54A2DD-27CE-4644-B0EB-7C3F99493C3B}" type="sibTrans" cxnId="{34A16AE3-C7DE-4C53-89D5-A754FFCCB289}">
      <dgm:prSet/>
      <dgm:spPr/>
      <dgm:t>
        <a:bodyPr/>
        <a:lstStyle/>
        <a:p>
          <a:endParaRPr lang="en-GB"/>
        </a:p>
      </dgm:t>
    </dgm:pt>
    <dgm:pt modelId="{E54D2933-F9B8-4F38-81CB-9917A0F1CCA6}">
      <dgm:prSet/>
      <dgm:spPr/>
      <dgm:t>
        <a:bodyPr/>
        <a:lstStyle/>
        <a:p>
          <a:pPr rtl="0"/>
          <a:r>
            <a:rPr lang="en-GB" dirty="0"/>
            <a:t>Can I take an action in the future?</a:t>
          </a:r>
        </a:p>
      </dgm:t>
    </dgm:pt>
    <dgm:pt modelId="{87022EF2-F0A9-4E2C-ABFC-F8EAAF8A5665}" type="parTrans" cxnId="{9E9EEA47-F14C-48C3-B753-E2859FAEC330}">
      <dgm:prSet/>
      <dgm:spPr/>
      <dgm:t>
        <a:bodyPr/>
        <a:lstStyle/>
        <a:p>
          <a:endParaRPr lang="en-GB"/>
        </a:p>
      </dgm:t>
    </dgm:pt>
    <dgm:pt modelId="{A9CC18D6-8BE9-401D-B772-7A3CAD94F4FF}" type="sibTrans" cxnId="{9E9EEA47-F14C-48C3-B753-E2859FAEC330}">
      <dgm:prSet/>
      <dgm:spPr/>
      <dgm:t>
        <a:bodyPr/>
        <a:lstStyle/>
        <a:p>
          <a:endParaRPr lang="en-GB"/>
        </a:p>
      </dgm:t>
    </dgm:pt>
    <dgm:pt modelId="{B1522054-B5B0-4502-BD84-9ED8285A3AA1}">
      <dgm:prSet/>
      <dgm:spPr/>
      <dgm:t>
        <a:bodyPr/>
        <a:lstStyle/>
        <a:p>
          <a:pPr rtl="0"/>
          <a:r>
            <a:rPr lang="en-GB" dirty="0"/>
            <a:t>Options Valuation</a:t>
          </a:r>
        </a:p>
      </dgm:t>
    </dgm:pt>
    <dgm:pt modelId="{80EED35A-DB13-4073-A22D-9291C4F49FEE}" type="parTrans" cxnId="{A6C6AF9C-E628-455E-906E-94BA1F8A9FDA}">
      <dgm:prSet/>
      <dgm:spPr/>
      <dgm:t>
        <a:bodyPr/>
        <a:lstStyle/>
        <a:p>
          <a:endParaRPr lang="en-GB"/>
        </a:p>
      </dgm:t>
    </dgm:pt>
    <dgm:pt modelId="{1730153D-3C0A-4DF7-8E5B-4D9586F33487}" type="sibTrans" cxnId="{A6C6AF9C-E628-455E-906E-94BA1F8A9FDA}">
      <dgm:prSet/>
      <dgm:spPr/>
      <dgm:t>
        <a:bodyPr/>
        <a:lstStyle/>
        <a:p>
          <a:endParaRPr lang="en-GB"/>
        </a:p>
      </dgm:t>
    </dgm:pt>
    <dgm:pt modelId="{B35B2FFB-BB4D-44BB-966C-7444D5AC0531}" type="pres">
      <dgm:prSet presAssocID="{620F93A9-7BCD-4672-AB3F-316E20E8F557}" presName="Name0" presStyleCnt="0">
        <dgm:presLayoutVars>
          <dgm:dir/>
          <dgm:animLvl val="lvl"/>
          <dgm:resizeHandles val="exact"/>
        </dgm:presLayoutVars>
      </dgm:prSet>
      <dgm:spPr/>
    </dgm:pt>
    <dgm:pt modelId="{0373A8F0-EAE6-4DD4-AF1C-C150A6FCA492}" type="pres">
      <dgm:prSet presAssocID="{0F6BF769-5722-4F1D-9DFC-2B17E8C3FE41}" presName="linNode" presStyleCnt="0"/>
      <dgm:spPr/>
    </dgm:pt>
    <dgm:pt modelId="{DB0E8FBB-2A1A-40F8-9491-B4576B2764BB}" type="pres">
      <dgm:prSet presAssocID="{0F6BF769-5722-4F1D-9DFC-2B17E8C3FE41}" presName="parentText" presStyleLbl="node1" presStyleIdx="0" presStyleCnt="3">
        <dgm:presLayoutVars>
          <dgm:chMax val="1"/>
          <dgm:bulletEnabled val="1"/>
        </dgm:presLayoutVars>
      </dgm:prSet>
      <dgm:spPr/>
    </dgm:pt>
    <dgm:pt modelId="{F6749197-698E-4CB1-A8C5-C782583B0A5A}" type="pres">
      <dgm:prSet presAssocID="{0F6BF769-5722-4F1D-9DFC-2B17E8C3FE41}" presName="descendantText" presStyleLbl="alignAccFollowNode1" presStyleIdx="0" presStyleCnt="3">
        <dgm:presLayoutVars>
          <dgm:bulletEnabled val="1"/>
        </dgm:presLayoutVars>
      </dgm:prSet>
      <dgm:spPr/>
    </dgm:pt>
    <dgm:pt modelId="{150EC815-7A8E-4273-B829-4506C9AC2212}" type="pres">
      <dgm:prSet presAssocID="{6E1C00D6-0C65-44F9-BE13-EAB3D033E6A6}" presName="sp" presStyleCnt="0"/>
      <dgm:spPr/>
    </dgm:pt>
    <dgm:pt modelId="{453FB001-D9E9-415E-8833-AEFF73428EE4}" type="pres">
      <dgm:prSet presAssocID="{E816DBB1-2A3B-4947-A945-2B00CD939764}" presName="linNode" presStyleCnt="0"/>
      <dgm:spPr/>
    </dgm:pt>
    <dgm:pt modelId="{EADFFEF3-4D66-441F-86AB-CA47788103E5}" type="pres">
      <dgm:prSet presAssocID="{E816DBB1-2A3B-4947-A945-2B00CD939764}" presName="parentText" presStyleLbl="node1" presStyleIdx="1" presStyleCnt="3">
        <dgm:presLayoutVars>
          <dgm:chMax val="1"/>
          <dgm:bulletEnabled val="1"/>
        </dgm:presLayoutVars>
      </dgm:prSet>
      <dgm:spPr/>
    </dgm:pt>
    <dgm:pt modelId="{0BF63519-F7BA-4BFB-B21F-9199A594F678}" type="pres">
      <dgm:prSet presAssocID="{E816DBB1-2A3B-4947-A945-2B00CD939764}" presName="descendantText" presStyleLbl="alignAccFollowNode1" presStyleIdx="1" presStyleCnt="3">
        <dgm:presLayoutVars>
          <dgm:bulletEnabled val="1"/>
        </dgm:presLayoutVars>
      </dgm:prSet>
      <dgm:spPr/>
    </dgm:pt>
    <dgm:pt modelId="{012910F6-8BD8-4314-A620-3D0AC2161C8A}" type="pres">
      <dgm:prSet presAssocID="{3F8211DA-06F5-4B05-A472-86B14D43B75D}" presName="sp" presStyleCnt="0"/>
      <dgm:spPr/>
    </dgm:pt>
    <dgm:pt modelId="{02BB4AF3-5A4E-4C3F-8974-C2576C92F488}" type="pres">
      <dgm:prSet presAssocID="{8A4D82F9-8EA2-4A7E-9DE3-E79D790421B7}" presName="linNode" presStyleCnt="0"/>
      <dgm:spPr/>
    </dgm:pt>
    <dgm:pt modelId="{23DBB377-BBEB-41EA-B0DA-EC9C5A40E3D6}" type="pres">
      <dgm:prSet presAssocID="{8A4D82F9-8EA2-4A7E-9DE3-E79D790421B7}" presName="parentText" presStyleLbl="node1" presStyleIdx="2" presStyleCnt="3">
        <dgm:presLayoutVars>
          <dgm:chMax val="1"/>
          <dgm:bulletEnabled val="1"/>
        </dgm:presLayoutVars>
      </dgm:prSet>
      <dgm:spPr/>
    </dgm:pt>
    <dgm:pt modelId="{F9252958-4CBC-4B48-AA8B-730BAE9BA9E6}" type="pres">
      <dgm:prSet presAssocID="{8A4D82F9-8EA2-4A7E-9DE3-E79D790421B7}" presName="descendantText" presStyleLbl="alignAccFollowNode1" presStyleIdx="2" presStyleCnt="3">
        <dgm:presLayoutVars>
          <dgm:bulletEnabled val="1"/>
        </dgm:presLayoutVars>
      </dgm:prSet>
      <dgm:spPr/>
    </dgm:pt>
  </dgm:ptLst>
  <dgm:cxnLst>
    <dgm:cxn modelId="{60E8AC00-3D91-4DC9-9E4C-39DCC5172A40}" srcId="{0F6BF769-5722-4F1D-9DFC-2B17E8C3FE41}" destId="{A6F2F2B0-6901-4C6B-9F18-82420764B867}" srcOrd="0" destOrd="0" parTransId="{D1AB6DEA-E807-4A61-9543-168BF21685E5}" sibTransId="{EB622D93-3913-4538-A64F-6BCFC66D2E9D}"/>
    <dgm:cxn modelId="{431FD90B-B27B-4AA3-8F71-235C536560E9}" type="presOf" srcId="{752487B0-9A73-46A3-B119-983EF207ECBD}" destId="{F6749197-698E-4CB1-A8C5-C782583B0A5A}" srcOrd="0" destOrd="1" presId="urn:microsoft.com/office/officeart/2005/8/layout/vList5"/>
    <dgm:cxn modelId="{39AC570E-5492-4345-9148-5B93114087EA}" type="presOf" srcId="{620F93A9-7BCD-4672-AB3F-316E20E8F557}" destId="{B35B2FFB-BB4D-44BB-966C-7444D5AC0531}" srcOrd="0" destOrd="0" presId="urn:microsoft.com/office/officeart/2005/8/layout/vList5"/>
    <dgm:cxn modelId="{B9595F30-314C-4152-AA68-04A76BD069F3}" srcId="{620F93A9-7BCD-4672-AB3F-316E20E8F557}" destId="{E816DBB1-2A3B-4947-A945-2B00CD939764}" srcOrd="1" destOrd="0" parTransId="{8A5E9167-7B88-4F21-AAFE-9FBD359A32AB}" sibTransId="{3F8211DA-06F5-4B05-A472-86B14D43B75D}"/>
    <dgm:cxn modelId="{61B8C131-9AF7-42D3-A5AE-DD3F8AB0E2C3}" type="presOf" srcId="{E54D2933-F9B8-4F38-81CB-9917A0F1CCA6}" destId="{F9252958-4CBC-4B48-AA8B-730BAE9BA9E6}" srcOrd="0" destOrd="0" presId="urn:microsoft.com/office/officeart/2005/8/layout/vList5"/>
    <dgm:cxn modelId="{F547EE61-E12D-428B-AF79-B523CB7F56F2}" type="presOf" srcId="{B1522054-B5B0-4502-BD84-9ED8285A3AA1}" destId="{F9252958-4CBC-4B48-AA8B-730BAE9BA9E6}" srcOrd="0" destOrd="1" presId="urn:microsoft.com/office/officeart/2005/8/layout/vList5"/>
    <dgm:cxn modelId="{9E9EEA47-F14C-48C3-B753-E2859FAEC330}" srcId="{8A4D82F9-8EA2-4A7E-9DE3-E79D790421B7}" destId="{E54D2933-F9B8-4F38-81CB-9917A0F1CCA6}" srcOrd="0" destOrd="0" parTransId="{87022EF2-F0A9-4E2C-ABFC-F8EAAF8A5665}" sibTransId="{A9CC18D6-8BE9-401D-B772-7A3CAD94F4FF}"/>
    <dgm:cxn modelId="{07875653-B068-447D-AC01-A84ECDCBC25E}" srcId="{0F6BF769-5722-4F1D-9DFC-2B17E8C3FE41}" destId="{752487B0-9A73-46A3-B119-983EF207ECBD}" srcOrd="1" destOrd="0" parTransId="{A3841D4B-600C-46D0-ACE4-68FF232137BE}" sibTransId="{363D74F3-1366-4AF8-80E1-A98971B07EB3}"/>
    <dgm:cxn modelId="{D0DFB681-A3EB-4C67-8E8F-C598E62E0763}" srcId="{620F93A9-7BCD-4672-AB3F-316E20E8F557}" destId="{0F6BF769-5722-4F1D-9DFC-2B17E8C3FE41}" srcOrd="0" destOrd="0" parTransId="{58690E81-8676-474D-8BDF-93BE5D5845BE}" sibTransId="{6E1C00D6-0C65-44F9-BE13-EAB3D033E6A6}"/>
    <dgm:cxn modelId="{8E6B8285-E67F-4D36-883F-310D955DE717}" srcId="{E816DBB1-2A3B-4947-A945-2B00CD939764}" destId="{73BCFCDD-19D8-4B55-8B00-EF4D6F9EBD4B}" srcOrd="1" destOrd="0" parTransId="{C0B87B98-8DCB-4860-99CD-BDECAA9BE1C2}" sibTransId="{3B40E185-63B9-4C1E-8B85-A4DAA6DC4735}"/>
    <dgm:cxn modelId="{A6C6AF9C-E628-455E-906E-94BA1F8A9FDA}" srcId="{8A4D82F9-8EA2-4A7E-9DE3-E79D790421B7}" destId="{B1522054-B5B0-4502-BD84-9ED8285A3AA1}" srcOrd="1" destOrd="0" parTransId="{80EED35A-DB13-4073-A22D-9291C4F49FEE}" sibTransId="{1730153D-3C0A-4DF7-8E5B-4D9586F33487}"/>
    <dgm:cxn modelId="{E8D0CD9D-3D42-4BC7-BA27-196A0EC1C032}" type="presOf" srcId="{07DBAD40-F3C6-4BA4-8CAE-413F6B925774}" destId="{0BF63519-F7BA-4BFB-B21F-9199A594F678}" srcOrd="0" destOrd="0" presId="urn:microsoft.com/office/officeart/2005/8/layout/vList5"/>
    <dgm:cxn modelId="{70FE91A4-528F-4F76-836F-520BA183B8BE}" type="presOf" srcId="{A6F2F2B0-6901-4C6B-9F18-82420764B867}" destId="{F6749197-698E-4CB1-A8C5-C782583B0A5A}" srcOrd="0" destOrd="0" presId="urn:microsoft.com/office/officeart/2005/8/layout/vList5"/>
    <dgm:cxn modelId="{4CB256A9-53AF-4D3F-9A46-5E23A55ED209}" type="presOf" srcId="{73BCFCDD-19D8-4B55-8B00-EF4D6F9EBD4B}" destId="{0BF63519-F7BA-4BFB-B21F-9199A594F678}" srcOrd="0" destOrd="1" presId="urn:microsoft.com/office/officeart/2005/8/layout/vList5"/>
    <dgm:cxn modelId="{8EFB4FC2-1D35-42D8-AD40-280937C07655}" type="presOf" srcId="{0F6BF769-5722-4F1D-9DFC-2B17E8C3FE41}" destId="{DB0E8FBB-2A1A-40F8-9491-B4576B2764BB}" srcOrd="0" destOrd="0" presId="urn:microsoft.com/office/officeart/2005/8/layout/vList5"/>
    <dgm:cxn modelId="{E26D84CA-4BE2-4360-B3D0-B120AF167C3D}" srcId="{E816DBB1-2A3B-4947-A945-2B00CD939764}" destId="{07DBAD40-F3C6-4BA4-8CAE-413F6B925774}" srcOrd="0" destOrd="0" parTransId="{F997B919-C29A-4217-91A3-CD743CCE0D67}" sibTransId="{DFA6D0A9-ED22-4460-A702-1EA37CF82908}"/>
    <dgm:cxn modelId="{34A16AE3-C7DE-4C53-89D5-A754FFCCB289}" srcId="{620F93A9-7BCD-4672-AB3F-316E20E8F557}" destId="{8A4D82F9-8EA2-4A7E-9DE3-E79D790421B7}" srcOrd="2" destOrd="0" parTransId="{9E029B9B-25B0-44C9-B747-0F3091C8AF86}" sibTransId="{9B54A2DD-27CE-4644-B0EB-7C3F99493C3B}"/>
    <dgm:cxn modelId="{A97924EB-772A-453D-81ED-0BDE5F98DD8F}" type="presOf" srcId="{E816DBB1-2A3B-4947-A945-2B00CD939764}" destId="{EADFFEF3-4D66-441F-86AB-CA47788103E5}" srcOrd="0" destOrd="0" presId="urn:microsoft.com/office/officeart/2005/8/layout/vList5"/>
    <dgm:cxn modelId="{F0F280F3-7A05-4B6B-95B4-29833C65C811}" type="presOf" srcId="{8A4D82F9-8EA2-4A7E-9DE3-E79D790421B7}" destId="{23DBB377-BBEB-41EA-B0DA-EC9C5A40E3D6}" srcOrd="0" destOrd="0" presId="urn:microsoft.com/office/officeart/2005/8/layout/vList5"/>
    <dgm:cxn modelId="{A92751C8-29BB-472E-A2D5-44143F29EFAE}" type="presParOf" srcId="{B35B2FFB-BB4D-44BB-966C-7444D5AC0531}" destId="{0373A8F0-EAE6-4DD4-AF1C-C150A6FCA492}" srcOrd="0" destOrd="0" presId="urn:microsoft.com/office/officeart/2005/8/layout/vList5"/>
    <dgm:cxn modelId="{40076ADB-0976-40E9-BB80-D33192E3CA06}" type="presParOf" srcId="{0373A8F0-EAE6-4DD4-AF1C-C150A6FCA492}" destId="{DB0E8FBB-2A1A-40F8-9491-B4576B2764BB}" srcOrd="0" destOrd="0" presId="urn:microsoft.com/office/officeart/2005/8/layout/vList5"/>
    <dgm:cxn modelId="{D06C6279-FED9-4BF6-99F3-AFF12C17CF21}" type="presParOf" srcId="{0373A8F0-EAE6-4DD4-AF1C-C150A6FCA492}" destId="{F6749197-698E-4CB1-A8C5-C782583B0A5A}" srcOrd="1" destOrd="0" presId="urn:microsoft.com/office/officeart/2005/8/layout/vList5"/>
    <dgm:cxn modelId="{3B19CF1D-127A-4D13-960B-8EEC591C7F76}" type="presParOf" srcId="{B35B2FFB-BB4D-44BB-966C-7444D5AC0531}" destId="{150EC815-7A8E-4273-B829-4506C9AC2212}" srcOrd="1" destOrd="0" presId="urn:microsoft.com/office/officeart/2005/8/layout/vList5"/>
    <dgm:cxn modelId="{5075911C-E8EF-4C87-955E-4BD241BC1C7E}" type="presParOf" srcId="{B35B2FFB-BB4D-44BB-966C-7444D5AC0531}" destId="{453FB001-D9E9-415E-8833-AEFF73428EE4}" srcOrd="2" destOrd="0" presId="urn:microsoft.com/office/officeart/2005/8/layout/vList5"/>
    <dgm:cxn modelId="{7DC117B4-C4C4-4EF0-A451-F77FF58EFDFB}" type="presParOf" srcId="{453FB001-D9E9-415E-8833-AEFF73428EE4}" destId="{EADFFEF3-4D66-441F-86AB-CA47788103E5}" srcOrd="0" destOrd="0" presId="urn:microsoft.com/office/officeart/2005/8/layout/vList5"/>
    <dgm:cxn modelId="{3FAC2585-D69B-4904-8CDB-24D8621695C3}" type="presParOf" srcId="{453FB001-D9E9-415E-8833-AEFF73428EE4}" destId="{0BF63519-F7BA-4BFB-B21F-9199A594F678}" srcOrd="1" destOrd="0" presId="urn:microsoft.com/office/officeart/2005/8/layout/vList5"/>
    <dgm:cxn modelId="{9F63837E-A2C6-451F-A990-888A8337EC6F}" type="presParOf" srcId="{B35B2FFB-BB4D-44BB-966C-7444D5AC0531}" destId="{012910F6-8BD8-4314-A620-3D0AC2161C8A}" srcOrd="3" destOrd="0" presId="urn:microsoft.com/office/officeart/2005/8/layout/vList5"/>
    <dgm:cxn modelId="{3CF6D1AB-7D77-404B-8748-56AE8DDA166D}" type="presParOf" srcId="{B35B2FFB-BB4D-44BB-966C-7444D5AC0531}" destId="{02BB4AF3-5A4E-4C3F-8974-C2576C92F488}" srcOrd="4" destOrd="0" presId="urn:microsoft.com/office/officeart/2005/8/layout/vList5"/>
    <dgm:cxn modelId="{799A3D2C-B84B-4703-9C72-81E62E0FA056}" type="presParOf" srcId="{02BB4AF3-5A4E-4C3F-8974-C2576C92F488}" destId="{23DBB377-BBEB-41EA-B0DA-EC9C5A40E3D6}" srcOrd="0" destOrd="0" presId="urn:microsoft.com/office/officeart/2005/8/layout/vList5"/>
    <dgm:cxn modelId="{E6330772-42F9-40C9-B747-65AE38AFACBF}" type="presParOf" srcId="{02BB4AF3-5A4E-4C3F-8974-C2576C92F488}" destId="{F9252958-4CBC-4B48-AA8B-730BAE9BA9E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EE3A71C-496C-4A7F-9D71-C116B152101D}" type="doc">
      <dgm:prSet loTypeId="urn:microsoft.com/office/officeart/2005/8/layout/hList1" loCatId="list" qsTypeId="urn:microsoft.com/office/officeart/2005/8/quickstyle/simple1#3" qsCatId="simple" csTypeId="urn:microsoft.com/office/officeart/2005/8/colors/accent1_2#3" csCatId="accent1" phldr="1"/>
      <dgm:spPr/>
      <dgm:t>
        <a:bodyPr/>
        <a:lstStyle/>
        <a:p>
          <a:endParaRPr lang="en-GB"/>
        </a:p>
      </dgm:t>
    </dgm:pt>
    <dgm:pt modelId="{45DADFE9-3DC5-480C-AE40-D467A6922130}">
      <dgm:prSet phldrT="[Text]"/>
      <dgm:spPr/>
      <dgm:t>
        <a:bodyPr/>
        <a:lstStyle/>
        <a:p>
          <a:r>
            <a:rPr lang="en-GB" dirty="0"/>
            <a:t>1. Discounted Cash Flow</a:t>
          </a:r>
        </a:p>
      </dgm:t>
    </dgm:pt>
    <dgm:pt modelId="{80961520-D5FC-4266-A010-81773220BCAA}" type="parTrans" cxnId="{908010E5-0EBB-412F-B612-1158729F33BF}">
      <dgm:prSet/>
      <dgm:spPr/>
      <dgm:t>
        <a:bodyPr/>
        <a:lstStyle/>
        <a:p>
          <a:endParaRPr lang="en-GB"/>
        </a:p>
      </dgm:t>
    </dgm:pt>
    <dgm:pt modelId="{479765B0-79CC-45D7-86CE-8AABA015E99B}" type="sibTrans" cxnId="{908010E5-0EBB-412F-B612-1158729F33BF}">
      <dgm:prSet/>
      <dgm:spPr/>
      <dgm:t>
        <a:bodyPr/>
        <a:lstStyle/>
        <a:p>
          <a:endParaRPr lang="en-GB"/>
        </a:p>
      </dgm:t>
    </dgm:pt>
    <dgm:pt modelId="{C8AB19F3-A495-497E-B06D-924E62F75636}">
      <dgm:prSet phldrT="[Text]"/>
      <dgm:spPr/>
      <dgm:t>
        <a:bodyPr/>
        <a:lstStyle/>
        <a:p>
          <a:r>
            <a:rPr lang="en-GB" dirty="0"/>
            <a:t>Present value of Future Cash Flows</a:t>
          </a:r>
        </a:p>
      </dgm:t>
    </dgm:pt>
    <dgm:pt modelId="{C0AA2589-70A3-43C4-AA17-A97D3E61775C}" type="parTrans" cxnId="{87DEE894-EE6A-4822-AB99-F2F7737ECF96}">
      <dgm:prSet/>
      <dgm:spPr/>
      <dgm:t>
        <a:bodyPr/>
        <a:lstStyle/>
        <a:p>
          <a:endParaRPr lang="en-GB"/>
        </a:p>
      </dgm:t>
    </dgm:pt>
    <dgm:pt modelId="{E63C5372-1B41-4143-BFE8-4843B419B9E9}" type="sibTrans" cxnId="{87DEE894-EE6A-4822-AB99-F2F7737ECF96}">
      <dgm:prSet/>
      <dgm:spPr/>
      <dgm:t>
        <a:bodyPr/>
        <a:lstStyle/>
        <a:p>
          <a:endParaRPr lang="en-GB"/>
        </a:p>
      </dgm:t>
    </dgm:pt>
    <dgm:pt modelId="{B6D12859-E1A3-4EE6-9E9A-5A76BC51746A}">
      <dgm:prSet phldrT="[Text]"/>
      <dgm:spPr/>
      <dgm:t>
        <a:bodyPr/>
        <a:lstStyle/>
        <a:p>
          <a:r>
            <a:rPr lang="en-GB" dirty="0"/>
            <a:t>2. Relative Valuation</a:t>
          </a:r>
        </a:p>
      </dgm:t>
    </dgm:pt>
    <dgm:pt modelId="{7D58C5F1-5C1A-4BFD-A3FF-65C42D65D5A9}" type="parTrans" cxnId="{ADBFBC90-1F24-4205-82EC-EFFA75D44443}">
      <dgm:prSet/>
      <dgm:spPr/>
      <dgm:t>
        <a:bodyPr/>
        <a:lstStyle/>
        <a:p>
          <a:endParaRPr lang="en-GB"/>
        </a:p>
      </dgm:t>
    </dgm:pt>
    <dgm:pt modelId="{01DFA0B2-3F19-44C5-815E-DEA222923EC2}" type="sibTrans" cxnId="{ADBFBC90-1F24-4205-82EC-EFFA75D44443}">
      <dgm:prSet/>
      <dgm:spPr/>
      <dgm:t>
        <a:bodyPr/>
        <a:lstStyle/>
        <a:p>
          <a:endParaRPr lang="en-GB"/>
        </a:p>
      </dgm:t>
    </dgm:pt>
    <dgm:pt modelId="{01D66526-1426-4A31-BDAB-AD4753AE3E93}">
      <dgm:prSet phldrT="[Text]"/>
      <dgm:spPr/>
      <dgm:t>
        <a:bodyPr/>
        <a:lstStyle/>
        <a:p>
          <a:r>
            <a:rPr lang="en-GB" dirty="0"/>
            <a:t>Comparable Assets</a:t>
          </a:r>
        </a:p>
      </dgm:t>
    </dgm:pt>
    <dgm:pt modelId="{6ED7FEDA-BE9E-4A41-ABBC-ABFB7D179645}" type="parTrans" cxnId="{5140B552-5255-4480-ACD0-63A3C75A7B7D}">
      <dgm:prSet/>
      <dgm:spPr/>
      <dgm:t>
        <a:bodyPr/>
        <a:lstStyle/>
        <a:p>
          <a:endParaRPr lang="en-GB"/>
        </a:p>
      </dgm:t>
    </dgm:pt>
    <dgm:pt modelId="{E74ED6B1-3058-40E1-931C-EFB3C976EF11}" type="sibTrans" cxnId="{5140B552-5255-4480-ACD0-63A3C75A7B7D}">
      <dgm:prSet/>
      <dgm:spPr/>
      <dgm:t>
        <a:bodyPr/>
        <a:lstStyle/>
        <a:p>
          <a:endParaRPr lang="en-GB"/>
        </a:p>
      </dgm:t>
    </dgm:pt>
    <dgm:pt modelId="{925C624B-0F50-41F2-AD0A-9C89543DA809}">
      <dgm:prSet phldrT="[Text]"/>
      <dgm:spPr/>
      <dgm:t>
        <a:bodyPr/>
        <a:lstStyle/>
        <a:p>
          <a:r>
            <a:rPr lang="en-GB" dirty="0"/>
            <a:t>Industry-Market environment</a:t>
          </a:r>
        </a:p>
      </dgm:t>
    </dgm:pt>
    <dgm:pt modelId="{3ECC2F8C-ED96-4049-AA4C-BA7112C6A9FD}" type="parTrans" cxnId="{3346C520-2E1D-44AD-8D55-05380CA4BA31}">
      <dgm:prSet/>
      <dgm:spPr/>
      <dgm:t>
        <a:bodyPr/>
        <a:lstStyle/>
        <a:p>
          <a:endParaRPr lang="en-GB"/>
        </a:p>
      </dgm:t>
    </dgm:pt>
    <dgm:pt modelId="{19E75339-FE61-4F0D-8F36-FE2DFB042160}" type="sibTrans" cxnId="{3346C520-2E1D-44AD-8D55-05380CA4BA31}">
      <dgm:prSet/>
      <dgm:spPr/>
      <dgm:t>
        <a:bodyPr/>
        <a:lstStyle/>
        <a:p>
          <a:endParaRPr lang="en-GB"/>
        </a:p>
      </dgm:t>
    </dgm:pt>
    <dgm:pt modelId="{EF56BA96-DCB9-4221-B81A-0016C623E16F}">
      <dgm:prSet phldrT="[Text]"/>
      <dgm:spPr/>
      <dgm:t>
        <a:bodyPr/>
        <a:lstStyle/>
        <a:p>
          <a:r>
            <a:rPr lang="en-GB" dirty="0"/>
            <a:t>3. Contingent Claims</a:t>
          </a:r>
        </a:p>
      </dgm:t>
    </dgm:pt>
    <dgm:pt modelId="{A31179F5-D455-4746-B842-203EEF42383A}" type="parTrans" cxnId="{0A8C01E7-3C98-4604-BBBB-9CC90B277197}">
      <dgm:prSet/>
      <dgm:spPr/>
      <dgm:t>
        <a:bodyPr/>
        <a:lstStyle/>
        <a:p>
          <a:endParaRPr lang="en-GB"/>
        </a:p>
      </dgm:t>
    </dgm:pt>
    <dgm:pt modelId="{B3DF6F4F-5A14-4F4B-9DBB-E6E22ADB6729}" type="sibTrans" cxnId="{0A8C01E7-3C98-4604-BBBB-9CC90B277197}">
      <dgm:prSet/>
      <dgm:spPr/>
      <dgm:t>
        <a:bodyPr/>
        <a:lstStyle/>
        <a:p>
          <a:endParaRPr lang="en-GB"/>
        </a:p>
      </dgm:t>
    </dgm:pt>
    <dgm:pt modelId="{93E67E80-0519-4A34-A1A9-0B6ED7F4A68F}">
      <dgm:prSet phldrT="[Text]"/>
      <dgm:spPr/>
      <dgm:t>
        <a:bodyPr/>
        <a:lstStyle/>
        <a:p>
          <a:r>
            <a:rPr lang="en-GB" dirty="0"/>
            <a:t>Exercise of Options</a:t>
          </a:r>
        </a:p>
      </dgm:t>
    </dgm:pt>
    <dgm:pt modelId="{4C17F399-4366-438A-A59D-9ECAEAFC109E}" type="parTrans" cxnId="{EA662D70-A38B-4019-B961-4E0528AF7920}">
      <dgm:prSet/>
      <dgm:spPr/>
      <dgm:t>
        <a:bodyPr/>
        <a:lstStyle/>
        <a:p>
          <a:endParaRPr lang="en-GB"/>
        </a:p>
      </dgm:t>
    </dgm:pt>
    <dgm:pt modelId="{33B6BF68-303D-49EE-9DB6-F3EAB2D54C45}" type="sibTrans" cxnId="{EA662D70-A38B-4019-B961-4E0528AF7920}">
      <dgm:prSet/>
      <dgm:spPr/>
      <dgm:t>
        <a:bodyPr/>
        <a:lstStyle/>
        <a:p>
          <a:endParaRPr lang="en-GB"/>
        </a:p>
      </dgm:t>
    </dgm:pt>
    <dgm:pt modelId="{1A53DC46-C57B-43C6-9223-45DB3719A2F0}">
      <dgm:prSet phldrT="[Text]"/>
      <dgm:spPr/>
      <dgm:t>
        <a:bodyPr/>
        <a:lstStyle/>
        <a:p>
          <a:r>
            <a:rPr lang="en-GB" dirty="0"/>
            <a:t>Alternatives</a:t>
          </a:r>
        </a:p>
      </dgm:t>
    </dgm:pt>
    <dgm:pt modelId="{D1D69B90-A080-4B9A-9398-2E3DC30109B5}" type="parTrans" cxnId="{688D45F0-D06A-4B9F-8B76-21DA2433D835}">
      <dgm:prSet/>
      <dgm:spPr/>
      <dgm:t>
        <a:bodyPr/>
        <a:lstStyle/>
        <a:p>
          <a:endParaRPr lang="en-GB"/>
        </a:p>
      </dgm:t>
    </dgm:pt>
    <dgm:pt modelId="{9F615819-0B16-4E6C-AFD6-AFEED414B615}" type="sibTrans" cxnId="{688D45F0-D06A-4B9F-8B76-21DA2433D835}">
      <dgm:prSet/>
      <dgm:spPr/>
      <dgm:t>
        <a:bodyPr/>
        <a:lstStyle/>
        <a:p>
          <a:endParaRPr lang="en-GB"/>
        </a:p>
      </dgm:t>
    </dgm:pt>
    <dgm:pt modelId="{5388F89A-E047-43A2-AA59-4CB0A30B97FE}" type="pres">
      <dgm:prSet presAssocID="{6EE3A71C-496C-4A7F-9D71-C116B152101D}" presName="Name0" presStyleCnt="0">
        <dgm:presLayoutVars>
          <dgm:dir/>
          <dgm:animLvl val="lvl"/>
          <dgm:resizeHandles val="exact"/>
        </dgm:presLayoutVars>
      </dgm:prSet>
      <dgm:spPr/>
    </dgm:pt>
    <dgm:pt modelId="{98189C04-5B8A-4B2D-BAF9-69B4AA9B877D}" type="pres">
      <dgm:prSet presAssocID="{45DADFE9-3DC5-480C-AE40-D467A6922130}" presName="composite" presStyleCnt="0"/>
      <dgm:spPr/>
    </dgm:pt>
    <dgm:pt modelId="{F4B64CA9-8EFB-4146-99EB-D592D1DC93DE}" type="pres">
      <dgm:prSet presAssocID="{45DADFE9-3DC5-480C-AE40-D467A6922130}" presName="parTx" presStyleLbl="alignNode1" presStyleIdx="0" presStyleCnt="3">
        <dgm:presLayoutVars>
          <dgm:chMax val="0"/>
          <dgm:chPref val="0"/>
          <dgm:bulletEnabled val="1"/>
        </dgm:presLayoutVars>
      </dgm:prSet>
      <dgm:spPr/>
    </dgm:pt>
    <dgm:pt modelId="{1245C999-3DD8-450E-8C9B-1ED0D7566DAA}" type="pres">
      <dgm:prSet presAssocID="{45DADFE9-3DC5-480C-AE40-D467A6922130}" presName="desTx" presStyleLbl="alignAccFollowNode1" presStyleIdx="0" presStyleCnt="3">
        <dgm:presLayoutVars>
          <dgm:bulletEnabled val="1"/>
        </dgm:presLayoutVars>
      </dgm:prSet>
      <dgm:spPr/>
    </dgm:pt>
    <dgm:pt modelId="{D96C07A1-327D-4175-8073-802337DE8D74}" type="pres">
      <dgm:prSet presAssocID="{479765B0-79CC-45D7-86CE-8AABA015E99B}" presName="space" presStyleCnt="0"/>
      <dgm:spPr/>
    </dgm:pt>
    <dgm:pt modelId="{40829639-400B-4722-A131-145E29402F5D}" type="pres">
      <dgm:prSet presAssocID="{B6D12859-E1A3-4EE6-9E9A-5A76BC51746A}" presName="composite" presStyleCnt="0"/>
      <dgm:spPr/>
    </dgm:pt>
    <dgm:pt modelId="{5693A6C1-A2DD-4D32-8B5E-947FB5140F24}" type="pres">
      <dgm:prSet presAssocID="{B6D12859-E1A3-4EE6-9E9A-5A76BC51746A}" presName="parTx" presStyleLbl="alignNode1" presStyleIdx="1" presStyleCnt="3">
        <dgm:presLayoutVars>
          <dgm:chMax val="0"/>
          <dgm:chPref val="0"/>
          <dgm:bulletEnabled val="1"/>
        </dgm:presLayoutVars>
      </dgm:prSet>
      <dgm:spPr/>
    </dgm:pt>
    <dgm:pt modelId="{268FC023-9CBD-4A6E-9C91-05684A3080EB}" type="pres">
      <dgm:prSet presAssocID="{B6D12859-E1A3-4EE6-9E9A-5A76BC51746A}" presName="desTx" presStyleLbl="alignAccFollowNode1" presStyleIdx="1" presStyleCnt="3">
        <dgm:presLayoutVars>
          <dgm:bulletEnabled val="1"/>
        </dgm:presLayoutVars>
      </dgm:prSet>
      <dgm:spPr/>
    </dgm:pt>
    <dgm:pt modelId="{EA6F6831-D368-42F0-BD5E-F4F09ADA497E}" type="pres">
      <dgm:prSet presAssocID="{01DFA0B2-3F19-44C5-815E-DEA222923EC2}" presName="space" presStyleCnt="0"/>
      <dgm:spPr/>
    </dgm:pt>
    <dgm:pt modelId="{418D6ADF-B3FD-493C-87B5-8ACE1343C488}" type="pres">
      <dgm:prSet presAssocID="{EF56BA96-DCB9-4221-B81A-0016C623E16F}" presName="composite" presStyleCnt="0"/>
      <dgm:spPr/>
    </dgm:pt>
    <dgm:pt modelId="{996ED6FB-A595-441A-BBFD-FAD2AAF3A205}" type="pres">
      <dgm:prSet presAssocID="{EF56BA96-DCB9-4221-B81A-0016C623E16F}" presName="parTx" presStyleLbl="alignNode1" presStyleIdx="2" presStyleCnt="3">
        <dgm:presLayoutVars>
          <dgm:chMax val="0"/>
          <dgm:chPref val="0"/>
          <dgm:bulletEnabled val="1"/>
        </dgm:presLayoutVars>
      </dgm:prSet>
      <dgm:spPr/>
    </dgm:pt>
    <dgm:pt modelId="{979C2362-0707-4F8D-ACED-91B0BE263359}" type="pres">
      <dgm:prSet presAssocID="{EF56BA96-DCB9-4221-B81A-0016C623E16F}" presName="desTx" presStyleLbl="alignAccFollowNode1" presStyleIdx="2" presStyleCnt="3">
        <dgm:presLayoutVars>
          <dgm:bulletEnabled val="1"/>
        </dgm:presLayoutVars>
      </dgm:prSet>
      <dgm:spPr/>
    </dgm:pt>
  </dgm:ptLst>
  <dgm:cxnLst>
    <dgm:cxn modelId="{26133909-808F-44E9-84E7-A1F42CE1E212}" type="presOf" srcId="{45DADFE9-3DC5-480C-AE40-D467A6922130}" destId="{F4B64CA9-8EFB-4146-99EB-D592D1DC93DE}" srcOrd="0" destOrd="0" presId="urn:microsoft.com/office/officeart/2005/8/layout/hList1"/>
    <dgm:cxn modelId="{3346C520-2E1D-44AD-8D55-05380CA4BA31}" srcId="{B6D12859-E1A3-4EE6-9E9A-5A76BC51746A}" destId="{925C624B-0F50-41F2-AD0A-9C89543DA809}" srcOrd="1" destOrd="0" parTransId="{3ECC2F8C-ED96-4049-AA4C-BA7112C6A9FD}" sibTransId="{19E75339-FE61-4F0D-8F36-FE2DFB042160}"/>
    <dgm:cxn modelId="{AC4BF736-EA4C-4479-8422-78896827E8BF}" type="presOf" srcId="{925C624B-0F50-41F2-AD0A-9C89543DA809}" destId="{268FC023-9CBD-4A6E-9C91-05684A3080EB}" srcOrd="0" destOrd="1" presId="urn:microsoft.com/office/officeart/2005/8/layout/hList1"/>
    <dgm:cxn modelId="{87D9F35E-B072-481C-91EA-61A5AD59EF0F}" type="presOf" srcId="{C8AB19F3-A495-497E-B06D-924E62F75636}" destId="{1245C999-3DD8-450E-8C9B-1ED0D7566DAA}" srcOrd="0" destOrd="0" presId="urn:microsoft.com/office/officeart/2005/8/layout/hList1"/>
    <dgm:cxn modelId="{EA662D70-A38B-4019-B961-4E0528AF7920}" srcId="{EF56BA96-DCB9-4221-B81A-0016C623E16F}" destId="{93E67E80-0519-4A34-A1A9-0B6ED7F4A68F}" srcOrd="0" destOrd="0" parTransId="{4C17F399-4366-438A-A59D-9ECAEAFC109E}" sibTransId="{33B6BF68-303D-49EE-9DB6-F3EAB2D54C45}"/>
    <dgm:cxn modelId="{5140B552-5255-4480-ACD0-63A3C75A7B7D}" srcId="{B6D12859-E1A3-4EE6-9E9A-5A76BC51746A}" destId="{01D66526-1426-4A31-BDAB-AD4753AE3E93}" srcOrd="0" destOrd="0" parTransId="{6ED7FEDA-BE9E-4A41-ABBC-ABFB7D179645}" sibTransId="{E74ED6B1-3058-40E1-931C-EFB3C976EF11}"/>
    <dgm:cxn modelId="{7BCA958F-2BFB-4409-8987-6A3A907EB2C3}" type="presOf" srcId="{B6D12859-E1A3-4EE6-9E9A-5A76BC51746A}" destId="{5693A6C1-A2DD-4D32-8B5E-947FB5140F24}" srcOrd="0" destOrd="0" presId="urn:microsoft.com/office/officeart/2005/8/layout/hList1"/>
    <dgm:cxn modelId="{ADBFBC90-1F24-4205-82EC-EFFA75D44443}" srcId="{6EE3A71C-496C-4A7F-9D71-C116B152101D}" destId="{B6D12859-E1A3-4EE6-9E9A-5A76BC51746A}" srcOrd="1" destOrd="0" parTransId="{7D58C5F1-5C1A-4BFD-A3FF-65C42D65D5A9}" sibTransId="{01DFA0B2-3F19-44C5-815E-DEA222923EC2}"/>
    <dgm:cxn modelId="{87DEE894-EE6A-4822-AB99-F2F7737ECF96}" srcId="{45DADFE9-3DC5-480C-AE40-D467A6922130}" destId="{C8AB19F3-A495-497E-B06D-924E62F75636}" srcOrd="0" destOrd="0" parTransId="{C0AA2589-70A3-43C4-AA17-A97D3E61775C}" sibTransId="{E63C5372-1B41-4143-BFE8-4843B419B9E9}"/>
    <dgm:cxn modelId="{7E9BEFA4-E7D1-489F-9055-8B98FF4375E8}" type="presOf" srcId="{93E67E80-0519-4A34-A1A9-0B6ED7F4A68F}" destId="{979C2362-0707-4F8D-ACED-91B0BE263359}" srcOrd="0" destOrd="0" presId="urn:microsoft.com/office/officeart/2005/8/layout/hList1"/>
    <dgm:cxn modelId="{4613ACCA-55B8-428B-940D-3A489AD233A3}" type="presOf" srcId="{EF56BA96-DCB9-4221-B81A-0016C623E16F}" destId="{996ED6FB-A595-441A-BBFD-FAD2AAF3A205}" srcOrd="0" destOrd="0" presId="urn:microsoft.com/office/officeart/2005/8/layout/hList1"/>
    <dgm:cxn modelId="{908010E5-0EBB-412F-B612-1158729F33BF}" srcId="{6EE3A71C-496C-4A7F-9D71-C116B152101D}" destId="{45DADFE9-3DC5-480C-AE40-D467A6922130}" srcOrd="0" destOrd="0" parTransId="{80961520-D5FC-4266-A010-81773220BCAA}" sibTransId="{479765B0-79CC-45D7-86CE-8AABA015E99B}"/>
    <dgm:cxn modelId="{0A8C01E7-3C98-4604-BBBB-9CC90B277197}" srcId="{6EE3A71C-496C-4A7F-9D71-C116B152101D}" destId="{EF56BA96-DCB9-4221-B81A-0016C623E16F}" srcOrd="2" destOrd="0" parTransId="{A31179F5-D455-4746-B842-203EEF42383A}" sibTransId="{B3DF6F4F-5A14-4F4B-9DBB-E6E22ADB6729}"/>
    <dgm:cxn modelId="{A34325E9-5C60-48A4-99C9-D3676CC4FED6}" type="presOf" srcId="{6EE3A71C-496C-4A7F-9D71-C116B152101D}" destId="{5388F89A-E047-43A2-AA59-4CB0A30B97FE}" srcOrd="0" destOrd="0" presId="urn:microsoft.com/office/officeart/2005/8/layout/hList1"/>
    <dgm:cxn modelId="{6C0364EF-590B-47CE-B0D4-7FE465E2663B}" type="presOf" srcId="{1A53DC46-C57B-43C6-9223-45DB3719A2F0}" destId="{979C2362-0707-4F8D-ACED-91B0BE263359}" srcOrd="0" destOrd="1" presId="urn:microsoft.com/office/officeart/2005/8/layout/hList1"/>
    <dgm:cxn modelId="{688D45F0-D06A-4B9F-8B76-21DA2433D835}" srcId="{EF56BA96-DCB9-4221-B81A-0016C623E16F}" destId="{1A53DC46-C57B-43C6-9223-45DB3719A2F0}" srcOrd="1" destOrd="0" parTransId="{D1D69B90-A080-4B9A-9398-2E3DC30109B5}" sibTransId="{9F615819-0B16-4E6C-AFD6-AFEED414B615}"/>
    <dgm:cxn modelId="{54FDB0F1-E5F5-474C-8D6B-461E31E299E1}" type="presOf" srcId="{01D66526-1426-4A31-BDAB-AD4753AE3E93}" destId="{268FC023-9CBD-4A6E-9C91-05684A3080EB}" srcOrd="0" destOrd="0" presId="urn:microsoft.com/office/officeart/2005/8/layout/hList1"/>
    <dgm:cxn modelId="{75F852D5-4DB6-4430-B710-03A0E254857A}" type="presParOf" srcId="{5388F89A-E047-43A2-AA59-4CB0A30B97FE}" destId="{98189C04-5B8A-4B2D-BAF9-69B4AA9B877D}" srcOrd="0" destOrd="0" presId="urn:microsoft.com/office/officeart/2005/8/layout/hList1"/>
    <dgm:cxn modelId="{B8804214-1FE4-4F9C-8B56-6B1E20D88069}" type="presParOf" srcId="{98189C04-5B8A-4B2D-BAF9-69B4AA9B877D}" destId="{F4B64CA9-8EFB-4146-99EB-D592D1DC93DE}" srcOrd="0" destOrd="0" presId="urn:microsoft.com/office/officeart/2005/8/layout/hList1"/>
    <dgm:cxn modelId="{19AE7CA8-060E-43BD-891A-ABCF7A659DBB}" type="presParOf" srcId="{98189C04-5B8A-4B2D-BAF9-69B4AA9B877D}" destId="{1245C999-3DD8-450E-8C9B-1ED0D7566DAA}" srcOrd="1" destOrd="0" presId="urn:microsoft.com/office/officeart/2005/8/layout/hList1"/>
    <dgm:cxn modelId="{186B38A1-1E8F-4D88-B607-03177412D7AD}" type="presParOf" srcId="{5388F89A-E047-43A2-AA59-4CB0A30B97FE}" destId="{D96C07A1-327D-4175-8073-802337DE8D74}" srcOrd="1" destOrd="0" presId="urn:microsoft.com/office/officeart/2005/8/layout/hList1"/>
    <dgm:cxn modelId="{DA15CEFE-563A-42AC-805A-B07F648354D7}" type="presParOf" srcId="{5388F89A-E047-43A2-AA59-4CB0A30B97FE}" destId="{40829639-400B-4722-A131-145E29402F5D}" srcOrd="2" destOrd="0" presId="urn:microsoft.com/office/officeart/2005/8/layout/hList1"/>
    <dgm:cxn modelId="{0FDE4738-A6AD-4FD4-B6A1-0F8870677759}" type="presParOf" srcId="{40829639-400B-4722-A131-145E29402F5D}" destId="{5693A6C1-A2DD-4D32-8B5E-947FB5140F24}" srcOrd="0" destOrd="0" presId="urn:microsoft.com/office/officeart/2005/8/layout/hList1"/>
    <dgm:cxn modelId="{ECBBD119-B935-44E3-854C-FF14D4F2B3B8}" type="presParOf" srcId="{40829639-400B-4722-A131-145E29402F5D}" destId="{268FC023-9CBD-4A6E-9C91-05684A3080EB}" srcOrd="1" destOrd="0" presId="urn:microsoft.com/office/officeart/2005/8/layout/hList1"/>
    <dgm:cxn modelId="{92F211DB-7B4C-48B3-A2EE-8B2A2EE2F2D0}" type="presParOf" srcId="{5388F89A-E047-43A2-AA59-4CB0A30B97FE}" destId="{EA6F6831-D368-42F0-BD5E-F4F09ADA497E}" srcOrd="3" destOrd="0" presId="urn:microsoft.com/office/officeart/2005/8/layout/hList1"/>
    <dgm:cxn modelId="{D51C9C45-3D3B-4CD1-8CB6-0F31F0DE0903}" type="presParOf" srcId="{5388F89A-E047-43A2-AA59-4CB0A30B97FE}" destId="{418D6ADF-B3FD-493C-87B5-8ACE1343C488}" srcOrd="4" destOrd="0" presId="urn:microsoft.com/office/officeart/2005/8/layout/hList1"/>
    <dgm:cxn modelId="{4679AE04-1A0E-44C1-9131-E24EF1E0368A}" type="presParOf" srcId="{418D6ADF-B3FD-493C-87B5-8ACE1343C488}" destId="{996ED6FB-A595-441A-BBFD-FAD2AAF3A205}" srcOrd="0" destOrd="0" presId="urn:microsoft.com/office/officeart/2005/8/layout/hList1"/>
    <dgm:cxn modelId="{AFFFD3EA-D81F-4FA6-8A49-56A2F5639DE8}" type="presParOf" srcId="{418D6ADF-B3FD-493C-87B5-8ACE1343C488}" destId="{979C2362-0707-4F8D-ACED-91B0BE26335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BC50872-0CED-448D-90D0-7F34F4F1C299}" type="doc">
      <dgm:prSet loTypeId="urn:microsoft.com/office/officeart/2005/8/layout/vList2" loCatId="list" qsTypeId="urn:microsoft.com/office/officeart/2005/8/quickstyle/3d2#4" qsCatId="3D" csTypeId="urn:microsoft.com/office/officeart/2005/8/colors/colorful1#5" csCatId="colorful" phldr="1"/>
      <dgm:spPr/>
      <dgm:t>
        <a:bodyPr/>
        <a:lstStyle/>
        <a:p>
          <a:endParaRPr lang="en-GB"/>
        </a:p>
      </dgm:t>
    </dgm:pt>
    <dgm:pt modelId="{01A5E678-0655-44F5-AABB-A72E3E7F45CD}">
      <dgm:prSet/>
      <dgm:spPr/>
      <dgm:t>
        <a:bodyPr/>
        <a:lstStyle/>
        <a:p>
          <a:pPr rtl="0"/>
          <a:r>
            <a:rPr lang="en-GB" baseline="0" dirty="0"/>
            <a:t>Advantages</a:t>
          </a:r>
          <a:endParaRPr lang="en-GB" dirty="0"/>
        </a:p>
      </dgm:t>
    </dgm:pt>
    <dgm:pt modelId="{9B089319-7E7F-4CF9-885D-7D212DCDCA38}" type="parTrans" cxnId="{95DE6663-AB39-4FC9-B4A7-4FF0A8643BBD}">
      <dgm:prSet/>
      <dgm:spPr/>
      <dgm:t>
        <a:bodyPr/>
        <a:lstStyle/>
        <a:p>
          <a:endParaRPr lang="en-GB"/>
        </a:p>
      </dgm:t>
    </dgm:pt>
    <dgm:pt modelId="{924D58A3-5ABE-4544-9917-8BCAF5A4040C}" type="sibTrans" cxnId="{95DE6663-AB39-4FC9-B4A7-4FF0A8643BBD}">
      <dgm:prSet/>
      <dgm:spPr/>
      <dgm:t>
        <a:bodyPr/>
        <a:lstStyle/>
        <a:p>
          <a:endParaRPr lang="en-GB"/>
        </a:p>
      </dgm:t>
    </dgm:pt>
    <dgm:pt modelId="{049FFF75-C699-443C-8E8D-72283783C806}">
      <dgm:prSet/>
      <dgm:spPr/>
      <dgm:t>
        <a:bodyPr/>
        <a:lstStyle/>
        <a:p>
          <a:pPr rtl="0"/>
          <a:r>
            <a:rPr lang="en-GB" dirty="0"/>
            <a:t>It is based on market fundamentals</a:t>
          </a:r>
        </a:p>
      </dgm:t>
    </dgm:pt>
    <dgm:pt modelId="{303086B2-2578-480E-8AF0-9A9CC291B6DC}" type="parTrans" cxnId="{8E6CDF42-3271-4677-B92D-0CD67A0C0004}">
      <dgm:prSet/>
      <dgm:spPr/>
      <dgm:t>
        <a:bodyPr/>
        <a:lstStyle/>
        <a:p>
          <a:endParaRPr lang="en-GB"/>
        </a:p>
      </dgm:t>
    </dgm:pt>
    <dgm:pt modelId="{0BD005C5-885B-4E1E-A737-FAD31EA0501C}" type="sibTrans" cxnId="{8E6CDF42-3271-4677-B92D-0CD67A0C0004}">
      <dgm:prSet/>
      <dgm:spPr/>
      <dgm:t>
        <a:bodyPr/>
        <a:lstStyle/>
        <a:p>
          <a:endParaRPr lang="en-GB"/>
        </a:p>
      </dgm:t>
    </dgm:pt>
    <dgm:pt modelId="{762F94DD-CA76-46E5-A53C-7B17879A6B13}">
      <dgm:prSet/>
      <dgm:spPr/>
      <dgm:t>
        <a:bodyPr/>
        <a:lstStyle/>
        <a:p>
          <a:pPr rtl="0"/>
          <a:r>
            <a:rPr lang="en-GB" dirty="0"/>
            <a:t>Disadvantages</a:t>
          </a:r>
        </a:p>
      </dgm:t>
    </dgm:pt>
    <dgm:pt modelId="{DEA15442-A767-40B0-BE15-DEBDE4512279}" type="parTrans" cxnId="{E916C46D-0102-43E0-B496-E5CDC6FF471E}">
      <dgm:prSet/>
      <dgm:spPr/>
      <dgm:t>
        <a:bodyPr/>
        <a:lstStyle/>
        <a:p>
          <a:endParaRPr lang="en-GB"/>
        </a:p>
      </dgm:t>
    </dgm:pt>
    <dgm:pt modelId="{B67EDC37-A09D-4A0E-8036-2DBC65FB5728}" type="sibTrans" cxnId="{E916C46D-0102-43E0-B496-E5CDC6FF471E}">
      <dgm:prSet/>
      <dgm:spPr/>
      <dgm:t>
        <a:bodyPr/>
        <a:lstStyle/>
        <a:p>
          <a:endParaRPr lang="en-GB"/>
        </a:p>
      </dgm:t>
    </dgm:pt>
    <dgm:pt modelId="{6AD84BDB-27A1-4303-95BE-2719ECEED3CB}">
      <dgm:prSet/>
      <dgm:spPr/>
      <dgm:t>
        <a:bodyPr/>
        <a:lstStyle/>
        <a:p>
          <a:pPr rtl="0"/>
          <a:r>
            <a:rPr lang="en-GB" dirty="0"/>
            <a:t>Requires more inputs</a:t>
          </a:r>
        </a:p>
      </dgm:t>
    </dgm:pt>
    <dgm:pt modelId="{E5FA39E9-6757-4F62-88DA-D631B70E810D}" type="parTrans" cxnId="{DC5E5334-F730-4BF1-80CF-096AE35FA004}">
      <dgm:prSet/>
      <dgm:spPr/>
      <dgm:t>
        <a:bodyPr/>
        <a:lstStyle/>
        <a:p>
          <a:endParaRPr lang="en-GB"/>
        </a:p>
      </dgm:t>
    </dgm:pt>
    <dgm:pt modelId="{FB5D8E7A-B19B-43F0-BD0E-F0B1D844BBCE}" type="sibTrans" cxnId="{DC5E5334-F730-4BF1-80CF-096AE35FA004}">
      <dgm:prSet/>
      <dgm:spPr/>
      <dgm:t>
        <a:bodyPr/>
        <a:lstStyle/>
        <a:p>
          <a:endParaRPr lang="en-GB"/>
        </a:p>
      </dgm:t>
    </dgm:pt>
    <dgm:pt modelId="{585E1F92-995C-4037-98EE-BBA50565785A}">
      <dgm:prSet/>
      <dgm:spPr/>
      <dgm:t>
        <a:bodyPr/>
        <a:lstStyle/>
        <a:p>
          <a:pPr rtl="0"/>
          <a:r>
            <a:rPr lang="en-GB" dirty="0"/>
            <a:t>There is uncertainty and they can be manipulated</a:t>
          </a:r>
        </a:p>
      </dgm:t>
    </dgm:pt>
    <dgm:pt modelId="{3131CD4E-D167-41BA-94EC-4B280FC39346}" type="parTrans" cxnId="{A4A06469-6E74-457A-90F7-291B1A072DBA}">
      <dgm:prSet/>
      <dgm:spPr/>
      <dgm:t>
        <a:bodyPr/>
        <a:lstStyle/>
        <a:p>
          <a:endParaRPr lang="en-GB"/>
        </a:p>
      </dgm:t>
    </dgm:pt>
    <dgm:pt modelId="{8F8D6342-491B-4000-A57B-FADC32C16178}" type="sibTrans" cxnId="{A4A06469-6E74-457A-90F7-291B1A072DBA}">
      <dgm:prSet/>
      <dgm:spPr/>
      <dgm:t>
        <a:bodyPr/>
        <a:lstStyle/>
        <a:p>
          <a:endParaRPr lang="en-GB"/>
        </a:p>
      </dgm:t>
    </dgm:pt>
    <dgm:pt modelId="{23A0D78A-E6EF-4D73-B71C-E7F672ACDFA8}">
      <dgm:prSet/>
      <dgm:spPr/>
      <dgm:t>
        <a:bodyPr/>
        <a:lstStyle/>
        <a:p>
          <a:pPr rtl="0"/>
          <a:r>
            <a:rPr lang="en-GB" baseline="0" dirty="0"/>
            <a:t>When DCF works best for:</a:t>
          </a:r>
          <a:endParaRPr lang="en-GB" dirty="0"/>
        </a:p>
      </dgm:t>
    </dgm:pt>
    <dgm:pt modelId="{29680E99-51E0-451A-8A26-D702122C162E}" type="parTrans" cxnId="{B82058A4-38AF-494E-8739-84E0FDB3359A}">
      <dgm:prSet/>
      <dgm:spPr/>
      <dgm:t>
        <a:bodyPr/>
        <a:lstStyle/>
        <a:p>
          <a:endParaRPr lang="en-GB"/>
        </a:p>
      </dgm:t>
    </dgm:pt>
    <dgm:pt modelId="{E75A74C3-754B-4BF1-96E9-772532AC7D13}" type="sibTrans" cxnId="{B82058A4-38AF-494E-8739-84E0FDB3359A}">
      <dgm:prSet/>
      <dgm:spPr/>
      <dgm:t>
        <a:bodyPr/>
        <a:lstStyle/>
        <a:p>
          <a:endParaRPr lang="en-GB"/>
        </a:p>
      </dgm:t>
    </dgm:pt>
    <dgm:pt modelId="{1163DBBB-C0BF-4DE7-BAA1-F1A09C5E2F2C}">
      <dgm:prSet/>
      <dgm:spPr/>
      <dgm:t>
        <a:bodyPr/>
        <a:lstStyle/>
        <a:p>
          <a:pPr rtl="0"/>
          <a:r>
            <a:rPr lang="en-GB" dirty="0"/>
            <a:t>Firms whose</a:t>
          </a:r>
        </a:p>
      </dgm:t>
    </dgm:pt>
    <dgm:pt modelId="{3C984758-DF64-45A5-8734-151E60AD3AC6}" type="parTrans" cxnId="{17767F03-507C-4DF8-9E5A-20F27CBD0BA9}">
      <dgm:prSet/>
      <dgm:spPr/>
      <dgm:t>
        <a:bodyPr/>
        <a:lstStyle/>
        <a:p>
          <a:endParaRPr lang="en-GB"/>
        </a:p>
      </dgm:t>
    </dgm:pt>
    <dgm:pt modelId="{7D4B202E-4611-4D69-8163-592D7E67ECD6}" type="sibTrans" cxnId="{17767F03-507C-4DF8-9E5A-20F27CBD0BA9}">
      <dgm:prSet/>
      <dgm:spPr/>
      <dgm:t>
        <a:bodyPr/>
        <a:lstStyle/>
        <a:p>
          <a:endParaRPr lang="en-GB"/>
        </a:p>
      </dgm:t>
    </dgm:pt>
    <dgm:pt modelId="{B99C914E-2AD8-4ED6-9E4A-FE158971980A}">
      <dgm:prSet/>
      <dgm:spPr/>
      <dgm:t>
        <a:bodyPr/>
        <a:lstStyle/>
        <a:p>
          <a:pPr rtl="0"/>
          <a:r>
            <a:rPr lang="en-GB" dirty="0"/>
            <a:t>Focused on value rather than volatility (According to </a:t>
          </a:r>
          <a:r>
            <a:rPr lang="en-GB" dirty="0">
              <a:hlinkClick xmlns:r="http://schemas.openxmlformats.org/officeDocument/2006/relationships" r:id="rId1"/>
            </a:rPr>
            <a:t>Warren</a:t>
          </a:r>
          <a:r>
            <a:rPr lang="en-GB" dirty="0"/>
            <a:t> </a:t>
          </a:r>
          <a:r>
            <a:rPr lang="en-GB" dirty="0">
              <a:hlinkClick xmlns:r="http://schemas.openxmlformats.org/officeDocument/2006/relationships" r:id="rId2"/>
            </a:rPr>
            <a:t>Buffet</a:t>
          </a:r>
          <a:r>
            <a:rPr lang="en-GB" dirty="0"/>
            <a:t>: Buy business, not stock)</a:t>
          </a:r>
        </a:p>
      </dgm:t>
    </dgm:pt>
    <dgm:pt modelId="{006080DB-E75E-4586-A75F-6D401992C674}" type="parTrans" cxnId="{1DB5FB0D-DF74-4170-98CA-C97BE880DD96}">
      <dgm:prSet/>
      <dgm:spPr/>
      <dgm:t>
        <a:bodyPr/>
        <a:lstStyle/>
        <a:p>
          <a:endParaRPr lang="en-GB"/>
        </a:p>
      </dgm:t>
    </dgm:pt>
    <dgm:pt modelId="{DC000DF7-1434-4071-A135-752442A6C4CA}" type="sibTrans" cxnId="{1DB5FB0D-DF74-4170-98CA-C97BE880DD96}">
      <dgm:prSet/>
      <dgm:spPr/>
      <dgm:t>
        <a:bodyPr/>
        <a:lstStyle/>
        <a:p>
          <a:endParaRPr lang="en-GB"/>
        </a:p>
      </dgm:t>
    </dgm:pt>
    <dgm:pt modelId="{F1967B0E-E3AC-4F77-BDC8-8AFA420F18C5}">
      <dgm:prSet/>
      <dgm:spPr/>
      <dgm:t>
        <a:bodyPr/>
        <a:lstStyle/>
        <a:p>
          <a:pPr rtl="0"/>
          <a:r>
            <a:rPr lang="en-GB" dirty="0"/>
            <a:t>Focus on the firm, not the market</a:t>
          </a:r>
        </a:p>
      </dgm:t>
    </dgm:pt>
    <dgm:pt modelId="{E468E079-4C51-42F0-ADDC-5EBB2946D58A}" type="parTrans" cxnId="{3626E491-4DB2-45AC-9DE2-6447C643727A}">
      <dgm:prSet/>
      <dgm:spPr/>
      <dgm:t>
        <a:bodyPr/>
        <a:lstStyle/>
        <a:p>
          <a:endParaRPr lang="en-GB"/>
        </a:p>
      </dgm:t>
    </dgm:pt>
    <dgm:pt modelId="{74BE1207-6F32-459E-976E-13D0448B419B}" type="sibTrans" cxnId="{3626E491-4DB2-45AC-9DE2-6447C643727A}">
      <dgm:prSet/>
      <dgm:spPr/>
      <dgm:t>
        <a:bodyPr/>
        <a:lstStyle/>
        <a:p>
          <a:endParaRPr lang="en-GB"/>
        </a:p>
      </dgm:t>
    </dgm:pt>
    <dgm:pt modelId="{F76E236F-D7D3-402A-A229-F431E5A9A6CF}">
      <dgm:prSet/>
      <dgm:spPr/>
      <dgm:t>
        <a:bodyPr/>
        <a:lstStyle/>
        <a:p>
          <a:pPr rtl="0"/>
          <a:r>
            <a:rPr lang="en-GB" dirty="0"/>
            <a:t>Markets might be efficient (No need for valuation)</a:t>
          </a:r>
        </a:p>
      </dgm:t>
    </dgm:pt>
    <dgm:pt modelId="{ECC7129F-0DAC-4748-BDA5-053E400B708B}" type="parTrans" cxnId="{28BE0BF5-9A20-4D13-B076-12D67B645C4E}">
      <dgm:prSet/>
      <dgm:spPr/>
      <dgm:t>
        <a:bodyPr/>
        <a:lstStyle/>
        <a:p>
          <a:endParaRPr lang="en-GB"/>
        </a:p>
      </dgm:t>
    </dgm:pt>
    <dgm:pt modelId="{C0DE33D2-2FF6-4F28-B169-9E9E6F2C5832}" type="sibTrans" cxnId="{28BE0BF5-9A20-4D13-B076-12D67B645C4E}">
      <dgm:prSet/>
      <dgm:spPr/>
      <dgm:t>
        <a:bodyPr/>
        <a:lstStyle/>
        <a:p>
          <a:endParaRPr lang="en-GB"/>
        </a:p>
      </dgm:t>
    </dgm:pt>
    <dgm:pt modelId="{A81E4576-6478-4812-98D1-44C532F2C764}">
      <dgm:prSet/>
      <dgm:spPr/>
      <dgm:t>
        <a:bodyPr/>
        <a:lstStyle/>
        <a:p>
          <a:pPr rtl="0"/>
          <a:r>
            <a:rPr lang="en-GB" dirty="0"/>
            <a:t>Investors who</a:t>
          </a:r>
        </a:p>
      </dgm:t>
    </dgm:pt>
    <dgm:pt modelId="{7E36AC33-F4A3-406E-B7AD-6F79FEAEA6B3}" type="parTrans" cxnId="{5E543D28-F7FE-4A04-BAFF-D8E5B71E35BF}">
      <dgm:prSet/>
      <dgm:spPr/>
      <dgm:t>
        <a:bodyPr/>
        <a:lstStyle/>
        <a:p>
          <a:endParaRPr lang="en-GB"/>
        </a:p>
      </dgm:t>
    </dgm:pt>
    <dgm:pt modelId="{384095D1-7D5B-449E-B5C2-98172E68EAE3}" type="sibTrans" cxnId="{5E543D28-F7FE-4A04-BAFF-D8E5B71E35BF}">
      <dgm:prSet/>
      <dgm:spPr/>
      <dgm:t>
        <a:bodyPr/>
        <a:lstStyle/>
        <a:p>
          <a:endParaRPr lang="en-GB"/>
        </a:p>
      </dgm:t>
    </dgm:pt>
    <dgm:pt modelId="{49323D12-C69C-4ACE-A561-4E291994429F}">
      <dgm:prSet/>
      <dgm:spPr/>
      <dgm:t>
        <a:bodyPr/>
        <a:lstStyle/>
        <a:p>
          <a:pPr rtl="0"/>
          <a:r>
            <a:rPr lang="en-GB" dirty="0"/>
            <a:t>Have a long term horizon (values tend to converge to “true” value)</a:t>
          </a:r>
        </a:p>
      </dgm:t>
    </dgm:pt>
    <dgm:pt modelId="{AB1971FD-32F0-48BF-84D3-C2B4EFE29142}" type="parTrans" cxnId="{8A8C64B3-2FBD-4704-AB3F-233A9DC2D5B3}">
      <dgm:prSet/>
      <dgm:spPr/>
      <dgm:t>
        <a:bodyPr/>
        <a:lstStyle/>
        <a:p>
          <a:endParaRPr lang="en-GB"/>
        </a:p>
      </dgm:t>
    </dgm:pt>
    <dgm:pt modelId="{8DF945D1-A3F0-4C51-8EED-CE18D194F50D}" type="sibTrans" cxnId="{8A8C64B3-2FBD-4704-AB3F-233A9DC2D5B3}">
      <dgm:prSet/>
      <dgm:spPr/>
      <dgm:t>
        <a:bodyPr/>
        <a:lstStyle/>
        <a:p>
          <a:endParaRPr lang="en-GB"/>
        </a:p>
      </dgm:t>
    </dgm:pt>
    <dgm:pt modelId="{A2F4A588-7DB6-4FAB-80FF-5E93DDC954E4}">
      <dgm:prSet/>
      <dgm:spPr/>
      <dgm:t>
        <a:bodyPr/>
        <a:lstStyle/>
        <a:p>
          <a:pPr rtl="0"/>
          <a:r>
            <a:rPr lang="en-GB" dirty="0"/>
            <a:t>Have the capacity to drive market value close to the “true” value (e.g. To buy the whole firm) </a:t>
          </a:r>
        </a:p>
      </dgm:t>
    </dgm:pt>
    <dgm:pt modelId="{6836C87E-B0EF-4A6C-994C-34119145BB17}" type="sibTrans" cxnId="{84B805A4-C352-4580-B097-EC11C592766D}">
      <dgm:prSet/>
      <dgm:spPr/>
      <dgm:t>
        <a:bodyPr/>
        <a:lstStyle/>
        <a:p>
          <a:endParaRPr lang="en-GB"/>
        </a:p>
      </dgm:t>
    </dgm:pt>
    <dgm:pt modelId="{E9187E48-6287-45F1-85C5-72ECB96330E4}" type="parTrans" cxnId="{84B805A4-C352-4580-B097-EC11C592766D}">
      <dgm:prSet/>
      <dgm:spPr/>
      <dgm:t>
        <a:bodyPr/>
        <a:lstStyle/>
        <a:p>
          <a:endParaRPr lang="en-GB"/>
        </a:p>
      </dgm:t>
    </dgm:pt>
    <dgm:pt modelId="{0C30E887-082F-4C8C-A948-993CA6543D98}">
      <dgm:prSet/>
      <dgm:spPr/>
      <dgm:t>
        <a:bodyPr/>
        <a:lstStyle/>
        <a:p>
          <a:pPr rtl="0"/>
          <a:r>
            <a:rPr lang="en-GB" dirty="0"/>
            <a:t>CF are positive and reliable and</a:t>
          </a:r>
        </a:p>
      </dgm:t>
    </dgm:pt>
    <dgm:pt modelId="{85A4E96D-629E-4C8A-A66E-B818A8DD5C85}" type="parTrans" cxnId="{2AB77791-A305-4C42-94BC-63A17D3B84A7}">
      <dgm:prSet/>
      <dgm:spPr/>
      <dgm:t>
        <a:bodyPr/>
        <a:lstStyle/>
        <a:p>
          <a:endParaRPr lang="en-GB"/>
        </a:p>
      </dgm:t>
    </dgm:pt>
    <dgm:pt modelId="{7D320C4E-E8E1-4ECA-B15F-590C8D28CF3E}" type="sibTrans" cxnId="{2AB77791-A305-4C42-94BC-63A17D3B84A7}">
      <dgm:prSet/>
      <dgm:spPr/>
      <dgm:t>
        <a:bodyPr/>
        <a:lstStyle/>
        <a:p>
          <a:endParaRPr lang="en-GB"/>
        </a:p>
      </dgm:t>
    </dgm:pt>
    <dgm:pt modelId="{A757E6E6-13DC-4579-B264-DFB19CC8AD61}">
      <dgm:prSet/>
      <dgm:spPr/>
      <dgm:t>
        <a:bodyPr/>
        <a:lstStyle/>
        <a:p>
          <a:pPr rtl="0"/>
          <a:r>
            <a:rPr lang="en-GB" dirty="0"/>
            <a:t>risk is measurable</a:t>
          </a:r>
        </a:p>
      </dgm:t>
    </dgm:pt>
    <dgm:pt modelId="{6FA682B9-7CF2-43F3-AED4-7548C5408C69}" type="parTrans" cxnId="{E6D4004A-0BAE-4807-AB8C-59E7539069BA}">
      <dgm:prSet/>
      <dgm:spPr/>
      <dgm:t>
        <a:bodyPr/>
        <a:lstStyle/>
        <a:p>
          <a:endParaRPr lang="en-GB"/>
        </a:p>
      </dgm:t>
    </dgm:pt>
    <dgm:pt modelId="{07A07D44-FF45-4670-8353-54FB4E868DED}" type="sibTrans" cxnId="{E6D4004A-0BAE-4807-AB8C-59E7539069BA}">
      <dgm:prSet/>
      <dgm:spPr/>
      <dgm:t>
        <a:bodyPr/>
        <a:lstStyle/>
        <a:p>
          <a:endParaRPr lang="en-GB"/>
        </a:p>
      </dgm:t>
    </dgm:pt>
    <dgm:pt modelId="{52742B77-5B39-49FF-815B-471831B62CAF}" type="pres">
      <dgm:prSet presAssocID="{3BC50872-0CED-448D-90D0-7F34F4F1C299}" presName="linear" presStyleCnt="0">
        <dgm:presLayoutVars>
          <dgm:animLvl val="lvl"/>
          <dgm:resizeHandles val="exact"/>
        </dgm:presLayoutVars>
      </dgm:prSet>
      <dgm:spPr/>
    </dgm:pt>
    <dgm:pt modelId="{A9681BF5-2544-43A5-A544-F2743A825776}" type="pres">
      <dgm:prSet presAssocID="{01A5E678-0655-44F5-AABB-A72E3E7F45CD}" presName="parentText" presStyleLbl="node1" presStyleIdx="0" presStyleCnt="3">
        <dgm:presLayoutVars>
          <dgm:chMax val="0"/>
          <dgm:bulletEnabled val="1"/>
        </dgm:presLayoutVars>
      </dgm:prSet>
      <dgm:spPr/>
    </dgm:pt>
    <dgm:pt modelId="{7381EAF7-78C9-496B-9DD0-515A1B6D1FCB}" type="pres">
      <dgm:prSet presAssocID="{01A5E678-0655-44F5-AABB-A72E3E7F45CD}" presName="childText" presStyleLbl="revTx" presStyleIdx="0" presStyleCnt="3">
        <dgm:presLayoutVars>
          <dgm:bulletEnabled val="1"/>
        </dgm:presLayoutVars>
      </dgm:prSet>
      <dgm:spPr/>
    </dgm:pt>
    <dgm:pt modelId="{7252F2EE-78C4-47F7-9F81-095494205D7C}" type="pres">
      <dgm:prSet presAssocID="{762F94DD-CA76-46E5-A53C-7B17879A6B13}" presName="parentText" presStyleLbl="node1" presStyleIdx="1" presStyleCnt="3">
        <dgm:presLayoutVars>
          <dgm:chMax val="0"/>
          <dgm:bulletEnabled val="1"/>
        </dgm:presLayoutVars>
      </dgm:prSet>
      <dgm:spPr/>
    </dgm:pt>
    <dgm:pt modelId="{0C7D8BB0-6B90-48A5-BF67-E37B6DF28732}" type="pres">
      <dgm:prSet presAssocID="{762F94DD-CA76-46E5-A53C-7B17879A6B13}" presName="childText" presStyleLbl="revTx" presStyleIdx="1" presStyleCnt="3">
        <dgm:presLayoutVars>
          <dgm:bulletEnabled val="1"/>
        </dgm:presLayoutVars>
      </dgm:prSet>
      <dgm:spPr/>
    </dgm:pt>
    <dgm:pt modelId="{9F265803-A95F-435D-9637-AF278306FD7F}" type="pres">
      <dgm:prSet presAssocID="{23A0D78A-E6EF-4D73-B71C-E7F672ACDFA8}" presName="parentText" presStyleLbl="node1" presStyleIdx="2" presStyleCnt="3">
        <dgm:presLayoutVars>
          <dgm:chMax val="0"/>
          <dgm:bulletEnabled val="1"/>
        </dgm:presLayoutVars>
      </dgm:prSet>
      <dgm:spPr/>
    </dgm:pt>
    <dgm:pt modelId="{329613BF-A18B-44E1-A38B-DB9D814D5CAF}" type="pres">
      <dgm:prSet presAssocID="{23A0D78A-E6EF-4D73-B71C-E7F672ACDFA8}" presName="childText" presStyleLbl="revTx" presStyleIdx="2" presStyleCnt="3">
        <dgm:presLayoutVars>
          <dgm:bulletEnabled val="1"/>
        </dgm:presLayoutVars>
      </dgm:prSet>
      <dgm:spPr/>
    </dgm:pt>
  </dgm:ptLst>
  <dgm:cxnLst>
    <dgm:cxn modelId="{17767F03-507C-4DF8-9E5A-20F27CBD0BA9}" srcId="{23A0D78A-E6EF-4D73-B71C-E7F672ACDFA8}" destId="{1163DBBB-C0BF-4DE7-BAA1-F1A09C5E2F2C}" srcOrd="0" destOrd="0" parTransId="{3C984758-DF64-45A5-8734-151E60AD3AC6}" sibTransId="{7D4B202E-4611-4D69-8163-592D7E67ECD6}"/>
    <dgm:cxn modelId="{2F8B020C-F8DA-496F-9690-064FCCB0AC2D}" type="presOf" srcId="{23A0D78A-E6EF-4D73-B71C-E7F672ACDFA8}" destId="{9F265803-A95F-435D-9637-AF278306FD7F}" srcOrd="0" destOrd="0" presId="urn:microsoft.com/office/officeart/2005/8/layout/vList2"/>
    <dgm:cxn modelId="{1DB5FB0D-DF74-4170-98CA-C97BE880DD96}" srcId="{01A5E678-0655-44F5-AABB-A72E3E7F45CD}" destId="{B99C914E-2AD8-4ED6-9E4A-FE158971980A}" srcOrd="1" destOrd="0" parTransId="{006080DB-E75E-4586-A75F-6D401992C674}" sibTransId="{DC000DF7-1434-4071-A135-752442A6C4CA}"/>
    <dgm:cxn modelId="{65E8EE1C-E064-423D-8511-0CDD2120BCB2}" type="presOf" srcId="{6AD84BDB-27A1-4303-95BE-2719ECEED3CB}" destId="{0C7D8BB0-6B90-48A5-BF67-E37B6DF28732}" srcOrd="0" destOrd="0" presId="urn:microsoft.com/office/officeart/2005/8/layout/vList2"/>
    <dgm:cxn modelId="{19383924-DB56-4FEF-B730-12F81D81780F}" type="presOf" srcId="{0C30E887-082F-4C8C-A948-993CA6543D98}" destId="{329613BF-A18B-44E1-A38B-DB9D814D5CAF}" srcOrd="0" destOrd="1" presId="urn:microsoft.com/office/officeart/2005/8/layout/vList2"/>
    <dgm:cxn modelId="{1C1A8725-CC42-4ACA-B7C1-4899FEFB8130}" type="presOf" srcId="{F76E236F-D7D3-402A-A229-F431E5A9A6CF}" destId="{0C7D8BB0-6B90-48A5-BF67-E37B6DF28732}" srcOrd="0" destOrd="2" presId="urn:microsoft.com/office/officeart/2005/8/layout/vList2"/>
    <dgm:cxn modelId="{5E543D28-F7FE-4A04-BAFF-D8E5B71E35BF}" srcId="{23A0D78A-E6EF-4D73-B71C-E7F672ACDFA8}" destId="{A81E4576-6478-4812-98D1-44C532F2C764}" srcOrd="1" destOrd="0" parTransId="{7E36AC33-F4A3-406E-B7AD-6F79FEAEA6B3}" sibTransId="{384095D1-7D5B-449E-B5C2-98172E68EAE3}"/>
    <dgm:cxn modelId="{DC5E5334-F730-4BF1-80CF-096AE35FA004}" srcId="{762F94DD-CA76-46E5-A53C-7B17879A6B13}" destId="{6AD84BDB-27A1-4303-95BE-2719ECEED3CB}" srcOrd="0" destOrd="0" parTransId="{E5FA39E9-6757-4F62-88DA-D631B70E810D}" sibTransId="{FB5D8E7A-B19B-43F0-BD0E-F0B1D844BBCE}"/>
    <dgm:cxn modelId="{CEAD6442-E42A-4FA1-A237-705BC8A60FBB}" type="presOf" srcId="{A81E4576-6478-4812-98D1-44C532F2C764}" destId="{329613BF-A18B-44E1-A38B-DB9D814D5CAF}" srcOrd="0" destOrd="3" presId="urn:microsoft.com/office/officeart/2005/8/layout/vList2"/>
    <dgm:cxn modelId="{8E6CDF42-3271-4677-B92D-0CD67A0C0004}" srcId="{01A5E678-0655-44F5-AABB-A72E3E7F45CD}" destId="{049FFF75-C699-443C-8E8D-72283783C806}" srcOrd="0" destOrd="0" parTransId="{303086B2-2578-480E-8AF0-9A9CC291B6DC}" sibTransId="{0BD005C5-885B-4E1E-A737-FAD31EA0501C}"/>
    <dgm:cxn modelId="{95DE6663-AB39-4FC9-B4A7-4FF0A8643BBD}" srcId="{3BC50872-0CED-448D-90D0-7F34F4F1C299}" destId="{01A5E678-0655-44F5-AABB-A72E3E7F45CD}" srcOrd="0" destOrd="0" parTransId="{9B089319-7E7F-4CF9-885D-7D212DCDCA38}" sibTransId="{924D58A3-5ABE-4544-9917-8BCAF5A4040C}"/>
    <dgm:cxn modelId="{05F2BD65-8DE3-44EB-840E-F83AB796C6D2}" type="presOf" srcId="{1163DBBB-C0BF-4DE7-BAA1-F1A09C5E2F2C}" destId="{329613BF-A18B-44E1-A38B-DB9D814D5CAF}" srcOrd="0" destOrd="0" presId="urn:microsoft.com/office/officeart/2005/8/layout/vList2"/>
    <dgm:cxn modelId="{ACFCC465-6549-4BF5-99B8-58231D8F284B}" type="presOf" srcId="{01A5E678-0655-44F5-AABB-A72E3E7F45CD}" destId="{A9681BF5-2544-43A5-A544-F2743A825776}" srcOrd="0" destOrd="0" presId="urn:microsoft.com/office/officeart/2005/8/layout/vList2"/>
    <dgm:cxn modelId="{A4A06469-6E74-457A-90F7-291B1A072DBA}" srcId="{762F94DD-CA76-46E5-A53C-7B17879A6B13}" destId="{585E1F92-995C-4037-98EE-BBA50565785A}" srcOrd="1" destOrd="0" parTransId="{3131CD4E-D167-41BA-94EC-4B280FC39346}" sibTransId="{8F8D6342-491B-4000-A57B-FADC32C16178}"/>
    <dgm:cxn modelId="{E6D4004A-0BAE-4807-AB8C-59E7539069BA}" srcId="{1163DBBB-C0BF-4DE7-BAA1-F1A09C5E2F2C}" destId="{A757E6E6-13DC-4579-B264-DFB19CC8AD61}" srcOrd="1" destOrd="0" parTransId="{6FA682B9-7CF2-43F3-AED4-7548C5408C69}" sibTransId="{07A07D44-FF45-4670-8353-54FB4E868DED}"/>
    <dgm:cxn modelId="{E916C46D-0102-43E0-B496-E5CDC6FF471E}" srcId="{3BC50872-0CED-448D-90D0-7F34F4F1C299}" destId="{762F94DD-CA76-46E5-A53C-7B17879A6B13}" srcOrd="1" destOrd="0" parTransId="{DEA15442-A767-40B0-BE15-DEBDE4512279}" sibTransId="{B67EDC37-A09D-4A0E-8036-2DBC65FB5728}"/>
    <dgm:cxn modelId="{FF4FEE4D-DE2F-4330-B151-D6D510A50204}" type="presOf" srcId="{49323D12-C69C-4ACE-A561-4E291994429F}" destId="{329613BF-A18B-44E1-A38B-DB9D814D5CAF}" srcOrd="0" destOrd="4" presId="urn:microsoft.com/office/officeart/2005/8/layout/vList2"/>
    <dgm:cxn modelId="{CF911E4E-DF0B-4713-90DD-195B083C78E6}" type="presOf" srcId="{762F94DD-CA76-46E5-A53C-7B17879A6B13}" destId="{7252F2EE-78C4-47F7-9F81-095494205D7C}" srcOrd="0" destOrd="0" presId="urn:microsoft.com/office/officeart/2005/8/layout/vList2"/>
    <dgm:cxn modelId="{32356D52-7B65-40A2-9B93-A5BA55BFAA23}" type="presOf" srcId="{585E1F92-995C-4037-98EE-BBA50565785A}" destId="{0C7D8BB0-6B90-48A5-BF67-E37B6DF28732}" srcOrd="0" destOrd="1" presId="urn:microsoft.com/office/officeart/2005/8/layout/vList2"/>
    <dgm:cxn modelId="{D3214F88-68FE-4FA0-B95A-3961F6C05E7B}" type="presOf" srcId="{F1967B0E-E3AC-4F77-BDC8-8AFA420F18C5}" destId="{7381EAF7-78C9-496B-9DD0-515A1B6D1FCB}" srcOrd="0" destOrd="2" presId="urn:microsoft.com/office/officeart/2005/8/layout/vList2"/>
    <dgm:cxn modelId="{2AB77791-A305-4C42-94BC-63A17D3B84A7}" srcId="{1163DBBB-C0BF-4DE7-BAA1-F1A09C5E2F2C}" destId="{0C30E887-082F-4C8C-A948-993CA6543D98}" srcOrd="0" destOrd="0" parTransId="{85A4E96D-629E-4C8A-A66E-B818A8DD5C85}" sibTransId="{7D320C4E-E8E1-4ECA-B15F-590C8D28CF3E}"/>
    <dgm:cxn modelId="{3626E491-4DB2-45AC-9DE2-6447C643727A}" srcId="{01A5E678-0655-44F5-AABB-A72E3E7F45CD}" destId="{F1967B0E-E3AC-4F77-BDC8-8AFA420F18C5}" srcOrd="2" destOrd="0" parTransId="{E468E079-4C51-42F0-ADDC-5EBB2946D58A}" sibTransId="{74BE1207-6F32-459E-976E-13D0448B419B}"/>
    <dgm:cxn modelId="{84B805A4-C352-4580-B097-EC11C592766D}" srcId="{A81E4576-6478-4812-98D1-44C532F2C764}" destId="{A2F4A588-7DB6-4FAB-80FF-5E93DDC954E4}" srcOrd="1" destOrd="0" parTransId="{E9187E48-6287-45F1-85C5-72ECB96330E4}" sibTransId="{6836C87E-B0EF-4A6C-994C-34119145BB17}"/>
    <dgm:cxn modelId="{B82058A4-38AF-494E-8739-84E0FDB3359A}" srcId="{3BC50872-0CED-448D-90D0-7F34F4F1C299}" destId="{23A0D78A-E6EF-4D73-B71C-E7F672ACDFA8}" srcOrd="2" destOrd="0" parTransId="{29680E99-51E0-451A-8A26-D702122C162E}" sibTransId="{E75A74C3-754B-4BF1-96E9-772532AC7D13}"/>
    <dgm:cxn modelId="{8A8C64B3-2FBD-4704-AB3F-233A9DC2D5B3}" srcId="{A81E4576-6478-4812-98D1-44C532F2C764}" destId="{49323D12-C69C-4ACE-A561-4E291994429F}" srcOrd="0" destOrd="0" parTransId="{AB1971FD-32F0-48BF-84D3-C2B4EFE29142}" sibTransId="{8DF945D1-A3F0-4C51-8EED-CE18D194F50D}"/>
    <dgm:cxn modelId="{297014B9-43D2-4B6A-B562-0E8F27AB36C7}" type="presOf" srcId="{A2F4A588-7DB6-4FAB-80FF-5E93DDC954E4}" destId="{329613BF-A18B-44E1-A38B-DB9D814D5CAF}" srcOrd="0" destOrd="5" presId="urn:microsoft.com/office/officeart/2005/8/layout/vList2"/>
    <dgm:cxn modelId="{B22CB3C6-3DB2-43D4-A983-B63C312709BA}" type="presOf" srcId="{049FFF75-C699-443C-8E8D-72283783C806}" destId="{7381EAF7-78C9-496B-9DD0-515A1B6D1FCB}" srcOrd="0" destOrd="0" presId="urn:microsoft.com/office/officeart/2005/8/layout/vList2"/>
    <dgm:cxn modelId="{28BE0BF5-9A20-4D13-B076-12D67B645C4E}" srcId="{762F94DD-CA76-46E5-A53C-7B17879A6B13}" destId="{F76E236F-D7D3-402A-A229-F431E5A9A6CF}" srcOrd="2" destOrd="0" parTransId="{ECC7129F-0DAC-4748-BDA5-053E400B708B}" sibTransId="{C0DE33D2-2FF6-4F28-B169-9E9E6F2C5832}"/>
    <dgm:cxn modelId="{D38D2AF8-BFB5-46EC-9976-0C6B9909025B}" type="presOf" srcId="{3BC50872-0CED-448D-90D0-7F34F4F1C299}" destId="{52742B77-5B39-49FF-815B-471831B62CAF}" srcOrd="0" destOrd="0" presId="urn:microsoft.com/office/officeart/2005/8/layout/vList2"/>
    <dgm:cxn modelId="{E6ADD7FC-FD13-47F0-85E0-0710824AB977}" type="presOf" srcId="{B99C914E-2AD8-4ED6-9E4A-FE158971980A}" destId="{7381EAF7-78C9-496B-9DD0-515A1B6D1FCB}" srcOrd="0" destOrd="1" presId="urn:microsoft.com/office/officeart/2005/8/layout/vList2"/>
    <dgm:cxn modelId="{2AEDB3FF-BA32-49A1-BC47-DC1C142FC249}" type="presOf" srcId="{A757E6E6-13DC-4579-B264-DFB19CC8AD61}" destId="{329613BF-A18B-44E1-A38B-DB9D814D5CAF}" srcOrd="0" destOrd="2" presId="urn:microsoft.com/office/officeart/2005/8/layout/vList2"/>
    <dgm:cxn modelId="{47C9BB48-175C-42ED-B226-2C7F10B8FC81}" type="presParOf" srcId="{52742B77-5B39-49FF-815B-471831B62CAF}" destId="{A9681BF5-2544-43A5-A544-F2743A825776}" srcOrd="0" destOrd="0" presId="urn:microsoft.com/office/officeart/2005/8/layout/vList2"/>
    <dgm:cxn modelId="{45D04CE3-5213-4B58-AE7B-B303677A62BF}" type="presParOf" srcId="{52742B77-5B39-49FF-815B-471831B62CAF}" destId="{7381EAF7-78C9-496B-9DD0-515A1B6D1FCB}" srcOrd="1" destOrd="0" presId="urn:microsoft.com/office/officeart/2005/8/layout/vList2"/>
    <dgm:cxn modelId="{B9EC37F7-B4D5-45AE-A45A-37963C6952D2}" type="presParOf" srcId="{52742B77-5B39-49FF-815B-471831B62CAF}" destId="{7252F2EE-78C4-47F7-9F81-095494205D7C}" srcOrd="2" destOrd="0" presId="urn:microsoft.com/office/officeart/2005/8/layout/vList2"/>
    <dgm:cxn modelId="{8E728EA5-E7B9-482A-A602-D63F38DEE201}" type="presParOf" srcId="{52742B77-5B39-49FF-815B-471831B62CAF}" destId="{0C7D8BB0-6B90-48A5-BF67-E37B6DF28732}" srcOrd="3" destOrd="0" presId="urn:microsoft.com/office/officeart/2005/8/layout/vList2"/>
    <dgm:cxn modelId="{C32BB585-E8B5-4BB8-A64B-93EA0AE7DAB0}" type="presParOf" srcId="{52742B77-5B39-49FF-815B-471831B62CAF}" destId="{9F265803-A95F-435D-9637-AF278306FD7F}" srcOrd="4" destOrd="0" presId="urn:microsoft.com/office/officeart/2005/8/layout/vList2"/>
    <dgm:cxn modelId="{3F7ECDC7-CF2C-4A99-9AED-09E324F5D304}" type="presParOf" srcId="{52742B77-5B39-49FF-815B-471831B62CAF}" destId="{329613BF-A18B-44E1-A38B-DB9D814D5CA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BC50872-0CED-448D-90D0-7F34F4F1C299}" type="doc">
      <dgm:prSet loTypeId="urn:microsoft.com/office/officeart/2005/8/layout/vList2" loCatId="list" qsTypeId="urn:microsoft.com/office/officeart/2005/8/quickstyle/3d2#5" qsCatId="3D" csTypeId="urn:microsoft.com/office/officeart/2005/8/colors/colorful1#6" csCatId="colorful" phldr="1"/>
      <dgm:spPr/>
      <dgm:t>
        <a:bodyPr/>
        <a:lstStyle/>
        <a:p>
          <a:endParaRPr lang="en-GB"/>
        </a:p>
      </dgm:t>
    </dgm:pt>
    <dgm:pt modelId="{01A5E678-0655-44F5-AABB-A72E3E7F45CD}">
      <dgm:prSet/>
      <dgm:spPr/>
      <dgm:t>
        <a:bodyPr/>
        <a:lstStyle/>
        <a:p>
          <a:pPr rtl="0"/>
          <a:r>
            <a:rPr lang="en-GB" baseline="0" dirty="0"/>
            <a:t>Advantages-Market Oriented</a:t>
          </a:r>
          <a:endParaRPr lang="en-GB" dirty="0"/>
        </a:p>
      </dgm:t>
    </dgm:pt>
    <dgm:pt modelId="{9B089319-7E7F-4CF9-885D-7D212DCDCA38}" type="parTrans" cxnId="{95DE6663-AB39-4FC9-B4A7-4FF0A8643BBD}">
      <dgm:prSet/>
      <dgm:spPr/>
      <dgm:t>
        <a:bodyPr/>
        <a:lstStyle/>
        <a:p>
          <a:endParaRPr lang="en-GB"/>
        </a:p>
      </dgm:t>
    </dgm:pt>
    <dgm:pt modelId="{924D58A3-5ABE-4544-9917-8BCAF5A4040C}" type="sibTrans" cxnId="{95DE6663-AB39-4FC9-B4A7-4FF0A8643BBD}">
      <dgm:prSet/>
      <dgm:spPr/>
      <dgm:t>
        <a:bodyPr/>
        <a:lstStyle/>
        <a:p>
          <a:endParaRPr lang="en-GB"/>
        </a:p>
      </dgm:t>
    </dgm:pt>
    <dgm:pt modelId="{049FFF75-C699-443C-8E8D-72283783C806}">
      <dgm:prSet/>
      <dgm:spPr/>
      <dgm:t>
        <a:bodyPr/>
        <a:lstStyle/>
        <a:p>
          <a:pPr rtl="0"/>
          <a:r>
            <a:rPr lang="en-GB" dirty="0"/>
            <a:t>Reflects Market conditions</a:t>
          </a:r>
        </a:p>
      </dgm:t>
    </dgm:pt>
    <dgm:pt modelId="{303086B2-2578-480E-8AF0-9A9CC291B6DC}" type="parTrans" cxnId="{8E6CDF42-3271-4677-B92D-0CD67A0C0004}">
      <dgm:prSet/>
      <dgm:spPr/>
      <dgm:t>
        <a:bodyPr/>
        <a:lstStyle/>
        <a:p>
          <a:endParaRPr lang="en-GB"/>
        </a:p>
      </dgm:t>
    </dgm:pt>
    <dgm:pt modelId="{0BD005C5-885B-4E1E-A737-FAD31EA0501C}" type="sibTrans" cxnId="{8E6CDF42-3271-4677-B92D-0CD67A0C0004}">
      <dgm:prSet/>
      <dgm:spPr/>
      <dgm:t>
        <a:bodyPr/>
        <a:lstStyle/>
        <a:p>
          <a:endParaRPr lang="en-GB"/>
        </a:p>
      </dgm:t>
    </dgm:pt>
    <dgm:pt modelId="{762F94DD-CA76-46E5-A53C-7B17879A6B13}">
      <dgm:prSet/>
      <dgm:spPr/>
      <dgm:t>
        <a:bodyPr/>
        <a:lstStyle/>
        <a:p>
          <a:pPr rtl="0"/>
          <a:r>
            <a:rPr lang="en-GB" dirty="0"/>
            <a:t>Disadvantages-Information Aggregation</a:t>
          </a:r>
        </a:p>
      </dgm:t>
    </dgm:pt>
    <dgm:pt modelId="{DEA15442-A767-40B0-BE15-DEBDE4512279}" type="parTrans" cxnId="{E916C46D-0102-43E0-B496-E5CDC6FF471E}">
      <dgm:prSet/>
      <dgm:spPr/>
      <dgm:t>
        <a:bodyPr/>
        <a:lstStyle/>
        <a:p>
          <a:endParaRPr lang="en-GB"/>
        </a:p>
      </dgm:t>
    </dgm:pt>
    <dgm:pt modelId="{B67EDC37-A09D-4A0E-8036-2DBC65FB5728}" type="sibTrans" cxnId="{E916C46D-0102-43E0-B496-E5CDC6FF471E}">
      <dgm:prSet/>
      <dgm:spPr/>
      <dgm:t>
        <a:bodyPr/>
        <a:lstStyle/>
        <a:p>
          <a:endParaRPr lang="en-GB"/>
        </a:p>
      </dgm:t>
    </dgm:pt>
    <dgm:pt modelId="{6AD84BDB-27A1-4303-95BE-2719ECEED3CB}">
      <dgm:prSet/>
      <dgm:spPr/>
      <dgm:t>
        <a:bodyPr/>
        <a:lstStyle/>
        <a:p>
          <a:pPr rtl="0"/>
          <a:r>
            <a:rPr lang="en-GB" dirty="0"/>
            <a:t>Tends to over/under-value assets according to market trends</a:t>
          </a:r>
        </a:p>
      </dgm:t>
    </dgm:pt>
    <dgm:pt modelId="{E5FA39E9-6757-4F62-88DA-D631B70E810D}" type="parTrans" cxnId="{DC5E5334-F730-4BF1-80CF-096AE35FA004}">
      <dgm:prSet/>
      <dgm:spPr/>
      <dgm:t>
        <a:bodyPr/>
        <a:lstStyle/>
        <a:p>
          <a:endParaRPr lang="en-GB"/>
        </a:p>
      </dgm:t>
    </dgm:pt>
    <dgm:pt modelId="{FB5D8E7A-B19B-43F0-BD0E-F0B1D844BBCE}" type="sibTrans" cxnId="{DC5E5334-F730-4BF1-80CF-096AE35FA004}">
      <dgm:prSet/>
      <dgm:spPr/>
      <dgm:t>
        <a:bodyPr/>
        <a:lstStyle/>
        <a:p>
          <a:endParaRPr lang="en-GB"/>
        </a:p>
      </dgm:t>
    </dgm:pt>
    <dgm:pt modelId="{23A0D78A-E6EF-4D73-B71C-E7F672ACDFA8}">
      <dgm:prSet/>
      <dgm:spPr/>
      <dgm:t>
        <a:bodyPr/>
        <a:lstStyle/>
        <a:p>
          <a:pPr rtl="0"/>
          <a:r>
            <a:rPr lang="en-GB" baseline="0" dirty="0"/>
            <a:t>When Real Valuation works best for:</a:t>
          </a:r>
          <a:endParaRPr lang="en-GB" dirty="0"/>
        </a:p>
      </dgm:t>
    </dgm:pt>
    <dgm:pt modelId="{29680E99-51E0-451A-8A26-D702122C162E}" type="parTrans" cxnId="{B82058A4-38AF-494E-8739-84E0FDB3359A}">
      <dgm:prSet/>
      <dgm:spPr/>
      <dgm:t>
        <a:bodyPr/>
        <a:lstStyle/>
        <a:p>
          <a:endParaRPr lang="en-GB"/>
        </a:p>
      </dgm:t>
    </dgm:pt>
    <dgm:pt modelId="{E75A74C3-754B-4BF1-96E9-772532AC7D13}" type="sibTrans" cxnId="{B82058A4-38AF-494E-8739-84E0FDB3359A}">
      <dgm:prSet/>
      <dgm:spPr/>
      <dgm:t>
        <a:bodyPr/>
        <a:lstStyle/>
        <a:p>
          <a:endParaRPr lang="en-GB"/>
        </a:p>
      </dgm:t>
    </dgm:pt>
    <dgm:pt modelId="{1163DBBB-C0BF-4DE7-BAA1-F1A09C5E2F2C}">
      <dgm:prSet/>
      <dgm:spPr/>
      <dgm:t>
        <a:bodyPr/>
        <a:lstStyle/>
        <a:p>
          <a:pPr rtl="0"/>
          <a:r>
            <a:rPr lang="en-GB" dirty="0"/>
            <a:t>Firms</a:t>
          </a:r>
        </a:p>
      </dgm:t>
    </dgm:pt>
    <dgm:pt modelId="{3C984758-DF64-45A5-8734-151E60AD3AC6}" type="parTrans" cxnId="{17767F03-507C-4DF8-9E5A-20F27CBD0BA9}">
      <dgm:prSet/>
      <dgm:spPr/>
      <dgm:t>
        <a:bodyPr/>
        <a:lstStyle/>
        <a:p>
          <a:endParaRPr lang="en-GB"/>
        </a:p>
      </dgm:t>
    </dgm:pt>
    <dgm:pt modelId="{7D4B202E-4611-4D69-8163-592D7E67ECD6}" type="sibTrans" cxnId="{17767F03-507C-4DF8-9E5A-20F27CBD0BA9}">
      <dgm:prSet/>
      <dgm:spPr/>
      <dgm:t>
        <a:bodyPr/>
        <a:lstStyle/>
        <a:p>
          <a:endParaRPr lang="en-GB"/>
        </a:p>
      </dgm:t>
    </dgm:pt>
    <dgm:pt modelId="{A81E4576-6478-4812-98D1-44C532F2C764}">
      <dgm:prSet/>
      <dgm:spPr/>
      <dgm:t>
        <a:bodyPr/>
        <a:lstStyle/>
        <a:p>
          <a:pPr rtl="0"/>
          <a:r>
            <a:rPr lang="en-GB" dirty="0"/>
            <a:t>Investors</a:t>
          </a:r>
        </a:p>
      </dgm:t>
    </dgm:pt>
    <dgm:pt modelId="{7E36AC33-F4A3-406E-B7AD-6F79FEAEA6B3}" type="parTrans" cxnId="{5E543D28-F7FE-4A04-BAFF-D8E5B71E35BF}">
      <dgm:prSet/>
      <dgm:spPr/>
      <dgm:t>
        <a:bodyPr/>
        <a:lstStyle/>
        <a:p>
          <a:endParaRPr lang="en-GB"/>
        </a:p>
      </dgm:t>
    </dgm:pt>
    <dgm:pt modelId="{384095D1-7D5B-449E-B5C2-98172E68EAE3}" type="sibTrans" cxnId="{5E543D28-F7FE-4A04-BAFF-D8E5B71E35BF}">
      <dgm:prSet/>
      <dgm:spPr/>
      <dgm:t>
        <a:bodyPr/>
        <a:lstStyle/>
        <a:p>
          <a:endParaRPr lang="en-GB"/>
        </a:p>
      </dgm:t>
    </dgm:pt>
    <dgm:pt modelId="{49323D12-C69C-4ACE-A561-4E291994429F}">
      <dgm:prSet/>
      <dgm:spPr/>
      <dgm:t>
        <a:bodyPr/>
        <a:lstStyle/>
        <a:p>
          <a:pPr rtl="0"/>
          <a:r>
            <a:rPr lang="en-GB" dirty="0"/>
            <a:t>Have a short term horizon (take advantage of short term mispricing)</a:t>
          </a:r>
        </a:p>
      </dgm:t>
    </dgm:pt>
    <dgm:pt modelId="{AB1971FD-32F0-48BF-84D3-C2B4EFE29142}" type="parTrans" cxnId="{8A8C64B3-2FBD-4704-AB3F-233A9DC2D5B3}">
      <dgm:prSet/>
      <dgm:spPr/>
      <dgm:t>
        <a:bodyPr/>
        <a:lstStyle/>
        <a:p>
          <a:endParaRPr lang="en-GB"/>
        </a:p>
      </dgm:t>
    </dgm:pt>
    <dgm:pt modelId="{8DF945D1-A3F0-4C51-8EED-CE18D194F50D}" type="sibTrans" cxnId="{8A8C64B3-2FBD-4704-AB3F-233A9DC2D5B3}">
      <dgm:prSet/>
      <dgm:spPr/>
      <dgm:t>
        <a:bodyPr/>
        <a:lstStyle/>
        <a:p>
          <a:endParaRPr lang="en-GB"/>
        </a:p>
      </dgm:t>
    </dgm:pt>
    <dgm:pt modelId="{A2F4A588-7DB6-4FAB-80FF-5E93DDC954E4}">
      <dgm:prSet/>
      <dgm:spPr/>
      <dgm:t>
        <a:bodyPr/>
        <a:lstStyle/>
        <a:p>
          <a:pPr rtl="0"/>
          <a:r>
            <a:rPr lang="en-GB" dirty="0"/>
            <a:t>Their performance is based on a benchmark</a:t>
          </a:r>
        </a:p>
      </dgm:t>
    </dgm:pt>
    <dgm:pt modelId="{6836C87E-B0EF-4A6C-994C-34119145BB17}" type="sibTrans" cxnId="{84B805A4-C352-4580-B097-EC11C592766D}">
      <dgm:prSet/>
      <dgm:spPr/>
      <dgm:t>
        <a:bodyPr/>
        <a:lstStyle/>
        <a:p>
          <a:endParaRPr lang="en-GB"/>
        </a:p>
      </dgm:t>
    </dgm:pt>
    <dgm:pt modelId="{E9187E48-6287-45F1-85C5-72ECB96330E4}" type="parTrans" cxnId="{84B805A4-C352-4580-B097-EC11C592766D}">
      <dgm:prSet/>
      <dgm:spPr/>
      <dgm:t>
        <a:bodyPr/>
        <a:lstStyle/>
        <a:p>
          <a:endParaRPr lang="en-GB"/>
        </a:p>
      </dgm:t>
    </dgm:pt>
    <dgm:pt modelId="{0C30E887-082F-4C8C-A948-993CA6543D98}">
      <dgm:prSet/>
      <dgm:spPr/>
      <dgm:t>
        <a:bodyPr/>
        <a:lstStyle/>
        <a:p>
          <a:pPr rtl="0"/>
          <a:r>
            <a:rPr lang="en-GB" dirty="0"/>
            <a:t>Many comparable companies, preferably listed</a:t>
          </a:r>
        </a:p>
      </dgm:t>
    </dgm:pt>
    <dgm:pt modelId="{85A4E96D-629E-4C8A-A66E-B818A8DD5C85}" type="parTrans" cxnId="{2AB77791-A305-4C42-94BC-63A17D3B84A7}">
      <dgm:prSet/>
      <dgm:spPr/>
      <dgm:t>
        <a:bodyPr/>
        <a:lstStyle/>
        <a:p>
          <a:endParaRPr lang="en-GB"/>
        </a:p>
      </dgm:t>
    </dgm:pt>
    <dgm:pt modelId="{7D320C4E-E8E1-4ECA-B15F-590C8D28CF3E}" type="sibTrans" cxnId="{2AB77791-A305-4C42-94BC-63A17D3B84A7}">
      <dgm:prSet/>
      <dgm:spPr/>
      <dgm:t>
        <a:bodyPr/>
        <a:lstStyle/>
        <a:p>
          <a:endParaRPr lang="en-GB"/>
        </a:p>
      </dgm:t>
    </dgm:pt>
    <dgm:pt modelId="{A757E6E6-13DC-4579-B264-DFB19CC8AD61}">
      <dgm:prSet/>
      <dgm:spPr/>
      <dgm:t>
        <a:bodyPr/>
        <a:lstStyle/>
        <a:p>
          <a:pPr rtl="0"/>
          <a:r>
            <a:rPr lang="en-GB" dirty="0"/>
            <a:t>There is a standardized variable</a:t>
          </a:r>
        </a:p>
      </dgm:t>
    </dgm:pt>
    <dgm:pt modelId="{6FA682B9-7CF2-43F3-AED4-7548C5408C69}" type="parTrans" cxnId="{E6D4004A-0BAE-4807-AB8C-59E7539069BA}">
      <dgm:prSet/>
      <dgm:spPr/>
      <dgm:t>
        <a:bodyPr/>
        <a:lstStyle/>
        <a:p>
          <a:endParaRPr lang="en-GB"/>
        </a:p>
      </dgm:t>
    </dgm:pt>
    <dgm:pt modelId="{07A07D44-FF45-4670-8353-54FB4E868DED}" type="sibTrans" cxnId="{E6D4004A-0BAE-4807-AB8C-59E7539069BA}">
      <dgm:prSet/>
      <dgm:spPr/>
      <dgm:t>
        <a:bodyPr/>
        <a:lstStyle/>
        <a:p>
          <a:endParaRPr lang="en-GB"/>
        </a:p>
      </dgm:t>
    </dgm:pt>
    <dgm:pt modelId="{FECF7068-43B0-4A5D-AA31-073D6EED902F}">
      <dgm:prSet/>
      <dgm:spPr/>
      <dgm:t>
        <a:bodyPr/>
        <a:lstStyle/>
        <a:p>
          <a:pPr rtl="0"/>
          <a:r>
            <a:rPr lang="en-GB" dirty="0"/>
            <a:t>Better for IPOs</a:t>
          </a:r>
        </a:p>
      </dgm:t>
    </dgm:pt>
    <dgm:pt modelId="{75E48257-FB9C-4BBE-B5BB-006DF920B6B9}" type="parTrans" cxnId="{B5BB6EF3-F3BF-49AC-A14E-9407141B4FA5}">
      <dgm:prSet/>
      <dgm:spPr/>
      <dgm:t>
        <a:bodyPr/>
        <a:lstStyle/>
        <a:p>
          <a:endParaRPr lang="en-GB"/>
        </a:p>
      </dgm:t>
    </dgm:pt>
    <dgm:pt modelId="{FCD34C40-92A2-4F0B-AEDD-E8467F278D23}" type="sibTrans" cxnId="{B5BB6EF3-F3BF-49AC-A14E-9407141B4FA5}">
      <dgm:prSet/>
      <dgm:spPr/>
      <dgm:t>
        <a:bodyPr/>
        <a:lstStyle/>
        <a:p>
          <a:endParaRPr lang="en-GB"/>
        </a:p>
      </dgm:t>
    </dgm:pt>
    <dgm:pt modelId="{FEA6454D-052D-42C5-A81A-A2E0F1D78AC1}">
      <dgm:prSet/>
      <dgm:spPr/>
      <dgm:t>
        <a:bodyPr/>
        <a:lstStyle/>
        <a:p>
          <a:pPr rtl="0"/>
          <a:r>
            <a:rPr lang="en-GB" dirty="0"/>
            <a:t>Better for momentum strategies</a:t>
          </a:r>
        </a:p>
      </dgm:t>
    </dgm:pt>
    <dgm:pt modelId="{2F970B4E-D776-4175-9431-74D84D61102F}" type="parTrans" cxnId="{135B62DE-1231-4FAC-9610-629487E22B73}">
      <dgm:prSet/>
      <dgm:spPr/>
      <dgm:t>
        <a:bodyPr/>
        <a:lstStyle/>
        <a:p>
          <a:endParaRPr lang="en-GB"/>
        </a:p>
      </dgm:t>
    </dgm:pt>
    <dgm:pt modelId="{FFE4C4F1-989E-444A-9111-70895817BF2D}" type="sibTrans" cxnId="{135B62DE-1231-4FAC-9610-629487E22B73}">
      <dgm:prSet/>
      <dgm:spPr/>
      <dgm:t>
        <a:bodyPr/>
        <a:lstStyle/>
        <a:p>
          <a:endParaRPr lang="en-GB"/>
        </a:p>
      </dgm:t>
    </dgm:pt>
    <dgm:pt modelId="{A75D6A3D-7FFD-4E09-AB44-761A1E8BD74A}">
      <dgm:prSet/>
      <dgm:spPr/>
      <dgm:t>
        <a:bodyPr/>
        <a:lstStyle/>
        <a:p>
          <a:pPr rtl="0"/>
          <a:r>
            <a:rPr lang="en-GB" dirty="0"/>
            <a:t>Managers’ performance is comparable to the market</a:t>
          </a:r>
        </a:p>
      </dgm:t>
    </dgm:pt>
    <dgm:pt modelId="{98415825-B82C-40B5-98C7-A1C34C991538}" type="parTrans" cxnId="{9EE6A69A-BA18-40F0-B644-D7C83823E890}">
      <dgm:prSet/>
      <dgm:spPr/>
      <dgm:t>
        <a:bodyPr/>
        <a:lstStyle/>
        <a:p>
          <a:endParaRPr lang="en-GB"/>
        </a:p>
      </dgm:t>
    </dgm:pt>
    <dgm:pt modelId="{A70FE851-D9DF-4D47-BFF1-B2F8B02C23CA}" type="sibTrans" cxnId="{9EE6A69A-BA18-40F0-B644-D7C83823E890}">
      <dgm:prSet/>
      <dgm:spPr/>
      <dgm:t>
        <a:bodyPr/>
        <a:lstStyle/>
        <a:p>
          <a:endParaRPr lang="en-GB"/>
        </a:p>
      </dgm:t>
    </dgm:pt>
    <dgm:pt modelId="{9754B8C3-2AE1-426B-ADB6-A26B2AFD5FBF}">
      <dgm:prSet/>
      <dgm:spPr/>
      <dgm:t>
        <a:bodyPr/>
        <a:lstStyle/>
        <a:p>
          <a:pPr rtl="0"/>
          <a:r>
            <a:rPr lang="en-GB" dirty="0"/>
            <a:t>Less information needed</a:t>
          </a:r>
        </a:p>
      </dgm:t>
    </dgm:pt>
    <dgm:pt modelId="{905C4375-383C-435E-B4BF-2792DF12661F}" type="parTrans" cxnId="{B2B6A092-8D3B-4CDE-AFAF-09405C5F7D7A}">
      <dgm:prSet/>
      <dgm:spPr/>
      <dgm:t>
        <a:bodyPr/>
        <a:lstStyle/>
        <a:p>
          <a:endParaRPr lang="en-GB"/>
        </a:p>
      </dgm:t>
    </dgm:pt>
    <dgm:pt modelId="{4E8E818E-9DCB-4AED-A9CA-693F0DEE539D}" type="sibTrans" cxnId="{B2B6A092-8D3B-4CDE-AFAF-09405C5F7D7A}">
      <dgm:prSet/>
      <dgm:spPr/>
      <dgm:t>
        <a:bodyPr/>
        <a:lstStyle/>
        <a:p>
          <a:endParaRPr lang="en-GB"/>
        </a:p>
      </dgm:t>
    </dgm:pt>
    <dgm:pt modelId="{0BC1B1A2-0C84-4F26-BB0C-C26874143120}">
      <dgm:prSet/>
      <dgm:spPr/>
      <dgm:t>
        <a:bodyPr/>
        <a:lstStyle/>
        <a:p>
          <a:pPr rtl="0"/>
          <a:r>
            <a:rPr lang="en-GB" dirty="0"/>
            <a:t>Based on Averages (e.g. Sector). Over- Under-valued stocks</a:t>
          </a:r>
        </a:p>
      </dgm:t>
    </dgm:pt>
    <dgm:pt modelId="{7120FA61-6B7A-46D9-85EA-EF91F41E390E}" type="parTrans" cxnId="{9C523C9D-99BA-4BEC-8259-15C542372A00}">
      <dgm:prSet/>
      <dgm:spPr/>
      <dgm:t>
        <a:bodyPr/>
        <a:lstStyle/>
        <a:p>
          <a:endParaRPr lang="en-GB"/>
        </a:p>
      </dgm:t>
    </dgm:pt>
    <dgm:pt modelId="{95A6A6FF-D9F5-4F0E-8D51-17C52792E28C}" type="sibTrans" cxnId="{9C523C9D-99BA-4BEC-8259-15C542372A00}">
      <dgm:prSet/>
      <dgm:spPr/>
      <dgm:t>
        <a:bodyPr/>
        <a:lstStyle/>
        <a:p>
          <a:endParaRPr lang="en-GB"/>
        </a:p>
      </dgm:t>
    </dgm:pt>
    <dgm:pt modelId="{BBE07075-BA15-4946-90F8-6323D36D55AE}">
      <dgm:prSet/>
      <dgm:spPr/>
      <dgm:t>
        <a:bodyPr/>
        <a:lstStyle/>
        <a:p>
          <a:pPr rtl="0"/>
          <a:r>
            <a:rPr lang="en-GB" dirty="0"/>
            <a:t>Strong implicit assumptions</a:t>
          </a:r>
        </a:p>
      </dgm:t>
    </dgm:pt>
    <dgm:pt modelId="{50DD7FE0-CF8A-4D8C-9C58-08050079A6F4}" type="parTrans" cxnId="{D7486532-F43D-4C7C-BECF-0C3D1D604618}">
      <dgm:prSet/>
      <dgm:spPr/>
      <dgm:t>
        <a:bodyPr/>
        <a:lstStyle/>
        <a:p>
          <a:endParaRPr lang="en-GB"/>
        </a:p>
      </dgm:t>
    </dgm:pt>
    <dgm:pt modelId="{36857176-9E1F-4821-87DE-8FC597FC63B7}" type="sibTrans" cxnId="{D7486532-F43D-4C7C-BECF-0C3D1D604618}">
      <dgm:prSet/>
      <dgm:spPr/>
      <dgm:t>
        <a:bodyPr/>
        <a:lstStyle/>
        <a:p>
          <a:endParaRPr lang="en-GB"/>
        </a:p>
      </dgm:t>
    </dgm:pt>
    <dgm:pt modelId="{707B7469-2336-451C-A856-28AE69173668}">
      <dgm:prSet/>
      <dgm:spPr/>
      <dgm:t>
        <a:bodyPr/>
        <a:lstStyle/>
        <a:p>
          <a:pPr rtl="0"/>
          <a:r>
            <a:rPr lang="en-GB" dirty="0"/>
            <a:t>Market might be over/undervalued</a:t>
          </a:r>
        </a:p>
      </dgm:t>
    </dgm:pt>
    <dgm:pt modelId="{85C201AA-3621-405E-94BA-48A01473B693}" type="parTrans" cxnId="{EF165D05-11CE-4D41-B0D2-46011D082FB8}">
      <dgm:prSet/>
      <dgm:spPr/>
      <dgm:t>
        <a:bodyPr/>
        <a:lstStyle/>
        <a:p>
          <a:endParaRPr lang="en-GB"/>
        </a:p>
      </dgm:t>
    </dgm:pt>
    <dgm:pt modelId="{25F1B5AC-3CB9-4B90-A195-A1978D055FCF}" type="sibTrans" cxnId="{EF165D05-11CE-4D41-B0D2-46011D082FB8}">
      <dgm:prSet/>
      <dgm:spPr/>
      <dgm:t>
        <a:bodyPr/>
        <a:lstStyle/>
        <a:p>
          <a:endParaRPr lang="en-GB"/>
        </a:p>
      </dgm:t>
    </dgm:pt>
    <dgm:pt modelId="{52742B77-5B39-49FF-815B-471831B62CAF}" type="pres">
      <dgm:prSet presAssocID="{3BC50872-0CED-448D-90D0-7F34F4F1C299}" presName="linear" presStyleCnt="0">
        <dgm:presLayoutVars>
          <dgm:animLvl val="lvl"/>
          <dgm:resizeHandles val="exact"/>
        </dgm:presLayoutVars>
      </dgm:prSet>
      <dgm:spPr/>
    </dgm:pt>
    <dgm:pt modelId="{A9681BF5-2544-43A5-A544-F2743A825776}" type="pres">
      <dgm:prSet presAssocID="{01A5E678-0655-44F5-AABB-A72E3E7F45CD}" presName="parentText" presStyleLbl="node1" presStyleIdx="0" presStyleCnt="3">
        <dgm:presLayoutVars>
          <dgm:chMax val="0"/>
          <dgm:bulletEnabled val="1"/>
        </dgm:presLayoutVars>
      </dgm:prSet>
      <dgm:spPr/>
    </dgm:pt>
    <dgm:pt modelId="{7381EAF7-78C9-496B-9DD0-515A1B6D1FCB}" type="pres">
      <dgm:prSet presAssocID="{01A5E678-0655-44F5-AABB-A72E3E7F45CD}" presName="childText" presStyleLbl="revTx" presStyleIdx="0" presStyleCnt="3">
        <dgm:presLayoutVars>
          <dgm:bulletEnabled val="1"/>
        </dgm:presLayoutVars>
      </dgm:prSet>
      <dgm:spPr/>
    </dgm:pt>
    <dgm:pt modelId="{7252F2EE-78C4-47F7-9F81-095494205D7C}" type="pres">
      <dgm:prSet presAssocID="{762F94DD-CA76-46E5-A53C-7B17879A6B13}" presName="parentText" presStyleLbl="node1" presStyleIdx="1" presStyleCnt="3">
        <dgm:presLayoutVars>
          <dgm:chMax val="0"/>
          <dgm:bulletEnabled val="1"/>
        </dgm:presLayoutVars>
      </dgm:prSet>
      <dgm:spPr/>
    </dgm:pt>
    <dgm:pt modelId="{0C7D8BB0-6B90-48A5-BF67-E37B6DF28732}" type="pres">
      <dgm:prSet presAssocID="{762F94DD-CA76-46E5-A53C-7B17879A6B13}" presName="childText" presStyleLbl="revTx" presStyleIdx="1" presStyleCnt="3">
        <dgm:presLayoutVars>
          <dgm:bulletEnabled val="1"/>
        </dgm:presLayoutVars>
      </dgm:prSet>
      <dgm:spPr/>
    </dgm:pt>
    <dgm:pt modelId="{9F265803-A95F-435D-9637-AF278306FD7F}" type="pres">
      <dgm:prSet presAssocID="{23A0D78A-E6EF-4D73-B71C-E7F672ACDFA8}" presName="parentText" presStyleLbl="node1" presStyleIdx="2" presStyleCnt="3">
        <dgm:presLayoutVars>
          <dgm:chMax val="0"/>
          <dgm:bulletEnabled val="1"/>
        </dgm:presLayoutVars>
      </dgm:prSet>
      <dgm:spPr/>
    </dgm:pt>
    <dgm:pt modelId="{329613BF-A18B-44E1-A38B-DB9D814D5CAF}" type="pres">
      <dgm:prSet presAssocID="{23A0D78A-E6EF-4D73-B71C-E7F672ACDFA8}" presName="childText" presStyleLbl="revTx" presStyleIdx="2" presStyleCnt="3">
        <dgm:presLayoutVars>
          <dgm:bulletEnabled val="1"/>
        </dgm:presLayoutVars>
      </dgm:prSet>
      <dgm:spPr/>
    </dgm:pt>
  </dgm:ptLst>
  <dgm:cxnLst>
    <dgm:cxn modelId="{17767F03-507C-4DF8-9E5A-20F27CBD0BA9}" srcId="{23A0D78A-E6EF-4D73-B71C-E7F672ACDFA8}" destId="{1163DBBB-C0BF-4DE7-BAA1-F1A09C5E2F2C}" srcOrd="0" destOrd="0" parTransId="{3C984758-DF64-45A5-8734-151E60AD3AC6}" sibTransId="{7D4B202E-4611-4D69-8163-592D7E67ECD6}"/>
    <dgm:cxn modelId="{EF165D05-11CE-4D41-B0D2-46011D082FB8}" srcId="{762F94DD-CA76-46E5-A53C-7B17879A6B13}" destId="{707B7469-2336-451C-A856-28AE69173668}" srcOrd="0" destOrd="0" parTransId="{85C201AA-3621-405E-94BA-48A01473B693}" sibTransId="{25F1B5AC-3CB9-4B90-A195-A1978D055FCF}"/>
    <dgm:cxn modelId="{AC64DE19-EFB7-482A-920C-7EA473886A9E}" type="presOf" srcId="{A2F4A588-7DB6-4FAB-80FF-5E93DDC954E4}" destId="{329613BF-A18B-44E1-A38B-DB9D814D5CAF}" srcOrd="0" destOrd="5" presId="urn:microsoft.com/office/officeart/2005/8/layout/vList2"/>
    <dgm:cxn modelId="{5E543D28-F7FE-4A04-BAFF-D8E5B71E35BF}" srcId="{23A0D78A-E6EF-4D73-B71C-E7F672ACDFA8}" destId="{A81E4576-6478-4812-98D1-44C532F2C764}" srcOrd="1" destOrd="0" parTransId="{7E36AC33-F4A3-406E-B7AD-6F79FEAEA6B3}" sibTransId="{384095D1-7D5B-449E-B5C2-98172E68EAE3}"/>
    <dgm:cxn modelId="{D7486532-F43D-4C7C-BECF-0C3D1D604618}" srcId="{762F94DD-CA76-46E5-A53C-7B17879A6B13}" destId="{BBE07075-BA15-4946-90F8-6323D36D55AE}" srcOrd="2" destOrd="0" parTransId="{50DD7FE0-CF8A-4D8C-9C58-08050079A6F4}" sibTransId="{36857176-9E1F-4821-87DE-8FC597FC63B7}"/>
    <dgm:cxn modelId="{DC5E5334-F730-4BF1-80CF-096AE35FA004}" srcId="{762F94DD-CA76-46E5-A53C-7B17879A6B13}" destId="{6AD84BDB-27A1-4303-95BE-2719ECEED3CB}" srcOrd="1" destOrd="0" parTransId="{E5FA39E9-6757-4F62-88DA-D631B70E810D}" sibTransId="{FB5D8E7A-B19B-43F0-BD0E-F0B1D844BBCE}"/>
    <dgm:cxn modelId="{1665A242-8982-4216-A51D-1BC633586A29}" type="presOf" srcId="{049FFF75-C699-443C-8E8D-72283783C806}" destId="{7381EAF7-78C9-496B-9DD0-515A1B6D1FCB}" srcOrd="0" destOrd="0" presId="urn:microsoft.com/office/officeart/2005/8/layout/vList2"/>
    <dgm:cxn modelId="{8E6CDF42-3271-4677-B92D-0CD67A0C0004}" srcId="{01A5E678-0655-44F5-AABB-A72E3E7F45CD}" destId="{049FFF75-C699-443C-8E8D-72283783C806}" srcOrd="0" destOrd="0" parTransId="{303086B2-2578-480E-8AF0-9A9CC291B6DC}" sibTransId="{0BD005C5-885B-4E1E-A737-FAD31EA0501C}"/>
    <dgm:cxn modelId="{95DE6663-AB39-4FC9-B4A7-4FF0A8643BBD}" srcId="{3BC50872-0CED-448D-90D0-7F34F4F1C299}" destId="{01A5E678-0655-44F5-AABB-A72E3E7F45CD}" srcOrd="0" destOrd="0" parTransId="{9B089319-7E7F-4CF9-885D-7D212DCDCA38}" sibTransId="{924D58A3-5ABE-4544-9917-8BCAF5A4040C}"/>
    <dgm:cxn modelId="{E6D4004A-0BAE-4807-AB8C-59E7539069BA}" srcId="{1163DBBB-C0BF-4DE7-BAA1-F1A09C5E2F2C}" destId="{A757E6E6-13DC-4579-B264-DFB19CC8AD61}" srcOrd="1" destOrd="0" parTransId="{6FA682B9-7CF2-43F3-AED4-7548C5408C69}" sibTransId="{07A07D44-FF45-4670-8353-54FB4E868DED}"/>
    <dgm:cxn modelId="{3512C14D-F13B-410E-9D81-FA98F49235A5}" type="presOf" srcId="{BBE07075-BA15-4946-90F8-6323D36D55AE}" destId="{0C7D8BB0-6B90-48A5-BF67-E37B6DF28732}" srcOrd="0" destOrd="2" presId="urn:microsoft.com/office/officeart/2005/8/layout/vList2"/>
    <dgm:cxn modelId="{E916C46D-0102-43E0-B496-E5CDC6FF471E}" srcId="{3BC50872-0CED-448D-90D0-7F34F4F1C299}" destId="{762F94DD-CA76-46E5-A53C-7B17879A6B13}" srcOrd="1" destOrd="0" parTransId="{DEA15442-A767-40B0-BE15-DEBDE4512279}" sibTransId="{B67EDC37-A09D-4A0E-8036-2DBC65FB5728}"/>
    <dgm:cxn modelId="{70A3B750-2043-43EC-A500-DC2EC38AA261}" type="presOf" srcId="{6AD84BDB-27A1-4303-95BE-2719ECEED3CB}" destId="{0C7D8BB0-6B90-48A5-BF67-E37B6DF28732}" srcOrd="0" destOrd="1" presId="urn:microsoft.com/office/officeart/2005/8/layout/vList2"/>
    <dgm:cxn modelId="{11F8B652-9962-4866-A31D-796F67FCE65C}" type="presOf" srcId="{01A5E678-0655-44F5-AABB-A72E3E7F45CD}" destId="{A9681BF5-2544-43A5-A544-F2743A825776}" srcOrd="0" destOrd="0" presId="urn:microsoft.com/office/officeart/2005/8/layout/vList2"/>
    <dgm:cxn modelId="{32069074-3D99-4AA1-974D-C85E4B450C04}" type="presOf" srcId="{3BC50872-0CED-448D-90D0-7F34F4F1C299}" destId="{52742B77-5B39-49FF-815B-471831B62CAF}" srcOrd="0" destOrd="0" presId="urn:microsoft.com/office/officeart/2005/8/layout/vList2"/>
    <dgm:cxn modelId="{98771055-0882-4378-8836-FF9E5C79AD79}" type="presOf" srcId="{A81E4576-6478-4812-98D1-44C532F2C764}" destId="{329613BF-A18B-44E1-A38B-DB9D814D5CAF}" srcOrd="0" destOrd="3" presId="urn:microsoft.com/office/officeart/2005/8/layout/vList2"/>
    <dgm:cxn modelId="{E5BE8858-2E12-4A43-80AA-6F15BA4D64E5}" type="presOf" srcId="{9754B8C3-2AE1-426B-ADB6-A26B2AFD5FBF}" destId="{7381EAF7-78C9-496B-9DD0-515A1B6D1FCB}" srcOrd="0" destOrd="5" presId="urn:microsoft.com/office/officeart/2005/8/layout/vList2"/>
    <dgm:cxn modelId="{776C087F-6FB5-4EE3-BD33-AE8C9F0E4C05}" type="presOf" srcId="{49323D12-C69C-4ACE-A561-4E291994429F}" destId="{329613BF-A18B-44E1-A38B-DB9D814D5CAF}" srcOrd="0" destOrd="4" presId="urn:microsoft.com/office/officeart/2005/8/layout/vList2"/>
    <dgm:cxn modelId="{F0029584-BB5C-4475-9BDA-FAAB6B329B1F}" type="presOf" srcId="{762F94DD-CA76-46E5-A53C-7B17879A6B13}" destId="{7252F2EE-78C4-47F7-9F81-095494205D7C}" srcOrd="0" destOrd="0" presId="urn:microsoft.com/office/officeart/2005/8/layout/vList2"/>
    <dgm:cxn modelId="{2AB77791-A305-4C42-94BC-63A17D3B84A7}" srcId="{1163DBBB-C0BF-4DE7-BAA1-F1A09C5E2F2C}" destId="{0C30E887-082F-4C8C-A948-993CA6543D98}" srcOrd="0" destOrd="0" parTransId="{85A4E96D-629E-4C8A-A66E-B818A8DD5C85}" sibTransId="{7D320C4E-E8E1-4ECA-B15F-590C8D28CF3E}"/>
    <dgm:cxn modelId="{B2B6A092-8D3B-4CDE-AFAF-09405C5F7D7A}" srcId="{01A5E678-0655-44F5-AABB-A72E3E7F45CD}" destId="{9754B8C3-2AE1-426B-ADB6-A26B2AFD5FBF}" srcOrd="2" destOrd="0" parTransId="{905C4375-383C-435E-B4BF-2792DF12661F}" sibTransId="{4E8E818E-9DCB-4AED-A9CA-693F0DEE539D}"/>
    <dgm:cxn modelId="{368A0295-E6A2-4BA2-AC51-C1319BF7F182}" type="presOf" srcId="{A757E6E6-13DC-4579-B264-DFB19CC8AD61}" destId="{329613BF-A18B-44E1-A38B-DB9D814D5CAF}" srcOrd="0" destOrd="2" presId="urn:microsoft.com/office/officeart/2005/8/layout/vList2"/>
    <dgm:cxn modelId="{9EE6A69A-BA18-40F0-B644-D7C83823E890}" srcId="{01A5E678-0655-44F5-AABB-A72E3E7F45CD}" destId="{A75D6A3D-7FFD-4E09-AB44-761A1E8BD74A}" srcOrd="1" destOrd="0" parTransId="{98415825-B82C-40B5-98C7-A1C34C991538}" sibTransId="{A70FE851-D9DF-4D47-BFF1-B2F8B02C23CA}"/>
    <dgm:cxn modelId="{9C523C9D-99BA-4BEC-8259-15C542372A00}" srcId="{049FFF75-C699-443C-8E8D-72283783C806}" destId="{0BC1B1A2-0C84-4F26-BB0C-C26874143120}" srcOrd="2" destOrd="0" parTransId="{7120FA61-6B7A-46D9-85EA-EF91F41E390E}" sibTransId="{95A6A6FF-D9F5-4F0E-8D51-17C52792E28C}"/>
    <dgm:cxn modelId="{84B805A4-C352-4580-B097-EC11C592766D}" srcId="{A81E4576-6478-4812-98D1-44C532F2C764}" destId="{A2F4A588-7DB6-4FAB-80FF-5E93DDC954E4}" srcOrd="1" destOrd="0" parTransId="{E9187E48-6287-45F1-85C5-72ECB96330E4}" sibTransId="{6836C87E-B0EF-4A6C-994C-34119145BB17}"/>
    <dgm:cxn modelId="{0F5B1AA4-430A-4FF1-9B04-30B6BC346538}" type="presOf" srcId="{1163DBBB-C0BF-4DE7-BAA1-F1A09C5E2F2C}" destId="{329613BF-A18B-44E1-A38B-DB9D814D5CAF}" srcOrd="0" destOrd="0" presId="urn:microsoft.com/office/officeart/2005/8/layout/vList2"/>
    <dgm:cxn modelId="{B82058A4-38AF-494E-8739-84E0FDB3359A}" srcId="{3BC50872-0CED-448D-90D0-7F34F4F1C299}" destId="{23A0D78A-E6EF-4D73-B71C-E7F672ACDFA8}" srcOrd="2" destOrd="0" parTransId="{29680E99-51E0-451A-8A26-D702122C162E}" sibTransId="{E75A74C3-754B-4BF1-96E9-772532AC7D13}"/>
    <dgm:cxn modelId="{DB13E0AF-9C7A-48AD-BADB-27FABCD949E6}" type="presOf" srcId="{23A0D78A-E6EF-4D73-B71C-E7F672ACDFA8}" destId="{9F265803-A95F-435D-9637-AF278306FD7F}" srcOrd="0" destOrd="0" presId="urn:microsoft.com/office/officeart/2005/8/layout/vList2"/>
    <dgm:cxn modelId="{FD7E5AB2-A784-4FA2-B1E2-93A8501F0970}" type="presOf" srcId="{707B7469-2336-451C-A856-28AE69173668}" destId="{0C7D8BB0-6B90-48A5-BF67-E37B6DF28732}" srcOrd="0" destOrd="0" presId="urn:microsoft.com/office/officeart/2005/8/layout/vList2"/>
    <dgm:cxn modelId="{8A8C64B3-2FBD-4704-AB3F-233A9DC2D5B3}" srcId="{A81E4576-6478-4812-98D1-44C532F2C764}" destId="{49323D12-C69C-4ACE-A561-4E291994429F}" srcOrd="0" destOrd="0" parTransId="{AB1971FD-32F0-48BF-84D3-C2B4EFE29142}" sibTransId="{8DF945D1-A3F0-4C51-8EED-CE18D194F50D}"/>
    <dgm:cxn modelId="{CC0D20BB-92D6-435C-8E2E-06955504ECD3}" type="presOf" srcId="{0BC1B1A2-0C84-4F26-BB0C-C26874143120}" destId="{7381EAF7-78C9-496B-9DD0-515A1B6D1FCB}" srcOrd="0" destOrd="3" presId="urn:microsoft.com/office/officeart/2005/8/layout/vList2"/>
    <dgm:cxn modelId="{4C7667C3-B838-4B19-AD26-4BA902D15B02}" type="presOf" srcId="{0C30E887-082F-4C8C-A948-993CA6543D98}" destId="{329613BF-A18B-44E1-A38B-DB9D814D5CAF}" srcOrd="0" destOrd="1" presId="urn:microsoft.com/office/officeart/2005/8/layout/vList2"/>
    <dgm:cxn modelId="{135B62DE-1231-4FAC-9610-629487E22B73}" srcId="{049FFF75-C699-443C-8E8D-72283783C806}" destId="{FEA6454D-052D-42C5-A81A-A2E0F1D78AC1}" srcOrd="1" destOrd="0" parTransId="{2F970B4E-D776-4175-9431-74D84D61102F}" sibTransId="{FFE4C4F1-989E-444A-9111-70895817BF2D}"/>
    <dgm:cxn modelId="{CF3636F1-444D-4C38-89D8-8CC7DF4DE6EF}" type="presOf" srcId="{FEA6454D-052D-42C5-A81A-A2E0F1D78AC1}" destId="{7381EAF7-78C9-496B-9DD0-515A1B6D1FCB}" srcOrd="0" destOrd="2" presId="urn:microsoft.com/office/officeart/2005/8/layout/vList2"/>
    <dgm:cxn modelId="{B5BB6EF3-F3BF-49AC-A14E-9407141B4FA5}" srcId="{049FFF75-C699-443C-8E8D-72283783C806}" destId="{FECF7068-43B0-4A5D-AA31-073D6EED902F}" srcOrd="0" destOrd="0" parTransId="{75E48257-FB9C-4BBE-B5BB-006DF920B6B9}" sibTransId="{FCD34C40-92A2-4F0B-AEDD-E8467F278D23}"/>
    <dgm:cxn modelId="{931601F8-F9AC-4B29-8B02-EE246A39D2EB}" type="presOf" srcId="{FECF7068-43B0-4A5D-AA31-073D6EED902F}" destId="{7381EAF7-78C9-496B-9DD0-515A1B6D1FCB}" srcOrd="0" destOrd="1" presId="urn:microsoft.com/office/officeart/2005/8/layout/vList2"/>
    <dgm:cxn modelId="{6ABE80FD-286E-44CC-B9DD-C253F8F196DD}" type="presOf" srcId="{A75D6A3D-7FFD-4E09-AB44-761A1E8BD74A}" destId="{7381EAF7-78C9-496B-9DD0-515A1B6D1FCB}" srcOrd="0" destOrd="4" presId="urn:microsoft.com/office/officeart/2005/8/layout/vList2"/>
    <dgm:cxn modelId="{98B50457-7792-4698-BF05-A90ACD5A2F09}" type="presParOf" srcId="{52742B77-5B39-49FF-815B-471831B62CAF}" destId="{A9681BF5-2544-43A5-A544-F2743A825776}" srcOrd="0" destOrd="0" presId="urn:microsoft.com/office/officeart/2005/8/layout/vList2"/>
    <dgm:cxn modelId="{D22D47C9-5770-4B97-8483-4BC9E9F76B71}" type="presParOf" srcId="{52742B77-5B39-49FF-815B-471831B62CAF}" destId="{7381EAF7-78C9-496B-9DD0-515A1B6D1FCB}" srcOrd="1" destOrd="0" presId="urn:microsoft.com/office/officeart/2005/8/layout/vList2"/>
    <dgm:cxn modelId="{0B01C18A-11C8-4386-8C6F-910DB2804C7E}" type="presParOf" srcId="{52742B77-5B39-49FF-815B-471831B62CAF}" destId="{7252F2EE-78C4-47F7-9F81-095494205D7C}" srcOrd="2" destOrd="0" presId="urn:microsoft.com/office/officeart/2005/8/layout/vList2"/>
    <dgm:cxn modelId="{7AD931D6-1166-48B3-ABB9-77CA267FB9D5}" type="presParOf" srcId="{52742B77-5B39-49FF-815B-471831B62CAF}" destId="{0C7D8BB0-6B90-48A5-BF67-E37B6DF28732}" srcOrd="3" destOrd="0" presId="urn:microsoft.com/office/officeart/2005/8/layout/vList2"/>
    <dgm:cxn modelId="{63D0AD96-4CF4-4FE8-BBB9-EFC6D532221F}" type="presParOf" srcId="{52742B77-5B39-49FF-815B-471831B62CAF}" destId="{9F265803-A95F-435D-9637-AF278306FD7F}" srcOrd="4" destOrd="0" presId="urn:microsoft.com/office/officeart/2005/8/layout/vList2"/>
    <dgm:cxn modelId="{8C7BEAAF-678E-4D97-B989-8C15EF1FB03B}" type="presParOf" srcId="{52742B77-5B39-49FF-815B-471831B62CAF}" destId="{329613BF-A18B-44E1-A38B-DB9D814D5CAF}"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B05EB8-2684-4701-B9E8-C57D008FC842}">
      <dsp:nvSpPr>
        <dsp:cNvPr id="0" name=""/>
        <dsp:cNvSpPr/>
      </dsp:nvSpPr>
      <dsp:spPr>
        <a:xfrm>
          <a:off x="761" y="101038"/>
          <a:ext cx="2970710" cy="1782426"/>
        </a:xfrm>
        <a:prstGeom prst="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GB" sz="5200" kern="1200" dirty="0"/>
            <a:t>Fixed Assets</a:t>
          </a:r>
        </a:p>
      </dsp:txBody>
      <dsp:txXfrm>
        <a:off x="761" y="101038"/>
        <a:ext cx="2970710" cy="1782426"/>
      </dsp:txXfrm>
    </dsp:sp>
    <dsp:sp modelId="{4DAE63BD-5160-4867-9496-89745FD3AA54}">
      <dsp:nvSpPr>
        <dsp:cNvPr id="0" name=""/>
        <dsp:cNvSpPr/>
      </dsp:nvSpPr>
      <dsp:spPr>
        <a:xfrm>
          <a:off x="3268543" y="101038"/>
          <a:ext cx="2970710" cy="1782426"/>
        </a:xfrm>
        <a:prstGeom prst="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GB" sz="5200" kern="1200" dirty="0"/>
            <a:t>Equity</a:t>
          </a:r>
        </a:p>
      </dsp:txBody>
      <dsp:txXfrm>
        <a:off x="3268543" y="101038"/>
        <a:ext cx="2970710" cy="1782426"/>
      </dsp:txXfrm>
    </dsp:sp>
    <dsp:sp modelId="{FB107DA2-99F7-4CCF-88C1-E7B1B0DBEAEE}">
      <dsp:nvSpPr>
        <dsp:cNvPr id="0" name=""/>
        <dsp:cNvSpPr/>
      </dsp:nvSpPr>
      <dsp:spPr>
        <a:xfrm>
          <a:off x="761" y="2180535"/>
          <a:ext cx="2970710" cy="1782426"/>
        </a:xfrm>
        <a:prstGeom prst="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GB" sz="5200" kern="1200" dirty="0"/>
            <a:t>Current Assets</a:t>
          </a:r>
        </a:p>
      </dsp:txBody>
      <dsp:txXfrm>
        <a:off x="761" y="2180535"/>
        <a:ext cx="2970710" cy="1782426"/>
      </dsp:txXfrm>
    </dsp:sp>
    <dsp:sp modelId="{FC54FB1A-A79B-4CEC-ACD2-D4124CF3F111}">
      <dsp:nvSpPr>
        <dsp:cNvPr id="0" name=""/>
        <dsp:cNvSpPr/>
      </dsp:nvSpPr>
      <dsp:spPr>
        <a:xfrm>
          <a:off x="3268543" y="2180535"/>
          <a:ext cx="2970710" cy="1782426"/>
        </a:xfrm>
        <a:prstGeom prst="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8120" tIns="198120" rIns="198120" bIns="198120" numCol="1" spcCol="1270" anchor="ctr" anchorCtr="0">
          <a:noAutofit/>
        </a:bodyPr>
        <a:lstStyle/>
        <a:p>
          <a:pPr marL="0" lvl="0" indent="0" algn="ctr" defTabSz="2311400">
            <a:lnSpc>
              <a:spcPct val="90000"/>
            </a:lnSpc>
            <a:spcBef>
              <a:spcPct val="0"/>
            </a:spcBef>
            <a:spcAft>
              <a:spcPct val="35000"/>
            </a:spcAft>
            <a:buNone/>
          </a:pPr>
          <a:r>
            <a:rPr lang="en-GB" sz="5200" kern="1200" dirty="0"/>
            <a:t>Debt</a:t>
          </a:r>
        </a:p>
      </dsp:txBody>
      <dsp:txXfrm>
        <a:off x="3268543" y="2180535"/>
        <a:ext cx="2970710" cy="17824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926662-D068-4E2C-A580-0A52C025DC22}">
      <dsp:nvSpPr>
        <dsp:cNvPr id="0" name=""/>
        <dsp:cNvSpPr/>
      </dsp:nvSpPr>
      <dsp:spPr>
        <a:xfrm>
          <a:off x="0" y="962386"/>
          <a:ext cx="8525650" cy="19442"/>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4D0E46E9-743F-4A8B-87FF-DF3F52EDB6C2}">
      <dsp:nvSpPr>
        <dsp:cNvPr id="0" name=""/>
        <dsp:cNvSpPr/>
      </dsp:nvSpPr>
      <dsp:spPr>
        <a:xfrm>
          <a:off x="8443237" y="894339"/>
          <a:ext cx="116652" cy="155537"/>
        </a:xfrm>
        <a:prstGeom prst="chevron">
          <a:avLst>
            <a:gd name="adj" fmla="val 75000"/>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E7A7A11-90D1-4C20-8E20-ADBCA6FB689A}">
      <dsp:nvSpPr>
        <dsp:cNvPr id="0" name=""/>
        <dsp:cNvSpPr/>
      </dsp:nvSpPr>
      <dsp:spPr>
        <a:xfrm>
          <a:off x="249904" y="443281"/>
          <a:ext cx="2841189" cy="451058"/>
        </a:xfrm>
        <a:prstGeom prst="rect">
          <a:avLst/>
        </a:prstGeom>
        <a:noFill/>
        <a:ln>
          <a:noFill/>
        </a:ln>
        <a:effectLst/>
      </dsp:spPr>
      <dsp:style>
        <a:lnRef idx="0">
          <a:scrgbClr r="0" g="0" b="0"/>
        </a:lnRef>
        <a:fillRef idx="0">
          <a:scrgbClr r="0" g="0" b="0"/>
        </a:fillRef>
        <a:effectRef idx="0">
          <a:scrgbClr r="0" g="0" b="0"/>
        </a:effectRef>
        <a:fontRef idx="minor"/>
      </dsp:style>
    </dsp:sp>
    <dsp:sp modelId="{1F3485FA-A121-4745-8933-BEB4B432CB29}">
      <dsp:nvSpPr>
        <dsp:cNvPr id="0" name=""/>
        <dsp:cNvSpPr/>
      </dsp:nvSpPr>
      <dsp:spPr>
        <a:xfrm>
          <a:off x="249904" y="209975"/>
          <a:ext cx="2841189" cy="23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GB" sz="1200" kern="1200" baseline="0" dirty="0"/>
            <a:t>How much is apple worth today?</a:t>
          </a:r>
          <a:endParaRPr lang="en-GB" sz="1200" kern="1200" dirty="0"/>
        </a:p>
      </dsp:txBody>
      <dsp:txXfrm>
        <a:off x="249904" y="209975"/>
        <a:ext cx="2841189" cy="233305"/>
      </dsp:txXfrm>
    </dsp:sp>
    <dsp:sp modelId="{1935C1D9-D07C-419A-B523-CF1A7B531B1C}">
      <dsp:nvSpPr>
        <dsp:cNvPr id="0" name=""/>
        <dsp:cNvSpPr/>
      </dsp:nvSpPr>
      <dsp:spPr>
        <a:xfrm>
          <a:off x="117697" y="194421"/>
          <a:ext cx="15553" cy="77768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F5837ACB-7F18-4DF5-BFEE-03B337CE24A9}">
      <dsp:nvSpPr>
        <dsp:cNvPr id="0" name=""/>
        <dsp:cNvSpPr/>
      </dsp:nvSpPr>
      <dsp:spPr>
        <a:xfrm>
          <a:off x="1961464" y="1368728"/>
          <a:ext cx="2841189" cy="365512"/>
        </a:xfrm>
        <a:prstGeom prst="rect">
          <a:avLst/>
        </a:prstGeom>
        <a:noFill/>
        <a:ln>
          <a:noFill/>
        </a:ln>
        <a:effectLst/>
      </dsp:spPr>
      <dsp:style>
        <a:lnRef idx="0">
          <a:scrgbClr r="0" g="0" b="0"/>
        </a:lnRef>
        <a:fillRef idx="0">
          <a:scrgbClr r="0" g="0" b="0"/>
        </a:fillRef>
        <a:effectRef idx="0">
          <a:scrgbClr r="0" g="0" b="0"/>
        </a:effectRef>
        <a:fontRef idx="minor"/>
      </dsp:style>
    </dsp:sp>
    <dsp:sp modelId="{C715489F-2E53-4C5B-BB41-5DAE5CF3CFD2}">
      <dsp:nvSpPr>
        <dsp:cNvPr id="0" name=""/>
        <dsp:cNvSpPr/>
      </dsp:nvSpPr>
      <dsp:spPr>
        <a:xfrm>
          <a:off x="1961464" y="1127645"/>
          <a:ext cx="2841189" cy="241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GB" sz="1200" kern="1200" baseline="0" dirty="0"/>
            <a:t>Would you buy or sell?</a:t>
          </a:r>
          <a:endParaRPr lang="en-GB" sz="1200" kern="1200" dirty="0"/>
        </a:p>
      </dsp:txBody>
      <dsp:txXfrm>
        <a:off x="1961464" y="1127645"/>
        <a:ext cx="2841189" cy="241082"/>
      </dsp:txXfrm>
    </dsp:sp>
    <dsp:sp modelId="{BF5C4683-DFE6-4A8A-9103-B785C036735F}">
      <dsp:nvSpPr>
        <dsp:cNvPr id="0" name=""/>
        <dsp:cNvSpPr/>
      </dsp:nvSpPr>
      <dsp:spPr>
        <a:xfrm>
          <a:off x="1829257" y="972108"/>
          <a:ext cx="15553" cy="77768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937AD9B3-1D5C-41FE-BBB9-FF121EFB9BAA}">
      <dsp:nvSpPr>
        <dsp:cNvPr id="0" name=""/>
        <dsp:cNvSpPr/>
      </dsp:nvSpPr>
      <dsp:spPr>
        <a:xfrm>
          <a:off x="85035" y="931668"/>
          <a:ext cx="80879" cy="80879"/>
        </a:xfrm>
        <a:prstGeom prst="ellipse">
          <a:avLst/>
        </a:prstGeom>
        <a:solidFill>
          <a:scrgbClr r="0" g="0" b="0"/>
        </a:solidFill>
        <a:ln w="400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sp>
    <dsp:sp modelId="{C3B5BCE9-4E80-46A2-B133-390D73ACA735}">
      <dsp:nvSpPr>
        <dsp:cNvPr id="0" name=""/>
        <dsp:cNvSpPr/>
      </dsp:nvSpPr>
      <dsp:spPr>
        <a:xfrm>
          <a:off x="1796595" y="931668"/>
          <a:ext cx="80879" cy="80879"/>
        </a:xfrm>
        <a:prstGeom prst="ellipse">
          <a:avLst/>
        </a:prstGeom>
        <a:solidFill>
          <a:scrgbClr r="0" g="0" b="0"/>
        </a:solidFill>
        <a:ln w="400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sp>
    <dsp:sp modelId="{47E592D5-1518-4194-97C9-D67C34BD6481}">
      <dsp:nvSpPr>
        <dsp:cNvPr id="0" name=""/>
        <dsp:cNvSpPr/>
      </dsp:nvSpPr>
      <dsp:spPr>
        <a:xfrm>
          <a:off x="3673024" y="443281"/>
          <a:ext cx="2841189" cy="451058"/>
        </a:xfrm>
        <a:prstGeom prst="rect">
          <a:avLst/>
        </a:prstGeom>
        <a:noFill/>
        <a:ln>
          <a:noFill/>
        </a:ln>
        <a:effectLst/>
      </dsp:spPr>
      <dsp:style>
        <a:lnRef idx="0">
          <a:scrgbClr r="0" g="0" b="0"/>
        </a:lnRef>
        <a:fillRef idx="0">
          <a:scrgbClr r="0" g="0" b="0"/>
        </a:fillRef>
        <a:effectRef idx="0">
          <a:scrgbClr r="0" g="0" b="0"/>
        </a:effectRef>
        <a:fontRef idx="minor"/>
      </dsp:style>
    </dsp:sp>
    <dsp:sp modelId="{012563D4-0CBE-47A4-8B36-D1CDB10B572B}">
      <dsp:nvSpPr>
        <dsp:cNvPr id="0" name=""/>
        <dsp:cNvSpPr/>
      </dsp:nvSpPr>
      <dsp:spPr>
        <a:xfrm>
          <a:off x="3673024" y="209975"/>
          <a:ext cx="2841189" cy="2333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GB" sz="1200" kern="1200" baseline="0" dirty="0"/>
            <a:t>How much would you be willing to pay?</a:t>
          </a:r>
          <a:endParaRPr lang="en-GB" sz="1200" kern="1200" dirty="0"/>
        </a:p>
      </dsp:txBody>
      <dsp:txXfrm>
        <a:off x="3673024" y="209975"/>
        <a:ext cx="2841189" cy="233305"/>
      </dsp:txXfrm>
    </dsp:sp>
    <dsp:sp modelId="{9EFF1713-C7C6-4545-8EAF-C54AE4B209D7}">
      <dsp:nvSpPr>
        <dsp:cNvPr id="0" name=""/>
        <dsp:cNvSpPr/>
      </dsp:nvSpPr>
      <dsp:spPr>
        <a:xfrm>
          <a:off x="3540817" y="194421"/>
          <a:ext cx="15553" cy="77768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4566F08E-8726-4553-9F7D-5085E664934D}">
      <dsp:nvSpPr>
        <dsp:cNvPr id="0" name=""/>
        <dsp:cNvSpPr/>
      </dsp:nvSpPr>
      <dsp:spPr>
        <a:xfrm>
          <a:off x="5384584" y="1368728"/>
          <a:ext cx="2841189" cy="365512"/>
        </a:xfrm>
        <a:prstGeom prst="rect">
          <a:avLst/>
        </a:prstGeom>
        <a:noFill/>
        <a:ln>
          <a:noFill/>
        </a:ln>
        <a:effectLst/>
      </dsp:spPr>
      <dsp:style>
        <a:lnRef idx="0">
          <a:scrgbClr r="0" g="0" b="0"/>
        </a:lnRef>
        <a:fillRef idx="0">
          <a:scrgbClr r="0" g="0" b="0"/>
        </a:fillRef>
        <a:effectRef idx="0">
          <a:scrgbClr r="0" g="0" b="0"/>
        </a:effectRef>
        <a:fontRef idx="minor"/>
      </dsp:style>
    </dsp:sp>
    <dsp:sp modelId="{8C98E0DA-CB04-4596-B088-C2F5FA84F689}">
      <dsp:nvSpPr>
        <dsp:cNvPr id="0" name=""/>
        <dsp:cNvSpPr/>
      </dsp:nvSpPr>
      <dsp:spPr>
        <a:xfrm>
          <a:off x="5384584" y="1127645"/>
          <a:ext cx="2841189" cy="2410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defRPr b="1"/>
          </a:pPr>
          <a:r>
            <a:rPr lang="en-GB" sz="1200" kern="1200" baseline="0" dirty="0"/>
            <a:t>What drives value?</a:t>
          </a:r>
          <a:endParaRPr lang="en-GB" sz="1200" kern="1200" dirty="0"/>
        </a:p>
      </dsp:txBody>
      <dsp:txXfrm>
        <a:off x="5384584" y="1127645"/>
        <a:ext cx="2841189" cy="241082"/>
      </dsp:txXfrm>
    </dsp:sp>
    <dsp:sp modelId="{5E87CAC7-E465-4A29-A4CD-C078BC128B57}">
      <dsp:nvSpPr>
        <dsp:cNvPr id="0" name=""/>
        <dsp:cNvSpPr/>
      </dsp:nvSpPr>
      <dsp:spPr>
        <a:xfrm>
          <a:off x="5252377" y="972108"/>
          <a:ext cx="15553" cy="777686"/>
        </a:xfrm>
        <a:prstGeom prst="rect">
          <a:avLst/>
        </a:prstGeom>
        <a:gradFill rotWithShape="0">
          <a:gsLst>
            <a:gs pos="0">
              <a:schemeClr val="accent1">
                <a:tint val="76000"/>
              </a:schemeClr>
            </a:gs>
            <a:gs pos="100000">
              <a:schemeClr val="accent1">
                <a:tint val="76000"/>
              </a:schemeClr>
            </a:gs>
          </a:gsLst>
          <a:lin ang="0" scaled="0"/>
        </a:gradFill>
        <a:ln>
          <a:noFill/>
        </a:ln>
        <a:effectLst/>
      </dsp:spPr>
      <dsp:style>
        <a:lnRef idx="0">
          <a:scrgbClr r="0" g="0" b="0"/>
        </a:lnRef>
        <a:fillRef idx="1">
          <a:scrgbClr r="0" g="0" b="0"/>
        </a:fillRef>
        <a:effectRef idx="0">
          <a:scrgbClr r="0" g="0" b="0"/>
        </a:effectRef>
        <a:fontRef idx="minor"/>
      </dsp:style>
    </dsp:sp>
    <dsp:sp modelId="{C71AEF30-7F42-439B-97B0-24E3967A90C2}">
      <dsp:nvSpPr>
        <dsp:cNvPr id="0" name=""/>
        <dsp:cNvSpPr/>
      </dsp:nvSpPr>
      <dsp:spPr>
        <a:xfrm>
          <a:off x="3508155" y="931668"/>
          <a:ext cx="80879" cy="80879"/>
        </a:xfrm>
        <a:prstGeom prst="ellipse">
          <a:avLst/>
        </a:prstGeom>
        <a:solidFill>
          <a:scrgbClr r="0" g="0" b="0"/>
        </a:solidFill>
        <a:ln w="400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sp>
    <dsp:sp modelId="{F9DAFB59-4620-428F-A05E-C6974A0B35AB}">
      <dsp:nvSpPr>
        <dsp:cNvPr id="0" name=""/>
        <dsp:cNvSpPr/>
      </dsp:nvSpPr>
      <dsp:spPr>
        <a:xfrm>
          <a:off x="5219715" y="931668"/>
          <a:ext cx="80879" cy="80879"/>
        </a:xfrm>
        <a:prstGeom prst="ellipse">
          <a:avLst/>
        </a:prstGeom>
        <a:solidFill>
          <a:scrgbClr r="0" g="0" b="0"/>
        </a:solidFill>
        <a:ln w="40000" cap="flat" cmpd="sng" algn="ctr">
          <a:solidFill>
            <a:scrgbClr r="0" g="0" b="0"/>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0AA6E0-72BB-4EF8-9364-1F555131C28B}">
      <dsp:nvSpPr>
        <dsp:cNvPr id="0" name=""/>
        <dsp:cNvSpPr/>
      </dsp:nvSpPr>
      <dsp:spPr>
        <a:xfrm>
          <a:off x="5731380" y="2718563"/>
          <a:ext cx="91440" cy="505840"/>
        </a:xfrm>
        <a:custGeom>
          <a:avLst/>
          <a:gdLst/>
          <a:ahLst/>
          <a:cxnLst/>
          <a:rect l="0" t="0" r="0" b="0"/>
          <a:pathLst>
            <a:path>
              <a:moveTo>
                <a:pt x="45720" y="0"/>
              </a:moveTo>
              <a:lnTo>
                <a:pt x="45720" y="505840"/>
              </a:lnTo>
            </a:path>
          </a:pathLst>
        </a:custGeom>
        <a:noFill/>
        <a:ln w="400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10CB24F-CE5B-493D-8A1C-1D75706C0DBC}">
      <dsp:nvSpPr>
        <dsp:cNvPr id="0" name=""/>
        <dsp:cNvSpPr/>
      </dsp:nvSpPr>
      <dsp:spPr>
        <a:xfrm>
          <a:off x="4182761" y="1108281"/>
          <a:ext cx="1594339" cy="505840"/>
        </a:xfrm>
        <a:custGeom>
          <a:avLst/>
          <a:gdLst/>
          <a:ahLst/>
          <a:cxnLst/>
          <a:rect l="0" t="0" r="0" b="0"/>
          <a:pathLst>
            <a:path>
              <a:moveTo>
                <a:pt x="0" y="0"/>
              </a:moveTo>
              <a:lnTo>
                <a:pt x="0" y="344715"/>
              </a:lnTo>
              <a:lnTo>
                <a:pt x="1594339" y="344715"/>
              </a:lnTo>
              <a:lnTo>
                <a:pt x="1594339" y="505840"/>
              </a:lnTo>
            </a:path>
          </a:pathLst>
        </a:custGeom>
        <a:noFill/>
        <a:ln w="400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D76067E-DC35-44A5-9C03-D14616DE7343}">
      <dsp:nvSpPr>
        <dsp:cNvPr id="0" name=""/>
        <dsp:cNvSpPr/>
      </dsp:nvSpPr>
      <dsp:spPr>
        <a:xfrm>
          <a:off x="2588422" y="2718563"/>
          <a:ext cx="1062892" cy="505840"/>
        </a:xfrm>
        <a:custGeom>
          <a:avLst/>
          <a:gdLst/>
          <a:ahLst/>
          <a:cxnLst/>
          <a:rect l="0" t="0" r="0" b="0"/>
          <a:pathLst>
            <a:path>
              <a:moveTo>
                <a:pt x="0" y="0"/>
              </a:moveTo>
              <a:lnTo>
                <a:pt x="0" y="344715"/>
              </a:lnTo>
              <a:lnTo>
                <a:pt x="1062892" y="344715"/>
              </a:lnTo>
              <a:lnTo>
                <a:pt x="1062892" y="505840"/>
              </a:lnTo>
            </a:path>
          </a:pathLst>
        </a:custGeom>
        <a:noFill/>
        <a:ln w="400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4A2B96-12E3-4290-8305-936F8043EC28}">
      <dsp:nvSpPr>
        <dsp:cNvPr id="0" name=""/>
        <dsp:cNvSpPr/>
      </dsp:nvSpPr>
      <dsp:spPr>
        <a:xfrm>
          <a:off x="1525529" y="2718563"/>
          <a:ext cx="1062892" cy="505840"/>
        </a:xfrm>
        <a:custGeom>
          <a:avLst/>
          <a:gdLst/>
          <a:ahLst/>
          <a:cxnLst/>
          <a:rect l="0" t="0" r="0" b="0"/>
          <a:pathLst>
            <a:path>
              <a:moveTo>
                <a:pt x="1062892" y="0"/>
              </a:moveTo>
              <a:lnTo>
                <a:pt x="1062892" y="344715"/>
              </a:lnTo>
              <a:lnTo>
                <a:pt x="0" y="344715"/>
              </a:lnTo>
              <a:lnTo>
                <a:pt x="0" y="505840"/>
              </a:lnTo>
            </a:path>
          </a:pathLst>
        </a:custGeom>
        <a:noFill/>
        <a:ln w="400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B295ADB-0634-48FF-8429-4D016E801560}">
      <dsp:nvSpPr>
        <dsp:cNvPr id="0" name=""/>
        <dsp:cNvSpPr/>
      </dsp:nvSpPr>
      <dsp:spPr>
        <a:xfrm>
          <a:off x="2588422" y="1108281"/>
          <a:ext cx="1594339" cy="505840"/>
        </a:xfrm>
        <a:custGeom>
          <a:avLst/>
          <a:gdLst/>
          <a:ahLst/>
          <a:cxnLst/>
          <a:rect l="0" t="0" r="0" b="0"/>
          <a:pathLst>
            <a:path>
              <a:moveTo>
                <a:pt x="1594339" y="0"/>
              </a:moveTo>
              <a:lnTo>
                <a:pt x="1594339" y="344715"/>
              </a:lnTo>
              <a:lnTo>
                <a:pt x="0" y="344715"/>
              </a:lnTo>
              <a:lnTo>
                <a:pt x="0" y="505840"/>
              </a:lnTo>
            </a:path>
          </a:pathLst>
        </a:custGeom>
        <a:noFill/>
        <a:ln w="400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EDCE8C1-CB86-44F4-95C5-5342BE25D359}">
      <dsp:nvSpPr>
        <dsp:cNvPr id="0" name=""/>
        <dsp:cNvSpPr/>
      </dsp:nvSpPr>
      <dsp:spPr>
        <a:xfrm>
          <a:off x="3313121" y="3839"/>
          <a:ext cx="1739279" cy="1104442"/>
        </a:xfrm>
        <a:prstGeom prst="roundRect">
          <a:avLst>
            <a:gd name="adj" fmla="val 10000"/>
          </a:avLst>
        </a:prstGeom>
        <a:solidFill>
          <a:schemeClr val="accent1">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AFA754-4133-4D59-8A32-DCF041AC9820}">
      <dsp:nvSpPr>
        <dsp:cNvPr id="0" name=""/>
        <dsp:cNvSpPr/>
      </dsp:nvSpPr>
      <dsp:spPr>
        <a:xfrm>
          <a:off x="3506374" y="187429"/>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Value</a:t>
          </a:r>
        </a:p>
      </dsp:txBody>
      <dsp:txXfrm>
        <a:off x="3538722" y="219777"/>
        <a:ext cx="1674583" cy="1039746"/>
      </dsp:txXfrm>
    </dsp:sp>
    <dsp:sp modelId="{1247F1BA-DC7B-4E58-8719-5DE2D6A036CB}">
      <dsp:nvSpPr>
        <dsp:cNvPr id="0" name=""/>
        <dsp:cNvSpPr/>
      </dsp:nvSpPr>
      <dsp:spPr>
        <a:xfrm>
          <a:off x="1718782" y="1614121"/>
          <a:ext cx="1739279" cy="1104442"/>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6BA87B4-813B-4203-A694-E17DACDD435D}">
      <dsp:nvSpPr>
        <dsp:cNvPr id="0" name=""/>
        <dsp:cNvSpPr/>
      </dsp:nvSpPr>
      <dsp:spPr>
        <a:xfrm>
          <a:off x="1912035" y="1797712"/>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Cash Flows</a:t>
          </a:r>
        </a:p>
      </dsp:txBody>
      <dsp:txXfrm>
        <a:off x="1944383" y="1830060"/>
        <a:ext cx="1674583" cy="1039746"/>
      </dsp:txXfrm>
    </dsp:sp>
    <dsp:sp modelId="{27358E0F-E69B-4786-9A91-B07811F8577F}">
      <dsp:nvSpPr>
        <dsp:cNvPr id="0" name=""/>
        <dsp:cNvSpPr/>
      </dsp:nvSpPr>
      <dsp:spPr>
        <a:xfrm>
          <a:off x="655889" y="3224404"/>
          <a:ext cx="1739279" cy="1104442"/>
        </a:xfrm>
        <a:prstGeom prst="roundRect">
          <a:avLst>
            <a:gd name="adj" fmla="val 10000"/>
          </a:avLst>
        </a:prstGeom>
        <a:solidFill>
          <a:schemeClr val="accent4">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7EE71E3-8151-494E-951B-8E865DF557A2}">
      <dsp:nvSpPr>
        <dsp:cNvPr id="0" name=""/>
        <dsp:cNvSpPr/>
      </dsp:nvSpPr>
      <dsp:spPr>
        <a:xfrm>
          <a:off x="849142" y="3407994"/>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ROIC</a:t>
          </a:r>
        </a:p>
      </dsp:txBody>
      <dsp:txXfrm>
        <a:off x="881490" y="3440342"/>
        <a:ext cx="1674583" cy="1039746"/>
      </dsp:txXfrm>
    </dsp:sp>
    <dsp:sp modelId="{9CFCB95F-B2A5-402C-A9FA-9DABC3659FA2}">
      <dsp:nvSpPr>
        <dsp:cNvPr id="0" name=""/>
        <dsp:cNvSpPr/>
      </dsp:nvSpPr>
      <dsp:spPr>
        <a:xfrm>
          <a:off x="2781675" y="3224404"/>
          <a:ext cx="1739279" cy="1104442"/>
        </a:xfrm>
        <a:prstGeom prst="roundRect">
          <a:avLst>
            <a:gd name="adj" fmla="val 10000"/>
          </a:avLst>
        </a:prstGeom>
        <a:solidFill>
          <a:schemeClr val="accent4">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A6B1E93-CFCF-4920-8500-4EA3D1F8D4BF}">
      <dsp:nvSpPr>
        <dsp:cNvPr id="0" name=""/>
        <dsp:cNvSpPr/>
      </dsp:nvSpPr>
      <dsp:spPr>
        <a:xfrm>
          <a:off x="2974928" y="3407994"/>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Growth</a:t>
          </a:r>
        </a:p>
      </dsp:txBody>
      <dsp:txXfrm>
        <a:off x="3007276" y="3440342"/>
        <a:ext cx="1674583" cy="1039746"/>
      </dsp:txXfrm>
    </dsp:sp>
    <dsp:sp modelId="{6F1CE85E-23FB-4A7D-A579-EAEF34022DC2}">
      <dsp:nvSpPr>
        <dsp:cNvPr id="0" name=""/>
        <dsp:cNvSpPr/>
      </dsp:nvSpPr>
      <dsp:spPr>
        <a:xfrm>
          <a:off x="4907460" y="1614121"/>
          <a:ext cx="1739279" cy="1104442"/>
        </a:xfrm>
        <a:prstGeom prst="roundRect">
          <a:avLst>
            <a:gd name="adj" fmla="val 10000"/>
          </a:avLst>
        </a:prstGeom>
        <a:solidFill>
          <a:schemeClr val="accent3">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A665C77-BA8D-499A-AE29-71B5DFB4F0F3}">
      <dsp:nvSpPr>
        <dsp:cNvPr id="0" name=""/>
        <dsp:cNvSpPr/>
      </dsp:nvSpPr>
      <dsp:spPr>
        <a:xfrm>
          <a:off x="5100714" y="1797712"/>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Risk</a:t>
          </a:r>
        </a:p>
      </dsp:txBody>
      <dsp:txXfrm>
        <a:off x="5133062" y="1830060"/>
        <a:ext cx="1674583" cy="1039746"/>
      </dsp:txXfrm>
    </dsp:sp>
    <dsp:sp modelId="{93B65044-DDD9-46CA-81AB-E36E7C44CFF0}">
      <dsp:nvSpPr>
        <dsp:cNvPr id="0" name=""/>
        <dsp:cNvSpPr/>
      </dsp:nvSpPr>
      <dsp:spPr>
        <a:xfrm>
          <a:off x="4907460" y="3224404"/>
          <a:ext cx="1739279" cy="1104442"/>
        </a:xfrm>
        <a:prstGeom prst="roundRect">
          <a:avLst>
            <a:gd name="adj" fmla="val 10000"/>
          </a:avLst>
        </a:prstGeom>
        <a:solidFill>
          <a:schemeClr val="accent4">
            <a:hueOff val="0"/>
            <a:satOff val="0"/>
            <a:lumOff val="0"/>
            <a:alphaOff val="0"/>
          </a:schemeClr>
        </a:solidFill>
        <a:ln w="400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758C58-6368-42ED-A283-B2B1776DDB87}">
      <dsp:nvSpPr>
        <dsp:cNvPr id="0" name=""/>
        <dsp:cNvSpPr/>
      </dsp:nvSpPr>
      <dsp:spPr>
        <a:xfrm>
          <a:off x="5100714" y="3407994"/>
          <a:ext cx="1739279" cy="1104442"/>
        </a:xfrm>
        <a:prstGeom prst="roundRect">
          <a:avLst>
            <a:gd name="adj" fmla="val 10000"/>
          </a:avLst>
        </a:prstGeom>
        <a:solidFill>
          <a:schemeClr val="lt1">
            <a:alpha val="90000"/>
            <a:hueOff val="0"/>
            <a:satOff val="0"/>
            <a:lumOff val="0"/>
            <a:alphaOff val="0"/>
          </a:schemeClr>
        </a:solidFill>
        <a:ln w="400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GB" sz="3000" kern="1200" dirty="0"/>
            <a:t>Cost of Capital</a:t>
          </a:r>
        </a:p>
      </dsp:txBody>
      <dsp:txXfrm>
        <a:off x="5133062" y="3440342"/>
        <a:ext cx="1674583" cy="10397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3A3EC1-5EF2-440F-A396-30297A37AEDF}">
      <dsp:nvSpPr>
        <dsp:cNvPr id="0" name=""/>
        <dsp:cNvSpPr/>
      </dsp:nvSpPr>
      <dsp:spPr>
        <a:xfrm>
          <a:off x="324036" y="0"/>
          <a:ext cx="8280919" cy="4525963"/>
        </a:xfrm>
        <a:prstGeom prst="swooshArrow">
          <a:avLst>
            <a:gd name="adj1" fmla="val 25000"/>
            <a:gd name="adj2" fmla="val 25000"/>
          </a:avLst>
        </a:prstGeom>
        <a:gradFill rotWithShape="0">
          <a:gsLst>
            <a:gs pos="0">
              <a:schemeClr val="accent1">
                <a:tint val="40000"/>
                <a:hueOff val="0"/>
                <a:satOff val="0"/>
                <a:lumOff val="0"/>
                <a:alphaOff val="0"/>
                <a:tint val="74000"/>
              </a:schemeClr>
            </a:gs>
            <a:gs pos="49000">
              <a:schemeClr val="accent1">
                <a:tint val="40000"/>
                <a:hueOff val="0"/>
                <a:satOff val="0"/>
                <a:lumOff val="0"/>
                <a:alphaOff val="0"/>
                <a:tint val="96000"/>
                <a:shade val="84000"/>
                <a:satMod val="110000"/>
              </a:schemeClr>
            </a:gs>
            <a:gs pos="49100">
              <a:schemeClr val="accent1">
                <a:tint val="40000"/>
                <a:hueOff val="0"/>
                <a:satOff val="0"/>
                <a:lumOff val="0"/>
                <a:alphaOff val="0"/>
                <a:shade val="55000"/>
                <a:satMod val="150000"/>
              </a:schemeClr>
            </a:gs>
            <a:gs pos="92000">
              <a:schemeClr val="accent1">
                <a:tint val="40000"/>
                <a:hueOff val="0"/>
                <a:satOff val="0"/>
                <a:lumOff val="0"/>
                <a:alphaOff val="0"/>
                <a:tint val="98000"/>
                <a:shade val="90000"/>
                <a:satMod val="128000"/>
              </a:schemeClr>
            </a:gs>
            <a:gs pos="100000">
              <a:schemeClr val="accent1">
                <a:tint val="40000"/>
                <a:hueOff val="0"/>
                <a:satOff val="0"/>
                <a:lumOff val="0"/>
                <a:alphaOff val="0"/>
                <a:tint val="90000"/>
                <a:shade val="97000"/>
                <a:satMod val="128000"/>
              </a:schemeClr>
            </a:gs>
          </a:gsLst>
          <a:lin ang="5400000" scaled="1"/>
        </a:gradFill>
        <a:ln>
          <a:noFill/>
        </a:ln>
        <a:effectLst/>
        <a:scene3d>
          <a:camera prst="orthographicFront"/>
          <a:lightRig rig="threePt" dir="t">
            <a:rot lat="0" lon="0" rev="7500000"/>
          </a:lightRig>
        </a:scene3d>
        <a:sp3d z="-152400" extrusionH="63500" prstMaterial="matte">
          <a:bevelT w="144450" h="6350" prst="relaxedInset"/>
          <a:contourClr>
            <a:schemeClr val="bg1"/>
          </a:contourClr>
        </a:sp3d>
      </dsp:spPr>
      <dsp:style>
        <a:lnRef idx="0">
          <a:scrgbClr r="0" g="0" b="0"/>
        </a:lnRef>
        <a:fillRef idx="3">
          <a:scrgbClr r="0" g="0" b="0"/>
        </a:fillRef>
        <a:effectRef idx="0">
          <a:scrgbClr r="0" g="0" b="0"/>
        </a:effectRef>
        <a:fontRef idx="minor"/>
      </dsp:style>
    </dsp:sp>
    <dsp:sp modelId="{A8E626A8-F9F8-4CC5-A994-34FD6A921425}">
      <dsp:nvSpPr>
        <dsp:cNvPr id="0" name=""/>
        <dsp:cNvSpPr/>
      </dsp:nvSpPr>
      <dsp:spPr>
        <a:xfrm>
          <a:off x="1557017" y="3365506"/>
          <a:ext cx="166555" cy="166555"/>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B58E6758-9E36-469D-845C-8334D0E55426}">
      <dsp:nvSpPr>
        <dsp:cNvPr id="0" name=""/>
        <dsp:cNvSpPr/>
      </dsp:nvSpPr>
      <dsp:spPr>
        <a:xfrm>
          <a:off x="1640295" y="3448783"/>
          <a:ext cx="1238303" cy="10771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8254" tIns="0" rIns="0" bIns="0" numCol="1" spcCol="1270" anchor="t" anchorCtr="0">
          <a:noAutofit/>
        </a:bodyPr>
        <a:lstStyle/>
        <a:p>
          <a:pPr marL="0" lvl="0" indent="0" algn="ctr" defTabSz="1066800">
            <a:lnSpc>
              <a:spcPct val="90000"/>
            </a:lnSpc>
            <a:spcBef>
              <a:spcPct val="0"/>
            </a:spcBef>
            <a:spcAft>
              <a:spcPct val="35000"/>
            </a:spcAft>
            <a:buNone/>
          </a:pPr>
          <a:r>
            <a:rPr lang="en-GB" sz="2400" kern="1200" dirty="0"/>
            <a:t>Optimal Financing Mix</a:t>
          </a:r>
        </a:p>
      </dsp:txBody>
      <dsp:txXfrm>
        <a:off x="1640295" y="3448783"/>
        <a:ext cx="1238303" cy="1077179"/>
      </dsp:txXfrm>
    </dsp:sp>
    <dsp:sp modelId="{5184438E-6F89-4DE2-842E-D82CC365027F}">
      <dsp:nvSpPr>
        <dsp:cNvPr id="0" name=""/>
        <dsp:cNvSpPr/>
      </dsp:nvSpPr>
      <dsp:spPr>
        <a:xfrm>
          <a:off x="2733767" y="2312767"/>
          <a:ext cx="289661" cy="289661"/>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B56CFC3-EF52-49B2-9909-97706F1E27D8}">
      <dsp:nvSpPr>
        <dsp:cNvPr id="0" name=""/>
        <dsp:cNvSpPr/>
      </dsp:nvSpPr>
      <dsp:spPr>
        <a:xfrm>
          <a:off x="2878598" y="2457597"/>
          <a:ext cx="1520723" cy="20683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3486" tIns="0" rIns="0" bIns="0" numCol="1" spcCol="1270" anchor="t" anchorCtr="0">
          <a:noAutofit/>
        </a:bodyPr>
        <a:lstStyle/>
        <a:p>
          <a:pPr marL="0" lvl="0" indent="0" algn="ctr" defTabSz="1066800">
            <a:lnSpc>
              <a:spcPct val="90000"/>
            </a:lnSpc>
            <a:spcBef>
              <a:spcPct val="0"/>
            </a:spcBef>
            <a:spcAft>
              <a:spcPct val="35000"/>
            </a:spcAft>
            <a:buNone/>
          </a:pPr>
          <a:r>
            <a:rPr lang="en-GB" sz="2400" kern="1200" dirty="0"/>
            <a:t>Invest in Profitable Projects</a:t>
          </a:r>
        </a:p>
      </dsp:txBody>
      <dsp:txXfrm>
        <a:off x="2878598" y="2457597"/>
        <a:ext cx="1520723" cy="2068365"/>
      </dsp:txXfrm>
    </dsp:sp>
    <dsp:sp modelId="{E35F53E2-0B20-4472-81EE-0F7F3FAA9002}">
      <dsp:nvSpPr>
        <dsp:cNvPr id="0" name=""/>
        <dsp:cNvSpPr/>
      </dsp:nvSpPr>
      <dsp:spPr>
        <a:xfrm>
          <a:off x="4236387" y="1537017"/>
          <a:ext cx="383801" cy="383801"/>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B38B70E9-0DAB-4073-9D5D-F99B942D4150}">
      <dsp:nvSpPr>
        <dsp:cNvPr id="0" name=""/>
        <dsp:cNvSpPr/>
      </dsp:nvSpPr>
      <dsp:spPr>
        <a:xfrm>
          <a:off x="4428288" y="1728917"/>
          <a:ext cx="1520723" cy="27970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369" tIns="0" rIns="0" bIns="0" numCol="1" spcCol="1270" anchor="t" anchorCtr="0">
          <a:noAutofit/>
        </a:bodyPr>
        <a:lstStyle/>
        <a:p>
          <a:pPr marL="0" lvl="0" indent="0" algn="ctr" defTabSz="1066800">
            <a:lnSpc>
              <a:spcPct val="90000"/>
            </a:lnSpc>
            <a:spcBef>
              <a:spcPct val="0"/>
            </a:spcBef>
            <a:spcAft>
              <a:spcPct val="35000"/>
            </a:spcAft>
            <a:buNone/>
          </a:pPr>
          <a:r>
            <a:rPr lang="en-GB" sz="2400" kern="1200" dirty="0"/>
            <a:t>Decide how profits are utilized</a:t>
          </a:r>
        </a:p>
      </dsp:txBody>
      <dsp:txXfrm>
        <a:off x="4428288" y="1728917"/>
        <a:ext cx="1520723" cy="2797045"/>
      </dsp:txXfrm>
    </dsp:sp>
    <dsp:sp modelId="{CC87F0C7-FA40-438A-BF4E-44CA47156CE6}">
      <dsp:nvSpPr>
        <dsp:cNvPr id="0" name=""/>
        <dsp:cNvSpPr/>
      </dsp:nvSpPr>
      <dsp:spPr>
        <a:xfrm>
          <a:off x="5872975" y="1023772"/>
          <a:ext cx="514149" cy="514149"/>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0A9B357-EDCF-42AD-AC66-BA1484709B9B}">
      <dsp:nvSpPr>
        <dsp:cNvPr id="0" name=""/>
        <dsp:cNvSpPr/>
      </dsp:nvSpPr>
      <dsp:spPr>
        <a:xfrm>
          <a:off x="6130050" y="1280847"/>
          <a:ext cx="1520723" cy="32451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2437" tIns="0" rIns="0" bIns="0" numCol="1" spcCol="1270" anchor="t" anchorCtr="0">
          <a:noAutofit/>
        </a:bodyPr>
        <a:lstStyle/>
        <a:p>
          <a:pPr marL="0" lvl="0" indent="0" algn="ctr" defTabSz="1066800">
            <a:lnSpc>
              <a:spcPct val="90000"/>
            </a:lnSpc>
            <a:spcBef>
              <a:spcPct val="0"/>
            </a:spcBef>
            <a:spcAft>
              <a:spcPct val="35000"/>
            </a:spcAft>
            <a:buNone/>
          </a:pPr>
          <a:r>
            <a:rPr lang="en-GB" sz="2400" kern="1200" dirty="0"/>
            <a:t>Increase Share Value</a:t>
          </a:r>
        </a:p>
      </dsp:txBody>
      <dsp:txXfrm>
        <a:off x="6130050" y="1280847"/>
        <a:ext cx="1520723" cy="32451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5DFA8-4C01-4113-92A5-351E481A4B05}">
      <dsp:nvSpPr>
        <dsp:cNvPr id="0" name=""/>
        <dsp:cNvSpPr/>
      </dsp:nvSpPr>
      <dsp:spPr>
        <a:xfrm>
          <a:off x="3066728" y="2184545"/>
          <a:ext cx="2096143" cy="959500"/>
        </a:xfrm>
        <a:prstGeom prst="ellipse">
          <a:avLst/>
        </a:prstGeom>
        <a:gradFill rotWithShape="0">
          <a:gsLst>
            <a:gs pos="0">
              <a:schemeClr val="accent1">
                <a:hueOff val="0"/>
                <a:satOff val="0"/>
                <a:lumOff val="0"/>
                <a:alphaOff val="0"/>
                <a:tint val="74000"/>
              </a:schemeClr>
            </a:gs>
            <a:gs pos="49000">
              <a:schemeClr val="accent1">
                <a:hueOff val="0"/>
                <a:satOff val="0"/>
                <a:lumOff val="0"/>
                <a:alphaOff val="0"/>
                <a:tint val="96000"/>
                <a:shade val="84000"/>
                <a:satMod val="110000"/>
              </a:schemeClr>
            </a:gs>
            <a:gs pos="49100">
              <a:schemeClr val="accent1">
                <a:hueOff val="0"/>
                <a:satOff val="0"/>
                <a:lumOff val="0"/>
                <a:alphaOff val="0"/>
                <a:shade val="55000"/>
                <a:satMod val="150000"/>
              </a:schemeClr>
            </a:gs>
            <a:gs pos="92000">
              <a:schemeClr val="accent1">
                <a:hueOff val="0"/>
                <a:satOff val="0"/>
                <a:lumOff val="0"/>
                <a:alphaOff val="0"/>
                <a:tint val="98000"/>
                <a:shade val="90000"/>
                <a:satMod val="128000"/>
              </a:schemeClr>
            </a:gs>
            <a:gs pos="100000">
              <a:schemeClr val="accent1">
                <a:hueOff val="0"/>
                <a:satOff val="0"/>
                <a:lumOff val="0"/>
                <a:alphaOff val="0"/>
                <a:tint val="90000"/>
                <a:shade val="97000"/>
                <a:satMod val="128000"/>
              </a:schemeClr>
            </a:gs>
          </a:gsLst>
          <a:lin ang="5400000" scaled="1"/>
        </a:gradFill>
        <a:ln>
          <a:noFill/>
        </a:ln>
        <a:effectLst>
          <a:outerShdw blurRad="39000" dist="25400" dir="5400000" rotWithShape="0">
            <a:schemeClr val="accent1">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Managers</a:t>
          </a:r>
        </a:p>
      </dsp:txBody>
      <dsp:txXfrm>
        <a:off x="3373701" y="2325061"/>
        <a:ext cx="1482197" cy="678468"/>
      </dsp:txXfrm>
    </dsp:sp>
    <dsp:sp modelId="{BE657DE8-4043-491F-8200-D94683FBA2B9}">
      <dsp:nvSpPr>
        <dsp:cNvPr id="0" name=""/>
        <dsp:cNvSpPr/>
      </dsp:nvSpPr>
      <dsp:spPr>
        <a:xfrm rot="16200000">
          <a:off x="3968872" y="1679403"/>
          <a:ext cx="291854" cy="476135"/>
        </a:xfrm>
        <a:prstGeom prst="rightArrow">
          <a:avLst>
            <a:gd name="adj1" fmla="val 60000"/>
            <a:gd name="adj2" fmla="val 50000"/>
          </a:avLst>
        </a:prstGeom>
        <a:solidFill>
          <a:schemeClr val="accent2">
            <a:hueOff val="0"/>
            <a:satOff val="0"/>
            <a:lumOff val="0"/>
            <a:alphaOff val="0"/>
          </a:schemeClr>
        </a:soli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4012650" y="1818408"/>
        <a:ext cx="204298" cy="285681"/>
      </dsp:txXfrm>
    </dsp:sp>
    <dsp:sp modelId="{F0A391E1-F295-4C8F-91CA-34FF7EBFC3A7}">
      <dsp:nvSpPr>
        <dsp:cNvPr id="0" name=""/>
        <dsp:cNvSpPr/>
      </dsp:nvSpPr>
      <dsp:spPr>
        <a:xfrm>
          <a:off x="3024337" y="-226257"/>
          <a:ext cx="2180924" cy="1860134"/>
        </a:xfrm>
        <a:prstGeom prst="ellipse">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Owners</a:t>
          </a:r>
        </a:p>
      </dsp:txBody>
      <dsp:txXfrm>
        <a:off x="3343726" y="46153"/>
        <a:ext cx="1542146" cy="1315314"/>
      </dsp:txXfrm>
    </dsp:sp>
    <dsp:sp modelId="{396993C5-A660-4FEF-95FE-80F871453B3E}">
      <dsp:nvSpPr>
        <dsp:cNvPr id="0" name=""/>
        <dsp:cNvSpPr/>
      </dsp:nvSpPr>
      <dsp:spPr>
        <a:xfrm>
          <a:off x="5357748" y="2426228"/>
          <a:ext cx="469476" cy="476135"/>
        </a:xfrm>
        <a:prstGeom prst="rightArrow">
          <a:avLst>
            <a:gd name="adj1" fmla="val 60000"/>
            <a:gd name="adj2" fmla="val 50000"/>
          </a:avLst>
        </a:prstGeom>
        <a:solidFill>
          <a:schemeClr val="accent2">
            <a:hueOff val="2250663"/>
            <a:satOff val="834"/>
            <a:lumOff val="2549"/>
            <a:alphaOff val="0"/>
          </a:schemeClr>
        </a:solidFill>
        <a:ln>
          <a:noFill/>
        </a:ln>
        <a:effectLst>
          <a:outerShdw blurRad="39000" dist="25400" dir="5400000" rotWithShape="0">
            <a:schemeClr val="accent2">
              <a:hueOff val="2250663"/>
              <a:satOff val="834"/>
              <a:lumOff val="2549"/>
              <a:alphaOff val="0"/>
              <a:shade val="33000"/>
              <a:alpha val="83000"/>
            </a:scheme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5357748" y="2521455"/>
        <a:ext cx="328633" cy="285681"/>
      </dsp:txXfrm>
    </dsp:sp>
    <dsp:sp modelId="{67F3DE2B-E7E2-4F68-B5C1-6A19200F553D}">
      <dsp:nvSpPr>
        <dsp:cNvPr id="0" name=""/>
        <dsp:cNvSpPr/>
      </dsp:nvSpPr>
      <dsp:spPr>
        <a:xfrm>
          <a:off x="6048675" y="1734228"/>
          <a:ext cx="2180924" cy="1860134"/>
        </a:xfrm>
        <a:prstGeom prst="ellipse">
          <a:avLst/>
        </a:prstGeom>
        <a:gradFill rotWithShape="0">
          <a:gsLst>
            <a:gs pos="0">
              <a:schemeClr val="accent2">
                <a:hueOff val="2250663"/>
                <a:satOff val="834"/>
                <a:lumOff val="2549"/>
                <a:alphaOff val="0"/>
                <a:tint val="74000"/>
              </a:schemeClr>
            </a:gs>
            <a:gs pos="49000">
              <a:schemeClr val="accent2">
                <a:hueOff val="2250663"/>
                <a:satOff val="834"/>
                <a:lumOff val="2549"/>
                <a:alphaOff val="0"/>
                <a:tint val="96000"/>
                <a:shade val="84000"/>
                <a:satMod val="110000"/>
              </a:schemeClr>
            </a:gs>
            <a:gs pos="49100">
              <a:schemeClr val="accent2">
                <a:hueOff val="2250663"/>
                <a:satOff val="834"/>
                <a:lumOff val="2549"/>
                <a:alphaOff val="0"/>
                <a:shade val="55000"/>
                <a:satMod val="150000"/>
              </a:schemeClr>
            </a:gs>
            <a:gs pos="92000">
              <a:schemeClr val="accent2">
                <a:hueOff val="2250663"/>
                <a:satOff val="834"/>
                <a:lumOff val="2549"/>
                <a:alphaOff val="0"/>
                <a:tint val="98000"/>
                <a:shade val="90000"/>
                <a:satMod val="128000"/>
              </a:schemeClr>
            </a:gs>
            <a:gs pos="100000">
              <a:schemeClr val="accent2">
                <a:hueOff val="2250663"/>
                <a:satOff val="834"/>
                <a:lumOff val="2549"/>
                <a:alphaOff val="0"/>
                <a:tint val="90000"/>
                <a:shade val="97000"/>
                <a:satMod val="128000"/>
              </a:schemeClr>
            </a:gs>
          </a:gsLst>
          <a:lin ang="5400000" scaled="1"/>
        </a:gradFill>
        <a:ln>
          <a:noFill/>
        </a:ln>
        <a:effectLst>
          <a:outerShdw blurRad="39000" dist="25400" dir="5400000" rotWithShape="0">
            <a:schemeClr val="accent2">
              <a:hueOff val="2250663"/>
              <a:satOff val="834"/>
              <a:lumOff val="2549"/>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Society</a:t>
          </a:r>
        </a:p>
      </dsp:txBody>
      <dsp:txXfrm>
        <a:off x="6368064" y="2006638"/>
        <a:ext cx="1542146" cy="1315314"/>
      </dsp:txXfrm>
    </dsp:sp>
    <dsp:sp modelId="{07665A25-6D73-45C2-97B0-8BCE9652247F}">
      <dsp:nvSpPr>
        <dsp:cNvPr id="0" name=""/>
        <dsp:cNvSpPr/>
      </dsp:nvSpPr>
      <dsp:spPr>
        <a:xfrm rot="5400000">
          <a:off x="3968872" y="3173052"/>
          <a:ext cx="291854" cy="476135"/>
        </a:xfrm>
        <a:prstGeom prst="rightArrow">
          <a:avLst>
            <a:gd name="adj1" fmla="val 60000"/>
            <a:gd name="adj2" fmla="val 50000"/>
          </a:avLst>
        </a:prstGeom>
        <a:solidFill>
          <a:schemeClr val="accent2">
            <a:hueOff val="4501327"/>
            <a:satOff val="1667"/>
            <a:lumOff val="5097"/>
            <a:alphaOff val="0"/>
          </a:schemeClr>
        </a:solidFill>
        <a:ln>
          <a:noFill/>
        </a:ln>
        <a:effectLst>
          <a:outerShdw blurRad="39000" dist="25400" dir="5400000" rotWithShape="0">
            <a:schemeClr val="accent2">
              <a:hueOff val="4501327"/>
              <a:satOff val="1667"/>
              <a:lumOff val="5097"/>
              <a:alphaOff val="0"/>
              <a:shade val="33000"/>
              <a:alpha val="83000"/>
            </a:scheme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a:off x="4012650" y="3224501"/>
        <a:ext cx="204298" cy="285681"/>
      </dsp:txXfrm>
    </dsp:sp>
    <dsp:sp modelId="{2CF9D6F6-5B34-41F4-9FFE-FB8DBE14F0D1}">
      <dsp:nvSpPr>
        <dsp:cNvPr id="0" name=""/>
        <dsp:cNvSpPr/>
      </dsp:nvSpPr>
      <dsp:spPr>
        <a:xfrm>
          <a:off x="3024337" y="3694714"/>
          <a:ext cx="2180924" cy="1860134"/>
        </a:xfrm>
        <a:prstGeom prst="ellipse">
          <a:avLst/>
        </a:prstGeom>
        <a:gradFill rotWithShape="0">
          <a:gsLst>
            <a:gs pos="0">
              <a:schemeClr val="accent2">
                <a:hueOff val="4501327"/>
                <a:satOff val="1667"/>
                <a:lumOff val="5097"/>
                <a:alphaOff val="0"/>
                <a:tint val="74000"/>
              </a:schemeClr>
            </a:gs>
            <a:gs pos="49000">
              <a:schemeClr val="accent2">
                <a:hueOff val="4501327"/>
                <a:satOff val="1667"/>
                <a:lumOff val="5097"/>
                <a:alphaOff val="0"/>
                <a:tint val="96000"/>
                <a:shade val="84000"/>
                <a:satMod val="110000"/>
              </a:schemeClr>
            </a:gs>
            <a:gs pos="49100">
              <a:schemeClr val="accent2">
                <a:hueOff val="4501327"/>
                <a:satOff val="1667"/>
                <a:lumOff val="5097"/>
                <a:alphaOff val="0"/>
                <a:shade val="55000"/>
                <a:satMod val="150000"/>
              </a:schemeClr>
            </a:gs>
            <a:gs pos="92000">
              <a:schemeClr val="accent2">
                <a:hueOff val="4501327"/>
                <a:satOff val="1667"/>
                <a:lumOff val="5097"/>
                <a:alphaOff val="0"/>
                <a:tint val="98000"/>
                <a:shade val="90000"/>
                <a:satMod val="128000"/>
              </a:schemeClr>
            </a:gs>
            <a:gs pos="100000">
              <a:schemeClr val="accent2">
                <a:hueOff val="4501327"/>
                <a:satOff val="1667"/>
                <a:lumOff val="5097"/>
                <a:alphaOff val="0"/>
                <a:tint val="90000"/>
                <a:shade val="97000"/>
                <a:satMod val="128000"/>
              </a:schemeClr>
            </a:gs>
          </a:gsLst>
          <a:lin ang="5400000" scaled="1"/>
        </a:gradFill>
        <a:ln>
          <a:noFill/>
        </a:ln>
        <a:effectLst>
          <a:outerShdw blurRad="39000" dist="25400" dir="5400000" rotWithShape="0">
            <a:schemeClr val="accent2">
              <a:hueOff val="4501327"/>
              <a:satOff val="1667"/>
              <a:lumOff val="5097"/>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a:t>Markets</a:t>
          </a:r>
          <a:endParaRPr lang="en-GB" sz="2400" kern="1200" dirty="0"/>
        </a:p>
      </dsp:txBody>
      <dsp:txXfrm>
        <a:off x="3343726" y="3967124"/>
        <a:ext cx="1542146" cy="1315314"/>
      </dsp:txXfrm>
    </dsp:sp>
    <dsp:sp modelId="{139CF41D-4B1C-4D32-AB04-E84D77C39BFA}">
      <dsp:nvSpPr>
        <dsp:cNvPr id="0" name=""/>
        <dsp:cNvSpPr/>
      </dsp:nvSpPr>
      <dsp:spPr>
        <a:xfrm rot="10800000">
          <a:off x="2402375" y="2426228"/>
          <a:ext cx="469476" cy="476135"/>
        </a:xfrm>
        <a:prstGeom prst="rightArrow">
          <a:avLst>
            <a:gd name="adj1" fmla="val 60000"/>
            <a:gd name="adj2" fmla="val 50000"/>
          </a:avLst>
        </a:prstGeom>
        <a:solidFill>
          <a:schemeClr val="accent2">
            <a:hueOff val="6751989"/>
            <a:satOff val="2501"/>
            <a:lumOff val="7646"/>
            <a:alphaOff val="0"/>
          </a:schemeClr>
        </a:solidFill>
        <a:ln>
          <a:noFill/>
        </a:ln>
        <a:effectLst>
          <a:outerShdw blurRad="39000" dist="25400" dir="5400000" rotWithShape="0">
            <a:schemeClr val="accent2">
              <a:hueOff val="6751989"/>
              <a:satOff val="2501"/>
              <a:lumOff val="7646"/>
              <a:alphaOff val="0"/>
              <a:shade val="33000"/>
              <a:alpha val="83000"/>
            </a:scheme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GB" sz="2100" kern="1200"/>
        </a:p>
      </dsp:txBody>
      <dsp:txXfrm rot="10800000">
        <a:off x="2543218" y="2521455"/>
        <a:ext cx="328633" cy="285681"/>
      </dsp:txXfrm>
    </dsp:sp>
    <dsp:sp modelId="{1D5DE4D4-6125-4369-866B-432E3F2F2808}">
      <dsp:nvSpPr>
        <dsp:cNvPr id="0" name=""/>
        <dsp:cNvSpPr/>
      </dsp:nvSpPr>
      <dsp:spPr>
        <a:xfrm>
          <a:off x="0" y="1734228"/>
          <a:ext cx="2180924" cy="1860134"/>
        </a:xfrm>
        <a:prstGeom prst="ellipse">
          <a:avLst/>
        </a:prstGeom>
        <a:gradFill rotWithShape="0">
          <a:gsLst>
            <a:gs pos="0">
              <a:schemeClr val="accent2">
                <a:hueOff val="6751989"/>
                <a:satOff val="2501"/>
                <a:lumOff val="7646"/>
                <a:alphaOff val="0"/>
                <a:tint val="74000"/>
              </a:schemeClr>
            </a:gs>
            <a:gs pos="49000">
              <a:schemeClr val="accent2">
                <a:hueOff val="6751989"/>
                <a:satOff val="2501"/>
                <a:lumOff val="7646"/>
                <a:alphaOff val="0"/>
                <a:tint val="96000"/>
                <a:shade val="84000"/>
                <a:satMod val="110000"/>
              </a:schemeClr>
            </a:gs>
            <a:gs pos="49100">
              <a:schemeClr val="accent2">
                <a:hueOff val="6751989"/>
                <a:satOff val="2501"/>
                <a:lumOff val="7646"/>
                <a:alphaOff val="0"/>
                <a:shade val="55000"/>
                <a:satMod val="150000"/>
              </a:schemeClr>
            </a:gs>
            <a:gs pos="92000">
              <a:schemeClr val="accent2">
                <a:hueOff val="6751989"/>
                <a:satOff val="2501"/>
                <a:lumOff val="7646"/>
                <a:alphaOff val="0"/>
                <a:tint val="98000"/>
                <a:shade val="90000"/>
                <a:satMod val="128000"/>
              </a:schemeClr>
            </a:gs>
            <a:gs pos="100000">
              <a:schemeClr val="accent2">
                <a:hueOff val="6751989"/>
                <a:satOff val="2501"/>
                <a:lumOff val="7646"/>
                <a:alphaOff val="0"/>
                <a:tint val="90000"/>
                <a:shade val="97000"/>
                <a:satMod val="128000"/>
              </a:schemeClr>
            </a:gs>
          </a:gsLst>
          <a:lin ang="5400000" scaled="1"/>
        </a:gradFill>
        <a:ln>
          <a:noFill/>
        </a:ln>
        <a:effectLst>
          <a:outerShdw blurRad="39000" dist="25400" dir="5400000" rotWithShape="0">
            <a:schemeClr val="accent2">
              <a:hueOff val="6751989"/>
              <a:satOff val="2501"/>
              <a:lumOff val="7646"/>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GB" sz="2400" kern="1200" dirty="0"/>
            <a:t>Lenders</a:t>
          </a:r>
        </a:p>
      </dsp:txBody>
      <dsp:txXfrm>
        <a:off x="319389" y="2006638"/>
        <a:ext cx="1542146" cy="13153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CF2A49-1C98-47D2-B137-86E50A17B059}">
      <dsp:nvSpPr>
        <dsp:cNvPr id="0" name=""/>
        <dsp:cNvSpPr/>
      </dsp:nvSpPr>
      <dsp:spPr>
        <a:xfrm>
          <a:off x="0" y="55526"/>
          <a:ext cx="8229600" cy="950625"/>
        </a:xfrm>
        <a:prstGeom prst="roundRect">
          <a:avLst/>
        </a:prstGeom>
        <a:gradFill rotWithShape="0">
          <a:gsLst>
            <a:gs pos="0">
              <a:schemeClr val="dk2">
                <a:hueOff val="0"/>
                <a:satOff val="0"/>
                <a:lumOff val="0"/>
                <a:alphaOff val="0"/>
                <a:tint val="74000"/>
              </a:schemeClr>
            </a:gs>
            <a:gs pos="49000">
              <a:schemeClr val="dk2">
                <a:hueOff val="0"/>
                <a:satOff val="0"/>
                <a:lumOff val="0"/>
                <a:alphaOff val="0"/>
                <a:tint val="96000"/>
                <a:shade val="84000"/>
                <a:satMod val="110000"/>
              </a:schemeClr>
            </a:gs>
            <a:gs pos="49100">
              <a:schemeClr val="dk2">
                <a:hueOff val="0"/>
                <a:satOff val="0"/>
                <a:lumOff val="0"/>
                <a:alphaOff val="0"/>
                <a:shade val="55000"/>
                <a:satMod val="150000"/>
              </a:schemeClr>
            </a:gs>
            <a:gs pos="92000">
              <a:schemeClr val="dk2">
                <a:hueOff val="0"/>
                <a:satOff val="0"/>
                <a:lumOff val="0"/>
                <a:alphaOff val="0"/>
                <a:tint val="98000"/>
                <a:shade val="90000"/>
                <a:satMod val="128000"/>
              </a:schemeClr>
            </a:gs>
            <a:gs pos="100000">
              <a:schemeClr val="dk2">
                <a:hueOff val="0"/>
                <a:satOff val="0"/>
                <a:lumOff val="0"/>
                <a:alphaOff val="0"/>
                <a:tint val="90000"/>
                <a:shade val="97000"/>
                <a:satMod val="128000"/>
              </a:schemeClr>
            </a:gs>
          </a:gsLst>
          <a:lin ang="5400000" scaled="1"/>
        </a:gradFill>
        <a:ln>
          <a:noFill/>
        </a:ln>
        <a:effectLst>
          <a:outerShdw blurRad="39000" dist="25400" dir="5400000" rotWithShape="0">
            <a:schemeClr val="dk2">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GB" sz="2500" kern="1200" dirty="0"/>
            <a:t>It reflects investors opinions about</a:t>
          </a:r>
        </a:p>
      </dsp:txBody>
      <dsp:txXfrm>
        <a:off x="46406" y="101932"/>
        <a:ext cx="8136788" cy="857813"/>
      </dsp:txXfrm>
    </dsp:sp>
    <dsp:sp modelId="{F9325057-98E3-4459-8D49-AE0B964490E6}">
      <dsp:nvSpPr>
        <dsp:cNvPr id="0" name=""/>
        <dsp:cNvSpPr/>
      </dsp:nvSpPr>
      <dsp:spPr>
        <a:xfrm>
          <a:off x="0" y="1006151"/>
          <a:ext cx="8229600" cy="98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rtl="0">
            <a:lnSpc>
              <a:spcPct val="90000"/>
            </a:lnSpc>
            <a:spcBef>
              <a:spcPct val="0"/>
            </a:spcBef>
            <a:spcAft>
              <a:spcPct val="20000"/>
            </a:spcAft>
            <a:buChar char="•"/>
          </a:pPr>
          <a:r>
            <a:rPr lang="en-GB" sz="2000" kern="1200"/>
            <a:t>The quality of the investments</a:t>
          </a:r>
        </a:p>
        <a:p>
          <a:pPr marL="228600" lvl="1" indent="-228600" algn="l" defTabSz="889000" rtl="0">
            <a:lnSpc>
              <a:spcPct val="90000"/>
            </a:lnSpc>
            <a:spcBef>
              <a:spcPct val="0"/>
            </a:spcBef>
            <a:spcAft>
              <a:spcPct val="20000"/>
            </a:spcAft>
            <a:buChar char="•"/>
          </a:pPr>
          <a:r>
            <a:rPr lang="en-GB" sz="2000" kern="1200"/>
            <a:t>The riskiness of the firm and thus, its cost</a:t>
          </a:r>
        </a:p>
        <a:p>
          <a:pPr marL="228600" lvl="1" indent="-228600" algn="l" defTabSz="889000" rtl="0">
            <a:lnSpc>
              <a:spcPct val="90000"/>
            </a:lnSpc>
            <a:spcBef>
              <a:spcPct val="0"/>
            </a:spcBef>
            <a:spcAft>
              <a:spcPct val="20000"/>
            </a:spcAft>
            <a:buChar char="•"/>
          </a:pPr>
          <a:r>
            <a:rPr lang="en-GB" sz="2000" kern="1200" dirty="0"/>
            <a:t>Quality of decisions-management</a:t>
          </a:r>
        </a:p>
      </dsp:txBody>
      <dsp:txXfrm>
        <a:off x="0" y="1006151"/>
        <a:ext cx="8229600" cy="983250"/>
      </dsp:txXfrm>
    </dsp:sp>
    <dsp:sp modelId="{E4DC4114-AD2D-4631-BF61-1D3746BA7282}">
      <dsp:nvSpPr>
        <dsp:cNvPr id="0" name=""/>
        <dsp:cNvSpPr/>
      </dsp:nvSpPr>
      <dsp:spPr>
        <a:xfrm>
          <a:off x="0" y="1989401"/>
          <a:ext cx="8229600" cy="950625"/>
        </a:xfrm>
        <a:prstGeom prst="roundRect">
          <a:avLst/>
        </a:prstGeom>
        <a:gradFill rotWithShape="0">
          <a:gsLst>
            <a:gs pos="0">
              <a:schemeClr val="dk2">
                <a:hueOff val="0"/>
                <a:satOff val="0"/>
                <a:lumOff val="0"/>
                <a:alphaOff val="0"/>
                <a:tint val="74000"/>
              </a:schemeClr>
            </a:gs>
            <a:gs pos="49000">
              <a:schemeClr val="dk2">
                <a:hueOff val="0"/>
                <a:satOff val="0"/>
                <a:lumOff val="0"/>
                <a:alphaOff val="0"/>
                <a:tint val="96000"/>
                <a:shade val="84000"/>
                <a:satMod val="110000"/>
              </a:schemeClr>
            </a:gs>
            <a:gs pos="49100">
              <a:schemeClr val="dk2">
                <a:hueOff val="0"/>
                <a:satOff val="0"/>
                <a:lumOff val="0"/>
                <a:alphaOff val="0"/>
                <a:shade val="55000"/>
                <a:satMod val="150000"/>
              </a:schemeClr>
            </a:gs>
            <a:gs pos="92000">
              <a:schemeClr val="dk2">
                <a:hueOff val="0"/>
                <a:satOff val="0"/>
                <a:lumOff val="0"/>
                <a:alphaOff val="0"/>
                <a:tint val="98000"/>
                <a:shade val="90000"/>
                <a:satMod val="128000"/>
              </a:schemeClr>
            </a:gs>
            <a:gs pos="100000">
              <a:schemeClr val="dk2">
                <a:hueOff val="0"/>
                <a:satOff val="0"/>
                <a:lumOff val="0"/>
                <a:alphaOff val="0"/>
                <a:tint val="90000"/>
                <a:shade val="97000"/>
                <a:satMod val="128000"/>
              </a:schemeClr>
            </a:gs>
          </a:gsLst>
          <a:lin ang="5400000" scaled="1"/>
        </a:gradFill>
        <a:ln>
          <a:noFill/>
        </a:ln>
        <a:effectLst>
          <a:outerShdw blurRad="39000" dist="25400" dir="5400000" rotWithShape="0">
            <a:schemeClr val="dk2">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GB" sz="2500" kern="1200"/>
            <a:t>Maximizing stock price does not mean that </a:t>
          </a:r>
        </a:p>
      </dsp:txBody>
      <dsp:txXfrm>
        <a:off x="46406" y="2035807"/>
        <a:ext cx="8136788" cy="857813"/>
      </dsp:txXfrm>
    </dsp:sp>
    <dsp:sp modelId="{FFD40CA7-8702-4A5C-B00A-66B215E145A7}">
      <dsp:nvSpPr>
        <dsp:cNvPr id="0" name=""/>
        <dsp:cNvSpPr/>
      </dsp:nvSpPr>
      <dsp:spPr>
        <a:xfrm>
          <a:off x="0" y="2940026"/>
          <a:ext cx="8229600" cy="983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rtl="0">
            <a:lnSpc>
              <a:spcPct val="90000"/>
            </a:lnSpc>
            <a:spcBef>
              <a:spcPct val="0"/>
            </a:spcBef>
            <a:spcAft>
              <a:spcPct val="20000"/>
            </a:spcAft>
            <a:buChar char="•"/>
          </a:pPr>
          <a:r>
            <a:rPr lang="en-GB" sz="2000" kern="1200"/>
            <a:t>We do not care about employees</a:t>
          </a:r>
        </a:p>
        <a:p>
          <a:pPr marL="228600" lvl="1" indent="-228600" algn="l" defTabSz="889000" rtl="0">
            <a:lnSpc>
              <a:spcPct val="90000"/>
            </a:lnSpc>
            <a:spcBef>
              <a:spcPct val="0"/>
            </a:spcBef>
            <a:spcAft>
              <a:spcPct val="20000"/>
            </a:spcAft>
            <a:buChar char="•"/>
          </a:pPr>
          <a:r>
            <a:rPr lang="en-GB" sz="2000" kern="1200"/>
            <a:t>We do not care about customers </a:t>
          </a:r>
        </a:p>
        <a:p>
          <a:pPr marL="228600" lvl="1" indent="-228600" algn="l" defTabSz="889000" rtl="0">
            <a:lnSpc>
              <a:spcPct val="90000"/>
            </a:lnSpc>
            <a:spcBef>
              <a:spcPct val="0"/>
            </a:spcBef>
            <a:spcAft>
              <a:spcPct val="20000"/>
            </a:spcAft>
            <a:buChar char="•"/>
          </a:pPr>
          <a:r>
            <a:rPr lang="en-GB" sz="2000" kern="1200"/>
            <a:t>We do not care about social interactions</a:t>
          </a:r>
        </a:p>
      </dsp:txBody>
      <dsp:txXfrm>
        <a:off x="0" y="2940026"/>
        <a:ext cx="8229600" cy="983250"/>
      </dsp:txXfrm>
    </dsp:sp>
    <dsp:sp modelId="{AF9A446C-D11C-4A17-B50E-D97783050259}">
      <dsp:nvSpPr>
        <dsp:cNvPr id="0" name=""/>
        <dsp:cNvSpPr/>
      </dsp:nvSpPr>
      <dsp:spPr>
        <a:xfrm>
          <a:off x="0" y="3923276"/>
          <a:ext cx="8229600" cy="950625"/>
        </a:xfrm>
        <a:prstGeom prst="roundRect">
          <a:avLst/>
        </a:prstGeom>
        <a:gradFill rotWithShape="0">
          <a:gsLst>
            <a:gs pos="0">
              <a:schemeClr val="dk2">
                <a:hueOff val="0"/>
                <a:satOff val="0"/>
                <a:lumOff val="0"/>
                <a:alphaOff val="0"/>
                <a:tint val="74000"/>
              </a:schemeClr>
            </a:gs>
            <a:gs pos="49000">
              <a:schemeClr val="dk2">
                <a:hueOff val="0"/>
                <a:satOff val="0"/>
                <a:lumOff val="0"/>
                <a:alphaOff val="0"/>
                <a:tint val="96000"/>
                <a:shade val="84000"/>
                <a:satMod val="110000"/>
              </a:schemeClr>
            </a:gs>
            <a:gs pos="49100">
              <a:schemeClr val="dk2">
                <a:hueOff val="0"/>
                <a:satOff val="0"/>
                <a:lumOff val="0"/>
                <a:alphaOff val="0"/>
                <a:shade val="55000"/>
                <a:satMod val="150000"/>
              </a:schemeClr>
            </a:gs>
            <a:gs pos="92000">
              <a:schemeClr val="dk2">
                <a:hueOff val="0"/>
                <a:satOff val="0"/>
                <a:lumOff val="0"/>
                <a:alphaOff val="0"/>
                <a:tint val="98000"/>
                <a:shade val="90000"/>
                <a:satMod val="128000"/>
              </a:schemeClr>
            </a:gs>
            <a:gs pos="100000">
              <a:schemeClr val="dk2">
                <a:hueOff val="0"/>
                <a:satOff val="0"/>
                <a:lumOff val="0"/>
                <a:alphaOff val="0"/>
                <a:tint val="90000"/>
                <a:shade val="97000"/>
                <a:satMod val="128000"/>
              </a:schemeClr>
            </a:gs>
          </a:gsLst>
          <a:lin ang="5400000" scaled="1"/>
        </a:gradFill>
        <a:ln>
          <a:noFill/>
        </a:ln>
        <a:effectLst>
          <a:outerShdw blurRad="39000" dist="25400" dir="5400000" rotWithShape="0">
            <a:schemeClr val="dk2">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rtl="0">
            <a:lnSpc>
              <a:spcPct val="90000"/>
            </a:lnSpc>
            <a:spcBef>
              <a:spcPct val="0"/>
            </a:spcBef>
            <a:spcAft>
              <a:spcPct val="35000"/>
            </a:spcAft>
            <a:buNone/>
          </a:pPr>
          <a:r>
            <a:rPr lang="en-GB" sz="2500" kern="1200"/>
            <a:t>If investors are rational (are they?), stock prices reflect the wisdom of decisions</a:t>
          </a:r>
        </a:p>
      </dsp:txBody>
      <dsp:txXfrm>
        <a:off x="46406" y="3969682"/>
        <a:ext cx="8136788" cy="857813"/>
      </dsp:txXfrm>
    </dsp:sp>
    <dsp:sp modelId="{02DE6D2A-5B27-4782-955D-AD298CD4E3A6}">
      <dsp:nvSpPr>
        <dsp:cNvPr id="0" name=""/>
        <dsp:cNvSpPr/>
      </dsp:nvSpPr>
      <dsp:spPr>
        <a:xfrm>
          <a:off x="0" y="4873901"/>
          <a:ext cx="8229600" cy="659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1290" tIns="31750" rIns="177800" bIns="31750" numCol="1" spcCol="1270" anchor="t" anchorCtr="0">
          <a:noAutofit/>
        </a:bodyPr>
        <a:lstStyle/>
        <a:p>
          <a:pPr marL="228600" lvl="1" indent="-228600" algn="l" defTabSz="889000" rtl="0">
            <a:lnSpc>
              <a:spcPct val="90000"/>
            </a:lnSpc>
            <a:spcBef>
              <a:spcPct val="0"/>
            </a:spcBef>
            <a:spcAft>
              <a:spcPct val="20000"/>
            </a:spcAft>
            <a:buChar char="•"/>
          </a:pPr>
          <a:r>
            <a:rPr lang="en-GB" sz="2000" kern="1200"/>
            <a:t>Instantaneously</a:t>
          </a:r>
        </a:p>
        <a:p>
          <a:pPr marL="228600" lvl="1" indent="-228600" algn="l" defTabSz="889000" rtl="0">
            <a:lnSpc>
              <a:spcPct val="90000"/>
            </a:lnSpc>
            <a:spcBef>
              <a:spcPct val="0"/>
            </a:spcBef>
            <a:spcAft>
              <a:spcPct val="20000"/>
            </a:spcAft>
            <a:buChar char="•"/>
          </a:pPr>
          <a:r>
            <a:rPr lang="en-GB" sz="2000" kern="1200" dirty="0"/>
            <a:t>Are updated continuously</a:t>
          </a:r>
        </a:p>
      </dsp:txBody>
      <dsp:txXfrm>
        <a:off x="0" y="4873901"/>
        <a:ext cx="8229600" cy="65981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34113E-B0D9-408B-905E-30C3E64FB584}">
      <dsp:nvSpPr>
        <dsp:cNvPr id="0" name=""/>
        <dsp:cNvSpPr/>
      </dsp:nvSpPr>
      <dsp:spPr>
        <a:xfrm rot="16200000">
          <a:off x="-1500137" y="1501253"/>
          <a:ext cx="5904656" cy="2902148"/>
        </a:xfrm>
        <a:prstGeom prst="flowChartManualOperation">
          <a:avLst/>
        </a:prstGeom>
        <a:solidFill>
          <a:schemeClr val="dk2">
            <a:hueOff val="0"/>
            <a:satOff val="0"/>
            <a:lumOff val="0"/>
            <a:alphaOff val="0"/>
          </a:schemeClr>
        </a:solidFill>
        <a:ln>
          <a:noFill/>
        </a:ln>
        <a:effectLst>
          <a:outerShdw blurRad="39000" dist="25400" dir="5400000" rotWithShape="0">
            <a:schemeClr val="dk2">
              <a:hueOff val="0"/>
              <a:satOff val="0"/>
              <a:lumOff val="0"/>
              <a:alphaOff val="0"/>
              <a:shade val="33000"/>
              <a:alpha val="83000"/>
            </a:scheme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50" tIns="0" rIns="211408" bIns="0" numCol="1" spcCol="1270" anchor="t" anchorCtr="0">
          <a:noAutofit/>
        </a:bodyPr>
        <a:lstStyle/>
        <a:p>
          <a:pPr marL="0" lvl="0" indent="0" algn="l" defTabSz="1466850" rtl="0">
            <a:lnSpc>
              <a:spcPct val="90000"/>
            </a:lnSpc>
            <a:spcBef>
              <a:spcPct val="0"/>
            </a:spcBef>
            <a:spcAft>
              <a:spcPct val="35000"/>
            </a:spcAft>
            <a:buNone/>
          </a:pPr>
          <a:r>
            <a:rPr lang="en-GB" sz="3300" b="1" kern="1200" baseline="0" dirty="0"/>
            <a:t>BIAS</a:t>
          </a:r>
        </a:p>
        <a:p>
          <a:pPr marL="228600" lvl="1" indent="-228600" algn="l" defTabSz="1155700" rtl="0">
            <a:lnSpc>
              <a:spcPct val="90000"/>
            </a:lnSpc>
            <a:spcBef>
              <a:spcPct val="0"/>
            </a:spcBef>
            <a:spcAft>
              <a:spcPct val="15000"/>
            </a:spcAft>
            <a:buChar char="•"/>
          </a:pPr>
          <a:r>
            <a:rPr lang="en-GB" sz="2600" kern="1200" baseline="0" dirty="0"/>
            <a:t>A valuation </a:t>
          </a:r>
          <a:r>
            <a:rPr lang="en-GB" sz="2600" b="1" u="sng" kern="1200" baseline="0" dirty="0">
              <a:solidFill>
                <a:srgbClr val="FFFF00"/>
              </a:solidFill>
            </a:rPr>
            <a:t>cannot</a:t>
          </a:r>
          <a:r>
            <a:rPr lang="en-GB" sz="2600" kern="1200" baseline="0" dirty="0">
              <a:solidFill>
                <a:srgbClr val="FFFF00"/>
              </a:solidFill>
            </a:rPr>
            <a:t> </a:t>
          </a:r>
          <a:r>
            <a:rPr lang="en-GB" sz="2600" kern="1200" baseline="0" dirty="0"/>
            <a:t>estimate the “TRUE” value</a:t>
          </a:r>
          <a:endParaRPr lang="en-GB" sz="2600" kern="1200" dirty="0"/>
        </a:p>
        <a:p>
          <a:pPr marL="228600" lvl="1" indent="-228600" algn="l" defTabSz="1155700" rtl="0">
            <a:lnSpc>
              <a:spcPct val="90000"/>
            </a:lnSpc>
            <a:spcBef>
              <a:spcPct val="0"/>
            </a:spcBef>
            <a:spcAft>
              <a:spcPct val="15000"/>
            </a:spcAft>
            <a:buChar char="•"/>
          </a:pPr>
          <a:r>
            <a:rPr lang="en-GB" sz="2600" kern="1200" dirty="0"/>
            <a:t>All valuations are biased</a:t>
          </a:r>
        </a:p>
      </dsp:txBody>
      <dsp:txXfrm rot="5400000">
        <a:off x="1117" y="1180930"/>
        <a:ext cx="2902148" cy="3542794"/>
      </dsp:txXfrm>
    </dsp:sp>
    <dsp:sp modelId="{2E96B785-39AE-4271-986B-1FCB3F3C7BB2}">
      <dsp:nvSpPr>
        <dsp:cNvPr id="0" name=""/>
        <dsp:cNvSpPr/>
      </dsp:nvSpPr>
      <dsp:spPr>
        <a:xfrm rot="16200000">
          <a:off x="1619672" y="1501253"/>
          <a:ext cx="5904656" cy="2902148"/>
        </a:xfrm>
        <a:prstGeom prst="flowChartManualOperation">
          <a:avLst/>
        </a:prstGeom>
        <a:solidFill>
          <a:schemeClr val="dk2">
            <a:hueOff val="0"/>
            <a:satOff val="0"/>
            <a:lumOff val="0"/>
            <a:alphaOff val="0"/>
          </a:schemeClr>
        </a:solidFill>
        <a:ln>
          <a:noFill/>
        </a:ln>
        <a:effectLst>
          <a:outerShdw blurRad="39000" dist="25400" dir="5400000" rotWithShape="0">
            <a:schemeClr val="dk2">
              <a:hueOff val="0"/>
              <a:satOff val="0"/>
              <a:lumOff val="0"/>
              <a:alphaOff val="0"/>
              <a:shade val="33000"/>
              <a:alpha val="83000"/>
            </a:scheme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50" tIns="0" rIns="211408" bIns="0" numCol="1" spcCol="1270" anchor="t" anchorCtr="0">
          <a:noAutofit/>
        </a:bodyPr>
        <a:lstStyle/>
        <a:p>
          <a:pPr marL="0" lvl="0" indent="0" algn="l" defTabSz="1466850" rtl="0">
            <a:lnSpc>
              <a:spcPct val="90000"/>
            </a:lnSpc>
            <a:spcBef>
              <a:spcPct val="0"/>
            </a:spcBef>
            <a:spcAft>
              <a:spcPct val="35000"/>
            </a:spcAft>
            <a:buNone/>
          </a:pPr>
          <a:r>
            <a:rPr lang="en-GB" sz="3300" kern="1200" baseline="0" dirty="0"/>
            <a:t> </a:t>
          </a:r>
          <a:r>
            <a:rPr lang="en-GB" sz="3300" b="1" kern="1200" baseline="0" dirty="0"/>
            <a:t>Uncertainty</a:t>
          </a:r>
        </a:p>
        <a:p>
          <a:pPr marL="228600" lvl="1" indent="-228600" algn="l" defTabSz="1155700" rtl="0">
            <a:lnSpc>
              <a:spcPct val="90000"/>
            </a:lnSpc>
            <a:spcBef>
              <a:spcPct val="0"/>
            </a:spcBef>
            <a:spcAft>
              <a:spcPct val="15000"/>
            </a:spcAft>
            <a:buChar char="•"/>
          </a:pPr>
          <a:r>
            <a:rPr lang="en-GB" sz="2600" kern="1200" dirty="0"/>
            <a:t>There are </a:t>
          </a:r>
          <a:r>
            <a:rPr lang="en-GB" sz="2600" u="sng" kern="1200" dirty="0">
              <a:solidFill>
                <a:srgbClr val="FFFF00"/>
              </a:solidFill>
            </a:rPr>
            <a:t>no precise</a:t>
          </a:r>
          <a:r>
            <a:rPr lang="en-GB" sz="2600" u="sng" kern="1200" dirty="0"/>
            <a:t> </a:t>
          </a:r>
          <a:r>
            <a:rPr lang="en-GB" sz="2600" kern="1200" dirty="0"/>
            <a:t>valuations</a:t>
          </a:r>
        </a:p>
        <a:p>
          <a:pPr marL="228600" lvl="1" indent="-228600" algn="l" defTabSz="1155700" rtl="0">
            <a:lnSpc>
              <a:spcPct val="90000"/>
            </a:lnSpc>
            <a:spcBef>
              <a:spcPct val="0"/>
            </a:spcBef>
            <a:spcAft>
              <a:spcPct val="15000"/>
            </a:spcAft>
            <a:buChar char="•"/>
          </a:pPr>
          <a:r>
            <a:rPr lang="en-GB" sz="2600" kern="1200" dirty="0"/>
            <a:t>Higher Uncertainty-Less Precision-Higher Risk-Higher Payoff</a:t>
          </a:r>
        </a:p>
      </dsp:txBody>
      <dsp:txXfrm rot="5400000">
        <a:off x="3120926" y="1180930"/>
        <a:ext cx="2902148" cy="3542794"/>
      </dsp:txXfrm>
    </dsp:sp>
    <dsp:sp modelId="{2862D89C-A699-4C16-A122-FF0E4EA74CF7}">
      <dsp:nvSpPr>
        <dsp:cNvPr id="0" name=""/>
        <dsp:cNvSpPr/>
      </dsp:nvSpPr>
      <dsp:spPr>
        <a:xfrm rot="16200000">
          <a:off x="4739481" y="1501253"/>
          <a:ext cx="5904656" cy="2902148"/>
        </a:xfrm>
        <a:prstGeom prst="flowChartManualOperation">
          <a:avLst/>
        </a:prstGeom>
        <a:solidFill>
          <a:schemeClr val="dk2">
            <a:hueOff val="0"/>
            <a:satOff val="0"/>
            <a:lumOff val="0"/>
            <a:alphaOff val="0"/>
          </a:schemeClr>
        </a:solidFill>
        <a:ln>
          <a:noFill/>
        </a:ln>
        <a:effectLst>
          <a:outerShdw blurRad="39000" dist="25400" dir="5400000" rotWithShape="0">
            <a:schemeClr val="dk2">
              <a:hueOff val="0"/>
              <a:satOff val="0"/>
              <a:lumOff val="0"/>
              <a:alphaOff val="0"/>
              <a:shade val="33000"/>
              <a:alpha val="83000"/>
            </a:scheme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50" tIns="0" rIns="211408" bIns="0" numCol="1" spcCol="1270" anchor="t" anchorCtr="0">
          <a:noAutofit/>
        </a:bodyPr>
        <a:lstStyle/>
        <a:p>
          <a:pPr marL="0" lvl="0" indent="0" algn="l" defTabSz="1466850" rtl="0">
            <a:lnSpc>
              <a:spcPct val="90000"/>
            </a:lnSpc>
            <a:spcBef>
              <a:spcPct val="0"/>
            </a:spcBef>
            <a:spcAft>
              <a:spcPct val="35000"/>
            </a:spcAft>
            <a:buNone/>
          </a:pPr>
          <a:r>
            <a:rPr lang="en-GB" sz="3300" b="1" kern="1200" baseline="0" dirty="0"/>
            <a:t>Complexity</a:t>
          </a:r>
        </a:p>
        <a:p>
          <a:pPr marL="228600" lvl="1" indent="-228600" algn="l" defTabSz="1155700" rtl="0">
            <a:lnSpc>
              <a:spcPct val="90000"/>
            </a:lnSpc>
            <a:spcBef>
              <a:spcPct val="0"/>
            </a:spcBef>
            <a:spcAft>
              <a:spcPct val="15000"/>
            </a:spcAft>
            <a:buChar char="•"/>
          </a:pPr>
          <a:r>
            <a:rPr lang="en-GB" sz="2600" b="1" u="sng" kern="1200" baseline="0" dirty="0">
              <a:solidFill>
                <a:srgbClr val="FFFF00"/>
              </a:solidFill>
            </a:rPr>
            <a:t>More Complex models</a:t>
          </a:r>
          <a:r>
            <a:rPr lang="en-GB" sz="2600" kern="1200" baseline="0" dirty="0"/>
            <a:t>-</a:t>
          </a:r>
          <a:r>
            <a:rPr lang="en-GB" sz="2600" kern="1200" dirty="0"/>
            <a:t>More inputs-More uncertainty-</a:t>
          </a:r>
          <a:r>
            <a:rPr lang="en-GB" sz="2600" b="1" u="sng" kern="1200" dirty="0">
              <a:solidFill>
                <a:srgbClr val="FFFF00"/>
              </a:solidFill>
            </a:rPr>
            <a:t>less precision</a:t>
          </a:r>
        </a:p>
        <a:p>
          <a:pPr marL="228600" lvl="1" indent="-228600" algn="l" defTabSz="1155700" rtl="0">
            <a:lnSpc>
              <a:spcPct val="90000"/>
            </a:lnSpc>
            <a:spcBef>
              <a:spcPct val="0"/>
            </a:spcBef>
            <a:spcAft>
              <a:spcPct val="15000"/>
            </a:spcAft>
            <a:buChar char="•"/>
          </a:pPr>
          <a:r>
            <a:rPr lang="en-GB" sz="2600" kern="1200" dirty="0"/>
            <a:t>Simpler models are more flexible</a:t>
          </a:r>
        </a:p>
      </dsp:txBody>
      <dsp:txXfrm rot="5400000">
        <a:off x="6240735" y="1180930"/>
        <a:ext cx="2902148" cy="354279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749197-698E-4CB1-A8C5-C782583B0A5A}">
      <dsp:nvSpPr>
        <dsp:cNvPr id="0" name=""/>
        <dsp:cNvSpPr/>
      </dsp:nvSpPr>
      <dsp:spPr>
        <a:xfrm rot="5400000">
          <a:off x="4198502" y="-1408715"/>
          <a:ext cx="1448035" cy="4632960"/>
        </a:xfrm>
        <a:prstGeom prst="round2SameRect">
          <a:avLst/>
        </a:prstGeom>
        <a:solidFill>
          <a:schemeClr val="accent2">
            <a:tint val="40000"/>
            <a:alpha val="90000"/>
            <a:hueOff val="0"/>
            <a:satOff val="0"/>
            <a:lumOff val="0"/>
            <a:alphaOff val="0"/>
          </a:schemeClr>
        </a:solidFill>
        <a:ln w="11430" cap="flat" cmpd="sng" algn="ctr">
          <a:solidFill>
            <a:schemeClr val="accent2">
              <a:tint val="40000"/>
              <a:alpha val="90000"/>
              <a:hueOff val="0"/>
              <a:satOff val="0"/>
              <a:lumOff val="0"/>
              <a:alphaOff val="0"/>
            </a:schemeClr>
          </a:solidFill>
          <a:prstDash val="solid"/>
        </a:ln>
        <a:effectLst>
          <a:outerShdw blurRad="39000" dist="25400" dir="5400000" rotWithShape="0">
            <a:schemeClr val="accent2">
              <a:tint val="40000"/>
              <a:alpha val="90000"/>
              <a:hueOff val="0"/>
              <a:satOff val="0"/>
              <a:lumOff val="0"/>
              <a:alphaOff val="0"/>
              <a:shade val="33000"/>
              <a:alpha val="83000"/>
            </a:scheme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GB" sz="2800" kern="1200" dirty="0"/>
            <a:t>Intrinsic Value</a:t>
          </a:r>
        </a:p>
        <a:p>
          <a:pPr marL="285750" lvl="1" indent="-285750" algn="l" defTabSz="1244600" rtl="0">
            <a:lnSpc>
              <a:spcPct val="90000"/>
            </a:lnSpc>
            <a:spcBef>
              <a:spcPct val="0"/>
            </a:spcBef>
            <a:spcAft>
              <a:spcPct val="15000"/>
            </a:spcAft>
            <a:buChar char="•"/>
          </a:pPr>
          <a:r>
            <a:rPr lang="en-GB" sz="2800" kern="1200" dirty="0"/>
            <a:t>DCF-Present Value of Future Cash Flows</a:t>
          </a:r>
        </a:p>
      </dsp:txBody>
      <dsp:txXfrm rot="-5400000">
        <a:off x="2606040" y="254434"/>
        <a:ext cx="4562273" cy="1306661"/>
      </dsp:txXfrm>
    </dsp:sp>
    <dsp:sp modelId="{DB0E8FBB-2A1A-40F8-9491-B4576B2764BB}">
      <dsp:nvSpPr>
        <dsp:cNvPr id="0" name=""/>
        <dsp:cNvSpPr/>
      </dsp:nvSpPr>
      <dsp:spPr>
        <a:xfrm>
          <a:off x="0" y="2742"/>
          <a:ext cx="2606040" cy="1810044"/>
        </a:xfrm>
        <a:prstGeom prst="round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GB" sz="2800" kern="1200" baseline="0" dirty="0"/>
            <a:t>How much is it worth?</a:t>
          </a:r>
          <a:endParaRPr lang="en-GB" sz="2800" kern="1200" dirty="0"/>
        </a:p>
      </dsp:txBody>
      <dsp:txXfrm>
        <a:off x="88359" y="91101"/>
        <a:ext cx="2429322" cy="1633326"/>
      </dsp:txXfrm>
    </dsp:sp>
    <dsp:sp modelId="{0BF63519-F7BA-4BFB-B21F-9199A594F678}">
      <dsp:nvSpPr>
        <dsp:cNvPr id="0" name=""/>
        <dsp:cNvSpPr/>
      </dsp:nvSpPr>
      <dsp:spPr>
        <a:xfrm rot="5400000">
          <a:off x="4198502" y="491831"/>
          <a:ext cx="1448035" cy="4632960"/>
        </a:xfrm>
        <a:prstGeom prst="round2SameRect">
          <a:avLst/>
        </a:prstGeom>
        <a:solidFill>
          <a:schemeClr val="accent3">
            <a:tint val="40000"/>
            <a:alpha val="90000"/>
            <a:hueOff val="0"/>
            <a:satOff val="0"/>
            <a:lumOff val="0"/>
            <a:alphaOff val="0"/>
          </a:schemeClr>
        </a:solidFill>
        <a:ln w="11430" cap="flat" cmpd="sng" algn="ctr">
          <a:solidFill>
            <a:schemeClr val="accent3">
              <a:tint val="40000"/>
              <a:alpha val="90000"/>
              <a:hueOff val="0"/>
              <a:satOff val="0"/>
              <a:lumOff val="0"/>
              <a:alphaOff val="0"/>
            </a:schemeClr>
          </a:solidFill>
          <a:prstDash val="solid"/>
        </a:ln>
        <a:effectLst>
          <a:outerShdw blurRad="39000" dist="25400" dir="5400000" rotWithShape="0">
            <a:schemeClr val="accent3">
              <a:tint val="40000"/>
              <a:alpha val="90000"/>
              <a:hueOff val="0"/>
              <a:satOff val="0"/>
              <a:lumOff val="0"/>
              <a:alphaOff val="0"/>
              <a:shade val="33000"/>
              <a:alpha val="83000"/>
            </a:scheme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GB" sz="2800" kern="1200" dirty="0"/>
            <a:t>Expectations</a:t>
          </a:r>
        </a:p>
        <a:p>
          <a:pPr marL="285750" lvl="1" indent="-285750" algn="l" defTabSz="1244600" rtl="0">
            <a:lnSpc>
              <a:spcPct val="90000"/>
            </a:lnSpc>
            <a:spcBef>
              <a:spcPct val="0"/>
            </a:spcBef>
            <a:spcAft>
              <a:spcPct val="15000"/>
            </a:spcAft>
            <a:buChar char="•"/>
          </a:pPr>
          <a:r>
            <a:rPr lang="en-GB" sz="2800" kern="1200" dirty="0"/>
            <a:t>Relative Valuation-What are others willing to pay?</a:t>
          </a:r>
        </a:p>
      </dsp:txBody>
      <dsp:txXfrm rot="-5400000">
        <a:off x="2606040" y="2154981"/>
        <a:ext cx="4562273" cy="1306661"/>
      </dsp:txXfrm>
    </dsp:sp>
    <dsp:sp modelId="{EADFFEF3-4D66-441F-86AB-CA47788103E5}">
      <dsp:nvSpPr>
        <dsp:cNvPr id="0" name=""/>
        <dsp:cNvSpPr/>
      </dsp:nvSpPr>
      <dsp:spPr>
        <a:xfrm>
          <a:off x="0" y="1903289"/>
          <a:ext cx="2606040" cy="1810044"/>
        </a:xfrm>
        <a:prstGeom prst="roundRect">
          <a:avLst/>
        </a:prstGeom>
        <a:gradFill rotWithShape="0">
          <a:gsLst>
            <a:gs pos="0">
              <a:schemeClr val="accent3">
                <a:hueOff val="0"/>
                <a:satOff val="0"/>
                <a:lumOff val="0"/>
                <a:alphaOff val="0"/>
                <a:tint val="74000"/>
              </a:schemeClr>
            </a:gs>
            <a:gs pos="49000">
              <a:schemeClr val="accent3">
                <a:hueOff val="0"/>
                <a:satOff val="0"/>
                <a:lumOff val="0"/>
                <a:alphaOff val="0"/>
                <a:tint val="96000"/>
                <a:shade val="84000"/>
                <a:satMod val="110000"/>
              </a:schemeClr>
            </a:gs>
            <a:gs pos="49100">
              <a:schemeClr val="accent3">
                <a:hueOff val="0"/>
                <a:satOff val="0"/>
                <a:lumOff val="0"/>
                <a:alphaOff val="0"/>
                <a:shade val="55000"/>
                <a:satMod val="150000"/>
              </a:schemeClr>
            </a:gs>
            <a:gs pos="92000">
              <a:schemeClr val="accent3">
                <a:hueOff val="0"/>
                <a:satOff val="0"/>
                <a:lumOff val="0"/>
                <a:alphaOff val="0"/>
                <a:tint val="98000"/>
                <a:shade val="90000"/>
                <a:satMod val="128000"/>
              </a:schemeClr>
            </a:gs>
            <a:gs pos="100000">
              <a:schemeClr val="accent3">
                <a:hueOff val="0"/>
                <a:satOff val="0"/>
                <a:lumOff val="0"/>
                <a:alphaOff val="0"/>
                <a:tint val="90000"/>
                <a:shade val="97000"/>
                <a:satMod val="128000"/>
              </a:schemeClr>
            </a:gs>
          </a:gsLst>
          <a:lin ang="5400000" scaled="1"/>
        </a:gradFill>
        <a:ln>
          <a:noFill/>
        </a:ln>
        <a:effectLst>
          <a:outerShdw blurRad="39000" dist="25400" dir="5400000" rotWithShape="0">
            <a:schemeClr val="accent3">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GB" sz="2800" kern="1200" baseline="0" dirty="0"/>
            <a:t>How much are you willing to pay</a:t>
          </a:r>
          <a:endParaRPr lang="en-GB" sz="2800" kern="1200" dirty="0"/>
        </a:p>
      </dsp:txBody>
      <dsp:txXfrm>
        <a:off x="88359" y="1991648"/>
        <a:ext cx="2429322" cy="1633326"/>
      </dsp:txXfrm>
    </dsp:sp>
    <dsp:sp modelId="{F9252958-4CBC-4B48-AA8B-730BAE9BA9E6}">
      <dsp:nvSpPr>
        <dsp:cNvPr id="0" name=""/>
        <dsp:cNvSpPr/>
      </dsp:nvSpPr>
      <dsp:spPr>
        <a:xfrm rot="5400000">
          <a:off x="4198502" y="2392379"/>
          <a:ext cx="1448035" cy="4632960"/>
        </a:xfrm>
        <a:prstGeom prst="round2SameRect">
          <a:avLst/>
        </a:prstGeom>
        <a:solidFill>
          <a:schemeClr val="accent4">
            <a:tint val="40000"/>
            <a:alpha val="90000"/>
            <a:hueOff val="0"/>
            <a:satOff val="0"/>
            <a:lumOff val="0"/>
            <a:alphaOff val="0"/>
          </a:schemeClr>
        </a:solidFill>
        <a:ln w="11430" cap="flat" cmpd="sng" algn="ctr">
          <a:solidFill>
            <a:schemeClr val="accent4">
              <a:tint val="40000"/>
              <a:alpha val="90000"/>
              <a:hueOff val="0"/>
              <a:satOff val="0"/>
              <a:lumOff val="0"/>
              <a:alphaOff val="0"/>
            </a:schemeClr>
          </a:solidFill>
          <a:prstDash val="solid"/>
        </a:ln>
        <a:effectLst>
          <a:outerShdw blurRad="39000" dist="25400" dir="5400000" rotWithShape="0">
            <a:schemeClr val="accent4">
              <a:tint val="40000"/>
              <a:alpha val="90000"/>
              <a:hueOff val="0"/>
              <a:satOff val="0"/>
              <a:lumOff val="0"/>
              <a:alphaOff val="0"/>
              <a:shade val="33000"/>
              <a:alpha val="83000"/>
            </a:schemeClr>
          </a:outerShdw>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53340" rIns="106680" bIns="53340" numCol="1" spcCol="1270" anchor="ctr" anchorCtr="0">
          <a:noAutofit/>
        </a:bodyPr>
        <a:lstStyle/>
        <a:p>
          <a:pPr marL="285750" lvl="1" indent="-285750" algn="l" defTabSz="1244600" rtl="0">
            <a:lnSpc>
              <a:spcPct val="90000"/>
            </a:lnSpc>
            <a:spcBef>
              <a:spcPct val="0"/>
            </a:spcBef>
            <a:spcAft>
              <a:spcPct val="15000"/>
            </a:spcAft>
            <a:buChar char="•"/>
          </a:pPr>
          <a:r>
            <a:rPr lang="en-GB" sz="2800" kern="1200" dirty="0"/>
            <a:t>Can I take an action in the future?</a:t>
          </a:r>
        </a:p>
        <a:p>
          <a:pPr marL="285750" lvl="1" indent="-285750" algn="l" defTabSz="1244600" rtl="0">
            <a:lnSpc>
              <a:spcPct val="90000"/>
            </a:lnSpc>
            <a:spcBef>
              <a:spcPct val="0"/>
            </a:spcBef>
            <a:spcAft>
              <a:spcPct val="15000"/>
            </a:spcAft>
            <a:buChar char="•"/>
          </a:pPr>
          <a:r>
            <a:rPr lang="en-GB" sz="2800" kern="1200" dirty="0"/>
            <a:t>Options Valuation</a:t>
          </a:r>
        </a:p>
      </dsp:txBody>
      <dsp:txXfrm rot="-5400000">
        <a:off x="2606040" y="4055529"/>
        <a:ext cx="4562273" cy="1306661"/>
      </dsp:txXfrm>
    </dsp:sp>
    <dsp:sp modelId="{23DBB377-BBEB-41EA-B0DA-EC9C5A40E3D6}">
      <dsp:nvSpPr>
        <dsp:cNvPr id="0" name=""/>
        <dsp:cNvSpPr/>
      </dsp:nvSpPr>
      <dsp:spPr>
        <a:xfrm>
          <a:off x="0" y="3803836"/>
          <a:ext cx="2606040" cy="1810044"/>
        </a:xfrm>
        <a:prstGeom prst="roundRect">
          <a:avLst/>
        </a:prstGeom>
        <a:gradFill rotWithShape="0">
          <a:gsLst>
            <a:gs pos="0">
              <a:schemeClr val="accent4">
                <a:hueOff val="0"/>
                <a:satOff val="0"/>
                <a:lumOff val="0"/>
                <a:alphaOff val="0"/>
                <a:tint val="74000"/>
              </a:schemeClr>
            </a:gs>
            <a:gs pos="49000">
              <a:schemeClr val="accent4">
                <a:hueOff val="0"/>
                <a:satOff val="0"/>
                <a:lumOff val="0"/>
                <a:alphaOff val="0"/>
                <a:tint val="96000"/>
                <a:shade val="84000"/>
                <a:satMod val="110000"/>
              </a:schemeClr>
            </a:gs>
            <a:gs pos="49100">
              <a:schemeClr val="accent4">
                <a:hueOff val="0"/>
                <a:satOff val="0"/>
                <a:lumOff val="0"/>
                <a:alphaOff val="0"/>
                <a:shade val="55000"/>
                <a:satMod val="150000"/>
              </a:schemeClr>
            </a:gs>
            <a:gs pos="92000">
              <a:schemeClr val="accent4">
                <a:hueOff val="0"/>
                <a:satOff val="0"/>
                <a:lumOff val="0"/>
                <a:alphaOff val="0"/>
                <a:tint val="98000"/>
                <a:shade val="90000"/>
                <a:satMod val="128000"/>
              </a:schemeClr>
            </a:gs>
            <a:gs pos="100000">
              <a:schemeClr val="accent4">
                <a:hueOff val="0"/>
                <a:satOff val="0"/>
                <a:lumOff val="0"/>
                <a:alphaOff val="0"/>
                <a:tint val="90000"/>
                <a:shade val="97000"/>
                <a:satMod val="128000"/>
              </a:schemeClr>
            </a:gs>
          </a:gsLst>
          <a:lin ang="5400000" scaled="1"/>
        </a:gradFill>
        <a:ln>
          <a:noFill/>
        </a:ln>
        <a:effectLst>
          <a:outerShdw blurRad="39000" dist="25400" dir="5400000" rotWithShape="0">
            <a:schemeClr val="accent4">
              <a:hueOff val="0"/>
              <a:satOff val="0"/>
              <a:lumOff val="0"/>
              <a:alphaOff val="0"/>
              <a:shade val="33000"/>
              <a:alpha val="83000"/>
            </a:scheme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rtl="0">
            <a:lnSpc>
              <a:spcPct val="90000"/>
            </a:lnSpc>
            <a:spcBef>
              <a:spcPct val="0"/>
            </a:spcBef>
            <a:spcAft>
              <a:spcPct val="35000"/>
            </a:spcAft>
            <a:buNone/>
          </a:pPr>
          <a:r>
            <a:rPr lang="en-GB" sz="2800" kern="1200" baseline="0" dirty="0"/>
            <a:t>Does flexibility have value?</a:t>
          </a:r>
          <a:endParaRPr lang="en-GB" sz="2800" kern="1200" dirty="0"/>
        </a:p>
      </dsp:txBody>
      <dsp:txXfrm>
        <a:off x="88359" y="3892195"/>
        <a:ext cx="2429322" cy="163332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B64CA9-8EFB-4146-99EB-D592D1DC93DE}">
      <dsp:nvSpPr>
        <dsp:cNvPr id="0" name=""/>
        <dsp:cNvSpPr/>
      </dsp:nvSpPr>
      <dsp:spPr>
        <a:xfrm>
          <a:off x="2262" y="25662"/>
          <a:ext cx="2205632" cy="799808"/>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1. Discounted Cash Flow</a:t>
          </a:r>
        </a:p>
      </dsp:txBody>
      <dsp:txXfrm>
        <a:off x="2262" y="25662"/>
        <a:ext cx="2205632" cy="799808"/>
      </dsp:txXfrm>
    </dsp:sp>
    <dsp:sp modelId="{1245C999-3DD8-450E-8C9B-1ED0D7566DAA}">
      <dsp:nvSpPr>
        <dsp:cNvPr id="0" name=""/>
        <dsp:cNvSpPr/>
      </dsp:nvSpPr>
      <dsp:spPr>
        <a:xfrm>
          <a:off x="2262" y="825470"/>
          <a:ext cx="2205632" cy="1885171"/>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Present value of Future Cash Flows</a:t>
          </a:r>
        </a:p>
      </dsp:txBody>
      <dsp:txXfrm>
        <a:off x="2262" y="825470"/>
        <a:ext cx="2205632" cy="1885171"/>
      </dsp:txXfrm>
    </dsp:sp>
    <dsp:sp modelId="{5693A6C1-A2DD-4D32-8B5E-947FB5140F24}">
      <dsp:nvSpPr>
        <dsp:cNvPr id="0" name=""/>
        <dsp:cNvSpPr/>
      </dsp:nvSpPr>
      <dsp:spPr>
        <a:xfrm>
          <a:off x="2516683" y="25662"/>
          <a:ext cx="2205632" cy="799808"/>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2. Relative Valuation</a:t>
          </a:r>
        </a:p>
      </dsp:txBody>
      <dsp:txXfrm>
        <a:off x="2516683" y="25662"/>
        <a:ext cx="2205632" cy="799808"/>
      </dsp:txXfrm>
    </dsp:sp>
    <dsp:sp modelId="{268FC023-9CBD-4A6E-9C91-05684A3080EB}">
      <dsp:nvSpPr>
        <dsp:cNvPr id="0" name=""/>
        <dsp:cNvSpPr/>
      </dsp:nvSpPr>
      <dsp:spPr>
        <a:xfrm>
          <a:off x="2516683" y="825470"/>
          <a:ext cx="2205632" cy="1885171"/>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Comparable Assets</a:t>
          </a:r>
        </a:p>
        <a:p>
          <a:pPr marL="228600" lvl="1" indent="-228600" algn="l" defTabSz="1022350">
            <a:lnSpc>
              <a:spcPct val="90000"/>
            </a:lnSpc>
            <a:spcBef>
              <a:spcPct val="0"/>
            </a:spcBef>
            <a:spcAft>
              <a:spcPct val="15000"/>
            </a:spcAft>
            <a:buChar char="•"/>
          </a:pPr>
          <a:r>
            <a:rPr lang="en-GB" sz="2300" kern="1200" dirty="0"/>
            <a:t>Industry-Market environment</a:t>
          </a:r>
        </a:p>
      </dsp:txBody>
      <dsp:txXfrm>
        <a:off x="2516683" y="825470"/>
        <a:ext cx="2205632" cy="1885171"/>
      </dsp:txXfrm>
    </dsp:sp>
    <dsp:sp modelId="{996ED6FB-A595-441A-BBFD-FAD2AAF3A205}">
      <dsp:nvSpPr>
        <dsp:cNvPr id="0" name=""/>
        <dsp:cNvSpPr/>
      </dsp:nvSpPr>
      <dsp:spPr>
        <a:xfrm>
          <a:off x="5031105" y="25662"/>
          <a:ext cx="2205632" cy="799808"/>
        </a:xfrm>
        <a:prstGeom prst="rect">
          <a:avLst/>
        </a:prstGeom>
        <a:solidFill>
          <a:schemeClr val="accent1">
            <a:hueOff val="0"/>
            <a:satOff val="0"/>
            <a:lumOff val="0"/>
            <a:alphaOff val="0"/>
          </a:schemeClr>
        </a:solidFill>
        <a:ln w="400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GB" sz="2300" kern="1200" dirty="0"/>
            <a:t>3. Contingent Claims</a:t>
          </a:r>
        </a:p>
      </dsp:txBody>
      <dsp:txXfrm>
        <a:off x="5031105" y="25662"/>
        <a:ext cx="2205632" cy="799808"/>
      </dsp:txXfrm>
    </dsp:sp>
    <dsp:sp modelId="{979C2362-0707-4F8D-ACED-91B0BE263359}">
      <dsp:nvSpPr>
        <dsp:cNvPr id="0" name=""/>
        <dsp:cNvSpPr/>
      </dsp:nvSpPr>
      <dsp:spPr>
        <a:xfrm>
          <a:off x="5031105" y="825470"/>
          <a:ext cx="2205632" cy="1885171"/>
        </a:xfrm>
        <a:prstGeom prst="rect">
          <a:avLst/>
        </a:prstGeom>
        <a:solidFill>
          <a:schemeClr val="accent1">
            <a:alpha val="90000"/>
            <a:tint val="40000"/>
            <a:hueOff val="0"/>
            <a:satOff val="0"/>
            <a:lumOff val="0"/>
            <a:alphaOff val="0"/>
          </a:schemeClr>
        </a:solidFill>
        <a:ln w="400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GB" sz="2300" kern="1200" dirty="0"/>
            <a:t>Exercise of Options</a:t>
          </a:r>
        </a:p>
        <a:p>
          <a:pPr marL="228600" lvl="1" indent="-228600" algn="l" defTabSz="1022350">
            <a:lnSpc>
              <a:spcPct val="90000"/>
            </a:lnSpc>
            <a:spcBef>
              <a:spcPct val="0"/>
            </a:spcBef>
            <a:spcAft>
              <a:spcPct val="15000"/>
            </a:spcAft>
            <a:buChar char="•"/>
          </a:pPr>
          <a:r>
            <a:rPr lang="en-GB" sz="2300" kern="1200" dirty="0"/>
            <a:t>Alternatives</a:t>
          </a:r>
        </a:p>
      </dsp:txBody>
      <dsp:txXfrm>
        <a:off x="5031105" y="825470"/>
        <a:ext cx="2205632" cy="1885171"/>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81BF5-2544-43A5-A544-F2743A825776}">
      <dsp:nvSpPr>
        <dsp:cNvPr id="0" name=""/>
        <dsp:cNvSpPr/>
      </dsp:nvSpPr>
      <dsp:spPr>
        <a:xfrm>
          <a:off x="0" y="68007"/>
          <a:ext cx="8136904" cy="561599"/>
        </a:xfrm>
        <a:prstGeom prst="round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baseline="0" dirty="0"/>
            <a:t>Advantages</a:t>
          </a:r>
          <a:endParaRPr lang="en-GB" sz="2400" kern="1200" dirty="0"/>
        </a:p>
      </dsp:txBody>
      <dsp:txXfrm>
        <a:off x="27415" y="95422"/>
        <a:ext cx="8082074" cy="506769"/>
      </dsp:txXfrm>
    </dsp:sp>
    <dsp:sp modelId="{7381EAF7-78C9-496B-9DD0-515A1B6D1FCB}">
      <dsp:nvSpPr>
        <dsp:cNvPr id="0" name=""/>
        <dsp:cNvSpPr/>
      </dsp:nvSpPr>
      <dsp:spPr>
        <a:xfrm>
          <a:off x="0" y="629607"/>
          <a:ext cx="8136904" cy="1192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GB" sz="1900" kern="1200" dirty="0"/>
            <a:t>It is based on market fundamentals</a:t>
          </a:r>
        </a:p>
        <a:p>
          <a:pPr marL="171450" lvl="1" indent="-171450" algn="l" defTabSz="844550" rtl="0">
            <a:lnSpc>
              <a:spcPct val="90000"/>
            </a:lnSpc>
            <a:spcBef>
              <a:spcPct val="0"/>
            </a:spcBef>
            <a:spcAft>
              <a:spcPct val="20000"/>
            </a:spcAft>
            <a:buChar char="•"/>
          </a:pPr>
          <a:r>
            <a:rPr lang="en-GB" sz="1900" kern="1200" dirty="0"/>
            <a:t>Focused on value rather than volatility (According to </a:t>
          </a:r>
          <a:r>
            <a:rPr lang="en-GB" sz="1900" kern="1200" dirty="0">
              <a:hlinkClick xmlns:r="http://schemas.openxmlformats.org/officeDocument/2006/relationships" r:id="rId1"/>
            </a:rPr>
            <a:t>Warren</a:t>
          </a:r>
          <a:r>
            <a:rPr lang="en-GB" sz="1900" kern="1200" dirty="0"/>
            <a:t> </a:t>
          </a:r>
          <a:r>
            <a:rPr lang="en-GB" sz="1900" kern="1200" dirty="0">
              <a:hlinkClick xmlns:r="http://schemas.openxmlformats.org/officeDocument/2006/relationships" r:id="rId2"/>
            </a:rPr>
            <a:t>Buffet</a:t>
          </a:r>
          <a:r>
            <a:rPr lang="en-GB" sz="1900" kern="1200" dirty="0"/>
            <a:t>: Buy business, not stock)</a:t>
          </a:r>
        </a:p>
        <a:p>
          <a:pPr marL="171450" lvl="1" indent="-171450" algn="l" defTabSz="844550" rtl="0">
            <a:lnSpc>
              <a:spcPct val="90000"/>
            </a:lnSpc>
            <a:spcBef>
              <a:spcPct val="0"/>
            </a:spcBef>
            <a:spcAft>
              <a:spcPct val="20000"/>
            </a:spcAft>
            <a:buChar char="•"/>
          </a:pPr>
          <a:r>
            <a:rPr lang="en-GB" sz="1900" kern="1200" dirty="0"/>
            <a:t>Focus on the firm, not the market</a:t>
          </a:r>
        </a:p>
      </dsp:txBody>
      <dsp:txXfrm>
        <a:off x="0" y="629607"/>
        <a:ext cx="8136904" cy="1192320"/>
      </dsp:txXfrm>
    </dsp:sp>
    <dsp:sp modelId="{7252F2EE-78C4-47F7-9F81-095494205D7C}">
      <dsp:nvSpPr>
        <dsp:cNvPr id="0" name=""/>
        <dsp:cNvSpPr/>
      </dsp:nvSpPr>
      <dsp:spPr>
        <a:xfrm>
          <a:off x="0" y="1821927"/>
          <a:ext cx="8136904" cy="561599"/>
        </a:xfrm>
        <a:prstGeom prst="roundRect">
          <a:avLst/>
        </a:prstGeom>
        <a:gradFill rotWithShape="0">
          <a:gsLst>
            <a:gs pos="0">
              <a:schemeClr val="accent3">
                <a:hueOff val="0"/>
                <a:satOff val="0"/>
                <a:lumOff val="0"/>
                <a:alphaOff val="0"/>
                <a:tint val="74000"/>
              </a:schemeClr>
            </a:gs>
            <a:gs pos="49000">
              <a:schemeClr val="accent3">
                <a:hueOff val="0"/>
                <a:satOff val="0"/>
                <a:lumOff val="0"/>
                <a:alphaOff val="0"/>
                <a:tint val="96000"/>
                <a:shade val="84000"/>
                <a:satMod val="110000"/>
              </a:schemeClr>
            </a:gs>
            <a:gs pos="49100">
              <a:schemeClr val="accent3">
                <a:hueOff val="0"/>
                <a:satOff val="0"/>
                <a:lumOff val="0"/>
                <a:alphaOff val="0"/>
                <a:shade val="55000"/>
                <a:satMod val="150000"/>
              </a:schemeClr>
            </a:gs>
            <a:gs pos="92000">
              <a:schemeClr val="accent3">
                <a:hueOff val="0"/>
                <a:satOff val="0"/>
                <a:lumOff val="0"/>
                <a:alphaOff val="0"/>
                <a:tint val="98000"/>
                <a:shade val="90000"/>
                <a:satMod val="128000"/>
              </a:schemeClr>
            </a:gs>
            <a:gs pos="100000">
              <a:schemeClr val="accent3">
                <a:hueOff val="0"/>
                <a:satOff val="0"/>
                <a:lumOff val="0"/>
                <a:alphaOff val="0"/>
                <a:tint val="90000"/>
                <a:shade val="97000"/>
                <a:satMod val="128000"/>
              </a:schemeClr>
            </a:gs>
          </a:gsLst>
          <a:lin ang="5400000" scaled="1"/>
        </a:gradFill>
        <a:ln>
          <a:noFill/>
        </a:ln>
        <a:effectLst>
          <a:outerShdw blurRad="39000" dist="25400" dir="5400000" rotWithShape="0">
            <a:schemeClr val="accent3">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dirty="0"/>
            <a:t>Disadvantages</a:t>
          </a:r>
        </a:p>
      </dsp:txBody>
      <dsp:txXfrm>
        <a:off x="27415" y="1849342"/>
        <a:ext cx="8082074" cy="506769"/>
      </dsp:txXfrm>
    </dsp:sp>
    <dsp:sp modelId="{0C7D8BB0-6B90-48A5-BF67-E37B6DF28732}">
      <dsp:nvSpPr>
        <dsp:cNvPr id="0" name=""/>
        <dsp:cNvSpPr/>
      </dsp:nvSpPr>
      <dsp:spPr>
        <a:xfrm>
          <a:off x="0" y="2383527"/>
          <a:ext cx="8136904" cy="9439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GB" sz="1900" kern="1200" dirty="0"/>
            <a:t>Requires more inputs</a:t>
          </a:r>
        </a:p>
        <a:p>
          <a:pPr marL="171450" lvl="1" indent="-171450" algn="l" defTabSz="844550" rtl="0">
            <a:lnSpc>
              <a:spcPct val="90000"/>
            </a:lnSpc>
            <a:spcBef>
              <a:spcPct val="0"/>
            </a:spcBef>
            <a:spcAft>
              <a:spcPct val="20000"/>
            </a:spcAft>
            <a:buChar char="•"/>
          </a:pPr>
          <a:r>
            <a:rPr lang="en-GB" sz="1900" kern="1200" dirty="0"/>
            <a:t>There is uncertainty and they can be manipulated</a:t>
          </a:r>
        </a:p>
        <a:p>
          <a:pPr marL="171450" lvl="1" indent="-171450" algn="l" defTabSz="844550" rtl="0">
            <a:lnSpc>
              <a:spcPct val="90000"/>
            </a:lnSpc>
            <a:spcBef>
              <a:spcPct val="0"/>
            </a:spcBef>
            <a:spcAft>
              <a:spcPct val="20000"/>
            </a:spcAft>
            <a:buChar char="•"/>
          </a:pPr>
          <a:r>
            <a:rPr lang="en-GB" sz="1900" kern="1200" dirty="0"/>
            <a:t>Markets might be efficient (No need for valuation)</a:t>
          </a:r>
        </a:p>
      </dsp:txBody>
      <dsp:txXfrm>
        <a:off x="0" y="2383527"/>
        <a:ext cx="8136904" cy="943920"/>
      </dsp:txXfrm>
    </dsp:sp>
    <dsp:sp modelId="{9F265803-A95F-435D-9637-AF278306FD7F}">
      <dsp:nvSpPr>
        <dsp:cNvPr id="0" name=""/>
        <dsp:cNvSpPr/>
      </dsp:nvSpPr>
      <dsp:spPr>
        <a:xfrm>
          <a:off x="0" y="3327447"/>
          <a:ext cx="8136904" cy="561599"/>
        </a:xfrm>
        <a:prstGeom prst="roundRect">
          <a:avLst/>
        </a:prstGeom>
        <a:gradFill rotWithShape="0">
          <a:gsLst>
            <a:gs pos="0">
              <a:schemeClr val="accent4">
                <a:hueOff val="0"/>
                <a:satOff val="0"/>
                <a:lumOff val="0"/>
                <a:alphaOff val="0"/>
                <a:tint val="74000"/>
              </a:schemeClr>
            </a:gs>
            <a:gs pos="49000">
              <a:schemeClr val="accent4">
                <a:hueOff val="0"/>
                <a:satOff val="0"/>
                <a:lumOff val="0"/>
                <a:alphaOff val="0"/>
                <a:tint val="96000"/>
                <a:shade val="84000"/>
                <a:satMod val="110000"/>
              </a:schemeClr>
            </a:gs>
            <a:gs pos="49100">
              <a:schemeClr val="accent4">
                <a:hueOff val="0"/>
                <a:satOff val="0"/>
                <a:lumOff val="0"/>
                <a:alphaOff val="0"/>
                <a:shade val="55000"/>
                <a:satMod val="150000"/>
              </a:schemeClr>
            </a:gs>
            <a:gs pos="92000">
              <a:schemeClr val="accent4">
                <a:hueOff val="0"/>
                <a:satOff val="0"/>
                <a:lumOff val="0"/>
                <a:alphaOff val="0"/>
                <a:tint val="98000"/>
                <a:shade val="90000"/>
                <a:satMod val="128000"/>
              </a:schemeClr>
            </a:gs>
            <a:gs pos="100000">
              <a:schemeClr val="accent4">
                <a:hueOff val="0"/>
                <a:satOff val="0"/>
                <a:lumOff val="0"/>
                <a:alphaOff val="0"/>
                <a:tint val="90000"/>
                <a:shade val="97000"/>
                <a:satMod val="128000"/>
              </a:schemeClr>
            </a:gs>
          </a:gsLst>
          <a:lin ang="5400000" scaled="1"/>
        </a:gradFill>
        <a:ln>
          <a:noFill/>
        </a:ln>
        <a:effectLst>
          <a:outerShdw blurRad="39000" dist="25400" dir="5400000" rotWithShape="0">
            <a:schemeClr val="accent4">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rtl="0">
            <a:lnSpc>
              <a:spcPct val="90000"/>
            </a:lnSpc>
            <a:spcBef>
              <a:spcPct val="0"/>
            </a:spcBef>
            <a:spcAft>
              <a:spcPct val="35000"/>
            </a:spcAft>
            <a:buNone/>
          </a:pPr>
          <a:r>
            <a:rPr lang="en-GB" sz="2400" kern="1200" baseline="0" dirty="0"/>
            <a:t>When DCF works best for:</a:t>
          </a:r>
          <a:endParaRPr lang="en-GB" sz="2400" kern="1200" dirty="0"/>
        </a:p>
      </dsp:txBody>
      <dsp:txXfrm>
        <a:off x="27415" y="3354862"/>
        <a:ext cx="8082074" cy="506769"/>
      </dsp:txXfrm>
    </dsp:sp>
    <dsp:sp modelId="{329613BF-A18B-44E1-A38B-DB9D814D5CAF}">
      <dsp:nvSpPr>
        <dsp:cNvPr id="0" name=""/>
        <dsp:cNvSpPr/>
      </dsp:nvSpPr>
      <dsp:spPr>
        <a:xfrm>
          <a:off x="0" y="3889047"/>
          <a:ext cx="8136904" cy="2136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30480" rIns="170688" bIns="30480" numCol="1" spcCol="1270" anchor="t" anchorCtr="0">
          <a:noAutofit/>
        </a:bodyPr>
        <a:lstStyle/>
        <a:p>
          <a:pPr marL="171450" lvl="1" indent="-171450" algn="l" defTabSz="844550" rtl="0">
            <a:lnSpc>
              <a:spcPct val="90000"/>
            </a:lnSpc>
            <a:spcBef>
              <a:spcPct val="0"/>
            </a:spcBef>
            <a:spcAft>
              <a:spcPct val="20000"/>
            </a:spcAft>
            <a:buChar char="•"/>
          </a:pPr>
          <a:r>
            <a:rPr lang="en-GB" sz="1900" kern="1200" dirty="0"/>
            <a:t>Firms whose</a:t>
          </a:r>
        </a:p>
        <a:p>
          <a:pPr marL="342900" lvl="2" indent="-171450" algn="l" defTabSz="844550" rtl="0">
            <a:lnSpc>
              <a:spcPct val="90000"/>
            </a:lnSpc>
            <a:spcBef>
              <a:spcPct val="0"/>
            </a:spcBef>
            <a:spcAft>
              <a:spcPct val="20000"/>
            </a:spcAft>
            <a:buChar char="•"/>
          </a:pPr>
          <a:r>
            <a:rPr lang="en-GB" sz="1900" kern="1200" dirty="0"/>
            <a:t>CF are positive and reliable and</a:t>
          </a:r>
        </a:p>
        <a:p>
          <a:pPr marL="342900" lvl="2" indent="-171450" algn="l" defTabSz="844550" rtl="0">
            <a:lnSpc>
              <a:spcPct val="90000"/>
            </a:lnSpc>
            <a:spcBef>
              <a:spcPct val="0"/>
            </a:spcBef>
            <a:spcAft>
              <a:spcPct val="20000"/>
            </a:spcAft>
            <a:buChar char="•"/>
          </a:pPr>
          <a:r>
            <a:rPr lang="en-GB" sz="1900" kern="1200" dirty="0"/>
            <a:t>risk is measurable</a:t>
          </a:r>
        </a:p>
        <a:p>
          <a:pPr marL="171450" lvl="1" indent="-171450" algn="l" defTabSz="844550" rtl="0">
            <a:lnSpc>
              <a:spcPct val="90000"/>
            </a:lnSpc>
            <a:spcBef>
              <a:spcPct val="0"/>
            </a:spcBef>
            <a:spcAft>
              <a:spcPct val="20000"/>
            </a:spcAft>
            <a:buChar char="•"/>
          </a:pPr>
          <a:r>
            <a:rPr lang="en-GB" sz="1900" kern="1200" dirty="0"/>
            <a:t>Investors who</a:t>
          </a:r>
        </a:p>
        <a:p>
          <a:pPr marL="342900" lvl="2" indent="-171450" algn="l" defTabSz="844550" rtl="0">
            <a:lnSpc>
              <a:spcPct val="90000"/>
            </a:lnSpc>
            <a:spcBef>
              <a:spcPct val="0"/>
            </a:spcBef>
            <a:spcAft>
              <a:spcPct val="20000"/>
            </a:spcAft>
            <a:buChar char="•"/>
          </a:pPr>
          <a:r>
            <a:rPr lang="en-GB" sz="1900" kern="1200" dirty="0"/>
            <a:t>Have a long term horizon (values tend to converge to “true” value)</a:t>
          </a:r>
        </a:p>
        <a:p>
          <a:pPr marL="342900" lvl="2" indent="-171450" algn="l" defTabSz="844550" rtl="0">
            <a:lnSpc>
              <a:spcPct val="90000"/>
            </a:lnSpc>
            <a:spcBef>
              <a:spcPct val="0"/>
            </a:spcBef>
            <a:spcAft>
              <a:spcPct val="20000"/>
            </a:spcAft>
            <a:buChar char="•"/>
          </a:pPr>
          <a:r>
            <a:rPr lang="en-GB" sz="1900" kern="1200" dirty="0"/>
            <a:t>Have the capacity to drive market value close to the “true” value (e.g. To buy the whole firm) </a:t>
          </a:r>
        </a:p>
      </dsp:txBody>
      <dsp:txXfrm>
        <a:off x="0" y="3889047"/>
        <a:ext cx="8136904" cy="21362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81BF5-2544-43A5-A544-F2743A825776}">
      <dsp:nvSpPr>
        <dsp:cNvPr id="0" name=""/>
        <dsp:cNvSpPr/>
      </dsp:nvSpPr>
      <dsp:spPr>
        <a:xfrm>
          <a:off x="0" y="25482"/>
          <a:ext cx="8136904" cy="538200"/>
        </a:xfrm>
        <a:prstGeom prst="roundRect">
          <a:avLst/>
        </a:prstGeom>
        <a:gradFill rotWithShape="0">
          <a:gsLst>
            <a:gs pos="0">
              <a:schemeClr val="accent2">
                <a:hueOff val="0"/>
                <a:satOff val="0"/>
                <a:lumOff val="0"/>
                <a:alphaOff val="0"/>
                <a:tint val="74000"/>
              </a:schemeClr>
            </a:gs>
            <a:gs pos="49000">
              <a:schemeClr val="accent2">
                <a:hueOff val="0"/>
                <a:satOff val="0"/>
                <a:lumOff val="0"/>
                <a:alphaOff val="0"/>
                <a:tint val="96000"/>
                <a:shade val="84000"/>
                <a:satMod val="110000"/>
              </a:schemeClr>
            </a:gs>
            <a:gs pos="49100">
              <a:schemeClr val="accent2">
                <a:hueOff val="0"/>
                <a:satOff val="0"/>
                <a:lumOff val="0"/>
                <a:alphaOff val="0"/>
                <a:shade val="55000"/>
                <a:satMod val="150000"/>
              </a:schemeClr>
            </a:gs>
            <a:gs pos="92000">
              <a:schemeClr val="accent2">
                <a:hueOff val="0"/>
                <a:satOff val="0"/>
                <a:lumOff val="0"/>
                <a:alphaOff val="0"/>
                <a:tint val="98000"/>
                <a:shade val="90000"/>
                <a:satMod val="128000"/>
              </a:schemeClr>
            </a:gs>
            <a:gs pos="100000">
              <a:schemeClr val="accent2">
                <a:hueOff val="0"/>
                <a:satOff val="0"/>
                <a:lumOff val="0"/>
                <a:alphaOff val="0"/>
                <a:tint val="90000"/>
                <a:shade val="97000"/>
                <a:satMod val="128000"/>
              </a:schemeClr>
            </a:gs>
          </a:gsLst>
          <a:lin ang="5400000" scaled="1"/>
        </a:gradFill>
        <a:ln>
          <a:noFill/>
        </a:ln>
        <a:effectLst>
          <a:outerShdw blurRad="39000" dist="25400" dir="5400000" rotWithShape="0">
            <a:schemeClr val="accent2">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GB" sz="2300" kern="1200" baseline="0" dirty="0"/>
            <a:t>Advantages-Market Oriented</a:t>
          </a:r>
          <a:endParaRPr lang="en-GB" sz="2300" kern="1200" dirty="0"/>
        </a:p>
      </dsp:txBody>
      <dsp:txXfrm>
        <a:off x="26273" y="51755"/>
        <a:ext cx="8084358" cy="485654"/>
      </dsp:txXfrm>
    </dsp:sp>
    <dsp:sp modelId="{7381EAF7-78C9-496B-9DD0-515A1B6D1FCB}">
      <dsp:nvSpPr>
        <dsp:cNvPr id="0" name=""/>
        <dsp:cNvSpPr/>
      </dsp:nvSpPr>
      <dsp:spPr>
        <a:xfrm>
          <a:off x="0" y="563682"/>
          <a:ext cx="8136904" cy="1761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GB" sz="1800" kern="1200" dirty="0"/>
            <a:t>Reflects Market conditions</a:t>
          </a:r>
        </a:p>
        <a:p>
          <a:pPr marL="342900" lvl="2" indent="-171450" algn="l" defTabSz="800100" rtl="0">
            <a:lnSpc>
              <a:spcPct val="90000"/>
            </a:lnSpc>
            <a:spcBef>
              <a:spcPct val="0"/>
            </a:spcBef>
            <a:spcAft>
              <a:spcPct val="20000"/>
            </a:spcAft>
            <a:buChar char="•"/>
          </a:pPr>
          <a:r>
            <a:rPr lang="en-GB" sz="1800" kern="1200" dirty="0"/>
            <a:t>Better for IPOs</a:t>
          </a:r>
        </a:p>
        <a:p>
          <a:pPr marL="342900" lvl="2" indent="-171450" algn="l" defTabSz="800100" rtl="0">
            <a:lnSpc>
              <a:spcPct val="90000"/>
            </a:lnSpc>
            <a:spcBef>
              <a:spcPct val="0"/>
            </a:spcBef>
            <a:spcAft>
              <a:spcPct val="20000"/>
            </a:spcAft>
            <a:buChar char="•"/>
          </a:pPr>
          <a:r>
            <a:rPr lang="en-GB" sz="1800" kern="1200" dirty="0"/>
            <a:t>Better for momentum strategies</a:t>
          </a:r>
        </a:p>
        <a:p>
          <a:pPr marL="342900" lvl="2" indent="-171450" algn="l" defTabSz="800100" rtl="0">
            <a:lnSpc>
              <a:spcPct val="90000"/>
            </a:lnSpc>
            <a:spcBef>
              <a:spcPct val="0"/>
            </a:spcBef>
            <a:spcAft>
              <a:spcPct val="20000"/>
            </a:spcAft>
            <a:buChar char="•"/>
          </a:pPr>
          <a:r>
            <a:rPr lang="en-GB" sz="1800" kern="1200" dirty="0"/>
            <a:t>Based on Averages (e.g. Sector). Over- Under-valued stocks</a:t>
          </a:r>
        </a:p>
        <a:p>
          <a:pPr marL="171450" lvl="1" indent="-171450" algn="l" defTabSz="800100" rtl="0">
            <a:lnSpc>
              <a:spcPct val="90000"/>
            </a:lnSpc>
            <a:spcBef>
              <a:spcPct val="0"/>
            </a:spcBef>
            <a:spcAft>
              <a:spcPct val="20000"/>
            </a:spcAft>
            <a:buChar char="•"/>
          </a:pPr>
          <a:r>
            <a:rPr lang="en-GB" sz="1800" kern="1200" dirty="0"/>
            <a:t>Managers’ performance is comparable to the market</a:t>
          </a:r>
        </a:p>
        <a:p>
          <a:pPr marL="171450" lvl="1" indent="-171450" algn="l" defTabSz="800100" rtl="0">
            <a:lnSpc>
              <a:spcPct val="90000"/>
            </a:lnSpc>
            <a:spcBef>
              <a:spcPct val="0"/>
            </a:spcBef>
            <a:spcAft>
              <a:spcPct val="20000"/>
            </a:spcAft>
            <a:buChar char="•"/>
          </a:pPr>
          <a:r>
            <a:rPr lang="en-GB" sz="1800" kern="1200" dirty="0"/>
            <a:t>Less information needed</a:t>
          </a:r>
        </a:p>
      </dsp:txBody>
      <dsp:txXfrm>
        <a:off x="0" y="563682"/>
        <a:ext cx="8136904" cy="1761570"/>
      </dsp:txXfrm>
    </dsp:sp>
    <dsp:sp modelId="{7252F2EE-78C4-47F7-9F81-095494205D7C}">
      <dsp:nvSpPr>
        <dsp:cNvPr id="0" name=""/>
        <dsp:cNvSpPr/>
      </dsp:nvSpPr>
      <dsp:spPr>
        <a:xfrm>
          <a:off x="0" y="2325253"/>
          <a:ext cx="8136904" cy="538200"/>
        </a:xfrm>
        <a:prstGeom prst="roundRect">
          <a:avLst/>
        </a:prstGeom>
        <a:gradFill rotWithShape="0">
          <a:gsLst>
            <a:gs pos="0">
              <a:schemeClr val="accent3">
                <a:hueOff val="0"/>
                <a:satOff val="0"/>
                <a:lumOff val="0"/>
                <a:alphaOff val="0"/>
                <a:tint val="74000"/>
              </a:schemeClr>
            </a:gs>
            <a:gs pos="49000">
              <a:schemeClr val="accent3">
                <a:hueOff val="0"/>
                <a:satOff val="0"/>
                <a:lumOff val="0"/>
                <a:alphaOff val="0"/>
                <a:tint val="96000"/>
                <a:shade val="84000"/>
                <a:satMod val="110000"/>
              </a:schemeClr>
            </a:gs>
            <a:gs pos="49100">
              <a:schemeClr val="accent3">
                <a:hueOff val="0"/>
                <a:satOff val="0"/>
                <a:lumOff val="0"/>
                <a:alphaOff val="0"/>
                <a:shade val="55000"/>
                <a:satMod val="150000"/>
              </a:schemeClr>
            </a:gs>
            <a:gs pos="92000">
              <a:schemeClr val="accent3">
                <a:hueOff val="0"/>
                <a:satOff val="0"/>
                <a:lumOff val="0"/>
                <a:alphaOff val="0"/>
                <a:tint val="98000"/>
                <a:shade val="90000"/>
                <a:satMod val="128000"/>
              </a:schemeClr>
            </a:gs>
            <a:gs pos="100000">
              <a:schemeClr val="accent3">
                <a:hueOff val="0"/>
                <a:satOff val="0"/>
                <a:lumOff val="0"/>
                <a:alphaOff val="0"/>
                <a:tint val="90000"/>
                <a:shade val="97000"/>
                <a:satMod val="128000"/>
              </a:schemeClr>
            </a:gs>
          </a:gsLst>
          <a:lin ang="5400000" scaled="1"/>
        </a:gradFill>
        <a:ln>
          <a:noFill/>
        </a:ln>
        <a:effectLst>
          <a:outerShdw blurRad="39000" dist="25400" dir="5400000" rotWithShape="0">
            <a:schemeClr val="accent3">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GB" sz="2300" kern="1200" dirty="0"/>
            <a:t>Disadvantages-Information Aggregation</a:t>
          </a:r>
        </a:p>
      </dsp:txBody>
      <dsp:txXfrm>
        <a:off x="26273" y="2351526"/>
        <a:ext cx="8084358" cy="485654"/>
      </dsp:txXfrm>
    </dsp:sp>
    <dsp:sp modelId="{0C7D8BB0-6B90-48A5-BF67-E37B6DF28732}">
      <dsp:nvSpPr>
        <dsp:cNvPr id="0" name=""/>
        <dsp:cNvSpPr/>
      </dsp:nvSpPr>
      <dsp:spPr>
        <a:xfrm>
          <a:off x="0" y="2863453"/>
          <a:ext cx="8136904" cy="9045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GB" sz="1800" kern="1200" dirty="0"/>
            <a:t>Market might be over/undervalued</a:t>
          </a:r>
        </a:p>
        <a:p>
          <a:pPr marL="171450" lvl="1" indent="-171450" algn="l" defTabSz="800100" rtl="0">
            <a:lnSpc>
              <a:spcPct val="90000"/>
            </a:lnSpc>
            <a:spcBef>
              <a:spcPct val="0"/>
            </a:spcBef>
            <a:spcAft>
              <a:spcPct val="20000"/>
            </a:spcAft>
            <a:buChar char="•"/>
          </a:pPr>
          <a:r>
            <a:rPr lang="en-GB" sz="1800" kern="1200" dirty="0"/>
            <a:t>Tends to over/under-value assets according to market trends</a:t>
          </a:r>
        </a:p>
        <a:p>
          <a:pPr marL="171450" lvl="1" indent="-171450" algn="l" defTabSz="800100" rtl="0">
            <a:lnSpc>
              <a:spcPct val="90000"/>
            </a:lnSpc>
            <a:spcBef>
              <a:spcPct val="0"/>
            </a:spcBef>
            <a:spcAft>
              <a:spcPct val="20000"/>
            </a:spcAft>
            <a:buChar char="•"/>
          </a:pPr>
          <a:r>
            <a:rPr lang="en-GB" sz="1800" kern="1200" dirty="0"/>
            <a:t>Strong implicit assumptions</a:t>
          </a:r>
        </a:p>
      </dsp:txBody>
      <dsp:txXfrm>
        <a:off x="0" y="2863453"/>
        <a:ext cx="8136904" cy="904590"/>
      </dsp:txXfrm>
    </dsp:sp>
    <dsp:sp modelId="{9F265803-A95F-435D-9637-AF278306FD7F}">
      <dsp:nvSpPr>
        <dsp:cNvPr id="0" name=""/>
        <dsp:cNvSpPr/>
      </dsp:nvSpPr>
      <dsp:spPr>
        <a:xfrm>
          <a:off x="0" y="3768043"/>
          <a:ext cx="8136904" cy="538200"/>
        </a:xfrm>
        <a:prstGeom prst="roundRect">
          <a:avLst/>
        </a:prstGeom>
        <a:gradFill rotWithShape="0">
          <a:gsLst>
            <a:gs pos="0">
              <a:schemeClr val="accent4">
                <a:hueOff val="0"/>
                <a:satOff val="0"/>
                <a:lumOff val="0"/>
                <a:alphaOff val="0"/>
                <a:tint val="74000"/>
              </a:schemeClr>
            </a:gs>
            <a:gs pos="49000">
              <a:schemeClr val="accent4">
                <a:hueOff val="0"/>
                <a:satOff val="0"/>
                <a:lumOff val="0"/>
                <a:alphaOff val="0"/>
                <a:tint val="96000"/>
                <a:shade val="84000"/>
                <a:satMod val="110000"/>
              </a:schemeClr>
            </a:gs>
            <a:gs pos="49100">
              <a:schemeClr val="accent4">
                <a:hueOff val="0"/>
                <a:satOff val="0"/>
                <a:lumOff val="0"/>
                <a:alphaOff val="0"/>
                <a:shade val="55000"/>
                <a:satMod val="150000"/>
              </a:schemeClr>
            </a:gs>
            <a:gs pos="92000">
              <a:schemeClr val="accent4">
                <a:hueOff val="0"/>
                <a:satOff val="0"/>
                <a:lumOff val="0"/>
                <a:alphaOff val="0"/>
                <a:tint val="98000"/>
                <a:shade val="90000"/>
                <a:satMod val="128000"/>
              </a:schemeClr>
            </a:gs>
            <a:gs pos="100000">
              <a:schemeClr val="accent4">
                <a:hueOff val="0"/>
                <a:satOff val="0"/>
                <a:lumOff val="0"/>
                <a:alphaOff val="0"/>
                <a:tint val="90000"/>
                <a:shade val="97000"/>
                <a:satMod val="128000"/>
              </a:schemeClr>
            </a:gs>
          </a:gsLst>
          <a:lin ang="5400000" scaled="1"/>
        </a:gradFill>
        <a:ln>
          <a:noFill/>
        </a:ln>
        <a:effectLst>
          <a:outerShdw blurRad="39000" dist="25400" dir="5400000" rotWithShape="0">
            <a:schemeClr val="accent4">
              <a:hueOff val="0"/>
              <a:satOff val="0"/>
              <a:lumOff val="0"/>
              <a:alphaOff val="0"/>
              <a:shade val="33000"/>
              <a:alpha val="83000"/>
            </a:scheme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rtl="0">
            <a:lnSpc>
              <a:spcPct val="90000"/>
            </a:lnSpc>
            <a:spcBef>
              <a:spcPct val="0"/>
            </a:spcBef>
            <a:spcAft>
              <a:spcPct val="35000"/>
            </a:spcAft>
            <a:buNone/>
          </a:pPr>
          <a:r>
            <a:rPr lang="en-GB" sz="2300" kern="1200" baseline="0" dirty="0"/>
            <a:t>When Real Valuation works best for:</a:t>
          </a:r>
          <a:endParaRPr lang="en-GB" sz="2300" kern="1200" dirty="0"/>
        </a:p>
      </dsp:txBody>
      <dsp:txXfrm>
        <a:off x="26273" y="3794316"/>
        <a:ext cx="8084358" cy="485654"/>
      </dsp:txXfrm>
    </dsp:sp>
    <dsp:sp modelId="{329613BF-A18B-44E1-A38B-DB9D814D5CAF}">
      <dsp:nvSpPr>
        <dsp:cNvPr id="0" name=""/>
        <dsp:cNvSpPr/>
      </dsp:nvSpPr>
      <dsp:spPr>
        <a:xfrm>
          <a:off x="0" y="4306243"/>
          <a:ext cx="8136904" cy="1761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8347" tIns="29210" rIns="163576" bIns="29210" numCol="1" spcCol="1270" anchor="t" anchorCtr="0">
          <a:noAutofit/>
        </a:bodyPr>
        <a:lstStyle/>
        <a:p>
          <a:pPr marL="171450" lvl="1" indent="-171450" algn="l" defTabSz="800100" rtl="0">
            <a:lnSpc>
              <a:spcPct val="90000"/>
            </a:lnSpc>
            <a:spcBef>
              <a:spcPct val="0"/>
            </a:spcBef>
            <a:spcAft>
              <a:spcPct val="20000"/>
            </a:spcAft>
            <a:buChar char="•"/>
          </a:pPr>
          <a:r>
            <a:rPr lang="en-GB" sz="1800" kern="1200" dirty="0"/>
            <a:t>Firms</a:t>
          </a:r>
        </a:p>
        <a:p>
          <a:pPr marL="342900" lvl="2" indent="-171450" algn="l" defTabSz="800100" rtl="0">
            <a:lnSpc>
              <a:spcPct val="90000"/>
            </a:lnSpc>
            <a:spcBef>
              <a:spcPct val="0"/>
            </a:spcBef>
            <a:spcAft>
              <a:spcPct val="20000"/>
            </a:spcAft>
            <a:buChar char="•"/>
          </a:pPr>
          <a:r>
            <a:rPr lang="en-GB" sz="1800" kern="1200" dirty="0"/>
            <a:t>Many comparable companies, preferably listed</a:t>
          </a:r>
        </a:p>
        <a:p>
          <a:pPr marL="342900" lvl="2" indent="-171450" algn="l" defTabSz="800100" rtl="0">
            <a:lnSpc>
              <a:spcPct val="90000"/>
            </a:lnSpc>
            <a:spcBef>
              <a:spcPct val="0"/>
            </a:spcBef>
            <a:spcAft>
              <a:spcPct val="20000"/>
            </a:spcAft>
            <a:buChar char="•"/>
          </a:pPr>
          <a:r>
            <a:rPr lang="en-GB" sz="1800" kern="1200" dirty="0"/>
            <a:t>There is a standardized variable</a:t>
          </a:r>
        </a:p>
        <a:p>
          <a:pPr marL="171450" lvl="1" indent="-171450" algn="l" defTabSz="800100" rtl="0">
            <a:lnSpc>
              <a:spcPct val="90000"/>
            </a:lnSpc>
            <a:spcBef>
              <a:spcPct val="0"/>
            </a:spcBef>
            <a:spcAft>
              <a:spcPct val="20000"/>
            </a:spcAft>
            <a:buChar char="•"/>
          </a:pPr>
          <a:r>
            <a:rPr lang="en-GB" sz="1800" kern="1200" dirty="0"/>
            <a:t>Investors</a:t>
          </a:r>
        </a:p>
        <a:p>
          <a:pPr marL="342900" lvl="2" indent="-171450" algn="l" defTabSz="800100" rtl="0">
            <a:lnSpc>
              <a:spcPct val="90000"/>
            </a:lnSpc>
            <a:spcBef>
              <a:spcPct val="0"/>
            </a:spcBef>
            <a:spcAft>
              <a:spcPct val="20000"/>
            </a:spcAft>
            <a:buChar char="•"/>
          </a:pPr>
          <a:r>
            <a:rPr lang="en-GB" sz="1800" kern="1200" dirty="0"/>
            <a:t>Have a short term horizon (take advantage of short term mispricing)</a:t>
          </a:r>
        </a:p>
        <a:p>
          <a:pPr marL="342900" lvl="2" indent="-171450" algn="l" defTabSz="800100" rtl="0">
            <a:lnSpc>
              <a:spcPct val="90000"/>
            </a:lnSpc>
            <a:spcBef>
              <a:spcPct val="0"/>
            </a:spcBef>
            <a:spcAft>
              <a:spcPct val="20000"/>
            </a:spcAft>
            <a:buChar char="•"/>
          </a:pPr>
          <a:r>
            <a:rPr lang="en-GB" sz="1800" kern="1200" dirty="0"/>
            <a:t>Their performance is based on a benchmark</a:t>
          </a:r>
        </a:p>
      </dsp:txBody>
      <dsp:txXfrm>
        <a:off x="0" y="4306243"/>
        <a:ext cx="8136904" cy="176157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24/layout/BulletTimeline">
  <dgm:title val=""/>
  <dgm:desc val=""/>
  <dgm:catLst>
    <dgm:cat type="process" pri="7450"/>
    <dgm:cat type="timeline" pri="100"/>
  </dgm:catLst>
  <dgm:sampData>
    <dgm:dataModel>
      <dgm:ptLst>
        <dgm:pt modelId="0" type="doc"/>
        <dgm:pt modelId="10">
          <dgm:prSet phldrT="Add an event" phldr="1"/>
        </dgm:pt>
        <dgm:pt modelId="11">
          <dgm:prSet phldrT="Write a description of the significance of this event" phldr="1"/>
        </dgm:pt>
        <dgm:pt modelId="20">
          <dgm:prSet phldrT="Add an event" phldr="1"/>
        </dgm:pt>
        <dgm:pt modelId="21">
          <dgm:prSet phldrT="Write a description of the significance of this event" phldr="1"/>
        </dgm:pt>
        <dgm:pt modelId="30">
          <dgm:prSet phldrT="Add an event" phldr="1"/>
        </dgm:pt>
        <dgm:pt modelId="31">
          <dgm:prSet phldrT="Write a description of the significance of this event" phldr="1"/>
        </dgm:pt>
        <dgm:pt modelId="40">
          <dgm:prSet phldrT="Add an event" phldr="1"/>
        </dgm:pt>
        <dgm:pt modelId="41">
          <dgm:prSet phldrT="Write a description of the significance of this event" phldr="1"/>
        </dgm:pt>
        <dgm:pt modelId="50">
          <dgm:prSet phldrT="Add an event" phldr="1"/>
        </dgm:pt>
        <dgm:pt modelId="51">
          <dgm:prSet phldrT="Write a description of the significance of this event" phldr="1"/>
        </dgm:pt>
      </dgm:ptLst>
      <dgm:cxnLst>
        <dgm:cxn modelId="100" srcId="0" destId="10" srcOrd="0" destOrd="0"/>
        <dgm:cxn modelId="12" srcId="10" destId="11" srcOrd="0" destOrd="0"/>
        <dgm:cxn modelId="101" srcId="0" destId="20" srcOrd="1" destOrd="0"/>
        <dgm:cxn modelId="22" srcId="20" destId="21" srcOrd="0" destOrd="0"/>
        <dgm:cxn modelId="102" srcId="0" destId="30" srcOrd="2" destOrd="0"/>
        <dgm:cxn modelId="32" srcId="30" destId="31" srcOrd="0" destOrd="0"/>
        <dgm:cxn modelId="103" srcId="0" destId="40" srcOrd="3" destOrd="0"/>
        <dgm:cxn modelId="42" srcId="40" destId="41" srcOrd="0" destOrd="0"/>
        <dgm:cxn modelId="104" srcId="0" destId="50" srcOrd="4" destOrd="0"/>
        <dgm:cxn modelId="52" srcId="50" destId="5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dir/>
      <dgm:animLvl val="lvl"/>
    </dgm:varLst>
    <dgm:alg type="composite"/>
    <dgm:shape xmlns:r="http://schemas.openxmlformats.org/officeDocument/2006/relationships" r:blip="">
      <dgm:adjLst/>
    </dgm:shape>
    <dgm:constrLst>
      <dgm:constr type="w" for="ch" forName="divider" refType="w"/>
      <dgm:constr type="h" for="ch" forName="divider" refType="h" fact="0.1"/>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dgm:alg type="composite"/>
      <dgm:shape xmlns:r="http://schemas.openxmlformats.org/officeDocument/2006/relationships" r:blip="">
        <dgm:adjLst/>
      </dgm:shape>
      <dgm:presOf/>
      <dgm:choose name="DividerDirection">
        <dgm:if name="DividerLTR" func="var" arg="dir" op="equ" val="norm">
          <dgm:constrLst>
            <dgm:constr type="w" for="ch" forName="rectBar" refType="w" fact="0.996"/>
            <dgm:constr type="h" for="ch" forName="rectBar" refType="h" fact="0.1"/>
            <dgm:constr type="l" for="ch" forName="rectBar"/>
            <dgm:constr type="ctrY" for="ch" forName="rectBar" refType="h" fact="0.5"/>
            <dgm:constr type="w" for="ch" forName="chevronArrow" refType="h" fact="0.6"/>
            <dgm:constr type="h" for="ch" forName="chevronArrow" refType="h" fact="0.8"/>
            <dgm:constr type="r" for="ch" forName="chevronArrow" refType="w"/>
            <dgm:constr type="ctrY" for="ch" forName="chevronArrow" refType="h" fact="0.5"/>
          </dgm:constrLst>
        </dgm:if>
        <dgm:else name="DividerRTL">
          <dgm:constrLst>
            <dgm:constr type="w" for="ch" forName="rectBar" refType="w" fact="0.996"/>
            <dgm:constr type="h" for="ch" forName="rectBar" refType="h" fact="0.1"/>
            <dgm:constr type="r" for="ch" forName="rectBar" refType="w"/>
            <dgm:constr type="ctrY" for="ch" forName="rectBar" refType="h" fact="0.5"/>
            <dgm:constr type="w" for="ch" forName="chevronArrow" refType="h" fact="0.6"/>
            <dgm:constr type="h" for="ch" forName="chevronArrow" refType="h" fact="0.8"/>
            <dgm:constr type="l" for="ch" forName="chevronArrow"/>
            <dgm:constr type="ctrY" for="ch" forName="chevronArrow" refType="h" fact="0.5"/>
          </dgm:constrLst>
        </dgm:else>
      </dgm:choose>
      <dgm:ruleLst/>
      <dgm:layoutNode name="rectBar" styleLbl="dkBgShp">
        <dgm:alg type="sp"/>
        <dgm:shape xmlns:r="http://schemas.openxmlformats.org/officeDocument/2006/relationships" type="rect" r:blip="" zOrderOff="-1">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ruleLst/>
      </dgm:layoutNode>
      <dgm:layoutNode name="chevronArrow" styleLbl="dkBgShp">
        <dgm:alg type="sp"/>
        <dgm:choose name="ChevronDir">
          <dgm:if name="ChevronLTR" func="var" arg="dir" op="equ" val="norm">
            <dgm:shape xmlns:r="http://schemas.openxmlformats.org/officeDocument/2006/relationships"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if>
          <dgm:else name="ChevronRTL">
            <dgm:shape xmlns:r="http://schemas.openxmlformats.org/officeDocument/2006/relationships" rot="180" type="chevron" r:blip="" zOrderOff="-1">
              <dgm:adjLst>
                <dgm:adj idx="1" val="0.75"/>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else>
        </dgm:choose>
        <dgm:presOf/>
        <dgm:constrLst/>
        <dgm:ruleLst/>
      </dgm:layoutNode>
    </dgm:layoutNode>
    <dgm:layoutNode name="nodes">
      <dgm:varLst>
        <dgm:chMax/>
        <dgm:chPref/>
        <dgm:animLvl val="lvl"/>
      </dgm:varLst>
      <dgm:choose name="Name1">
        <dgm:if name="Name2" func="var" arg="dir" op="equ" val="norm">
          <dgm:alg type="lin">
            <dgm:param type="fallback" val="1D"/>
          </dgm:alg>
        </dgm:if>
        <dgm:else name="Name3">
          <dgm:alg type="lin">
            <dgm:param type="linDir" val="fromR"/>
            <dgm:param type="fallback" val="1D"/>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h" fact="0.16"/>
                        <dgm:constr type="b" for="ch" forName="L2TextContainer1" refType="h" fact="0.45"/>
                        <dgm:constr type="w" for="ch" forName="L1TextContainer1" refType="w" fact="0.83"/>
                        <dgm:constr type="l" for="ch" forName="L1TextContainer1" refType="r" refFor="ch" refForName="DropPinPlaceHolder1"/>
                        <dgm:constr type="t" for="ch" forName="L1TextContainer1" refType="h" fact="0.01"/>
                        <dgm:constr type="b" for="ch" forName="L1TextContainer1" refType="h" fact="0.16"/>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DropPinPlaceHolder1" refType="h" fact="0.16"/>
                        <dgm:constr type="h" for="ch" forName="DropPinPlaceHolder1" refType="h" fact="0.16"/>
                        <dgm:constr type="b" for="ch" forName="DropPinPlaceHolder1" refType="h"/>
                        <dgm:constr type="l" for="ch" forName="DropPinPlaceHolder1" refType="w" fact="0"/>
                        <dgm:constr type="w" for="ch" forName="L1TextContainer1" refType="w" fact="0.83"/>
                        <dgm:constr type="l" for="ch" forName="L1TextContainer1" refType="r" refFor="ch" refForName="DropPinPlaceHolder1"/>
                        <dgm:constr type="b" for="ch" forName="L1TextContainer1" refType="h" fact="0.755"/>
                        <dgm:constr type="t" for="ch" forName="L1TextContainer1" refType="h" fact="0.6"/>
                        <dgm:constr type="w" for="ch" forName="L2TextContainer1" refType="w" fact="0.83"/>
                        <dgm:constr type="l" for="ch" forName="L2TextContainer1" refType="r" refFor="ch" refForName="DropPinPlaceHolder1"/>
                        <dgm:constr type="b" for="ch" forName="L2TextContainer1" refType="h" fact="0.99"/>
                        <dgm:constr type="t" for="ch" forName="L2TextContainer1" refType="h" fact="0.755"/>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L1TextContainer1" refType="w" fact="0.83"/>
                        <dgm:constr type="l" for="ch" forName="L1TextContainer1" refType="w" fact="0"/>
                        <dgm:constr type="t" for="ch" forName="L1TextContainer1" refType="h" fact="0.01"/>
                        <dgm:constr type="b" for="ch" forName="L1TextContainer1" refType="h" fact="0.16"/>
                        <dgm:constr type="w" for="ch" forName="L2TextContainer1" refType="w" fact="0.83"/>
                        <dgm:constr type="l" for="ch" forName="L2TextContainer1" refType="w" fact="0"/>
                        <dgm:constr type="t" for="ch" forName="L2TextContainer1" refType="h" fact="0.16"/>
                        <dgm:constr type="b" for="ch" forName="L2TextContainer1" refType="h" fact="0.45"/>
                        <dgm:constr type="w" for="ch" forName="DropPinPlaceHolder1" refType="h" fact="0.16"/>
                        <dgm:constr type="h" for="ch" forName="DropPinPlaceHolder1" refType="h" fact="0.16"/>
                        <dgm:constr type="t" for="ch" forName="DropPinPlaceHolder1" refType="h" fact="0"/>
                        <dgm:constr type="r" for="ch" forName="DropPinPlaceHolder1" refType="w"/>
                        <dgm:constr type="w" for="ch" forName="ConnectLine1" refType="h" fact="0.01"/>
                        <dgm:constr type="ctrX" for="ch" forName="ConnectLine1" refType="ctrX" refFor="ch" refForName="DropPinPlaceHolder1"/>
                        <dgm:constr type="b" for="ch" forName="ConnectLine1" refType="h" fact="0.5"/>
                        <dgm:constr type="t" for="ch" forName="ConnectLine1" refType="b" refFor="ch" refForName="DropPinPlaceHolder1" fact="0"/>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L1TextContainer1" refType="w" fact="0.83"/>
                        <dgm:constr type="l" for="ch" forName="L1TextContainer1" refType="w" fact="0"/>
                        <dgm:constr type="b" for="ch" forName="L1TextContainer1" refType="h" fact="0.755"/>
                        <dgm:constr type="t" for="ch" forName="L1TextContainer1" refType="h" fact="0.6"/>
                        <dgm:constr type="w" for="ch" forName="L2TextContainer1" refType="w" fact="0.83"/>
                        <dgm:constr type="l" for="ch" forName="L2TextContainer1" refType="w" fact="0"/>
                        <dgm:constr type="b" for="ch" forName="L2TextContainer1" refType="h" fact="0.99"/>
                        <dgm:constr type="t" for="ch" forName="L2TextContainer1" refType="h" fact="0.755"/>
                        <dgm:constr type="w" for="ch" forName="DropPinPlaceHolder1" refType="h" fact="0.16"/>
                        <dgm:constr type="h" for="ch" forName="DropPinPlaceHolder1" refType="h" fact="0.16"/>
                        <dgm:constr type="b" for="ch" forName="DropPinPlaceHolder1" refType="h"/>
                        <dgm:constr type="r" for="ch" forName="DropPinPlaceHolder1" refType="w"/>
                        <dgm:constr type="w" for="ch" forName="ConnectLine1" refType="h" fact="0.01"/>
                        <dgm:constr type="ctrX" for="ch" forName="ConnectLine1" refType="ctrX" refFor="ch" refForName="DropPinPlaceHolder1"/>
                        <dgm:constr type="t" for="ch" forName="ConnectLine1" refType="h" fact="0.5"/>
                        <dgm:constr type="b" for="ch" forName="ConnectLine1" refType="b" refFor="ch" refForName="DropPinPlaceHolder1"/>
                        <dgm:constr type="w" for="ch" forName="ConnectorPoint1" refType="h" refFor="ch" refForName="DropPinPlaceHolder1" fact="0.325"/>
                        <dgm:constr type="h" for="ch" forName="ConnectorPoint1" refType="h" refFor="ch" refForName="DropPinPlaceHolder1" fact="0.325"/>
                        <dgm:constr type="ctrX" for="ch" forName="ConnectorPoint1" refType="ctrX" refFor="ch" refForName="ConnectLine1"/>
                        <dgm:constr type="ctrY" for="ch" forName="ConnectorPoint1" refType="h" fact="0.5"/>
                        <dgm:constr type="w" for="ch" forName="EmptyPlaceHolder1" refType="w"/>
                        <dgm:constr type="h" for="ch" forName="EmptyPlaceHolder1" refType="h" fact="0.5"/>
                        <dgm:constr type="t" for="ch" forName="EmptyPlaceHolder1" refType="h" fact="0"/>
                      </dgm:constrLst>
                    </dgm:else>
                  </dgm:choose>
                </dgm:else>
              </dgm:choose>
              <dgm:layoutNode name="DropPinPlaceHolder1">
                <dgm:alg type="composite"/>
                <dgm:shape xmlns:r="http://schemas.openxmlformats.org/officeDocument/2006/relationships" r:blip="">
                  <dgm:adjLst/>
                </dgm:shape>
                <dgm:constrLst>
                  <dgm:constr type="w" for="ch" forName="DropPin1" refType="w" fact="0"/>
                  <dgm:constr type="h" for="ch" forName="DropPin1" refType="h" fact="0"/>
                  <dgm:constr type="ctrX" for="ch" forName="DropPin1" refType="w" fact="0"/>
                  <dgm:constr type="ctrY" for="ch" forName="DropPin1" refType="h" fact="0"/>
                  <dgm:constr type="w" for="ch" forName="Ellipse1" refType="w" refFor="ch" refForName="DropPin1" fact="0"/>
                  <dgm:constr type="h" for="ch" forName="Ellipse1" refType="w" refFor="ch" refForName="DropPin1" fact="0"/>
                  <dgm:constr type="ctrX" for="ch" forName="Ellipse1" refType="ctrX" refFor="ch" refForName="DropPin1" fact="0"/>
                  <dgm:constr type="ctrY" for="ch" forName="Ellipse1" refType="ctrY" refFor="ch" refForName="DropPin1" fact="0"/>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1"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1" moveWith="ConnectLine1">
                <dgm:alg type="composite"/>
                <dgm:shape xmlns:r="http://schemas.openxmlformats.org/officeDocument/2006/relationships" r:blip="">
                  <dgm:adjLst/>
                </dgm:shape>
                <dgm:presOf/>
                <dgm:constrLst>
                  <dgm:constr type="w" for="ch" forName="Bullet1" refType="w"/>
                  <dgm:constr type="h" for="ch" forName="Bullet1" refType="w"/>
                  <dgm:constr type="ctrX" for="ch" forName="Bullet1" refType="w" fact="0.5"/>
                  <dgm:constr type="ctrY" for="ch" forName="Bullet1" refType="h" fact="0.5"/>
                </dgm:constrLst>
                <dgm:layoutNode name="Bullet1" styleLbl="node1NoLn">
                  <dgm:alg type="sp"/>
                  <dgm:shape xmlns:r="http://schemas.openxmlformats.org/officeDocument/2006/relationships" type="ellipse" r:blip="" zOrderOff="10">
                    <dgm:adjLst/>
                  </dgm:shape>
                  <dgm:presOf/>
                  <dgm:constrLst/>
                </dgm:layoutNode>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h" fact="0.16"/>
                        <dgm:constr type="b" for="ch" forName="L2TextContainer" refType="h" fact="0.45"/>
                        <dgm:constr type="w" for="ch" forName="L1TextContainer" refType="w" fact="0.83"/>
                        <dgm:constr type="l" for="ch" forName="L1TextContainer" refType="r" refFor="ch" refForName="DropPinPlaceHolder"/>
                        <dgm:constr type="t" for="ch" forName="L1TextContainer" refType="h" fact="0.01"/>
                        <dgm:constr type="b" for="ch" forName="L1TextContainer" refType="h" fact="0.16"/>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DropPinPlaceHolder" refType="h" fact="0.16"/>
                        <dgm:constr type="h" for="ch" forName="DropPinPlaceHolder" refType="h" fact="0.16"/>
                        <dgm:constr type="b" for="ch" forName="DropPinPlaceHolder" refType="h"/>
                        <dgm:constr type="l" for="ch" forName="DropPinPlaceHolder" refType="w" fact="0"/>
                        <dgm:constr type="w" for="ch" forName="L1TextContainer" refType="w" fact="0.83"/>
                        <dgm:constr type="l" for="ch" forName="L1TextContainer" refType="r" refFor="ch" refForName="DropPinPlaceHolder"/>
                        <dgm:constr type="b" for="ch" forName="L1TextContainer" refType="h" fact="0.755"/>
                        <dgm:constr type="t" for="ch" forName="L1TextContainer" refType="h" fact="0.6"/>
                        <dgm:constr type="w" for="ch" forName="L2TextContainer" refType="w" fact="0.83"/>
                        <dgm:constr type="l" for="ch" forName="L2TextContainer" refType="r" refFor="ch" refForName="DropPinPlaceHolder"/>
                        <dgm:constr type="b" for="ch" forName="L2TextContainer" refType="h" fact="0.99"/>
                        <dgm:constr type="t" for="ch" forName="L2TextContainer" refType="h" fact="0.755"/>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L1TextContainer" refType="w" fact="0.83"/>
                        <dgm:constr type="l" for="ch" forName="L1TextContainer" refType="w" fact="0"/>
                        <dgm:constr type="t" for="ch" forName="L1TextContainer" refType="h" fact="0.01"/>
                        <dgm:constr type="b" for="ch" forName="L1TextContainer" refType="h" fact="0.16"/>
                        <dgm:constr type="w" for="ch" forName="L2TextContainer" refType="w" fact="0.83"/>
                        <dgm:constr type="l" for="ch" forName="L2TextContainer" refType="w" fact="0"/>
                        <dgm:constr type="t" for="ch" forName="L2TextContainer" refType="h" fact="0.16"/>
                        <dgm:constr type="b" for="ch" forName="L2TextContainer" refType="h" fact="0.45"/>
                        <dgm:constr type="w" for="ch" forName="DropPinPlaceHolder" refType="h" fact="0.16"/>
                        <dgm:constr type="h" for="ch" forName="DropPinPlaceHolder" refType="h" fact="0.16"/>
                        <dgm:constr type="t" for="ch" forName="DropPinPlaceHolder" refType="h" fact="0"/>
                        <dgm:constr type="r" for="ch" forName="DropPinPlaceHolder" refType="w"/>
                        <dgm:constr type="w" for="ch" forName="ConnectLine" refType="h" fact="0.01"/>
                        <dgm:constr type="ctrX" for="ch" forName="ConnectLine" refType="ctrX" refFor="ch" refForName="DropPinPlaceHolder"/>
                        <dgm:constr type="b" for="ch" forName="ConnectLine" refType="h" fact="0.5"/>
                        <dgm:constr type="t" for="ch" forName="ConnectLine" refType="b" refFor="ch" refForName="DropPinPlaceHolder" fact="0"/>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L1TextContainer" refType="w" fact="0.83"/>
                        <dgm:constr type="l" for="ch" forName="L1TextContainer" refType="w" fact="0"/>
                        <dgm:constr type="b" for="ch" forName="L1TextContainer" refType="h" fact="0.755"/>
                        <dgm:constr type="t" for="ch" forName="L1TextContainer" refType="h" fact="0.6"/>
                        <dgm:constr type="w" for="ch" forName="L2TextContainer" refType="w" fact="0.83"/>
                        <dgm:constr type="l" for="ch" forName="L2TextContainer" refType="w" fact="0"/>
                        <dgm:constr type="b" for="ch" forName="L2TextContainer" refType="h" fact="0.99"/>
                        <dgm:constr type="t" for="ch" forName="L2TextContainer" refType="h" fact="0.755"/>
                        <dgm:constr type="w" for="ch" forName="DropPinPlaceHolder" refType="h" fact="0.16"/>
                        <dgm:constr type="h" for="ch" forName="DropPinPlaceHolder" refType="h" fact="0.16"/>
                        <dgm:constr type="b" for="ch" forName="DropPinPlaceHolder" refType="h"/>
                        <dgm:constr type="r" for="ch" forName="DropPinPlaceHolder" refType="w"/>
                        <dgm:constr type="w" for="ch" forName="ConnectLine" refType="h" fact="0.01"/>
                        <dgm:constr type="ctrX" for="ch" forName="ConnectLine" refType="ctrX" refFor="ch" refForName="DropPinPlaceHolder"/>
                        <dgm:constr type="t" for="ch" forName="ConnectLine" refType="h" fact="0.5"/>
                        <dgm:constr type="b" for="ch" forName="ConnectLine" refType="b" refFor="ch" refForName="DropPinPlaceHolder"/>
                        <dgm:constr type="w" for="ch" forName="ConnectorPoint" refType="h" refFor="ch" refForName="DropPinPlaceHolder" fact="0.325"/>
                        <dgm:constr type="h" for="ch" forName="ConnectorPoint" refType="h" refFor="ch" refForName="DropPinPlaceHolder" fact="0.325"/>
                        <dgm:constr type="ctrX" for="ch" forName="ConnectorPoint" refType="ctrX" refFor="ch" refForName="ConnectLine"/>
                        <dgm:constr type="ctrY" for="ch" forName="ConnectorPoint" refType="h" fact="0.5"/>
                        <dgm:constr type="w" for="ch" forName="EmptyPlaceHolder" refType="w"/>
                        <dgm:constr type="h" for="ch" forName="EmptyPlaceHolder" refType="h" fact="0.5"/>
                        <dgm:constr type="t" for="ch" forName="EmptyPlaceHolder" refType="h" fact="0"/>
                      </dgm:constrLst>
                    </dgm:else>
                  </dgm:choose>
                </dgm:else>
              </dgm:choose>
              <dgm:layoutNode name="DropPinPlaceHolder">
                <dgm:alg type="composite"/>
                <dgm:shape xmlns:r="http://schemas.openxmlformats.org/officeDocument/2006/relationships" r:blip="">
                  <dgm:adjLst/>
                </dgm:shape>
                <dgm:constrLst>
                  <dgm:constr type="w" for="ch" forName="DropPin" refType="w" fact="0"/>
                  <dgm:constr type="h" for="ch" forName="DropPin" refType="h" fact="0"/>
                  <dgm:constr type="ctrX" for="ch" forName="DropPin" refType="w" fact="0"/>
                  <dgm:constr type="ctrY" for="ch" forName="DropPin" refType="h" fact="0"/>
                  <dgm:constr type="w" for="ch" forName="Ellipse" refType="w" refFor="ch" refForName="DropPin" fact="0"/>
                  <dgm:constr type="h" for="ch" forName="Ellipse" refType="w" refFor="ch" refForName="DropPin" fact="0"/>
                  <dgm:constr type="ctrX" for="ch" forName="Ellipse" refType="ctrX" refFor="ch" refForName="DropPin" fact="0"/>
                  <dgm:constr type="ctrY" for="ch" forName="Ellipse" refType="ctrY" refFor="ch" refForName="DropPin" fact="0"/>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if>
                  <dgm:else name="Name88">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dgm:constr type="bMarg"/>
                    </dgm:constrLst>
                  </dgm:else>
                </dgm:choose>
                <dgm:shape xmlns:r="http://schemas.openxmlformats.org/officeDocument/2006/relationships" type="rect" r:blip="">
                  <dgm:adjLst/>
                </dgm:shape>
                <dgm:presOf axis="des" ptType="node"/>
                <dgm:ruleLst>
                  <dgm:rule type="primFontSz" val="5"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dgm:constr type="tMarg"/>
                  <dgm:constr type="bMarg"/>
                </dgm:constrLst>
                <dgm:ruleLst>
                  <dgm:rule type="primFontSz" val="5" fact="NaN" max="NaN"/>
                </dgm:ruleLst>
              </dgm:layoutNode>
              <dgm:layoutNode name="ConnectLine" styleLbl="dkBgShp">
                <dgm:alg type="sp"/>
                <dgm:shape xmlns:r="http://schemas.openxmlformats.org/officeDocument/2006/relationships" type="rect" r:blip="">
                  <dgm:adjLst/>
                  <dgm:extLst>
                    <a:ext uri="{B698B0E9-8C71-41B9-8309-B3DCBF30829C}">
                      <dgm1612:spPr xmlns:dgm1612="http://schemas.microsoft.com/office/drawing/2016/12/diagram">
                        <a:gradFill rotWithShape="0">
                          <a:gsLst>
                            <a:gs pos="0">
                              <a:schemeClr val="accent1">
                                <a:tint val="76000"/>
                              </a:schemeClr>
                            </a:gs>
                            <a:gs pos="100000">
                              <a:schemeClr val="accent1">
                                <a:tint val="76000"/>
                              </a:schemeClr>
                            </a:gs>
                          </a:gsLst>
                          <a:lin ang="0" scaled="0"/>
                        </a:gradFill>
                      </dgm1612:spPr>
                    </a:ext>
                  </dgm:extLst>
                </dgm:shape>
                <dgm:presOf/>
                <dgm:constrLst/>
              </dgm:layoutNode>
              <dgm:layoutNode name="ConnectorPoint" moveWith="ConnectLine">
                <dgm:alg type="composite"/>
                <dgm:shape xmlns:r="http://schemas.openxmlformats.org/officeDocument/2006/relationships" r:blip="">
                  <dgm:adjLst/>
                </dgm:shape>
                <dgm:presOf/>
                <dgm:constrLst>
                  <dgm:constr type="w" for="ch" forName="Bullet" refType="w"/>
                  <dgm:constr type="h" for="ch" forName="Bullet" refType="w"/>
                  <dgm:constr type="ctrX" for="ch" forName="Bullet" refType="w" fact="0.5"/>
                  <dgm:constr type="ctrY" for="ch" forName="Bullet" refType="h" fact="0.5"/>
                </dgm:constrLst>
                <dgm:layoutNode name="Bullet" styleLbl="node1NoLn">
                  <dgm:alg type="sp"/>
                  <dgm:shape xmlns:r="http://schemas.openxmlformats.org/officeDocument/2006/relationships" type="ellipse" r:blip="" zOrderOff="10">
                    <dgm:adjLst/>
                  </dgm:shape>
                  <dgm:presOf/>
                  <dgm:constrLst/>
                </dgm:layoutNode>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5.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3#1">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1#2">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3">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4">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2#5">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0.11146</cdr:x>
      <cdr:y>0.57986</cdr:y>
    </cdr:from>
    <cdr:to>
      <cdr:x>0.86771</cdr:x>
      <cdr:y>0.75347</cdr:y>
    </cdr:to>
    <cdr:cxnSp macro="">
      <cdr:nvCxnSpPr>
        <cdr:cNvPr id="5" name="Straight Connector 4">
          <a:extLst xmlns:a="http://schemas.openxmlformats.org/drawingml/2006/main">
            <a:ext uri="{FF2B5EF4-FFF2-40B4-BE49-F238E27FC236}">
              <a16:creationId xmlns:a16="http://schemas.microsoft.com/office/drawing/2014/main" id="{92EF9FCC-F6E8-2F86-FBE6-2E7BD04FC3B1}"/>
            </a:ext>
          </a:extLst>
        </cdr:cNvPr>
        <cdr:cNvCxnSpPr/>
      </cdr:nvCxnSpPr>
      <cdr:spPr>
        <a:xfrm xmlns:a="http://schemas.openxmlformats.org/drawingml/2006/main" flipV="1">
          <a:off x="509588" y="1590669"/>
          <a:ext cx="3457575" cy="476251"/>
        </a:xfrm>
        <a:prstGeom xmlns:a="http://schemas.openxmlformats.org/drawingml/2006/main" prst="line">
          <a:avLst/>
        </a:prstGeom>
        <a:ln xmlns:a="http://schemas.openxmlformats.org/drawingml/2006/main">
          <a:prstDash val="lgDashDotDot"/>
        </a:ln>
      </cdr:spPr>
      <cdr:style>
        <a:lnRef xmlns:a="http://schemas.openxmlformats.org/drawingml/2006/main" idx="1">
          <a:schemeClr val="dk1"/>
        </a:lnRef>
        <a:fillRef xmlns:a="http://schemas.openxmlformats.org/drawingml/2006/main" idx="0">
          <a:schemeClr val="dk1"/>
        </a:fillRef>
        <a:effectRef xmlns:a="http://schemas.openxmlformats.org/drawingml/2006/main" idx="0">
          <a:schemeClr val="dk1"/>
        </a:effectRef>
        <a:fontRef xmlns:a="http://schemas.openxmlformats.org/drawingml/2006/main" idx="minor">
          <a:schemeClr val="tx1"/>
        </a:fontRef>
      </cdr:style>
    </cdr:cxnSp>
  </cdr:relSizeAnchor>
  <cdr:relSizeAnchor xmlns:cdr="http://schemas.openxmlformats.org/drawingml/2006/chartDrawing">
    <cdr:from>
      <cdr:x>0.09896</cdr:x>
      <cdr:y>0.38541</cdr:y>
    </cdr:from>
    <cdr:to>
      <cdr:x>0.87396</cdr:x>
      <cdr:y>0.86111</cdr:y>
    </cdr:to>
    <cdr:cxnSp macro="">
      <cdr:nvCxnSpPr>
        <cdr:cNvPr id="7" name="Straight Connector 6">
          <a:extLst xmlns:a="http://schemas.openxmlformats.org/drawingml/2006/main">
            <a:ext uri="{FF2B5EF4-FFF2-40B4-BE49-F238E27FC236}">
              <a16:creationId xmlns:a16="http://schemas.microsoft.com/office/drawing/2014/main" id="{37605CB5-4D46-713F-00F7-7883288564FE}"/>
            </a:ext>
          </a:extLst>
        </cdr:cNvPr>
        <cdr:cNvCxnSpPr/>
      </cdr:nvCxnSpPr>
      <cdr:spPr>
        <a:xfrm xmlns:a="http://schemas.openxmlformats.org/drawingml/2006/main" flipV="1">
          <a:off x="452438" y="1057269"/>
          <a:ext cx="3543300" cy="1304925"/>
        </a:xfrm>
        <a:prstGeom xmlns:a="http://schemas.openxmlformats.org/drawingml/2006/main" prst="line">
          <a:avLst/>
        </a:prstGeom>
        <a:ln xmlns:a="http://schemas.openxmlformats.org/drawingml/2006/main" w="6350">
          <a:prstDash val="dash"/>
        </a:ln>
      </cdr:spPr>
      <cdr: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cdr:style>
    </cdr:cxnSp>
  </cdr:relSizeAnchor>
  <cdr:relSizeAnchor xmlns:cdr="http://schemas.openxmlformats.org/drawingml/2006/chartDrawing">
    <cdr:from>
      <cdr:x>0.51212</cdr:x>
      <cdr:y>0.28125</cdr:y>
    </cdr:from>
    <cdr:to>
      <cdr:x>0.58905</cdr:x>
      <cdr:y>0.54035</cdr:y>
    </cdr:to>
    <cdr:cxnSp macro="">
      <cdr:nvCxnSpPr>
        <cdr:cNvPr id="9" name="Straight Arrow Connector 8">
          <a:extLst xmlns:a="http://schemas.openxmlformats.org/drawingml/2006/main">
            <a:ext uri="{FF2B5EF4-FFF2-40B4-BE49-F238E27FC236}">
              <a16:creationId xmlns:a16="http://schemas.microsoft.com/office/drawing/2014/main" id="{6F3021E3-3F3D-2698-CECA-683370550FF7}"/>
            </a:ext>
          </a:extLst>
        </cdr:cNvPr>
        <cdr:cNvCxnSpPr/>
      </cdr:nvCxnSpPr>
      <cdr:spPr>
        <a:xfrm xmlns:a="http://schemas.openxmlformats.org/drawingml/2006/main">
          <a:off x="2796525" y="1002445"/>
          <a:ext cx="420068" cy="923505"/>
        </a:xfrm>
        <a:prstGeom xmlns:a="http://schemas.openxmlformats.org/drawingml/2006/main" prst="straightConnector1">
          <a:avLst/>
        </a:prstGeom>
        <a:ln xmlns:a="http://schemas.openxmlformats.org/drawingml/2006/main">
          <a:prstDash val="dash"/>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0.17708</cdr:x>
      <cdr:y>0.46875</cdr:y>
    </cdr:from>
    <cdr:to>
      <cdr:x>0.25313</cdr:x>
      <cdr:y>0.72338</cdr:y>
    </cdr:to>
    <cdr:cxnSp macro="">
      <cdr:nvCxnSpPr>
        <cdr:cNvPr id="10" name="Straight Arrow Connector 9">
          <a:extLst xmlns:a="http://schemas.openxmlformats.org/drawingml/2006/main">
            <a:ext uri="{FF2B5EF4-FFF2-40B4-BE49-F238E27FC236}">
              <a16:creationId xmlns:a16="http://schemas.microsoft.com/office/drawing/2014/main" id="{DDF4FD28-9996-29E9-8F5D-F28512A21096}"/>
            </a:ext>
          </a:extLst>
        </cdr:cNvPr>
        <cdr:cNvCxnSpPr/>
      </cdr:nvCxnSpPr>
      <cdr:spPr>
        <a:xfrm xmlns:a="http://schemas.openxmlformats.org/drawingml/2006/main" flipH="1">
          <a:off x="809625" y="1285869"/>
          <a:ext cx="347663" cy="698506"/>
        </a:xfrm>
        <a:prstGeom xmlns:a="http://schemas.openxmlformats.org/drawingml/2006/main" prst="straightConnector1">
          <a:avLst/>
        </a:prstGeom>
        <a:ln xmlns:a="http://schemas.openxmlformats.org/drawingml/2006/main" w="3175">
          <a:solidFill>
            <a:schemeClr val="tx1"/>
          </a:solidFill>
          <a:prstDash val="lgDashDotDot"/>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0.15938</cdr:x>
      <cdr:y>0.3368</cdr:y>
    </cdr:from>
    <cdr:to>
      <cdr:x>0.38438</cdr:x>
      <cdr:y>0.51041</cdr:y>
    </cdr:to>
    <cdr:sp macro="" textlink="">
      <cdr:nvSpPr>
        <cdr:cNvPr id="12" name="TextBox 11"/>
        <cdr:cNvSpPr txBox="1"/>
      </cdr:nvSpPr>
      <cdr:spPr>
        <a:xfrm xmlns:a="http://schemas.openxmlformats.org/drawingml/2006/main">
          <a:off x="728663" y="923920"/>
          <a:ext cx="1028700" cy="47625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pPr algn="ctr"/>
          <a:r>
            <a:rPr lang="en-GB" sz="1000"/>
            <a:t>Trend</a:t>
          </a:r>
          <a:r>
            <a:rPr lang="en-GB" sz="1000" baseline="0"/>
            <a:t> with data till 2010</a:t>
          </a:r>
          <a:endParaRPr lang="en-GB" sz="1000"/>
        </a:p>
      </cdr:txBody>
    </cdr:sp>
  </cdr:relSizeAnchor>
  <cdr:relSizeAnchor xmlns:cdr="http://schemas.openxmlformats.org/drawingml/2006/chartDrawing">
    <cdr:from>
      <cdr:x>0.3625</cdr:x>
      <cdr:y>0.17824</cdr:y>
    </cdr:from>
    <cdr:to>
      <cdr:x>0.5875</cdr:x>
      <cdr:y>0.35185</cdr:y>
    </cdr:to>
    <cdr:sp macro="" textlink="">
      <cdr:nvSpPr>
        <cdr:cNvPr id="15" name="TextBox 1"/>
        <cdr:cNvSpPr txBox="1"/>
      </cdr:nvSpPr>
      <cdr:spPr>
        <a:xfrm xmlns:a="http://schemas.openxmlformats.org/drawingml/2006/main">
          <a:off x="1709121" y="488948"/>
          <a:ext cx="1060847" cy="476247"/>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GB" sz="1000"/>
            <a:t>Trend</a:t>
          </a:r>
          <a:r>
            <a:rPr lang="en-GB" sz="1000" baseline="0"/>
            <a:t> with full data</a:t>
          </a:r>
          <a:endParaRPr lang="en-GB" sz="1000"/>
        </a:p>
      </cdr:txBody>
    </cdr:sp>
  </cdr:relSizeAnchor>
  <cdr:relSizeAnchor xmlns:cdr="http://schemas.openxmlformats.org/drawingml/2006/chartDrawing">
    <cdr:from>
      <cdr:x>0.67737</cdr:x>
      <cdr:y>0.18904</cdr:y>
    </cdr:from>
    <cdr:to>
      <cdr:x>0.72173</cdr:x>
      <cdr:y>0.42277</cdr:y>
    </cdr:to>
    <cdr:cxnSp macro="">
      <cdr:nvCxnSpPr>
        <cdr:cNvPr id="8" name="Straight Arrow Connector 7">
          <a:extLst xmlns:a="http://schemas.openxmlformats.org/drawingml/2006/main">
            <a:ext uri="{FF2B5EF4-FFF2-40B4-BE49-F238E27FC236}">
              <a16:creationId xmlns:a16="http://schemas.microsoft.com/office/drawing/2014/main" id="{C84EE732-A47D-B797-D2BC-B318FBD99C06}"/>
            </a:ext>
          </a:extLst>
        </cdr:cNvPr>
        <cdr:cNvCxnSpPr/>
      </cdr:nvCxnSpPr>
      <cdr:spPr>
        <a:xfrm xmlns:a="http://schemas.openxmlformats.org/drawingml/2006/main">
          <a:off x="3737615" y="673786"/>
          <a:ext cx="244788" cy="833064"/>
        </a:xfrm>
        <a:prstGeom xmlns:a="http://schemas.openxmlformats.org/drawingml/2006/main" prst="straightConnector1">
          <a:avLst/>
        </a:prstGeom>
        <a:ln xmlns:a="http://schemas.openxmlformats.org/drawingml/2006/main">
          <a:prstDash val="dash"/>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0.55623</cdr:x>
      <cdr:y>0.13415</cdr:y>
    </cdr:from>
    <cdr:to>
      <cdr:x>0.78123</cdr:x>
      <cdr:y>0.20602</cdr:y>
    </cdr:to>
    <cdr:sp macro="" textlink="">
      <cdr:nvSpPr>
        <cdr:cNvPr id="11" name="TextBox 1"/>
        <cdr:cNvSpPr txBox="1"/>
      </cdr:nvSpPr>
      <cdr:spPr>
        <a:xfrm xmlns:a="http://schemas.openxmlformats.org/drawingml/2006/main">
          <a:off x="3037396" y="478149"/>
          <a:ext cx="1228653" cy="256157"/>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pPr algn="ctr"/>
          <a:r>
            <a:rPr lang="en-GB" sz="1000"/>
            <a:t>Star</a:t>
          </a:r>
          <a:r>
            <a:rPr lang="en-GB" sz="1000" baseline="0"/>
            <a:t> Wars movies</a:t>
          </a:r>
          <a:endParaRPr lang="en-GB" sz="1000"/>
        </a:p>
      </cdr:txBody>
    </cdr:sp>
  </cdr:relSizeAnchor>
  <cdr:relSizeAnchor xmlns:cdr="http://schemas.openxmlformats.org/drawingml/2006/chartDrawing">
    <cdr:from>
      <cdr:x>0.59675</cdr:x>
      <cdr:y>0.19946</cdr:y>
    </cdr:from>
    <cdr:to>
      <cdr:x>0.67333</cdr:x>
      <cdr:y>0.62694</cdr:y>
    </cdr:to>
    <cdr:cxnSp macro="">
      <cdr:nvCxnSpPr>
        <cdr:cNvPr id="13" name="Straight Arrow Connector 12">
          <a:extLst xmlns:a="http://schemas.openxmlformats.org/drawingml/2006/main">
            <a:ext uri="{FF2B5EF4-FFF2-40B4-BE49-F238E27FC236}">
              <a16:creationId xmlns:a16="http://schemas.microsoft.com/office/drawing/2014/main" id="{3863FD45-3A23-44ED-9D78-DD80E2CF8B55}"/>
            </a:ext>
          </a:extLst>
        </cdr:cNvPr>
        <cdr:cNvCxnSpPr/>
      </cdr:nvCxnSpPr>
      <cdr:spPr>
        <a:xfrm xmlns:a="http://schemas.openxmlformats.org/drawingml/2006/main" flipH="1">
          <a:off x="3292793" y="710925"/>
          <a:ext cx="422529" cy="1523635"/>
        </a:xfrm>
        <a:prstGeom xmlns:a="http://schemas.openxmlformats.org/drawingml/2006/main" prst="straightConnector1">
          <a:avLst/>
        </a:prstGeom>
        <a:ln xmlns:a="http://schemas.openxmlformats.org/drawingml/2006/main">
          <a:prstDash val="dash"/>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dr:relSizeAnchor xmlns:cdr="http://schemas.openxmlformats.org/drawingml/2006/chartDrawing">
    <cdr:from>
      <cdr:x>0.73278</cdr:x>
      <cdr:y>0.06895</cdr:y>
    </cdr:from>
    <cdr:to>
      <cdr:x>0.87162</cdr:x>
      <cdr:y>0.17156</cdr:y>
    </cdr:to>
    <cdr:sp macro="" textlink="">
      <cdr:nvSpPr>
        <cdr:cNvPr id="3" name="Rectangle 2"/>
        <cdr:cNvSpPr/>
      </cdr:nvSpPr>
      <cdr:spPr>
        <a:xfrm xmlns:a="http://schemas.openxmlformats.org/drawingml/2006/main">
          <a:off x="4001453" y="245740"/>
          <a:ext cx="758190" cy="365760"/>
        </a:xfrm>
        <a:prstGeom xmlns:a="http://schemas.openxmlformats.org/drawingml/2006/main" prst="rect">
          <a:avLst/>
        </a:prstGeom>
        <a:noFill xmlns:a="http://schemas.openxmlformats.org/drawingml/2006/main"/>
        <a:ln xmlns:a="http://schemas.openxmlformats.org/drawingml/2006/main">
          <a:noFill/>
        </a:l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pPr algn="ctr"/>
          <a:r>
            <a:rPr lang="en-US">
              <a:solidFill>
                <a:schemeClr val="bg2">
                  <a:lumMod val="10000"/>
                </a:schemeClr>
              </a:solidFill>
            </a:rPr>
            <a:t>COVID</a:t>
          </a:r>
        </a:p>
      </cdr:txBody>
    </cdr:sp>
  </cdr:relSizeAnchor>
  <cdr:relSizeAnchor xmlns:cdr="http://schemas.openxmlformats.org/drawingml/2006/chartDrawing">
    <cdr:from>
      <cdr:x>0.75557</cdr:x>
      <cdr:y>0.12774</cdr:y>
    </cdr:from>
    <cdr:to>
      <cdr:x>0.77882</cdr:x>
      <cdr:y>0.35649</cdr:y>
    </cdr:to>
    <cdr:cxnSp macro="">
      <cdr:nvCxnSpPr>
        <cdr:cNvPr id="6" name="Straight Arrow Connector 5">
          <a:extLst xmlns:a="http://schemas.openxmlformats.org/drawingml/2006/main">
            <a:ext uri="{FF2B5EF4-FFF2-40B4-BE49-F238E27FC236}">
              <a16:creationId xmlns:a16="http://schemas.microsoft.com/office/drawing/2014/main" id="{0D05D344-D698-F524-A4FE-1567D01AB5C5}"/>
            </a:ext>
          </a:extLst>
        </cdr:cNvPr>
        <cdr:cNvCxnSpPr/>
      </cdr:nvCxnSpPr>
      <cdr:spPr>
        <a:xfrm xmlns:a="http://schemas.openxmlformats.org/drawingml/2006/main" flipH="1">
          <a:off x="4169093" y="455297"/>
          <a:ext cx="128306" cy="815333"/>
        </a:xfrm>
        <a:prstGeom xmlns:a="http://schemas.openxmlformats.org/drawingml/2006/main" prst="straightConnector1">
          <a:avLst/>
        </a:prstGeom>
        <a:ln xmlns:a="http://schemas.openxmlformats.org/drawingml/2006/main">
          <a:prstDash val="sysDash"/>
          <a:tailEnd type="triangle"/>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7F3A3B-FBB7-4527-ACBC-E61B1BFDCB9C}" type="datetimeFigureOut">
              <a:rPr lang="en-GB" smtClean="0"/>
              <a:pPr/>
              <a:t>13/09/2026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E33B171-EC3D-417A-9EFD-5C2195FF0440}" type="slidenum">
              <a:rPr lang="en-GB" smtClean="0"/>
              <a:pPr/>
              <a:t>‹#›</a:t>
            </a:fld>
            <a:endParaRPr lang="en-GB"/>
          </a:p>
        </p:txBody>
      </p:sp>
    </p:spTree>
    <p:extLst>
      <p:ext uri="{BB962C8B-B14F-4D97-AF65-F5344CB8AC3E}">
        <p14:creationId xmlns:p14="http://schemas.microsoft.com/office/powerpoint/2010/main" val="38014846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www.telegram.com/article/20130211/COLUMN70/130219936/1002" TargetMode="External"/><Relationship Id="rId2" Type="http://schemas.openxmlformats.org/officeDocument/2006/relationships/slide" Target="../slides/slide22.xml"/><Relationship Id="rId1" Type="http://schemas.openxmlformats.org/officeDocument/2006/relationships/notesMaster" Target="../notesMasters/notesMaster1.xml"/><Relationship Id="rId5" Type="http://schemas.openxmlformats.org/officeDocument/2006/relationships/hyperlink" Target="http://www.voxxi.com/apples-stock-falls-blackberrys-bb10-back/" TargetMode="External"/><Relationship Id="rId4" Type="http://schemas.openxmlformats.org/officeDocument/2006/relationships/hyperlink" Target="http://blogs.reuters.com/breakingviews/2013/02/11/dell-lbo-objectors-in-tight-corner/"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GB" dirty="0"/>
              <a:t>Why Market Value of share price????</a:t>
            </a:r>
          </a:p>
          <a:p>
            <a:pPr lvl="0" rtl="0"/>
            <a:endParaRPr lang="en-GB" dirty="0"/>
          </a:p>
          <a:p>
            <a:pPr lvl="0" rtl="0"/>
            <a:r>
              <a:rPr lang="en-GB" dirty="0"/>
              <a:t>It reflects investors opinions about</a:t>
            </a:r>
          </a:p>
          <a:p>
            <a:pPr lvl="1" rtl="0"/>
            <a:r>
              <a:rPr lang="en-GB" dirty="0"/>
              <a:t>The quality of the investments</a:t>
            </a:r>
          </a:p>
          <a:p>
            <a:pPr lvl="1" rtl="0"/>
            <a:r>
              <a:rPr lang="en-GB" dirty="0"/>
              <a:t>The riskiness of the firm and thus, its cost</a:t>
            </a:r>
          </a:p>
          <a:p>
            <a:pPr lvl="1" rtl="0"/>
            <a:r>
              <a:rPr lang="en-GB" dirty="0"/>
              <a:t>Quality of decisions-management</a:t>
            </a:r>
          </a:p>
          <a:p>
            <a:pPr lvl="0" rtl="0"/>
            <a:r>
              <a:rPr lang="en-GB" dirty="0"/>
              <a:t>Maximizing stock price does not mean that </a:t>
            </a:r>
          </a:p>
          <a:p>
            <a:pPr lvl="1" rtl="0"/>
            <a:r>
              <a:rPr lang="en-GB" dirty="0"/>
              <a:t>We do not care about employees</a:t>
            </a:r>
          </a:p>
          <a:p>
            <a:pPr lvl="1" rtl="0"/>
            <a:r>
              <a:rPr lang="en-GB" dirty="0"/>
              <a:t>We do not care about customers </a:t>
            </a:r>
          </a:p>
          <a:p>
            <a:pPr lvl="1" rtl="0"/>
            <a:r>
              <a:rPr lang="en-GB" dirty="0"/>
              <a:t>We do not care about social interactions</a:t>
            </a:r>
          </a:p>
          <a:p>
            <a:pPr lvl="0" rtl="0"/>
            <a:r>
              <a:rPr lang="en-GB" dirty="0"/>
              <a:t>If investors are rational (are they?), stock prices reflect the wisdom of decisions</a:t>
            </a:r>
          </a:p>
          <a:p>
            <a:pPr lvl="1" rtl="0"/>
            <a:r>
              <a:rPr lang="en-GB" dirty="0"/>
              <a:t>Instantaneously</a:t>
            </a:r>
          </a:p>
          <a:p>
            <a:pPr lvl="1" rtl="0"/>
            <a:r>
              <a:rPr lang="en-GB" dirty="0"/>
              <a:t>Are updated continuously</a:t>
            </a:r>
          </a:p>
          <a:p>
            <a:endParaRPr lang="en-GB" dirty="0"/>
          </a:p>
        </p:txBody>
      </p:sp>
      <p:sp>
        <p:nvSpPr>
          <p:cNvPr id="4" name="Slide Number Placeholder 3"/>
          <p:cNvSpPr>
            <a:spLocks noGrp="1"/>
          </p:cNvSpPr>
          <p:nvPr>
            <p:ph type="sldNum" sz="quarter" idx="10"/>
          </p:nvPr>
        </p:nvSpPr>
        <p:spPr/>
        <p:txBody>
          <a:bodyPr/>
          <a:lstStyle/>
          <a:p>
            <a:fld id="{AC12B62D-98B4-49F9-BAD9-4CB257EE2B36}" type="slidenum">
              <a:rPr lang="en-GB" smtClean="0"/>
              <a:t>3</a:t>
            </a:fld>
            <a:endParaRPr lang="en-GB" dirty="0"/>
          </a:p>
        </p:txBody>
      </p:sp>
    </p:spTree>
    <p:extLst>
      <p:ext uri="{BB962C8B-B14F-4D97-AF65-F5344CB8AC3E}">
        <p14:creationId xmlns:p14="http://schemas.microsoft.com/office/powerpoint/2010/main" val="35198197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simples</a:t>
            </a:r>
            <a:r>
              <a:rPr lang="en-GB" baseline="0" dirty="0"/>
              <a:t>t approach is the following</a:t>
            </a:r>
          </a:p>
          <a:p>
            <a:endParaRPr lang="en-GB" baseline="0" dirty="0"/>
          </a:p>
          <a:p>
            <a:pPr marL="228600" indent="-228600">
              <a:buAutoNum type="arabicPeriod"/>
            </a:pPr>
            <a:r>
              <a:rPr lang="en-GB" baseline="0" dirty="0"/>
              <a:t>The value of the firm is the present value of all the cash flows we expect. Assuming constant growth this would be V=(FCFFt+1)/(</a:t>
            </a:r>
            <a:r>
              <a:rPr lang="en-GB" baseline="0" dirty="0" err="1"/>
              <a:t>wacc</a:t>
            </a:r>
            <a:r>
              <a:rPr lang="en-GB" baseline="0" dirty="0"/>
              <a:t>-g)</a:t>
            </a:r>
          </a:p>
          <a:p>
            <a:pPr marL="228600" indent="-228600">
              <a:buAutoNum type="arabicPeriod"/>
            </a:pPr>
            <a:r>
              <a:rPr lang="en-GB" baseline="0" dirty="0"/>
              <a:t>FCF equals the profit (NOPLAT) minus investments: FCF=NOPLAT(1-Investment rate)</a:t>
            </a:r>
          </a:p>
          <a:p>
            <a:pPr marL="228600" indent="-228600">
              <a:buAutoNum type="arabicPeriod"/>
            </a:pPr>
            <a:r>
              <a:rPr lang="en-GB" baseline="0" dirty="0"/>
              <a:t>We also know that growth, g, comes from re-investments and how much we can earn on them: g = ROIC x Investment Rate</a:t>
            </a:r>
          </a:p>
          <a:p>
            <a:pPr marL="228600" indent="-228600">
              <a:buAutoNum type="arabicPeriod"/>
            </a:pPr>
            <a:r>
              <a:rPr lang="en-GB" baseline="0" dirty="0"/>
              <a:t>Therefore, the simplest approach that binds all together is V = (NOPLATt+1 * (1-g/IR)) / (</a:t>
            </a:r>
            <a:r>
              <a:rPr lang="en-GB" baseline="0" dirty="0" err="1"/>
              <a:t>wacc</a:t>
            </a:r>
            <a:r>
              <a:rPr lang="en-GB" baseline="0" dirty="0"/>
              <a:t> – g)</a:t>
            </a:r>
          </a:p>
          <a:p>
            <a:pPr marL="228600" indent="-228600">
              <a:buAutoNum type="arabicPeriod"/>
            </a:pPr>
            <a:endParaRPr lang="en-GB" dirty="0"/>
          </a:p>
        </p:txBody>
      </p:sp>
      <p:sp>
        <p:nvSpPr>
          <p:cNvPr id="4" name="Slide Number Placeholder 3"/>
          <p:cNvSpPr>
            <a:spLocks noGrp="1"/>
          </p:cNvSpPr>
          <p:nvPr>
            <p:ph type="sldNum" sz="quarter" idx="10"/>
          </p:nvPr>
        </p:nvSpPr>
        <p:spPr/>
        <p:txBody>
          <a:bodyPr/>
          <a:lstStyle/>
          <a:p>
            <a:fld id="{FE33B171-EC3D-417A-9EFD-5C2195FF0440}" type="slidenum">
              <a:rPr lang="en-GB" smtClean="0"/>
              <a:pPr/>
              <a:t>6</a:t>
            </a:fld>
            <a:endParaRPr lang="en-GB"/>
          </a:p>
        </p:txBody>
      </p:sp>
    </p:spTree>
    <p:extLst>
      <p:ext uri="{BB962C8B-B14F-4D97-AF65-F5344CB8AC3E}">
        <p14:creationId xmlns:p14="http://schemas.microsoft.com/office/powerpoint/2010/main" val="23349011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Maximize value</a:t>
            </a:r>
          </a:p>
          <a:p>
            <a:pPr lvl="1"/>
            <a:r>
              <a:rPr lang="en-GB" sz="3600" b="1" dirty="0"/>
              <a:t>Financing Decision</a:t>
            </a:r>
          </a:p>
          <a:p>
            <a:pPr lvl="1"/>
            <a:r>
              <a:rPr lang="en-GB" sz="2400" dirty="0"/>
              <a:t>Find the right financing mix that minimizes cost</a:t>
            </a:r>
          </a:p>
          <a:p>
            <a:pPr lvl="1"/>
            <a:r>
              <a:rPr lang="en-GB" sz="3600" b="1" dirty="0"/>
              <a:t>Investment Decision</a:t>
            </a:r>
          </a:p>
          <a:p>
            <a:pPr lvl="1"/>
            <a:r>
              <a:rPr lang="en-GB" sz="2400" dirty="0"/>
              <a:t>Find Investments that earn more than they cost</a:t>
            </a:r>
          </a:p>
          <a:p>
            <a:pPr lvl="1"/>
            <a:r>
              <a:rPr lang="en-GB" sz="3600" b="1" dirty="0"/>
              <a:t>Dividend Decision</a:t>
            </a:r>
          </a:p>
          <a:p>
            <a:pPr lvl="1"/>
            <a:r>
              <a:rPr lang="en-GB" sz="2400" dirty="0"/>
              <a:t>If you cannot find good investments, distribute cash</a:t>
            </a:r>
          </a:p>
          <a:p>
            <a:endParaRPr lang="en-GB" dirty="0"/>
          </a:p>
        </p:txBody>
      </p:sp>
      <p:sp>
        <p:nvSpPr>
          <p:cNvPr id="4" name="Slide Number Placeholder 3"/>
          <p:cNvSpPr>
            <a:spLocks noGrp="1"/>
          </p:cNvSpPr>
          <p:nvPr>
            <p:ph type="sldNum" sz="quarter" idx="10"/>
          </p:nvPr>
        </p:nvSpPr>
        <p:spPr/>
        <p:txBody>
          <a:bodyPr/>
          <a:lstStyle/>
          <a:p>
            <a:fld id="{AC12B62D-98B4-49F9-BAD9-4CB257EE2B36}" type="slidenum">
              <a:rPr lang="en-GB" smtClean="0"/>
              <a:t>8</a:t>
            </a:fld>
            <a:endParaRPr lang="en-GB"/>
          </a:p>
        </p:txBody>
      </p:sp>
    </p:spTree>
    <p:extLst>
      <p:ext uri="{BB962C8B-B14F-4D97-AF65-F5344CB8AC3E}">
        <p14:creationId xmlns:p14="http://schemas.microsoft.com/office/powerpoint/2010/main" val="2989621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GB" dirty="0"/>
              <a:t>However things could</a:t>
            </a:r>
            <a:r>
              <a:rPr lang="en-GB" baseline="0" dirty="0"/>
              <a:t> go wrong</a:t>
            </a:r>
            <a:endParaRPr lang="en-GB" dirty="0"/>
          </a:p>
          <a:p>
            <a:pPr lvl="0" rtl="0"/>
            <a:endParaRPr lang="en-GB" dirty="0"/>
          </a:p>
          <a:p>
            <a:pPr lvl="0" rtl="0"/>
            <a:r>
              <a:rPr lang="en-GB" dirty="0"/>
              <a:t>Agency Problems</a:t>
            </a:r>
          </a:p>
          <a:p>
            <a:pPr lvl="1" rtl="0"/>
            <a:r>
              <a:rPr lang="en-GB" sz="1800" dirty="0"/>
              <a:t>Owners want higher dividends</a:t>
            </a:r>
          </a:p>
          <a:p>
            <a:pPr lvl="1" rtl="0"/>
            <a:r>
              <a:rPr lang="en-GB" sz="1800" dirty="0"/>
              <a:t>Managers want to invest for growth</a:t>
            </a:r>
          </a:p>
          <a:p>
            <a:pPr lvl="0" rtl="0"/>
            <a:r>
              <a:rPr lang="en-GB" dirty="0"/>
              <a:t>Wealth Transfer</a:t>
            </a:r>
          </a:p>
          <a:p>
            <a:pPr lvl="1" rtl="0"/>
            <a:r>
              <a:rPr lang="en-GB" sz="1800" dirty="0"/>
              <a:t>Lenders provide finances assuming stable risk</a:t>
            </a:r>
          </a:p>
          <a:p>
            <a:pPr lvl="1" rtl="0"/>
            <a:r>
              <a:rPr lang="en-GB" sz="1800" dirty="0"/>
              <a:t>Managers might decided to increase risk to increase profits</a:t>
            </a:r>
          </a:p>
          <a:p>
            <a:pPr lvl="0" rtl="0"/>
            <a:r>
              <a:rPr lang="en-GB" dirty="0"/>
              <a:t>Market Efficiency</a:t>
            </a:r>
          </a:p>
          <a:p>
            <a:pPr lvl="1" rtl="0"/>
            <a:r>
              <a:rPr lang="en-GB" sz="1800" dirty="0"/>
              <a:t>Information provided is filtrated </a:t>
            </a:r>
          </a:p>
          <a:p>
            <a:pPr lvl="1" rtl="0"/>
            <a:r>
              <a:rPr lang="en-GB" sz="1800" dirty="0"/>
              <a:t>Markets suffer from behavioural bias</a:t>
            </a:r>
          </a:p>
          <a:p>
            <a:pPr lvl="0" rtl="0"/>
            <a:r>
              <a:rPr lang="en-GB" dirty="0"/>
              <a:t>Social Impact</a:t>
            </a:r>
          </a:p>
          <a:p>
            <a:pPr lvl="1" rtl="0"/>
            <a:r>
              <a:rPr lang="en-US" sz="1800" dirty="0"/>
              <a:t>All social costs are not traced back to firm</a:t>
            </a:r>
            <a:endParaRPr lang="en-GB" sz="1800" dirty="0"/>
          </a:p>
          <a:p>
            <a:pPr lvl="1" rtl="0"/>
            <a:r>
              <a:rPr lang="en-GB" sz="1800" dirty="0"/>
              <a:t>Social benefits are difficult to measure</a:t>
            </a:r>
          </a:p>
          <a:p>
            <a:endParaRPr lang="en-GB" dirty="0"/>
          </a:p>
        </p:txBody>
      </p:sp>
      <p:sp>
        <p:nvSpPr>
          <p:cNvPr id="4" name="Slide Number Placeholder 3"/>
          <p:cNvSpPr>
            <a:spLocks noGrp="1"/>
          </p:cNvSpPr>
          <p:nvPr>
            <p:ph type="sldNum" sz="quarter" idx="10"/>
          </p:nvPr>
        </p:nvSpPr>
        <p:spPr/>
        <p:txBody>
          <a:bodyPr/>
          <a:lstStyle/>
          <a:p>
            <a:fld id="{FE33B171-EC3D-417A-9EFD-5C2195FF0440}" type="slidenum">
              <a:rPr lang="en-GB" smtClean="0"/>
              <a:pPr/>
              <a:t>11</a:t>
            </a:fld>
            <a:endParaRPr lang="en-GB"/>
          </a:p>
        </p:txBody>
      </p:sp>
    </p:spTree>
    <p:extLst>
      <p:ext uri="{BB962C8B-B14F-4D97-AF65-F5344CB8AC3E}">
        <p14:creationId xmlns:p14="http://schemas.microsoft.com/office/powerpoint/2010/main" val="3046506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https://www.theguardian.com/commentisfree/2026/jan/30/ai-bubble-mozilla</a:t>
            </a:r>
          </a:p>
        </p:txBody>
      </p:sp>
      <p:sp>
        <p:nvSpPr>
          <p:cNvPr id="4" name="Slide Number Placeholder 3"/>
          <p:cNvSpPr>
            <a:spLocks noGrp="1"/>
          </p:cNvSpPr>
          <p:nvPr>
            <p:ph type="sldNum" sz="quarter" idx="5"/>
          </p:nvPr>
        </p:nvSpPr>
        <p:spPr/>
        <p:txBody>
          <a:bodyPr/>
          <a:lstStyle/>
          <a:p>
            <a:fld id="{FE33B171-EC3D-417A-9EFD-5C2195FF0440}" type="slidenum">
              <a:rPr lang="en-GB" smtClean="0"/>
              <a:pPr/>
              <a:t>14</a:t>
            </a:fld>
            <a:endParaRPr lang="en-GB"/>
          </a:p>
        </p:txBody>
      </p:sp>
    </p:spTree>
    <p:extLst>
      <p:ext uri="{BB962C8B-B14F-4D97-AF65-F5344CB8AC3E}">
        <p14:creationId xmlns:p14="http://schemas.microsoft.com/office/powerpoint/2010/main" val="17343544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taken from </a:t>
            </a:r>
          </a:p>
          <a:p>
            <a:endParaRPr lang="en-GB" dirty="0"/>
          </a:p>
          <a:p>
            <a:r>
              <a:rPr lang="en-US" dirty="0"/>
              <a:t>https://www.quandl.com/data/EOD/AAPL-Apple-Inc-AAPL-Stock-Prices-Dividends-and-Splits</a:t>
            </a:r>
          </a:p>
        </p:txBody>
      </p:sp>
      <p:sp>
        <p:nvSpPr>
          <p:cNvPr id="4" name="Slide Number Placeholder 3"/>
          <p:cNvSpPr>
            <a:spLocks noGrp="1"/>
          </p:cNvSpPr>
          <p:nvPr>
            <p:ph type="sldNum" sz="quarter" idx="10"/>
          </p:nvPr>
        </p:nvSpPr>
        <p:spPr/>
        <p:txBody>
          <a:bodyPr/>
          <a:lstStyle/>
          <a:p>
            <a:fld id="{FE33B171-EC3D-417A-9EFD-5C2195FF0440}" type="slidenum">
              <a:rPr lang="en-GB" smtClean="0"/>
              <a:pPr/>
              <a:t>16</a:t>
            </a:fld>
            <a:endParaRPr lang="en-GB"/>
          </a:p>
        </p:txBody>
      </p:sp>
    </p:spTree>
    <p:extLst>
      <p:ext uri="{BB962C8B-B14F-4D97-AF65-F5344CB8AC3E}">
        <p14:creationId xmlns:p14="http://schemas.microsoft.com/office/powerpoint/2010/main" val="57766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 taken from</a:t>
            </a:r>
            <a:endParaRPr lang="en-US" dirty="0"/>
          </a:p>
          <a:p>
            <a:endParaRPr lang="en-US" dirty="0"/>
          </a:p>
          <a:p>
            <a:r>
              <a:rPr lang="en-US" dirty="0"/>
              <a:t>https://www.quandl.com/data/EOD/DIS-Walt-Disney-Company-The-DIS-Stock-Prices-Dividends-and-Splits</a:t>
            </a:r>
          </a:p>
        </p:txBody>
      </p:sp>
      <p:sp>
        <p:nvSpPr>
          <p:cNvPr id="4" name="Slide Number Placeholder 3"/>
          <p:cNvSpPr>
            <a:spLocks noGrp="1"/>
          </p:cNvSpPr>
          <p:nvPr>
            <p:ph type="sldNum" sz="quarter" idx="10"/>
          </p:nvPr>
        </p:nvSpPr>
        <p:spPr/>
        <p:txBody>
          <a:bodyPr/>
          <a:lstStyle/>
          <a:p>
            <a:fld id="{FE33B171-EC3D-417A-9EFD-5C2195FF0440}" type="slidenum">
              <a:rPr lang="en-GB" smtClean="0"/>
              <a:pPr/>
              <a:t>17</a:t>
            </a:fld>
            <a:endParaRPr lang="en-GB"/>
          </a:p>
        </p:txBody>
      </p:sp>
    </p:spTree>
    <p:extLst>
      <p:ext uri="{BB962C8B-B14F-4D97-AF65-F5344CB8AC3E}">
        <p14:creationId xmlns:p14="http://schemas.microsoft.com/office/powerpoint/2010/main" val="3074560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 can read chapters</a:t>
            </a:r>
            <a:r>
              <a:rPr lang="en-GB" baseline="0" dirty="0"/>
              <a:t> 6, 7 and 8 from </a:t>
            </a:r>
            <a:r>
              <a:rPr lang="en-GB" baseline="0" dirty="0" err="1"/>
              <a:t>Koller</a:t>
            </a:r>
            <a:r>
              <a:rPr lang="en-GB" baseline="0" dirty="0"/>
              <a:t> et al., (2010)</a:t>
            </a:r>
            <a:endParaRPr lang="en-GB" dirty="0"/>
          </a:p>
        </p:txBody>
      </p:sp>
      <p:sp>
        <p:nvSpPr>
          <p:cNvPr id="4" name="Slide Number Placeholder 3"/>
          <p:cNvSpPr>
            <a:spLocks noGrp="1"/>
          </p:cNvSpPr>
          <p:nvPr>
            <p:ph type="sldNum" sz="quarter" idx="10"/>
          </p:nvPr>
        </p:nvSpPr>
        <p:spPr/>
        <p:txBody>
          <a:bodyPr/>
          <a:lstStyle/>
          <a:p>
            <a:fld id="{FE33B171-EC3D-417A-9EFD-5C2195FF0440}" type="slidenum">
              <a:rPr lang="en-GB" smtClean="0"/>
              <a:pPr/>
              <a:t>18</a:t>
            </a:fld>
            <a:endParaRPr lang="en-GB"/>
          </a:p>
        </p:txBody>
      </p:sp>
    </p:spTree>
    <p:extLst>
      <p:ext uri="{BB962C8B-B14F-4D97-AF65-F5344CB8AC3E}">
        <p14:creationId xmlns:p14="http://schemas.microsoft.com/office/powerpoint/2010/main" val="3148286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https://finance.yahoo.com/quote/AAPL/analysis/?p=AAPL</a:t>
            </a:r>
          </a:p>
          <a:p>
            <a:r>
              <a:rPr lang="en-GB" dirty="0"/>
              <a:t>https://watcher.guru/news/us-stock-apple-price-prediction-for-2025</a:t>
            </a:r>
          </a:p>
        </p:txBody>
      </p:sp>
      <p:sp>
        <p:nvSpPr>
          <p:cNvPr id="4" name="Slide Number Placeholder 3"/>
          <p:cNvSpPr>
            <a:spLocks noGrp="1"/>
          </p:cNvSpPr>
          <p:nvPr>
            <p:ph type="sldNum" sz="quarter" idx="10"/>
          </p:nvPr>
        </p:nvSpPr>
        <p:spPr/>
        <p:txBody>
          <a:bodyPr/>
          <a:lstStyle/>
          <a:p>
            <a:fld id="{FE33B171-EC3D-417A-9EFD-5C2195FF0440}" type="slidenum">
              <a:rPr lang="en-GB" smtClean="0"/>
              <a:pPr/>
              <a:t>20</a:t>
            </a:fld>
            <a:endParaRPr lang="en-GB"/>
          </a:p>
        </p:txBody>
      </p:sp>
    </p:spTree>
    <p:extLst>
      <p:ext uri="{BB962C8B-B14F-4D97-AF65-F5344CB8AC3E}">
        <p14:creationId xmlns:p14="http://schemas.microsoft.com/office/powerpoint/2010/main" val="284796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a:t>
            </a:r>
            <a:r>
              <a:rPr lang="en-GB" baseline="0" dirty="0"/>
              <a:t> taken from</a:t>
            </a:r>
          </a:p>
          <a:p>
            <a:endParaRPr lang="en-GB" baseline="0" dirty="0"/>
          </a:p>
          <a:p>
            <a:r>
              <a:rPr lang="en-US" dirty="0"/>
              <a:t>https://goldprice.org/fr/cryptocurrency-price/bitcoin-price</a:t>
            </a:r>
          </a:p>
        </p:txBody>
      </p:sp>
      <p:sp>
        <p:nvSpPr>
          <p:cNvPr id="4" name="Slide Number Placeholder 3"/>
          <p:cNvSpPr>
            <a:spLocks noGrp="1"/>
          </p:cNvSpPr>
          <p:nvPr>
            <p:ph type="sldNum" sz="quarter" idx="10"/>
          </p:nvPr>
        </p:nvSpPr>
        <p:spPr/>
        <p:txBody>
          <a:bodyPr/>
          <a:lstStyle/>
          <a:p>
            <a:fld id="{FE33B171-EC3D-417A-9EFD-5C2195FF0440}" type="slidenum">
              <a:rPr lang="en-GB" smtClean="0"/>
              <a:pPr/>
              <a:t>21</a:t>
            </a:fld>
            <a:endParaRPr lang="en-GB"/>
          </a:p>
        </p:txBody>
      </p:sp>
    </p:spTree>
    <p:extLst>
      <p:ext uri="{BB962C8B-B14F-4D97-AF65-F5344CB8AC3E}">
        <p14:creationId xmlns:p14="http://schemas.microsoft.com/office/powerpoint/2010/main" val="13547726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GB" dirty="0"/>
              <a:t>True Value </a:t>
            </a:r>
            <a:r>
              <a:rPr lang="en-GB" dirty="0" err="1"/>
              <a:t>vs</a:t>
            </a:r>
            <a:r>
              <a:rPr lang="en-GB" dirty="0"/>
              <a:t> Estimate:</a:t>
            </a:r>
            <a:r>
              <a:rPr lang="en-GB" baseline="0" dirty="0"/>
              <a:t> The Problem of </a:t>
            </a:r>
            <a:r>
              <a:rPr lang="en-GB" b="1" baseline="0" dirty="0"/>
              <a:t>Valuation Bias</a:t>
            </a:r>
          </a:p>
          <a:p>
            <a:endParaRPr lang="en-GB" baseline="0" dirty="0"/>
          </a:p>
          <a:p>
            <a:pPr lvl="0" rtl="0"/>
            <a:r>
              <a:rPr lang="en-GB" baseline="0" dirty="0"/>
              <a:t>Sources of Bias</a:t>
            </a:r>
            <a:endParaRPr lang="en-GB" dirty="0"/>
          </a:p>
          <a:p>
            <a:pPr lvl="1" rtl="0"/>
            <a:r>
              <a:rPr lang="en-GB" dirty="0"/>
              <a:t>Who provides the information</a:t>
            </a:r>
          </a:p>
          <a:p>
            <a:pPr lvl="2" rtl="0"/>
            <a:r>
              <a:rPr lang="en-GB" dirty="0"/>
              <a:t>Annual Reports: Managers’ bias</a:t>
            </a:r>
          </a:p>
          <a:p>
            <a:pPr lvl="2" rtl="0"/>
            <a:r>
              <a:rPr lang="en-GB" dirty="0"/>
              <a:t>Independent Reports: exogenous bias</a:t>
            </a:r>
          </a:p>
          <a:p>
            <a:pPr lvl="2" rtl="0"/>
            <a:r>
              <a:rPr lang="en-GB" dirty="0"/>
              <a:t>Stock Exchange: Traders’ bias</a:t>
            </a:r>
          </a:p>
          <a:p>
            <a:pPr lvl="1" rtl="0"/>
            <a:r>
              <a:rPr lang="en-GB" dirty="0"/>
              <a:t>Institutional factors</a:t>
            </a:r>
          </a:p>
          <a:p>
            <a:pPr lvl="1" rtl="0"/>
            <a:r>
              <a:rPr lang="en-GB" dirty="0"/>
              <a:t>Reward Mechanisms-Who pays you to provide the valuation?</a:t>
            </a:r>
            <a:r>
              <a:rPr lang="en-GB" baseline="0" dirty="0"/>
              <a:t> If you are paid proportionally to floating, then you are biased upwards……</a:t>
            </a:r>
            <a:endParaRPr lang="en-GB" dirty="0"/>
          </a:p>
          <a:p>
            <a:pPr lvl="0" rtl="0"/>
            <a:r>
              <a:rPr lang="en-GB" baseline="0" dirty="0"/>
              <a:t>Manifestation</a:t>
            </a:r>
            <a:endParaRPr lang="en-GB" dirty="0"/>
          </a:p>
          <a:p>
            <a:pPr lvl="1" rtl="0"/>
            <a:r>
              <a:rPr lang="en-GB" dirty="0"/>
              <a:t>Inputs (assumptions)-</a:t>
            </a:r>
            <a:r>
              <a:rPr lang="en-GB" dirty="0">
                <a:hlinkClick r:id="rId3"/>
              </a:rPr>
              <a:t>Apple</a:t>
            </a:r>
            <a:r>
              <a:rPr lang="en-GB" dirty="0"/>
              <a:t>, </a:t>
            </a:r>
            <a:r>
              <a:rPr lang="en-GB" dirty="0">
                <a:hlinkClick r:id="rId4"/>
              </a:rPr>
              <a:t>Dell</a:t>
            </a:r>
            <a:r>
              <a:rPr lang="en-GB" dirty="0"/>
              <a:t> and </a:t>
            </a:r>
            <a:r>
              <a:rPr lang="en-GB" dirty="0">
                <a:hlinkClick r:id="rId5"/>
              </a:rPr>
              <a:t>Blackberry</a:t>
            </a:r>
            <a:endParaRPr lang="en-GB" dirty="0"/>
          </a:p>
          <a:p>
            <a:pPr lvl="1" rtl="0"/>
            <a:r>
              <a:rPr lang="en-GB" dirty="0"/>
              <a:t>Post-valuation (premium-synergy)</a:t>
            </a:r>
          </a:p>
          <a:p>
            <a:pPr lvl="1" rtl="0"/>
            <a:r>
              <a:rPr lang="en-GB" dirty="0"/>
              <a:t>Qualitative factors (strategic-intangible)</a:t>
            </a:r>
          </a:p>
          <a:p>
            <a:pPr lvl="0" rtl="0"/>
            <a:r>
              <a:rPr lang="en-GB" baseline="0" dirty="0"/>
              <a:t>Dealing with Bias</a:t>
            </a:r>
            <a:endParaRPr lang="en-GB" dirty="0"/>
          </a:p>
          <a:p>
            <a:pPr lvl="1" rtl="0"/>
            <a:r>
              <a:rPr lang="en-GB" dirty="0"/>
              <a:t>Reduce Institutional Pressure (e.g. Sell recommendation)</a:t>
            </a:r>
          </a:p>
          <a:p>
            <a:pPr lvl="1" rtl="0"/>
            <a:r>
              <a:rPr lang="en-GB" dirty="0"/>
              <a:t>De-link valuation-reward (bonus)</a:t>
            </a:r>
          </a:p>
          <a:p>
            <a:pPr lvl="1" rtl="0"/>
            <a:r>
              <a:rPr lang="en-GB" dirty="0"/>
              <a:t>Self Awareness</a:t>
            </a:r>
          </a:p>
          <a:p>
            <a:pPr lvl="1" rtl="0"/>
            <a:r>
              <a:rPr lang="en-GB" dirty="0"/>
              <a:t>Be Informed</a:t>
            </a:r>
            <a:r>
              <a:rPr lang="en-GB" baseline="0" dirty="0"/>
              <a:t> and double check the plausibility of your assumptions.</a:t>
            </a:r>
            <a:endParaRPr lang="en-GB" dirty="0"/>
          </a:p>
          <a:p>
            <a:endParaRPr lang="en-GB" dirty="0"/>
          </a:p>
          <a:p>
            <a:endParaRPr lang="en-GB" dirty="0"/>
          </a:p>
          <a:p>
            <a:endParaRPr lang="en-GB" dirty="0"/>
          </a:p>
          <a:p>
            <a:endParaRPr lang="en-GB" dirty="0"/>
          </a:p>
          <a:p>
            <a:r>
              <a:rPr lang="en-GB" dirty="0"/>
              <a:t>Precision</a:t>
            </a:r>
            <a:r>
              <a:rPr lang="en-GB" baseline="0" dirty="0"/>
              <a:t> of Estimate: The problem of </a:t>
            </a:r>
            <a:r>
              <a:rPr lang="en-GB" b="1" baseline="0" dirty="0"/>
              <a:t>Uncertainty</a:t>
            </a:r>
          </a:p>
          <a:p>
            <a:endParaRPr lang="en-GB" baseline="0" dirty="0"/>
          </a:p>
          <a:p>
            <a:pPr lvl="0" rtl="0"/>
            <a:r>
              <a:rPr lang="en-GB" baseline="0" dirty="0"/>
              <a:t>Sources of Uncertainty</a:t>
            </a:r>
            <a:endParaRPr lang="en-GB" dirty="0"/>
          </a:p>
          <a:p>
            <a:pPr lvl="1" rtl="0"/>
            <a:r>
              <a:rPr lang="en-GB" dirty="0"/>
              <a:t>Estimation Uncertainty-Estimation errors</a:t>
            </a:r>
          </a:p>
          <a:p>
            <a:pPr lvl="1" rtl="0"/>
            <a:r>
              <a:rPr lang="en-GB" dirty="0"/>
              <a:t>Real Uncertainty (random / un-foreseeable events)</a:t>
            </a:r>
          </a:p>
          <a:p>
            <a:pPr lvl="2" rtl="0"/>
            <a:r>
              <a:rPr lang="en-GB" dirty="0"/>
              <a:t>Firm-specific</a:t>
            </a:r>
          </a:p>
          <a:p>
            <a:pPr lvl="2" rtl="0"/>
            <a:r>
              <a:rPr lang="en-GB" dirty="0"/>
              <a:t>Macroeconomic</a:t>
            </a:r>
          </a:p>
          <a:p>
            <a:pPr lvl="0" rtl="0"/>
            <a:r>
              <a:rPr lang="en-GB" dirty="0"/>
              <a:t>Responses to Uncertainty</a:t>
            </a:r>
          </a:p>
          <a:p>
            <a:pPr lvl="1" rtl="0"/>
            <a:r>
              <a:rPr lang="en-GB" dirty="0"/>
              <a:t>Healthy</a:t>
            </a:r>
          </a:p>
          <a:p>
            <a:pPr lvl="2" rtl="0"/>
            <a:r>
              <a:rPr lang="en-GB" dirty="0"/>
              <a:t>Better Models</a:t>
            </a:r>
          </a:p>
          <a:p>
            <a:pPr lvl="2" rtl="0"/>
            <a:r>
              <a:rPr lang="en-GB" dirty="0"/>
              <a:t>Valuation Ranges</a:t>
            </a:r>
          </a:p>
          <a:p>
            <a:pPr lvl="2" rtl="0"/>
            <a:r>
              <a:rPr lang="en-GB" dirty="0"/>
              <a:t>Probabilistic Statements</a:t>
            </a:r>
          </a:p>
          <a:p>
            <a:pPr lvl="1" rtl="0"/>
            <a:r>
              <a:rPr lang="en-GB" dirty="0"/>
              <a:t>Unhealthy</a:t>
            </a:r>
          </a:p>
          <a:p>
            <a:pPr lvl="2" rtl="0"/>
            <a:r>
              <a:rPr lang="en-GB" dirty="0"/>
              <a:t>Personal credit when right / Blame someone else when wrong</a:t>
            </a:r>
          </a:p>
          <a:p>
            <a:pPr lvl="2" rtl="0"/>
            <a:r>
              <a:rPr lang="en-GB" dirty="0"/>
              <a:t>Ignore Fundamentals-Reserve to simpler approach</a:t>
            </a:r>
          </a:p>
          <a:p>
            <a:pPr lvl="0" rtl="0"/>
            <a:r>
              <a:rPr lang="en-GB" baseline="0" dirty="0"/>
              <a:t>Dealing with Uncertainty</a:t>
            </a:r>
            <a:endParaRPr lang="en-GB" dirty="0"/>
          </a:p>
          <a:p>
            <a:pPr lvl="1" rtl="0"/>
            <a:r>
              <a:rPr lang="en-GB" dirty="0"/>
              <a:t>Improve firm-specific estimations</a:t>
            </a:r>
          </a:p>
          <a:p>
            <a:pPr lvl="1" rtl="0"/>
            <a:r>
              <a:rPr lang="en-GB" dirty="0"/>
              <a:t>Incorporate real uncertainty in valuation methods (e.g. Discount rates)</a:t>
            </a:r>
          </a:p>
          <a:p>
            <a:endParaRPr lang="en-GB" dirty="0"/>
          </a:p>
          <a:p>
            <a:endParaRPr lang="en-GB" dirty="0"/>
          </a:p>
          <a:p>
            <a:r>
              <a:rPr lang="en-GB" dirty="0"/>
              <a:t>Sophisticated Models:</a:t>
            </a:r>
            <a:r>
              <a:rPr lang="en-GB" baseline="0" dirty="0"/>
              <a:t> The problem of </a:t>
            </a:r>
            <a:r>
              <a:rPr lang="en-GB" b="1" baseline="0" dirty="0"/>
              <a:t>Complexity </a:t>
            </a:r>
            <a:r>
              <a:rPr lang="en-GB" b="1" baseline="0" dirty="0" err="1"/>
              <a:t>vs</a:t>
            </a:r>
            <a:r>
              <a:rPr lang="en-GB" b="1" baseline="0" dirty="0"/>
              <a:t> Uncertainty</a:t>
            </a:r>
          </a:p>
          <a:p>
            <a:endParaRPr lang="en-GB" baseline="0" dirty="0"/>
          </a:p>
          <a:p>
            <a:pPr lvl="0" rtl="0"/>
            <a:r>
              <a:rPr lang="en-GB" baseline="0" dirty="0"/>
              <a:t>Sources of Complexity</a:t>
            </a:r>
            <a:endParaRPr lang="en-GB" dirty="0"/>
          </a:p>
          <a:p>
            <a:pPr lvl="1" rtl="0"/>
            <a:r>
              <a:rPr lang="en-GB" dirty="0"/>
              <a:t>Better access to technology</a:t>
            </a:r>
          </a:p>
          <a:p>
            <a:pPr lvl="1" rtl="0"/>
            <a:r>
              <a:rPr lang="en-GB" dirty="0"/>
              <a:t>Better access to information</a:t>
            </a:r>
          </a:p>
          <a:p>
            <a:pPr lvl="0" rtl="0"/>
            <a:r>
              <a:rPr lang="en-GB" dirty="0"/>
              <a:t>Cost of Complexity</a:t>
            </a:r>
          </a:p>
          <a:p>
            <a:pPr lvl="1" rtl="0"/>
            <a:r>
              <a:rPr lang="en-GB" dirty="0"/>
              <a:t>Information Overload</a:t>
            </a:r>
          </a:p>
          <a:p>
            <a:pPr lvl="1" rtl="0"/>
            <a:r>
              <a:rPr lang="en-GB" dirty="0"/>
              <a:t>Black-Box Syndrome</a:t>
            </a:r>
          </a:p>
          <a:p>
            <a:pPr lvl="2" rtl="0"/>
            <a:r>
              <a:rPr lang="en-GB" dirty="0"/>
              <a:t>Complicated model</a:t>
            </a:r>
          </a:p>
          <a:p>
            <a:pPr lvl="2" rtl="0"/>
            <a:r>
              <a:rPr lang="en-GB" dirty="0"/>
              <a:t>Input-Output, but no analysis</a:t>
            </a:r>
          </a:p>
          <a:p>
            <a:pPr lvl="1" rtl="0"/>
            <a:r>
              <a:rPr lang="en-GB" dirty="0"/>
              <a:t>More complex models employ stronger assumptions</a:t>
            </a:r>
          </a:p>
          <a:p>
            <a:pPr lvl="0" rtl="0"/>
            <a:r>
              <a:rPr lang="en-GB" baseline="0" dirty="0"/>
              <a:t>Dealing with Complexity</a:t>
            </a:r>
            <a:endParaRPr lang="en-GB" dirty="0"/>
          </a:p>
          <a:p>
            <a:pPr lvl="1" rtl="0"/>
            <a:r>
              <a:rPr lang="en-GB" dirty="0"/>
              <a:t>Choose the simplest (more parsimonious) model</a:t>
            </a:r>
          </a:p>
          <a:p>
            <a:pPr lvl="1" rtl="0"/>
            <a:r>
              <a:rPr lang="en-GB" dirty="0"/>
              <a:t>Avoid estimating more inputs (increases uncertainty)</a:t>
            </a:r>
          </a:p>
          <a:p>
            <a:pPr lvl="1" rtl="0"/>
            <a:r>
              <a:rPr lang="en-GB" dirty="0"/>
              <a:t>Avoid All-In-One models. They are complicated and biased.</a:t>
            </a:r>
          </a:p>
          <a:p>
            <a:endParaRPr lang="en-GB" dirty="0"/>
          </a:p>
        </p:txBody>
      </p:sp>
      <p:sp>
        <p:nvSpPr>
          <p:cNvPr id="4" name="Slide Number Placeholder 3"/>
          <p:cNvSpPr>
            <a:spLocks noGrp="1"/>
          </p:cNvSpPr>
          <p:nvPr>
            <p:ph type="sldNum" sz="quarter" idx="10"/>
          </p:nvPr>
        </p:nvSpPr>
        <p:spPr/>
        <p:txBody>
          <a:bodyPr/>
          <a:lstStyle/>
          <a:p>
            <a:fld id="{FE33B171-EC3D-417A-9EFD-5C2195FF0440}" type="slidenum">
              <a:rPr lang="en-GB" smtClean="0"/>
              <a:pPr/>
              <a:t>22</a:t>
            </a:fld>
            <a:endParaRPr lang="en-GB"/>
          </a:p>
        </p:txBody>
      </p:sp>
    </p:spTree>
    <p:extLst>
      <p:ext uri="{BB962C8B-B14F-4D97-AF65-F5344CB8AC3E}">
        <p14:creationId xmlns:p14="http://schemas.microsoft.com/office/powerpoint/2010/main" val="23160791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GB" dirty="0"/>
              <a:t>REMEMBER</a:t>
            </a:r>
            <a:endParaRPr lang="en-GB" baseline="0" dirty="0"/>
          </a:p>
          <a:p>
            <a:endParaRPr lang="en-GB" baseline="0" dirty="0"/>
          </a:p>
          <a:p>
            <a:r>
              <a:rPr lang="en-GB" baseline="0" dirty="0"/>
              <a:t>Q. What do we mean by the phrase “efficient market hypothesis”?</a:t>
            </a:r>
          </a:p>
          <a:p>
            <a:r>
              <a:rPr lang="en-GB" baseline="0" dirty="0"/>
              <a:t>A. Prices only change when there is new information. Prices adjust immediately to this information. All investors are assumed to be risk averse and have homogenous expectations (i.e., all investors have the same attitude to risk and they expect the same thing to happen to Apple or BB or Dell etc.)</a:t>
            </a:r>
          </a:p>
          <a:p>
            <a:endParaRPr lang="en-GB" baseline="0" dirty="0"/>
          </a:p>
          <a:p>
            <a:r>
              <a:rPr lang="en-GB" baseline="0" dirty="0"/>
              <a:t>Things to note</a:t>
            </a:r>
          </a:p>
          <a:p>
            <a:endParaRPr lang="en-GB" baseline="0" dirty="0"/>
          </a:p>
          <a:p>
            <a:r>
              <a:rPr lang="en-GB" baseline="0" dirty="0"/>
              <a:t>Q. Does a risk averse investor avoid risk?</a:t>
            </a:r>
          </a:p>
          <a:p>
            <a:pPr marL="228600" indent="-228600">
              <a:buAutoNum type="alphaUcPeriod"/>
            </a:pPr>
            <a:r>
              <a:rPr lang="en-GB" baseline="0" dirty="0"/>
              <a:t>No. A risk averse investor is willing to undertake extra risk, when there is extra return.</a:t>
            </a:r>
          </a:p>
          <a:p>
            <a:pPr marL="228600" indent="-228600">
              <a:buAutoNum type="alphaUcPeriod"/>
            </a:pPr>
            <a:endParaRPr lang="en-GB" baseline="0" dirty="0"/>
          </a:p>
          <a:p>
            <a:pPr marL="0" indent="0">
              <a:buNone/>
            </a:pPr>
            <a:r>
              <a:rPr lang="en-GB" baseline="0" dirty="0"/>
              <a:t>Q. Do investors have homogenous expectations?</a:t>
            </a:r>
          </a:p>
          <a:p>
            <a:pPr marL="0" indent="0">
              <a:buNone/>
            </a:pPr>
            <a:r>
              <a:rPr lang="en-GB" baseline="0" dirty="0"/>
              <a:t>A. It is very unrealistic to assume that investors expect the same thing the same moment. For example, when Nokia launched L920, some investors were disappointed and some believed that it will be more than enough for the come back. The same happens now with BB10 etc. etc.</a:t>
            </a:r>
          </a:p>
          <a:p>
            <a:endParaRPr lang="en-GB" baseline="0" dirty="0"/>
          </a:p>
          <a:p>
            <a:endParaRPr lang="en-GB" baseline="0" dirty="0"/>
          </a:p>
          <a:p>
            <a:endParaRPr lang="en-GB" baseline="0" dirty="0"/>
          </a:p>
          <a:p>
            <a:r>
              <a:rPr lang="en-GB" baseline="0" dirty="0"/>
              <a:t>Some further info</a:t>
            </a:r>
          </a:p>
          <a:p>
            <a:endParaRPr lang="en-GB" baseline="0" dirty="0"/>
          </a:p>
          <a:p>
            <a:r>
              <a:rPr lang="en-GB" dirty="0"/>
              <a:t>http://www.investopedia.com/university/concepts/concepts6.asp#axzz2KdF3slZj</a:t>
            </a:r>
          </a:p>
        </p:txBody>
      </p:sp>
      <p:sp>
        <p:nvSpPr>
          <p:cNvPr id="4" name="Slide Number Placeholder 3"/>
          <p:cNvSpPr>
            <a:spLocks noGrp="1"/>
          </p:cNvSpPr>
          <p:nvPr>
            <p:ph type="sldNum" sz="quarter" idx="10"/>
          </p:nvPr>
        </p:nvSpPr>
        <p:spPr/>
        <p:txBody>
          <a:bodyPr/>
          <a:lstStyle/>
          <a:p>
            <a:fld id="{FE33B171-EC3D-417A-9EFD-5C2195FF0440}" type="slidenum">
              <a:rPr lang="en-GB" smtClean="0"/>
              <a:pPr/>
              <a:t>24</a:t>
            </a:fld>
            <a:endParaRPr lang="en-GB"/>
          </a:p>
        </p:txBody>
      </p:sp>
    </p:spTree>
    <p:extLst>
      <p:ext uri="{BB962C8B-B14F-4D97-AF65-F5344CB8AC3E}">
        <p14:creationId xmlns:p14="http://schemas.microsoft.com/office/powerpoint/2010/main" val="627530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REMEMBER</a:t>
            </a:r>
          </a:p>
          <a:p>
            <a:endParaRPr lang="en-GB" dirty="0"/>
          </a:p>
          <a:p>
            <a:r>
              <a:rPr lang="en-GB" dirty="0"/>
              <a:t>When we refer to the value of the firm</a:t>
            </a:r>
            <a:r>
              <a:rPr lang="en-GB" baseline="0" dirty="0"/>
              <a:t> value, we mean the value of the firm’s operating assets. All valuation models try to forecast future cash flows to the firm (growth and profit margins) coming from operating assets. CF generated by cash holdings or cash equivalents do not refer to operations and they are not considered in evaluation models. However, firm’s value (operating assets) and Value of Cash gives the value of total assets.</a:t>
            </a:r>
          </a:p>
          <a:p>
            <a:endParaRPr lang="en-GB" baseline="0" dirty="0"/>
          </a:p>
          <a:p>
            <a:r>
              <a:rPr lang="en-GB" baseline="0" dirty="0"/>
              <a:t>The difference between value of Total Assets and Debt is the residual disposable value after liquidation that goes to existing shareholders. This is Equity (Net Asset Value)</a:t>
            </a:r>
            <a:endParaRPr lang="en-GB" dirty="0"/>
          </a:p>
        </p:txBody>
      </p:sp>
      <p:sp>
        <p:nvSpPr>
          <p:cNvPr id="4" name="Slide Number Placeholder 3"/>
          <p:cNvSpPr>
            <a:spLocks noGrp="1"/>
          </p:cNvSpPr>
          <p:nvPr>
            <p:ph type="sldNum" sz="quarter" idx="10"/>
          </p:nvPr>
        </p:nvSpPr>
        <p:spPr/>
        <p:txBody>
          <a:bodyPr/>
          <a:lstStyle/>
          <a:p>
            <a:fld id="{FE33B171-EC3D-417A-9EFD-5C2195FF0440}" type="slidenum">
              <a:rPr lang="en-GB" smtClean="0"/>
              <a:pPr/>
              <a:t>26</a:t>
            </a:fld>
            <a:endParaRPr lang="en-GB"/>
          </a:p>
        </p:txBody>
      </p:sp>
    </p:spTree>
    <p:extLst>
      <p:ext uri="{BB962C8B-B14F-4D97-AF65-F5344CB8AC3E}">
        <p14:creationId xmlns:p14="http://schemas.microsoft.com/office/powerpoint/2010/main" val="3962645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An</a:t>
            </a:r>
            <a:r>
              <a:rPr lang="en-GB" baseline="0" dirty="0"/>
              <a:t> excellent reading about market valuation and market momentum:</a:t>
            </a:r>
          </a:p>
          <a:p>
            <a:endParaRPr lang="en-GB" baseline="0" dirty="0"/>
          </a:p>
          <a:p>
            <a:r>
              <a:rPr lang="en-GB" baseline="0" dirty="0"/>
              <a:t>“</a:t>
            </a:r>
            <a:r>
              <a:rPr lang="en-GB" i="1" baseline="0" dirty="0"/>
              <a:t>If you are investing because you believe that other people will buy it and not because you know something about the fundamentals of the asset; then you are speculating</a:t>
            </a:r>
            <a:r>
              <a:rPr lang="en-GB" baseline="0" dirty="0"/>
              <a:t>”</a:t>
            </a:r>
          </a:p>
          <a:p>
            <a:r>
              <a:rPr lang="en-GB" dirty="0"/>
              <a:t>https://www.theguardian.com/technology/2018/jan/15/should-i-invest-bitcoin-dont-mr-money-moustache</a:t>
            </a:r>
          </a:p>
          <a:p>
            <a:endParaRPr lang="en-GB" dirty="0"/>
          </a:p>
          <a:p>
            <a:endParaRPr lang="en-GB" dirty="0"/>
          </a:p>
          <a:p>
            <a:endParaRPr lang="en-GB" dirty="0"/>
          </a:p>
          <a:p>
            <a:endParaRPr lang="en-GB" dirty="0"/>
          </a:p>
          <a:p>
            <a:endParaRPr lang="en-GB" dirty="0"/>
          </a:p>
          <a:p>
            <a:r>
              <a:rPr lang="en-GB" dirty="0"/>
              <a:t>Relative</a:t>
            </a:r>
            <a:r>
              <a:rPr lang="en-GB" baseline="0" dirty="0"/>
              <a:t> Valuation roots in “The Greater Fool” Theory</a:t>
            </a:r>
            <a:endParaRPr lang="en-GB" dirty="0"/>
          </a:p>
          <a:p>
            <a:endParaRPr lang="en-GB" dirty="0"/>
          </a:p>
          <a:p>
            <a:r>
              <a:rPr lang="en-GB" dirty="0"/>
              <a:t>You</a:t>
            </a:r>
            <a:r>
              <a:rPr lang="en-GB" baseline="0" dirty="0"/>
              <a:t> should be willing to pay a price no greater that what you think you will be able to sell the asset for, when you decide to. For example, the maximum price you would be willing to pay for a house today should be lower than what you believe you can sell it in the future. Under this idea you need to evaluate an asset according to the price of other “comparable” assets.</a:t>
            </a:r>
          </a:p>
          <a:p>
            <a:endParaRPr lang="en-GB" baseline="0" dirty="0"/>
          </a:p>
          <a:p>
            <a:r>
              <a:rPr lang="en-GB" baseline="0" dirty="0"/>
              <a:t>Things to note. </a:t>
            </a:r>
          </a:p>
          <a:p>
            <a:endParaRPr lang="en-GB" baseline="0" dirty="0"/>
          </a:p>
          <a:p>
            <a:r>
              <a:rPr lang="en-GB" baseline="0" dirty="0"/>
              <a:t>The term comparable assets, might not be as easy to define. For example, you might try to argue whether </a:t>
            </a:r>
            <a:r>
              <a:rPr lang="en-GB" baseline="0" dirty="0" err="1"/>
              <a:t>facebook</a:t>
            </a:r>
            <a:r>
              <a:rPr lang="en-GB" baseline="0" dirty="0"/>
              <a:t> and twitter are comparable or not? Also, is Apple  comparable to Dell, Nokia or Samsung?</a:t>
            </a:r>
            <a:endParaRPr lang="en-GB" dirty="0"/>
          </a:p>
          <a:p>
            <a:endParaRPr lang="en-GB" dirty="0"/>
          </a:p>
          <a:p>
            <a:endParaRPr lang="en-GB" dirty="0"/>
          </a:p>
          <a:p>
            <a:r>
              <a:rPr lang="en-GB" dirty="0"/>
              <a:t>Further info</a:t>
            </a:r>
          </a:p>
          <a:p>
            <a:endParaRPr lang="en-GB" dirty="0"/>
          </a:p>
          <a:p>
            <a:r>
              <a:rPr lang="en-GB" dirty="0"/>
              <a:t>http://en.wikipedia.org/wiki/Greater_fool_theory</a:t>
            </a:r>
          </a:p>
        </p:txBody>
      </p:sp>
      <p:sp>
        <p:nvSpPr>
          <p:cNvPr id="4" name="Slide Number Placeholder 3"/>
          <p:cNvSpPr>
            <a:spLocks noGrp="1"/>
          </p:cNvSpPr>
          <p:nvPr>
            <p:ph type="sldNum" sz="quarter" idx="10"/>
          </p:nvPr>
        </p:nvSpPr>
        <p:spPr/>
        <p:txBody>
          <a:bodyPr/>
          <a:lstStyle/>
          <a:p>
            <a:fld id="{FE33B171-EC3D-417A-9EFD-5C2195FF0440}" type="slidenum">
              <a:rPr lang="en-GB" smtClean="0"/>
              <a:pPr/>
              <a:t>29</a:t>
            </a:fld>
            <a:endParaRPr lang="en-GB"/>
          </a:p>
        </p:txBody>
      </p:sp>
    </p:spTree>
    <p:extLst>
      <p:ext uri="{BB962C8B-B14F-4D97-AF65-F5344CB8AC3E}">
        <p14:creationId xmlns:p14="http://schemas.microsoft.com/office/powerpoint/2010/main" val="19950012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a:t>Click to edit Master title style</a:t>
            </a:r>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9709A6C7-C457-49CF-84D0-5BFD40EAD24D}" type="datetimeFigureOut">
              <a:rPr lang="en-GB" smtClean="0"/>
              <a:pPr/>
              <a:t>13/09/2026</a:t>
            </a:fld>
            <a:endParaRPr lang="en-GB"/>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GB"/>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9F590CE9-43A2-4017-9515-0FB47528E51C}"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a:t>Click to edit Master title style</a:t>
            </a:r>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9709A6C7-C457-49CF-84D0-5BFD40EAD24D}" type="datetimeFigureOut">
              <a:rPr lang="en-GB" smtClean="0"/>
              <a:pPr/>
              <a:t>13/09/2026</a:t>
            </a:fld>
            <a:endParaRPr lang="en-GB"/>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GB"/>
          </a:p>
        </p:txBody>
      </p:sp>
      <p:sp>
        <p:nvSpPr>
          <p:cNvPr id="6" name="Slide Number Placeholder 5"/>
          <p:cNvSpPr>
            <a:spLocks noGrp="1"/>
          </p:cNvSpPr>
          <p:nvPr>
            <p:ph type="sldNum" sz="quarter" idx="12"/>
          </p:nvPr>
        </p:nvSpPr>
        <p:spPr>
          <a:xfrm>
            <a:off x="6733952" y="6555112"/>
            <a:ext cx="588336" cy="228600"/>
          </a:xfrm>
        </p:spPr>
        <p:txBody>
          <a:bodyPr/>
          <a:lstStyle/>
          <a:p>
            <a:fld id="{9F590CE9-43A2-4017-9515-0FB47528E51C}" type="slidenum">
              <a:rPr lang="en-GB" smtClean="0"/>
              <a:pPr/>
              <a:t>‹#›</a:t>
            </a:fld>
            <a:endParaRPr lang="en-GB"/>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9709A6C7-C457-49CF-84D0-5BFD40EAD24D}" type="datetimeFigureOut">
              <a:rPr lang="en-GB" smtClean="0"/>
              <a:pPr/>
              <a:t>13/09/2026</a:t>
            </a:fld>
            <a:endParaRPr lang="en-GB"/>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GB"/>
          </a:p>
        </p:txBody>
      </p:sp>
      <p:sp>
        <p:nvSpPr>
          <p:cNvPr id="4" name="Slide Number Placeholder 3"/>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a:t>Click to edit Master title style</a:t>
            </a:r>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a:t>Click to edit Master text styles</a:t>
            </a:r>
          </a:p>
        </p:txBody>
      </p:sp>
      <p:sp>
        <p:nvSpPr>
          <p:cNvPr id="5" name="Date Placeholder 4"/>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F590CE9-43A2-4017-9515-0FB47528E51C}" type="slidenum">
              <a:rPr lang="en-GB" smtClean="0"/>
              <a:pPr/>
              <a:t>‹#›</a:t>
            </a:fld>
            <a:endParaRPr lang="en-GB"/>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a:t>Click icon to add picture</a:t>
            </a:r>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9709A6C7-C457-49CF-84D0-5BFD40EAD24D}" type="datetimeFigureOut">
              <a:rPr lang="en-GB" smtClean="0"/>
              <a:pPr/>
              <a:t>13/09/2026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F590CE9-43A2-4017-9515-0FB47528E51C}"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p>
            <a:r>
              <a:rPr kumimoji="0" lang="en-US"/>
              <a:t>Click to edit Master title style</a:t>
            </a:r>
          </a:p>
        </p:txBody>
      </p:sp>
      <p:sp>
        <p:nvSpPr>
          <p:cNvPr id="3" name="Vertical Text Placeholder 2"/>
          <p:cNvSpPr>
            <a:spLocks noGrp="1"/>
          </p:cNvSpPr>
          <p:nvPr>
            <p:ph type="body" orient="vert" idx="1"/>
          </p:nvPr>
        </p:nvSpPr>
        <p:spPr>
          <a:xfrm>
            <a:off x="457200" y="274642"/>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p>
            <a:fld id="{9709A6C7-C457-49CF-84D0-5BFD40EAD24D}" type="datetimeFigureOut">
              <a:rPr lang="en-GB" smtClean="0"/>
              <a:pPr/>
              <a:t>13/09/2026</a:t>
            </a:fld>
            <a:endParaRPr lang="en-GB"/>
          </a:p>
        </p:txBody>
      </p:sp>
      <p:sp>
        <p:nvSpPr>
          <p:cNvPr id="5" name="Footer Placeholder 4"/>
          <p:cNvSpPr>
            <a:spLocks noGrp="1"/>
          </p:cNvSpPr>
          <p:nvPr>
            <p:ph type="ftr" sz="quarter" idx="11"/>
          </p:nvPr>
        </p:nvSpPr>
        <p:spPr>
          <a:xfrm>
            <a:off x="457200" y="6556248"/>
            <a:ext cx="3657600" cy="228600"/>
          </a:xfrm>
        </p:spPr>
        <p:txBody>
          <a:bodyPr/>
          <a:lstStyle/>
          <a:p>
            <a:endParaRPr lang="en-GB"/>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9F590CE9-43A2-4017-9515-0FB47528E51C}"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p>
            <a:r>
              <a:rPr kumimoji="0" lang="en-US"/>
              <a:t>Click to edit Master title style</a:t>
            </a:r>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9709A6C7-C457-49CF-84D0-5BFD40EAD24D}" type="datetimeFigureOut">
              <a:rPr lang="en-GB" smtClean="0"/>
              <a:pPr/>
              <a:t>13/09/2026</a:t>
            </a:fld>
            <a:endParaRPr lang="en-GB"/>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GB"/>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9F590CE9-43A2-4017-9515-0FB47528E51C}"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hyperlink" Target="http://www.scholarvox.com/catalog/book/docid/88803212?searchterm=corporate%20finance" TargetMode="External"/><Relationship Id="rId7" Type="http://schemas.openxmlformats.org/officeDocument/2006/relationships/diagramQuickStyle" Target="../diagrams/quickStyle3.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4.jpe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1/relationships/webextension" Target="../webextensions/webextension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image" Target="../media/image10.wm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www.nasdaq.com/symbol/twtr" TargetMode="External"/><Relationship Id="rId3" Type="http://schemas.openxmlformats.org/officeDocument/2006/relationships/hyperlink" Target="http://seekingalpha.com/article/814471-facebook-valuation-update-still-expensive" TargetMode="External"/><Relationship Id="rId7" Type="http://schemas.openxmlformats.org/officeDocument/2006/relationships/hyperlink" Target="http://live.reuters.com/Event/Twitter_IPO?Page=1" TargetMode="External"/><Relationship Id="rId2" Type="http://schemas.openxmlformats.org/officeDocument/2006/relationships/hyperlink" Target="http://www.dailyfinance.com/2012/05/17/facebooks-ipo-valuation-sets-record-is-it-really-worth-104-bi/" TargetMode="External"/><Relationship Id="rId1" Type="http://schemas.openxmlformats.org/officeDocument/2006/relationships/slideLayout" Target="../slideLayouts/slideLayout2.xml"/><Relationship Id="rId6" Type="http://schemas.openxmlformats.org/officeDocument/2006/relationships/hyperlink" Target="http://industrypace.com/frontpage/2011/01/20/twitter-is-virtual-worthless-valuation-is-a-joke.html" TargetMode="External"/><Relationship Id="rId5" Type="http://schemas.openxmlformats.org/officeDocument/2006/relationships/hyperlink" Target="http://online.wsj.com/article/SB125382643140938735.html" TargetMode="External"/><Relationship Id="rId4" Type="http://schemas.openxmlformats.org/officeDocument/2006/relationships/hyperlink" Target="http://www.nasdaq.com/symbol/fb" TargetMode="External"/><Relationship Id="rId9" Type="http://schemas.openxmlformats.org/officeDocument/2006/relationships/image" Target="../media/image12.jpe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www.deccanherald.com/brandspot/pr-spot/this-expert-says-bitcoin-might-go-to-400k-usd-how-should-you-invest-929916.html" TargetMode="External"/><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marketwatch-com.audenciagroup.idm.oclc.org/story/the-crypto-market-is-uneasy-about-the-fed-meeting-hot-inflation-reading-heres-why-11639515775" TargetMode="External"/><Relationship Id="rId5" Type="http://schemas.openxmlformats.org/officeDocument/2006/relationships/hyperlink" Target="https://www.lesechos.fr/idees-debats/cercle/le-bitcoin-na-plus-davenir-la-blockchain-si-142650" TargetMode="External"/><Relationship Id="rId4" Type="http://schemas.openxmlformats.org/officeDocument/2006/relationships/hyperlink" Target="https://markets.businessinsider.com/currencies/news/warren-buffett-blasts-bitcoin-worthless-vows-never-own-crypto-value-2020-2-1028932272" TargetMode="Externa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www.entrustassociates.com/realdeal1.html"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wmf"/><Relationship Id="rId4" Type="http://schemas.openxmlformats.org/officeDocument/2006/relationships/oleObject" Target="../embeddings/oleObject2.bin"/></Relationships>
</file>

<file path=ppt/slides/_rels/slide27.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20.wmf"/><Relationship Id="rId4" Type="http://schemas.openxmlformats.org/officeDocument/2006/relationships/oleObject" Target="../embeddings/oleObject4.bin"/></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hyperlink" Target="http://www.scholarvox.com/catalog/book/docid/88803212?searchterm=value%20koller" TargetMode="External"/><Relationship Id="rId3" Type="http://schemas.openxmlformats.org/officeDocument/2006/relationships/hyperlink" Target="http://www.scholarvox.com/catalog/book/docid/88808478?searchterm=valuation" TargetMode="External"/><Relationship Id="rId7" Type="http://schemas.openxmlformats.org/officeDocument/2006/relationships/image" Target="../media/image25.png"/><Relationship Id="rId2" Type="http://schemas.openxmlformats.org/officeDocument/2006/relationships/hyperlink" Target="http://www.scholarvox.com/reader/index/docid/88808478/searchterm/damodaran" TargetMode="External"/><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eg"/><Relationship Id="rId4" Type="http://schemas.openxmlformats.org/officeDocument/2006/relationships/hyperlink" Target="https://audencia.blackboard.com/" TargetMode="External"/><Relationship Id="rId9" Type="http://schemas.openxmlformats.org/officeDocument/2006/relationships/image" Target="../media/image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7864" y="836712"/>
            <a:ext cx="5105400" cy="2868168"/>
          </a:xfrm>
        </p:spPr>
        <p:txBody>
          <a:bodyPr/>
          <a:lstStyle/>
          <a:p>
            <a:pPr algn="ctr"/>
            <a:r>
              <a:rPr lang="en-GB" sz="6000" dirty="0"/>
              <a:t>Company Valuation</a:t>
            </a:r>
            <a:br>
              <a:rPr lang="en-GB" dirty="0"/>
            </a:br>
            <a:br>
              <a:rPr lang="en-GB" dirty="0"/>
            </a:br>
            <a:r>
              <a:rPr lang="en-GB" dirty="0"/>
              <a:t>An Introduction</a:t>
            </a:r>
          </a:p>
        </p:txBody>
      </p:sp>
      <p:sp>
        <p:nvSpPr>
          <p:cNvPr id="3" name="Subtitle 2"/>
          <p:cNvSpPr>
            <a:spLocks noGrp="1"/>
          </p:cNvSpPr>
          <p:nvPr>
            <p:ph type="subTitle" idx="1"/>
          </p:nvPr>
        </p:nvSpPr>
        <p:spPr>
          <a:xfrm>
            <a:off x="3347864" y="5157192"/>
            <a:ext cx="5114778" cy="1101248"/>
          </a:xfrm>
        </p:spPr>
        <p:txBody>
          <a:bodyPr>
            <a:normAutofit lnSpcReduction="10000"/>
          </a:bodyPr>
          <a:lstStyle/>
          <a:p>
            <a:r>
              <a:rPr lang="en-GB" dirty="0"/>
              <a:t>Kalaitzoglou Iordanis (Jordan)</a:t>
            </a:r>
          </a:p>
          <a:p>
            <a:r>
              <a:rPr lang="en-GB" dirty="0"/>
              <a:t>Room: 289</a:t>
            </a:r>
          </a:p>
          <a:p>
            <a:r>
              <a:rPr lang="en-GB" dirty="0"/>
              <a:t>Email: ikalaitzoglou@audencia.com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5564262" y="3084811"/>
            <a:ext cx="6255488" cy="607163"/>
          </a:xfrm>
        </p:spPr>
        <p:txBody>
          <a:bodyPr>
            <a:normAutofit fontScale="90000"/>
          </a:bodyPr>
          <a:lstStyle/>
          <a:p>
            <a:pPr algn="ctr"/>
            <a:r>
              <a:rPr lang="en-GB" dirty="0"/>
              <a:t>What is value?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3" name="Add-in 2">
                <a:extLst>
                  <a:ext uri="{FF2B5EF4-FFF2-40B4-BE49-F238E27FC236}">
                    <a16:creationId xmlns:a16="http://schemas.microsoft.com/office/drawing/2014/main" id="{533DC5F9-CC27-7ECF-E568-13B8D6084C46}"/>
                  </a:ext>
                </a:extLst>
              </p:cNvPr>
              <p:cNvGraphicFramePr>
                <a:graphicFrameLocks noGrp="1"/>
              </p:cNvGraphicFramePr>
              <p:nvPr>
                <p:extLst>
                  <p:ext uri="{D42A27DB-BD31-4B8C-83A1-F6EECF244321}">
                    <p14:modId xmlns:p14="http://schemas.microsoft.com/office/powerpoint/2010/main" val="1305831653"/>
                  </p:ext>
                </p:extLst>
              </p:nvPr>
            </p:nvGraphicFramePr>
            <p:xfrm>
              <a:off x="35496" y="1196752"/>
              <a:ext cx="7951980" cy="4685506"/>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3" name="Add-in 2">
                <a:extLst>
                  <a:ext uri="{FF2B5EF4-FFF2-40B4-BE49-F238E27FC236}">
                    <a16:creationId xmlns:a16="http://schemas.microsoft.com/office/drawing/2014/main" id="{533DC5F9-CC27-7ECF-E568-13B8D6084C46}"/>
                  </a:ext>
                </a:extLst>
              </p:cNvPr>
              <p:cNvPicPr>
                <a:picLocks noGrp="1" noRot="1" noChangeAspect="1" noMove="1" noResize="1" noEditPoints="1" noAdjustHandles="1" noChangeArrowheads="1" noChangeShapeType="1"/>
              </p:cNvPicPr>
              <p:nvPr/>
            </p:nvPicPr>
            <p:blipFill>
              <a:blip r:embed="rId3"/>
              <a:stretch>
                <a:fillRect/>
              </a:stretch>
            </p:blipFill>
            <p:spPr>
              <a:xfrm>
                <a:off x="35496" y="1196752"/>
                <a:ext cx="7951980" cy="4685506"/>
              </a:xfrm>
              <a:prstGeom prst="rect">
                <a:avLst/>
              </a:prstGeom>
            </p:spPr>
          </p:pic>
        </mc:Fallback>
      </mc:AlternateContent>
    </p:spTree>
    <p:extLst>
      <p:ext uri="{BB962C8B-B14F-4D97-AF65-F5344CB8AC3E}">
        <p14:creationId xmlns:p14="http://schemas.microsoft.com/office/powerpoint/2010/main" val="86820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96" y="116632"/>
            <a:ext cx="6347048" cy="1143000"/>
          </a:xfrm>
        </p:spPr>
        <p:txBody>
          <a:bodyPr>
            <a:normAutofit fontScale="90000"/>
          </a:bodyPr>
          <a:lstStyle/>
          <a:p>
            <a:r>
              <a:rPr lang="en-GB" dirty="0"/>
              <a:t>What do we mean when we say value?</a:t>
            </a:r>
          </a:p>
        </p:txBody>
      </p:sp>
      <p:graphicFrame>
        <p:nvGraphicFramePr>
          <p:cNvPr id="4" name="Diagram 3"/>
          <p:cNvGraphicFramePr/>
          <p:nvPr>
            <p:extLst>
              <p:ext uri="{D42A27DB-BD31-4B8C-83A1-F6EECF244321}">
                <p14:modId xmlns:p14="http://schemas.microsoft.com/office/powerpoint/2010/main" val="3316651041"/>
              </p:ext>
            </p:extLst>
          </p:nvPr>
        </p:nvGraphicFramePr>
        <p:xfrm>
          <a:off x="1331640" y="1813272"/>
          <a:ext cx="6240016"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8" name="Straight Connector 7"/>
          <p:cNvCxnSpPr/>
          <p:nvPr/>
        </p:nvCxnSpPr>
        <p:spPr>
          <a:xfrm>
            <a:off x="4427984" y="1556792"/>
            <a:ext cx="0" cy="5040560"/>
          </a:xfrm>
          <a:prstGeom prst="line">
            <a:avLst/>
          </a:prstGeom>
        </p:spPr>
        <p:style>
          <a:lnRef idx="3">
            <a:schemeClr val="dk1"/>
          </a:lnRef>
          <a:fillRef idx="0">
            <a:schemeClr val="dk1"/>
          </a:fillRef>
          <a:effectRef idx="2">
            <a:schemeClr val="dk1"/>
          </a:effectRef>
          <a:fontRef idx="minor">
            <a:schemeClr val="tx1"/>
          </a:fontRef>
        </p:style>
      </p:cxnSp>
      <p:sp>
        <p:nvSpPr>
          <p:cNvPr id="10" name="TextBox 9"/>
          <p:cNvSpPr txBox="1"/>
          <p:nvPr/>
        </p:nvSpPr>
        <p:spPr>
          <a:xfrm>
            <a:off x="1619672" y="6228020"/>
            <a:ext cx="22322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a:t>Investments</a:t>
            </a:r>
          </a:p>
        </p:txBody>
      </p:sp>
      <p:sp>
        <p:nvSpPr>
          <p:cNvPr id="11" name="TextBox 10"/>
          <p:cNvSpPr txBox="1"/>
          <p:nvPr/>
        </p:nvSpPr>
        <p:spPr>
          <a:xfrm>
            <a:off x="5004048" y="6228020"/>
            <a:ext cx="22322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a:t>Funds</a:t>
            </a:r>
          </a:p>
        </p:txBody>
      </p:sp>
      <p:sp>
        <p:nvSpPr>
          <p:cNvPr id="12" name="TextBox 11"/>
          <p:cNvSpPr txBox="1"/>
          <p:nvPr/>
        </p:nvSpPr>
        <p:spPr>
          <a:xfrm>
            <a:off x="1619672" y="1340768"/>
            <a:ext cx="22322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a:t>Assets</a:t>
            </a:r>
          </a:p>
        </p:txBody>
      </p:sp>
      <p:sp>
        <p:nvSpPr>
          <p:cNvPr id="13" name="TextBox 12"/>
          <p:cNvSpPr txBox="1"/>
          <p:nvPr/>
        </p:nvSpPr>
        <p:spPr>
          <a:xfrm>
            <a:off x="5004048" y="1340768"/>
            <a:ext cx="2232248"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GB" dirty="0"/>
              <a:t>Liabilities</a:t>
            </a:r>
          </a:p>
        </p:txBody>
      </p:sp>
      <p:cxnSp>
        <p:nvCxnSpPr>
          <p:cNvPr id="15" name="Straight Arrow Connector 14"/>
          <p:cNvCxnSpPr/>
          <p:nvPr/>
        </p:nvCxnSpPr>
        <p:spPr>
          <a:xfrm flipH="1">
            <a:off x="1403648" y="6021288"/>
            <a:ext cx="2808312" cy="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6" name="Straight Arrow Connector 15"/>
          <p:cNvCxnSpPr/>
          <p:nvPr/>
        </p:nvCxnSpPr>
        <p:spPr>
          <a:xfrm>
            <a:off x="4644008" y="6021288"/>
            <a:ext cx="2880320" cy="0"/>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19" name="Straight Arrow Connector 18"/>
          <p:cNvCxnSpPr/>
          <p:nvPr/>
        </p:nvCxnSpPr>
        <p:spPr>
          <a:xfrm flipV="1">
            <a:off x="1115616" y="1988840"/>
            <a:ext cx="0" cy="3744416"/>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21" name="TextBox 20"/>
          <p:cNvSpPr txBox="1"/>
          <p:nvPr/>
        </p:nvSpPr>
        <p:spPr>
          <a:xfrm>
            <a:off x="160928" y="2123564"/>
            <a:ext cx="738664" cy="3393668"/>
          </a:xfrm>
          <a:prstGeom prst="rect">
            <a:avLst/>
          </a:prstGeom>
        </p:spPr>
        <p:style>
          <a:lnRef idx="2">
            <a:schemeClr val="dk1"/>
          </a:lnRef>
          <a:fillRef idx="1">
            <a:schemeClr val="lt1"/>
          </a:fillRef>
          <a:effectRef idx="0">
            <a:schemeClr val="dk1"/>
          </a:effectRef>
          <a:fontRef idx="minor">
            <a:schemeClr val="dk1"/>
          </a:fontRef>
        </p:style>
        <p:txBody>
          <a:bodyPr vert="vert270" wrap="square" rtlCol="0">
            <a:spAutoFit/>
          </a:bodyPr>
          <a:lstStyle/>
          <a:p>
            <a:pPr algn="ctr"/>
            <a:r>
              <a:rPr lang="en-GB" dirty="0"/>
              <a:t>Good Investments Increase the value of the Assets</a:t>
            </a:r>
          </a:p>
        </p:txBody>
      </p:sp>
      <p:sp>
        <p:nvSpPr>
          <p:cNvPr id="22" name="TextBox 21"/>
          <p:cNvSpPr txBox="1"/>
          <p:nvPr/>
        </p:nvSpPr>
        <p:spPr>
          <a:xfrm>
            <a:off x="8092841" y="3861048"/>
            <a:ext cx="1015663" cy="2088232"/>
          </a:xfrm>
          <a:prstGeom prst="rect">
            <a:avLst/>
          </a:prstGeom>
        </p:spPr>
        <p:style>
          <a:lnRef idx="2">
            <a:schemeClr val="dk1"/>
          </a:lnRef>
          <a:fillRef idx="1">
            <a:schemeClr val="lt1"/>
          </a:fillRef>
          <a:effectRef idx="0">
            <a:schemeClr val="dk1"/>
          </a:effectRef>
          <a:fontRef idx="minor">
            <a:schemeClr val="dk1"/>
          </a:fontRef>
        </p:style>
        <p:txBody>
          <a:bodyPr vert="vert270" wrap="square" rtlCol="0">
            <a:spAutoFit/>
          </a:bodyPr>
          <a:lstStyle/>
          <a:p>
            <a:pPr algn="ctr"/>
            <a:r>
              <a:rPr lang="en-GB" dirty="0"/>
              <a:t>Lower Cost of Debt means cheaper Financing</a:t>
            </a:r>
          </a:p>
        </p:txBody>
      </p:sp>
      <p:cxnSp>
        <p:nvCxnSpPr>
          <p:cNvPr id="23" name="Straight Arrow Connector 22"/>
          <p:cNvCxnSpPr/>
          <p:nvPr/>
        </p:nvCxnSpPr>
        <p:spPr>
          <a:xfrm flipV="1">
            <a:off x="7812360" y="2060848"/>
            <a:ext cx="0" cy="1584176"/>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cxnSp>
        <p:nvCxnSpPr>
          <p:cNvPr id="25" name="Straight Arrow Connector 24"/>
          <p:cNvCxnSpPr/>
          <p:nvPr/>
        </p:nvCxnSpPr>
        <p:spPr>
          <a:xfrm>
            <a:off x="7812360" y="4077072"/>
            <a:ext cx="0" cy="1656184"/>
          </a:xfrm>
          <a:prstGeom prst="straightConnector1">
            <a:avLst/>
          </a:prstGeom>
          <a:ln>
            <a:tailEnd type="arrow"/>
          </a:ln>
        </p:spPr>
        <p:style>
          <a:lnRef idx="2">
            <a:schemeClr val="accent6"/>
          </a:lnRef>
          <a:fillRef idx="0">
            <a:schemeClr val="accent6"/>
          </a:fillRef>
          <a:effectRef idx="1">
            <a:schemeClr val="accent6"/>
          </a:effectRef>
          <a:fontRef idx="minor">
            <a:schemeClr val="tx1"/>
          </a:fontRef>
        </p:style>
      </p:cxnSp>
      <p:sp>
        <p:nvSpPr>
          <p:cNvPr id="33" name="TextBox 32"/>
          <p:cNvSpPr txBox="1"/>
          <p:nvPr/>
        </p:nvSpPr>
        <p:spPr>
          <a:xfrm>
            <a:off x="8092841" y="1844824"/>
            <a:ext cx="1015663" cy="1944216"/>
          </a:xfrm>
          <a:prstGeom prst="rect">
            <a:avLst/>
          </a:prstGeom>
        </p:spPr>
        <p:style>
          <a:lnRef idx="2">
            <a:schemeClr val="dk1"/>
          </a:lnRef>
          <a:fillRef idx="1">
            <a:schemeClr val="lt1"/>
          </a:fillRef>
          <a:effectRef idx="0">
            <a:schemeClr val="dk1"/>
          </a:effectRef>
          <a:fontRef idx="minor">
            <a:schemeClr val="dk1"/>
          </a:fontRef>
        </p:style>
        <p:txBody>
          <a:bodyPr vert="vert270" wrap="square" rtlCol="0">
            <a:spAutoFit/>
          </a:bodyPr>
          <a:lstStyle/>
          <a:p>
            <a:pPr algn="ctr"/>
            <a:r>
              <a:rPr lang="en-GB" dirty="0"/>
              <a:t>Equity is the Residual claim on Assets</a:t>
            </a:r>
          </a:p>
        </p:txBody>
      </p:sp>
      <p:sp>
        <p:nvSpPr>
          <p:cNvPr id="3" name="Cloud Callout 2"/>
          <p:cNvSpPr/>
          <p:nvPr/>
        </p:nvSpPr>
        <p:spPr>
          <a:xfrm>
            <a:off x="6804248" y="0"/>
            <a:ext cx="2304256" cy="1710100"/>
          </a:xfrm>
          <a:prstGeom prst="cloudCallou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GB" sz="2000" dirty="0">
                <a:solidFill>
                  <a:schemeClr val="tx1"/>
                </a:solidFill>
              </a:rPr>
              <a:t>What can we buy in the market?</a:t>
            </a:r>
          </a:p>
        </p:txBody>
      </p:sp>
    </p:spTree>
    <p:extLst>
      <p:ext uri="{BB962C8B-B14F-4D97-AF65-F5344CB8AC3E}">
        <p14:creationId xmlns:p14="http://schemas.microsoft.com/office/powerpoint/2010/main" val="343238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P spid="10" grpId="0" animBg="1"/>
      <p:bldP spid="11" grpId="0" animBg="1"/>
      <p:bldP spid="12" grpId="0" animBg="1"/>
      <p:bldP spid="13" grpId="0" animBg="1"/>
      <p:bldP spid="21" grpId="0" animBg="1"/>
      <p:bldP spid="22" grpId="0" animBg="1"/>
      <p:bldP spid="33" grpId="0" animBg="1"/>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5387300" y="3062652"/>
            <a:ext cx="6590928" cy="732696"/>
          </a:xfrm>
        </p:spPr>
        <p:txBody>
          <a:bodyPr>
            <a:normAutofit fontScale="90000"/>
          </a:bodyPr>
          <a:lstStyle/>
          <a:p>
            <a:r>
              <a:rPr lang="en-GB" dirty="0"/>
              <a:t>What is the value of Apple</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3474049617"/>
              </p:ext>
            </p:extLst>
          </p:nvPr>
        </p:nvGraphicFramePr>
        <p:xfrm>
          <a:off x="-1690" y="0"/>
          <a:ext cx="855989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8E7DAC35-1484-4BFA-913A-1C15C0569E9D}"/>
              </a:ext>
            </a:extLst>
          </p:cNvPr>
          <p:cNvPicPr>
            <a:picLocks noChangeAspect="1"/>
          </p:cNvPicPr>
          <p:nvPr/>
        </p:nvPicPr>
        <p:blipFill>
          <a:blip r:embed="rId7"/>
          <a:stretch>
            <a:fillRect/>
          </a:stretch>
        </p:blipFill>
        <p:spPr>
          <a:xfrm>
            <a:off x="61149" y="1556792"/>
            <a:ext cx="8410534" cy="5256584"/>
          </a:xfrm>
          <a:prstGeom prst="rect">
            <a:avLst/>
          </a:prstGeom>
        </p:spPr>
      </p:pic>
    </p:spTree>
    <p:extLst>
      <p:ext uri="{BB962C8B-B14F-4D97-AF65-F5344CB8AC3E}">
        <p14:creationId xmlns:p14="http://schemas.microsoft.com/office/powerpoint/2010/main" val="2572539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graphicEl>
                                              <a:dgm id="{4D0E46E9-743F-4A8B-87FF-DF3F52EDB6C2}"/>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graphicEl>
                                              <a:dgm id="{10926662-D068-4E2C-A580-0A52C025DC22}"/>
                                            </p:graphic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graphicEl>
                                              <a:dgm id="{937AD9B3-1D5C-41FE-BBB9-FF121EFB9BAA}"/>
                                            </p:graphic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graphicEl>
                                              <a:dgm id="{1935C1D9-D07C-419A-B523-CF1A7B531B1C}"/>
                                            </p:graphic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graphicEl>
                                              <a:dgm id="{23FB24C4-219E-4BAE-B04F-EF5A85F5D4F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graphicEl>
                                              <a:dgm id="{01B432CB-68F9-43E3-B143-3A407FAAEACF}"/>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graphicEl>
                                              <a:dgm id="{1F3485FA-A121-4745-8933-BEB4B432CB29}"/>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graphicEl>
                                              <a:dgm id="{9E7A7A11-90D1-4C20-8E20-ADBCA6FB689A}"/>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graphicEl>
                                              <a:dgm id="{6D0DFDFC-E75A-49BF-A4B1-64432778A559}"/>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
                                            <p:graphicEl>
                                              <a:dgm id="{376B1ED2-E036-4211-A298-1474605CB998}"/>
                                            </p:graphic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graphicEl>
                                              <a:dgm id="{C3B5BCE9-4E80-46A2-B133-390D73ACA735}"/>
                                            </p:graphic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graphicEl>
                                              <a:dgm id="{BF5C4683-DFE6-4A8A-9103-B785C036735F}"/>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graphicEl>
                                              <a:dgm id="{C715489F-2E53-4C5B-BB41-5DAE5CF3CFD2}"/>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
                                            <p:graphicEl>
                                              <a:dgm id="{F5837ACB-7F18-4DF5-BFEE-03B337CE24A9}"/>
                                            </p:graphic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
                                            <p:graphicEl>
                                              <a:dgm id="{7FF7847F-3024-467B-A14C-76E5BAF08B91}"/>
                                            </p:graphic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
                                            <p:graphicEl>
                                              <a:dgm id="{C71AEF30-7F42-439B-97B0-24E3967A90C2}"/>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
                                            <p:graphicEl>
                                              <a:dgm id="{A9CA9994-1965-43B2-B475-9E0B3703B78C}"/>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
                                            <p:graphicEl>
                                              <a:dgm id="{9EFF1713-C7C6-4545-8EAF-C54AE4B209D7}"/>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
                                            <p:graphicEl>
                                              <a:dgm id="{012563D4-0CBE-47A4-8B36-D1CDB10B572B}"/>
                                            </p:graphic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5">
                                            <p:graphicEl>
                                              <a:dgm id="{47E592D5-1518-4194-97C9-D67C34BD6481}"/>
                                            </p:graphic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
                                            <p:graphicEl>
                                              <a:dgm id="{2F9376F0-2D7E-4E2D-B673-D5C923172701}"/>
                                            </p:graphic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graphicEl>
                                              <a:dgm id="{5E87CAC7-E465-4A29-A4CD-C078BC128B57}"/>
                                            </p:graphicEl>
                                          </p:spTgt>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
                                            <p:graphicEl>
                                              <a:dgm id="{F9DAFB59-4620-428F-A05E-C6974A0B35AB}"/>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
                                            <p:graphicEl>
                                              <a:dgm id="{61D684D1-A2D1-4164-A201-97660C4F4809}"/>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
                                            <p:graphicEl>
                                              <a:dgm id="{8C98E0DA-CB04-4596-B088-C2F5FA84F689}"/>
                                            </p:graphic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5">
                                            <p:graphicEl>
                                              <a:dgm id="{4566F08E-8726-4553-9F7D-5085E664934D}"/>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CFB7D-14F6-DC2D-B01C-85B5A95008AF}"/>
              </a:ext>
            </a:extLst>
          </p:cNvPr>
          <p:cNvSpPr>
            <a:spLocks noGrp="1"/>
          </p:cNvSpPr>
          <p:nvPr>
            <p:ph type="title"/>
          </p:nvPr>
        </p:nvSpPr>
        <p:spPr>
          <a:xfrm>
            <a:off x="457200" y="320040"/>
            <a:ext cx="7239000" cy="732696"/>
          </a:xfrm>
        </p:spPr>
        <p:txBody>
          <a:bodyPr/>
          <a:lstStyle/>
          <a:p>
            <a:r>
              <a:rPr lang="en-GB" dirty="0"/>
              <a:t>What drives value?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F1DCDEA8-A64E-AEC8-63BD-F17E9D8509C6}"/>
                  </a:ext>
                </a:extLst>
              </p:cNvPr>
              <p:cNvGraphicFramePr>
                <a:graphicFrameLocks noGrp="1"/>
              </p:cNvGraphicFramePr>
              <p:nvPr>
                <p:ph idx="1"/>
                <p:extLst>
                  <p:ext uri="{D42A27DB-BD31-4B8C-83A1-F6EECF244321}">
                    <p14:modId xmlns:p14="http://schemas.microsoft.com/office/powerpoint/2010/main" val="1266322805"/>
                  </p:ext>
                </p:extLst>
              </p:nvPr>
            </p:nvGraphicFramePr>
            <p:xfrm>
              <a:off x="11020" y="1196752"/>
              <a:ext cx="8881460" cy="5341208"/>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F1DCDEA8-A64E-AEC8-63BD-F17E9D8509C6}"/>
                  </a:ext>
                </a:extLst>
              </p:cNvPr>
              <p:cNvPicPr>
                <a:picLocks noGrp="1" noRot="1" noChangeAspect="1" noMove="1" noResize="1" noEditPoints="1" noAdjustHandles="1" noChangeArrowheads="1" noChangeShapeType="1"/>
              </p:cNvPicPr>
              <p:nvPr/>
            </p:nvPicPr>
            <p:blipFill>
              <a:blip r:embed="rId3"/>
              <a:stretch>
                <a:fillRect/>
              </a:stretch>
            </p:blipFill>
            <p:spPr>
              <a:xfrm>
                <a:off x="11020" y="1196752"/>
                <a:ext cx="8881460" cy="5341208"/>
              </a:xfrm>
              <a:prstGeom prst="rect">
                <a:avLst/>
              </a:prstGeom>
            </p:spPr>
          </p:pic>
        </mc:Fallback>
      </mc:AlternateContent>
    </p:spTree>
    <p:extLst>
      <p:ext uri="{BB962C8B-B14F-4D97-AF65-F5344CB8AC3E}">
        <p14:creationId xmlns:p14="http://schemas.microsoft.com/office/powerpoint/2010/main" val="31065231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04704"/>
          </a:xfrm>
        </p:spPr>
        <p:txBody>
          <a:bodyPr/>
          <a:lstStyle/>
          <a:p>
            <a:r>
              <a:rPr lang="en-GB" dirty="0"/>
              <a:t>Value Drivers</a:t>
            </a:r>
          </a:p>
        </p:txBody>
      </p:sp>
      <p:sp>
        <p:nvSpPr>
          <p:cNvPr id="3" name="Content Placeholder 2"/>
          <p:cNvSpPr>
            <a:spLocks noGrp="1"/>
          </p:cNvSpPr>
          <p:nvPr>
            <p:ph idx="1"/>
          </p:nvPr>
        </p:nvSpPr>
        <p:spPr>
          <a:xfrm>
            <a:off x="457200" y="6130500"/>
            <a:ext cx="7239000" cy="650472"/>
          </a:xfrm>
        </p:spPr>
        <p:txBody>
          <a:bodyPr/>
          <a:lstStyle/>
          <a:p>
            <a:r>
              <a:rPr lang="en-GB" dirty="0"/>
              <a:t>Chapters 1, 2 and 3 of </a:t>
            </a:r>
            <a:r>
              <a:rPr lang="en-GB" dirty="0" err="1">
                <a:hlinkClick r:id="rId3"/>
              </a:rPr>
              <a:t>Koller</a:t>
            </a:r>
            <a:r>
              <a:rPr lang="en-GB" dirty="0">
                <a:hlinkClick r:id="rId3"/>
              </a:rPr>
              <a:t> et al., (2010)</a:t>
            </a:r>
            <a:endParaRPr lang="en-GB" dirty="0"/>
          </a:p>
        </p:txBody>
      </p:sp>
      <p:pic>
        <p:nvPicPr>
          <p:cNvPr id="4" name="Picture 2" descr="http://static.cyberlibris.com/books_upload/300pix/9780470424605.jpg">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35435" y="4728384"/>
            <a:ext cx="1143941" cy="1727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p:cNvGraphicFramePr/>
          <p:nvPr>
            <p:extLst>
              <p:ext uri="{D42A27DB-BD31-4B8C-83A1-F6EECF244321}">
                <p14:modId xmlns:p14="http://schemas.microsoft.com/office/powerpoint/2010/main" val="382470613"/>
              </p:ext>
            </p:extLst>
          </p:nvPr>
        </p:nvGraphicFramePr>
        <p:xfrm>
          <a:off x="539551" y="1288988"/>
          <a:ext cx="7495883" cy="451627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669677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8B8D2-440D-E685-8E46-0C14F8E5F9F9}"/>
              </a:ext>
            </a:extLst>
          </p:cNvPr>
          <p:cNvSpPr>
            <a:spLocks noGrp="1"/>
          </p:cNvSpPr>
          <p:nvPr>
            <p:ph type="title"/>
          </p:nvPr>
        </p:nvSpPr>
        <p:spPr/>
        <p:txBody>
          <a:bodyPr>
            <a:noAutofit/>
          </a:bodyPr>
          <a:lstStyle/>
          <a:p>
            <a:pPr algn="ctr"/>
            <a:r>
              <a:rPr lang="en-GB" sz="2400" dirty="0"/>
              <a:t>A company decides to replace 80% of its employees with AI. Its Value will Go:</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224CD2CD-0CEA-FD4D-40E2-8EBDC4587ADD}"/>
                  </a:ext>
                </a:extLst>
              </p:cNvPr>
              <p:cNvGraphicFramePr>
                <a:graphicFrameLocks noGrp="1"/>
              </p:cNvGraphicFramePr>
              <p:nvPr>
                <p:ph idx="1"/>
                <p:extLst>
                  <p:ext uri="{D42A27DB-BD31-4B8C-83A1-F6EECF244321}">
                    <p14:modId xmlns:p14="http://schemas.microsoft.com/office/powerpoint/2010/main" val="4078673830"/>
                  </p:ext>
                </p:extLst>
              </p:nvPr>
            </p:nvGraphicFramePr>
            <p:xfrm>
              <a:off x="179512" y="1609724"/>
              <a:ext cx="8507288" cy="513164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224CD2CD-0CEA-FD4D-40E2-8EBDC4587ADD}"/>
                  </a:ext>
                </a:extLst>
              </p:cNvPr>
              <p:cNvPicPr>
                <a:picLocks noGrp="1" noRot="1" noChangeAspect="1" noMove="1" noResize="1" noEditPoints="1" noAdjustHandles="1" noChangeArrowheads="1" noChangeShapeType="1"/>
              </p:cNvPicPr>
              <p:nvPr/>
            </p:nvPicPr>
            <p:blipFill>
              <a:blip r:embed="rId3"/>
              <a:stretch>
                <a:fillRect/>
              </a:stretch>
            </p:blipFill>
            <p:spPr>
              <a:xfrm>
                <a:off x="179512" y="1609724"/>
                <a:ext cx="8507288" cy="5131643"/>
              </a:xfrm>
              <a:prstGeom prst="rect">
                <a:avLst/>
              </a:prstGeom>
            </p:spPr>
          </p:pic>
        </mc:Fallback>
      </mc:AlternateContent>
    </p:spTree>
    <p:extLst>
      <p:ext uri="{BB962C8B-B14F-4D97-AF65-F5344CB8AC3E}">
        <p14:creationId xmlns:p14="http://schemas.microsoft.com/office/powerpoint/2010/main" val="3407411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How value is created</a:t>
            </a:r>
          </a:p>
        </p:txBody>
      </p:sp>
      <p:sp>
        <p:nvSpPr>
          <p:cNvPr id="3" name="Content Placeholder 2"/>
          <p:cNvSpPr>
            <a:spLocks noGrp="1"/>
          </p:cNvSpPr>
          <p:nvPr>
            <p:ph idx="1"/>
          </p:nvPr>
        </p:nvSpPr>
        <p:spPr>
          <a:xfrm>
            <a:off x="446856" y="5844405"/>
            <a:ext cx="8229600" cy="968971"/>
          </a:xfrm>
        </p:spPr>
        <p:txBody>
          <a:bodyPr/>
          <a:lstStyle/>
          <a:p>
            <a:pPr marL="0" indent="0" algn="ctr">
              <a:buNone/>
            </a:pPr>
            <a:r>
              <a:rPr lang="en-GB" sz="5400" b="1" dirty="0"/>
              <a:t>Create Value</a:t>
            </a:r>
          </a:p>
        </p:txBody>
      </p:sp>
      <p:graphicFrame>
        <p:nvGraphicFramePr>
          <p:cNvPr id="4" name="Content Placeholder 3"/>
          <p:cNvGraphicFramePr>
            <a:graphicFrameLocks/>
          </p:cNvGraphicFramePr>
          <p:nvPr>
            <p:extLst>
              <p:ext uri="{D42A27DB-BD31-4B8C-83A1-F6EECF244321}">
                <p14:modId xmlns:p14="http://schemas.microsoft.com/office/powerpoint/2010/main" val="54035704"/>
              </p:ext>
            </p:extLst>
          </p:nvPr>
        </p:nvGraphicFramePr>
        <p:xfrm>
          <a:off x="107504" y="1423317"/>
          <a:ext cx="8928992"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66972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F3A09-B7A8-193B-58E7-8FA6C300FD53}"/>
              </a:ext>
            </a:extLst>
          </p:cNvPr>
          <p:cNvSpPr>
            <a:spLocks noGrp="1"/>
          </p:cNvSpPr>
          <p:nvPr>
            <p:ph type="title"/>
          </p:nvPr>
        </p:nvSpPr>
        <p:spPr/>
        <p:txBody>
          <a:bodyPr>
            <a:noAutofit/>
          </a:bodyPr>
          <a:lstStyle/>
          <a:p>
            <a:pPr algn="ctr"/>
            <a:r>
              <a:rPr lang="en-GB" sz="2000" dirty="0"/>
              <a:t>Value is only a financial objective and does not consider other qualitative objectives like Employee satisfaction, or Gender Equality Etc. </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Content Placeholder 3">
                <a:extLst>
                  <a:ext uri="{FF2B5EF4-FFF2-40B4-BE49-F238E27FC236}">
                    <a16:creationId xmlns:a16="http://schemas.microsoft.com/office/drawing/2014/main" id="{C581C39D-6BCF-5140-0D57-9273460063CE}"/>
                  </a:ext>
                </a:extLst>
              </p:cNvPr>
              <p:cNvGraphicFramePr>
                <a:graphicFrameLocks noGrp="1"/>
              </p:cNvGraphicFramePr>
              <p:nvPr>
                <p:ph idx="1"/>
                <p:extLst>
                  <p:ext uri="{D42A27DB-BD31-4B8C-83A1-F6EECF244321}">
                    <p14:modId xmlns:p14="http://schemas.microsoft.com/office/powerpoint/2010/main" val="2270543260"/>
                  </p:ext>
                </p:extLst>
              </p:nvPr>
            </p:nvGraphicFramePr>
            <p:xfrm>
              <a:off x="673224" y="1556792"/>
              <a:ext cx="7571184" cy="520365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Content Placeholder 3">
                <a:extLst>
                  <a:ext uri="{FF2B5EF4-FFF2-40B4-BE49-F238E27FC236}">
                    <a16:creationId xmlns:a16="http://schemas.microsoft.com/office/drawing/2014/main" id="{C581C39D-6BCF-5140-0D57-9273460063CE}"/>
                  </a:ext>
                </a:extLst>
              </p:cNvPr>
              <p:cNvPicPr>
                <a:picLocks noGrp="1" noRot="1" noChangeAspect="1" noMove="1" noResize="1" noEditPoints="1" noAdjustHandles="1" noChangeArrowheads="1" noChangeShapeType="1"/>
              </p:cNvPicPr>
              <p:nvPr/>
            </p:nvPicPr>
            <p:blipFill>
              <a:blip r:embed="rId3"/>
              <a:stretch>
                <a:fillRect/>
              </a:stretch>
            </p:blipFill>
            <p:spPr>
              <a:xfrm>
                <a:off x="673224" y="1556792"/>
                <a:ext cx="7571184" cy="5203652"/>
              </a:xfrm>
              <a:prstGeom prst="rect">
                <a:avLst/>
              </a:prstGeom>
            </p:spPr>
          </p:pic>
        </mc:Fallback>
      </mc:AlternateContent>
    </p:spTree>
    <p:extLst>
      <p:ext uri="{BB962C8B-B14F-4D97-AF65-F5344CB8AC3E}">
        <p14:creationId xmlns:p14="http://schemas.microsoft.com/office/powerpoint/2010/main" val="707083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60688"/>
          </a:xfrm>
        </p:spPr>
        <p:txBody>
          <a:bodyPr/>
          <a:lstStyle/>
          <a:p>
            <a:r>
              <a:rPr lang="en-GB" dirty="0"/>
              <a:t>Why Value?</a:t>
            </a:r>
          </a:p>
        </p:txBody>
      </p:sp>
      <p:sp>
        <p:nvSpPr>
          <p:cNvPr id="3" name="Content Placeholder 2"/>
          <p:cNvSpPr>
            <a:spLocks noGrp="1"/>
          </p:cNvSpPr>
          <p:nvPr>
            <p:ph idx="1"/>
          </p:nvPr>
        </p:nvSpPr>
        <p:spPr>
          <a:xfrm>
            <a:off x="457200" y="976671"/>
            <a:ext cx="7239000" cy="955488"/>
          </a:xfrm>
        </p:spPr>
        <p:txBody>
          <a:bodyPr>
            <a:normAutofit fontScale="85000" lnSpcReduction="10000"/>
          </a:bodyPr>
          <a:lstStyle/>
          <a:p>
            <a:pPr marL="0" indent="0" algn="ctr">
              <a:buNone/>
            </a:pPr>
            <a:r>
              <a:rPr lang="en-GB" dirty="0"/>
              <a:t>Is value a good enough measure of firm performance? </a:t>
            </a:r>
          </a:p>
          <a:p>
            <a:pPr marL="0" indent="0" algn="ctr">
              <a:buNone/>
            </a:pPr>
            <a:r>
              <a:rPr lang="en-GB" dirty="0"/>
              <a:t>Stakeholder theory (Freeman, 1984)</a:t>
            </a:r>
          </a:p>
        </p:txBody>
      </p:sp>
      <p:pic>
        <p:nvPicPr>
          <p:cNvPr id="4" name="Picture 3"/>
          <p:cNvPicPr>
            <a:picLocks noChangeAspect="1"/>
          </p:cNvPicPr>
          <p:nvPr/>
        </p:nvPicPr>
        <p:blipFill>
          <a:blip r:embed="rId2"/>
          <a:stretch>
            <a:fillRect/>
          </a:stretch>
        </p:blipFill>
        <p:spPr>
          <a:xfrm>
            <a:off x="457200" y="1932159"/>
            <a:ext cx="7382203" cy="4688697"/>
          </a:xfrm>
          <a:prstGeom prst="rect">
            <a:avLst/>
          </a:prstGeom>
        </p:spPr>
      </p:pic>
    </p:spTree>
    <p:extLst>
      <p:ext uri="{BB962C8B-B14F-4D97-AF65-F5344CB8AC3E}">
        <p14:creationId xmlns:p14="http://schemas.microsoft.com/office/powerpoint/2010/main" val="14443960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p:cNvSpPr>
            <a:spLocks noGrp="1"/>
          </p:cNvSpPr>
          <p:nvPr>
            <p:ph type="title"/>
          </p:nvPr>
        </p:nvSpPr>
        <p:spPr>
          <a:xfrm>
            <a:off x="457200" y="490662"/>
            <a:ext cx="8229600" cy="562074"/>
          </a:xfrm>
        </p:spPr>
        <p:txBody>
          <a:bodyPr>
            <a:normAutofit fontScale="90000"/>
          </a:bodyPr>
          <a:lstStyle/>
          <a:p>
            <a:r>
              <a:rPr lang="en-US" dirty="0"/>
              <a:t>Why Value-Stakeholders</a:t>
            </a:r>
          </a:p>
        </p:txBody>
      </p:sp>
      <p:sp>
        <p:nvSpPr>
          <p:cNvPr id="17411" name="Espace réservé du contenu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664461178"/>
              </p:ext>
            </p:extLst>
          </p:nvPr>
        </p:nvGraphicFramePr>
        <p:xfrm>
          <a:off x="457200" y="1268760"/>
          <a:ext cx="82296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3" name="Straight Arrow Connector 2"/>
          <p:cNvCxnSpPr/>
          <p:nvPr/>
        </p:nvCxnSpPr>
        <p:spPr>
          <a:xfrm flipV="1">
            <a:off x="5796136" y="1124744"/>
            <a:ext cx="0" cy="1584176"/>
          </a:xfrm>
          <a:prstGeom prst="straightConnector1">
            <a:avLst/>
          </a:prstGeom>
          <a:ln>
            <a:solidFill>
              <a:srgbClr val="00B050"/>
            </a:solidFill>
            <a:tailEnd type="arrow"/>
          </a:ln>
        </p:spPr>
        <p:style>
          <a:lnRef idx="3">
            <a:schemeClr val="accent2"/>
          </a:lnRef>
          <a:fillRef idx="0">
            <a:schemeClr val="accent2"/>
          </a:fillRef>
          <a:effectRef idx="2">
            <a:schemeClr val="accent2"/>
          </a:effectRef>
          <a:fontRef idx="minor">
            <a:schemeClr val="tx1"/>
          </a:fontRef>
        </p:style>
      </p:cxnSp>
      <p:sp>
        <p:nvSpPr>
          <p:cNvPr id="6" name="TextBox 5"/>
          <p:cNvSpPr txBox="1"/>
          <p:nvPr/>
        </p:nvSpPr>
        <p:spPr>
          <a:xfrm>
            <a:off x="6084168" y="1425550"/>
            <a:ext cx="2987824" cy="923330"/>
          </a:xfrm>
          <a:prstGeom prst="rect">
            <a:avLst/>
          </a:prstGeom>
          <a:ln>
            <a:solidFill>
              <a:srgbClr val="00B05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GB" dirty="0"/>
              <a:t>Shareholders and Managers share the same views on project profitability</a:t>
            </a:r>
          </a:p>
        </p:txBody>
      </p:sp>
      <p:cxnSp>
        <p:nvCxnSpPr>
          <p:cNvPr id="9" name="Straight Arrow Connector 8"/>
          <p:cNvCxnSpPr/>
          <p:nvPr/>
        </p:nvCxnSpPr>
        <p:spPr>
          <a:xfrm>
            <a:off x="6588224" y="5085184"/>
            <a:ext cx="2016224" cy="0"/>
          </a:xfrm>
          <a:prstGeom prst="straightConnector1">
            <a:avLst/>
          </a:prstGeom>
          <a:ln>
            <a:solidFill>
              <a:srgbClr val="7030A0"/>
            </a:solidFill>
            <a:tailEnd type="arrow"/>
          </a:ln>
        </p:spPr>
        <p:style>
          <a:lnRef idx="3">
            <a:schemeClr val="accent2"/>
          </a:lnRef>
          <a:fillRef idx="0">
            <a:schemeClr val="accent2"/>
          </a:fillRef>
          <a:effectRef idx="2">
            <a:schemeClr val="accent2"/>
          </a:effectRef>
          <a:fontRef idx="minor">
            <a:schemeClr val="tx1"/>
          </a:fontRef>
        </p:style>
      </p:cxnSp>
      <p:sp>
        <p:nvSpPr>
          <p:cNvPr id="11" name="TextBox 10"/>
          <p:cNvSpPr txBox="1"/>
          <p:nvPr/>
        </p:nvSpPr>
        <p:spPr>
          <a:xfrm>
            <a:off x="6084168" y="5229200"/>
            <a:ext cx="2987824" cy="646331"/>
          </a:xfrm>
          <a:prstGeom prst="rect">
            <a:avLst/>
          </a:prstGeom>
          <a:ln>
            <a:solidFill>
              <a:srgbClr val="7030A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GB" dirty="0"/>
              <a:t>The social impact of firm’s actions is negligible</a:t>
            </a:r>
          </a:p>
        </p:txBody>
      </p:sp>
      <p:cxnSp>
        <p:nvCxnSpPr>
          <p:cNvPr id="12" name="Straight Arrow Connector 11"/>
          <p:cNvCxnSpPr/>
          <p:nvPr/>
        </p:nvCxnSpPr>
        <p:spPr>
          <a:xfrm>
            <a:off x="3347864" y="5085184"/>
            <a:ext cx="0" cy="1772816"/>
          </a:xfrm>
          <a:prstGeom prst="straightConnector1">
            <a:avLst/>
          </a:prstGeom>
          <a:ln>
            <a:solidFill>
              <a:srgbClr val="00B0F0"/>
            </a:solidFill>
            <a:tailEnd type="arrow"/>
          </a:ln>
        </p:spPr>
        <p:style>
          <a:lnRef idx="3">
            <a:schemeClr val="accent2"/>
          </a:lnRef>
          <a:fillRef idx="0">
            <a:schemeClr val="accent2"/>
          </a:fillRef>
          <a:effectRef idx="2">
            <a:schemeClr val="accent2"/>
          </a:effectRef>
          <a:fontRef idx="minor">
            <a:schemeClr val="tx1"/>
          </a:fontRef>
        </p:style>
      </p:cxnSp>
      <p:sp>
        <p:nvSpPr>
          <p:cNvPr id="14" name="TextBox 13"/>
          <p:cNvSpPr txBox="1"/>
          <p:nvPr/>
        </p:nvSpPr>
        <p:spPr>
          <a:xfrm>
            <a:off x="216024" y="5530006"/>
            <a:ext cx="2987824" cy="923330"/>
          </a:xfrm>
          <a:prstGeom prst="rect">
            <a:avLst/>
          </a:prstGeom>
          <a:ln>
            <a:solidFill>
              <a:srgbClr val="0070C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GB" dirty="0"/>
              <a:t>Markets are assumed to accurately reflect information about the firm</a:t>
            </a:r>
          </a:p>
        </p:txBody>
      </p:sp>
      <p:cxnSp>
        <p:nvCxnSpPr>
          <p:cNvPr id="15" name="Straight Arrow Connector 14"/>
          <p:cNvCxnSpPr/>
          <p:nvPr/>
        </p:nvCxnSpPr>
        <p:spPr>
          <a:xfrm flipH="1">
            <a:off x="467544" y="2852936"/>
            <a:ext cx="2160240" cy="0"/>
          </a:xfrm>
          <a:prstGeom prst="straightConnector1">
            <a:avLst/>
          </a:prstGeom>
          <a:ln>
            <a:solidFill>
              <a:srgbClr val="C00000"/>
            </a:solidFill>
            <a:tailEnd type="arrow"/>
          </a:ln>
        </p:spPr>
        <p:style>
          <a:lnRef idx="3">
            <a:schemeClr val="accent2"/>
          </a:lnRef>
          <a:fillRef idx="0">
            <a:schemeClr val="accent2"/>
          </a:fillRef>
          <a:effectRef idx="2">
            <a:schemeClr val="accent2"/>
          </a:effectRef>
          <a:fontRef idx="minor">
            <a:schemeClr val="tx1"/>
          </a:fontRef>
        </p:style>
      </p:cxnSp>
      <p:sp>
        <p:nvSpPr>
          <p:cNvPr id="17" name="TextBox 16"/>
          <p:cNvSpPr txBox="1"/>
          <p:nvPr/>
        </p:nvSpPr>
        <p:spPr>
          <a:xfrm>
            <a:off x="107504" y="1713582"/>
            <a:ext cx="2987824" cy="923330"/>
          </a:xfrm>
          <a:prstGeom prst="rect">
            <a:avLst/>
          </a:prstGeom>
          <a:ln>
            <a:solidFill>
              <a:srgbClr val="C00000"/>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pPr algn="ctr"/>
            <a:r>
              <a:rPr lang="en-GB" dirty="0"/>
              <a:t>The riskiness of the firm does not change till maturity</a:t>
            </a:r>
          </a:p>
        </p:txBody>
      </p:sp>
    </p:spTree>
    <p:extLst>
      <p:ext uri="{BB962C8B-B14F-4D97-AF65-F5344CB8AC3E}">
        <p14:creationId xmlns:p14="http://schemas.microsoft.com/office/powerpoint/2010/main" val="267614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1" grpId="0" animBg="1"/>
      <p:bldP spid="14"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787208" cy="732696"/>
          </a:xfrm>
        </p:spPr>
        <p:txBody>
          <a:bodyPr>
            <a:normAutofit/>
          </a:bodyPr>
          <a:lstStyle/>
          <a:p>
            <a:r>
              <a:rPr lang="en-GB" dirty="0"/>
              <a:t>Why Market value?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68666918"/>
              </p:ext>
            </p:extLst>
          </p:nvPr>
        </p:nvGraphicFramePr>
        <p:xfrm>
          <a:off x="457200" y="1224136"/>
          <a:ext cx="8229600" cy="558924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71193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endParaRPr lang="en-GB"/>
          </a:p>
        </p:txBody>
      </p:sp>
      <p:pic>
        <p:nvPicPr>
          <p:cNvPr id="22530" name="Picture 2" descr="http://www.kampasresearch.com/dot-com-bubb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052736"/>
            <a:ext cx="7898501" cy="576064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79512" y="116632"/>
            <a:ext cx="7898501" cy="648072"/>
          </a:xfrm>
        </p:spPr>
        <p:txBody>
          <a:bodyPr>
            <a:normAutofit fontScale="90000"/>
          </a:bodyPr>
          <a:lstStyle/>
          <a:p>
            <a:pPr algn="ctr"/>
            <a:r>
              <a:rPr lang="en-GB" sz="3600" dirty="0"/>
              <a:t>Do Markets Always reflect  The “Fair” Value?</a:t>
            </a:r>
          </a:p>
        </p:txBody>
      </p:sp>
    </p:spTree>
    <p:extLst>
      <p:ext uri="{BB962C8B-B14F-4D97-AF65-F5344CB8AC3E}">
        <p14:creationId xmlns:p14="http://schemas.microsoft.com/office/powerpoint/2010/main" val="1692504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8527EC5-3907-4B37-E573-EF32FBEA2108}"/>
              </a:ext>
            </a:extLst>
          </p:cNvPr>
          <p:cNvPicPr>
            <a:picLocks noChangeAspect="1"/>
          </p:cNvPicPr>
          <p:nvPr/>
        </p:nvPicPr>
        <p:blipFill>
          <a:blip r:embed="rId3"/>
          <a:stretch>
            <a:fillRect/>
          </a:stretch>
        </p:blipFill>
        <p:spPr>
          <a:xfrm>
            <a:off x="3386501" y="0"/>
            <a:ext cx="5757499" cy="6858000"/>
          </a:xfrm>
          <a:prstGeom prst="rect">
            <a:avLst/>
          </a:prstGeom>
        </p:spPr>
      </p:pic>
      <p:pic>
        <p:nvPicPr>
          <p:cNvPr id="9" name="Content Placeholder 8">
            <a:extLst>
              <a:ext uri="{FF2B5EF4-FFF2-40B4-BE49-F238E27FC236}">
                <a16:creationId xmlns:a16="http://schemas.microsoft.com/office/drawing/2014/main" id="{892B807A-8E2E-0E87-78F8-136F702E66D8}"/>
              </a:ext>
            </a:extLst>
          </p:cNvPr>
          <p:cNvPicPr>
            <a:picLocks noGrp="1" noChangeAspect="1"/>
          </p:cNvPicPr>
          <p:nvPr>
            <p:ph idx="1"/>
          </p:nvPr>
        </p:nvPicPr>
        <p:blipFill>
          <a:blip r:embed="rId4"/>
          <a:stretch>
            <a:fillRect/>
          </a:stretch>
        </p:blipFill>
        <p:spPr>
          <a:xfrm>
            <a:off x="611560" y="2163191"/>
            <a:ext cx="8511059" cy="4722193"/>
          </a:xfrm>
          <a:prstGeom prst="rect">
            <a:avLst/>
          </a:prstGeom>
        </p:spPr>
      </p:pic>
      <p:sp>
        <p:nvSpPr>
          <p:cNvPr id="4" name="Title 3">
            <a:extLst>
              <a:ext uri="{FF2B5EF4-FFF2-40B4-BE49-F238E27FC236}">
                <a16:creationId xmlns:a16="http://schemas.microsoft.com/office/drawing/2014/main" id="{D32D8A3C-F46C-7EAC-F944-45870391E4F0}"/>
              </a:ext>
            </a:extLst>
          </p:cNvPr>
          <p:cNvSpPr>
            <a:spLocks noGrp="1"/>
          </p:cNvSpPr>
          <p:nvPr>
            <p:ph type="title"/>
          </p:nvPr>
        </p:nvSpPr>
        <p:spPr>
          <a:xfrm>
            <a:off x="457199" y="320040"/>
            <a:ext cx="2929301" cy="2028840"/>
          </a:xfrm>
        </p:spPr>
        <p:txBody>
          <a:bodyPr>
            <a:normAutofit fontScale="90000"/>
          </a:bodyPr>
          <a:lstStyle/>
          <a:p>
            <a:r>
              <a:rPr lang="en-GB" dirty="0"/>
              <a:t>Is AI a Bubble ready to crash?</a:t>
            </a:r>
          </a:p>
        </p:txBody>
      </p:sp>
    </p:spTree>
    <p:extLst>
      <p:ext uri="{BB962C8B-B14F-4D97-AF65-F5344CB8AC3E}">
        <p14:creationId xmlns:p14="http://schemas.microsoft.com/office/powerpoint/2010/main" val="1630276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FFDBF2-34EF-7CFD-B7CF-3CFF4489C674}"/>
              </a:ext>
            </a:extLst>
          </p:cNvPr>
          <p:cNvSpPr>
            <a:spLocks noGrp="1"/>
          </p:cNvSpPr>
          <p:nvPr>
            <p:ph type="title"/>
          </p:nvPr>
        </p:nvSpPr>
        <p:spPr/>
        <p:txBody>
          <a:bodyPr/>
          <a:lstStyle/>
          <a:p>
            <a:r>
              <a:rPr lang="en-GB" dirty="0"/>
              <a:t>It goes that way</a:t>
            </a:r>
          </a:p>
        </p:txBody>
      </p:sp>
      <p:pic>
        <p:nvPicPr>
          <p:cNvPr id="9" name="Content Placeholder 8">
            <a:extLst>
              <a:ext uri="{FF2B5EF4-FFF2-40B4-BE49-F238E27FC236}">
                <a16:creationId xmlns:a16="http://schemas.microsoft.com/office/drawing/2014/main" id="{FB2F6526-785A-CC9B-34D9-FB8877B9A00C}"/>
              </a:ext>
            </a:extLst>
          </p:cNvPr>
          <p:cNvPicPr>
            <a:picLocks noGrp="1" noChangeAspect="1"/>
          </p:cNvPicPr>
          <p:nvPr>
            <p:ph idx="1"/>
          </p:nvPr>
        </p:nvPicPr>
        <p:blipFill>
          <a:blip r:embed="rId2"/>
          <a:stretch>
            <a:fillRect/>
          </a:stretch>
        </p:blipFill>
        <p:spPr>
          <a:xfrm>
            <a:off x="107504" y="1463040"/>
            <a:ext cx="8559837" cy="4928021"/>
          </a:xfrm>
          <a:prstGeom prst="rect">
            <a:avLst/>
          </a:prstGeom>
        </p:spPr>
      </p:pic>
    </p:spTree>
    <p:extLst>
      <p:ext uri="{BB962C8B-B14F-4D97-AF65-F5344CB8AC3E}">
        <p14:creationId xmlns:p14="http://schemas.microsoft.com/office/powerpoint/2010/main" val="1791584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2919" y="116632"/>
            <a:ext cx="7239000" cy="804704"/>
          </a:xfrm>
        </p:spPr>
        <p:txBody>
          <a:bodyPr/>
          <a:lstStyle/>
          <a:p>
            <a:r>
              <a:rPr lang="en-GB" dirty="0"/>
              <a:t>How Does Disney Look Like?</a:t>
            </a:r>
          </a:p>
        </p:txBody>
      </p:sp>
      <p:graphicFrame>
        <p:nvGraphicFramePr>
          <p:cNvPr id="8" name="Object 7"/>
          <p:cNvGraphicFramePr>
            <a:graphicFrameLocks noChangeAspect="1"/>
          </p:cNvGraphicFramePr>
          <p:nvPr>
            <p:extLst>
              <p:ext uri="{D42A27DB-BD31-4B8C-83A1-F6EECF244321}">
                <p14:modId xmlns:p14="http://schemas.microsoft.com/office/powerpoint/2010/main" val="3125926046"/>
              </p:ext>
            </p:extLst>
          </p:nvPr>
        </p:nvGraphicFramePr>
        <p:xfrm>
          <a:off x="6876256" y="260648"/>
          <a:ext cx="1360645" cy="1148044"/>
        </p:xfrm>
        <a:graphic>
          <a:graphicData uri="http://schemas.openxmlformats.org/presentationml/2006/ole">
            <mc:AlternateContent xmlns:mc="http://schemas.openxmlformats.org/markup-compatibility/2006">
              <mc:Choice xmlns:v="urn:schemas-microsoft-com:vml" Requires="v">
                <p:oleObj name="Worksheet" showAsIcon="1" r:id="rId3" imgW="914400" imgH="771480" progId="Excel.Sheet.12">
                  <p:embed/>
                </p:oleObj>
              </mc:Choice>
              <mc:Fallback>
                <p:oleObj name="Worksheet" showAsIcon="1" r:id="rId3" imgW="914400" imgH="771480" progId="Excel.Sheet.12">
                  <p:embed/>
                  <p:pic>
                    <p:nvPicPr>
                      <p:cNvPr id="8" name="Object 7"/>
                      <p:cNvPicPr/>
                      <p:nvPr/>
                    </p:nvPicPr>
                    <p:blipFill>
                      <a:blip r:embed="rId4"/>
                      <a:stretch>
                        <a:fillRect/>
                      </a:stretch>
                    </p:blipFill>
                    <p:spPr>
                      <a:xfrm>
                        <a:off x="6876256" y="260648"/>
                        <a:ext cx="1360645" cy="1148044"/>
                      </a:xfrm>
                      <a:prstGeom prst="rect">
                        <a:avLst/>
                      </a:prstGeom>
                    </p:spPr>
                  </p:pic>
                </p:oleObj>
              </mc:Fallback>
            </mc:AlternateContent>
          </a:graphicData>
        </a:graphic>
      </p:graphicFrame>
      <p:graphicFrame>
        <p:nvGraphicFramePr>
          <p:cNvPr id="2" name="Chart 1">
            <a:extLst>
              <a:ext uri="{FF2B5EF4-FFF2-40B4-BE49-F238E27FC236}">
                <a16:creationId xmlns:a16="http://schemas.microsoft.com/office/drawing/2014/main" id="{00000000-0008-0000-0000-000002000000}"/>
              </a:ext>
            </a:extLst>
          </p:cNvPr>
          <p:cNvGraphicFramePr>
            <a:graphicFrameLocks/>
          </p:cNvGraphicFramePr>
          <p:nvPr>
            <p:extLst>
              <p:ext uri="{D42A27DB-BD31-4B8C-83A1-F6EECF244321}">
                <p14:modId xmlns:p14="http://schemas.microsoft.com/office/powerpoint/2010/main" val="172842593"/>
              </p:ext>
            </p:extLst>
          </p:nvPr>
        </p:nvGraphicFramePr>
        <p:xfrm>
          <a:off x="323528" y="1408692"/>
          <a:ext cx="7704855" cy="526066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7963673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550B29-FF23-4A38-3D34-553D8CE9B80C}"/>
              </a:ext>
            </a:extLst>
          </p:cNvPr>
          <p:cNvPicPr>
            <a:picLocks noChangeAspect="1"/>
          </p:cNvPicPr>
          <p:nvPr/>
        </p:nvPicPr>
        <p:blipFill>
          <a:blip r:embed="rId3"/>
          <a:stretch>
            <a:fillRect/>
          </a:stretch>
        </p:blipFill>
        <p:spPr>
          <a:xfrm>
            <a:off x="2511354" y="2636912"/>
            <a:ext cx="6586960" cy="4116850"/>
          </a:xfrm>
          <a:prstGeom prst="rect">
            <a:avLst/>
          </a:prstGeom>
        </p:spPr>
      </p:pic>
      <p:sp>
        <p:nvSpPr>
          <p:cNvPr id="2" name="Title 1"/>
          <p:cNvSpPr>
            <a:spLocks noGrp="1"/>
          </p:cNvSpPr>
          <p:nvPr>
            <p:ph type="title"/>
          </p:nvPr>
        </p:nvSpPr>
        <p:spPr>
          <a:xfrm>
            <a:off x="251520" y="104238"/>
            <a:ext cx="8424936" cy="876490"/>
          </a:xfrm>
        </p:spPr>
        <p:txBody>
          <a:bodyPr>
            <a:noAutofit/>
          </a:bodyPr>
          <a:lstStyle/>
          <a:p>
            <a:pPr algn="ctr"/>
            <a:r>
              <a:rPr lang="en-GB" sz="3200" dirty="0"/>
              <a:t>How Does Apple look like? </a:t>
            </a:r>
            <a:br>
              <a:rPr lang="en-GB" sz="3200" dirty="0"/>
            </a:br>
            <a:r>
              <a:rPr lang="en-GB" sz="3200" dirty="0"/>
              <a:t>Last and this year</a:t>
            </a:r>
          </a:p>
        </p:txBody>
      </p:sp>
      <p:pic>
        <p:nvPicPr>
          <p:cNvPr id="13" name="Picture 12">
            <a:extLst>
              <a:ext uri="{FF2B5EF4-FFF2-40B4-BE49-F238E27FC236}">
                <a16:creationId xmlns:a16="http://schemas.microsoft.com/office/drawing/2014/main" id="{F82D7CAF-56E0-8F61-DEC8-95B6CFB6B699}"/>
              </a:ext>
            </a:extLst>
          </p:cNvPr>
          <p:cNvPicPr>
            <a:picLocks noChangeAspect="1"/>
          </p:cNvPicPr>
          <p:nvPr/>
        </p:nvPicPr>
        <p:blipFill>
          <a:blip r:embed="rId4"/>
          <a:stretch>
            <a:fillRect/>
          </a:stretch>
        </p:blipFill>
        <p:spPr>
          <a:xfrm>
            <a:off x="35496" y="1086868"/>
            <a:ext cx="5126355" cy="3672408"/>
          </a:xfrm>
          <a:prstGeom prst="rect">
            <a:avLst/>
          </a:prstGeom>
        </p:spPr>
      </p:pic>
    </p:spTree>
    <p:extLst>
      <p:ext uri="{BB962C8B-B14F-4D97-AF65-F5344CB8AC3E}">
        <p14:creationId xmlns:p14="http://schemas.microsoft.com/office/powerpoint/2010/main" val="7909456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88680"/>
          </a:xfrm>
        </p:spPr>
        <p:txBody>
          <a:bodyPr/>
          <a:lstStyle/>
          <a:p>
            <a:r>
              <a:rPr lang="en-GB" dirty="0"/>
              <a:t>How do Markets look like?</a:t>
            </a:r>
          </a:p>
        </p:txBody>
      </p:sp>
      <p:pic>
        <p:nvPicPr>
          <p:cNvPr id="4" name="Picture 2" descr="http://www.riskmanagementinsight.com/media/images/weblog/Lemmings.jpg"/>
          <p:cNvPicPr>
            <a:picLocks noGrp="1" noChangeAspect="1" noChangeArrowheads="1"/>
          </p:cNvPicPr>
          <p:nvPr>
            <p:ph idx="1"/>
          </p:nvPr>
        </p:nvPicPr>
        <p:blipFill>
          <a:blip r:embed="rId3" cstate="print"/>
          <a:srcRect/>
          <a:stretch>
            <a:fillRect/>
          </a:stretch>
        </p:blipFill>
        <p:spPr bwMode="auto">
          <a:xfrm>
            <a:off x="1749875" y="1052736"/>
            <a:ext cx="4653649" cy="5693877"/>
          </a:xfrm>
          <a:prstGeom prst="rect">
            <a:avLst/>
          </a:prstGeom>
          <a:noFill/>
        </p:spPr>
      </p:pic>
    </p:spTree>
    <p:extLst>
      <p:ext uri="{BB962C8B-B14F-4D97-AF65-F5344CB8AC3E}">
        <p14:creationId xmlns:p14="http://schemas.microsoft.com/office/powerpoint/2010/main" val="20811913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440" y="80628"/>
            <a:ext cx="3826768" cy="1224136"/>
          </a:xfrm>
        </p:spPr>
        <p:txBody>
          <a:bodyPr/>
          <a:lstStyle/>
          <a:p>
            <a:pPr algn="ctr"/>
            <a:r>
              <a:rPr lang="en-GB" dirty="0"/>
              <a:t>Initial Thoughts</a:t>
            </a:r>
          </a:p>
        </p:txBody>
      </p:sp>
      <p:sp>
        <p:nvSpPr>
          <p:cNvPr id="3" name="Content Placeholder 2"/>
          <p:cNvSpPr>
            <a:spLocks noGrp="1"/>
          </p:cNvSpPr>
          <p:nvPr>
            <p:ph idx="1"/>
          </p:nvPr>
        </p:nvSpPr>
        <p:spPr>
          <a:xfrm>
            <a:off x="3491880" y="260648"/>
            <a:ext cx="4752528" cy="6408712"/>
          </a:xfrm>
        </p:spPr>
        <p:txBody>
          <a:bodyPr>
            <a:noAutofit/>
          </a:bodyPr>
          <a:lstStyle/>
          <a:p>
            <a:pPr marL="0" indent="0" algn="ctr">
              <a:buNone/>
            </a:pPr>
            <a:r>
              <a:rPr lang="en-GB" sz="2400" i="1" dirty="0"/>
              <a:t>“One hundred thousand lemmings cannot be wrong”</a:t>
            </a:r>
          </a:p>
          <a:p>
            <a:pPr lvl="1"/>
            <a:r>
              <a:rPr lang="en-GB" sz="2400" i="1" dirty="0" err="1"/>
              <a:t>Facebook</a:t>
            </a:r>
            <a:r>
              <a:rPr lang="en-GB" sz="2400" i="1" dirty="0"/>
              <a:t> </a:t>
            </a:r>
          </a:p>
          <a:p>
            <a:pPr lvl="2"/>
            <a:r>
              <a:rPr lang="en-GB" sz="2400" i="1" dirty="0">
                <a:hlinkClick r:id="rId2"/>
              </a:rPr>
              <a:t>Initial valuation</a:t>
            </a:r>
            <a:r>
              <a:rPr lang="en-GB" sz="2400" i="1" dirty="0"/>
              <a:t>: $104b or $38/share</a:t>
            </a:r>
          </a:p>
          <a:p>
            <a:pPr lvl="2"/>
            <a:r>
              <a:rPr lang="en-GB" sz="2400" i="1" dirty="0">
                <a:hlinkClick r:id="rId3"/>
              </a:rPr>
              <a:t>Next day</a:t>
            </a:r>
            <a:r>
              <a:rPr lang="en-GB" sz="2400" i="1" dirty="0"/>
              <a:t>: $34 </a:t>
            </a:r>
          </a:p>
          <a:p>
            <a:pPr lvl="2"/>
            <a:r>
              <a:rPr lang="en-GB" sz="2400" i="1" dirty="0">
                <a:hlinkClick r:id="rId4"/>
              </a:rPr>
              <a:t>Today’s price: 326.34 (last year $274.5)</a:t>
            </a:r>
            <a:endParaRPr lang="en-GB" sz="2400" i="1" dirty="0"/>
          </a:p>
          <a:p>
            <a:pPr lvl="1"/>
            <a:r>
              <a:rPr lang="en-GB" sz="2400" i="1" dirty="0"/>
              <a:t>Twitter</a:t>
            </a:r>
          </a:p>
          <a:p>
            <a:pPr lvl="2"/>
            <a:r>
              <a:rPr lang="en-GB" sz="2400" i="1" dirty="0"/>
              <a:t> </a:t>
            </a:r>
            <a:r>
              <a:rPr lang="en-GB" sz="2400" i="1" dirty="0">
                <a:hlinkClick r:id="rId5"/>
              </a:rPr>
              <a:t>Valuation</a:t>
            </a:r>
            <a:r>
              <a:rPr lang="en-GB" sz="2400" i="1" dirty="0"/>
              <a:t>: $1b</a:t>
            </a:r>
          </a:p>
          <a:p>
            <a:pPr lvl="2"/>
            <a:r>
              <a:rPr lang="en-GB" sz="2400" i="1" dirty="0">
                <a:hlinkClick r:id="rId6"/>
              </a:rPr>
              <a:t>Critique</a:t>
            </a:r>
            <a:r>
              <a:rPr lang="en-GB" sz="2400" i="1" dirty="0"/>
              <a:t>: $0</a:t>
            </a:r>
          </a:p>
          <a:p>
            <a:pPr lvl="2"/>
            <a:r>
              <a:rPr lang="en-GB" sz="2400" dirty="0">
                <a:hlinkClick r:id="rId7"/>
              </a:rPr>
              <a:t>IPO</a:t>
            </a:r>
            <a:r>
              <a:rPr lang="en-GB" sz="2400" dirty="0"/>
              <a:t>: $1.8b, $26/share</a:t>
            </a:r>
          </a:p>
          <a:p>
            <a:pPr lvl="2"/>
            <a:r>
              <a:rPr lang="en-GB" sz="2400" dirty="0"/>
              <a:t>First Day: $45.10/share</a:t>
            </a:r>
          </a:p>
          <a:p>
            <a:pPr lvl="2"/>
            <a:r>
              <a:rPr lang="en-GB" sz="2400" dirty="0">
                <a:hlinkClick r:id="rId8"/>
              </a:rPr>
              <a:t>Today: $38.12 (last year $48.06)</a:t>
            </a:r>
            <a:endParaRPr lang="en-GB" sz="2400" dirty="0"/>
          </a:p>
        </p:txBody>
      </p:sp>
      <p:pic>
        <p:nvPicPr>
          <p:cNvPr id="1026" name="Picture 2" descr="http://www.riskmanagementinsight.com/media/images/weblog/Lemmings.jpg"/>
          <p:cNvPicPr>
            <a:picLocks noChangeAspect="1" noChangeArrowheads="1"/>
          </p:cNvPicPr>
          <p:nvPr/>
        </p:nvPicPr>
        <p:blipFill>
          <a:blip r:embed="rId9" cstate="print"/>
          <a:srcRect/>
          <a:stretch>
            <a:fillRect/>
          </a:stretch>
        </p:blipFill>
        <p:spPr bwMode="auto">
          <a:xfrm>
            <a:off x="143756" y="1700808"/>
            <a:ext cx="3636156" cy="4448945"/>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2541"/>
            <a:ext cx="8502417" cy="948720"/>
          </a:xfrm>
        </p:spPr>
        <p:txBody>
          <a:bodyPr>
            <a:noAutofit/>
          </a:bodyPr>
          <a:lstStyle/>
          <a:p>
            <a:pPr algn="ctr"/>
            <a:r>
              <a:rPr lang="en-GB" sz="2400" dirty="0"/>
              <a:t>We Are Talking About the Future Who knows?</a:t>
            </a:r>
            <a:br>
              <a:rPr lang="en-GB" sz="2400" dirty="0"/>
            </a:br>
            <a:r>
              <a:rPr lang="en-GB" sz="2400" dirty="0"/>
              <a:t>Who was right last year?</a:t>
            </a:r>
          </a:p>
        </p:txBody>
      </p:sp>
      <p:pic>
        <p:nvPicPr>
          <p:cNvPr id="10" name="Content Placeholder 9" descr="A graph with blue and purple lines&#10;&#10;AI-generated content may be incorrect.">
            <a:extLst>
              <a:ext uri="{FF2B5EF4-FFF2-40B4-BE49-F238E27FC236}">
                <a16:creationId xmlns:a16="http://schemas.microsoft.com/office/drawing/2014/main" id="{59BF81B0-308C-E16F-5C7F-E4F3E632202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95536" y="1137360"/>
            <a:ext cx="7200800" cy="2635505"/>
          </a:xfrm>
        </p:spPr>
      </p:pic>
      <p:pic>
        <p:nvPicPr>
          <p:cNvPr id="12" name="Picture 11">
            <a:extLst>
              <a:ext uri="{FF2B5EF4-FFF2-40B4-BE49-F238E27FC236}">
                <a16:creationId xmlns:a16="http://schemas.microsoft.com/office/drawing/2014/main" id="{A4000D8D-0E71-C837-0178-E29E39FCB005}"/>
              </a:ext>
            </a:extLst>
          </p:cNvPr>
          <p:cNvPicPr>
            <a:picLocks noChangeAspect="1"/>
          </p:cNvPicPr>
          <p:nvPr/>
        </p:nvPicPr>
        <p:blipFill>
          <a:blip r:embed="rId4"/>
          <a:srcRect l="3538" t="29001" r="17713" b="19199"/>
          <a:stretch>
            <a:fillRect/>
          </a:stretch>
        </p:blipFill>
        <p:spPr>
          <a:xfrm>
            <a:off x="395536" y="4005064"/>
            <a:ext cx="7200800" cy="2664296"/>
          </a:xfrm>
          <a:prstGeom prst="rect">
            <a:avLst/>
          </a:prstGeom>
        </p:spPr>
      </p:pic>
    </p:spTree>
    <p:extLst>
      <p:ext uri="{BB962C8B-B14F-4D97-AF65-F5344CB8AC3E}">
        <p14:creationId xmlns:p14="http://schemas.microsoft.com/office/powerpoint/2010/main" val="35947266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2120" y="312923"/>
            <a:ext cx="2414464" cy="3024336"/>
          </a:xfrm>
        </p:spPr>
        <p:txBody>
          <a:bodyPr/>
          <a:lstStyle/>
          <a:p>
            <a:r>
              <a:rPr lang="en-GB" dirty="0"/>
              <a:t>How does bitcoin look like?</a:t>
            </a:r>
            <a:endParaRPr lang="en-US" dirty="0"/>
          </a:p>
        </p:txBody>
      </p:sp>
      <p:sp>
        <p:nvSpPr>
          <p:cNvPr id="4" name="TextBox 3"/>
          <p:cNvSpPr txBox="1"/>
          <p:nvPr/>
        </p:nvSpPr>
        <p:spPr>
          <a:xfrm>
            <a:off x="251520" y="4221088"/>
            <a:ext cx="2880320" cy="2308324"/>
          </a:xfrm>
          <a:prstGeom prst="rect">
            <a:avLst/>
          </a:prstGeom>
          <a:noFill/>
        </p:spPr>
        <p:txBody>
          <a:bodyPr wrap="square" rtlCol="0">
            <a:spAutoFit/>
          </a:bodyPr>
          <a:lstStyle/>
          <a:p>
            <a:r>
              <a:rPr lang="en-GB" dirty="0">
                <a:hlinkClick r:id="rId3"/>
              </a:rPr>
              <a:t>Bitcoin might go up to $400k</a:t>
            </a:r>
            <a:endParaRPr lang="en-GB" dirty="0"/>
          </a:p>
          <a:p>
            <a:r>
              <a:rPr lang="en-GB" dirty="0">
                <a:hlinkClick r:id="rId4"/>
              </a:rPr>
              <a:t>Bitcoin is worthless </a:t>
            </a:r>
            <a:endParaRPr lang="en-GB" dirty="0"/>
          </a:p>
          <a:p>
            <a:endParaRPr lang="en-GB" dirty="0"/>
          </a:p>
          <a:p>
            <a:r>
              <a:rPr lang="en-GB" dirty="0">
                <a:hlinkClick r:id="rId5"/>
              </a:rPr>
              <a:t>Do we really want Bitcoin?</a:t>
            </a:r>
            <a:endParaRPr lang="en-GB" dirty="0"/>
          </a:p>
          <a:p>
            <a:r>
              <a:rPr lang="en-GB" dirty="0">
                <a:hlinkClick r:id="rId6"/>
              </a:rPr>
              <a:t>Cryptocurrencies and FED interest rates</a:t>
            </a:r>
            <a:endParaRPr lang="en-GB" dirty="0"/>
          </a:p>
        </p:txBody>
      </p:sp>
      <p:pic>
        <p:nvPicPr>
          <p:cNvPr id="5" name="Picture 4">
            <a:extLst>
              <a:ext uri="{FF2B5EF4-FFF2-40B4-BE49-F238E27FC236}">
                <a16:creationId xmlns:a16="http://schemas.microsoft.com/office/drawing/2014/main" id="{D0C03002-C1D3-2B56-1D5B-D7D2B3F51B75}"/>
              </a:ext>
            </a:extLst>
          </p:cNvPr>
          <p:cNvPicPr>
            <a:picLocks noChangeAspect="1"/>
          </p:cNvPicPr>
          <p:nvPr/>
        </p:nvPicPr>
        <p:blipFill>
          <a:blip r:embed="rId7"/>
          <a:srcRect l="8262" t="19201" r="32676" b="17800"/>
          <a:stretch>
            <a:fillRect/>
          </a:stretch>
        </p:blipFill>
        <p:spPr>
          <a:xfrm>
            <a:off x="179512" y="836712"/>
            <a:ext cx="5400600" cy="3240360"/>
          </a:xfrm>
          <a:prstGeom prst="rect">
            <a:avLst/>
          </a:prstGeom>
        </p:spPr>
      </p:pic>
      <p:pic>
        <p:nvPicPr>
          <p:cNvPr id="11" name="Picture 10">
            <a:extLst>
              <a:ext uri="{FF2B5EF4-FFF2-40B4-BE49-F238E27FC236}">
                <a16:creationId xmlns:a16="http://schemas.microsoft.com/office/drawing/2014/main" id="{437610BC-C73C-523A-774E-3709468851D8}"/>
              </a:ext>
            </a:extLst>
          </p:cNvPr>
          <p:cNvPicPr>
            <a:picLocks noChangeAspect="1"/>
          </p:cNvPicPr>
          <p:nvPr/>
        </p:nvPicPr>
        <p:blipFill>
          <a:blip r:embed="rId8"/>
          <a:srcRect t="4428"/>
          <a:stretch>
            <a:fillRect/>
          </a:stretch>
        </p:blipFill>
        <p:spPr>
          <a:xfrm>
            <a:off x="3086073" y="4077072"/>
            <a:ext cx="5879215" cy="2736304"/>
          </a:xfrm>
          <a:prstGeom prst="rect">
            <a:avLst/>
          </a:prstGeom>
        </p:spPr>
      </p:pic>
    </p:spTree>
    <p:extLst>
      <p:ext uri="{BB962C8B-B14F-4D97-AF65-F5344CB8AC3E}">
        <p14:creationId xmlns:p14="http://schemas.microsoft.com/office/powerpoint/2010/main" val="3100806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7838"/>
            <a:ext cx="7239000" cy="588680"/>
          </a:xfrm>
        </p:spPr>
        <p:txBody>
          <a:bodyPr>
            <a:normAutofit fontScale="90000"/>
          </a:bodyPr>
          <a:lstStyle/>
          <a:p>
            <a:r>
              <a:rPr lang="en-GB" dirty="0"/>
              <a:t>Three Fundamental Problems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66426246"/>
              </p:ext>
            </p:extLst>
          </p:nvPr>
        </p:nvGraphicFramePr>
        <p:xfrm>
          <a:off x="0" y="908720"/>
          <a:ext cx="9144000" cy="59046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13124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0C34113E-B0D9-408B-905E-30C3E64FB584}"/>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2E96B785-39AE-4271-986B-1FCB3F3C7BB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graphicEl>
                                              <a:dgm id="{2862D89C-A699-4C16-A122-FF0E4EA74CF7}"/>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16672"/>
          </a:xfrm>
        </p:spPr>
        <p:txBody>
          <a:bodyPr>
            <a:normAutofit fontScale="90000"/>
          </a:bodyPr>
          <a:lstStyle/>
          <a:p>
            <a:r>
              <a:rPr lang="en-GB" dirty="0"/>
              <a:t>How Can we measure value?</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85922"/>
              </p:ext>
            </p:extLst>
          </p:nvPr>
        </p:nvGraphicFramePr>
        <p:xfrm>
          <a:off x="457200" y="980728"/>
          <a:ext cx="7239000" cy="56166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graphicEl>
                                              <a:dgm id="{DB0E8FBB-2A1A-40F8-9491-B4576B2764BB}"/>
                                            </p:graphicEl>
                                          </p:spTgt>
                                        </p:tgtEl>
                                        <p:attrNameLst>
                                          <p:attrName>style.visibility</p:attrName>
                                        </p:attrNameLst>
                                      </p:cBhvr>
                                      <p:to>
                                        <p:strVal val="visible"/>
                                      </p:to>
                                    </p:set>
                                    <p:anim calcmode="lin" valueType="num">
                                      <p:cBhvr additive="base">
                                        <p:cTn id="7" dur="500" fill="hold"/>
                                        <p:tgtEl>
                                          <p:spTgt spid="4">
                                            <p:graphicEl>
                                              <a:dgm id="{DB0E8FBB-2A1A-40F8-9491-B4576B2764BB}"/>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graphicEl>
                                              <a:dgm id="{DB0E8FBB-2A1A-40F8-9491-B4576B2764BB}"/>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graphicEl>
                                              <a:dgm id="{F6749197-698E-4CB1-A8C5-C782583B0A5A}"/>
                                            </p:graphicEl>
                                          </p:spTgt>
                                        </p:tgtEl>
                                        <p:attrNameLst>
                                          <p:attrName>style.visibility</p:attrName>
                                        </p:attrNameLst>
                                      </p:cBhvr>
                                      <p:to>
                                        <p:strVal val="visible"/>
                                      </p:to>
                                    </p:set>
                                    <p:anim calcmode="lin" valueType="num">
                                      <p:cBhvr additive="base">
                                        <p:cTn id="13" dur="500" fill="hold"/>
                                        <p:tgtEl>
                                          <p:spTgt spid="4">
                                            <p:graphicEl>
                                              <a:dgm id="{F6749197-698E-4CB1-A8C5-C782583B0A5A}"/>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graphicEl>
                                              <a:dgm id="{F6749197-698E-4CB1-A8C5-C782583B0A5A}"/>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graphicEl>
                                              <a:dgm id="{EADFFEF3-4D66-441F-86AB-CA47788103E5}"/>
                                            </p:graphicEl>
                                          </p:spTgt>
                                        </p:tgtEl>
                                        <p:attrNameLst>
                                          <p:attrName>style.visibility</p:attrName>
                                        </p:attrNameLst>
                                      </p:cBhvr>
                                      <p:to>
                                        <p:strVal val="visible"/>
                                      </p:to>
                                    </p:set>
                                    <p:anim calcmode="lin" valueType="num">
                                      <p:cBhvr additive="base">
                                        <p:cTn id="19" dur="500" fill="hold"/>
                                        <p:tgtEl>
                                          <p:spTgt spid="4">
                                            <p:graphicEl>
                                              <a:dgm id="{EADFFEF3-4D66-441F-86AB-CA47788103E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graphicEl>
                                              <a:dgm id="{EADFFEF3-4D66-441F-86AB-CA47788103E5}"/>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graphicEl>
                                              <a:dgm id="{0BF63519-F7BA-4BFB-B21F-9199A594F678}"/>
                                            </p:graphicEl>
                                          </p:spTgt>
                                        </p:tgtEl>
                                        <p:attrNameLst>
                                          <p:attrName>style.visibility</p:attrName>
                                        </p:attrNameLst>
                                      </p:cBhvr>
                                      <p:to>
                                        <p:strVal val="visible"/>
                                      </p:to>
                                    </p:set>
                                    <p:anim calcmode="lin" valueType="num">
                                      <p:cBhvr additive="base">
                                        <p:cTn id="25" dur="500" fill="hold"/>
                                        <p:tgtEl>
                                          <p:spTgt spid="4">
                                            <p:graphicEl>
                                              <a:dgm id="{0BF63519-F7BA-4BFB-B21F-9199A594F678}"/>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graphicEl>
                                              <a:dgm id="{0BF63519-F7BA-4BFB-B21F-9199A594F678}"/>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graphicEl>
                                              <a:dgm id="{23DBB377-BBEB-41EA-B0DA-EC9C5A40E3D6}"/>
                                            </p:graphicEl>
                                          </p:spTgt>
                                        </p:tgtEl>
                                        <p:attrNameLst>
                                          <p:attrName>style.visibility</p:attrName>
                                        </p:attrNameLst>
                                      </p:cBhvr>
                                      <p:to>
                                        <p:strVal val="visible"/>
                                      </p:to>
                                    </p:set>
                                    <p:anim calcmode="lin" valueType="num">
                                      <p:cBhvr additive="base">
                                        <p:cTn id="31" dur="500" fill="hold"/>
                                        <p:tgtEl>
                                          <p:spTgt spid="4">
                                            <p:graphicEl>
                                              <a:dgm id="{23DBB377-BBEB-41EA-B0DA-EC9C5A40E3D6}"/>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graphicEl>
                                              <a:dgm id="{23DBB377-BBEB-41EA-B0DA-EC9C5A40E3D6}"/>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graphicEl>
                                              <a:dgm id="{F9252958-4CBC-4B48-AA8B-730BAE9BA9E6}"/>
                                            </p:graphicEl>
                                          </p:spTgt>
                                        </p:tgtEl>
                                        <p:attrNameLst>
                                          <p:attrName>style.visibility</p:attrName>
                                        </p:attrNameLst>
                                      </p:cBhvr>
                                      <p:to>
                                        <p:strVal val="visible"/>
                                      </p:to>
                                    </p:set>
                                    <p:anim calcmode="lin" valueType="num">
                                      <p:cBhvr additive="base">
                                        <p:cTn id="37" dur="500" fill="hold"/>
                                        <p:tgtEl>
                                          <p:spTgt spid="4">
                                            <p:graphicEl>
                                              <a:dgm id="{F9252958-4CBC-4B48-AA8B-730BAE9BA9E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graphicEl>
                                              <a:dgm id="{F9252958-4CBC-4B48-AA8B-730BAE9BA9E6}"/>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88680"/>
          </a:xfrm>
        </p:spPr>
        <p:txBody>
          <a:bodyPr/>
          <a:lstStyle/>
          <a:p>
            <a:r>
              <a:rPr lang="en-GB" dirty="0"/>
              <a:t>Valuation approaches </a:t>
            </a:r>
          </a:p>
        </p:txBody>
      </p:sp>
      <p:sp>
        <p:nvSpPr>
          <p:cNvPr id="6" name="Content Placeholder 5"/>
          <p:cNvSpPr>
            <a:spLocks noGrp="1"/>
          </p:cNvSpPr>
          <p:nvPr>
            <p:ph idx="1"/>
          </p:nvPr>
        </p:nvSpPr>
        <p:spPr>
          <a:xfrm>
            <a:off x="179512" y="3861048"/>
            <a:ext cx="7848872" cy="2924944"/>
          </a:xfrm>
        </p:spPr>
        <p:txBody>
          <a:bodyPr>
            <a:normAutofit/>
          </a:bodyPr>
          <a:lstStyle/>
          <a:p>
            <a:r>
              <a:rPr lang="en-GB" dirty="0"/>
              <a:t>All valuation models are based on the assumption that market is inefficient the questions are:</a:t>
            </a:r>
          </a:p>
          <a:p>
            <a:pPr lvl="1"/>
            <a:r>
              <a:rPr lang="en-GB" dirty="0"/>
              <a:t>How far is market value from the true value?</a:t>
            </a:r>
          </a:p>
          <a:p>
            <a:pPr lvl="1"/>
            <a:r>
              <a:rPr lang="en-GB" dirty="0"/>
              <a:t>When will they converge?</a:t>
            </a:r>
          </a:p>
          <a:p>
            <a:r>
              <a:rPr lang="en-GB" dirty="0"/>
              <a:t>If markets were efficient, market prices should reflect the true values. No need for valuation.</a:t>
            </a:r>
          </a:p>
          <a:p>
            <a:endParaRPr lang="en-GB" dirty="0"/>
          </a:p>
        </p:txBody>
      </p:sp>
      <p:graphicFrame>
        <p:nvGraphicFramePr>
          <p:cNvPr id="7" name="Content Placeholder 4"/>
          <p:cNvGraphicFramePr>
            <a:graphicFrameLocks/>
          </p:cNvGraphicFramePr>
          <p:nvPr/>
        </p:nvGraphicFramePr>
        <p:xfrm>
          <a:off x="395536" y="980728"/>
          <a:ext cx="7239000" cy="27363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660688"/>
          </a:xfrm>
        </p:spPr>
        <p:txBody>
          <a:bodyPr>
            <a:normAutofit fontScale="90000"/>
          </a:bodyPr>
          <a:lstStyle/>
          <a:p>
            <a:r>
              <a:rPr lang="en-GB" dirty="0"/>
              <a:t>1. Discounted Cash flows (DCF)</a:t>
            </a:r>
          </a:p>
        </p:txBody>
      </p:sp>
      <p:sp>
        <p:nvSpPr>
          <p:cNvPr id="3" name="Content Placeholder 2"/>
          <p:cNvSpPr>
            <a:spLocks noGrp="1"/>
          </p:cNvSpPr>
          <p:nvPr>
            <p:ph idx="1"/>
          </p:nvPr>
        </p:nvSpPr>
        <p:spPr>
          <a:xfrm>
            <a:off x="251520" y="908720"/>
            <a:ext cx="7848872" cy="4320480"/>
          </a:xfrm>
        </p:spPr>
        <p:txBody>
          <a:bodyPr>
            <a:normAutofit fontScale="85000" lnSpcReduction="20000"/>
          </a:bodyPr>
          <a:lstStyle/>
          <a:p>
            <a:r>
              <a:rPr lang="en-GB" dirty="0"/>
              <a:t>The value of the asset is the present value of future cash flows</a:t>
            </a:r>
          </a:p>
          <a:p>
            <a:pPr lvl="1"/>
            <a:r>
              <a:rPr lang="en-GB" dirty="0"/>
              <a:t>We consider Cash flows to equity (FCFE) or to the firm (FCFF)</a:t>
            </a:r>
          </a:p>
          <a:p>
            <a:pPr lvl="1"/>
            <a:r>
              <a:rPr lang="en-GB" b="1" dirty="0">
                <a:solidFill>
                  <a:srgbClr val="C00000"/>
                </a:solidFill>
              </a:rPr>
              <a:t>Some of the FCF need to be positive, for an asset to have value</a:t>
            </a:r>
          </a:p>
          <a:p>
            <a:pPr lvl="1"/>
            <a:r>
              <a:rPr lang="en-GB" b="1" dirty="0">
                <a:solidFill>
                  <a:srgbClr val="C00000"/>
                </a:solidFill>
              </a:rPr>
              <a:t>Assets that generate cash earlier, have higher value</a:t>
            </a:r>
          </a:p>
          <a:p>
            <a:r>
              <a:rPr lang="en-GB" dirty="0"/>
              <a:t>Inputs</a:t>
            </a:r>
          </a:p>
          <a:p>
            <a:pPr lvl="1"/>
            <a:r>
              <a:rPr lang="en-GB" dirty="0"/>
              <a:t>Life of the asset</a:t>
            </a:r>
          </a:p>
          <a:p>
            <a:pPr lvl="1"/>
            <a:r>
              <a:rPr lang="en-GB" dirty="0"/>
              <a:t>Cash Flows</a:t>
            </a:r>
          </a:p>
          <a:p>
            <a:pPr lvl="1"/>
            <a:r>
              <a:rPr lang="en-GB" dirty="0"/>
              <a:t>Discount rate</a:t>
            </a:r>
          </a:p>
          <a:p>
            <a:r>
              <a:rPr lang="en-GB" dirty="0"/>
              <a:t>Philosophical basis</a:t>
            </a:r>
          </a:p>
          <a:p>
            <a:pPr lvl="1"/>
            <a:r>
              <a:rPr lang="en-GB" dirty="0"/>
              <a:t>Every asset has a(n) (intrinsic) value, based on fundamentals</a:t>
            </a:r>
          </a:p>
          <a:p>
            <a:pPr lvl="1"/>
            <a:r>
              <a:rPr lang="en-GB" dirty="0"/>
              <a:t>Markets are assumed to be efficient over time (not immediately) incorporating new information.</a:t>
            </a:r>
          </a:p>
        </p:txBody>
      </p:sp>
      <p:pic>
        <p:nvPicPr>
          <p:cNvPr id="18435" name="Picture 3"/>
          <p:cNvPicPr>
            <a:picLocks noChangeAspect="1" noChangeArrowheads="1"/>
          </p:cNvPicPr>
          <p:nvPr/>
        </p:nvPicPr>
        <p:blipFill>
          <a:blip r:embed="rId2" cstate="print"/>
          <a:srcRect/>
          <a:stretch>
            <a:fillRect/>
          </a:stretch>
        </p:blipFill>
        <p:spPr bwMode="auto">
          <a:xfrm>
            <a:off x="66079" y="5373216"/>
            <a:ext cx="8034313" cy="730392"/>
          </a:xfrm>
          <a:prstGeom prst="rect">
            <a:avLst/>
          </a:prstGeom>
          <a:noFill/>
          <a:ln w="9525">
            <a:noFill/>
            <a:miter lim="800000"/>
            <a:headEnd/>
            <a:tailEnd/>
          </a:ln>
        </p:spPr>
      </p:pic>
      <p:sp>
        <p:nvSpPr>
          <p:cNvPr id="6" name="Content Placeholder 2"/>
          <p:cNvSpPr txBox="1">
            <a:spLocks/>
          </p:cNvSpPr>
          <p:nvPr/>
        </p:nvSpPr>
        <p:spPr>
          <a:xfrm>
            <a:off x="179512" y="6165304"/>
            <a:ext cx="7848872" cy="620688"/>
          </a:xfrm>
          <a:prstGeom prst="rect">
            <a:avLst/>
          </a:prstGeom>
        </p:spPr>
        <p:txBody>
          <a:bodyPr vert="horz">
            <a:normAutofit fontScale="77500" lnSpcReduction="20000"/>
          </a:bodyPr>
          <a:lstStyle/>
          <a:p>
            <a:pPr marR="0" lvl="0" algn="ctr" defTabSz="914400" rtl="0" eaLnBrk="1" fontAlgn="auto" latinLnBrk="0" hangingPunct="1">
              <a:lnSpc>
                <a:spcPct val="100000"/>
              </a:lnSpc>
              <a:spcBef>
                <a:spcPts val="600"/>
              </a:spcBef>
              <a:spcAft>
                <a:spcPts val="0"/>
              </a:spcAft>
              <a:buClr>
                <a:schemeClr val="tx2"/>
              </a:buClr>
              <a:buSzPct val="73000"/>
              <a:tabLst/>
              <a:defRPr/>
            </a:pPr>
            <a:r>
              <a:rPr lang="en-GB" sz="2600" dirty="0"/>
              <a:t>CF is Cash Flow, r is the discount rate and n is the life of the project</a:t>
            </a:r>
            <a:endParaRPr kumimoji="0" lang="en-GB" sz="26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8435"/>
                                        </p:tgtEl>
                                        <p:attrNameLst>
                                          <p:attrName>style.visibility</p:attrName>
                                        </p:attrNameLst>
                                      </p:cBhvr>
                                      <p:to>
                                        <p:strVal val="visible"/>
                                      </p:to>
                                    </p:set>
                                    <p:anim calcmode="lin" valueType="num">
                                      <p:cBhvr additive="base">
                                        <p:cTn id="23" dur="500" fill="hold"/>
                                        <p:tgtEl>
                                          <p:spTgt spid="18435"/>
                                        </p:tgtEl>
                                        <p:attrNameLst>
                                          <p:attrName>ppt_x</p:attrName>
                                        </p:attrNameLst>
                                      </p:cBhvr>
                                      <p:tavLst>
                                        <p:tav tm="0">
                                          <p:val>
                                            <p:strVal val="#ppt_x"/>
                                          </p:val>
                                        </p:tav>
                                        <p:tav tm="100000">
                                          <p:val>
                                            <p:strVal val="#ppt_x"/>
                                          </p:val>
                                        </p:tav>
                                      </p:tavLst>
                                    </p:anim>
                                    <p:anim calcmode="lin" valueType="num">
                                      <p:cBhvr additive="base">
                                        <p:cTn id="24" dur="500" fill="hold"/>
                                        <p:tgtEl>
                                          <p:spTgt spid="1843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 calcmode="lin" valueType="num">
                                      <p:cBhvr additive="base">
                                        <p:cTn id="3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516672"/>
          </a:xfrm>
        </p:spPr>
        <p:txBody>
          <a:bodyPr>
            <a:normAutofit fontScale="90000"/>
          </a:bodyPr>
          <a:lstStyle/>
          <a:p>
            <a:r>
              <a:rPr lang="en-GB" dirty="0"/>
              <a:t>DCF-Further Considerations</a:t>
            </a:r>
          </a:p>
        </p:txBody>
      </p:sp>
      <p:sp>
        <p:nvSpPr>
          <p:cNvPr id="3" name="Content Placeholder 2"/>
          <p:cNvSpPr>
            <a:spLocks noGrp="1"/>
          </p:cNvSpPr>
          <p:nvPr>
            <p:ph idx="1"/>
          </p:nvPr>
        </p:nvSpPr>
        <p:spPr>
          <a:xfrm>
            <a:off x="457200" y="692696"/>
            <a:ext cx="7067128" cy="5040560"/>
          </a:xfrm>
        </p:spPr>
        <p:txBody>
          <a:bodyPr>
            <a:normAutofit lnSpcReduction="10000"/>
          </a:bodyPr>
          <a:lstStyle/>
          <a:p>
            <a:r>
              <a:rPr lang="en-GB" dirty="0"/>
              <a:t>Going Concern versus Liquidation</a:t>
            </a:r>
          </a:p>
          <a:p>
            <a:pPr lvl="1"/>
            <a:r>
              <a:rPr lang="en-GB" dirty="0"/>
              <a:t>Liquidation: Looking back can give the value of the business in the past. </a:t>
            </a:r>
            <a:r>
              <a:rPr lang="en-GB" dirty="0">
                <a:hlinkClick r:id="rId3"/>
              </a:rPr>
              <a:t>READING</a:t>
            </a:r>
            <a:endParaRPr lang="en-GB" dirty="0"/>
          </a:p>
          <a:p>
            <a:pPr lvl="1"/>
            <a:r>
              <a:rPr lang="en-GB" dirty="0"/>
              <a:t>Business Continue and will invest in new projects. Growth is an important aspect of valuation</a:t>
            </a:r>
          </a:p>
          <a:p>
            <a:r>
              <a:rPr lang="en-GB" dirty="0"/>
              <a:t>Equity or Firm Valuation?</a:t>
            </a:r>
          </a:p>
          <a:p>
            <a:pPr lvl="1"/>
            <a:r>
              <a:rPr lang="en-GB" dirty="0"/>
              <a:t>Firm Value</a:t>
            </a:r>
          </a:p>
          <a:p>
            <a:pPr lvl="2"/>
            <a:r>
              <a:rPr lang="en-GB" dirty="0"/>
              <a:t>The market value of a company’s operational assets</a:t>
            </a:r>
          </a:p>
          <a:p>
            <a:pPr lvl="2"/>
            <a:r>
              <a:rPr lang="en-GB" dirty="0"/>
              <a:t>Discount FCFF using WACC</a:t>
            </a:r>
          </a:p>
          <a:p>
            <a:pPr lvl="1"/>
            <a:r>
              <a:rPr lang="en-GB" dirty="0"/>
              <a:t>Equity Value</a:t>
            </a:r>
          </a:p>
          <a:p>
            <a:pPr lvl="2"/>
            <a:r>
              <a:rPr lang="en-GB" dirty="0"/>
              <a:t>The value of firm’s equity</a:t>
            </a:r>
          </a:p>
          <a:p>
            <a:pPr lvl="2"/>
            <a:r>
              <a:rPr lang="en-GB" dirty="0"/>
              <a:t>Discount FCFE using Cost of Equity</a:t>
            </a:r>
          </a:p>
          <a:p>
            <a:endParaRPr lang="en-GB" dirty="0"/>
          </a:p>
        </p:txBody>
      </p:sp>
      <p:sp>
        <p:nvSpPr>
          <p:cNvPr id="4" name="Cloud Callout 3"/>
          <p:cNvSpPr/>
          <p:nvPr/>
        </p:nvSpPr>
        <p:spPr>
          <a:xfrm>
            <a:off x="6876256" y="1556792"/>
            <a:ext cx="2160240" cy="2304256"/>
          </a:xfrm>
          <a:prstGeom prst="cloudCallout">
            <a:avLst>
              <a:gd name="adj1" fmla="val -144652"/>
              <a:gd name="adj2" fmla="val 2434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What can you buy in a stock exchange???</a:t>
            </a:r>
          </a:p>
        </p:txBody>
      </p:sp>
      <p:graphicFrame>
        <p:nvGraphicFramePr>
          <p:cNvPr id="5" name="Object 4"/>
          <p:cNvGraphicFramePr>
            <a:graphicFrameLocks noChangeAspect="1"/>
          </p:cNvGraphicFramePr>
          <p:nvPr>
            <p:extLst>
              <p:ext uri="{D42A27DB-BD31-4B8C-83A1-F6EECF244321}">
                <p14:modId xmlns:p14="http://schemas.microsoft.com/office/powerpoint/2010/main" val="193872368"/>
              </p:ext>
            </p:extLst>
          </p:nvPr>
        </p:nvGraphicFramePr>
        <p:xfrm>
          <a:off x="107504" y="5517232"/>
          <a:ext cx="7992888" cy="1158501"/>
        </p:xfrm>
        <a:graphic>
          <a:graphicData uri="http://schemas.openxmlformats.org/presentationml/2006/ole">
            <mc:AlternateContent xmlns:mc="http://schemas.openxmlformats.org/markup-compatibility/2006">
              <mc:Choice xmlns:v="urn:schemas-microsoft-com:vml" Requires="v">
                <p:oleObj name="Equation" r:id="rId4" imgW="4559040" imgH="660240" progId="Equation.3">
                  <p:embed/>
                </p:oleObj>
              </mc:Choice>
              <mc:Fallback>
                <p:oleObj name="Equation" r:id="rId4" imgW="4559040" imgH="660240" progId="Equation.3">
                  <p:embed/>
                  <p:pic>
                    <p:nvPicPr>
                      <p:cNvPr id="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5517232"/>
                        <a:ext cx="7992888" cy="11585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anim calcmode="lin" valueType="num">
                                      <p:cBhvr additive="base">
                                        <p:cTn id="55" dur="500" fill="hold"/>
                                        <p:tgtEl>
                                          <p:spTgt spid="4"/>
                                        </p:tgtEl>
                                        <p:attrNameLst>
                                          <p:attrName>ppt_x</p:attrName>
                                        </p:attrNameLst>
                                      </p:cBhvr>
                                      <p:tavLst>
                                        <p:tav tm="0">
                                          <p:val>
                                            <p:strVal val="#ppt_x"/>
                                          </p:val>
                                        </p:tav>
                                        <p:tav tm="100000">
                                          <p:val>
                                            <p:strVal val="#ppt_x"/>
                                          </p:val>
                                        </p:tav>
                                      </p:tavLst>
                                    </p:anim>
                                    <p:anim calcmode="lin" valueType="num">
                                      <p:cBhvr additive="base">
                                        <p:cTn id="5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648072"/>
          </a:xfrm>
        </p:spPr>
        <p:txBody>
          <a:bodyPr>
            <a:normAutofit/>
          </a:bodyPr>
          <a:lstStyle/>
          <a:p>
            <a:r>
              <a:rPr lang="en-GB" dirty="0" err="1"/>
              <a:t>Dcf</a:t>
            </a:r>
            <a:r>
              <a:rPr lang="en-GB" dirty="0"/>
              <a:t>-Estimation</a:t>
            </a:r>
          </a:p>
        </p:txBody>
      </p:sp>
      <p:sp>
        <p:nvSpPr>
          <p:cNvPr id="5" name="Content Placeholder 2"/>
          <p:cNvSpPr>
            <a:spLocks noGrp="1"/>
          </p:cNvSpPr>
          <p:nvPr>
            <p:ph idx="1"/>
          </p:nvPr>
        </p:nvSpPr>
        <p:spPr>
          <a:xfrm>
            <a:off x="395536" y="980728"/>
            <a:ext cx="7239000" cy="5256584"/>
          </a:xfrm>
        </p:spPr>
        <p:txBody>
          <a:bodyPr>
            <a:normAutofit fontScale="92500" lnSpcReduction="20000"/>
          </a:bodyPr>
          <a:lstStyle/>
          <a:p>
            <a:pPr lvl="0"/>
            <a:r>
              <a:rPr lang="en-GB" dirty="0"/>
              <a:t>Classic DCF Valuation</a:t>
            </a:r>
          </a:p>
          <a:p>
            <a:pPr lvl="1"/>
            <a:r>
              <a:rPr lang="en-GB" dirty="0"/>
              <a:t>Firm Value: FCFFs are discounted using WACC</a:t>
            </a:r>
          </a:p>
          <a:p>
            <a:pPr lvl="1"/>
            <a:r>
              <a:rPr lang="en-GB" dirty="0"/>
              <a:t>Equity Value: FCFE (e.g. Dividends) are discounted using Cost of Equity</a:t>
            </a:r>
          </a:p>
          <a:p>
            <a:pPr lvl="1"/>
            <a:endParaRPr lang="en-GB" dirty="0"/>
          </a:p>
          <a:p>
            <a:pPr lvl="1"/>
            <a:endParaRPr lang="en-GB" dirty="0"/>
          </a:p>
          <a:p>
            <a:pPr lvl="1"/>
            <a:endParaRPr lang="en-GB" dirty="0"/>
          </a:p>
          <a:p>
            <a:pPr lvl="0"/>
            <a:r>
              <a:rPr lang="en-GB" dirty="0"/>
              <a:t>Adjusted Present Value</a:t>
            </a:r>
          </a:p>
          <a:p>
            <a:pPr lvl="1"/>
            <a:r>
              <a:rPr lang="en-GB" dirty="0"/>
              <a:t>Start with the value of an all equity firm</a:t>
            </a:r>
          </a:p>
          <a:p>
            <a:pPr lvl="1"/>
            <a:r>
              <a:rPr lang="en-GB" dirty="0"/>
              <a:t>Take into account borrowing (tax shield-bankruptcy risk)</a:t>
            </a:r>
          </a:p>
          <a:p>
            <a:pPr lvl="1"/>
            <a:endParaRPr lang="en-GB" dirty="0"/>
          </a:p>
          <a:p>
            <a:pPr lvl="1"/>
            <a:endParaRPr lang="en-GB" dirty="0"/>
          </a:p>
          <a:p>
            <a:pPr lvl="0"/>
            <a:r>
              <a:rPr lang="en-GB" dirty="0"/>
              <a:t>Excess Return</a:t>
            </a:r>
          </a:p>
          <a:p>
            <a:pPr lvl="1"/>
            <a:r>
              <a:rPr lang="en-GB" dirty="0"/>
              <a:t>Start with capital invested</a:t>
            </a:r>
          </a:p>
          <a:p>
            <a:pPr lvl="1"/>
            <a:r>
              <a:rPr lang="en-GB" dirty="0"/>
              <a:t>Add the present value of excess returns</a:t>
            </a:r>
          </a:p>
          <a:p>
            <a:endParaRPr lang="en-GB" dirty="0"/>
          </a:p>
        </p:txBody>
      </p:sp>
      <p:graphicFrame>
        <p:nvGraphicFramePr>
          <p:cNvPr id="7" name="Object 6"/>
          <p:cNvGraphicFramePr>
            <a:graphicFrameLocks noChangeAspect="1"/>
          </p:cNvGraphicFramePr>
          <p:nvPr/>
        </p:nvGraphicFramePr>
        <p:xfrm>
          <a:off x="122663" y="4437112"/>
          <a:ext cx="7905721" cy="504056"/>
        </p:xfrm>
        <a:graphic>
          <a:graphicData uri="http://schemas.openxmlformats.org/presentationml/2006/ole">
            <mc:AlternateContent xmlns:mc="http://schemas.openxmlformats.org/markup-compatibility/2006">
              <mc:Choice xmlns:v="urn:schemas-microsoft-com:vml" Requires="v">
                <p:oleObj name="Equation" r:id="rId2" imgW="3784600" imgH="241300" progId="Equation.3">
                  <p:embed/>
                </p:oleObj>
              </mc:Choice>
              <mc:Fallback>
                <p:oleObj name="Equation" r:id="rId2" imgW="3784600" imgH="24130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63" y="4437112"/>
                        <a:ext cx="7905721" cy="5040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3"/>
          <p:cNvGraphicFramePr>
            <a:graphicFrameLocks noChangeAspect="1"/>
          </p:cNvGraphicFramePr>
          <p:nvPr/>
        </p:nvGraphicFramePr>
        <p:xfrm>
          <a:off x="103311" y="6193842"/>
          <a:ext cx="7997081" cy="475518"/>
        </p:xfrm>
        <a:graphic>
          <a:graphicData uri="http://schemas.openxmlformats.org/presentationml/2006/ole">
            <mc:AlternateContent xmlns:mc="http://schemas.openxmlformats.org/markup-compatibility/2006">
              <mc:Choice xmlns:v="urn:schemas-microsoft-com:vml" Requires="v">
                <p:oleObj name="Equation" r:id="rId4" imgW="4064000" imgH="241300" progId="Equation.3">
                  <p:embed/>
                </p:oleObj>
              </mc:Choice>
              <mc:Fallback>
                <p:oleObj name="Equation" r:id="rId4" imgW="4064000" imgH="241300" progId="Equation.3">
                  <p:embed/>
                  <p:pic>
                    <p:nvPicPr>
                      <p:cNvPr id="20483"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311" y="6193842"/>
                        <a:ext cx="7997081" cy="4755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4" name="Object 4"/>
          <p:cNvGraphicFramePr>
            <a:graphicFrameLocks noChangeAspect="1"/>
          </p:cNvGraphicFramePr>
          <p:nvPr/>
        </p:nvGraphicFramePr>
        <p:xfrm>
          <a:off x="1907704" y="2298435"/>
          <a:ext cx="3555603" cy="842533"/>
        </p:xfrm>
        <a:graphic>
          <a:graphicData uri="http://schemas.openxmlformats.org/presentationml/2006/ole">
            <mc:AlternateContent xmlns:mc="http://schemas.openxmlformats.org/markup-compatibility/2006">
              <mc:Choice xmlns:v="urn:schemas-microsoft-com:vml" Requires="v">
                <p:oleObj name="Equation" r:id="rId6" imgW="1879600" imgH="444500" progId="Equation.3">
                  <p:embed/>
                </p:oleObj>
              </mc:Choice>
              <mc:Fallback>
                <p:oleObj name="Equation" r:id="rId6" imgW="1879600" imgH="444500" progId="Equation.3">
                  <p:embed/>
                  <p:pic>
                    <p:nvPicPr>
                      <p:cNvPr id="20484"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7704" y="2298435"/>
                        <a:ext cx="3555603" cy="84253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444664"/>
          </a:xfrm>
        </p:spPr>
        <p:txBody>
          <a:bodyPr>
            <a:normAutofit fontScale="90000"/>
          </a:bodyPr>
          <a:lstStyle/>
          <a:p>
            <a:r>
              <a:rPr lang="en-GB" dirty="0"/>
              <a:t>DCF-Final Remarks</a:t>
            </a:r>
          </a:p>
        </p:txBody>
      </p:sp>
      <p:graphicFrame>
        <p:nvGraphicFramePr>
          <p:cNvPr id="6" name="Content Placeholder 5"/>
          <p:cNvGraphicFramePr>
            <a:graphicFrameLocks noGrp="1"/>
          </p:cNvGraphicFramePr>
          <p:nvPr>
            <p:ph idx="1"/>
          </p:nvPr>
        </p:nvGraphicFramePr>
        <p:xfrm>
          <a:off x="179512" y="620688"/>
          <a:ext cx="8136904" cy="6093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A9681BF5-2544-43A5-A544-F2743A82577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7381EAF7-78C9-496B-9DD0-515A1B6D1FCB}"/>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7252F2EE-78C4-47F7-9F81-095494205D7C}"/>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0C7D8BB0-6B90-48A5-BF67-E37B6DF2873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9F265803-A95F-435D-9637-AF278306FD7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329613BF-A18B-44E1-A38B-DB9D814D5CA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32696"/>
          </a:xfrm>
        </p:spPr>
        <p:txBody>
          <a:bodyPr/>
          <a:lstStyle/>
          <a:p>
            <a:r>
              <a:rPr lang="en-GB" dirty="0"/>
              <a:t>2. Relative Valuation</a:t>
            </a:r>
          </a:p>
        </p:txBody>
      </p:sp>
      <p:sp>
        <p:nvSpPr>
          <p:cNvPr id="4" name="Content Placeholder 2"/>
          <p:cNvSpPr>
            <a:spLocks noGrp="1"/>
          </p:cNvSpPr>
          <p:nvPr>
            <p:ph idx="1"/>
          </p:nvPr>
        </p:nvSpPr>
        <p:spPr>
          <a:xfrm>
            <a:off x="251520" y="1268760"/>
            <a:ext cx="7704856" cy="5186976"/>
          </a:xfrm>
        </p:spPr>
        <p:txBody>
          <a:bodyPr>
            <a:normAutofit fontScale="92500" lnSpcReduction="10000"/>
          </a:bodyPr>
          <a:lstStyle/>
          <a:p>
            <a:r>
              <a:rPr lang="en-GB" dirty="0"/>
              <a:t>The value of the asset can be found by looking at the market prices of “similar” or “comparable” assets.</a:t>
            </a:r>
          </a:p>
          <a:p>
            <a:r>
              <a:rPr lang="en-GB" dirty="0"/>
              <a:t> Inputs</a:t>
            </a:r>
          </a:p>
          <a:p>
            <a:pPr lvl="1"/>
            <a:r>
              <a:rPr lang="en-GB" dirty="0"/>
              <a:t>Group of “similar” or “comparable” assets</a:t>
            </a:r>
          </a:p>
          <a:p>
            <a:pPr lvl="1"/>
            <a:r>
              <a:rPr lang="en-GB" dirty="0"/>
              <a:t>Standardized measure of value</a:t>
            </a:r>
          </a:p>
          <a:p>
            <a:pPr lvl="1"/>
            <a:r>
              <a:rPr lang="en-GB" dirty="0"/>
              <a:t>If assets are not comparable: “Control” variables</a:t>
            </a:r>
          </a:p>
          <a:p>
            <a:r>
              <a:rPr lang="en-GB" dirty="0"/>
              <a:t>Philosophical basis</a:t>
            </a:r>
          </a:p>
          <a:p>
            <a:pPr lvl="1"/>
            <a:r>
              <a:rPr lang="en-GB" dirty="0"/>
              <a:t>The “true” value of an asset is impossible to estimate. The value we can observe is the price the market is willing to pay.</a:t>
            </a:r>
          </a:p>
          <a:p>
            <a:pPr lvl="1"/>
            <a:r>
              <a:rPr lang="en-GB" dirty="0"/>
              <a:t>Markets are assumed to make mistakes, which are easier spotted in comparable assets and they are more quickly corrected.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44624"/>
            <a:ext cx="7920880" cy="732696"/>
          </a:xfrm>
        </p:spPr>
        <p:txBody>
          <a:bodyPr>
            <a:normAutofit fontScale="90000"/>
          </a:bodyPr>
          <a:lstStyle/>
          <a:p>
            <a:r>
              <a:rPr lang="en-GB" dirty="0"/>
              <a:t>Standardized Measures (Multiples)</a:t>
            </a:r>
          </a:p>
        </p:txBody>
      </p:sp>
      <p:sp>
        <p:nvSpPr>
          <p:cNvPr id="3" name="Content Placeholder 2"/>
          <p:cNvSpPr>
            <a:spLocks noGrp="1"/>
          </p:cNvSpPr>
          <p:nvPr>
            <p:ph idx="1"/>
          </p:nvPr>
        </p:nvSpPr>
        <p:spPr>
          <a:xfrm>
            <a:off x="323528" y="836712"/>
            <a:ext cx="7632848" cy="5832648"/>
          </a:xfrm>
        </p:spPr>
        <p:txBody>
          <a:bodyPr>
            <a:normAutofit fontScale="85000" lnSpcReduction="20000"/>
          </a:bodyPr>
          <a:lstStyle/>
          <a:p>
            <a:r>
              <a:rPr lang="en-GB" dirty="0"/>
              <a:t>Selection of Multiples</a:t>
            </a:r>
          </a:p>
          <a:p>
            <a:pPr lvl="1"/>
            <a:r>
              <a:rPr lang="en-GB" dirty="0"/>
              <a:t>Equity or Firm: Multiples can be scaled to</a:t>
            </a:r>
          </a:p>
          <a:p>
            <a:pPr lvl="2"/>
            <a:r>
              <a:rPr lang="en-GB" dirty="0"/>
              <a:t>Equity value</a:t>
            </a:r>
          </a:p>
          <a:p>
            <a:pPr lvl="2"/>
            <a:r>
              <a:rPr lang="en-GB" dirty="0"/>
              <a:t>Firm value</a:t>
            </a:r>
          </a:p>
          <a:p>
            <a:pPr lvl="2"/>
            <a:r>
              <a:rPr lang="en-GB" dirty="0"/>
              <a:t>Operating assets</a:t>
            </a:r>
          </a:p>
          <a:p>
            <a:pPr lvl="1"/>
            <a:r>
              <a:rPr lang="en-GB" dirty="0"/>
              <a:t>Market value can be scaled to </a:t>
            </a:r>
          </a:p>
          <a:p>
            <a:pPr lvl="2"/>
            <a:r>
              <a:rPr lang="en-GB" dirty="0"/>
              <a:t>Earnings (P/E)</a:t>
            </a:r>
          </a:p>
          <a:p>
            <a:pPr lvl="2"/>
            <a:r>
              <a:rPr lang="en-GB" dirty="0"/>
              <a:t>Book Value (M/B)</a:t>
            </a:r>
          </a:p>
          <a:p>
            <a:pPr lvl="2"/>
            <a:r>
              <a:rPr lang="en-GB" dirty="0"/>
              <a:t>Revenues</a:t>
            </a:r>
          </a:p>
          <a:p>
            <a:pPr lvl="1"/>
            <a:r>
              <a:rPr lang="en-GB" dirty="0"/>
              <a:t>Current, Trailing or Forward Values</a:t>
            </a:r>
          </a:p>
          <a:p>
            <a:r>
              <a:rPr lang="en-GB" dirty="0"/>
              <a:t>Group Selection</a:t>
            </a:r>
          </a:p>
          <a:p>
            <a:pPr lvl="1"/>
            <a:r>
              <a:rPr lang="en-GB" dirty="0"/>
              <a:t>Identical firms</a:t>
            </a:r>
          </a:p>
          <a:p>
            <a:pPr lvl="1"/>
            <a:r>
              <a:rPr lang="en-GB" dirty="0"/>
              <a:t>Sector</a:t>
            </a:r>
          </a:p>
          <a:p>
            <a:pPr lvl="1"/>
            <a:r>
              <a:rPr lang="en-GB" dirty="0"/>
              <a:t>Valuation based comparables</a:t>
            </a:r>
          </a:p>
          <a:p>
            <a:r>
              <a:rPr lang="en-GB" dirty="0"/>
              <a:t>Comparison</a:t>
            </a:r>
          </a:p>
          <a:p>
            <a:pPr lvl="1"/>
            <a:r>
              <a:rPr lang="en-GB" dirty="0"/>
              <a:t>Direct</a:t>
            </a:r>
          </a:p>
          <a:p>
            <a:pPr lvl="1"/>
            <a:r>
              <a:rPr lang="en-GB" dirty="0"/>
              <a:t>Peer Group average (Assumption: Average is representative)</a:t>
            </a:r>
          </a:p>
          <a:p>
            <a:pPr lvl="1"/>
            <a:r>
              <a:rPr lang="en-GB" dirty="0"/>
              <a:t>Peer Group average adjusted for differences (Control variables-might be biased)</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444664"/>
          </a:xfrm>
        </p:spPr>
        <p:txBody>
          <a:bodyPr>
            <a:normAutofit fontScale="90000"/>
          </a:bodyPr>
          <a:lstStyle/>
          <a:p>
            <a:r>
              <a:rPr lang="en-GB" dirty="0"/>
              <a:t>Real Valuation-Final Remarks</a:t>
            </a:r>
          </a:p>
        </p:txBody>
      </p:sp>
      <p:graphicFrame>
        <p:nvGraphicFramePr>
          <p:cNvPr id="6" name="Content Placeholder 5"/>
          <p:cNvGraphicFramePr>
            <a:graphicFrameLocks noGrp="1"/>
          </p:cNvGraphicFramePr>
          <p:nvPr>
            <p:ph idx="1"/>
          </p:nvPr>
        </p:nvGraphicFramePr>
        <p:xfrm>
          <a:off x="179512" y="620688"/>
          <a:ext cx="8136904" cy="60932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A9681BF5-2544-43A5-A544-F2743A825776}"/>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7381EAF7-78C9-496B-9DD0-515A1B6D1FCB}"/>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7252F2EE-78C4-47F7-9F81-095494205D7C}"/>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0C7D8BB0-6B90-48A5-BF67-E37B6DF28732}"/>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
                                            <p:graphicEl>
                                              <a:dgm id="{9F265803-A95F-435D-9637-AF278306FD7F}"/>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329613BF-A18B-44E1-A38B-DB9D814D5CAF}"/>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88680"/>
          </a:xfrm>
        </p:spPr>
        <p:txBody>
          <a:bodyPr>
            <a:normAutofit fontScale="90000"/>
          </a:bodyPr>
          <a:lstStyle/>
          <a:p>
            <a:r>
              <a:rPr lang="en-GB" dirty="0"/>
              <a:t>3. Contingent Claims-Options</a:t>
            </a:r>
          </a:p>
        </p:txBody>
      </p:sp>
      <p:sp>
        <p:nvSpPr>
          <p:cNvPr id="3" name="Content Placeholder 2"/>
          <p:cNvSpPr>
            <a:spLocks noGrp="1"/>
          </p:cNvSpPr>
          <p:nvPr>
            <p:ph idx="1"/>
          </p:nvPr>
        </p:nvSpPr>
        <p:spPr>
          <a:xfrm>
            <a:off x="457200" y="1052736"/>
            <a:ext cx="7239000" cy="2088232"/>
          </a:xfrm>
        </p:spPr>
        <p:txBody>
          <a:bodyPr/>
          <a:lstStyle/>
          <a:p>
            <a:r>
              <a:rPr lang="en-GB" dirty="0"/>
              <a:t>Features</a:t>
            </a:r>
          </a:p>
          <a:p>
            <a:pPr lvl="1"/>
            <a:r>
              <a:rPr lang="en-GB" dirty="0"/>
              <a:t>Their value is derived from the value of the underlying asset</a:t>
            </a:r>
          </a:p>
          <a:p>
            <a:pPr lvl="1"/>
            <a:r>
              <a:rPr lang="en-GB" dirty="0"/>
              <a:t>The payoffs depend on the Spot and Strike prices</a:t>
            </a:r>
          </a:p>
          <a:p>
            <a:pPr lvl="1"/>
            <a:r>
              <a:rPr lang="en-GB" dirty="0"/>
              <a:t>They have a fixed life</a:t>
            </a:r>
          </a:p>
          <a:p>
            <a:pPr>
              <a:buNone/>
            </a:pPr>
            <a:endParaRPr lang="en-GB" dirty="0"/>
          </a:p>
        </p:txBody>
      </p:sp>
      <p:pic>
        <p:nvPicPr>
          <p:cNvPr id="44033" name="Picture 1"/>
          <p:cNvPicPr>
            <a:picLocks noChangeAspect="1" noChangeArrowheads="1"/>
          </p:cNvPicPr>
          <p:nvPr/>
        </p:nvPicPr>
        <p:blipFill>
          <a:blip r:embed="rId2" cstate="print"/>
          <a:srcRect t="5882"/>
          <a:stretch>
            <a:fillRect/>
          </a:stretch>
        </p:blipFill>
        <p:spPr bwMode="auto">
          <a:xfrm>
            <a:off x="939527" y="3212976"/>
            <a:ext cx="7160865" cy="3456384"/>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7239000" cy="588680"/>
          </a:xfrm>
        </p:spPr>
        <p:txBody>
          <a:bodyPr>
            <a:normAutofit fontScale="90000"/>
          </a:bodyPr>
          <a:lstStyle/>
          <a:p>
            <a:r>
              <a:rPr lang="en-GB" dirty="0"/>
              <a:t>Real Options-Further Remarks</a:t>
            </a:r>
          </a:p>
        </p:txBody>
      </p:sp>
      <p:sp>
        <p:nvSpPr>
          <p:cNvPr id="3" name="Content Placeholder 2"/>
          <p:cNvSpPr>
            <a:spLocks noGrp="1"/>
          </p:cNvSpPr>
          <p:nvPr>
            <p:ph idx="1"/>
          </p:nvPr>
        </p:nvSpPr>
        <p:spPr>
          <a:xfrm>
            <a:off x="251520" y="764704"/>
            <a:ext cx="7848872" cy="6093296"/>
          </a:xfrm>
        </p:spPr>
        <p:txBody>
          <a:bodyPr>
            <a:normAutofit fontScale="92500" lnSpcReduction="20000"/>
          </a:bodyPr>
          <a:lstStyle/>
          <a:p>
            <a:r>
              <a:rPr lang="en-GB" dirty="0"/>
              <a:t>Examples</a:t>
            </a:r>
          </a:p>
          <a:p>
            <a:pPr lvl="1"/>
            <a:r>
              <a:rPr lang="en-GB" dirty="0"/>
              <a:t>Direct</a:t>
            </a:r>
          </a:p>
          <a:p>
            <a:pPr lvl="2"/>
            <a:r>
              <a:rPr lang="en-GB" dirty="0"/>
              <a:t>Listed options</a:t>
            </a:r>
          </a:p>
          <a:p>
            <a:pPr lvl="2"/>
            <a:r>
              <a:rPr lang="en-GB" dirty="0"/>
              <a:t>Warrants (call, firm)</a:t>
            </a:r>
          </a:p>
          <a:p>
            <a:pPr lvl="2"/>
            <a:r>
              <a:rPr lang="en-GB" dirty="0"/>
              <a:t>Contingent Value Rights (put, firm)</a:t>
            </a:r>
          </a:p>
          <a:p>
            <a:pPr lvl="2"/>
            <a:r>
              <a:rPr lang="en-GB" dirty="0"/>
              <a:t>Scores and LEAPs (long term calls, market)</a:t>
            </a:r>
          </a:p>
          <a:p>
            <a:pPr lvl="1"/>
            <a:r>
              <a:rPr lang="en-GB" dirty="0"/>
              <a:t>Indirect (Real Options)</a:t>
            </a:r>
          </a:p>
          <a:p>
            <a:pPr lvl="2"/>
            <a:r>
              <a:rPr lang="en-GB" dirty="0"/>
              <a:t>Equity in deeply troubled firm</a:t>
            </a:r>
          </a:p>
          <a:p>
            <a:pPr lvl="2"/>
            <a:r>
              <a:rPr lang="en-GB" dirty="0"/>
              <a:t>Reserves owned by natural resource firms</a:t>
            </a:r>
          </a:p>
          <a:p>
            <a:pPr lvl="2"/>
            <a:r>
              <a:rPr lang="en-GB" dirty="0"/>
              <a:t>Patent rights/ exclusive license </a:t>
            </a:r>
          </a:p>
          <a:p>
            <a:pPr lvl="2"/>
            <a:r>
              <a:rPr lang="en-GB" dirty="0"/>
              <a:t>Right to expand</a:t>
            </a:r>
          </a:p>
          <a:p>
            <a:r>
              <a:rPr lang="en-GB" dirty="0"/>
              <a:t>Advantages</a:t>
            </a:r>
          </a:p>
          <a:p>
            <a:pPr lvl="1"/>
            <a:r>
              <a:rPr lang="en-GB" dirty="0"/>
              <a:t>Allow for valuation of firms that we could not evaluate (non-comparable, non-profitable, high growth)</a:t>
            </a:r>
          </a:p>
          <a:p>
            <a:pPr lvl="1"/>
            <a:r>
              <a:rPr lang="en-GB" dirty="0"/>
              <a:t>Can deal with uncertainty and thus, they increase value</a:t>
            </a:r>
          </a:p>
          <a:p>
            <a:r>
              <a:rPr lang="en-GB" dirty="0"/>
              <a:t>Disadvantages</a:t>
            </a:r>
          </a:p>
          <a:p>
            <a:pPr lvl="1"/>
            <a:r>
              <a:rPr lang="en-GB" dirty="0"/>
              <a:t>Many inputs are difficult to obtain (B&amp;S formula)</a:t>
            </a:r>
          </a:p>
          <a:p>
            <a:pPr lvl="1"/>
            <a:r>
              <a:rPr lang="en-GB" dirty="0"/>
              <a:t>Underlying asset needs to be evaluated first</a:t>
            </a:r>
          </a:p>
          <a:p>
            <a:pPr lvl="1"/>
            <a:r>
              <a:rPr lang="en-GB" dirty="0"/>
              <a:t>Double-counting-Discount Rates and options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 calcmode="lin" valueType="num">
                                      <p:cBhvr additive="base">
                                        <p:cTn id="3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 calcmode="lin" valueType="num">
                                      <p:cBhvr additive="base">
                                        <p:cTn id="4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 calcmode="lin" valueType="num">
                                      <p:cBhvr additive="base">
                                        <p:cTn id="5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 calcmode="lin" valueType="num">
                                      <p:cBhvr additive="base">
                                        <p:cTn id="5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anim calcmode="lin" valueType="num">
                                      <p:cBhvr additive="base">
                                        <p:cTn id="6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4" end="14"/>
                                            </p:txEl>
                                          </p:spTgt>
                                        </p:tgtEl>
                                        <p:attrNameLst>
                                          <p:attrName>style.visibility</p:attrName>
                                        </p:attrNameLst>
                                      </p:cBhvr>
                                      <p:to>
                                        <p:strVal val="visible"/>
                                      </p:to>
                                    </p:set>
                                    <p:anim calcmode="lin" valueType="num">
                                      <p:cBhvr additive="base">
                                        <p:cTn id="67"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
                                            <p:txEl>
                                              <p:pRg st="15" end="15"/>
                                            </p:txEl>
                                          </p:spTgt>
                                        </p:tgtEl>
                                        <p:attrNameLst>
                                          <p:attrName>style.visibility</p:attrName>
                                        </p:attrNameLst>
                                      </p:cBhvr>
                                      <p:to>
                                        <p:strVal val="visible"/>
                                      </p:to>
                                    </p:set>
                                    <p:anim calcmode="lin" valueType="num">
                                      <p:cBhvr additive="base">
                                        <p:cTn id="71"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3">
                                            <p:txEl>
                                              <p:pRg st="16" end="16"/>
                                            </p:txEl>
                                          </p:spTgt>
                                        </p:tgtEl>
                                        <p:attrNameLst>
                                          <p:attrName>style.visibility</p:attrName>
                                        </p:attrNameLst>
                                      </p:cBhvr>
                                      <p:to>
                                        <p:strVal val="visible"/>
                                      </p:to>
                                    </p:set>
                                    <p:anim calcmode="lin" valueType="num">
                                      <p:cBhvr additive="base">
                                        <p:cTn id="75"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3">
                                            <p:txEl>
                                              <p:pRg st="17" end="17"/>
                                            </p:txEl>
                                          </p:spTgt>
                                        </p:tgtEl>
                                        <p:attrNameLst>
                                          <p:attrName>style.visibility</p:attrName>
                                        </p:attrNameLst>
                                      </p:cBhvr>
                                      <p:to>
                                        <p:strVal val="visible"/>
                                      </p:to>
                                    </p:set>
                                    <p:anim calcmode="lin" valueType="num">
                                      <p:cBhvr additive="base">
                                        <p:cTn id="79"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7" end="1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GB" dirty="0"/>
              <a:t>How does the course look like?</a:t>
            </a:r>
          </a:p>
        </p:txBody>
      </p:sp>
      <p:sp>
        <p:nvSpPr>
          <p:cNvPr id="5" name="Text Placeholder 4"/>
          <p:cNvSpPr>
            <a:spLocks noGrp="1"/>
          </p:cNvSpPr>
          <p:nvPr>
            <p:ph type="body" idx="1"/>
          </p:nvPr>
        </p:nvSpPr>
        <p:spPr/>
        <p:txBody>
          <a:bodyPr/>
          <a:lstStyle/>
          <a:p>
            <a:r>
              <a:rPr lang="en-GB" dirty="0"/>
              <a:t>Thinks to note</a:t>
            </a:r>
          </a:p>
        </p:txBody>
      </p:sp>
    </p:spTree>
    <p:extLst>
      <p:ext uri="{BB962C8B-B14F-4D97-AF65-F5344CB8AC3E}">
        <p14:creationId xmlns:p14="http://schemas.microsoft.com/office/powerpoint/2010/main" val="36010858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8424" y="1268760"/>
            <a:ext cx="614263" cy="4896544"/>
          </a:xfrm>
        </p:spPr>
        <p:txBody>
          <a:bodyPr vert="vert270">
            <a:noAutofit/>
          </a:bodyPr>
          <a:lstStyle/>
          <a:p>
            <a:pPr algn="ctr"/>
            <a:r>
              <a:rPr lang="en-GB" sz="4800" dirty="0"/>
              <a:t>Time Plan</a:t>
            </a:r>
          </a:p>
        </p:txBody>
      </p:sp>
      <p:graphicFrame>
        <p:nvGraphicFramePr>
          <p:cNvPr id="3" name="Table 2"/>
          <p:cNvGraphicFramePr>
            <a:graphicFrameLocks noGrp="1"/>
          </p:cNvGraphicFramePr>
          <p:nvPr>
            <p:extLst>
              <p:ext uri="{D42A27DB-BD31-4B8C-83A1-F6EECF244321}">
                <p14:modId xmlns:p14="http://schemas.microsoft.com/office/powerpoint/2010/main" val="1422703214"/>
              </p:ext>
            </p:extLst>
          </p:nvPr>
        </p:nvGraphicFramePr>
        <p:xfrm>
          <a:off x="647564" y="1196752"/>
          <a:ext cx="6912768" cy="3660612"/>
        </p:xfrm>
        <a:graphic>
          <a:graphicData uri="http://schemas.openxmlformats.org/drawingml/2006/table">
            <a:tbl>
              <a:tblPr firstRow="1" bandRow="1">
                <a:tableStyleId>{5C22544A-7EE6-4342-B048-85BDC9FD1C3A}</a:tableStyleId>
              </a:tblPr>
              <a:tblGrid>
                <a:gridCol w="2808312">
                  <a:extLst>
                    <a:ext uri="{9D8B030D-6E8A-4147-A177-3AD203B41FA5}">
                      <a16:colId xmlns:a16="http://schemas.microsoft.com/office/drawing/2014/main" val="20000"/>
                    </a:ext>
                  </a:extLst>
                </a:gridCol>
                <a:gridCol w="4104456">
                  <a:extLst>
                    <a:ext uri="{9D8B030D-6E8A-4147-A177-3AD203B41FA5}">
                      <a16:colId xmlns:a16="http://schemas.microsoft.com/office/drawing/2014/main" val="20001"/>
                    </a:ext>
                  </a:extLst>
                </a:gridCol>
              </a:tblGrid>
              <a:tr h="522960">
                <a:tc>
                  <a:txBody>
                    <a:bodyPr/>
                    <a:lstStyle/>
                    <a:p>
                      <a:r>
                        <a:rPr lang="en-GB" sz="2800" dirty="0"/>
                        <a:t># </a:t>
                      </a:r>
                      <a:r>
                        <a:rPr lang="en-GB" sz="2800" baseline="0" dirty="0"/>
                        <a:t>sessions</a:t>
                      </a:r>
                      <a:endParaRPr lang="en-GB" sz="2800" dirty="0"/>
                    </a:p>
                  </a:txBody>
                  <a:tcPr anchor="ctr"/>
                </a:tc>
                <a:tc>
                  <a:txBody>
                    <a:bodyPr/>
                    <a:lstStyle/>
                    <a:p>
                      <a:pPr algn="ctr"/>
                      <a:r>
                        <a:rPr lang="en-GB" sz="2800" dirty="0"/>
                        <a:t>Topic</a:t>
                      </a:r>
                    </a:p>
                  </a:txBody>
                  <a:tcPr anchor="ctr"/>
                </a:tc>
                <a:extLst>
                  <a:ext uri="{0D108BD9-81ED-4DB2-BD59-A6C34878D82A}">
                    <a16:rowId xmlns:a16="http://schemas.microsoft.com/office/drawing/2014/main" val="10000"/>
                  </a:ext>
                </a:extLst>
              </a:tr>
              <a:tr h="522942">
                <a:tc>
                  <a:txBody>
                    <a:bodyPr/>
                    <a:lstStyle/>
                    <a:p>
                      <a:r>
                        <a:rPr lang="en-GB" sz="2800" dirty="0"/>
                        <a:t>1</a:t>
                      </a:r>
                    </a:p>
                  </a:txBody>
                  <a:tcPr anchor="ctr"/>
                </a:tc>
                <a:tc>
                  <a:txBody>
                    <a:bodyPr/>
                    <a:lstStyle/>
                    <a:p>
                      <a:pPr algn="ctr"/>
                      <a:r>
                        <a:rPr lang="en-GB" sz="2800" dirty="0"/>
                        <a:t>Introduction</a:t>
                      </a:r>
                    </a:p>
                  </a:txBody>
                  <a:tcPr anchor="ctr"/>
                </a:tc>
                <a:extLst>
                  <a:ext uri="{0D108BD9-81ED-4DB2-BD59-A6C34878D82A}">
                    <a16:rowId xmlns:a16="http://schemas.microsoft.com/office/drawing/2014/main" val="10001"/>
                  </a:ext>
                </a:extLst>
              </a:tr>
              <a:tr h="522942">
                <a:tc>
                  <a:txBody>
                    <a:bodyPr/>
                    <a:lstStyle/>
                    <a:p>
                      <a:r>
                        <a:rPr lang="en-GB" sz="2800" dirty="0"/>
                        <a:t>2-5</a:t>
                      </a:r>
                    </a:p>
                  </a:txBody>
                  <a:tcPr anchor="ctr"/>
                </a:tc>
                <a:tc>
                  <a:txBody>
                    <a:bodyPr/>
                    <a:lstStyle/>
                    <a:p>
                      <a:pPr algn="ctr"/>
                      <a:r>
                        <a:rPr lang="en-GB" sz="2800" dirty="0"/>
                        <a:t>DCF</a:t>
                      </a:r>
                    </a:p>
                  </a:txBody>
                  <a:tcPr anchor="ctr"/>
                </a:tc>
                <a:extLst>
                  <a:ext uri="{0D108BD9-81ED-4DB2-BD59-A6C34878D82A}">
                    <a16:rowId xmlns:a16="http://schemas.microsoft.com/office/drawing/2014/main" val="10002"/>
                  </a:ext>
                </a:extLst>
              </a:tr>
              <a:tr h="522942">
                <a:tc>
                  <a:txBody>
                    <a:bodyPr/>
                    <a:lstStyle/>
                    <a:p>
                      <a:r>
                        <a:rPr lang="en-GB" sz="2800" dirty="0"/>
                        <a:t>6-7</a:t>
                      </a:r>
                    </a:p>
                  </a:txBody>
                  <a:tcPr anchor="ctr"/>
                </a:tc>
                <a:tc>
                  <a:txBody>
                    <a:bodyPr/>
                    <a:lstStyle/>
                    <a:p>
                      <a:pPr algn="ctr"/>
                      <a:r>
                        <a:rPr lang="en-GB" sz="2800" dirty="0"/>
                        <a:t>Relative Valuation</a:t>
                      </a:r>
                    </a:p>
                  </a:txBody>
                  <a:tcPr anchor="ctr"/>
                </a:tc>
                <a:extLst>
                  <a:ext uri="{0D108BD9-81ED-4DB2-BD59-A6C34878D82A}">
                    <a16:rowId xmlns:a16="http://schemas.microsoft.com/office/drawing/2014/main" val="10003"/>
                  </a:ext>
                </a:extLst>
              </a:tr>
              <a:tr h="522942">
                <a:tc>
                  <a:txBody>
                    <a:bodyPr/>
                    <a:lstStyle/>
                    <a:p>
                      <a:r>
                        <a:rPr lang="en-GB" sz="2800" dirty="0"/>
                        <a:t>8</a:t>
                      </a:r>
                    </a:p>
                  </a:txBody>
                  <a:tcPr anchor="ctr"/>
                </a:tc>
                <a:tc>
                  <a:txBody>
                    <a:bodyPr/>
                    <a:lstStyle/>
                    <a:p>
                      <a:pPr algn="ctr"/>
                      <a:r>
                        <a:rPr lang="en-GB" sz="2800" dirty="0"/>
                        <a:t>Case Studies</a:t>
                      </a:r>
                    </a:p>
                  </a:txBody>
                  <a:tcPr anchor="ctr"/>
                </a:tc>
                <a:extLst>
                  <a:ext uri="{0D108BD9-81ED-4DB2-BD59-A6C34878D82A}">
                    <a16:rowId xmlns:a16="http://schemas.microsoft.com/office/drawing/2014/main" val="10004"/>
                  </a:ext>
                </a:extLst>
              </a:tr>
              <a:tr h="522942">
                <a:tc>
                  <a:txBody>
                    <a:bodyPr/>
                    <a:lstStyle/>
                    <a:p>
                      <a:r>
                        <a:rPr lang="en-GB" sz="2800" dirty="0"/>
                        <a:t>9</a:t>
                      </a:r>
                    </a:p>
                  </a:txBody>
                  <a:tcPr anchor="ctr"/>
                </a:tc>
                <a:tc>
                  <a:txBody>
                    <a:bodyPr/>
                    <a:lstStyle/>
                    <a:p>
                      <a:pPr algn="ctr"/>
                      <a:r>
                        <a:rPr lang="en-GB" sz="2800" dirty="0"/>
                        <a:t>Assignment</a:t>
                      </a:r>
                    </a:p>
                  </a:txBody>
                  <a:tcPr anchor="ctr"/>
                </a:tc>
                <a:extLst>
                  <a:ext uri="{0D108BD9-81ED-4DB2-BD59-A6C34878D82A}">
                    <a16:rowId xmlns:a16="http://schemas.microsoft.com/office/drawing/2014/main" val="10005"/>
                  </a:ext>
                </a:extLst>
              </a:tr>
              <a:tr h="522942">
                <a:tc>
                  <a:txBody>
                    <a:bodyPr/>
                    <a:lstStyle/>
                    <a:p>
                      <a:r>
                        <a:rPr lang="en-GB" sz="2800" dirty="0"/>
                        <a:t>10</a:t>
                      </a:r>
                    </a:p>
                  </a:txBody>
                  <a:tcPr anchor="ctr"/>
                </a:tc>
                <a:tc>
                  <a:txBody>
                    <a:bodyPr/>
                    <a:lstStyle/>
                    <a:p>
                      <a:pPr algn="ctr"/>
                      <a:r>
                        <a:rPr lang="en-GB" sz="2800" dirty="0"/>
                        <a:t>Revision</a:t>
                      </a:r>
                    </a:p>
                  </a:txBody>
                  <a:tcPr anchor="ctr"/>
                </a:tc>
                <a:extLst>
                  <a:ext uri="{0D108BD9-81ED-4DB2-BD59-A6C34878D82A}">
                    <a16:rowId xmlns:a16="http://schemas.microsoft.com/office/drawing/2014/main" val="10006"/>
                  </a:ext>
                </a:extLst>
              </a:tr>
            </a:tbl>
          </a:graphicData>
        </a:graphic>
      </p:graphicFrame>
      <p:sp>
        <p:nvSpPr>
          <p:cNvPr id="5" name="Title 1"/>
          <p:cNvSpPr txBox="1">
            <a:spLocks/>
          </p:cNvSpPr>
          <p:nvPr/>
        </p:nvSpPr>
        <p:spPr>
          <a:xfrm>
            <a:off x="323528" y="44624"/>
            <a:ext cx="7704856" cy="732696"/>
          </a:xfrm>
          <a:prstGeom prst="rect">
            <a:avLst/>
          </a:prstGeom>
        </p:spPr>
        <p:txBody>
          <a:bodyPr vert="horz" lIns="45720" tIns="0" rIns="45720" bIns="0" anchor="b" anchorCtr="0">
            <a:normAutofit/>
          </a:bodyPr>
          <a:lst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a:lstStyle>
          <a:p>
            <a:r>
              <a:rPr lang="en-GB" sz="2800" dirty="0"/>
              <a:t>What Will I learn?</a:t>
            </a:r>
          </a:p>
        </p:txBody>
      </p:sp>
      <p:sp>
        <p:nvSpPr>
          <p:cNvPr id="6" name="Content Placeholder 2"/>
          <p:cNvSpPr>
            <a:spLocks noGrp="1"/>
          </p:cNvSpPr>
          <p:nvPr>
            <p:ph idx="1"/>
          </p:nvPr>
        </p:nvSpPr>
        <p:spPr>
          <a:xfrm>
            <a:off x="179512" y="5085184"/>
            <a:ext cx="7848872" cy="1700808"/>
          </a:xfrm>
        </p:spPr>
        <p:txBody>
          <a:bodyPr>
            <a:normAutofit/>
          </a:bodyPr>
          <a:lstStyle/>
          <a:p>
            <a:pPr marL="0" indent="0" algn="ctr">
              <a:buNone/>
            </a:pPr>
            <a:r>
              <a:rPr lang="en-GB" sz="3200" b="1" dirty="0"/>
              <a:t>A mixture of Theory and Practice</a:t>
            </a:r>
          </a:p>
          <a:p>
            <a:pPr algn="ctr"/>
            <a:r>
              <a:rPr lang="en-GB" dirty="0"/>
              <a:t>Focus on Principles and Application</a:t>
            </a:r>
          </a:p>
          <a:p>
            <a:pPr algn="ctr"/>
            <a:r>
              <a:rPr lang="en-GB" dirty="0"/>
              <a:t>We will Learn “WHY?” AND “HOW?”</a:t>
            </a:r>
          </a:p>
        </p:txBody>
      </p:sp>
    </p:spTree>
    <p:extLst>
      <p:ext uri="{BB962C8B-B14F-4D97-AF65-F5344CB8AC3E}">
        <p14:creationId xmlns:p14="http://schemas.microsoft.com/office/powerpoint/2010/main" val="26675472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4624"/>
            <a:ext cx="7704856" cy="732696"/>
          </a:xfrm>
        </p:spPr>
        <p:txBody>
          <a:bodyPr>
            <a:normAutofit/>
          </a:bodyPr>
          <a:lstStyle/>
          <a:p>
            <a:r>
              <a:rPr lang="en-GB" sz="2800" dirty="0"/>
              <a:t>Mode of Study</a:t>
            </a:r>
          </a:p>
        </p:txBody>
      </p:sp>
      <p:sp>
        <p:nvSpPr>
          <p:cNvPr id="3" name="Content Placeholder 2"/>
          <p:cNvSpPr>
            <a:spLocks noGrp="1"/>
          </p:cNvSpPr>
          <p:nvPr>
            <p:ph idx="1"/>
          </p:nvPr>
        </p:nvSpPr>
        <p:spPr>
          <a:xfrm>
            <a:off x="179512" y="836712"/>
            <a:ext cx="7848872" cy="5949280"/>
          </a:xfrm>
        </p:spPr>
        <p:txBody>
          <a:bodyPr>
            <a:normAutofit fontScale="85000" lnSpcReduction="20000"/>
          </a:bodyPr>
          <a:lstStyle/>
          <a:p>
            <a:r>
              <a:rPr lang="en-GB" dirty="0"/>
              <a:t>A piece of group coursework</a:t>
            </a:r>
          </a:p>
          <a:p>
            <a:pPr lvl="1"/>
            <a:r>
              <a:rPr lang="en-GB" dirty="0"/>
              <a:t>Groups Deadline TBC</a:t>
            </a:r>
          </a:p>
          <a:p>
            <a:pPr lvl="1"/>
            <a:r>
              <a:rPr lang="en-GB" dirty="0"/>
              <a:t>Submission Dates TBC</a:t>
            </a:r>
          </a:p>
          <a:p>
            <a:r>
              <a:rPr lang="en-GB" dirty="0"/>
              <a:t>Grades</a:t>
            </a:r>
          </a:p>
          <a:p>
            <a:pPr lvl="1"/>
            <a:r>
              <a:rPr lang="en-GB" dirty="0"/>
              <a:t>30% Coursework</a:t>
            </a:r>
          </a:p>
          <a:p>
            <a:pPr lvl="1"/>
            <a:r>
              <a:rPr lang="en-GB" dirty="0"/>
              <a:t>70% Exams</a:t>
            </a:r>
          </a:p>
          <a:p>
            <a:r>
              <a:rPr lang="en-GB" dirty="0"/>
              <a:t>No single Textbook. References from various sources</a:t>
            </a:r>
          </a:p>
          <a:p>
            <a:pPr lvl="1"/>
            <a:r>
              <a:rPr lang="en-US" dirty="0"/>
              <a:t>For Corporate Finance Issues, any text book. References from</a:t>
            </a:r>
          </a:p>
          <a:p>
            <a:pPr lvl="2"/>
            <a:r>
              <a:rPr lang="en-US" sz="1700" i="1" dirty="0"/>
              <a:t> Corporate Finance, European edition</a:t>
            </a:r>
            <a:r>
              <a:rPr lang="en-US" sz="1700" dirty="0"/>
              <a:t>, HILLIER et al., 2010</a:t>
            </a:r>
            <a:endParaRPr lang="en-GB" b="1" dirty="0"/>
          </a:p>
          <a:p>
            <a:pPr lvl="1"/>
            <a:r>
              <a:rPr lang="en-GB" sz="2400" dirty="0"/>
              <a:t>Main Textbook references from</a:t>
            </a:r>
            <a:endParaRPr lang="en-GB" sz="2400" dirty="0">
              <a:hlinkClick r:id="rId2"/>
            </a:endParaRPr>
          </a:p>
          <a:p>
            <a:pPr lvl="2"/>
            <a:r>
              <a:rPr lang="en-GB" dirty="0">
                <a:hlinkClick r:id="rId3"/>
              </a:rPr>
              <a:t>Investment Valuation A. </a:t>
            </a:r>
            <a:r>
              <a:rPr lang="en-GB" dirty="0" err="1">
                <a:hlinkClick r:id="rId3"/>
              </a:rPr>
              <a:t>Damodaran</a:t>
            </a:r>
            <a:r>
              <a:rPr lang="en-GB" dirty="0">
                <a:hlinkClick r:id="rId3"/>
              </a:rPr>
              <a:t> </a:t>
            </a:r>
            <a:endParaRPr lang="en-GB" dirty="0"/>
          </a:p>
          <a:p>
            <a:pPr lvl="2"/>
            <a:r>
              <a:rPr lang="en-GB" dirty="0" err="1"/>
              <a:t>Damodaran</a:t>
            </a:r>
            <a:r>
              <a:rPr lang="en-GB" dirty="0"/>
              <a:t> on Valuation ISBN: </a:t>
            </a:r>
            <a:r>
              <a:rPr lang="en-GB" b="1" dirty="0"/>
              <a:t>0471304654</a:t>
            </a:r>
          </a:p>
          <a:p>
            <a:r>
              <a:rPr lang="en-GB" dirty="0"/>
              <a:t>Mode of study</a:t>
            </a:r>
          </a:p>
          <a:p>
            <a:pPr lvl="1"/>
            <a:r>
              <a:rPr lang="en-GB" dirty="0">
                <a:hlinkClick r:id="rId4"/>
              </a:rPr>
              <a:t>BLACKBOARD</a:t>
            </a:r>
            <a:endParaRPr lang="en-GB" dirty="0"/>
          </a:p>
          <a:p>
            <a:pPr lvl="1"/>
            <a:r>
              <a:rPr lang="en-GB" dirty="0"/>
              <a:t>Theoretical approach and practical application. </a:t>
            </a:r>
          </a:p>
          <a:p>
            <a:pPr lvl="1"/>
            <a:r>
              <a:rPr lang="en-GB" dirty="0"/>
              <a:t>Directed and independent reading </a:t>
            </a:r>
          </a:p>
          <a:p>
            <a:pPr lvl="1"/>
            <a:r>
              <a:rPr lang="en-GB" dirty="0"/>
              <a:t>Formal lecture contact and specialised workshops</a:t>
            </a:r>
          </a:p>
          <a:p>
            <a:pPr lvl="1"/>
            <a:r>
              <a:rPr lang="en-GB" dirty="0"/>
              <a:t>Group project</a:t>
            </a:r>
          </a:p>
          <a:p>
            <a:endParaRPr lang="en-GB" dirty="0"/>
          </a:p>
        </p:txBody>
      </p:sp>
      <p:pic>
        <p:nvPicPr>
          <p:cNvPr id="88066" name="Picture 2" descr="http://pages.stern.nyu.edu/~adamodar/New_Home_Page/Budimage/DV2.jpg"/>
          <p:cNvPicPr>
            <a:picLocks noChangeAspect="1" noChangeArrowheads="1"/>
          </p:cNvPicPr>
          <p:nvPr/>
        </p:nvPicPr>
        <p:blipFill>
          <a:blip r:embed="rId5" cstate="print"/>
          <a:srcRect/>
          <a:stretch>
            <a:fillRect/>
          </a:stretch>
        </p:blipFill>
        <p:spPr bwMode="auto">
          <a:xfrm>
            <a:off x="8155767" y="5157192"/>
            <a:ext cx="988233" cy="1484784"/>
          </a:xfrm>
          <a:prstGeom prst="rect">
            <a:avLst/>
          </a:prstGeom>
          <a:noFill/>
        </p:spPr>
      </p:pic>
      <p:pic>
        <p:nvPicPr>
          <p:cNvPr id="30724" name="Picture 4" descr="Investment Valuation : Tools and Techniques for Determining the Value of Any Asset by Aswath Damodaran (2012, Paperback)">
            <a:hlinkClick r:id="rId3"/>
          </p:cNvPr>
          <p:cNvPicPr>
            <a:picLocks noChangeAspect="1" noChangeArrowheads="1"/>
          </p:cNvPicPr>
          <p:nvPr/>
        </p:nvPicPr>
        <p:blipFill>
          <a:blip r:embed="rId6" cstate="print"/>
          <a:srcRect/>
          <a:stretch>
            <a:fillRect/>
          </a:stretch>
        </p:blipFill>
        <p:spPr bwMode="auto">
          <a:xfrm>
            <a:off x="8160578" y="3501008"/>
            <a:ext cx="983422" cy="1411239"/>
          </a:xfrm>
          <a:prstGeom prst="rect">
            <a:avLst/>
          </a:prstGeom>
          <a:noFill/>
        </p:spPr>
      </p:pic>
      <p:pic>
        <p:nvPicPr>
          <p:cNvPr id="6" name="Picture 3"/>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6551" t="12919" r="69115" b="25471"/>
          <a:stretch/>
        </p:blipFill>
        <p:spPr bwMode="auto">
          <a:xfrm>
            <a:off x="8160578" y="1772816"/>
            <a:ext cx="949391" cy="1308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508" name="Picture 4" descr="http://static.cyberlibris.com/books_upload/300pix/9780470424605.jpg">
            <a:hlinkClick r:id="rId8"/>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148336" y="320892"/>
            <a:ext cx="954202" cy="144084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7239000" cy="660688"/>
          </a:xfrm>
        </p:spPr>
        <p:txBody>
          <a:bodyPr/>
          <a:lstStyle/>
          <a:p>
            <a:r>
              <a:rPr lang="en-GB" dirty="0"/>
              <a:t>How can I perform well</a:t>
            </a:r>
          </a:p>
        </p:txBody>
      </p:sp>
      <p:sp>
        <p:nvSpPr>
          <p:cNvPr id="3" name="Content Placeholder 2"/>
          <p:cNvSpPr>
            <a:spLocks noGrp="1"/>
          </p:cNvSpPr>
          <p:nvPr>
            <p:ph idx="1"/>
          </p:nvPr>
        </p:nvSpPr>
        <p:spPr>
          <a:xfrm>
            <a:off x="251520" y="1124744"/>
            <a:ext cx="8784976" cy="5616624"/>
          </a:xfrm>
        </p:spPr>
        <p:txBody>
          <a:bodyPr>
            <a:normAutofit lnSpcReduction="10000"/>
          </a:bodyPr>
          <a:lstStyle/>
          <a:p>
            <a:r>
              <a:rPr lang="en-GB" dirty="0"/>
              <a:t>Be here</a:t>
            </a:r>
          </a:p>
          <a:p>
            <a:r>
              <a:rPr lang="en-GB" dirty="0"/>
              <a:t>Read newspapers</a:t>
            </a:r>
          </a:p>
          <a:p>
            <a:r>
              <a:rPr lang="en-GB" dirty="0"/>
              <a:t>Read the textbook</a:t>
            </a:r>
          </a:p>
          <a:p>
            <a:pPr lvl="1"/>
            <a:r>
              <a:rPr lang="en-GB" dirty="0"/>
              <a:t>Valuation requires up to date knowledge about</a:t>
            </a:r>
          </a:p>
          <a:p>
            <a:pPr lvl="2"/>
            <a:r>
              <a:rPr lang="en-GB" dirty="0"/>
              <a:t>Firm Fundamentals</a:t>
            </a:r>
          </a:p>
          <a:p>
            <a:pPr lvl="2"/>
            <a:r>
              <a:rPr lang="en-GB" dirty="0"/>
              <a:t>Market trends</a:t>
            </a:r>
          </a:p>
          <a:p>
            <a:pPr lvl="2"/>
            <a:r>
              <a:rPr lang="en-GB" dirty="0"/>
              <a:t>Macro- and Micro-economic trends (Politics!!!)</a:t>
            </a:r>
          </a:p>
          <a:p>
            <a:r>
              <a:rPr lang="en-GB" dirty="0"/>
              <a:t>Think </a:t>
            </a:r>
          </a:p>
          <a:p>
            <a:pPr lvl="1"/>
            <a:r>
              <a:rPr lang="en-GB" dirty="0"/>
              <a:t>challenge your old views</a:t>
            </a:r>
          </a:p>
          <a:p>
            <a:pPr lvl="1"/>
            <a:r>
              <a:rPr lang="en-GB" dirty="0"/>
              <a:t>There is no right or wrong</a:t>
            </a:r>
          </a:p>
          <a:p>
            <a:pPr lvl="1"/>
            <a:r>
              <a:rPr lang="en-GB" dirty="0"/>
              <a:t>Get Informed</a:t>
            </a:r>
          </a:p>
          <a:p>
            <a:r>
              <a:rPr lang="en-GB" dirty="0"/>
              <a:t>Prepare and do not leave things for revision in the end</a:t>
            </a:r>
          </a:p>
          <a:p>
            <a:r>
              <a:rPr lang="en-GB" dirty="0"/>
              <a:t>Try yourself all the examples and qualitative/quantitative data</a:t>
            </a:r>
          </a:p>
          <a:p>
            <a:endParaRPr lang="en-GB" dirty="0"/>
          </a:p>
        </p:txBody>
      </p:sp>
    </p:spTree>
    <p:extLst>
      <p:ext uri="{BB962C8B-B14F-4D97-AF65-F5344CB8AC3E}">
        <p14:creationId xmlns:p14="http://schemas.microsoft.com/office/powerpoint/2010/main" val="414369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6562816" y="2865728"/>
            <a:ext cx="3998640" cy="660688"/>
          </a:xfrm>
        </p:spPr>
        <p:txBody>
          <a:bodyPr/>
          <a:lstStyle/>
          <a:p>
            <a:r>
              <a:rPr lang="en-GB" dirty="0"/>
              <a:t>Common Issues</a:t>
            </a:r>
          </a:p>
        </p:txBody>
      </p:sp>
      <p:sp>
        <p:nvSpPr>
          <p:cNvPr id="3" name="Content Placeholder 2"/>
          <p:cNvSpPr>
            <a:spLocks noGrp="1"/>
          </p:cNvSpPr>
          <p:nvPr>
            <p:ph idx="1"/>
          </p:nvPr>
        </p:nvSpPr>
        <p:spPr>
          <a:xfrm>
            <a:off x="107504" y="116632"/>
            <a:ext cx="7992888" cy="6741368"/>
          </a:xfrm>
        </p:spPr>
        <p:txBody>
          <a:bodyPr>
            <a:normAutofit fontScale="92500" lnSpcReduction="10000"/>
          </a:bodyPr>
          <a:lstStyle/>
          <a:p>
            <a:r>
              <a:rPr lang="en-GB" sz="2400" dirty="0"/>
              <a:t>Slides are taken from </a:t>
            </a:r>
            <a:r>
              <a:rPr lang="en-GB" sz="2400" dirty="0" err="1"/>
              <a:t>Damodaran</a:t>
            </a:r>
            <a:endParaRPr lang="en-GB" sz="2400" dirty="0"/>
          </a:p>
          <a:p>
            <a:pPr lvl="1"/>
            <a:r>
              <a:rPr lang="en-GB" sz="2000" dirty="0"/>
              <a:t>I see my role training you in using his material</a:t>
            </a:r>
          </a:p>
          <a:p>
            <a:pPr lvl="1"/>
            <a:r>
              <a:rPr lang="en-GB" sz="2000" dirty="0"/>
              <a:t>Then this will be applied in real case studies</a:t>
            </a:r>
          </a:p>
          <a:p>
            <a:r>
              <a:rPr lang="en-GB" sz="2400" dirty="0"/>
              <a:t>CW is too short</a:t>
            </a:r>
          </a:p>
          <a:p>
            <a:pPr lvl="1"/>
            <a:r>
              <a:rPr lang="en-GB" sz="2000" dirty="0"/>
              <a:t>You are supposed to prepare a marketable report. This is a skill to be developed</a:t>
            </a:r>
          </a:p>
          <a:p>
            <a:r>
              <a:rPr lang="en-GB" sz="2400" dirty="0"/>
              <a:t>Difficulties in developing assumptions</a:t>
            </a:r>
          </a:p>
          <a:p>
            <a:pPr lvl="1"/>
            <a:r>
              <a:rPr lang="en-GB" sz="2000" dirty="0"/>
              <a:t>Valuation is a point of view. You are supposed to have one</a:t>
            </a:r>
          </a:p>
          <a:p>
            <a:pPr lvl="1"/>
            <a:r>
              <a:rPr lang="en-GB" sz="2000" dirty="0"/>
              <a:t>There are no good or bad assumptions, only good and bad arguments</a:t>
            </a:r>
          </a:p>
          <a:p>
            <a:r>
              <a:rPr lang="en-GB" sz="2400" dirty="0"/>
              <a:t>I feel lost/Material is incomprehensible</a:t>
            </a:r>
          </a:p>
          <a:p>
            <a:pPr lvl="1"/>
            <a:r>
              <a:rPr lang="en-GB" sz="2000" dirty="0"/>
              <a:t>Valuation is an overview of the firm. We are supposed to combine all available information</a:t>
            </a:r>
          </a:p>
          <a:p>
            <a:pPr marL="292608" lvl="1" indent="0" algn="ctr">
              <a:buNone/>
            </a:pPr>
            <a:endParaRPr lang="en-GB" sz="2400" b="1" u="sng" dirty="0"/>
          </a:p>
          <a:p>
            <a:pPr marL="292608" lvl="1" indent="0" algn="ctr">
              <a:buNone/>
            </a:pPr>
            <a:r>
              <a:rPr lang="en-GB" sz="3600" b="1" u="sng" dirty="0">
                <a:solidFill>
                  <a:schemeClr val="tx1"/>
                </a:solidFill>
              </a:rPr>
              <a:t>DO NOT LEAVE THINGS TO BE REVIEWED AT THE END</a:t>
            </a:r>
          </a:p>
          <a:p>
            <a:pPr marL="292608" lvl="1" indent="0" algn="ctr">
              <a:buNone/>
            </a:pPr>
            <a:endParaRPr lang="en-GB" sz="3600" b="1" u="sng" dirty="0">
              <a:solidFill>
                <a:schemeClr val="tx1"/>
              </a:solidFill>
            </a:endParaRPr>
          </a:p>
          <a:p>
            <a:pPr algn="ctr"/>
            <a:r>
              <a:rPr lang="en-GB" sz="2400" dirty="0"/>
              <a:t>When in doubt: </a:t>
            </a:r>
            <a:r>
              <a:rPr lang="en-GB" sz="3600" b="1" dirty="0"/>
              <a:t>DO ASK</a:t>
            </a:r>
            <a:endParaRPr lang="en-GB" sz="2400" b="1" dirty="0"/>
          </a:p>
          <a:p>
            <a:endParaRPr lang="en-GB" sz="2400" dirty="0"/>
          </a:p>
        </p:txBody>
      </p:sp>
    </p:spTree>
    <p:extLst>
      <p:ext uri="{BB962C8B-B14F-4D97-AF65-F5344CB8AC3E}">
        <p14:creationId xmlns:p14="http://schemas.microsoft.com/office/powerpoint/2010/main" val="5796385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webextension1.xml><?xml version="1.0" encoding="utf-8"?>
<we:webextension xmlns:we="http://schemas.microsoft.com/office/webextensions/webextension/2010/11" id="{5C691AB9-33E5-4D3C-9CD0-DB555041F857}">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5801dc142a791b8e57b2&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2CF2594-992D-42E2-83B0-9D31BE32AFA8}">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598adc142a791b8fe572&quot;"/>
  </we:properties>
  <we:bindings/>
  <we:snapshot xmlns:r="http://schemas.openxmlformats.org/officeDocument/2006/relationships"/>
</we:webextension>
</file>

<file path=ppt/webextensions/webextension3.xml><?xml version="1.0" encoding="utf-8"?>
<we:webextension xmlns:we="http://schemas.microsoft.com/office/webextensions/webextension/2010/11" id="{7217D0B7-0600-4485-AF02-7A620BA66E66}">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5a59dc142a791b90293d&quot;"/>
  </we:properties>
  <we:bindings/>
  <we:snapshot xmlns:r="http://schemas.openxmlformats.org/officeDocument/2006/relationships"/>
</we:webextension>
</file>

<file path=ppt/webextensions/webextension4.xml><?xml version="1.0" encoding="utf-8"?>
<we:webextension xmlns:we="http://schemas.microsoft.com/office/webextensions/webextension/2010/11" id="{3F016F60-8880-487F-B1D5-905273F93BD1}">
  <we:reference id="wa104381682" version="1.0.0.11" store="en-GB" storeType="OMEX"/>
  <we:alternateReferences>
    <we:reference id="WA104381682" version="1.0.0.11" store="WA104381682" storeType="OMEX"/>
  </we:alternateReferences>
  <we:properties>
    <we:property name="selectedSlug" value="&quot;QMIETBL&quot;"/>
    <we:property name="selectedQuestionId" value="&quot;6aa65b58ef249cb1c74a4928&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DE17CEDC22C6E4C817BE2B85326AFED" ma:contentTypeVersion="13" ma:contentTypeDescription="Crée un document." ma:contentTypeScope="" ma:versionID="340fd81ba66454462264ca5c01740633">
  <xsd:schema xmlns:xsd="http://www.w3.org/2001/XMLSchema" xmlns:xs="http://www.w3.org/2001/XMLSchema" xmlns:p="http://schemas.microsoft.com/office/2006/metadata/properties" xmlns:ns3="68c52cd0-c861-4c82-9a1a-0aa4e6c6a5db" xmlns:ns4="92df8fb2-6fee-4711-b57a-2112678babd5" targetNamespace="http://schemas.microsoft.com/office/2006/metadata/properties" ma:root="true" ma:fieldsID="1c5f93696f663e032a9d9d87df367f12" ns3:_="" ns4:_="">
    <xsd:import namespace="68c52cd0-c861-4c82-9a1a-0aa4e6c6a5db"/>
    <xsd:import namespace="92df8fb2-6fee-4711-b57a-2112678babd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c52cd0-c861-4c82-9a1a-0aa4e6c6a5db"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SharingHintHash" ma:index="10" nillable="true" ma:displayName="Partage du hachage d’indicateu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2df8fb2-6fee-4711-b57a-2112678babd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DateTaken" ma:index="17" nillable="true" ma:displayName="MediaServiceDateTaken" ma:hidden="true" ma:internalName="MediaServiceDateTaken"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23A648-AB71-44B9-A6EE-C62D0C524D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8c52cd0-c861-4c82-9a1a-0aa4e6c6a5db"/>
    <ds:schemaRef ds:uri="92df8fb2-6fee-4711-b57a-2112678babd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E700DA0-745F-4A39-8123-2CBD2F5B2DBE}">
  <ds:schemaRefs>
    <ds:schemaRef ds:uri="http://schemas.microsoft.com/office/infopath/2007/PartnerControls"/>
    <ds:schemaRef ds:uri="http://schemas.openxmlformats.org/package/2006/metadata/core-properties"/>
    <ds:schemaRef ds:uri="http://schemas.microsoft.com/office/2006/documentManagement/types"/>
    <ds:schemaRef ds:uri="http://purl.org/dc/terms/"/>
    <ds:schemaRef ds:uri="68c52cd0-c861-4c82-9a1a-0aa4e6c6a5db"/>
    <ds:schemaRef ds:uri="http://www.w3.org/XML/1998/namespace"/>
    <ds:schemaRef ds:uri="92df8fb2-6fee-4711-b57a-2112678babd5"/>
    <ds:schemaRef ds:uri="http://schemas.microsoft.com/office/2006/metadata/properties"/>
    <ds:schemaRef ds:uri="http://purl.org/dc/elements/1.1/"/>
    <ds:schemaRef ds:uri="http://purl.org/dc/dcmitype/"/>
  </ds:schemaRefs>
</ds:datastoreItem>
</file>

<file path=customXml/itemProps3.xml><?xml version="1.0" encoding="utf-8"?>
<ds:datastoreItem xmlns:ds="http://schemas.openxmlformats.org/officeDocument/2006/customXml" ds:itemID="{840F57EE-3C91-42E6-901F-5B15485ABB8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Opulent</Template>
  <TotalTime>3649</TotalTime>
  <Words>2973</Words>
  <Application>Microsoft Office PowerPoint</Application>
  <PresentationFormat>On-screen Show (4:3)</PresentationFormat>
  <Paragraphs>494</Paragraphs>
  <Slides>38</Slides>
  <Notes>14</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2</vt:i4>
      </vt:variant>
      <vt:variant>
        <vt:lpstr>Slide Titles</vt:lpstr>
      </vt:variant>
      <vt:variant>
        <vt:i4>38</vt:i4>
      </vt:variant>
    </vt:vector>
  </HeadingPairs>
  <TitlesOfParts>
    <vt:vector size="45" baseType="lpstr">
      <vt:lpstr>Calibri</vt:lpstr>
      <vt:lpstr>Trebuchet MS</vt:lpstr>
      <vt:lpstr>Wingdings</vt:lpstr>
      <vt:lpstr>Wingdings 2</vt:lpstr>
      <vt:lpstr>Opulent</vt:lpstr>
      <vt:lpstr>Worksheet</vt:lpstr>
      <vt:lpstr>Equation</vt:lpstr>
      <vt:lpstr>Company Valuation  An Introduction</vt:lpstr>
      <vt:lpstr>What is value?</vt:lpstr>
      <vt:lpstr>What do we mean when we say value?</vt:lpstr>
      <vt:lpstr>What is the value of Apple</vt:lpstr>
      <vt:lpstr>What drives value?</vt:lpstr>
      <vt:lpstr>Value Drivers</vt:lpstr>
      <vt:lpstr>A company decides to replace 80% of its employees with AI. Its Value will Go:</vt:lpstr>
      <vt:lpstr>How value is created</vt:lpstr>
      <vt:lpstr>Value is only a financial objective and does not consider other qualitative objectives like Employee satisfaction, or Gender Equality Etc. </vt:lpstr>
      <vt:lpstr>Why Value?</vt:lpstr>
      <vt:lpstr>Why Value-Stakeholders</vt:lpstr>
      <vt:lpstr>Why Market value?</vt:lpstr>
      <vt:lpstr>Do Markets Always reflect  The “Fair” Value?</vt:lpstr>
      <vt:lpstr>Is AI a Bubble ready to crash?</vt:lpstr>
      <vt:lpstr>It goes that way</vt:lpstr>
      <vt:lpstr>How Does Disney Look Like?</vt:lpstr>
      <vt:lpstr>How Does Apple look like?  Last and this year</vt:lpstr>
      <vt:lpstr>How do Markets look like?</vt:lpstr>
      <vt:lpstr>Initial Thoughts</vt:lpstr>
      <vt:lpstr>We Are Talking About the Future Who knows? Who was right last year?</vt:lpstr>
      <vt:lpstr>How does bitcoin look like?</vt:lpstr>
      <vt:lpstr>Three Fundamental Problems</vt:lpstr>
      <vt:lpstr>How Can we measure value?</vt:lpstr>
      <vt:lpstr>Valuation approaches </vt:lpstr>
      <vt:lpstr>1. Discounted Cash flows (DCF)</vt:lpstr>
      <vt:lpstr>DCF-Further Considerations</vt:lpstr>
      <vt:lpstr>Dcf-Estimation</vt:lpstr>
      <vt:lpstr>DCF-Final Remarks</vt:lpstr>
      <vt:lpstr>2. Relative Valuation</vt:lpstr>
      <vt:lpstr>Standardized Measures (Multiples)</vt:lpstr>
      <vt:lpstr>Real Valuation-Final Remarks</vt:lpstr>
      <vt:lpstr>3. Contingent Claims-Options</vt:lpstr>
      <vt:lpstr>Real Options-Further Remarks</vt:lpstr>
      <vt:lpstr>How does the course look like?</vt:lpstr>
      <vt:lpstr>Time Plan</vt:lpstr>
      <vt:lpstr>Mode of Study</vt:lpstr>
      <vt:lpstr>How can I perform well</vt:lpstr>
      <vt:lpstr>Common Issues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Company Valuation  An Introduction</dc:title>
  <dc:creator>rv</dc:creator>
  <cp:lastModifiedBy>KALAITZOGLOU Iordanis</cp:lastModifiedBy>
  <cp:revision>197</cp:revision>
  <dcterms:created xsi:type="dcterms:W3CDTF">2012-10-21T10:18:16Z</dcterms:created>
  <dcterms:modified xsi:type="dcterms:W3CDTF">2026-09-13T08:40:24Z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0x0101005DE17CEDC22C6E4C817BE2B85326AFED</vt:lpwstr>
  </property>
</Properties>
</file>