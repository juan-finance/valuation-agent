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webextensions/webextension1.xml" ContentType="application/vnd.ms-office.webextension+xml"/>
  <Override PartName="/ppt/webextensions/webextension2.xml" ContentType="application/vnd.ms-office.webextension+xml"/>
  <Override PartName="/ppt/notesSlides/notesSlide10.xml" ContentType="application/vnd.openxmlformats-officedocument.presentationml.notesSlide+xml"/>
  <Override PartName="/ppt/webextensions/webextension3.xml" ContentType="application/vnd.ms-office.webextension+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webextensions/webextension4.xml" ContentType="application/vnd.ms-office.webextension+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0.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6.xml" ContentType="application/vnd.openxmlformats-officedocument.presentationml.notesSlide+xml"/>
  <Override PartName="/ppt/diagrams/data11.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2.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3.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4.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2.xml" ContentType="application/vnd.openxmlformats-officedocument.presentationml.notesSlide+xml"/>
  <Override PartName="/ppt/diagrams/data15.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16.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17.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32.xml" ContentType="application/vnd.openxmlformats-officedocument.presentationml.notesSlide+xml"/>
  <Override PartName="/ppt/diagrams/data18.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33.xml" ContentType="application/vnd.openxmlformats-officedocument.presentationml.notesSlide+xml"/>
  <Override PartName="/ppt/diagrams/data19.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34.xml" ContentType="application/vnd.openxmlformats-officedocument.presentationml.notesSl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webextensions/webextension5.xml" ContentType="application/vnd.ms-office.webextension+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diagrams/data20.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41.xml" ContentType="application/vnd.openxmlformats-officedocument.presentationml.notesSlide+xml"/>
  <Override PartName="/ppt/diagrams/data22.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48.xml" ContentType="application/vnd.openxmlformats-officedocument.presentationml.notesSlide+xml"/>
  <Override PartName="/ppt/charts/chart5.xml" ContentType="application/vnd.openxmlformats-officedocument.drawingml.chart+xml"/>
  <Override PartName="/ppt/diagrams/data23.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49.xml" ContentType="application/vnd.openxmlformats-officedocument.presentationml.notesSlide+xml"/>
  <Override PartName="/ppt/diagrams/data24.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diagrams/data9.xml" ContentType="application/vnd.openxmlformats-officedocument.drawingml.diagramData+xml"/>
  <Override PartName="/ppt/diagrams/layout80.xml" ContentType="application/vnd.openxmlformats-officedocument.drawingml.diagramLayout+xml"/>
  <Override PartName="/ppt/diagrams/quickStyle80.xml" ContentType="application/vnd.openxmlformats-officedocument.drawingml.diagramStyle+xml"/>
  <Override PartName="/ppt/diagrams/colors80.xml" ContentType="application/vnd.openxmlformats-officedocument.drawingml.diagramColors+xml"/>
  <Override PartName="/ppt/diagrams/data21.xml" ContentType="application/vnd.openxmlformats-officedocument.drawingml.diagramData+xml"/>
  <Override PartName="/ppt/diagrams/layout190.xml" ContentType="application/vnd.openxmlformats-officedocument.drawingml.diagramLayout+xml"/>
  <Override PartName="/ppt/diagrams/quickStyle190.xml" ContentType="application/vnd.openxmlformats-officedocument.drawingml.diagramStyle+xml"/>
  <Override PartName="/ppt/diagrams/colors190.xml" ContentType="application/vnd.openxmlformats-officedocument.drawingml.diagramCol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06" r:id="rId5"/>
  </p:sldMasterIdLst>
  <p:notesMasterIdLst>
    <p:notesMasterId r:id="rId83"/>
  </p:notesMasterIdLst>
  <p:handoutMasterIdLst>
    <p:handoutMasterId r:id="rId84"/>
  </p:handoutMasterIdLst>
  <p:sldIdLst>
    <p:sldId id="257" r:id="rId6"/>
    <p:sldId id="751" r:id="rId7"/>
    <p:sldId id="831" r:id="rId8"/>
    <p:sldId id="832" r:id="rId9"/>
    <p:sldId id="259" r:id="rId10"/>
    <p:sldId id="343" r:id="rId11"/>
    <p:sldId id="260" r:id="rId12"/>
    <p:sldId id="262" r:id="rId13"/>
    <p:sldId id="263" r:id="rId14"/>
    <p:sldId id="410" r:id="rId15"/>
    <p:sldId id="354" r:id="rId16"/>
    <p:sldId id="833" r:id="rId17"/>
    <p:sldId id="390" r:id="rId18"/>
    <p:sldId id="389" r:id="rId19"/>
    <p:sldId id="834" r:id="rId20"/>
    <p:sldId id="273" r:id="rId21"/>
    <p:sldId id="357" r:id="rId22"/>
    <p:sldId id="393" r:id="rId23"/>
    <p:sldId id="835" r:id="rId24"/>
    <p:sldId id="394" r:id="rId25"/>
    <p:sldId id="395" r:id="rId26"/>
    <p:sldId id="399" r:id="rId27"/>
    <p:sldId id="405" r:id="rId28"/>
    <p:sldId id="400" r:id="rId29"/>
    <p:sldId id="409" r:id="rId30"/>
    <p:sldId id="344" r:id="rId31"/>
    <p:sldId id="261" r:id="rId32"/>
    <p:sldId id="836" r:id="rId33"/>
    <p:sldId id="358" r:id="rId34"/>
    <p:sldId id="278" r:id="rId35"/>
    <p:sldId id="279" r:id="rId36"/>
    <p:sldId id="284" r:id="rId37"/>
    <p:sldId id="392" r:id="rId38"/>
    <p:sldId id="359" r:id="rId39"/>
    <p:sldId id="285" r:id="rId40"/>
    <p:sldId id="391" r:id="rId41"/>
    <p:sldId id="286" r:id="rId42"/>
    <p:sldId id="360" r:id="rId43"/>
    <p:sldId id="287" r:id="rId44"/>
    <p:sldId id="288" r:id="rId45"/>
    <p:sldId id="290" r:id="rId46"/>
    <p:sldId id="385" r:id="rId47"/>
    <p:sldId id="378" r:id="rId48"/>
    <p:sldId id="837" r:id="rId49"/>
    <p:sldId id="838" r:id="rId50"/>
    <p:sldId id="295" r:id="rId51"/>
    <p:sldId id="296" r:id="rId52"/>
    <p:sldId id="386" r:id="rId53"/>
    <p:sldId id="299" r:id="rId54"/>
    <p:sldId id="839" r:id="rId55"/>
    <p:sldId id="303" r:id="rId56"/>
    <p:sldId id="362" r:id="rId57"/>
    <p:sldId id="304" r:id="rId58"/>
    <p:sldId id="351" r:id="rId59"/>
    <p:sldId id="350" r:id="rId60"/>
    <p:sldId id="840" r:id="rId61"/>
    <p:sldId id="352" r:id="rId62"/>
    <p:sldId id="310" r:id="rId63"/>
    <p:sldId id="379" r:id="rId64"/>
    <p:sldId id="318" r:id="rId65"/>
    <p:sldId id="319" r:id="rId66"/>
    <p:sldId id="388" r:id="rId67"/>
    <p:sldId id="363" r:id="rId68"/>
    <p:sldId id="364" r:id="rId69"/>
    <p:sldId id="408" r:id="rId70"/>
    <p:sldId id="324" r:id="rId71"/>
    <p:sldId id="366" r:id="rId72"/>
    <p:sldId id="325" r:id="rId73"/>
    <p:sldId id="326" r:id="rId74"/>
    <p:sldId id="411" r:id="rId75"/>
    <p:sldId id="406" r:id="rId76"/>
    <p:sldId id="407" r:id="rId77"/>
    <p:sldId id="398" r:id="rId78"/>
    <p:sldId id="401" r:id="rId79"/>
    <p:sldId id="402" r:id="rId80"/>
    <p:sldId id="403" r:id="rId81"/>
    <p:sldId id="404" r:id="rId8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rdan" initials="J"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1F0042-B0B9-46B0-BDF0-EAADFD3A19BC}" v="226" dt="2026-09-27T16:46:15.1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18" autoAdjust="0"/>
    <p:restoredTop sz="76848" autoAdjust="0"/>
  </p:normalViewPr>
  <p:slideViewPr>
    <p:cSldViewPr>
      <p:cViewPr>
        <p:scale>
          <a:sx n="66" d="100"/>
          <a:sy n="66" d="100"/>
        </p:scale>
        <p:origin x="1362" y="-96"/>
      </p:cViewPr>
      <p:guideLst>
        <p:guide orient="horz" pos="2160"/>
        <p:guide pos="2880"/>
      </p:guideLst>
    </p:cSldViewPr>
  </p:slideViewPr>
  <p:outlineViewPr>
    <p:cViewPr>
      <p:scale>
        <a:sx n="33" d="100"/>
        <a:sy n="33" d="100"/>
      </p:scale>
      <p:origin x="0" y="-27564"/>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handoutMaster" Target="handoutMasters/handoutMaster1.xml"/><Relationship Id="rId89" Type="http://schemas.openxmlformats.org/officeDocument/2006/relationships/tableStyles" Target="tableStyle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2.xml"/><Relationship Id="rId90" Type="http://schemas.microsoft.com/office/2016/11/relationships/changesInfo" Target="changesInfos/changesInfo1.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notesMaster" Target="notesMasters/notesMaster1.xml"/><Relationship Id="rId88" Type="http://schemas.openxmlformats.org/officeDocument/2006/relationships/theme" Target="theme/theme1.xml"/><Relationship Id="rId9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viewProps" Target="viewProps.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LAITZOGLOU Iordanis" userId="59a78b65-5149-4b7e-9a03-bcb365d691a2" providerId="ADAL" clId="{DD3CBDC3-F255-4437-BA5F-C63C0C4F1C5E}"/>
    <pc:docChg chg="undo custSel addSld delSld modSld sldOrd">
      <pc:chgData name="KALAITZOGLOU Iordanis" userId="59a78b65-5149-4b7e-9a03-bcb365d691a2" providerId="ADAL" clId="{DD3CBDC3-F255-4437-BA5F-C63C0C4F1C5E}" dt="2026-09-27T16:46:15.190" v="268"/>
      <pc:docMkLst>
        <pc:docMk/>
      </pc:docMkLst>
      <pc:sldChg chg="modAnim">
        <pc:chgData name="KALAITZOGLOU Iordanis" userId="59a78b65-5149-4b7e-9a03-bcb365d691a2" providerId="ADAL" clId="{DD3CBDC3-F255-4437-BA5F-C63C0C4F1C5E}" dt="2026-09-27T10:51:49.801" v="46"/>
        <pc:sldMkLst>
          <pc:docMk/>
          <pc:sldMk cId="0" sldId="261"/>
        </pc:sldMkLst>
      </pc:sldChg>
      <pc:sldChg chg="addSp delSp modSp">
        <pc:chgData name="KALAITZOGLOU Iordanis" userId="59a78b65-5149-4b7e-9a03-bcb365d691a2" providerId="ADAL" clId="{DD3CBDC3-F255-4437-BA5F-C63C0C4F1C5E}" dt="2026-09-27T10:57:22.171" v="58"/>
        <pc:sldMkLst>
          <pc:docMk/>
          <pc:sldMk cId="0" sldId="279"/>
        </pc:sldMkLst>
        <pc:spChg chg="del">
          <ac:chgData name="KALAITZOGLOU Iordanis" userId="59a78b65-5149-4b7e-9a03-bcb365d691a2" providerId="ADAL" clId="{DD3CBDC3-F255-4437-BA5F-C63C0C4F1C5E}" dt="2026-09-27T10:52:37.976" v="47" actId="12084"/>
          <ac:spMkLst>
            <pc:docMk/>
            <pc:sldMk cId="0" sldId="279"/>
            <ac:spMk id="266243" creationId="{00000000-0000-0000-0000-000000000000}"/>
          </ac:spMkLst>
        </pc:spChg>
        <pc:graphicFrameChg chg="add mod">
          <ac:chgData name="KALAITZOGLOU Iordanis" userId="59a78b65-5149-4b7e-9a03-bcb365d691a2" providerId="ADAL" clId="{DD3CBDC3-F255-4437-BA5F-C63C0C4F1C5E}" dt="2026-09-27T10:57:22.171" v="58"/>
          <ac:graphicFrameMkLst>
            <pc:docMk/>
            <pc:sldMk cId="0" sldId="279"/>
            <ac:graphicFrameMk id="3" creationId="{4C5A84A9-657E-D927-0EA1-755EF83E41C6}"/>
          </ac:graphicFrameMkLst>
        </pc:graphicFrameChg>
        <pc:picChg chg="add mod">
          <ac:chgData name="KALAITZOGLOU Iordanis" userId="59a78b65-5149-4b7e-9a03-bcb365d691a2" providerId="ADAL" clId="{DD3CBDC3-F255-4437-BA5F-C63C0C4F1C5E}" dt="2026-09-27T10:55:35.093" v="53" actId="931"/>
          <ac:picMkLst>
            <pc:docMk/>
            <pc:sldMk cId="0" sldId="279"/>
            <ac:picMk id="5" creationId="{30221D54-19CB-9A5E-19F3-9425D36A505D}"/>
          </ac:picMkLst>
        </pc:picChg>
        <pc:picChg chg="add mod">
          <ac:chgData name="KALAITZOGLOU Iordanis" userId="59a78b65-5149-4b7e-9a03-bcb365d691a2" providerId="ADAL" clId="{DD3CBDC3-F255-4437-BA5F-C63C0C4F1C5E}" dt="2026-09-27T10:56:10.384" v="55" actId="931"/>
          <ac:picMkLst>
            <pc:docMk/>
            <pc:sldMk cId="0" sldId="279"/>
            <ac:picMk id="7" creationId="{1FE95A70-EEB5-AC44-D49F-010B19B27FED}"/>
          </ac:picMkLst>
        </pc:picChg>
        <pc:picChg chg="add mod">
          <ac:chgData name="KALAITZOGLOU Iordanis" userId="59a78b65-5149-4b7e-9a03-bcb365d691a2" providerId="ADAL" clId="{DD3CBDC3-F255-4437-BA5F-C63C0C4F1C5E}" dt="2026-09-27T10:56:10.384" v="55" actId="931"/>
          <ac:picMkLst>
            <pc:docMk/>
            <pc:sldMk cId="0" sldId="279"/>
            <ac:picMk id="9" creationId="{38B1BBB9-8B68-694D-DDC4-F4EFD29FD2F7}"/>
          </ac:picMkLst>
        </pc:picChg>
        <pc:picChg chg="add mod">
          <ac:chgData name="KALAITZOGLOU Iordanis" userId="59a78b65-5149-4b7e-9a03-bcb365d691a2" providerId="ADAL" clId="{DD3CBDC3-F255-4437-BA5F-C63C0C4F1C5E}" dt="2026-09-27T10:56:10.384" v="55" actId="931"/>
          <ac:picMkLst>
            <pc:docMk/>
            <pc:sldMk cId="0" sldId="279"/>
            <ac:picMk id="11" creationId="{FB52604F-F4D0-56C4-BFB4-B5FF42945FB5}"/>
          </ac:picMkLst>
        </pc:picChg>
        <pc:picChg chg="add mod">
          <ac:chgData name="KALAITZOGLOU Iordanis" userId="59a78b65-5149-4b7e-9a03-bcb365d691a2" providerId="ADAL" clId="{DD3CBDC3-F255-4437-BA5F-C63C0C4F1C5E}" dt="2026-09-27T10:57:15.408" v="57" actId="931"/>
          <ac:picMkLst>
            <pc:docMk/>
            <pc:sldMk cId="0" sldId="279"/>
            <ac:picMk id="13" creationId="{C3103681-1520-10A6-9807-85F175BD36F2}"/>
          </ac:picMkLst>
        </pc:picChg>
      </pc:sldChg>
      <pc:sldChg chg="addSp delSp modSp">
        <pc:chgData name="KALAITZOGLOU Iordanis" userId="59a78b65-5149-4b7e-9a03-bcb365d691a2" providerId="ADAL" clId="{DD3CBDC3-F255-4437-BA5F-C63C0C4F1C5E}" dt="2026-09-27T11:01:39.570" v="66" actId="113"/>
        <pc:sldMkLst>
          <pc:docMk/>
          <pc:sldMk cId="0" sldId="284"/>
        </pc:sldMkLst>
        <pc:spChg chg="del">
          <ac:chgData name="KALAITZOGLOU Iordanis" userId="59a78b65-5149-4b7e-9a03-bcb365d691a2" providerId="ADAL" clId="{DD3CBDC3-F255-4437-BA5F-C63C0C4F1C5E}" dt="2026-09-27T10:58:18.192" v="59" actId="12084"/>
          <ac:spMkLst>
            <pc:docMk/>
            <pc:sldMk cId="0" sldId="284"/>
            <ac:spMk id="38915" creationId="{00000000-0000-0000-0000-000000000000}"/>
          </ac:spMkLst>
        </pc:spChg>
        <pc:graphicFrameChg chg="add mod">
          <ac:chgData name="KALAITZOGLOU Iordanis" userId="59a78b65-5149-4b7e-9a03-bcb365d691a2" providerId="ADAL" clId="{DD3CBDC3-F255-4437-BA5F-C63C0C4F1C5E}" dt="2026-09-27T11:01:39.570" v="66" actId="113"/>
          <ac:graphicFrameMkLst>
            <pc:docMk/>
            <pc:sldMk cId="0" sldId="284"/>
            <ac:graphicFrameMk id="3" creationId="{F00AEDC4-AD91-6F1F-95D0-6303166066E8}"/>
          </ac:graphicFrameMkLst>
        </pc:graphicFrameChg>
      </pc:sldChg>
      <pc:sldChg chg="modSp">
        <pc:chgData name="KALAITZOGLOU Iordanis" userId="59a78b65-5149-4b7e-9a03-bcb365d691a2" providerId="ADAL" clId="{DD3CBDC3-F255-4437-BA5F-C63C0C4F1C5E}" dt="2026-09-27T11:27:51.887" v="85"/>
        <pc:sldMkLst>
          <pc:docMk/>
          <pc:sldMk cId="0" sldId="299"/>
        </pc:sldMkLst>
        <pc:picChg chg="mod">
          <ac:chgData name="KALAITZOGLOU Iordanis" userId="59a78b65-5149-4b7e-9a03-bcb365d691a2" providerId="ADAL" clId="{DD3CBDC3-F255-4437-BA5F-C63C0C4F1C5E}" dt="2026-09-27T11:27:51.887" v="85"/>
          <ac:picMkLst>
            <pc:docMk/>
            <pc:sldMk cId="0" sldId="299"/>
            <ac:picMk id="6" creationId="{C31ED0D9-DAC1-E799-C556-F94BD24C04CF}"/>
          </ac:picMkLst>
        </pc:picChg>
      </pc:sldChg>
      <pc:sldChg chg="modSp ord">
        <pc:chgData name="KALAITZOGLOU Iordanis" userId="59a78b65-5149-4b7e-9a03-bcb365d691a2" providerId="ADAL" clId="{DD3CBDC3-F255-4437-BA5F-C63C0C4F1C5E}" dt="2026-09-27T09:45:14.264" v="7" actId="13782"/>
        <pc:sldMkLst>
          <pc:docMk/>
          <pc:sldMk cId="2025319041" sldId="343"/>
        </pc:sldMkLst>
        <pc:graphicFrameChg chg="mod">
          <ac:chgData name="KALAITZOGLOU Iordanis" userId="59a78b65-5149-4b7e-9a03-bcb365d691a2" providerId="ADAL" clId="{DD3CBDC3-F255-4437-BA5F-C63C0C4F1C5E}" dt="2026-09-27T09:45:14.264" v="7" actId="13782"/>
          <ac:graphicFrameMkLst>
            <pc:docMk/>
            <pc:sldMk cId="2025319041" sldId="343"/>
            <ac:graphicFrameMk id="4" creationId="{00000000-0000-0000-0000-000000000000}"/>
          </ac:graphicFrameMkLst>
        </pc:graphicFrameChg>
      </pc:sldChg>
      <pc:sldChg chg="addSp modSp ord">
        <pc:chgData name="KALAITZOGLOU Iordanis" userId="59a78b65-5149-4b7e-9a03-bcb365d691a2" providerId="ADAL" clId="{DD3CBDC3-F255-4437-BA5F-C63C0C4F1C5E}" dt="2026-09-27T11:17:36.319" v="73"/>
        <pc:sldMkLst>
          <pc:docMk/>
          <pc:sldMk cId="33671918" sldId="354"/>
        </pc:sldMkLst>
        <pc:graphicFrameChg chg="mod">
          <ac:chgData name="KALAITZOGLOU Iordanis" userId="59a78b65-5149-4b7e-9a03-bcb365d691a2" providerId="ADAL" clId="{DD3CBDC3-F255-4437-BA5F-C63C0C4F1C5E}" dt="2026-09-27T11:17:36.319" v="73"/>
          <ac:graphicFrameMkLst>
            <pc:docMk/>
            <pc:sldMk cId="33671918" sldId="354"/>
            <ac:graphicFrameMk id="5" creationId="{00000000-0000-0000-0000-000000000000}"/>
          </ac:graphicFrameMkLst>
        </pc:graphicFrameChg>
        <pc:graphicFrameChg chg="add mod">
          <ac:chgData name="KALAITZOGLOU Iordanis" userId="59a78b65-5149-4b7e-9a03-bcb365d691a2" providerId="ADAL" clId="{DD3CBDC3-F255-4437-BA5F-C63C0C4F1C5E}" dt="2026-09-27T10:03:05.977" v="10"/>
          <ac:graphicFrameMkLst>
            <pc:docMk/>
            <pc:sldMk cId="33671918" sldId="354"/>
            <ac:graphicFrameMk id="7" creationId="{73248680-DCEA-669C-18A3-B31B488498CD}"/>
          </ac:graphicFrameMkLst>
        </pc:graphicFrameChg>
      </pc:sldChg>
      <pc:sldChg chg="modSp">
        <pc:chgData name="KALAITZOGLOU Iordanis" userId="59a78b65-5149-4b7e-9a03-bcb365d691a2" providerId="ADAL" clId="{DD3CBDC3-F255-4437-BA5F-C63C0C4F1C5E}" dt="2026-09-27T10:20:45.962" v="42"/>
        <pc:sldMkLst>
          <pc:docMk/>
          <pc:sldMk cId="3586327710" sldId="357"/>
        </pc:sldMkLst>
        <pc:graphicFrameChg chg="mod">
          <ac:chgData name="KALAITZOGLOU Iordanis" userId="59a78b65-5149-4b7e-9a03-bcb365d691a2" providerId="ADAL" clId="{DD3CBDC3-F255-4437-BA5F-C63C0C4F1C5E}" dt="2026-09-27T10:20:25.916" v="41" actId="20577"/>
          <ac:graphicFrameMkLst>
            <pc:docMk/>
            <pc:sldMk cId="3586327710" sldId="357"/>
            <ac:graphicFrameMk id="4" creationId="{00000000-0000-0000-0000-000000000000}"/>
          </ac:graphicFrameMkLst>
        </pc:graphicFrameChg>
        <pc:picChg chg="mod">
          <ac:chgData name="KALAITZOGLOU Iordanis" userId="59a78b65-5149-4b7e-9a03-bcb365d691a2" providerId="ADAL" clId="{DD3CBDC3-F255-4437-BA5F-C63C0C4F1C5E}" dt="2026-09-27T10:20:45.962" v="42"/>
          <ac:picMkLst>
            <pc:docMk/>
            <pc:sldMk cId="3586327710" sldId="357"/>
            <ac:picMk id="7" creationId="{C89AD009-5762-D49C-9B53-A6B15BF7EAD9}"/>
          </ac:picMkLst>
        </pc:picChg>
      </pc:sldChg>
      <pc:sldChg chg="addSp modSp">
        <pc:chgData name="KALAITZOGLOU Iordanis" userId="59a78b65-5149-4b7e-9a03-bcb365d691a2" providerId="ADAL" clId="{DD3CBDC3-F255-4437-BA5F-C63C0C4F1C5E}" dt="2026-09-27T11:21:56.847" v="84"/>
        <pc:sldMkLst>
          <pc:docMk/>
          <pc:sldMk cId="27386038" sldId="386"/>
        </pc:sldMkLst>
        <pc:graphicFrameChg chg="add mod">
          <ac:chgData name="KALAITZOGLOU Iordanis" userId="59a78b65-5149-4b7e-9a03-bcb365d691a2" providerId="ADAL" clId="{DD3CBDC3-F255-4437-BA5F-C63C0C4F1C5E}" dt="2026-09-27T11:21:56.847" v="84"/>
          <ac:graphicFrameMkLst>
            <pc:docMk/>
            <pc:sldMk cId="27386038" sldId="386"/>
            <ac:graphicFrameMk id="5" creationId="{00000000-0008-0000-0100-000048000000}"/>
          </ac:graphicFrameMkLst>
        </pc:graphicFrameChg>
      </pc:sldChg>
      <pc:sldChg chg="ord">
        <pc:chgData name="KALAITZOGLOU Iordanis" userId="59a78b65-5149-4b7e-9a03-bcb365d691a2" providerId="ADAL" clId="{DD3CBDC3-F255-4437-BA5F-C63C0C4F1C5E}" dt="2026-09-27T11:47:32.423" v="216"/>
        <pc:sldMkLst>
          <pc:docMk/>
          <pc:sldMk cId="34005958" sldId="408"/>
        </pc:sldMkLst>
      </pc:sldChg>
      <pc:sldChg chg="modSp">
        <pc:chgData name="KALAITZOGLOU Iordanis" userId="59a78b65-5149-4b7e-9a03-bcb365d691a2" providerId="ADAL" clId="{DD3CBDC3-F255-4437-BA5F-C63C0C4F1C5E}" dt="2026-09-27T10:06:06.304" v="35" actId="20577"/>
        <pc:sldMkLst>
          <pc:docMk/>
          <pc:sldMk cId="1185015548" sldId="410"/>
        </pc:sldMkLst>
        <pc:spChg chg="mod">
          <ac:chgData name="KALAITZOGLOU Iordanis" userId="59a78b65-5149-4b7e-9a03-bcb365d691a2" providerId="ADAL" clId="{DD3CBDC3-F255-4437-BA5F-C63C0C4F1C5E}" dt="2026-09-27T10:06:06.304" v="35" actId="20577"/>
          <ac:spMkLst>
            <pc:docMk/>
            <pc:sldMk cId="1185015548" sldId="410"/>
            <ac:spMk id="3" creationId="{00000000-0000-0000-0000-000000000000}"/>
          </ac:spMkLst>
        </pc:spChg>
      </pc:sldChg>
      <pc:sldChg chg="add del">
        <pc:chgData name="KALAITZOGLOU Iordanis" userId="59a78b65-5149-4b7e-9a03-bcb365d691a2" providerId="ADAL" clId="{DD3CBDC3-F255-4437-BA5F-C63C0C4F1C5E}" dt="2026-09-27T09:42:48.541" v="2"/>
        <pc:sldMkLst>
          <pc:docMk/>
          <pc:sldMk cId="0" sldId="751"/>
        </pc:sldMkLst>
      </pc:sldChg>
      <pc:sldChg chg="modSp add del">
        <pc:chgData name="KALAITZOGLOU Iordanis" userId="59a78b65-5149-4b7e-9a03-bcb365d691a2" providerId="ADAL" clId="{DD3CBDC3-F255-4437-BA5F-C63C0C4F1C5E}" dt="2026-09-27T09:42:48.541" v="2"/>
        <pc:sldMkLst>
          <pc:docMk/>
          <pc:sldMk cId="1724074355" sldId="831"/>
        </pc:sldMkLst>
        <pc:spChg chg="mod">
          <ac:chgData name="KALAITZOGLOU Iordanis" userId="59a78b65-5149-4b7e-9a03-bcb365d691a2" providerId="ADAL" clId="{DD3CBDC3-F255-4437-BA5F-C63C0C4F1C5E}" dt="2026-09-27T09:42:48.501" v="1"/>
          <ac:spMkLst>
            <pc:docMk/>
            <pc:sldMk cId="1724074355" sldId="831"/>
            <ac:spMk id="2" creationId="{173D0751-5610-439F-A51F-4CAD170939B1}"/>
          </ac:spMkLst>
        </pc:spChg>
      </pc:sldChg>
      <pc:sldChg chg="add del">
        <pc:chgData name="KALAITZOGLOU Iordanis" userId="59a78b65-5149-4b7e-9a03-bcb365d691a2" providerId="ADAL" clId="{DD3CBDC3-F255-4437-BA5F-C63C0C4F1C5E}" dt="2026-09-27T09:44:12.592" v="5"/>
        <pc:sldMkLst>
          <pc:docMk/>
          <pc:sldMk cId="0" sldId="832"/>
        </pc:sldMkLst>
      </pc:sldChg>
      <pc:sldChg chg="ord">
        <pc:chgData name="KALAITZOGLOU Iordanis" userId="59a78b65-5149-4b7e-9a03-bcb365d691a2" providerId="ADAL" clId="{DD3CBDC3-F255-4437-BA5F-C63C0C4F1C5E}" dt="2026-09-27T10:39:49.806" v="43"/>
        <pc:sldMkLst>
          <pc:docMk/>
          <pc:sldMk cId="3625042275" sldId="835"/>
        </pc:sldMkLst>
      </pc:sldChg>
      <pc:sldChg chg="modSp">
        <pc:chgData name="KALAITZOGLOU Iordanis" userId="59a78b65-5149-4b7e-9a03-bcb365d691a2" providerId="ADAL" clId="{DD3CBDC3-F255-4437-BA5F-C63C0C4F1C5E}" dt="2026-09-27T10:45:26.955" v="45" actId="12269"/>
        <pc:sldMkLst>
          <pc:docMk/>
          <pc:sldMk cId="3021983425" sldId="836"/>
        </pc:sldMkLst>
        <pc:graphicFrameChg chg="mod">
          <ac:chgData name="KALAITZOGLOU Iordanis" userId="59a78b65-5149-4b7e-9a03-bcb365d691a2" providerId="ADAL" clId="{DD3CBDC3-F255-4437-BA5F-C63C0C4F1C5E}" dt="2026-09-27T10:45:26.955" v="45" actId="12269"/>
          <ac:graphicFrameMkLst>
            <pc:docMk/>
            <pc:sldMk cId="3021983425" sldId="836"/>
            <ac:graphicFrameMk id="5" creationId="{F70E09FC-D63B-A8C9-2509-B5B12E72653E}"/>
          </ac:graphicFrameMkLst>
        </pc:graphicFrameChg>
      </pc:sldChg>
      <pc:sldChg chg="addSp delSp modSp">
        <pc:chgData name="KALAITZOGLOU Iordanis" userId="59a78b65-5149-4b7e-9a03-bcb365d691a2" providerId="ADAL" clId="{DD3CBDC3-F255-4437-BA5F-C63C0C4F1C5E}" dt="2026-09-27T11:07:45.668" v="68" actId="13782"/>
        <pc:sldMkLst>
          <pc:docMk/>
          <pc:sldMk cId="2884754864" sldId="837"/>
        </pc:sldMkLst>
        <pc:spChg chg="del">
          <ac:chgData name="KALAITZOGLOU Iordanis" userId="59a78b65-5149-4b7e-9a03-bcb365d691a2" providerId="ADAL" clId="{DD3CBDC3-F255-4437-BA5F-C63C0C4F1C5E}" dt="2026-09-27T11:07:25.751" v="67" actId="12084"/>
          <ac:spMkLst>
            <pc:docMk/>
            <pc:sldMk cId="2884754864" sldId="837"/>
            <ac:spMk id="3" creationId="{2A9537DD-DD21-5790-84B1-990CA11F44E9}"/>
          </ac:spMkLst>
        </pc:spChg>
        <pc:graphicFrameChg chg="add mod">
          <ac:chgData name="KALAITZOGLOU Iordanis" userId="59a78b65-5149-4b7e-9a03-bcb365d691a2" providerId="ADAL" clId="{DD3CBDC3-F255-4437-BA5F-C63C0C4F1C5E}" dt="2026-09-27T11:07:45.668" v="68" actId="13782"/>
          <ac:graphicFrameMkLst>
            <pc:docMk/>
            <pc:sldMk cId="2884754864" sldId="837"/>
            <ac:graphicFrameMk id="5" creationId="{AA5F12C3-EDCE-363B-F232-AA7025589A38}"/>
          </ac:graphicFrameMkLst>
        </pc:graphicFrameChg>
      </pc:sldChg>
      <pc:sldChg chg="modSp add del">
        <pc:chgData name="KALAITZOGLOU Iordanis" userId="59a78b65-5149-4b7e-9a03-bcb365d691a2" providerId="ADAL" clId="{DD3CBDC3-F255-4437-BA5F-C63C0C4F1C5E}" dt="2026-09-27T11:13:09.172" v="70"/>
        <pc:sldMkLst>
          <pc:docMk/>
          <pc:sldMk cId="1361011576" sldId="838"/>
        </pc:sldMkLst>
        <pc:spChg chg="mod">
          <ac:chgData name="KALAITZOGLOU Iordanis" userId="59a78b65-5149-4b7e-9a03-bcb365d691a2" providerId="ADAL" clId="{DD3CBDC3-F255-4437-BA5F-C63C0C4F1C5E}" dt="2026-09-27T11:13:09.172" v="70"/>
          <ac:spMkLst>
            <pc:docMk/>
            <pc:sldMk cId="1361011576" sldId="838"/>
            <ac:spMk id="2" creationId="{7759F064-D5A4-0B0F-30F7-A97F1947EFD1}"/>
          </ac:spMkLst>
        </pc:spChg>
      </pc:sldChg>
      <pc:sldChg chg="addSp modSp add">
        <pc:chgData name="KALAITZOGLOU Iordanis" userId="59a78b65-5149-4b7e-9a03-bcb365d691a2" providerId="ADAL" clId="{DD3CBDC3-F255-4437-BA5F-C63C0C4F1C5E}" dt="2026-09-27T11:14:04.779" v="72"/>
        <pc:sldMkLst>
          <pc:docMk/>
          <pc:sldMk cId="4099022163" sldId="838"/>
        </pc:sldMkLst>
        <pc:cxnChg chg="add mod">
          <ac:chgData name="KALAITZOGLOU Iordanis" userId="59a78b65-5149-4b7e-9a03-bcb365d691a2" providerId="ADAL" clId="{DD3CBDC3-F255-4437-BA5F-C63C0C4F1C5E}" dt="2026-09-27T11:14:04.779" v="72"/>
          <ac:cxnSpMkLst>
            <pc:docMk/>
            <pc:sldMk cId="4099022163" sldId="838"/>
            <ac:cxnSpMk id="5" creationId="{93D6AB09-40BB-03FF-BDEA-A9B0575678D1}"/>
          </ac:cxnSpMkLst>
        </pc:cxnChg>
      </pc:sldChg>
      <pc:sldChg chg="addSp delSp modSp">
        <pc:chgData name="KALAITZOGLOU Iordanis" userId="59a78b65-5149-4b7e-9a03-bcb365d691a2" providerId="ADAL" clId="{DD3CBDC3-F255-4437-BA5F-C63C0C4F1C5E}" dt="2026-09-27T11:45:12.779" v="213" actId="20577"/>
        <pc:sldMkLst>
          <pc:docMk/>
          <pc:sldMk cId="3207430546" sldId="840"/>
        </pc:sldMkLst>
        <pc:spChg chg="del mod">
          <ac:chgData name="KALAITZOGLOU Iordanis" userId="59a78b65-5149-4b7e-9a03-bcb365d691a2" providerId="ADAL" clId="{DD3CBDC3-F255-4437-BA5F-C63C0C4F1C5E}" dt="2026-09-27T11:42:21.165" v="179" actId="12084"/>
          <ac:spMkLst>
            <pc:docMk/>
            <pc:sldMk cId="3207430546" sldId="840"/>
            <ac:spMk id="3" creationId="{74EB42EC-0CF8-4500-6353-84A4546D3D1D}"/>
          </ac:spMkLst>
        </pc:spChg>
        <pc:graphicFrameChg chg="add mod">
          <ac:chgData name="KALAITZOGLOU Iordanis" userId="59a78b65-5149-4b7e-9a03-bcb365d691a2" providerId="ADAL" clId="{DD3CBDC3-F255-4437-BA5F-C63C0C4F1C5E}" dt="2026-09-27T11:45:12.779" v="213" actId="20577"/>
          <ac:graphicFrameMkLst>
            <pc:docMk/>
            <pc:sldMk cId="3207430546" sldId="840"/>
            <ac:graphicFrameMk id="5" creationId="{A4E0A09B-3910-8C6A-7E2A-550F4515B320}"/>
          </ac:graphicFrameMkLst>
        </pc:graphicFrameChg>
      </pc:sldChg>
      <pc:sldChg chg="add">
        <pc:chgData name="KALAITZOGLOU Iordanis" userId="59a78b65-5149-4b7e-9a03-bcb365d691a2" providerId="ADAL" clId="{DD3CBDC3-F255-4437-BA5F-C63C0C4F1C5E}" dt="2026-09-27T11:49:04.837" v="217"/>
        <pc:sldMkLst>
          <pc:docMk/>
          <pc:sldMk cId="371801566" sldId="841"/>
        </pc:sldMkLst>
      </pc:sldChg>
      <pc:sldChg chg="modSp add del mod">
        <pc:chgData name="KALAITZOGLOU Iordanis" userId="59a78b65-5149-4b7e-9a03-bcb365d691a2" providerId="ADAL" clId="{DD3CBDC3-F255-4437-BA5F-C63C0C4F1C5E}" dt="2026-09-27T16:46:15.190" v="268"/>
        <pc:sldMkLst>
          <pc:docMk/>
          <pc:sldMk cId="407610172" sldId="841"/>
        </pc:sldMkLst>
        <pc:spChg chg="mod">
          <ac:chgData name="KALAITZOGLOU Iordanis" userId="59a78b65-5149-4b7e-9a03-bcb365d691a2" providerId="ADAL" clId="{DD3CBDC3-F255-4437-BA5F-C63C0C4F1C5E}" dt="2026-09-27T16:46:15.190" v="268"/>
          <ac:spMkLst>
            <pc:docMk/>
            <pc:sldMk cId="407610172" sldId="841"/>
            <ac:spMk id="359426" creationId="{00000000-0000-0000-0000-000000000000}"/>
          </ac:spMkLst>
        </pc:spChg>
      </pc:sldChg>
      <pc:sldChg chg="modSp add del mod modNotes">
        <pc:chgData name="KALAITZOGLOU Iordanis" userId="59a78b65-5149-4b7e-9a03-bcb365d691a2" providerId="ADAL" clId="{DD3CBDC3-F255-4437-BA5F-C63C0C4F1C5E}" dt="2026-09-27T16:46:15.190" v="268"/>
        <pc:sldMkLst>
          <pc:docMk/>
          <pc:sldMk cId="4219344322" sldId="842"/>
        </pc:sldMkLst>
        <pc:spChg chg="mod">
          <ac:chgData name="KALAITZOGLOU Iordanis" userId="59a78b65-5149-4b7e-9a03-bcb365d691a2" providerId="ADAL" clId="{DD3CBDC3-F255-4437-BA5F-C63C0C4F1C5E}" dt="2026-09-27T16:46:15.190" v="268"/>
          <ac:spMkLst>
            <pc:docMk/>
            <pc:sldMk cId="4219344322" sldId="842"/>
            <ac:spMk id="179202" creationId="{00000000-0000-0000-0000-000000000000}"/>
          </ac:spMkLst>
        </pc:spChg>
        <pc:spChg chg="mod">
          <ac:chgData name="KALAITZOGLOU Iordanis" userId="59a78b65-5149-4b7e-9a03-bcb365d691a2" providerId="ADAL" clId="{DD3CBDC3-F255-4437-BA5F-C63C0C4F1C5E}" dt="2026-09-27T16:46:15.190" v="268"/>
          <ac:spMkLst>
            <pc:docMk/>
            <pc:sldMk cId="4219344322" sldId="842"/>
            <ac:spMk id="179203" creationId="{00000000-0000-0000-0000-000000000000}"/>
          </ac:spMkLst>
        </pc:spChg>
      </pc:sldChg>
      <pc:sldChg chg="modSp add del mod modNotes">
        <pc:chgData name="KALAITZOGLOU Iordanis" userId="59a78b65-5149-4b7e-9a03-bcb365d691a2" providerId="ADAL" clId="{DD3CBDC3-F255-4437-BA5F-C63C0C4F1C5E}" dt="2026-09-27T16:46:15.190" v="268"/>
        <pc:sldMkLst>
          <pc:docMk/>
          <pc:sldMk cId="701725749" sldId="843"/>
        </pc:sldMkLst>
        <pc:spChg chg="mod">
          <ac:chgData name="KALAITZOGLOU Iordanis" userId="59a78b65-5149-4b7e-9a03-bcb365d691a2" providerId="ADAL" clId="{DD3CBDC3-F255-4437-BA5F-C63C0C4F1C5E}" dt="2026-09-27T16:46:15.190" v="268"/>
          <ac:spMkLst>
            <pc:docMk/>
            <pc:sldMk cId="701725749" sldId="843"/>
            <ac:spMk id="2" creationId="{00000000-0000-0000-0000-000000000000}"/>
          </ac:spMkLst>
        </pc:spChg>
        <pc:spChg chg="mod">
          <ac:chgData name="KALAITZOGLOU Iordanis" userId="59a78b65-5149-4b7e-9a03-bcb365d691a2" providerId="ADAL" clId="{DD3CBDC3-F255-4437-BA5F-C63C0C4F1C5E}" dt="2026-09-27T16:46:15.190" v="268"/>
          <ac:spMkLst>
            <pc:docMk/>
            <pc:sldMk cId="701725749" sldId="843"/>
            <ac:spMk id="3" creationId="{00000000-0000-0000-0000-000000000000}"/>
          </ac:spMkLst>
        </pc:spChg>
      </pc:sldChg>
      <pc:sldChg chg="modSp add del mod">
        <pc:chgData name="KALAITZOGLOU Iordanis" userId="59a78b65-5149-4b7e-9a03-bcb365d691a2" providerId="ADAL" clId="{DD3CBDC3-F255-4437-BA5F-C63C0C4F1C5E}" dt="2026-09-27T16:46:15.190" v="268"/>
        <pc:sldMkLst>
          <pc:docMk/>
          <pc:sldMk cId="1083857112" sldId="844"/>
        </pc:sldMkLst>
        <pc:spChg chg="mod">
          <ac:chgData name="KALAITZOGLOU Iordanis" userId="59a78b65-5149-4b7e-9a03-bcb365d691a2" providerId="ADAL" clId="{DD3CBDC3-F255-4437-BA5F-C63C0C4F1C5E}" dt="2026-09-27T16:46:15.190" v="268"/>
          <ac:spMkLst>
            <pc:docMk/>
            <pc:sldMk cId="1083857112" sldId="844"/>
            <ac:spMk id="180227" creationId="{00000000-0000-0000-0000-000000000000}"/>
          </ac:spMkLst>
        </pc:spChg>
      </pc:sldChg>
      <pc:sldChg chg="add del modNotes">
        <pc:chgData name="KALAITZOGLOU Iordanis" userId="59a78b65-5149-4b7e-9a03-bcb365d691a2" providerId="ADAL" clId="{DD3CBDC3-F255-4437-BA5F-C63C0C4F1C5E}" dt="2026-09-27T16:46:15.190" v="268"/>
        <pc:sldMkLst>
          <pc:docMk/>
          <pc:sldMk cId="594078168" sldId="845"/>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Worksheet%20in%20Lecture%203-Cash%20Flows"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3.xml.rels><?xml version="1.0" encoding="UTF-8" standalone="yes"?>
<Relationships xmlns="http://schemas.openxmlformats.org/package/2006/relationships"><Relationship Id="rId3" Type="http://schemas.openxmlformats.org/officeDocument/2006/relationships/oleObject" Target="Worksheet%20in%20Lecture%203-Cash%20Flows"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oleObject" Target="file:///E:\Jordan\Teaching\Audencia\Corporate%20Valuation\Lectures\Lecture%203-Cash%20Flows-Growth%20Rate\Disney%20EPS.xlsx" TargetMode="External"/><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r>
              <a:rPr lang="en-GB"/>
              <a:t>Trailing</a:t>
            </a:r>
            <a:r>
              <a:rPr lang="en-GB" baseline="0"/>
              <a:t> EPS - DISNEY</a:t>
            </a:r>
            <a:endParaRPr lang="en-GB"/>
          </a:p>
        </c:rich>
      </c:tx>
      <c:overlay val="0"/>
      <c:spPr>
        <a:noFill/>
        <a:ln>
          <a:noFill/>
        </a:ln>
        <a:effectLst/>
      </c:spPr>
      <c:txPr>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endParaRPr lang="en-GB"/>
        </a:p>
      </c:txPr>
    </c:title>
    <c:autoTitleDeleted val="0"/>
    <c:plotArea>
      <c:layout/>
      <c:lineChart>
        <c:grouping val="standard"/>
        <c:varyColors val="0"/>
        <c:ser>
          <c:idx val="0"/>
          <c:order val="0"/>
          <c:tx>
            <c:strRef>
              <c:f>'[Worksheet in Lecture 3-Cash Flows]Disney EPS'!$C$3</c:f>
              <c:strCache>
                <c:ptCount val="1"/>
                <c:pt idx="0">
                  <c:v>EPS</c:v>
                </c:pt>
              </c:strCache>
            </c:strRef>
          </c:tx>
          <c:spPr>
            <a:ln w="22225" cap="rnd">
              <a:solidFill>
                <a:schemeClr val="accent1"/>
              </a:solidFill>
            </a:ln>
            <a:effectLst>
              <a:glow rad="139700">
                <a:schemeClr val="accent1">
                  <a:satMod val="175000"/>
                  <a:alpha val="14000"/>
                </a:schemeClr>
              </a:glow>
            </a:effectLst>
          </c:spPr>
          <c:marker>
            <c:symbol val="none"/>
          </c:marker>
          <c:trendline>
            <c:name>Linear Projection EPS</c:name>
            <c:spPr>
              <a:ln w="25400" cap="rnd">
                <a:solidFill>
                  <a:schemeClr val="accent1">
                    <a:alpha val="50000"/>
                  </a:schemeClr>
                </a:solidFill>
              </a:ln>
              <a:effectLst/>
            </c:spPr>
            <c:trendlineType val="linear"/>
            <c:dispRSqr val="0"/>
            <c:dispEq val="0"/>
          </c:trendline>
          <c:cat>
            <c:numRef>
              <c:f>'[Worksheet in Lecture 3-Cash Flows]Disney EPS'!$B$4:$B$21</c:f>
              <c:numCache>
                <c:formatCode>General</c:formatCode>
                <c:ptCount val="18"/>
                <c:pt idx="0">
                  <c:v>2026</c:v>
                </c:pt>
                <c:pt idx="1">
                  <c:v>2025</c:v>
                </c:pt>
                <c:pt idx="2">
                  <c:v>2024</c:v>
                </c:pt>
                <c:pt idx="3">
                  <c:v>2023</c:v>
                </c:pt>
                <c:pt idx="4">
                  <c:v>2022</c:v>
                </c:pt>
                <c:pt idx="5">
                  <c:v>2021</c:v>
                </c:pt>
                <c:pt idx="6">
                  <c:v>2020</c:v>
                </c:pt>
                <c:pt idx="7">
                  <c:v>2019</c:v>
                </c:pt>
                <c:pt idx="8">
                  <c:v>2018</c:v>
                </c:pt>
                <c:pt idx="9">
                  <c:v>2017</c:v>
                </c:pt>
                <c:pt idx="10">
                  <c:v>2016</c:v>
                </c:pt>
                <c:pt idx="11">
                  <c:v>2015</c:v>
                </c:pt>
                <c:pt idx="12">
                  <c:v>2014</c:v>
                </c:pt>
                <c:pt idx="13">
                  <c:v>2013</c:v>
                </c:pt>
                <c:pt idx="14">
                  <c:v>2012</c:v>
                </c:pt>
                <c:pt idx="15">
                  <c:v>2011</c:v>
                </c:pt>
                <c:pt idx="16">
                  <c:v>2010</c:v>
                </c:pt>
                <c:pt idx="17">
                  <c:v>2009</c:v>
                </c:pt>
              </c:numCache>
            </c:numRef>
          </c:cat>
          <c:val>
            <c:numRef>
              <c:f>'[Worksheet in Lecture 3-Cash Flows]Disney EPS'!$C$4:$C$21</c:f>
              <c:numCache>
                <c:formatCode>0.00</c:formatCode>
                <c:ptCount val="18"/>
                <c:pt idx="1">
                  <c:v>6.85</c:v>
                </c:pt>
                <c:pt idx="2">
                  <c:v>2.72</c:v>
                </c:pt>
                <c:pt idx="3">
                  <c:v>1.29</c:v>
                </c:pt>
                <c:pt idx="4">
                  <c:v>1.72</c:v>
                </c:pt>
                <c:pt idx="5">
                  <c:v>1.0900000000000001</c:v>
                </c:pt>
                <c:pt idx="6">
                  <c:v>-1.58</c:v>
                </c:pt>
                <c:pt idx="7">
                  <c:v>6.64</c:v>
                </c:pt>
                <c:pt idx="8">
                  <c:v>8.36</c:v>
                </c:pt>
                <c:pt idx="9">
                  <c:v>5.69</c:v>
                </c:pt>
                <c:pt idx="10">
                  <c:v>5.73</c:v>
                </c:pt>
                <c:pt idx="11">
                  <c:v>4.9000000000000004</c:v>
                </c:pt>
                <c:pt idx="12">
                  <c:v>4.26</c:v>
                </c:pt>
                <c:pt idx="13">
                  <c:v>3.38</c:v>
                </c:pt>
                <c:pt idx="14">
                  <c:v>3.13</c:v>
                </c:pt>
                <c:pt idx="15">
                  <c:v>2.52</c:v>
                </c:pt>
                <c:pt idx="16">
                  <c:v>2.0299999999999998</c:v>
                </c:pt>
                <c:pt idx="17">
                  <c:v>1.76</c:v>
                </c:pt>
              </c:numCache>
            </c:numRef>
          </c:val>
          <c:smooth val="0"/>
          <c:extLst>
            <c:ext xmlns:c16="http://schemas.microsoft.com/office/drawing/2014/chart" uri="{C3380CC4-5D6E-409C-BE32-E72D297353CC}">
              <c16:uniqueId val="{00000001-6454-41A8-A062-D04F2DB15230}"/>
            </c:ext>
          </c:extLst>
        </c:ser>
        <c:ser>
          <c:idx val="1"/>
          <c:order val="1"/>
          <c:tx>
            <c:strRef>
              <c:f>'[Worksheet in Lecture 3-Cash Flows]Disney EPS'!$D$3</c:f>
              <c:strCache>
                <c:ptCount val="1"/>
                <c:pt idx="0">
                  <c:v>Trailing EPS</c:v>
                </c:pt>
              </c:strCache>
            </c:strRef>
          </c:tx>
          <c:spPr>
            <a:ln w="22225" cap="rnd">
              <a:solidFill>
                <a:schemeClr val="accent2"/>
              </a:solidFill>
            </a:ln>
            <a:effectLst>
              <a:glow rad="139700">
                <a:schemeClr val="accent2">
                  <a:satMod val="175000"/>
                  <a:alpha val="14000"/>
                </a:schemeClr>
              </a:glow>
            </a:effectLst>
          </c:spPr>
          <c:marker>
            <c:symbol val="none"/>
          </c:marker>
          <c:cat>
            <c:numRef>
              <c:f>'[Worksheet in Lecture 3-Cash Flows]Disney EPS'!$B$4:$B$21</c:f>
              <c:numCache>
                <c:formatCode>General</c:formatCode>
                <c:ptCount val="18"/>
                <c:pt idx="0">
                  <c:v>2026</c:v>
                </c:pt>
                <c:pt idx="1">
                  <c:v>2025</c:v>
                </c:pt>
                <c:pt idx="2">
                  <c:v>2024</c:v>
                </c:pt>
                <c:pt idx="3">
                  <c:v>2023</c:v>
                </c:pt>
                <c:pt idx="4">
                  <c:v>2022</c:v>
                </c:pt>
                <c:pt idx="5">
                  <c:v>2021</c:v>
                </c:pt>
                <c:pt idx="6">
                  <c:v>2020</c:v>
                </c:pt>
                <c:pt idx="7">
                  <c:v>2019</c:v>
                </c:pt>
                <c:pt idx="8">
                  <c:v>2018</c:v>
                </c:pt>
                <c:pt idx="9">
                  <c:v>2017</c:v>
                </c:pt>
                <c:pt idx="10">
                  <c:v>2016</c:v>
                </c:pt>
                <c:pt idx="11">
                  <c:v>2015</c:v>
                </c:pt>
                <c:pt idx="12">
                  <c:v>2014</c:v>
                </c:pt>
                <c:pt idx="13">
                  <c:v>2013</c:v>
                </c:pt>
                <c:pt idx="14">
                  <c:v>2012</c:v>
                </c:pt>
                <c:pt idx="15">
                  <c:v>2011</c:v>
                </c:pt>
                <c:pt idx="16">
                  <c:v>2010</c:v>
                </c:pt>
                <c:pt idx="17">
                  <c:v>2009</c:v>
                </c:pt>
              </c:numCache>
            </c:numRef>
          </c:cat>
          <c:val>
            <c:numRef>
              <c:f>'[Worksheet in Lecture 3-Cash Flows]Disney EPS'!$D$4:$D$21</c:f>
              <c:numCache>
                <c:formatCode>0.00</c:formatCode>
                <c:ptCount val="18"/>
                <c:pt idx="0">
                  <c:v>6.3099999999999987</c:v>
                </c:pt>
                <c:pt idx="1">
                  <c:v>4.54</c:v>
                </c:pt>
                <c:pt idx="2">
                  <c:v>0.59000000000000008</c:v>
                </c:pt>
                <c:pt idx="3">
                  <c:v>2.1500000000000004</c:v>
                </c:pt>
                <c:pt idx="4">
                  <c:v>0.8600000000000001</c:v>
                </c:pt>
                <c:pt idx="5">
                  <c:v>-1.34</c:v>
                </c:pt>
                <c:pt idx="6">
                  <c:v>3.34</c:v>
                </c:pt>
                <c:pt idx="7">
                  <c:v>9.9600000000000009</c:v>
                </c:pt>
                <c:pt idx="8">
                  <c:v>6.1400000000000006</c:v>
                </c:pt>
                <c:pt idx="9">
                  <c:v>5.9300000000000006</c:v>
                </c:pt>
                <c:pt idx="10">
                  <c:v>4.9700000000000006</c:v>
                </c:pt>
                <c:pt idx="11">
                  <c:v>4.41</c:v>
                </c:pt>
                <c:pt idx="12">
                  <c:v>3.63</c:v>
                </c:pt>
                <c:pt idx="13">
                  <c:v>3.33</c:v>
                </c:pt>
                <c:pt idx="14">
                  <c:v>2.66</c:v>
                </c:pt>
                <c:pt idx="15">
                  <c:v>2.0399999999999996</c:v>
                </c:pt>
                <c:pt idx="16" formatCode="General">
                  <c:v>1.9100000000000001</c:v>
                </c:pt>
              </c:numCache>
            </c:numRef>
          </c:val>
          <c:smooth val="0"/>
          <c:extLst>
            <c:ext xmlns:c16="http://schemas.microsoft.com/office/drawing/2014/chart" uri="{C3380CC4-5D6E-409C-BE32-E72D297353CC}">
              <c16:uniqueId val="{00000002-6454-41A8-A062-D04F2DB15230}"/>
            </c:ext>
          </c:extLst>
        </c:ser>
        <c:dLbls>
          <c:showLegendKey val="0"/>
          <c:showVal val="0"/>
          <c:showCatName val="0"/>
          <c:showSerName val="0"/>
          <c:showPercent val="0"/>
          <c:showBubbleSize val="0"/>
        </c:dLbls>
        <c:smooth val="0"/>
        <c:axId val="1546542400"/>
        <c:axId val="1546533280"/>
      </c:lineChart>
      <c:catAx>
        <c:axId val="1546542400"/>
        <c:scaling>
          <c:orientation val="maxMin"/>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2340000" spcFirstLastPara="1" vertOverflow="ellipsis"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546533280"/>
        <c:crosses val="autoZero"/>
        <c:auto val="1"/>
        <c:lblAlgn val="ctr"/>
        <c:lblOffset val="100"/>
        <c:noMultiLvlLbl val="0"/>
      </c:catAx>
      <c:valAx>
        <c:axId val="1546533280"/>
        <c:scaling>
          <c:orientation val="minMax"/>
        </c:scaling>
        <c:delete val="0"/>
        <c:axPos val="r"/>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54654240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GB" dirty="0"/>
              <a:t>BP-EPS</a:t>
            </a:r>
          </a:p>
        </c:rich>
      </c:tx>
      <c:overlay val="1"/>
    </c:title>
    <c:autoTitleDeleted val="0"/>
    <c:plotArea>
      <c:layout/>
      <c:lineChart>
        <c:grouping val="standard"/>
        <c:varyColors val="0"/>
        <c:ser>
          <c:idx val="0"/>
          <c:order val="0"/>
          <c:tx>
            <c:strRef>
              <c:f>Sheet2!$E$2</c:f>
              <c:strCache>
                <c:ptCount val="1"/>
                <c:pt idx="0">
                  <c:v>Adjusted</c:v>
                </c:pt>
              </c:strCache>
            </c:strRef>
          </c:tx>
          <c:marker>
            <c:symbol val="none"/>
          </c:marker>
          <c:cat>
            <c:strRef>
              <c:f>Sheet2!$D$3:$D$30</c:f>
              <c:strCache>
                <c:ptCount val="28"/>
                <c:pt idx="0">
                  <c:v>Q3 2013</c:v>
                </c:pt>
                <c:pt idx="1">
                  <c:v>Q2 2013</c:v>
                </c:pt>
                <c:pt idx="2">
                  <c:v>Q1 2013</c:v>
                </c:pt>
                <c:pt idx="3">
                  <c:v>Q4 2012</c:v>
                </c:pt>
                <c:pt idx="4">
                  <c:v>Q3 2012</c:v>
                </c:pt>
                <c:pt idx="5">
                  <c:v>Q2 2012</c:v>
                </c:pt>
                <c:pt idx="6">
                  <c:v>Q1 2012</c:v>
                </c:pt>
                <c:pt idx="7">
                  <c:v>Q4 2011</c:v>
                </c:pt>
                <c:pt idx="8">
                  <c:v>Q3 2011</c:v>
                </c:pt>
                <c:pt idx="9">
                  <c:v>Q2 2011</c:v>
                </c:pt>
                <c:pt idx="10">
                  <c:v>Q1 2011</c:v>
                </c:pt>
                <c:pt idx="11">
                  <c:v>Q4 2010</c:v>
                </c:pt>
                <c:pt idx="12">
                  <c:v>Q3 2010</c:v>
                </c:pt>
                <c:pt idx="13">
                  <c:v>Q2 2010</c:v>
                </c:pt>
                <c:pt idx="14">
                  <c:v>Q1 2010</c:v>
                </c:pt>
                <c:pt idx="15">
                  <c:v>Q4 2009</c:v>
                </c:pt>
                <c:pt idx="16">
                  <c:v>Q3 2009</c:v>
                </c:pt>
                <c:pt idx="17">
                  <c:v>Q2 2009</c:v>
                </c:pt>
                <c:pt idx="18">
                  <c:v>Q1 2009</c:v>
                </c:pt>
                <c:pt idx="19">
                  <c:v>Q4 2008</c:v>
                </c:pt>
                <c:pt idx="20">
                  <c:v>Q3 2008</c:v>
                </c:pt>
                <c:pt idx="21">
                  <c:v>Q2 2008</c:v>
                </c:pt>
                <c:pt idx="22">
                  <c:v>Q1 2008</c:v>
                </c:pt>
                <c:pt idx="23">
                  <c:v>Q4 2007</c:v>
                </c:pt>
                <c:pt idx="24">
                  <c:v>Q3 2007</c:v>
                </c:pt>
                <c:pt idx="25">
                  <c:v>Q2 2007</c:v>
                </c:pt>
                <c:pt idx="26">
                  <c:v>Q1 2007</c:v>
                </c:pt>
                <c:pt idx="27">
                  <c:v>Q4 2006</c:v>
                </c:pt>
              </c:strCache>
            </c:strRef>
          </c:cat>
          <c:val>
            <c:numRef>
              <c:f>Sheet2!$E$3:$E$30</c:f>
              <c:numCache>
                <c:formatCode>General</c:formatCode>
                <c:ptCount val="28"/>
                <c:pt idx="0">
                  <c:v>1.18</c:v>
                </c:pt>
                <c:pt idx="1">
                  <c:v>0.85</c:v>
                </c:pt>
                <c:pt idx="2">
                  <c:v>1.31</c:v>
                </c:pt>
                <c:pt idx="3">
                  <c:v>1.25</c:v>
                </c:pt>
                <c:pt idx="4">
                  <c:v>1.63</c:v>
                </c:pt>
                <c:pt idx="5">
                  <c:v>1.1599999999999999</c:v>
                </c:pt>
                <c:pt idx="6">
                  <c:v>1.52</c:v>
                </c:pt>
                <c:pt idx="7">
                  <c:v>2.41</c:v>
                </c:pt>
                <c:pt idx="8">
                  <c:v>1.63</c:v>
                </c:pt>
                <c:pt idx="9">
                  <c:v>1.69</c:v>
                </c:pt>
                <c:pt idx="10">
                  <c:v>1.75</c:v>
                </c:pt>
                <c:pt idx="11">
                  <c:v>1.39</c:v>
                </c:pt>
                <c:pt idx="12">
                  <c:v>1.77</c:v>
                </c:pt>
                <c:pt idx="13">
                  <c:v>1.66</c:v>
                </c:pt>
                <c:pt idx="14">
                  <c:v>1.79</c:v>
                </c:pt>
                <c:pt idx="15">
                  <c:v>1.4</c:v>
                </c:pt>
                <c:pt idx="16">
                  <c:v>1.5</c:v>
                </c:pt>
                <c:pt idx="17">
                  <c:v>0.94</c:v>
                </c:pt>
                <c:pt idx="18">
                  <c:v>0.83</c:v>
                </c:pt>
                <c:pt idx="19">
                  <c:v>0.84</c:v>
                </c:pt>
                <c:pt idx="20">
                  <c:v>2.84</c:v>
                </c:pt>
                <c:pt idx="21">
                  <c:v>2.72</c:v>
                </c:pt>
                <c:pt idx="22">
                  <c:v>1.98</c:v>
                </c:pt>
                <c:pt idx="23">
                  <c:v>1.27</c:v>
                </c:pt>
                <c:pt idx="24">
                  <c:v>1.33</c:v>
                </c:pt>
                <c:pt idx="25">
                  <c:v>2.29</c:v>
                </c:pt>
                <c:pt idx="26">
                  <c:v>1.24</c:v>
                </c:pt>
                <c:pt idx="27">
                  <c:v>1.21</c:v>
                </c:pt>
              </c:numCache>
            </c:numRef>
          </c:val>
          <c:smooth val="0"/>
          <c:extLst>
            <c:ext xmlns:c16="http://schemas.microsoft.com/office/drawing/2014/chart" uri="{C3380CC4-5D6E-409C-BE32-E72D297353CC}">
              <c16:uniqueId val="{00000000-DAAB-4DA4-BCFD-D8EB40522F0B}"/>
            </c:ext>
          </c:extLst>
        </c:ser>
        <c:ser>
          <c:idx val="1"/>
          <c:order val="1"/>
          <c:tx>
            <c:strRef>
              <c:f>Sheet2!$F$2</c:f>
              <c:strCache>
                <c:ptCount val="1"/>
                <c:pt idx="0">
                  <c:v>Actual</c:v>
                </c:pt>
              </c:strCache>
            </c:strRef>
          </c:tx>
          <c:marker>
            <c:symbol val="none"/>
          </c:marker>
          <c:trendline>
            <c:trendlineType val="linear"/>
            <c:dispRSqr val="0"/>
            <c:dispEq val="0"/>
          </c:trendline>
          <c:cat>
            <c:strRef>
              <c:f>Sheet2!$D$3:$D$30</c:f>
              <c:strCache>
                <c:ptCount val="28"/>
                <c:pt idx="0">
                  <c:v>Q3 2013</c:v>
                </c:pt>
                <c:pt idx="1">
                  <c:v>Q2 2013</c:v>
                </c:pt>
                <c:pt idx="2">
                  <c:v>Q1 2013</c:v>
                </c:pt>
                <c:pt idx="3">
                  <c:v>Q4 2012</c:v>
                </c:pt>
                <c:pt idx="4">
                  <c:v>Q3 2012</c:v>
                </c:pt>
                <c:pt idx="5">
                  <c:v>Q2 2012</c:v>
                </c:pt>
                <c:pt idx="6">
                  <c:v>Q1 2012</c:v>
                </c:pt>
                <c:pt idx="7">
                  <c:v>Q4 2011</c:v>
                </c:pt>
                <c:pt idx="8">
                  <c:v>Q3 2011</c:v>
                </c:pt>
                <c:pt idx="9">
                  <c:v>Q2 2011</c:v>
                </c:pt>
                <c:pt idx="10">
                  <c:v>Q1 2011</c:v>
                </c:pt>
                <c:pt idx="11">
                  <c:v>Q4 2010</c:v>
                </c:pt>
                <c:pt idx="12">
                  <c:v>Q3 2010</c:v>
                </c:pt>
                <c:pt idx="13">
                  <c:v>Q2 2010</c:v>
                </c:pt>
                <c:pt idx="14">
                  <c:v>Q1 2010</c:v>
                </c:pt>
                <c:pt idx="15">
                  <c:v>Q4 2009</c:v>
                </c:pt>
                <c:pt idx="16">
                  <c:v>Q3 2009</c:v>
                </c:pt>
                <c:pt idx="17">
                  <c:v>Q2 2009</c:v>
                </c:pt>
                <c:pt idx="18">
                  <c:v>Q1 2009</c:v>
                </c:pt>
                <c:pt idx="19">
                  <c:v>Q4 2008</c:v>
                </c:pt>
                <c:pt idx="20">
                  <c:v>Q3 2008</c:v>
                </c:pt>
                <c:pt idx="21">
                  <c:v>Q2 2008</c:v>
                </c:pt>
                <c:pt idx="22">
                  <c:v>Q1 2008</c:v>
                </c:pt>
                <c:pt idx="23">
                  <c:v>Q4 2007</c:v>
                </c:pt>
                <c:pt idx="24">
                  <c:v>Q3 2007</c:v>
                </c:pt>
                <c:pt idx="25">
                  <c:v>Q2 2007</c:v>
                </c:pt>
                <c:pt idx="26">
                  <c:v>Q1 2007</c:v>
                </c:pt>
                <c:pt idx="27">
                  <c:v>Q4 2006</c:v>
                </c:pt>
              </c:strCache>
            </c:strRef>
          </c:cat>
          <c:val>
            <c:numRef>
              <c:f>Sheet2!$F$3:$F$30</c:f>
              <c:numCache>
                <c:formatCode>General</c:formatCode>
                <c:ptCount val="28"/>
                <c:pt idx="0">
                  <c:v>1.1100000000000001</c:v>
                </c:pt>
                <c:pt idx="1">
                  <c:v>0.64</c:v>
                </c:pt>
                <c:pt idx="2">
                  <c:v>5.26</c:v>
                </c:pt>
                <c:pt idx="3">
                  <c:v>0.51</c:v>
                </c:pt>
                <c:pt idx="4">
                  <c:v>1.66</c:v>
                </c:pt>
                <c:pt idx="5">
                  <c:v>-0.48</c:v>
                </c:pt>
                <c:pt idx="6">
                  <c:v>1.8</c:v>
                </c:pt>
                <c:pt idx="7">
                  <c:v>2.4</c:v>
                </c:pt>
                <c:pt idx="8">
                  <c:v>1.58</c:v>
                </c:pt>
                <c:pt idx="9">
                  <c:v>1.79</c:v>
                </c:pt>
                <c:pt idx="10">
                  <c:v>2.29</c:v>
                </c:pt>
                <c:pt idx="11">
                  <c:v>1.76</c:v>
                </c:pt>
                <c:pt idx="12">
                  <c:v>0.56000000000000005</c:v>
                </c:pt>
                <c:pt idx="13">
                  <c:v>-5.48</c:v>
                </c:pt>
                <c:pt idx="14">
                  <c:v>1.92</c:v>
                </c:pt>
                <c:pt idx="15">
                  <c:v>1.36</c:v>
                </c:pt>
                <c:pt idx="16">
                  <c:v>1.69</c:v>
                </c:pt>
                <c:pt idx="17">
                  <c:v>1.39</c:v>
                </c:pt>
                <c:pt idx="18">
                  <c:v>0.81</c:v>
                </c:pt>
                <c:pt idx="19">
                  <c:v>-1.06</c:v>
                </c:pt>
                <c:pt idx="20">
                  <c:v>2.5499999999999998</c:v>
                </c:pt>
                <c:pt idx="21">
                  <c:v>2.95</c:v>
                </c:pt>
                <c:pt idx="22">
                  <c:v>2.2400000000000002</c:v>
                </c:pt>
                <c:pt idx="23">
                  <c:v>1.36</c:v>
                </c:pt>
                <c:pt idx="24">
                  <c:v>1.38</c:v>
                </c:pt>
                <c:pt idx="25">
                  <c:v>2.29</c:v>
                </c:pt>
                <c:pt idx="26">
                  <c:v>1.44</c:v>
                </c:pt>
                <c:pt idx="27">
                  <c:v>0.99</c:v>
                </c:pt>
              </c:numCache>
            </c:numRef>
          </c:val>
          <c:smooth val="0"/>
          <c:extLst>
            <c:ext xmlns:c16="http://schemas.microsoft.com/office/drawing/2014/chart" uri="{C3380CC4-5D6E-409C-BE32-E72D297353CC}">
              <c16:uniqueId val="{00000001-DAAB-4DA4-BCFD-D8EB40522F0B}"/>
            </c:ext>
          </c:extLst>
        </c:ser>
        <c:dLbls>
          <c:showLegendKey val="0"/>
          <c:showVal val="0"/>
          <c:showCatName val="0"/>
          <c:showSerName val="0"/>
          <c:showPercent val="0"/>
          <c:showBubbleSize val="0"/>
        </c:dLbls>
        <c:smooth val="0"/>
        <c:axId val="149130176"/>
        <c:axId val="149130736"/>
      </c:lineChart>
      <c:catAx>
        <c:axId val="149130176"/>
        <c:scaling>
          <c:orientation val="maxMin"/>
        </c:scaling>
        <c:delete val="0"/>
        <c:axPos val="b"/>
        <c:numFmt formatCode="General" sourceLinked="0"/>
        <c:majorTickMark val="none"/>
        <c:minorTickMark val="none"/>
        <c:tickLblPos val="nextTo"/>
        <c:crossAx val="149130736"/>
        <c:crosses val="autoZero"/>
        <c:auto val="1"/>
        <c:lblAlgn val="ctr"/>
        <c:lblOffset val="100"/>
        <c:noMultiLvlLbl val="0"/>
      </c:catAx>
      <c:valAx>
        <c:axId val="149130736"/>
        <c:scaling>
          <c:orientation val="minMax"/>
          <c:min val="-6"/>
        </c:scaling>
        <c:delete val="0"/>
        <c:axPos val="r"/>
        <c:numFmt formatCode="General" sourceLinked="1"/>
        <c:majorTickMark val="none"/>
        <c:minorTickMark val="none"/>
        <c:tickLblPos val="nextTo"/>
        <c:crossAx val="149130176"/>
        <c:crosses val="autoZero"/>
        <c:crossBetween val="between"/>
      </c:valAx>
    </c:plotArea>
    <c:legend>
      <c:legendPos val="b"/>
      <c:overlay val="0"/>
    </c:legend>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r>
              <a:rPr lang="en-GB"/>
              <a:t>APPLE</a:t>
            </a:r>
          </a:p>
        </c:rich>
      </c:tx>
      <c:overlay val="0"/>
      <c:spPr>
        <a:noFill/>
        <a:ln>
          <a:noFill/>
        </a:ln>
        <a:effectLst/>
      </c:spPr>
      <c:txPr>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endParaRPr lang="en-US"/>
        </a:p>
      </c:txPr>
    </c:title>
    <c:autoTitleDeleted val="0"/>
    <c:plotArea>
      <c:layout>
        <c:manualLayout>
          <c:layoutTarget val="inner"/>
          <c:xMode val="edge"/>
          <c:yMode val="edge"/>
          <c:x val="2.2690767716218897E-2"/>
          <c:y val="8.8518437369351E-2"/>
          <c:w val="0.92786577330769837"/>
          <c:h val="0.87915985778449868"/>
        </c:manualLayout>
      </c:layout>
      <c:lineChart>
        <c:grouping val="standard"/>
        <c:varyColors val="0"/>
        <c:ser>
          <c:idx val="0"/>
          <c:order val="0"/>
          <c:tx>
            <c:strRef>
              <c:f>'[Worksheet in Lecture 3-Cash Flows]Apple'!$C$29</c:f>
              <c:strCache>
                <c:ptCount val="1"/>
                <c:pt idx="0">
                  <c:v>   EPS Apple</c:v>
                </c:pt>
              </c:strCache>
            </c:strRef>
          </c:tx>
          <c:spPr>
            <a:ln w="28575" cap="rnd">
              <a:solidFill>
                <a:schemeClr val="tx2">
                  <a:lumMod val="60000"/>
                  <a:lumOff val="40000"/>
                </a:schemeClr>
              </a:solidFill>
            </a:ln>
            <a:effectLst>
              <a:glow rad="139700">
                <a:schemeClr val="accent2">
                  <a:satMod val="175000"/>
                  <a:alpha val="14000"/>
                </a:schemeClr>
              </a:glow>
            </a:effectLst>
          </c:spPr>
          <c:marker>
            <c:symbol val="none"/>
          </c:marker>
          <c:trendline>
            <c:spPr>
              <a:ln w="25400" cap="rnd">
                <a:solidFill>
                  <a:srgbClr val="FFC000">
                    <a:alpha val="50000"/>
                  </a:srgbClr>
                </a:solidFill>
                <a:prstDash val="dash"/>
              </a:ln>
              <a:effectLst/>
            </c:spPr>
            <c:trendlineType val="exp"/>
            <c:dispRSqr val="0"/>
            <c:dispEq val="0"/>
          </c:trendline>
          <c:trendline>
            <c:spPr>
              <a:ln w="22225" cap="rnd">
                <a:solidFill>
                  <a:schemeClr val="accent2">
                    <a:alpha val="50000"/>
                  </a:schemeClr>
                </a:solidFill>
                <a:prstDash val="dashDot"/>
              </a:ln>
              <a:effectLst/>
            </c:spPr>
            <c:trendlineType val="linear"/>
            <c:dispRSqr val="0"/>
            <c:dispEq val="0"/>
          </c:trendline>
          <c:trendline>
            <c:spPr>
              <a:ln w="25400" cap="rnd">
                <a:solidFill>
                  <a:schemeClr val="accent6">
                    <a:lumMod val="60000"/>
                    <a:lumOff val="40000"/>
                    <a:alpha val="50000"/>
                  </a:schemeClr>
                </a:solidFill>
                <a:prstDash val="sysDot"/>
              </a:ln>
              <a:effectLst/>
            </c:spPr>
            <c:trendlineType val="log"/>
            <c:dispRSqr val="0"/>
            <c:dispEq val="0"/>
          </c:trendline>
          <c:trendline>
            <c:spPr>
              <a:ln w="25400" cap="rnd">
                <a:solidFill>
                  <a:schemeClr val="accent6">
                    <a:lumMod val="20000"/>
                    <a:lumOff val="80000"/>
                    <a:alpha val="50000"/>
                  </a:schemeClr>
                </a:solidFill>
                <a:prstDash val="lgDash"/>
              </a:ln>
              <a:effectLst/>
            </c:spPr>
            <c:trendlineType val="poly"/>
            <c:order val="2"/>
            <c:dispRSqr val="0"/>
            <c:dispEq val="0"/>
          </c:trendline>
          <c:cat>
            <c:numRef>
              <c:f>'[Worksheet in Lecture 3-Cash Flows]Apple'!$B$30:$B$53</c:f>
              <c:numCache>
                <c:formatCode>General</c:formatCode>
                <c:ptCount val="24"/>
                <c:pt idx="0">
                  <c:v>2027</c:v>
                </c:pt>
                <c:pt idx="1">
                  <c:v>2026</c:v>
                </c:pt>
                <c:pt idx="2">
                  <c:v>2025</c:v>
                </c:pt>
                <c:pt idx="3">
                  <c:v>2024</c:v>
                </c:pt>
                <c:pt idx="4">
                  <c:v>2023</c:v>
                </c:pt>
                <c:pt idx="5">
                  <c:v>2022</c:v>
                </c:pt>
                <c:pt idx="6">
                  <c:v>2021</c:v>
                </c:pt>
                <c:pt idx="7">
                  <c:v>2020</c:v>
                </c:pt>
                <c:pt idx="8">
                  <c:v>2019</c:v>
                </c:pt>
                <c:pt idx="9">
                  <c:v>2018</c:v>
                </c:pt>
                <c:pt idx="10">
                  <c:v>2017</c:v>
                </c:pt>
                <c:pt idx="11">
                  <c:v>2016</c:v>
                </c:pt>
                <c:pt idx="12">
                  <c:v>2015</c:v>
                </c:pt>
                <c:pt idx="13">
                  <c:v>2014</c:v>
                </c:pt>
                <c:pt idx="14">
                  <c:v>2013</c:v>
                </c:pt>
                <c:pt idx="15">
                  <c:v>2012</c:v>
                </c:pt>
                <c:pt idx="16">
                  <c:v>2011</c:v>
                </c:pt>
                <c:pt idx="17">
                  <c:v>2010</c:v>
                </c:pt>
                <c:pt idx="18">
                  <c:v>2009</c:v>
                </c:pt>
                <c:pt idx="19">
                  <c:v>2008</c:v>
                </c:pt>
                <c:pt idx="20">
                  <c:v>2007</c:v>
                </c:pt>
                <c:pt idx="21">
                  <c:v>2006</c:v>
                </c:pt>
                <c:pt idx="22">
                  <c:v>2005</c:v>
                </c:pt>
                <c:pt idx="23">
                  <c:v>2004</c:v>
                </c:pt>
              </c:numCache>
            </c:numRef>
          </c:cat>
          <c:val>
            <c:numRef>
              <c:f>'[Worksheet in Lecture 3-Cash Flows]Apple'!$C$30:$C$53</c:f>
              <c:numCache>
                <c:formatCode>General</c:formatCode>
                <c:ptCount val="24"/>
                <c:pt idx="1">
                  <c:v>7.46</c:v>
                </c:pt>
                <c:pt idx="2">
                  <c:v>6.24</c:v>
                </c:pt>
                <c:pt idx="3">
                  <c:v>6.08</c:v>
                </c:pt>
                <c:pt idx="4">
                  <c:v>6.13</c:v>
                </c:pt>
                <c:pt idx="5">
                  <c:v>6.11</c:v>
                </c:pt>
                <c:pt idx="6">
                  <c:v>5.62</c:v>
                </c:pt>
                <c:pt idx="7">
                  <c:v>3.8675000000000002</c:v>
                </c:pt>
                <c:pt idx="8">
                  <c:v>2.9624999999999999</c:v>
                </c:pt>
                <c:pt idx="9">
                  <c:v>2.9775</c:v>
                </c:pt>
                <c:pt idx="10">
                  <c:v>2.3025000000000002</c:v>
                </c:pt>
                <c:pt idx="11">
                  <c:v>2.0775000000000001</c:v>
                </c:pt>
                <c:pt idx="12">
                  <c:v>2.3050000000000002</c:v>
                </c:pt>
                <c:pt idx="13">
                  <c:v>1.6125</c:v>
                </c:pt>
                <c:pt idx="14">
                  <c:v>1.42</c:v>
                </c:pt>
                <c:pt idx="15">
                  <c:v>1.5774999999999999</c:v>
                </c:pt>
                <c:pt idx="16">
                  <c:v>0.98850000000000005</c:v>
                </c:pt>
                <c:pt idx="17">
                  <c:v>0.54100000000000004</c:v>
                </c:pt>
                <c:pt idx="18">
                  <c:v>0.32424999999999998</c:v>
                </c:pt>
                <c:pt idx="19">
                  <c:v>0.1915</c:v>
                </c:pt>
                <c:pt idx="20">
                  <c:v>0.14025000000000001</c:v>
                </c:pt>
                <c:pt idx="21">
                  <c:v>8.1000000000000003E-2</c:v>
                </c:pt>
                <c:pt idx="22">
                  <c:v>5.5750000000000001E-2</c:v>
                </c:pt>
                <c:pt idx="23">
                  <c:v>1.2749999999999999E-2</c:v>
                </c:pt>
              </c:numCache>
            </c:numRef>
          </c:val>
          <c:smooth val="0"/>
          <c:extLst>
            <c:ext xmlns:c16="http://schemas.microsoft.com/office/drawing/2014/chart" uri="{C3380CC4-5D6E-409C-BE32-E72D297353CC}">
              <c16:uniqueId val="{00000004-30DF-44B6-8ED1-D4DB2598CA0F}"/>
            </c:ext>
          </c:extLst>
        </c:ser>
        <c:ser>
          <c:idx val="1"/>
          <c:order val="1"/>
          <c:tx>
            <c:strRef>
              <c:f>'[Worksheet in Lecture 3-Cash Flows]Apple'!$D$29</c:f>
              <c:strCache>
                <c:ptCount val="1"/>
                <c:pt idx="0">
                  <c:v>   Dividends</c:v>
                </c:pt>
              </c:strCache>
            </c:strRef>
          </c:tx>
          <c:spPr>
            <a:ln w="22225" cap="rnd">
              <a:solidFill>
                <a:srgbClr val="FFFF00"/>
              </a:solidFill>
            </a:ln>
            <a:effectLst>
              <a:glow rad="139700">
                <a:schemeClr val="accent4">
                  <a:satMod val="175000"/>
                  <a:alpha val="14000"/>
                </a:schemeClr>
              </a:glow>
            </a:effectLst>
          </c:spPr>
          <c:marker>
            <c:symbol val="none"/>
          </c:marker>
          <c:trendline>
            <c:spPr>
              <a:ln w="12700" cap="rnd">
                <a:solidFill>
                  <a:srgbClr val="FFC000">
                    <a:alpha val="50000"/>
                  </a:srgbClr>
                </a:solidFill>
                <a:prstDash val="lgDashDotDot"/>
              </a:ln>
              <a:effectLst/>
            </c:spPr>
            <c:trendlineType val="linear"/>
            <c:dispRSqr val="0"/>
            <c:dispEq val="0"/>
          </c:trendline>
          <c:trendline>
            <c:spPr>
              <a:ln w="15875" cap="rnd">
                <a:solidFill>
                  <a:srgbClr val="FFFF00">
                    <a:alpha val="50000"/>
                  </a:srgbClr>
                </a:solidFill>
                <a:prstDash val="sysDot"/>
              </a:ln>
              <a:effectLst/>
            </c:spPr>
            <c:trendlineType val="log"/>
            <c:dispRSqr val="0"/>
            <c:dispEq val="0"/>
          </c:trendline>
          <c:cat>
            <c:numRef>
              <c:f>'[Worksheet in Lecture 3-Cash Flows]Apple'!$B$30:$B$53</c:f>
              <c:numCache>
                <c:formatCode>General</c:formatCode>
                <c:ptCount val="24"/>
                <c:pt idx="0">
                  <c:v>2027</c:v>
                </c:pt>
                <c:pt idx="1">
                  <c:v>2026</c:v>
                </c:pt>
                <c:pt idx="2">
                  <c:v>2025</c:v>
                </c:pt>
                <c:pt idx="3">
                  <c:v>2024</c:v>
                </c:pt>
                <c:pt idx="4">
                  <c:v>2023</c:v>
                </c:pt>
                <c:pt idx="5">
                  <c:v>2022</c:v>
                </c:pt>
                <c:pt idx="6">
                  <c:v>2021</c:v>
                </c:pt>
                <c:pt idx="7">
                  <c:v>2020</c:v>
                </c:pt>
                <c:pt idx="8">
                  <c:v>2019</c:v>
                </c:pt>
                <c:pt idx="9">
                  <c:v>2018</c:v>
                </c:pt>
                <c:pt idx="10">
                  <c:v>2017</c:v>
                </c:pt>
                <c:pt idx="11">
                  <c:v>2016</c:v>
                </c:pt>
                <c:pt idx="12">
                  <c:v>2015</c:v>
                </c:pt>
                <c:pt idx="13">
                  <c:v>2014</c:v>
                </c:pt>
                <c:pt idx="14">
                  <c:v>2013</c:v>
                </c:pt>
                <c:pt idx="15">
                  <c:v>2012</c:v>
                </c:pt>
                <c:pt idx="16">
                  <c:v>2011</c:v>
                </c:pt>
                <c:pt idx="17">
                  <c:v>2010</c:v>
                </c:pt>
                <c:pt idx="18">
                  <c:v>2009</c:v>
                </c:pt>
                <c:pt idx="19">
                  <c:v>2008</c:v>
                </c:pt>
                <c:pt idx="20">
                  <c:v>2007</c:v>
                </c:pt>
                <c:pt idx="21">
                  <c:v>2006</c:v>
                </c:pt>
                <c:pt idx="22">
                  <c:v>2005</c:v>
                </c:pt>
                <c:pt idx="23">
                  <c:v>2004</c:v>
                </c:pt>
              </c:numCache>
            </c:numRef>
          </c:cat>
          <c:val>
            <c:numRef>
              <c:f>'[Worksheet in Lecture 3-Cash Flows]Apple'!$D$30:$D$53</c:f>
              <c:numCache>
                <c:formatCode>General</c:formatCode>
                <c:ptCount val="24"/>
                <c:pt idx="1">
                  <c:v>1.03</c:v>
                </c:pt>
                <c:pt idx="2">
                  <c:v>1</c:v>
                </c:pt>
                <c:pt idx="3">
                  <c:v>0.96</c:v>
                </c:pt>
                <c:pt idx="4">
                  <c:v>0.92</c:v>
                </c:pt>
                <c:pt idx="5">
                  <c:v>0.88</c:v>
                </c:pt>
                <c:pt idx="6">
                  <c:v>0.86499999999999999</c:v>
                </c:pt>
                <c:pt idx="7">
                  <c:v>0.80749999999999988</c:v>
                </c:pt>
                <c:pt idx="8">
                  <c:v>0.76</c:v>
                </c:pt>
                <c:pt idx="9">
                  <c:v>0.70499999999999996</c:v>
                </c:pt>
                <c:pt idx="10">
                  <c:v>0.61499999999999999</c:v>
                </c:pt>
                <c:pt idx="11">
                  <c:v>0.5575</c:v>
                </c:pt>
                <c:pt idx="12">
                  <c:v>0.50749999999999995</c:v>
                </c:pt>
                <c:pt idx="13">
                  <c:v>0.34399999999999997</c:v>
                </c:pt>
                <c:pt idx="14">
                  <c:v>0.42149999999999999</c:v>
                </c:pt>
                <c:pt idx="15">
                  <c:v>0.18925</c:v>
                </c:pt>
              </c:numCache>
            </c:numRef>
          </c:val>
          <c:smooth val="0"/>
          <c:extLst>
            <c:ext xmlns:c16="http://schemas.microsoft.com/office/drawing/2014/chart" uri="{C3380CC4-5D6E-409C-BE32-E72D297353CC}">
              <c16:uniqueId val="{00000007-30DF-44B6-8ED1-D4DB2598CA0F}"/>
            </c:ext>
          </c:extLst>
        </c:ser>
        <c:ser>
          <c:idx val="2"/>
          <c:order val="2"/>
          <c:tx>
            <c:strRef>
              <c:f>'[Worksheet in Lecture 3-Cash Flows]Apple'!$E$29</c:f>
              <c:strCache>
                <c:ptCount val="1"/>
                <c:pt idx="0">
                  <c:v>Q1 E</c:v>
                </c:pt>
              </c:strCache>
            </c:strRef>
          </c:tx>
          <c:spPr>
            <a:ln w="22225" cap="rnd">
              <a:solidFill>
                <a:schemeClr val="tx2">
                  <a:lumMod val="60000"/>
                  <a:lumOff val="40000"/>
                </a:schemeClr>
              </a:solidFill>
              <a:prstDash val="sysDash"/>
            </a:ln>
            <a:effectLst>
              <a:glow rad="139700">
                <a:schemeClr val="accent6">
                  <a:satMod val="175000"/>
                  <a:alpha val="14000"/>
                </a:schemeClr>
              </a:glow>
            </a:effectLst>
          </c:spPr>
          <c:marker>
            <c:symbol val="none"/>
          </c:marker>
          <c:cat>
            <c:numRef>
              <c:f>'[Worksheet in Lecture 3-Cash Flows]Apple'!$B$30:$B$53</c:f>
              <c:numCache>
                <c:formatCode>General</c:formatCode>
                <c:ptCount val="24"/>
                <c:pt idx="0">
                  <c:v>2027</c:v>
                </c:pt>
                <c:pt idx="1">
                  <c:v>2026</c:v>
                </c:pt>
                <c:pt idx="2">
                  <c:v>2025</c:v>
                </c:pt>
                <c:pt idx="3">
                  <c:v>2024</c:v>
                </c:pt>
                <c:pt idx="4">
                  <c:v>2023</c:v>
                </c:pt>
                <c:pt idx="5">
                  <c:v>2022</c:v>
                </c:pt>
                <c:pt idx="6">
                  <c:v>2021</c:v>
                </c:pt>
                <c:pt idx="7">
                  <c:v>2020</c:v>
                </c:pt>
                <c:pt idx="8">
                  <c:v>2019</c:v>
                </c:pt>
                <c:pt idx="9">
                  <c:v>2018</c:v>
                </c:pt>
                <c:pt idx="10">
                  <c:v>2017</c:v>
                </c:pt>
                <c:pt idx="11">
                  <c:v>2016</c:v>
                </c:pt>
                <c:pt idx="12">
                  <c:v>2015</c:v>
                </c:pt>
                <c:pt idx="13">
                  <c:v>2014</c:v>
                </c:pt>
                <c:pt idx="14">
                  <c:v>2013</c:v>
                </c:pt>
                <c:pt idx="15">
                  <c:v>2012</c:v>
                </c:pt>
                <c:pt idx="16">
                  <c:v>2011</c:v>
                </c:pt>
                <c:pt idx="17">
                  <c:v>2010</c:v>
                </c:pt>
                <c:pt idx="18">
                  <c:v>2009</c:v>
                </c:pt>
                <c:pt idx="19">
                  <c:v>2008</c:v>
                </c:pt>
                <c:pt idx="20">
                  <c:v>2007</c:v>
                </c:pt>
                <c:pt idx="21">
                  <c:v>2006</c:v>
                </c:pt>
                <c:pt idx="22">
                  <c:v>2005</c:v>
                </c:pt>
                <c:pt idx="23">
                  <c:v>2004</c:v>
                </c:pt>
              </c:numCache>
            </c:numRef>
          </c:cat>
          <c:val>
            <c:numRef>
              <c:f>'[Worksheet in Lecture 3-Cash Flows]Apple'!$E$30:$E$53</c:f>
              <c:numCache>
                <c:formatCode>General</c:formatCode>
                <c:ptCount val="24"/>
                <c:pt idx="1">
                  <c:v>1.57</c:v>
                </c:pt>
                <c:pt idx="2">
                  <c:v>1.65</c:v>
                </c:pt>
                <c:pt idx="3">
                  <c:v>1.53</c:v>
                </c:pt>
                <c:pt idx="4">
                  <c:v>1.52</c:v>
                </c:pt>
                <c:pt idx="5">
                  <c:v>1.52</c:v>
                </c:pt>
                <c:pt idx="6">
                  <c:v>1.68</c:v>
                </c:pt>
                <c:pt idx="7">
                  <c:v>1.2475000000000001</c:v>
                </c:pt>
                <c:pt idx="8">
                  <c:v>1.0449999999999999</c:v>
                </c:pt>
                <c:pt idx="9">
                  <c:v>0.97250000000000003</c:v>
                </c:pt>
                <c:pt idx="10">
                  <c:v>0.84</c:v>
                </c:pt>
                <c:pt idx="11">
                  <c:v>0.82</c:v>
                </c:pt>
                <c:pt idx="12">
                  <c:v>0.76500000000000001</c:v>
                </c:pt>
                <c:pt idx="13">
                  <c:v>0.51749999999999996</c:v>
                </c:pt>
                <c:pt idx="14">
                  <c:v>0.49322500000000002</c:v>
                </c:pt>
                <c:pt idx="15">
                  <c:v>0.49535000000000001</c:v>
                </c:pt>
                <c:pt idx="16">
                  <c:v>0.22964999999999999</c:v>
                </c:pt>
                <c:pt idx="17">
                  <c:v>0.131075</c:v>
                </c:pt>
                <c:pt idx="18">
                  <c:v>6.3575000000000007E-2</c:v>
                </c:pt>
                <c:pt idx="19">
                  <c:v>6.2850000000000003E-2</c:v>
                </c:pt>
                <c:pt idx="20">
                  <c:v>4.0724999999999997E-2</c:v>
                </c:pt>
                <c:pt idx="21">
                  <c:v>2.3224999999999999E-2</c:v>
                </c:pt>
                <c:pt idx="22">
                  <c:v>1.2500000000000001E-2</c:v>
                </c:pt>
                <c:pt idx="23">
                  <c:v>3.0249999999999999E-3</c:v>
                </c:pt>
              </c:numCache>
            </c:numRef>
          </c:val>
          <c:smooth val="0"/>
          <c:extLst>
            <c:ext xmlns:c16="http://schemas.microsoft.com/office/drawing/2014/chart" uri="{C3380CC4-5D6E-409C-BE32-E72D297353CC}">
              <c16:uniqueId val="{00000008-30DF-44B6-8ED1-D4DB2598CA0F}"/>
            </c:ext>
          </c:extLst>
        </c:ser>
        <c:ser>
          <c:idx val="3"/>
          <c:order val="3"/>
          <c:tx>
            <c:strRef>
              <c:f>'[Worksheet in Lecture 3-Cash Flows]Apple'!$F$29</c:f>
              <c:strCache>
                <c:ptCount val="1"/>
                <c:pt idx="0">
                  <c:v>Q1 D</c:v>
                </c:pt>
              </c:strCache>
            </c:strRef>
          </c:tx>
          <c:spPr>
            <a:ln w="6350" cap="rnd">
              <a:solidFill>
                <a:srgbClr val="FFFF00"/>
              </a:solidFill>
              <a:prstDash val="lgDash"/>
            </a:ln>
            <a:effectLst>
              <a:glow rad="139700">
                <a:schemeClr val="accent2">
                  <a:lumMod val="60000"/>
                  <a:satMod val="175000"/>
                  <a:alpha val="14000"/>
                </a:schemeClr>
              </a:glow>
            </a:effectLst>
          </c:spPr>
          <c:marker>
            <c:symbol val="none"/>
          </c:marker>
          <c:cat>
            <c:numRef>
              <c:f>'[Worksheet in Lecture 3-Cash Flows]Apple'!$B$30:$B$53</c:f>
              <c:numCache>
                <c:formatCode>General</c:formatCode>
                <c:ptCount val="24"/>
                <c:pt idx="0">
                  <c:v>2027</c:v>
                </c:pt>
                <c:pt idx="1">
                  <c:v>2026</c:v>
                </c:pt>
                <c:pt idx="2">
                  <c:v>2025</c:v>
                </c:pt>
                <c:pt idx="3">
                  <c:v>2024</c:v>
                </c:pt>
                <c:pt idx="4">
                  <c:v>2023</c:v>
                </c:pt>
                <c:pt idx="5">
                  <c:v>2022</c:v>
                </c:pt>
                <c:pt idx="6">
                  <c:v>2021</c:v>
                </c:pt>
                <c:pt idx="7">
                  <c:v>2020</c:v>
                </c:pt>
                <c:pt idx="8">
                  <c:v>2019</c:v>
                </c:pt>
                <c:pt idx="9">
                  <c:v>2018</c:v>
                </c:pt>
                <c:pt idx="10">
                  <c:v>2017</c:v>
                </c:pt>
                <c:pt idx="11">
                  <c:v>2016</c:v>
                </c:pt>
                <c:pt idx="12">
                  <c:v>2015</c:v>
                </c:pt>
                <c:pt idx="13">
                  <c:v>2014</c:v>
                </c:pt>
                <c:pt idx="14">
                  <c:v>2013</c:v>
                </c:pt>
                <c:pt idx="15">
                  <c:v>2012</c:v>
                </c:pt>
                <c:pt idx="16">
                  <c:v>2011</c:v>
                </c:pt>
                <c:pt idx="17">
                  <c:v>2010</c:v>
                </c:pt>
                <c:pt idx="18">
                  <c:v>2009</c:v>
                </c:pt>
                <c:pt idx="19">
                  <c:v>2008</c:v>
                </c:pt>
                <c:pt idx="20">
                  <c:v>2007</c:v>
                </c:pt>
                <c:pt idx="21">
                  <c:v>2006</c:v>
                </c:pt>
                <c:pt idx="22">
                  <c:v>2005</c:v>
                </c:pt>
                <c:pt idx="23">
                  <c:v>2004</c:v>
                </c:pt>
              </c:numCache>
            </c:numRef>
          </c:cat>
          <c:val>
            <c:numRef>
              <c:f>'[Worksheet in Lecture 3-Cash Flows]Apple'!$F$30:$F$53</c:f>
              <c:numCache>
                <c:formatCode>General</c:formatCode>
                <c:ptCount val="24"/>
                <c:pt idx="1">
                  <c:v>0.26</c:v>
                </c:pt>
                <c:pt idx="2">
                  <c:v>0.25</c:v>
                </c:pt>
                <c:pt idx="3">
                  <c:v>0.24</c:v>
                </c:pt>
                <c:pt idx="4">
                  <c:v>0.23</c:v>
                </c:pt>
                <c:pt idx="5">
                  <c:v>0.22</c:v>
                </c:pt>
                <c:pt idx="6">
                  <c:v>0.20499999999999999</c:v>
                </c:pt>
                <c:pt idx="7">
                  <c:v>0.1925</c:v>
                </c:pt>
                <c:pt idx="8">
                  <c:v>0.1825</c:v>
                </c:pt>
                <c:pt idx="9">
                  <c:v>0.1575</c:v>
                </c:pt>
                <c:pt idx="10">
                  <c:v>0.14249999999999999</c:v>
                </c:pt>
                <c:pt idx="11">
                  <c:v>0.13</c:v>
                </c:pt>
                <c:pt idx="12">
                  <c:v>0.11749999999999999</c:v>
                </c:pt>
                <c:pt idx="13">
                  <c:v>0.1089285</c:v>
                </c:pt>
                <c:pt idx="14">
                  <c:v>9.4642749999999998E-2</c:v>
                </c:pt>
              </c:numCache>
            </c:numRef>
          </c:val>
          <c:smooth val="0"/>
          <c:extLst>
            <c:ext xmlns:c16="http://schemas.microsoft.com/office/drawing/2014/chart" uri="{C3380CC4-5D6E-409C-BE32-E72D297353CC}">
              <c16:uniqueId val="{00000009-30DF-44B6-8ED1-D4DB2598CA0F}"/>
            </c:ext>
          </c:extLst>
        </c:ser>
        <c:ser>
          <c:idx val="4"/>
          <c:order val="4"/>
          <c:tx>
            <c:strRef>
              <c:f>'[Worksheet in Lecture 3-Cash Flows]Apple'!$G$29</c:f>
              <c:strCache>
                <c:ptCount val="1"/>
                <c:pt idx="0">
                  <c:v>Trailing EPS</c:v>
                </c:pt>
              </c:strCache>
            </c:strRef>
          </c:tx>
          <c:spPr>
            <a:ln w="22225" cap="rnd">
              <a:solidFill>
                <a:schemeClr val="accent4">
                  <a:lumMod val="60000"/>
                </a:schemeClr>
              </a:solidFill>
            </a:ln>
            <a:effectLst>
              <a:glow rad="139700">
                <a:schemeClr val="accent4">
                  <a:lumMod val="60000"/>
                  <a:satMod val="175000"/>
                  <a:alpha val="14000"/>
                </a:schemeClr>
              </a:glow>
            </a:effectLst>
          </c:spPr>
          <c:marker>
            <c:symbol val="none"/>
          </c:marker>
          <c:cat>
            <c:numRef>
              <c:f>'[Worksheet in Lecture 3-Cash Flows]Apple'!$B$30:$B$53</c:f>
              <c:numCache>
                <c:formatCode>General</c:formatCode>
                <c:ptCount val="24"/>
                <c:pt idx="0">
                  <c:v>2027</c:v>
                </c:pt>
                <c:pt idx="1">
                  <c:v>2026</c:v>
                </c:pt>
                <c:pt idx="2">
                  <c:v>2025</c:v>
                </c:pt>
                <c:pt idx="3">
                  <c:v>2024</c:v>
                </c:pt>
                <c:pt idx="4">
                  <c:v>2023</c:v>
                </c:pt>
                <c:pt idx="5">
                  <c:v>2022</c:v>
                </c:pt>
                <c:pt idx="6">
                  <c:v>2021</c:v>
                </c:pt>
                <c:pt idx="7">
                  <c:v>2020</c:v>
                </c:pt>
                <c:pt idx="8">
                  <c:v>2019</c:v>
                </c:pt>
                <c:pt idx="9">
                  <c:v>2018</c:v>
                </c:pt>
                <c:pt idx="10">
                  <c:v>2017</c:v>
                </c:pt>
                <c:pt idx="11">
                  <c:v>2016</c:v>
                </c:pt>
                <c:pt idx="12">
                  <c:v>2015</c:v>
                </c:pt>
                <c:pt idx="13">
                  <c:v>2014</c:v>
                </c:pt>
                <c:pt idx="14">
                  <c:v>2013</c:v>
                </c:pt>
                <c:pt idx="15">
                  <c:v>2012</c:v>
                </c:pt>
                <c:pt idx="16">
                  <c:v>2011</c:v>
                </c:pt>
                <c:pt idx="17">
                  <c:v>2010</c:v>
                </c:pt>
                <c:pt idx="18">
                  <c:v>2009</c:v>
                </c:pt>
                <c:pt idx="19">
                  <c:v>2008</c:v>
                </c:pt>
                <c:pt idx="20">
                  <c:v>2007</c:v>
                </c:pt>
                <c:pt idx="21">
                  <c:v>2006</c:v>
                </c:pt>
                <c:pt idx="22">
                  <c:v>2005</c:v>
                </c:pt>
                <c:pt idx="23">
                  <c:v>2004</c:v>
                </c:pt>
              </c:numCache>
            </c:numRef>
          </c:cat>
          <c:val>
            <c:numRef>
              <c:f>'[Worksheet in Lecture 3-Cash Flows]Apple'!$G$30:$G$53</c:f>
              <c:numCache>
                <c:formatCode>General</c:formatCode>
                <c:ptCount val="24"/>
                <c:pt idx="0">
                  <c:v>8.7100000000000009</c:v>
                </c:pt>
                <c:pt idx="1">
                  <c:v>6.16</c:v>
                </c:pt>
                <c:pt idx="2">
                  <c:v>6.2</c:v>
                </c:pt>
                <c:pt idx="3">
                  <c:v>6.1400000000000006</c:v>
                </c:pt>
                <c:pt idx="4">
                  <c:v>6.1100000000000012</c:v>
                </c:pt>
                <c:pt idx="5">
                  <c:v>5.4600000000000009</c:v>
                </c:pt>
                <c:pt idx="6">
                  <c:v>4.3000000000000007</c:v>
                </c:pt>
                <c:pt idx="7">
                  <c:v>3.165</c:v>
                </c:pt>
                <c:pt idx="8">
                  <c:v>3.05</c:v>
                </c:pt>
                <c:pt idx="9">
                  <c:v>2.4350000000000005</c:v>
                </c:pt>
                <c:pt idx="10">
                  <c:v>2.0975000000000001</c:v>
                </c:pt>
                <c:pt idx="11">
                  <c:v>2.36</c:v>
                </c:pt>
                <c:pt idx="12">
                  <c:v>1.8599999999999999</c:v>
                </c:pt>
                <c:pt idx="13">
                  <c:v>1.444275</c:v>
                </c:pt>
                <c:pt idx="14">
                  <c:v>1.575375</c:v>
                </c:pt>
                <c:pt idx="15">
                  <c:v>1.2542000000000002</c:v>
                </c:pt>
                <c:pt idx="16">
                  <c:v>0.639575</c:v>
                </c:pt>
                <c:pt idx="17">
                  <c:v>0.39174999999999999</c:v>
                </c:pt>
                <c:pt idx="18">
                  <c:v>0.19222499999999998</c:v>
                </c:pt>
                <c:pt idx="19">
                  <c:v>0.16237499999999999</c:v>
                </c:pt>
                <c:pt idx="20">
                  <c:v>9.8500000000000004E-2</c:v>
                </c:pt>
                <c:pt idx="21">
                  <c:v>6.6475000000000006E-2</c:v>
                </c:pt>
                <c:pt idx="22">
                  <c:v>2.2225000000000002E-2</c:v>
                </c:pt>
              </c:numCache>
            </c:numRef>
          </c:val>
          <c:smooth val="0"/>
          <c:extLst>
            <c:ext xmlns:c16="http://schemas.microsoft.com/office/drawing/2014/chart" uri="{C3380CC4-5D6E-409C-BE32-E72D297353CC}">
              <c16:uniqueId val="{0000000A-30DF-44B6-8ED1-D4DB2598CA0F}"/>
            </c:ext>
          </c:extLst>
        </c:ser>
        <c:ser>
          <c:idx val="5"/>
          <c:order val="5"/>
          <c:tx>
            <c:strRef>
              <c:f>'[Worksheet in Lecture 3-Cash Flows]Apple'!$H$29</c:f>
              <c:strCache>
                <c:ptCount val="1"/>
                <c:pt idx="0">
                  <c:v>Trailing DPS</c:v>
                </c:pt>
              </c:strCache>
            </c:strRef>
          </c:tx>
          <c:spPr>
            <a:ln w="22225" cap="rnd">
              <a:solidFill>
                <a:schemeClr val="accent6">
                  <a:lumMod val="60000"/>
                </a:schemeClr>
              </a:solidFill>
            </a:ln>
            <a:effectLst>
              <a:glow rad="139700">
                <a:schemeClr val="accent6">
                  <a:lumMod val="60000"/>
                  <a:satMod val="175000"/>
                  <a:alpha val="14000"/>
                </a:schemeClr>
              </a:glow>
            </a:effectLst>
          </c:spPr>
          <c:marker>
            <c:symbol val="none"/>
          </c:marker>
          <c:cat>
            <c:numRef>
              <c:f>'[Worksheet in Lecture 3-Cash Flows]Apple'!$B$30:$B$53</c:f>
              <c:numCache>
                <c:formatCode>General</c:formatCode>
                <c:ptCount val="24"/>
                <c:pt idx="0">
                  <c:v>2027</c:v>
                </c:pt>
                <c:pt idx="1">
                  <c:v>2026</c:v>
                </c:pt>
                <c:pt idx="2">
                  <c:v>2025</c:v>
                </c:pt>
                <c:pt idx="3">
                  <c:v>2024</c:v>
                </c:pt>
                <c:pt idx="4">
                  <c:v>2023</c:v>
                </c:pt>
                <c:pt idx="5">
                  <c:v>2022</c:v>
                </c:pt>
                <c:pt idx="6">
                  <c:v>2021</c:v>
                </c:pt>
                <c:pt idx="7">
                  <c:v>2020</c:v>
                </c:pt>
                <c:pt idx="8">
                  <c:v>2019</c:v>
                </c:pt>
                <c:pt idx="9">
                  <c:v>2018</c:v>
                </c:pt>
                <c:pt idx="10">
                  <c:v>2017</c:v>
                </c:pt>
                <c:pt idx="11">
                  <c:v>2016</c:v>
                </c:pt>
                <c:pt idx="12">
                  <c:v>2015</c:v>
                </c:pt>
                <c:pt idx="13">
                  <c:v>2014</c:v>
                </c:pt>
                <c:pt idx="14">
                  <c:v>2013</c:v>
                </c:pt>
                <c:pt idx="15">
                  <c:v>2012</c:v>
                </c:pt>
                <c:pt idx="16">
                  <c:v>2011</c:v>
                </c:pt>
                <c:pt idx="17">
                  <c:v>2010</c:v>
                </c:pt>
                <c:pt idx="18">
                  <c:v>2009</c:v>
                </c:pt>
                <c:pt idx="19">
                  <c:v>2008</c:v>
                </c:pt>
                <c:pt idx="20">
                  <c:v>2007</c:v>
                </c:pt>
                <c:pt idx="21">
                  <c:v>2006</c:v>
                </c:pt>
                <c:pt idx="22">
                  <c:v>2005</c:v>
                </c:pt>
                <c:pt idx="23">
                  <c:v>2004</c:v>
                </c:pt>
              </c:numCache>
            </c:numRef>
          </c:cat>
          <c:val>
            <c:numRef>
              <c:f>'[Worksheet in Lecture 3-Cash Flows]Apple'!$H$30:$H$53</c:f>
              <c:numCache>
                <c:formatCode>General</c:formatCode>
                <c:ptCount val="24"/>
                <c:pt idx="0">
                  <c:v>1.06</c:v>
                </c:pt>
                <c:pt idx="1">
                  <c:v>1.01</c:v>
                </c:pt>
                <c:pt idx="2">
                  <c:v>0.97</c:v>
                </c:pt>
                <c:pt idx="3">
                  <c:v>0.93000000000000016</c:v>
                </c:pt>
                <c:pt idx="4">
                  <c:v>0.89000000000000012</c:v>
                </c:pt>
                <c:pt idx="5">
                  <c:v>0.88</c:v>
                </c:pt>
                <c:pt idx="6">
                  <c:v>0.82</c:v>
                </c:pt>
                <c:pt idx="7">
                  <c:v>0.77</c:v>
                </c:pt>
                <c:pt idx="8">
                  <c:v>0.73</c:v>
                </c:pt>
                <c:pt idx="9">
                  <c:v>0.63</c:v>
                </c:pt>
                <c:pt idx="10">
                  <c:v>0.56999999999999995</c:v>
                </c:pt>
                <c:pt idx="11">
                  <c:v>0.52</c:v>
                </c:pt>
                <c:pt idx="12">
                  <c:v>0.35257149999999998</c:v>
                </c:pt>
                <c:pt idx="13">
                  <c:v>0.43578574999999997</c:v>
                </c:pt>
                <c:pt idx="14">
                  <c:v>0.28389275000000003</c:v>
                </c:pt>
              </c:numCache>
            </c:numRef>
          </c:val>
          <c:smooth val="0"/>
          <c:extLst>
            <c:ext xmlns:c16="http://schemas.microsoft.com/office/drawing/2014/chart" uri="{C3380CC4-5D6E-409C-BE32-E72D297353CC}">
              <c16:uniqueId val="{0000000B-30DF-44B6-8ED1-D4DB2598CA0F}"/>
            </c:ext>
          </c:extLst>
        </c:ser>
        <c:dLbls>
          <c:showLegendKey val="0"/>
          <c:showVal val="0"/>
          <c:showCatName val="0"/>
          <c:showSerName val="0"/>
          <c:showPercent val="0"/>
          <c:showBubbleSize val="0"/>
        </c:dLbls>
        <c:smooth val="0"/>
        <c:axId val="197626816"/>
        <c:axId val="197627376"/>
      </c:lineChart>
      <c:catAx>
        <c:axId val="197626816"/>
        <c:scaling>
          <c:orientation val="maxMin"/>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97627376"/>
        <c:crosses val="autoZero"/>
        <c:auto val="1"/>
        <c:lblAlgn val="ctr"/>
        <c:lblOffset val="100"/>
        <c:noMultiLvlLbl val="0"/>
      </c:catAx>
      <c:valAx>
        <c:axId val="197627376"/>
        <c:scaling>
          <c:orientation val="minMax"/>
        </c:scaling>
        <c:delete val="0"/>
        <c:axPos val="r"/>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97626816"/>
        <c:crosses val="autoZero"/>
        <c:crossBetween val="between"/>
      </c:valAx>
      <c:spPr>
        <a:noFill/>
        <a:ln>
          <a:noFill/>
        </a:ln>
        <a:effectLst/>
      </c:spPr>
    </c:plotArea>
    <c:legend>
      <c:legendPos val="t"/>
      <c:layout>
        <c:manualLayout>
          <c:xMode val="edge"/>
          <c:yMode val="edge"/>
          <c:x val="1.1567655205704184E-2"/>
          <c:y val="7.4358260447308464E-2"/>
          <c:w val="0.54141063619928509"/>
          <c:h val="0.59665473681363068"/>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lt1">
                  <a:lumMod val="75000"/>
                </a:schemeClr>
              </a:solidFill>
              <a:latin typeface="+mn-lt"/>
              <a:ea typeface="+mn-ea"/>
              <a:cs typeface="+mn-cs"/>
            </a:defRPr>
          </a:pPr>
          <a:endParaRPr lang="en-US"/>
        </a:p>
      </c:txPr>
    </c:legend>
    <c:plotVisOnly val="1"/>
    <c:dispBlanksAs val="gap"/>
    <c:showDLblsOverMax val="0"/>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Microsoft EPS vs DPS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Microsoft!$C$69</c:f>
              <c:strCache>
                <c:ptCount val="1"/>
                <c:pt idx="0">
                  <c:v>   EPS-MSFT</c:v>
                </c:pt>
              </c:strCache>
            </c:strRef>
          </c:tx>
          <c:spPr>
            <a:ln w="28575" cap="rnd">
              <a:solidFill>
                <a:schemeClr val="accent1"/>
              </a:solidFill>
              <a:round/>
            </a:ln>
            <a:effectLst/>
          </c:spPr>
          <c:marker>
            <c:symbol val="none"/>
          </c:marker>
          <c:trendline>
            <c:name>EPS (Lin)</c:name>
            <c:spPr>
              <a:ln w="19050" cap="rnd">
                <a:solidFill>
                  <a:schemeClr val="accent1"/>
                </a:solidFill>
                <a:prstDash val="sysDot"/>
              </a:ln>
              <a:effectLst/>
            </c:spPr>
            <c:trendlineType val="linear"/>
            <c:dispRSqr val="0"/>
            <c:dispEq val="1"/>
            <c:trendlineLbl>
              <c:layout>
                <c:manualLayout>
                  <c:x val="0.67693075862923091"/>
                  <c:y val="-0.14126043917927372"/>
                </c:manualLayout>
              </c:layout>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US" baseline="0" dirty="0"/>
                      <a:t>y = 0.1855x + 3.1152</a:t>
                    </a:r>
                    <a:endParaRPr lang="en-US" dirty="0"/>
                  </a:p>
                </c:rich>
              </c:tx>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rendlineLbl>
          </c:trendline>
          <c:cat>
            <c:numRef>
              <c:f>Microsoft!$B$70:$B$81</c:f>
              <c:numCache>
                <c:formatCode>General</c:formatCode>
                <c:ptCount val="12"/>
                <c:pt idx="0">
                  <c:v>2015</c:v>
                </c:pt>
                <c:pt idx="1">
                  <c:v>2014</c:v>
                </c:pt>
                <c:pt idx="2">
                  <c:v>2013</c:v>
                </c:pt>
                <c:pt idx="3">
                  <c:v>2012</c:v>
                </c:pt>
                <c:pt idx="4">
                  <c:v>2011</c:v>
                </c:pt>
                <c:pt idx="5">
                  <c:v>2010</c:v>
                </c:pt>
                <c:pt idx="6">
                  <c:v>2009</c:v>
                </c:pt>
                <c:pt idx="7">
                  <c:v>2008</c:v>
                </c:pt>
                <c:pt idx="8">
                  <c:v>2007</c:v>
                </c:pt>
                <c:pt idx="9">
                  <c:v>2006</c:v>
                </c:pt>
                <c:pt idx="10">
                  <c:v>2005</c:v>
                </c:pt>
                <c:pt idx="11">
                  <c:v>2004</c:v>
                </c:pt>
              </c:numCache>
            </c:numRef>
          </c:cat>
          <c:val>
            <c:numRef>
              <c:f>Microsoft!$C$70:$C$81</c:f>
              <c:numCache>
                <c:formatCode>General</c:formatCode>
                <c:ptCount val="12"/>
                <c:pt idx="1">
                  <c:v>2.63</c:v>
                </c:pt>
                <c:pt idx="2">
                  <c:v>2.58</c:v>
                </c:pt>
                <c:pt idx="3">
                  <c:v>2</c:v>
                </c:pt>
                <c:pt idx="4">
                  <c:v>2.69</c:v>
                </c:pt>
                <c:pt idx="5">
                  <c:v>2.1</c:v>
                </c:pt>
                <c:pt idx="6">
                  <c:v>1.62</c:v>
                </c:pt>
                <c:pt idx="7">
                  <c:v>1.87</c:v>
                </c:pt>
                <c:pt idx="8">
                  <c:v>1.42</c:v>
                </c:pt>
                <c:pt idx="9">
                  <c:v>1.2</c:v>
                </c:pt>
                <c:pt idx="10">
                  <c:v>1.1200000000000001</c:v>
                </c:pt>
                <c:pt idx="11">
                  <c:v>0.75</c:v>
                </c:pt>
              </c:numCache>
            </c:numRef>
          </c:val>
          <c:smooth val="0"/>
          <c:extLst>
            <c:ext xmlns:c16="http://schemas.microsoft.com/office/drawing/2014/chart" uri="{C3380CC4-5D6E-409C-BE32-E72D297353CC}">
              <c16:uniqueId val="{00000000-6C72-404D-9AE8-174F12D64FCB}"/>
            </c:ext>
          </c:extLst>
        </c:ser>
        <c:ser>
          <c:idx val="1"/>
          <c:order val="1"/>
          <c:tx>
            <c:strRef>
              <c:f>Microsoft!$D$69</c:f>
              <c:strCache>
                <c:ptCount val="1"/>
                <c:pt idx="0">
                  <c:v>   Dividends</c:v>
                </c:pt>
              </c:strCache>
            </c:strRef>
          </c:tx>
          <c:spPr>
            <a:ln w="28575" cap="rnd">
              <a:solidFill>
                <a:schemeClr val="accent2"/>
              </a:solidFill>
              <a:round/>
            </a:ln>
            <a:effectLst/>
          </c:spPr>
          <c:marker>
            <c:symbol val="none"/>
          </c:marker>
          <c:cat>
            <c:numRef>
              <c:f>Microsoft!$B$70:$B$81</c:f>
              <c:numCache>
                <c:formatCode>General</c:formatCode>
                <c:ptCount val="12"/>
                <c:pt idx="0">
                  <c:v>2015</c:v>
                </c:pt>
                <c:pt idx="1">
                  <c:v>2014</c:v>
                </c:pt>
                <c:pt idx="2">
                  <c:v>2013</c:v>
                </c:pt>
                <c:pt idx="3">
                  <c:v>2012</c:v>
                </c:pt>
                <c:pt idx="4">
                  <c:v>2011</c:v>
                </c:pt>
                <c:pt idx="5">
                  <c:v>2010</c:v>
                </c:pt>
                <c:pt idx="6">
                  <c:v>2009</c:v>
                </c:pt>
                <c:pt idx="7">
                  <c:v>2008</c:v>
                </c:pt>
                <c:pt idx="8">
                  <c:v>2007</c:v>
                </c:pt>
                <c:pt idx="9">
                  <c:v>2006</c:v>
                </c:pt>
                <c:pt idx="10">
                  <c:v>2005</c:v>
                </c:pt>
                <c:pt idx="11">
                  <c:v>2004</c:v>
                </c:pt>
              </c:numCache>
            </c:numRef>
          </c:cat>
          <c:val>
            <c:numRef>
              <c:f>Microsoft!$D$70:$D$81</c:f>
              <c:numCache>
                <c:formatCode>General</c:formatCode>
                <c:ptCount val="12"/>
                <c:pt idx="1">
                  <c:v>1.07</c:v>
                </c:pt>
                <c:pt idx="2">
                  <c:v>0.92</c:v>
                </c:pt>
                <c:pt idx="3">
                  <c:v>0.8</c:v>
                </c:pt>
                <c:pt idx="4">
                  <c:v>0.64</c:v>
                </c:pt>
                <c:pt idx="5">
                  <c:v>0.52</c:v>
                </c:pt>
                <c:pt idx="6">
                  <c:v>0.52</c:v>
                </c:pt>
                <c:pt idx="7">
                  <c:v>0.44</c:v>
                </c:pt>
                <c:pt idx="8">
                  <c:v>0.4</c:v>
                </c:pt>
                <c:pt idx="9">
                  <c:v>0.35</c:v>
                </c:pt>
                <c:pt idx="10">
                  <c:v>0.32</c:v>
                </c:pt>
                <c:pt idx="11">
                  <c:v>0.16</c:v>
                </c:pt>
              </c:numCache>
            </c:numRef>
          </c:val>
          <c:smooth val="0"/>
          <c:extLst>
            <c:ext xmlns:c16="http://schemas.microsoft.com/office/drawing/2014/chart" uri="{C3380CC4-5D6E-409C-BE32-E72D297353CC}">
              <c16:uniqueId val="{00000001-6C72-404D-9AE8-174F12D64FCB}"/>
            </c:ext>
          </c:extLst>
        </c:ser>
        <c:ser>
          <c:idx val="2"/>
          <c:order val="2"/>
          <c:tx>
            <c:strRef>
              <c:f>Microsoft!$E$69</c:f>
              <c:strCache>
                <c:ptCount val="1"/>
                <c:pt idx="0">
                  <c:v>RR</c:v>
                </c:pt>
              </c:strCache>
            </c:strRef>
          </c:tx>
          <c:spPr>
            <a:ln w="28575" cap="rnd">
              <a:solidFill>
                <a:schemeClr val="accent3"/>
              </a:solidFill>
              <a:round/>
            </a:ln>
            <a:effectLst/>
          </c:spPr>
          <c:marker>
            <c:symbol val="none"/>
          </c:marker>
          <c:trendline>
            <c:spPr>
              <a:ln w="19050" cap="rnd" cmpd="sng">
                <a:solidFill>
                  <a:schemeClr val="accent3"/>
                </a:solidFill>
                <a:prstDash val="solid"/>
              </a:ln>
              <a:effectLst/>
            </c:spPr>
            <c:trendlineType val="linear"/>
            <c:dispRSqr val="0"/>
            <c:dispEq val="0"/>
          </c:trendline>
          <c:cat>
            <c:numRef>
              <c:f>Microsoft!$B$70:$B$81</c:f>
              <c:numCache>
                <c:formatCode>General</c:formatCode>
                <c:ptCount val="12"/>
                <c:pt idx="0">
                  <c:v>2015</c:v>
                </c:pt>
                <c:pt idx="1">
                  <c:v>2014</c:v>
                </c:pt>
                <c:pt idx="2">
                  <c:v>2013</c:v>
                </c:pt>
                <c:pt idx="3">
                  <c:v>2012</c:v>
                </c:pt>
                <c:pt idx="4">
                  <c:v>2011</c:v>
                </c:pt>
                <c:pt idx="5">
                  <c:v>2010</c:v>
                </c:pt>
                <c:pt idx="6">
                  <c:v>2009</c:v>
                </c:pt>
                <c:pt idx="7">
                  <c:v>2008</c:v>
                </c:pt>
                <c:pt idx="8">
                  <c:v>2007</c:v>
                </c:pt>
                <c:pt idx="9">
                  <c:v>2006</c:v>
                </c:pt>
                <c:pt idx="10">
                  <c:v>2005</c:v>
                </c:pt>
                <c:pt idx="11">
                  <c:v>2004</c:v>
                </c:pt>
              </c:numCache>
            </c:numRef>
          </c:cat>
          <c:val>
            <c:numRef>
              <c:f>Microsoft!$E$70:$E$81</c:f>
              <c:numCache>
                <c:formatCode>General</c:formatCode>
                <c:ptCount val="12"/>
                <c:pt idx="1">
                  <c:v>0.40684410646387836</c:v>
                </c:pt>
                <c:pt idx="2">
                  <c:v>0.35658914728682173</c:v>
                </c:pt>
                <c:pt idx="3">
                  <c:v>0.4</c:v>
                </c:pt>
                <c:pt idx="4">
                  <c:v>0.23791821561338292</c:v>
                </c:pt>
                <c:pt idx="5">
                  <c:v>0.24761904761904763</c:v>
                </c:pt>
                <c:pt idx="6">
                  <c:v>0.32098765432098764</c:v>
                </c:pt>
                <c:pt idx="7">
                  <c:v>0.23529411764705882</c:v>
                </c:pt>
                <c:pt idx="8">
                  <c:v>0.28169014084507044</c:v>
                </c:pt>
                <c:pt idx="9">
                  <c:v>0.29166666666666669</c:v>
                </c:pt>
                <c:pt idx="10">
                  <c:v>0.2857142857142857</c:v>
                </c:pt>
                <c:pt idx="11">
                  <c:v>0.21333333333333335</c:v>
                </c:pt>
              </c:numCache>
            </c:numRef>
          </c:val>
          <c:smooth val="0"/>
          <c:extLst>
            <c:ext xmlns:c16="http://schemas.microsoft.com/office/drawing/2014/chart" uri="{C3380CC4-5D6E-409C-BE32-E72D297353CC}">
              <c16:uniqueId val="{00000002-6C72-404D-9AE8-174F12D64FCB}"/>
            </c:ext>
          </c:extLst>
        </c:ser>
        <c:dLbls>
          <c:showLegendKey val="0"/>
          <c:showVal val="0"/>
          <c:showCatName val="0"/>
          <c:showSerName val="0"/>
          <c:showPercent val="0"/>
          <c:showBubbleSize val="0"/>
        </c:dLbls>
        <c:smooth val="0"/>
        <c:axId val="230017104"/>
        <c:axId val="230005712"/>
      </c:lineChart>
      <c:catAx>
        <c:axId val="230017104"/>
        <c:scaling>
          <c:orientation val="maxMin"/>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0005712"/>
        <c:crosses val="autoZero"/>
        <c:auto val="1"/>
        <c:lblAlgn val="ctr"/>
        <c:lblOffset val="100"/>
        <c:noMultiLvlLbl val="0"/>
      </c:catAx>
      <c:valAx>
        <c:axId val="230005712"/>
        <c:scaling>
          <c:orientation val="minMax"/>
        </c:scaling>
        <c:delete val="0"/>
        <c:axPos val="r"/>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0017104"/>
        <c:crosses val="autoZero"/>
        <c:crossBetween val="between"/>
      </c:valAx>
      <c:spPr>
        <a:noFill/>
        <a:ln>
          <a:noFill/>
        </a:ln>
        <a:effectLst/>
      </c:spPr>
    </c:plotArea>
    <c:legend>
      <c:legendPos val="b"/>
      <c:layout>
        <c:manualLayout>
          <c:xMode val="edge"/>
          <c:yMode val="edge"/>
          <c:x val="8.2068448312993453E-2"/>
          <c:y val="0.79435061412168595"/>
          <c:w val="0.91550182019203086"/>
          <c:h val="0.183058957460622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title>
    <c:autoTitleDeleted val="0"/>
    <c:plotArea>
      <c:layout/>
      <c:lineChart>
        <c:grouping val="standard"/>
        <c:varyColors val="0"/>
        <c:ser>
          <c:idx val="0"/>
          <c:order val="0"/>
          <c:tx>
            <c:strRef>
              <c:f>Sheet4!$E$96</c:f>
              <c:strCache>
                <c:ptCount val="1"/>
                <c:pt idx="0">
                  <c:v>EBIT</c:v>
                </c:pt>
              </c:strCache>
            </c:strRef>
          </c:tx>
          <c:marker>
            <c:symbol val="none"/>
          </c:marker>
          <c:trendline>
            <c:trendlineType val="linear"/>
            <c:dispRSqr val="0"/>
            <c:dispEq val="0"/>
          </c:trendline>
          <c:cat>
            <c:numRef>
              <c:f>Sheet4!$F$95:$I$95</c:f>
              <c:numCache>
                <c:formatCode>General</c:formatCode>
                <c:ptCount val="4"/>
                <c:pt idx="0">
                  <c:v>2014</c:v>
                </c:pt>
                <c:pt idx="1">
                  <c:v>2013</c:v>
                </c:pt>
                <c:pt idx="2">
                  <c:v>2012</c:v>
                </c:pt>
                <c:pt idx="3">
                  <c:v>2011</c:v>
                </c:pt>
              </c:numCache>
            </c:numRef>
          </c:cat>
          <c:val>
            <c:numRef>
              <c:f>Sheet4!$F$96:$I$96</c:f>
              <c:numCache>
                <c:formatCode>#,##0</c:formatCode>
                <c:ptCount val="4"/>
                <c:pt idx="0">
                  <c:v>9167000</c:v>
                </c:pt>
                <c:pt idx="1">
                  <c:v>9002000</c:v>
                </c:pt>
                <c:pt idx="2">
                  <c:v>7801000</c:v>
                </c:pt>
                <c:pt idx="3">
                  <c:v>6596000</c:v>
                </c:pt>
              </c:numCache>
            </c:numRef>
          </c:val>
          <c:smooth val="1"/>
          <c:extLst>
            <c:ext xmlns:c16="http://schemas.microsoft.com/office/drawing/2014/chart" uri="{C3380CC4-5D6E-409C-BE32-E72D297353CC}">
              <c16:uniqueId val="{00000000-44F4-4D33-AA87-15DFDACA6639}"/>
            </c:ext>
          </c:extLst>
        </c:ser>
        <c:dLbls>
          <c:showLegendKey val="0"/>
          <c:showVal val="0"/>
          <c:showCatName val="0"/>
          <c:showSerName val="0"/>
          <c:showPercent val="0"/>
          <c:showBubbleSize val="0"/>
        </c:dLbls>
        <c:smooth val="0"/>
        <c:axId val="230007952"/>
        <c:axId val="230008512"/>
      </c:lineChart>
      <c:catAx>
        <c:axId val="230007952"/>
        <c:scaling>
          <c:orientation val="maxMin"/>
        </c:scaling>
        <c:delete val="0"/>
        <c:axPos val="b"/>
        <c:numFmt formatCode="General" sourceLinked="1"/>
        <c:majorTickMark val="out"/>
        <c:minorTickMark val="none"/>
        <c:tickLblPos val="nextTo"/>
        <c:crossAx val="230008512"/>
        <c:crosses val="autoZero"/>
        <c:auto val="1"/>
        <c:lblAlgn val="ctr"/>
        <c:lblOffset val="100"/>
        <c:noMultiLvlLbl val="0"/>
      </c:catAx>
      <c:valAx>
        <c:axId val="230008512"/>
        <c:scaling>
          <c:orientation val="minMax"/>
          <c:min val="6000000"/>
        </c:scaling>
        <c:delete val="0"/>
        <c:axPos val="r"/>
        <c:majorGridlines/>
        <c:numFmt formatCode="#,##0" sourceLinked="1"/>
        <c:majorTickMark val="out"/>
        <c:minorTickMark val="none"/>
        <c:tickLblPos val="nextTo"/>
        <c:crossAx val="230007952"/>
        <c:crosses val="autoZero"/>
        <c:crossBetween val="between"/>
      </c:valAx>
    </c:plotArea>
    <c:plotVisOnly val="1"/>
    <c:dispBlanksAs val="gap"/>
    <c:showDLblsOverMax val="0"/>
  </c:chart>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9.xml.rels><?xml version="1.0" encoding="UTF-8" standalone="yes"?>
<Relationships xmlns="http://schemas.openxmlformats.org/package/2006/relationships"><Relationship Id="rId1" Type="http://schemas.openxmlformats.org/officeDocument/2006/relationships/image" Target="../media/image100.png"/></Relationships>
</file>

<file path=ppt/diagrams/_rels/data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image" Target="../media/image19.jpeg"/></Relationships>
</file>

<file path=ppt/diagrams/_rels/data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diagrams/_rels/data23.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svg"/><Relationship Id="rId1" Type="http://schemas.openxmlformats.org/officeDocument/2006/relationships/image" Target="../media/image42.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image" Target="../media/image19.jpeg"/></Relationships>
</file>

<file path=ppt/diagrams/_rels/drawing21.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svg"/><Relationship Id="rId1" Type="http://schemas.openxmlformats.org/officeDocument/2006/relationships/image" Target="../media/image42.svg"/></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FCDA4D6-2E08-47CD-9129-3E9A6BC3D7CF}" type="doc">
      <dgm:prSet loTypeId="urn:microsoft.com/office/officeart/2005/8/layout/radial4" loCatId="relationship" qsTypeId="urn:microsoft.com/office/officeart/2005/8/quickstyle/3d3#1" qsCatId="3D" csTypeId="urn:microsoft.com/office/officeart/2005/8/colors/accent1_2#1" csCatId="accent1" phldr="1"/>
      <dgm:spPr/>
      <dgm:t>
        <a:bodyPr/>
        <a:lstStyle/>
        <a:p>
          <a:endParaRPr lang="en-GB"/>
        </a:p>
      </dgm:t>
    </dgm:pt>
    <dgm:pt modelId="{B39501E9-89A6-4E6E-9D5E-FCAF2C03653E}">
      <dgm:prSet phldrT="[Text]"/>
      <dgm:spPr/>
      <dgm:t>
        <a:bodyPr/>
        <a:lstStyle/>
        <a:p>
          <a:r>
            <a:rPr lang="en-GB" dirty="0"/>
            <a:t>Company Valuation</a:t>
          </a:r>
        </a:p>
      </dgm:t>
    </dgm:pt>
    <dgm:pt modelId="{B2638FD2-5467-4315-A099-D3A612606D98}" type="parTrans" cxnId="{F1E01C11-B0F6-4E5A-967C-80CF65F27B44}">
      <dgm:prSet/>
      <dgm:spPr/>
      <dgm:t>
        <a:bodyPr/>
        <a:lstStyle/>
        <a:p>
          <a:endParaRPr lang="en-GB"/>
        </a:p>
      </dgm:t>
    </dgm:pt>
    <dgm:pt modelId="{F843199F-A153-444B-B852-5F6F06F9D469}" type="sibTrans" cxnId="{F1E01C11-B0F6-4E5A-967C-80CF65F27B44}">
      <dgm:prSet/>
      <dgm:spPr/>
      <dgm:t>
        <a:bodyPr/>
        <a:lstStyle/>
        <a:p>
          <a:endParaRPr lang="en-GB"/>
        </a:p>
      </dgm:t>
    </dgm:pt>
    <dgm:pt modelId="{33AD0358-21DA-40E7-87FE-00F65E0EA23B}">
      <dgm:prSet phldrT="[Text]" custT="1"/>
      <dgm:spPr/>
      <dgm:t>
        <a:bodyPr/>
        <a:lstStyle/>
        <a:p>
          <a:r>
            <a:rPr lang="en-GB" sz="3200" b="1" dirty="0">
              <a:solidFill>
                <a:srgbClr val="002060"/>
              </a:solidFill>
            </a:rPr>
            <a:t>DCF</a:t>
          </a:r>
          <a:endParaRPr lang="en-GB" sz="1900" b="1" dirty="0">
            <a:solidFill>
              <a:srgbClr val="002060"/>
            </a:solidFill>
          </a:endParaRPr>
        </a:p>
        <a:p>
          <a:r>
            <a:rPr lang="en-GB" sz="1900" dirty="0"/>
            <a:t>Intrinsic Value</a:t>
          </a:r>
        </a:p>
        <a:p>
          <a:r>
            <a:rPr lang="en-GB" sz="1900" dirty="0"/>
            <a:t>Business Oriented</a:t>
          </a:r>
        </a:p>
      </dgm:t>
    </dgm:pt>
    <dgm:pt modelId="{6A24EBDB-89A5-415B-B14D-9F05E90C11AA}" type="parTrans" cxnId="{054489EA-B1D3-4C5B-ABA8-010DBD2433A4}">
      <dgm:prSet/>
      <dgm:spPr/>
      <dgm:t>
        <a:bodyPr/>
        <a:lstStyle/>
        <a:p>
          <a:endParaRPr lang="en-GB"/>
        </a:p>
      </dgm:t>
    </dgm:pt>
    <dgm:pt modelId="{2A934961-B8E1-4AD9-812C-EF57453023E3}" type="sibTrans" cxnId="{054489EA-B1D3-4C5B-ABA8-010DBD2433A4}">
      <dgm:prSet/>
      <dgm:spPr/>
      <dgm:t>
        <a:bodyPr/>
        <a:lstStyle/>
        <a:p>
          <a:endParaRPr lang="en-GB"/>
        </a:p>
      </dgm:t>
    </dgm:pt>
    <dgm:pt modelId="{2E50DD25-AE3D-4515-93E6-3ACF5929A1EF}">
      <dgm:prSet phldrT="[Text]" custT="1"/>
      <dgm:spPr/>
      <dgm:t>
        <a:bodyPr/>
        <a:lstStyle/>
        <a:p>
          <a:r>
            <a:rPr lang="en-GB" sz="3200" b="1" dirty="0">
              <a:solidFill>
                <a:srgbClr val="002060"/>
              </a:solidFill>
            </a:rPr>
            <a:t>Relative Valuation</a:t>
          </a:r>
        </a:p>
        <a:p>
          <a:r>
            <a:rPr lang="en-GB" sz="2000" dirty="0"/>
            <a:t>Other Assets</a:t>
          </a:r>
        </a:p>
        <a:p>
          <a:r>
            <a:rPr lang="en-GB" sz="2000" dirty="0"/>
            <a:t>Market Oriented</a:t>
          </a:r>
        </a:p>
      </dgm:t>
    </dgm:pt>
    <dgm:pt modelId="{0AB54842-CDD6-437F-B922-FDED8DB5C122}" type="parTrans" cxnId="{F5E72A7F-E657-4BC3-8E71-01E8C98539B4}">
      <dgm:prSet/>
      <dgm:spPr/>
      <dgm:t>
        <a:bodyPr/>
        <a:lstStyle/>
        <a:p>
          <a:endParaRPr lang="en-GB"/>
        </a:p>
      </dgm:t>
    </dgm:pt>
    <dgm:pt modelId="{7B145CB7-E4A2-496C-AF47-891E9178B4FF}" type="sibTrans" cxnId="{F5E72A7F-E657-4BC3-8E71-01E8C98539B4}">
      <dgm:prSet/>
      <dgm:spPr/>
      <dgm:t>
        <a:bodyPr/>
        <a:lstStyle/>
        <a:p>
          <a:endParaRPr lang="en-GB"/>
        </a:p>
      </dgm:t>
    </dgm:pt>
    <dgm:pt modelId="{1CDD1CDC-ABAA-412F-BAF6-9D82F62EA204}">
      <dgm:prSet phldrT="[Text]" custT="1"/>
      <dgm:spPr/>
      <dgm:t>
        <a:bodyPr/>
        <a:lstStyle/>
        <a:p>
          <a:r>
            <a:rPr lang="en-GB" sz="3200" b="1" dirty="0">
              <a:solidFill>
                <a:srgbClr val="002060"/>
              </a:solidFill>
            </a:rPr>
            <a:t>Real Options</a:t>
          </a:r>
        </a:p>
        <a:p>
          <a:r>
            <a:rPr lang="en-GB" sz="2100" dirty="0"/>
            <a:t>Derivatives</a:t>
          </a:r>
        </a:p>
        <a:p>
          <a:r>
            <a:rPr lang="en-GB" sz="2100" dirty="0"/>
            <a:t>Flexibility</a:t>
          </a:r>
        </a:p>
      </dgm:t>
    </dgm:pt>
    <dgm:pt modelId="{5C7C2546-BC97-4670-A97E-423146CF054C}" type="parTrans" cxnId="{32BFCC43-ABA5-4EB3-A19F-C6E60A5EC05E}">
      <dgm:prSet/>
      <dgm:spPr/>
      <dgm:t>
        <a:bodyPr/>
        <a:lstStyle/>
        <a:p>
          <a:endParaRPr lang="en-GB"/>
        </a:p>
      </dgm:t>
    </dgm:pt>
    <dgm:pt modelId="{844B1F57-5506-45BC-8A4A-DB10CCD5F622}" type="sibTrans" cxnId="{32BFCC43-ABA5-4EB3-A19F-C6E60A5EC05E}">
      <dgm:prSet/>
      <dgm:spPr/>
      <dgm:t>
        <a:bodyPr/>
        <a:lstStyle/>
        <a:p>
          <a:endParaRPr lang="en-GB"/>
        </a:p>
      </dgm:t>
    </dgm:pt>
    <dgm:pt modelId="{4C83E1C6-F3B7-4F2E-8268-6F1E0B599E60}">
      <dgm:prSet phldrT="[Text]"/>
      <dgm:spPr/>
      <dgm:t>
        <a:bodyPr/>
        <a:lstStyle/>
        <a:p>
          <a:r>
            <a:rPr lang="en-GB" dirty="0"/>
            <a:t>Uncertainty</a:t>
          </a:r>
        </a:p>
      </dgm:t>
    </dgm:pt>
    <dgm:pt modelId="{FE38549A-9FA6-46F1-959B-60D37CE3D39A}" type="parTrans" cxnId="{D0FEFBAF-C68D-4544-B6C7-BD1573A541FA}">
      <dgm:prSet/>
      <dgm:spPr/>
      <dgm:t>
        <a:bodyPr/>
        <a:lstStyle/>
        <a:p>
          <a:endParaRPr lang="en-GB"/>
        </a:p>
      </dgm:t>
    </dgm:pt>
    <dgm:pt modelId="{1C38D96E-F1B1-4D18-9132-450FAAF58D69}" type="sibTrans" cxnId="{D0FEFBAF-C68D-4544-B6C7-BD1573A541FA}">
      <dgm:prSet/>
      <dgm:spPr/>
      <dgm:t>
        <a:bodyPr/>
        <a:lstStyle/>
        <a:p>
          <a:endParaRPr lang="en-GB"/>
        </a:p>
      </dgm:t>
    </dgm:pt>
    <dgm:pt modelId="{2F943697-8AD0-49C4-8004-91AD011F126B}">
      <dgm:prSet phldrT="[Text]"/>
      <dgm:spPr/>
      <dgm:t>
        <a:bodyPr/>
        <a:lstStyle/>
        <a:p>
          <a:r>
            <a:rPr lang="en-GB" dirty="0"/>
            <a:t>Bias</a:t>
          </a:r>
        </a:p>
      </dgm:t>
    </dgm:pt>
    <dgm:pt modelId="{8977C4B2-5B42-4870-B021-AF50E3F1DF81}" type="parTrans" cxnId="{12261212-8DC5-439A-8361-828A529F89AD}">
      <dgm:prSet/>
      <dgm:spPr/>
      <dgm:t>
        <a:bodyPr/>
        <a:lstStyle/>
        <a:p>
          <a:endParaRPr lang="en-GB"/>
        </a:p>
      </dgm:t>
    </dgm:pt>
    <dgm:pt modelId="{18EACDF7-30F7-4FC3-9317-5E4BC4766B29}" type="sibTrans" cxnId="{12261212-8DC5-439A-8361-828A529F89AD}">
      <dgm:prSet/>
      <dgm:spPr/>
      <dgm:t>
        <a:bodyPr/>
        <a:lstStyle/>
        <a:p>
          <a:endParaRPr lang="en-GB"/>
        </a:p>
      </dgm:t>
    </dgm:pt>
    <dgm:pt modelId="{56371C0F-41D2-4924-AF57-85FC219B062C}">
      <dgm:prSet phldrT="[Text]"/>
      <dgm:spPr/>
      <dgm:t>
        <a:bodyPr/>
        <a:lstStyle/>
        <a:p>
          <a:r>
            <a:rPr lang="en-GB" dirty="0"/>
            <a:t>Complexity</a:t>
          </a:r>
        </a:p>
      </dgm:t>
    </dgm:pt>
    <dgm:pt modelId="{E3462BE8-B1B1-46E3-9EFA-8BEF4540D3E6}" type="parTrans" cxnId="{796E45CE-7F9B-43CC-94DF-075AE975C176}">
      <dgm:prSet/>
      <dgm:spPr/>
      <dgm:t>
        <a:bodyPr/>
        <a:lstStyle/>
        <a:p>
          <a:endParaRPr lang="en-GB"/>
        </a:p>
      </dgm:t>
    </dgm:pt>
    <dgm:pt modelId="{A45CD1E7-8372-4437-AD13-F6EC1AACA7BC}" type="sibTrans" cxnId="{796E45CE-7F9B-43CC-94DF-075AE975C176}">
      <dgm:prSet/>
      <dgm:spPr/>
      <dgm:t>
        <a:bodyPr/>
        <a:lstStyle/>
        <a:p>
          <a:endParaRPr lang="en-GB"/>
        </a:p>
      </dgm:t>
    </dgm:pt>
    <dgm:pt modelId="{CA860D9C-9932-4C3A-B5E4-8FDCE70469EA}" type="pres">
      <dgm:prSet presAssocID="{7FCDA4D6-2E08-47CD-9129-3E9A6BC3D7CF}" presName="cycle" presStyleCnt="0">
        <dgm:presLayoutVars>
          <dgm:chMax val="1"/>
          <dgm:dir/>
          <dgm:animLvl val="ctr"/>
          <dgm:resizeHandles val="exact"/>
        </dgm:presLayoutVars>
      </dgm:prSet>
      <dgm:spPr/>
    </dgm:pt>
    <dgm:pt modelId="{EE43AA89-C318-440A-9F16-2919F17370E9}" type="pres">
      <dgm:prSet presAssocID="{B39501E9-89A6-4E6E-9D5E-FCAF2C03653E}" presName="centerShape" presStyleLbl="node0" presStyleIdx="0" presStyleCnt="1" custScaleX="95710" custScaleY="46264" custLinFactNeighborX="-3324" custLinFactNeighborY="-28166"/>
      <dgm:spPr/>
    </dgm:pt>
    <dgm:pt modelId="{BF8CE21D-0E26-4BEE-9B67-B4DB59AC6557}" type="pres">
      <dgm:prSet presAssocID="{6A24EBDB-89A5-415B-B14D-9F05E90C11AA}" presName="parTrans" presStyleLbl="bgSibTrans2D1" presStyleIdx="0" presStyleCnt="6" custScaleY="32250"/>
      <dgm:spPr/>
    </dgm:pt>
    <dgm:pt modelId="{A3B6F484-CADE-451A-B03F-CE3246E32F6B}" type="pres">
      <dgm:prSet presAssocID="{33AD0358-21DA-40E7-87FE-00F65E0EA23B}" presName="node" presStyleLbl="node1" presStyleIdx="0" presStyleCnt="6" custScaleX="153919" custScaleY="151812" custRadScaleRad="92141" custRadScaleInc="2020">
        <dgm:presLayoutVars>
          <dgm:bulletEnabled val="1"/>
        </dgm:presLayoutVars>
      </dgm:prSet>
      <dgm:spPr/>
    </dgm:pt>
    <dgm:pt modelId="{10E2E671-1D52-4928-A1C6-E0C23DB2954A}" type="pres">
      <dgm:prSet presAssocID="{0AB54842-CDD6-437F-B922-FDED8DB5C122}" presName="parTrans" presStyleLbl="bgSibTrans2D1" presStyleIdx="1" presStyleCnt="6" custScaleY="32250"/>
      <dgm:spPr/>
    </dgm:pt>
    <dgm:pt modelId="{114F5292-13FE-4767-9405-4B369DB9253A}" type="pres">
      <dgm:prSet presAssocID="{2E50DD25-AE3D-4515-93E6-3ACF5929A1EF}" presName="node" presStyleLbl="node1" presStyleIdx="1" presStyleCnt="6" custScaleX="153919" custScaleY="156589" custRadScaleRad="6540" custRadScaleInc="-85900">
        <dgm:presLayoutVars>
          <dgm:bulletEnabled val="1"/>
        </dgm:presLayoutVars>
      </dgm:prSet>
      <dgm:spPr/>
    </dgm:pt>
    <dgm:pt modelId="{5D121F3F-34E4-486C-BA24-B52ED92D021D}" type="pres">
      <dgm:prSet presAssocID="{5C7C2546-BC97-4670-A97E-423146CF054C}" presName="parTrans" presStyleLbl="bgSibTrans2D1" presStyleIdx="2" presStyleCnt="6" custScaleY="32250"/>
      <dgm:spPr/>
    </dgm:pt>
    <dgm:pt modelId="{FE98681D-D65F-4600-8482-7940DF1B513C}" type="pres">
      <dgm:prSet presAssocID="{1CDD1CDC-ABAA-412F-BAF6-9D82F62EA204}" presName="node" presStyleLbl="node1" presStyleIdx="2" presStyleCnt="6" custScaleX="153919" custScaleY="156589" custRadScaleRad="85716" custRadScaleInc="392355">
        <dgm:presLayoutVars>
          <dgm:bulletEnabled val="1"/>
        </dgm:presLayoutVars>
      </dgm:prSet>
      <dgm:spPr/>
    </dgm:pt>
    <dgm:pt modelId="{36AF84C6-66BE-483D-996B-A7FBCFFAD9B3}" type="pres">
      <dgm:prSet presAssocID="{FE38549A-9FA6-46F1-959B-60D37CE3D39A}" presName="parTrans" presStyleLbl="bgSibTrans2D1" presStyleIdx="3" presStyleCnt="6" custScaleY="32250"/>
      <dgm:spPr/>
    </dgm:pt>
    <dgm:pt modelId="{B5DD2568-723C-4242-93BA-BAEFE068095E}" type="pres">
      <dgm:prSet presAssocID="{4C83E1C6-F3B7-4F2E-8268-6F1E0B599E60}" presName="node" presStyleLbl="node1" presStyleIdx="3" presStyleCnt="6" custRadScaleRad="107654" custRadScaleInc="-71258">
        <dgm:presLayoutVars>
          <dgm:bulletEnabled val="1"/>
        </dgm:presLayoutVars>
      </dgm:prSet>
      <dgm:spPr/>
    </dgm:pt>
    <dgm:pt modelId="{15226B39-7ECE-457F-BF8B-2AFBADEE0B9B}" type="pres">
      <dgm:prSet presAssocID="{8977C4B2-5B42-4870-B021-AF50E3F1DF81}" presName="parTrans" presStyleLbl="bgSibTrans2D1" presStyleIdx="4" presStyleCnt="6" custScaleY="32250"/>
      <dgm:spPr/>
    </dgm:pt>
    <dgm:pt modelId="{09361335-4AAD-442A-B10C-E1849C562F66}" type="pres">
      <dgm:prSet presAssocID="{2F943697-8AD0-49C4-8004-91AD011F126B}" presName="node" presStyleLbl="node1" presStyleIdx="4" presStyleCnt="6" custRadScaleRad="140144" custRadScaleInc="-313099">
        <dgm:presLayoutVars>
          <dgm:bulletEnabled val="1"/>
        </dgm:presLayoutVars>
      </dgm:prSet>
      <dgm:spPr/>
    </dgm:pt>
    <dgm:pt modelId="{31E1642A-C702-409F-AEA9-2A52F27EC1F3}" type="pres">
      <dgm:prSet presAssocID="{E3462BE8-B1B1-46E3-9EFA-8BEF4540D3E6}" presName="parTrans" presStyleLbl="bgSibTrans2D1" presStyleIdx="5" presStyleCnt="6" custScaleY="32250"/>
      <dgm:spPr/>
    </dgm:pt>
    <dgm:pt modelId="{528F45F9-A1BB-44D0-910D-5B51B2457ED1}" type="pres">
      <dgm:prSet presAssocID="{56371C0F-41D2-4924-AF57-85FC219B062C}" presName="node" presStyleLbl="node1" presStyleIdx="5" presStyleCnt="6" custRadScaleRad="133592" custRadScaleInc="-178522">
        <dgm:presLayoutVars>
          <dgm:bulletEnabled val="1"/>
        </dgm:presLayoutVars>
      </dgm:prSet>
      <dgm:spPr/>
    </dgm:pt>
  </dgm:ptLst>
  <dgm:cxnLst>
    <dgm:cxn modelId="{60394E0C-6C0B-4ED7-820F-124EF2412EDA}" type="presOf" srcId="{8977C4B2-5B42-4870-B021-AF50E3F1DF81}" destId="{15226B39-7ECE-457F-BF8B-2AFBADEE0B9B}" srcOrd="0" destOrd="0" presId="urn:microsoft.com/office/officeart/2005/8/layout/radial4"/>
    <dgm:cxn modelId="{F1E01C11-B0F6-4E5A-967C-80CF65F27B44}" srcId="{7FCDA4D6-2E08-47CD-9129-3E9A6BC3D7CF}" destId="{B39501E9-89A6-4E6E-9D5E-FCAF2C03653E}" srcOrd="0" destOrd="0" parTransId="{B2638FD2-5467-4315-A099-D3A612606D98}" sibTransId="{F843199F-A153-444B-B852-5F6F06F9D469}"/>
    <dgm:cxn modelId="{12261212-8DC5-439A-8361-828A529F89AD}" srcId="{B39501E9-89A6-4E6E-9D5E-FCAF2C03653E}" destId="{2F943697-8AD0-49C4-8004-91AD011F126B}" srcOrd="4" destOrd="0" parTransId="{8977C4B2-5B42-4870-B021-AF50E3F1DF81}" sibTransId="{18EACDF7-30F7-4FC3-9317-5E4BC4766B29}"/>
    <dgm:cxn modelId="{C6213A30-849D-4428-B74C-907847B7D795}" type="presOf" srcId="{2E50DD25-AE3D-4515-93E6-3ACF5929A1EF}" destId="{114F5292-13FE-4767-9405-4B369DB9253A}" srcOrd="0" destOrd="0" presId="urn:microsoft.com/office/officeart/2005/8/layout/radial4"/>
    <dgm:cxn modelId="{32BFCC43-ABA5-4EB3-A19F-C6E60A5EC05E}" srcId="{B39501E9-89A6-4E6E-9D5E-FCAF2C03653E}" destId="{1CDD1CDC-ABAA-412F-BAF6-9D82F62EA204}" srcOrd="2" destOrd="0" parTransId="{5C7C2546-BC97-4670-A97E-423146CF054C}" sibTransId="{844B1F57-5506-45BC-8A4A-DB10CCD5F622}"/>
    <dgm:cxn modelId="{2AA80F6A-B153-4EED-AB11-BAB41B91E472}" type="presOf" srcId="{B39501E9-89A6-4E6E-9D5E-FCAF2C03653E}" destId="{EE43AA89-C318-440A-9F16-2919F17370E9}" srcOrd="0" destOrd="0" presId="urn:microsoft.com/office/officeart/2005/8/layout/radial4"/>
    <dgm:cxn modelId="{18F59C6A-4876-4D1F-9FA6-834DD4440545}" type="presOf" srcId="{56371C0F-41D2-4924-AF57-85FC219B062C}" destId="{528F45F9-A1BB-44D0-910D-5B51B2457ED1}" srcOrd="0" destOrd="0" presId="urn:microsoft.com/office/officeart/2005/8/layout/radial4"/>
    <dgm:cxn modelId="{03FE236C-1D78-4D99-87FC-C0C36D065CF2}" type="presOf" srcId="{1CDD1CDC-ABAA-412F-BAF6-9D82F62EA204}" destId="{FE98681D-D65F-4600-8482-7940DF1B513C}" srcOrd="0" destOrd="0" presId="urn:microsoft.com/office/officeart/2005/8/layout/radial4"/>
    <dgm:cxn modelId="{B965F04D-34CC-44A5-8AEB-4E1BF254E58A}" type="presOf" srcId="{2F943697-8AD0-49C4-8004-91AD011F126B}" destId="{09361335-4AAD-442A-B10C-E1849C562F66}" srcOrd="0" destOrd="0" presId="urn:microsoft.com/office/officeart/2005/8/layout/radial4"/>
    <dgm:cxn modelId="{5129D770-4B31-4BB5-85A9-60F6D9D59645}" type="presOf" srcId="{FE38549A-9FA6-46F1-959B-60D37CE3D39A}" destId="{36AF84C6-66BE-483D-996B-A7FBCFFAD9B3}" srcOrd="0" destOrd="0" presId="urn:microsoft.com/office/officeart/2005/8/layout/radial4"/>
    <dgm:cxn modelId="{A5F99154-964E-4327-83CC-1404A4B4EDD0}" type="presOf" srcId="{E3462BE8-B1B1-46E3-9EFA-8BEF4540D3E6}" destId="{31E1642A-C702-409F-AEA9-2A52F27EC1F3}" srcOrd="0" destOrd="0" presId="urn:microsoft.com/office/officeart/2005/8/layout/radial4"/>
    <dgm:cxn modelId="{F5E72A7F-E657-4BC3-8E71-01E8C98539B4}" srcId="{B39501E9-89A6-4E6E-9D5E-FCAF2C03653E}" destId="{2E50DD25-AE3D-4515-93E6-3ACF5929A1EF}" srcOrd="1" destOrd="0" parTransId="{0AB54842-CDD6-437F-B922-FDED8DB5C122}" sibTransId="{7B145CB7-E4A2-496C-AF47-891E9178B4FF}"/>
    <dgm:cxn modelId="{515FB697-FC56-4B4B-8469-68485F6D66BA}" type="presOf" srcId="{7FCDA4D6-2E08-47CD-9129-3E9A6BC3D7CF}" destId="{CA860D9C-9932-4C3A-B5E4-8FDCE70469EA}" srcOrd="0" destOrd="0" presId="urn:microsoft.com/office/officeart/2005/8/layout/radial4"/>
    <dgm:cxn modelId="{726C1CA7-4CB6-40D5-AADD-E0484D9A27F3}" type="presOf" srcId="{33AD0358-21DA-40E7-87FE-00F65E0EA23B}" destId="{A3B6F484-CADE-451A-B03F-CE3246E32F6B}" srcOrd="0" destOrd="0" presId="urn:microsoft.com/office/officeart/2005/8/layout/radial4"/>
    <dgm:cxn modelId="{EB04EEAA-1893-4EE4-A053-774937655B58}" type="presOf" srcId="{4C83E1C6-F3B7-4F2E-8268-6F1E0B599E60}" destId="{B5DD2568-723C-4242-93BA-BAEFE068095E}" srcOrd="0" destOrd="0" presId="urn:microsoft.com/office/officeart/2005/8/layout/radial4"/>
    <dgm:cxn modelId="{D0FEFBAF-C68D-4544-B6C7-BD1573A541FA}" srcId="{B39501E9-89A6-4E6E-9D5E-FCAF2C03653E}" destId="{4C83E1C6-F3B7-4F2E-8268-6F1E0B599E60}" srcOrd="3" destOrd="0" parTransId="{FE38549A-9FA6-46F1-959B-60D37CE3D39A}" sibTransId="{1C38D96E-F1B1-4D18-9132-450FAAF58D69}"/>
    <dgm:cxn modelId="{796E45CE-7F9B-43CC-94DF-075AE975C176}" srcId="{B39501E9-89A6-4E6E-9D5E-FCAF2C03653E}" destId="{56371C0F-41D2-4924-AF57-85FC219B062C}" srcOrd="5" destOrd="0" parTransId="{E3462BE8-B1B1-46E3-9EFA-8BEF4540D3E6}" sibTransId="{A45CD1E7-8372-4437-AD13-F6EC1AACA7BC}"/>
    <dgm:cxn modelId="{971546E1-FA2F-4967-98C6-3596E3D4D8C6}" type="presOf" srcId="{5C7C2546-BC97-4670-A97E-423146CF054C}" destId="{5D121F3F-34E4-486C-BA24-B52ED92D021D}" srcOrd="0" destOrd="0" presId="urn:microsoft.com/office/officeart/2005/8/layout/radial4"/>
    <dgm:cxn modelId="{054489EA-B1D3-4C5B-ABA8-010DBD2433A4}" srcId="{B39501E9-89A6-4E6E-9D5E-FCAF2C03653E}" destId="{33AD0358-21DA-40E7-87FE-00F65E0EA23B}" srcOrd="0" destOrd="0" parTransId="{6A24EBDB-89A5-415B-B14D-9F05E90C11AA}" sibTransId="{2A934961-B8E1-4AD9-812C-EF57453023E3}"/>
    <dgm:cxn modelId="{CC7E22F0-3101-4F12-9D87-C9CD94F47D92}" type="presOf" srcId="{6A24EBDB-89A5-415B-B14D-9F05E90C11AA}" destId="{BF8CE21D-0E26-4BEE-9B67-B4DB59AC6557}" srcOrd="0" destOrd="0" presId="urn:microsoft.com/office/officeart/2005/8/layout/radial4"/>
    <dgm:cxn modelId="{D0BD8DFA-96DC-4D8E-B197-444668AA8DEA}" type="presOf" srcId="{0AB54842-CDD6-437F-B922-FDED8DB5C122}" destId="{10E2E671-1D52-4928-A1C6-E0C23DB2954A}" srcOrd="0" destOrd="0" presId="urn:microsoft.com/office/officeart/2005/8/layout/radial4"/>
    <dgm:cxn modelId="{F04F8A59-2B8B-438B-98A8-B10A84BE3E91}" type="presParOf" srcId="{CA860D9C-9932-4C3A-B5E4-8FDCE70469EA}" destId="{EE43AA89-C318-440A-9F16-2919F17370E9}" srcOrd="0" destOrd="0" presId="urn:microsoft.com/office/officeart/2005/8/layout/radial4"/>
    <dgm:cxn modelId="{80556AAB-FABF-4ECF-8895-1BF205A4B3F6}" type="presParOf" srcId="{CA860D9C-9932-4C3A-B5E4-8FDCE70469EA}" destId="{BF8CE21D-0E26-4BEE-9B67-B4DB59AC6557}" srcOrd="1" destOrd="0" presId="urn:microsoft.com/office/officeart/2005/8/layout/radial4"/>
    <dgm:cxn modelId="{4B73084B-7061-4F3D-A490-377F25F3FAFA}" type="presParOf" srcId="{CA860D9C-9932-4C3A-B5E4-8FDCE70469EA}" destId="{A3B6F484-CADE-451A-B03F-CE3246E32F6B}" srcOrd="2" destOrd="0" presId="urn:microsoft.com/office/officeart/2005/8/layout/radial4"/>
    <dgm:cxn modelId="{07FD82B5-FF1C-42F7-ADA2-65C90E754E41}" type="presParOf" srcId="{CA860D9C-9932-4C3A-B5E4-8FDCE70469EA}" destId="{10E2E671-1D52-4928-A1C6-E0C23DB2954A}" srcOrd="3" destOrd="0" presId="urn:microsoft.com/office/officeart/2005/8/layout/radial4"/>
    <dgm:cxn modelId="{73B91EBF-CADF-4DC5-BD1D-C8F643519AA1}" type="presParOf" srcId="{CA860D9C-9932-4C3A-B5E4-8FDCE70469EA}" destId="{114F5292-13FE-4767-9405-4B369DB9253A}" srcOrd="4" destOrd="0" presId="urn:microsoft.com/office/officeart/2005/8/layout/radial4"/>
    <dgm:cxn modelId="{57058FAD-CF83-4209-B93D-65EE5790D78B}" type="presParOf" srcId="{CA860D9C-9932-4C3A-B5E4-8FDCE70469EA}" destId="{5D121F3F-34E4-486C-BA24-B52ED92D021D}" srcOrd="5" destOrd="0" presId="urn:microsoft.com/office/officeart/2005/8/layout/radial4"/>
    <dgm:cxn modelId="{63502818-43EC-4F11-9EFA-64DD71107775}" type="presParOf" srcId="{CA860D9C-9932-4C3A-B5E4-8FDCE70469EA}" destId="{FE98681D-D65F-4600-8482-7940DF1B513C}" srcOrd="6" destOrd="0" presId="urn:microsoft.com/office/officeart/2005/8/layout/radial4"/>
    <dgm:cxn modelId="{50081CFE-5027-405C-99CC-A5ADC0B0B986}" type="presParOf" srcId="{CA860D9C-9932-4C3A-B5E4-8FDCE70469EA}" destId="{36AF84C6-66BE-483D-996B-A7FBCFFAD9B3}" srcOrd="7" destOrd="0" presId="urn:microsoft.com/office/officeart/2005/8/layout/radial4"/>
    <dgm:cxn modelId="{3B3D4BD4-7D03-4ED5-AD31-18F0D6DFA58C}" type="presParOf" srcId="{CA860D9C-9932-4C3A-B5E4-8FDCE70469EA}" destId="{B5DD2568-723C-4242-93BA-BAEFE068095E}" srcOrd="8" destOrd="0" presId="urn:microsoft.com/office/officeart/2005/8/layout/radial4"/>
    <dgm:cxn modelId="{3EAFC8FC-99B5-4C05-984F-32C6A3EA3EF6}" type="presParOf" srcId="{CA860D9C-9932-4C3A-B5E4-8FDCE70469EA}" destId="{15226B39-7ECE-457F-BF8B-2AFBADEE0B9B}" srcOrd="9" destOrd="0" presId="urn:microsoft.com/office/officeart/2005/8/layout/radial4"/>
    <dgm:cxn modelId="{CCAC028E-774F-467F-804F-07ACA4F84412}" type="presParOf" srcId="{CA860D9C-9932-4C3A-B5E4-8FDCE70469EA}" destId="{09361335-4AAD-442A-B10C-E1849C562F66}" srcOrd="10" destOrd="0" presId="urn:microsoft.com/office/officeart/2005/8/layout/radial4"/>
    <dgm:cxn modelId="{A84C1051-E779-4067-B82C-3FE7EE2FAAA4}" type="presParOf" srcId="{CA860D9C-9932-4C3A-B5E4-8FDCE70469EA}" destId="{31E1642A-C702-409F-AEA9-2A52F27EC1F3}" srcOrd="11" destOrd="0" presId="urn:microsoft.com/office/officeart/2005/8/layout/radial4"/>
    <dgm:cxn modelId="{067BA791-1EA8-46D9-B2CA-C8B4C8A4FA8F}" type="presParOf" srcId="{CA860D9C-9932-4C3A-B5E4-8FDCE70469EA}" destId="{528F45F9-A1BB-44D0-910D-5B51B2457ED1}" srcOrd="12"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FE75F55-EDDC-45AB-AB0B-72E873278BBE}" type="doc">
      <dgm:prSet loTypeId="urn:diagrams.loki3.com/BracketList" loCatId="list" qsTypeId="urn:microsoft.com/office/officeart/2005/8/quickstyle/3d3#4" qsCatId="3D" csTypeId="urn:microsoft.com/office/officeart/2005/8/colors/colorful1#1" csCatId="colorful" phldr="1"/>
      <dgm:spPr/>
      <dgm:t>
        <a:bodyPr/>
        <a:lstStyle/>
        <a:p>
          <a:endParaRPr lang="en-GB"/>
        </a:p>
      </dgm:t>
    </dgm:pt>
    <dgm:pt modelId="{EC3C6234-5EAB-41DF-A544-378DAD8F0B20}">
      <dgm:prSet custT="1"/>
      <dgm:spPr/>
      <dgm:t>
        <a:bodyPr/>
        <a:lstStyle/>
        <a:p>
          <a:pPr algn="r" rtl="0"/>
          <a:r>
            <a:rPr lang="en-GB" sz="2800" dirty="0"/>
            <a:t>DCF Input I: </a:t>
          </a:r>
        </a:p>
        <a:p>
          <a:pPr algn="ctr" rtl="0"/>
          <a:r>
            <a:rPr lang="en-GB" sz="2800" dirty="0"/>
            <a:t>Cash Flow</a:t>
          </a:r>
        </a:p>
      </dgm:t>
    </dgm:pt>
    <dgm:pt modelId="{ED7E63F3-BECC-41BC-B6C4-95BFA51C499B}" type="parTrans" cxnId="{DD873CBB-21BE-439A-828D-288ABAE56741}">
      <dgm:prSet/>
      <dgm:spPr/>
      <dgm:t>
        <a:bodyPr/>
        <a:lstStyle/>
        <a:p>
          <a:endParaRPr lang="en-US" sz="1400"/>
        </a:p>
      </dgm:t>
    </dgm:pt>
    <dgm:pt modelId="{C15E1024-EC5A-4CEF-B57B-130B77D7902A}" type="sibTrans" cxnId="{DD873CBB-21BE-439A-828D-288ABAE56741}">
      <dgm:prSet custT="1"/>
      <dgm:spPr/>
      <dgm:t>
        <a:bodyPr/>
        <a:lstStyle/>
        <a:p>
          <a:endParaRPr lang="en-US" sz="200"/>
        </a:p>
      </dgm:t>
    </dgm:pt>
    <dgm:pt modelId="{710D564A-0E23-4369-809B-3B1B9F3DCC54}">
      <dgm:prSet custT="1"/>
      <dgm:spPr/>
      <dgm:t>
        <a:bodyPr/>
        <a:lstStyle/>
        <a:p>
          <a:pPr algn="r" rtl="0"/>
          <a:r>
            <a:rPr lang="en-GB" sz="2800" dirty="0"/>
            <a:t>DCF Input II:</a:t>
          </a:r>
        </a:p>
        <a:p>
          <a:pPr algn="ctr" rtl="0"/>
          <a:r>
            <a:rPr lang="en-GB" sz="2800" dirty="0"/>
            <a:t> Growth</a:t>
          </a:r>
        </a:p>
      </dgm:t>
    </dgm:pt>
    <dgm:pt modelId="{A226CDC9-C5D9-4B34-8EFB-B7FA4A91824F}" type="parTrans" cxnId="{B76C6F3C-C8DF-4994-BA38-F211F81A007A}">
      <dgm:prSet/>
      <dgm:spPr/>
      <dgm:t>
        <a:bodyPr/>
        <a:lstStyle/>
        <a:p>
          <a:endParaRPr lang="en-GB"/>
        </a:p>
      </dgm:t>
    </dgm:pt>
    <dgm:pt modelId="{2F957021-57C1-40FE-81E7-69397B2B1CD4}" type="sibTrans" cxnId="{B76C6F3C-C8DF-4994-BA38-F211F81A007A}">
      <dgm:prSet/>
      <dgm:spPr/>
      <dgm:t>
        <a:bodyPr/>
        <a:lstStyle/>
        <a:p>
          <a:endParaRPr lang="en-GB"/>
        </a:p>
      </dgm:t>
    </dgm:pt>
    <dgm:pt modelId="{6F3A5BC1-D269-4E26-BE98-D575DE53307A}">
      <dgm:prSet custT="1"/>
      <dgm:spPr/>
      <dgm:t>
        <a:bodyPr/>
        <a:lstStyle/>
        <a:p>
          <a:pPr rtl="0"/>
          <a:r>
            <a:rPr lang="en-GB" sz="2800"/>
            <a:t>From Earnings to Cash flows</a:t>
          </a:r>
          <a:endParaRPr lang="en-GB" sz="2800" dirty="0"/>
        </a:p>
      </dgm:t>
    </dgm:pt>
    <dgm:pt modelId="{4A7575FB-E159-46BE-BEF5-309A5B629BA8}" type="parTrans" cxnId="{AD86DD99-442F-4584-B0E1-9D3EF0F99BB3}">
      <dgm:prSet/>
      <dgm:spPr/>
      <dgm:t>
        <a:bodyPr/>
        <a:lstStyle/>
        <a:p>
          <a:endParaRPr lang="en-GB"/>
        </a:p>
      </dgm:t>
    </dgm:pt>
    <dgm:pt modelId="{216EA87D-0F32-4854-8D48-F0852BF54C4F}" type="sibTrans" cxnId="{AD86DD99-442F-4584-B0E1-9D3EF0F99BB3}">
      <dgm:prSet/>
      <dgm:spPr/>
      <dgm:t>
        <a:bodyPr/>
        <a:lstStyle/>
        <a:p>
          <a:endParaRPr lang="en-GB"/>
        </a:p>
      </dgm:t>
    </dgm:pt>
    <dgm:pt modelId="{F0E20416-375E-4C67-B275-6A968D5D9A80}">
      <dgm:prSet custT="1"/>
      <dgm:spPr/>
      <dgm:t>
        <a:bodyPr/>
        <a:lstStyle/>
        <a:p>
          <a:pPr rtl="0"/>
          <a:r>
            <a:rPr lang="en-GB" sz="2800"/>
            <a:t>Earnings Adjustments</a:t>
          </a:r>
          <a:endParaRPr lang="en-GB" sz="2800" dirty="0"/>
        </a:p>
      </dgm:t>
    </dgm:pt>
    <dgm:pt modelId="{DCDCD70C-68F3-49A2-8675-14F4E141D79D}" type="parTrans" cxnId="{E49052C5-436A-4C21-9F27-7D5A4EF99F2C}">
      <dgm:prSet/>
      <dgm:spPr/>
      <dgm:t>
        <a:bodyPr/>
        <a:lstStyle/>
        <a:p>
          <a:endParaRPr lang="en-GB"/>
        </a:p>
      </dgm:t>
    </dgm:pt>
    <dgm:pt modelId="{7317D7F7-3B00-42BC-B0FC-9B69DD639892}" type="sibTrans" cxnId="{E49052C5-436A-4C21-9F27-7D5A4EF99F2C}">
      <dgm:prSet/>
      <dgm:spPr/>
      <dgm:t>
        <a:bodyPr/>
        <a:lstStyle/>
        <a:p>
          <a:endParaRPr lang="en-GB"/>
        </a:p>
      </dgm:t>
    </dgm:pt>
    <dgm:pt modelId="{55F12672-0832-4474-83D4-12A98D2BE72E}">
      <dgm:prSet custT="1"/>
      <dgm:spPr/>
      <dgm:t>
        <a:bodyPr/>
        <a:lstStyle/>
        <a:p>
          <a:pPr rtl="0"/>
          <a:r>
            <a:rPr lang="en-GB" sz="2800"/>
            <a:t>Re-Investment</a:t>
          </a:r>
          <a:endParaRPr lang="en-GB" sz="2800" dirty="0"/>
        </a:p>
      </dgm:t>
    </dgm:pt>
    <dgm:pt modelId="{B8483A6C-6BBB-4AB7-87FC-BF5F42E930DC}" type="parTrans" cxnId="{3468FB03-F3EA-457E-B47A-28A8D5F4996C}">
      <dgm:prSet/>
      <dgm:spPr/>
      <dgm:t>
        <a:bodyPr/>
        <a:lstStyle/>
        <a:p>
          <a:endParaRPr lang="en-GB"/>
        </a:p>
      </dgm:t>
    </dgm:pt>
    <dgm:pt modelId="{8C6D7236-6DCA-431A-976F-28ED2F2029B4}" type="sibTrans" cxnId="{3468FB03-F3EA-457E-B47A-28A8D5F4996C}">
      <dgm:prSet/>
      <dgm:spPr/>
      <dgm:t>
        <a:bodyPr/>
        <a:lstStyle/>
        <a:p>
          <a:endParaRPr lang="en-GB"/>
        </a:p>
      </dgm:t>
    </dgm:pt>
    <dgm:pt modelId="{90C6C01B-6484-4D8F-97E8-7C449815F65D}">
      <dgm:prSet custT="1"/>
      <dgm:spPr/>
      <dgm:t>
        <a:bodyPr/>
        <a:lstStyle/>
        <a:p>
          <a:pPr algn="r" rtl="0"/>
          <a:r>
            <a:rPr lang="en-GB" sz="2800" dirty="0"/>
            <a:t>DCF Input III: </a:t>
          </a:r>
        </a:p>
        <a:p>
          <a:pPr algn="ctr" rtl="0"/>
          <a:r>
            <a:rPr lang="en-GB" sz="2800" dirty="0"/>
            <a:t>Discount Rate</a:t>
          </a:r>
        </a:p>
      </dgm:t>
    </dgm:pt>
    <dgm:pt modelId="{DC4EB6C6-15D6-4827-9512-5FBD060D61CB}" type="parTrans" cxnId="{AD0B6A86-4934-4240-906A-CA5B69EC71D6}">
      <dgm:prSet/>
      <dgm:spPr/>
      <dgm:t>
        <a:bodyPr/>
        <a:lstStyle/>
        <a:p>
          <a:endParaRPr lang="en-GB"/>
        </a:p>
      </dgm:t>
    </dgm:pt>
    <dgm:pt modelId="{33E7EB7F-6980-47E2-96BB-522129860693}" type="sibTrans" cxnId="{AD0B6A86-4934-4240-906A-CA5B69EC71D6}">
      <dgm:prSet/>
      <dgm:spPr/>
      <dgm:t>
        <a:bodyPr/>
        <a:lstStyle/>
        <a:p>
          <a:endParaRPr lang="en-GB"/>
        </a:p>
      </dgm:t>
    </dgm:pt>
    <dgm:pt modelId="{2C7EE29A-5BBC-483E-8624-2621F140DF41}">
      <dgm:prSet custT="1"/>
      <dgm:spPr/>
      <dgm:t>
        <a:bodyPr/>
        <a:lstStyle/>
        <a:p>
          <a:pPr rtl="0"/>
          <a:r>
            <a:rPr lang="en-GB" sz="2800" dirty="0"/>
            <a:t>How fast do you expect CF to grow</a:t>
          </a:r>
        </a:p>
      </dgm:t>
    </dgm:pt>
    <dgm:pt modelId="{B2C4820A-0566-4037-B7CD-5020C9EDBE58}" type="parTrans" cxnId="{D2EF83F2-D54F-4C2B-AB0E-C1081CBB2C54}">
      <dgm:prSet/>
      <dgm:spPr/>
      <dgm:t>
        <a:bodyPr/>
        <a:lstStyle/>
        <a:p>
          <a:endParaRPr lang="en-GB"/>
        </a:p>
      </dgm:t>
    </dgm:pt>
    <dgm:pt modelId="{F0D8B7BA-E846-44F0-B220-79C1D17E872E}" type="sibTrans" cxnId="{D2EF83F2-D54F-4C2B-AB0E-C1081CBB2C54}">
      <dgm:prSet/>
      <dgm:spPr/>
      <dgm:t>
        <a:bodyPr/>
        <a:lstStyle/>
        <a:p>
          <a:endParaRPr lang="en-GB"/>
        </a:p>
      </dgm:t>
    </dgm:pt>
    <dgm:pt modelId="{C9304520-72AF-49E8-ACE9-58E8021858DC}">
      <dgm:prSet custT="1"/>
      <dgm:spPr/>
      <dgm:t>
        <a:bodyPr/>
        <a:lstStyle/>
        <a:p>
          <a:pPr rtl="0"/>
          <a:r>
            <a:rPr lang="en-GB" sz="2800"/>
            <a:t>For how long?</a:t>
          </a:r>
          <a:endParaRPr lang="en-GB" sz="2800" dirty="0"/>
        </a:p>
      </dgm:t>
    </dgm:pt>
    <dgm:pt modelId="{6C4CEBE6-5701-4A79-8D1B-4E0D52CEE843}" type="parTrans" cxnId="{09ED4C88-F1E7-4D5B-8C83-63937CB31286}">
      <dgm:prSet/>
      <dgm:spPr/>
      <dgm:t>
        <a:bodyPr/>
        <a:lstStyle/>
        <a:p>
          <a:endParaRPr lang="en-GB"/>
        </a:p>
      </dgm:t>
    </dgm:pt>
    <dgm:pt modelId="{89BBD3B6-7CFD-4ED3-B9E6-8A31614C00D9}" type="sibTrans" cxnId="{09ED4C88-F1E7-4D5B-8C83-63937CB31286}">
      <dgm:prSet/>
      <dgm:spPr/>
      <dgm:t>
        <a:bodyPr/>
        <a:lstStyle/>
        <a:p>
          <a:endParaRPr lang="en-GB"/>
        </a:p>
      </dgm:t>
    </dgm:pt>
    <dgm:pt modelId="{58A526AC-018C-4B79-B4CC-33A40F135610}">
      <dgm:prSet custT="1"/>
      <dgm:spPr/>
      <dgm:t>
        <a:bodyPr/>
        <a:lstStyle/>
        <a:p>
          <a:pPr rtl="0"/>
          <a:r>
            <a:rPr lang="en-GB" sz="2800"/>
            <a:t>How many stages?</a:t>
          </a:r>
          <a:endParaRPr lang="en-GB" sz="2800" dirty="0"/>
        </a:p>
      </dgm:t>
    </dgm:pt>
    <dgm:pt modelId="{5B7D03EA-A8D1-4F92-B4E2-16DFA40FEA3D}" type="parTrans" cxnId="{AEA62057-1DE3-4B3E-B779-ED4EB88DA62B}">
      <dgm:prSet/>
      <dgm:spPr/>
      <dgm:t>
        <a:bodyPr/>
        <a:lstStyle/>
        <a:p>
          <a:endParaRPr lang="en-GB"/>
        </a:p>
      </dgm:t>
    </dgm:pt>
    <dgm:pt modelId="{CF79CA49-70F3-4232-9748-C5EEFC349A2B}" type="sibTrans" cxnId="{AEA62057-1DE3-4B3E-B779-ED4EB88DA62B}">
      <dgm:prSet/>
      <dgm:spPr/>
      <dgm:t>
        <a:bodyPr/>
        <a:lstStyle/>
        <a:p>
          <a:endParaRPr lang="en-GB"/>
        </a:p>
      </dgm:t>
    </dgm:pt>
    <dgm:pt modelId="{AAD147F7-89F3-4687-AAC4-71F9891B5AB7}">
      <dgm:prSet custT="1"/>
      <dgm:spPr/>
      <dgm:t>
        <a:bodyPr/>
        <a:lstStyle/>
        <a:p>
          <a:pPr algn="just" rtl="0"/>
          <a:r>
            <a:rPr lang="en-US" sz="2800" dirty="0"/>
            <a:t>What rate reflects risk?</a:t>
          </a:r>
          <a:endParaRPr lang="en-GB" sz="2800" dirty="0"/>
        </a:p>
      </dgm:t>
    </dgm:pt>
    <dgm:pt modelId="{173451D0-42FE-44D5-AC64-B7D5C4089AA5}" type="parTrans" cxnId="{CD85B144-A605-4646-82DB-13EEAAD24AF0}">
      <dgm:prSet/>
      <dgm:spPr/>
      <dgm:t>
        <a:bodyPr/>
        <a:lstStyle/>
        <a:p>
          <a:endParaRPr lang="en-GB"/>
        </a:p>
      </dgm:t>
    </dgm:pt>
    <dgm:pt modelId="{42FA7C40-9491-435A-9E02-7D0618B4C9F4}" type="sibTrans" cxnId="{CD85B144-A605-4646-82DB-13EEAAD24AF0}">
      <dgm:prSet/>
      <dgm:spPr/>
      <dgm:t>
        <a:bodyPr/>
        <a:lstStyle/>
        <a:p>
          <a:endParaRPr lang="en-GB"/>
        </a:p>
      </dgm:t>
    </dgm:pt>
    <dgm:pt modelId="{1158003D-547E-47C0-867A-217661833CF8}">
      <dgm:prSet custT="1"/>
      <dgm:spPr/>
      <dgm:t>
        <a:bodyPr/>
        <a:lstStyle/>
        <a:p>
          <a:pPr algn="just" rtl="0"/>
          <a:r>
            <a:rPr lang="en-GB" sz="2800" dirty="0"/>
            <a:t>Equity or firm?</a:t>
          </a:r>
        </a:p>
      </dgm:t>
    </dgm:pt>
    <dgm:pt modelId="{6680930F-7CD8-4907-8E45-5EFFF2244775}" type="parTrans" cxnId="{04899C55-C841-4C0C-B167-C10A82B06179}">
      <dgm:prSet/>
      <dgm:spPr/>
      <dgm:t>
        <a:bodyPr/>
        <a:lstStyle/>
        <a:p>
          <a:endParaRPr lang="en-GB"/>
        </a:p>
      </dgm:t>
    </dgm:pt>
    <dgm:pt modelId="{AC724EDD-45DB-4149-9437-E3B8313908A5}" type="sibTrans" cxnId="{04899C55-C841-4C0C-B167-C10A82B06179}">
      <dgm:prSet/>
      <dgm:spPr/>
      <dgm:t>
        <a:bodyPr/>
        <a:lstStyle/>
        <a:p>
          <a:endParaRPr lang="en-GB"/>
        </a:p>
      </dgm:t>
    </dgm:pt>
    <dgm:pt modelId="{00A01AAB-68E9-4DEF-BCCB-C20DDD8BC65B}">
      <dgm:prSet custT="1"/>
      <dgm:spPr/>
      <dgm:t>
        <a:bodyPr/>
        <a:lstStyle/>
        <a:p>
          <a:pPr algn="just" rtl="0"/>
          <a:r>
            <a:rPr lang="en-GB" sz="2800" dirty="0"/>
            <a:t>Adjustments (inflation, risk)</a:t>
          </a:r>
        </a:p>
      </dgm:t>
    </dgm:pt>
    <dgm:pt modelId="{7495A6AD-818A-4DA9-84D3-FEC03C77744B}" type="parTrans" cxnId="{369D1B5C-E61E-4CC9-BCEA-5EE35B6E0C9F}">
      <dgm:prSet/>
      <dgm:spPr/>
      <dgm:t>
        <a:bodyPr/>
        <a:lstStyle/>
        <a:p>
          <a:endParaRPr lang="en-GB"/>
        </a:p>
      </dgm:t>
    </dgm:pt>
    <dgm:pt modelId="{89FDD832-BB22-472B-AA3E-C25BA8D55804}" type="sibTrans" cxnId="{369D1B5C-E61E-4CC9-BCEA-5EE35B6E0C9F}">
      <dgm:prSet/>
      <dgm:spPr/>
      <dgm:t>
        <a:bodyPr/>
        <a:lstStyle/>
        <a:p>
          <a:endParaRPr lang="en-GB"/>
        </a:p>
      </dgm:t>
    </dgm:pt>
    <dgm:pt modelId="{8C7976F8-0854-42E6-8AAC-191308687878}">
      <dgm:prSet custT="1"/>
      <dgm:spPr/>
      <dgm:t>
        <a:bodyPr/>
        <a:lstStyle/>
        <a:p>
          <a:pPr algn="just" rtl="0"/>
          <a:r>
            <a:rPr lang="en-GB" sz="2800" dirty="0"/>
            <a:t>dr can vary over time</a:t>
          </a:r>
        </a:p>
      </dgm:t>
    </dgm:pt>
    <dgm:pt modelId="{F82AFC35-FC05-4B4F-A7C9-E2ACA1E327AF}" type="parTrans" cxnId="{2B64DEBA-D1F2-4B60-835C-66B7C0FE5AF3}">
      <dgm:prSet/>
      <dgm:spPr/>
      <dgm:t>
        <a:bodyPr/>
        <a:lstStyle/>
        <a:p>
          <a:endParaRPr lang="en-GB"/>
        </a:p>
      </dgm:t>
    </dgm:pt>
    <dgm:pt modelId="{A5D8D954-D492-40B2-B0AA-B97E37A6E90D}" type="sibTrans" cxnId="{2B64DEBA-D1F2-4B60-835C-66B7C0FE5AF3}">
      <dgm:prSet/>
      <dgm:spPr/>
      <dgm:t>
        <a:bodyPr/>
        <a:lstStyle/>
        <a:p>
          <a:endParaRPr lang="en-GB"/>
        </a:p>
      </dgm:t>
    </dgm:pt>
    <dgm:pt modelId="{D98A5A11-9942-4990-A941-A60AEE1BDC80}" type="pres">
      <dgm:prSet presAssocID="{3FE75F55-EDDC-45AB-AB0B-72E873278BBE}" presName="Name0" presStyleCnt="0">
        <dgm:presLayoutVars>
          <dgm:dir/>
          <dgm:animLvl val="lvl"/>
          <dgm:resizeHandles val="exact"/>
        </dgm:presLayoutVars>
      </dgm:prSet>
      <dgm:spPr/>
    </dgm:pt>
    <dgm:pt modelId="{47C931B8-48DD-42C4-931E-AC2E306FE435}" type="pres">
      <dgm:prSet presAssocID="{EC3C6234-5EAB-41DF-A544-378DAD8F0B20}" presName="linNode" presStyleCnt="0"/>
      <dgm:spPr/>
    </dgm:pt>
    <dgm:pt modelId="{54DD51FF-83EE-4E3C-8E3C-F402F2EB5509}" type="pres">
      <dgm:prSet presAssocID="{EC3C6234-5EAB-41DF-A544-378DAD8F0B20}" presName="parTx" presStyleLbl="revTx" presStyleIdx="0" presStyleCnt="3">
        <dgm:presLayoutVars>
          <dgm:chMax val="1"/>
          <dgm:bulletEnabled val="1"/>
        </dgm:presLayoutVars>
      </dgm:prSet>
      <dgm:spPr/>
    </dgm:pt>
    <dgm:pt modelId="{F6A0D81E-191C-4A02-B990-F849E4C68825}" type="pres">
      <dgm:prSet presAssocID="{EC3C6234-5EAB-41DF-A544-378DAD8F0B20}" presName="bracket" presStyleLbl="parChTrans1D1" presStyleIdx="0" presStyleCnt="3"/>
      <dgm:spPr/>
    </dgm:pt>
    <dgm:pt modelId="{D5F9211C-1D3A-4EE9-8C0B-6BE8B4128A68}" type="pres">
      <dgm:prSet presAssocID="{EC3C6234-5EAB-41DF-A544-378DAD8F0B20}" presName="spH" presStyleCnt="0"/>
      <dgm:spPr/>
    </dgm:pt>
    <dgm:pt modelId="{4D71A39B-6DF1-4FCD-88F0-98401CB51C7D}" type="pres">
      <dgm:prSet presAssocID="{EC3C6234-5EAB-41DF-A544-378DAD8F0B20}" presName="desTx" presStyleLbl="node1" presStyleIdx="0" presStyleCnt="3">
        <dgm:presLayoutVars>
          <dgm:bulletEnabled val="1"/>
        </dgm:presLayoutVars>
      </dgm:prSet>
      <dgm:spPr/>
    </dgm:pt>
    <dgm:pt modelId="{56D2C85E-949F-4510-99E3-5D2C452A7870}" type="pres">
      <dgm:prSet presAssocID="{C15E1024-EC5A-4CEF-B57B-130B77D7902A}" presName="spV" presStyleCnt="0"/>
      <dgm:spPr/>
    </dgm:pt>
    <dgm:pt modelId="{0049FC2D-DCE3-4E35-A199-B75EF13A194E}" type="pres">
      <dgm:prSet presAssocID="{710D564A-0E23-4369-809B-3B1B9F3DCC54}" presName="linNode" presStyleCnt="0"/>
      <dgm:spPr/>
    </dgm:pt>
    <dgm:pt modelId="{35DD4545-1939-4C74-9DE7-2560C0B22AF4}" type="pres">
      <dgm:prSet presAssocID="{710D564A-0E23-4369-809B-3B1B9F3DCC54}" presName="parTx" presStyleLbl="revTx" presStyleIdx="1" presStyleCnt="3">
        <dgm:presLayoutVars>
          <dgm:chMax val="1"/>
          <dgm:bulletEnabled val="1"/>
        </dgm:presLayoutVars>
      </dgm:prSet>
      <dgm:spPr/>
    </dgm:pt>
    <dgm:pt modelId="{247C77D1-0978-4F59-8DFC-D61B9E774A22}" type="pres">
      <dgm:prSet presAssocID="{710D564A-0E23-4369-809B-3B1B9F3DCC54}" presName="bracket" presStyleLbl="parChTrans1D1" presStyleIdx="1" presStyleCnt="3"/>
      <dgm:spPr/>
    </dgm:pt>
    <dgm:pt modelId="{FF7FE2B4-88C2-4CBF-A9D3-9D56221A12AF}" type="pres">
      <dgm:prSet presAssocID="{710D564A-0E23-4369-809B-3B1B9F3DCC54}" presName="spH" presStyleCnt="0"/>
      <dgm:spPr/>
    </dgm:pt>
    <dgm:pt modelId="{A6735F09-E23E-418A-8DCE-C64578502936}" type="pres">
      <dgm:prSet presAssocID="{710D564A-0E23-4369-809B-3B1B9F3DCC54}" presName="desTx" presStyleLbl="node1" presStyleIdx="1" presStyleCnt="3">
        <dgm:presLayoutVars>
          <dgm:bulletEnabled val="1"/>
        </dgm:presLayoutVars>
      </dgm:prSet>
      <dgm:spPr/>
    </dgm:pt>
    <dgm:pt modelId="{38F087A1-1F5E-465C-9C75-AAAE7AB63FC7}" type="pres">
      <dgm:prSet presAssocID="{2F957021-57C1-40FE-81E7-69397B2B1CD4}" presName="spV" presStyleCnt="0"/>
      <dgm:spPr/>
    </dgm:pt>
    <dgm:pt modelId="{EB9572D5-28B6-44AC-B55A-D022DB1B9E71}" type="pres">
      <dgm:prSet presAssocID="{90C6C01B-6484-4D8F-97E8-7C449815F65D}" presName="linNode" presStyleCnt="0"/>
      <dgm:spPr/>
    </dgm:pt>
    <dgm:pt modelId="{742B64F6-490C-46C0-B944-79F38B424822}" type="pres">
      <dgm:prSet presAssocID="{90C6C01B-6484-4D8F-97E8-7C449815F65D}" presName="parTx" presStyleLbl="revTx" presStyleIdx="2" presStyleCnt="3">
        <dgm:presLayoutVars>
          <dgm:chMax val="1"/>
          <dgm:bulletEnabled val="1"/>
        </dgm:presLayoutVars>
      </dgm:prSet>
      <dgm:spPr/>
    </dgm:pt>
    <dgm:pt modelId="{62FF817B-9802-4299-B01E-CD02FD9F8F68}" type="pres">
      <dgm:prSet presAssocID="{90C6C01B-6484-4D8F-97E8-7C449815F65D}" presName="bracket" presStyleLbl="parChTrans1D1" presStyleIdx="2" presStyleCnt="3"/>
      <dgm:spPr/>
    </dgm:pt>
    <dgm:pt modelId="{D8119259-8575-4E55-A50A-C383BA1F8172}" type="pres">
      <dgm:prSet presAssocID="{90C6C01B-6484-4D8F-97E8-7C449815F65D}" presName="spH" presStyleCnt="0"/>
      <dgm:spPr/>
    </dgm:pt>
    <dgm:pt modelId="{09C02A45-D89D-4D30-9D92-A2E4BDEF4C67}" type="pres">
      <dgm:prSet presAssocID="{90C6C01B-6484-4D8F-97E8-7C449815F65D}" presName="desTx" presStyleLbl="node1" presStyleIdx="2" presStyleCnt="3">
        <dgm:presLayoutVars>
          <dgm:bulletEnabled val="1"/>
        </dgm:presLayoutVars>
      </dgm:prSet>
      <dgm:spPr/>
    </dgm:pt>
  </dgm:ptLst>
  <dgm:cxnLst>
    <dgm:cxn modelId="{7A109B00-B5F7-4768-A025-40BDC5700AAF}" type="presOf" srcId="{90C6C01B-6484-4D8F-97E8-7C449815F65D}" destId="{742B64F6-490C-46C0-B944-79F38B424822}" srcOrd="0" destOrd="0" presId="urn:diagrams.loki3.com/BracketList"/>
    <dgm:cxn modelId="{3468FB03-F3EA-457E-B47A-28A8D5F4996C}" srcId="{EC3C6234-5EAB-41DF-A544-378DAD8F0B20}" destId="{55F12672-0832-4474-83D4-12A98D2BE72E}" srcOrd="2" destOrd="0" parTransId="{B8483A6C-6BBB-4AB7-87FC-BF5F42E930DC}" sibTransId="{8C6D7236-6DCA-431A-976F-28ED2F2029B4}"/>
    <dgm:cxn modelId="{51EC8410-2CCA-4E33-87FB-2F77FA08D8DF}" type="presOf" srcId="{EC3C6234-5EAB-41DF-A544-378DAD8F0B20}" destId="{54DD51FF-83EE-4E3C-8E3C-F402F2EB5509}" srcOrd="0" destOrd="0" presId="urn:diagrams.loki3.com/BracketList"/>
    <dgm:cxn modelId="{BDDA3316-DFA4-4C78-8009-9CECAD4D0AAB}" type="presOf" srcId="{8C7976F8-0854-42E6-8AAC-191308687878}" destId="{09C02A45-D89D-4D30-9D92-A2E4BDEF4C67}" srcOrd="0" destOrd="3" presId="urn:diagrams.loki3.com/BracketList"/>
    <dgm:cxn modelId="{B76C6F3C-C8DF-4994-BA38-F211F81A007A}" srcId="{3FE75F55-EDDC-45AB-AB0B-72E873278BBE}" destId="{710D564A-0E23-4369-809B-3B1B9F3DCC54}" srcOrd="1" destOrd="0" parTransId="{A226CDC9-C5D9-4B34-8EFB-B7FA4A91824F}" sibTransId="{2F957021-57C1-40FE-81E7-69397B2B1CD4}"/>
    <dgm:cxn modelId="{369D1B5C-E61E-4CC9-BCEA-5EE35B6E0C9F}" srcId="{90C6C01B-6484-4D8F-97E8-7C449815F65D}" destId="{00A01AAB-68E9-4DEF-BCCB-C20DDD8BC65B}" srcOrd="2" destOrd="0" parTransId="{7495A6AD-818A-4DA9-84D3-FEC03C77744B}" sibTransId="{89FDD832-BB22-472B-AA3E-C25BA8D55804}"/>
    <dgm:cxn modelId="{CD85B144-A605-4646-82DB-13EEAAD24AF0}" srcId="{90C6C01B-6484-4D8F-97E8-7C449815F65D}" destId="{AAD147F7-89F3-4687-AAC4-71F9891B5AB7}" srcOrd="0" destOrd="0" parTransId="{173451D0-42FE-44D5-AC64-B7D5C4089AA5}" sibTransId="{42FA7C40-9491-435A-9E02-7D0618B4C9F4}"/>
    <dgm:cxn modelId="{77077D67-C66E-46C4-A9A7-802CEB149BAE}" type="presOf" srcId="{1158003D-547E-47C0-867A-217661833CF8}" destId="{09C02A45-D89D-4D30-9D92-A2E4BDEF4C67}" srcOrd="0" destOrd="1" presId="urn:diagrams.loki3.com/BracketList"/>
    <dgm:cxn modelId="{22DB0650-20DD-4C6A-8279-F080354C71AE}" type="presOf" srcId="{C9304520-72AF-49E8-ACE9-58E8021858DC}" destId="{A6735F09-E23E-418A-8DCE-C64578502936}" srcOrd="0" destOrd="1" presId="urn:diagrams.loki3.com/BracketList"/>
    <dgm:cxn modelId="{3FE26A51-9F95-4980-A203-6B2F6D76BA2D}" type="presOf" srcId="{58A526AC-018C-4B79-B4CC-33A40F135610}" destId="{A6735F09-E23E-418A-8DCE-C64578502936}" srcOrd="0" destOrd="2" presId="urn:diagrams.loki3.com/BracketList"/>
    <dgm:cxn modelId="{1A56A554-D500-4F6A-889F-DE5B2878B5DA}" type="presOf" srcId="{3FE75F55-EDDC-45AB-AB0B-72E873278BBE}" destId="{D98A5A11-9942-4990-A941-A60AEE1BDC80}" srcOrd="0" destOrd="0" presId="urn:diagrams.loki3.com/BracketList"/>
    <dgm:cxn modelId="{04899C55-C841-4C0C-B167-C10A82B06179}" srcId="{90C6C01B-6484-4D8F-97E8-7C449815F65D}" destId="{1158003D-547E-47C0-867A-217661833CF8}" srcOrd="1" destOrd="0" parTransId="{6680930F-7CD8-4907-8E45-5EFFF2244775}" sibTransId="{AC724EDD-45DB-4149-9437-E3B8313908A5}"/>
    <dgm:cxn modelId="{AEA62057-1DE3-4B3E-B779-ED4EB88DA62B}" srcId="{710D564A-0E23-4369-809B-3B1B9F3DCC54}" destId="{58A526AC-018C-4B79-B4CC-33A40F135610}" srcOrd="2" destOrd="0" parTransId="{5B7D03EA-A8D1-4F92-B4E2-16DFA40FEA3D}" sibTransId="{CF79CA49-70F3-4232-9748-C5EEFC349A2B}"/>
    <dgm:cxn modelId="{AD0B6A86-4934-4240-906A-CA5B69EC71D6}" srcId="{3FE75F55-EDDC-45AB-AB0B-72E873278BBE}" destId="{90C6C01B-6484-4D8F-97E8-7C449815F65D}" srcOrd="2" destOrd="0" parTransId="{DC4EB6C6-15D6-4827-9512-5FBD060D61CB}" sibTransId="{33E7EB7F-6980-47E2-96BB-522129860693}"/>
    <dgm:cxn modelId="{09ED4C88-F1E7-4D5B-8C83-63937CB31286}" srcId="{710D564A-0E23-4369-809B-3B1B9F3DCC54}" destId="{C9304520-72AF-49E8-ACE9-58E8021858DC}" srcOrd="1" destOrd="0" parTransId="{6C4CEBE6-5701-4A79-8D1B-4E0D52CEE843}" sibTransId="{89BBD3B6-7CFD-4ED3-B9E6-8A31614C00D9}"/>
    <dgm:cxn modelId="{B0FA938A-0D20-4157-9C77-B16D2D53EC6B}" type="presOf" srcId="{2C7EE29A-5BBC-483E-8624-2621F140DF41}" destId="{A6735F09-E23E-418A-8DCE-C64578502936}" srcOrd="0" destOrd="0" presId="urn:diagrams.loki3.com/BracketList"/>
    <dgm:cxn modelId="{AD86DD99-442F-4584-B0E1-9D3EF0F99BB3}" srcId="{EC3C6234-5EAB-41DF-A544-378DAD8F0B20}" destId="{6F3A5BC1-D269-4E26-BE98-D575DE53307A}" srcOrd="0" destOrd="0" parTransId="{4A7575FB-E159-46BE-BEF5-309A5B629BA8}" sibTransId="{216EA87D-0F32-4854-8D48-F0852BF54C4F}"/>
    <dgm:cxn modelId="{7B463A9B-D37B-4F2C-A2F3-16A092080BD3}" type="presOf" srcId="{710D564A-0E23-4369-809B-3B1B9F3DCC54}" destId="{35DD4545-1939-4C74-9DE7-2560C0B22AF4}" srcOrd="0" destOrd="0" presId="urn:diagrams.loki3.com/BracketList"/>
    <dgm:cxn modelId="{2B64DEBA-D1F2-4B60-835C-66B7C0FE5AF3}" srcId="{90C6C01B-6484-4D8F-97E8-7C449815F65D}" destId="{8C7976F8-0854-42E6-8AAC-191308687878}" srcOrd="3" destOrd="0" parTransId="{F82AFC35-FC05-4B4F-A7C9-E2ACA1E327AF}" sibTransId="{A5D8D954-D492-40B2-B0AA-B97E37A6E90D}"/>
    <dgm:cxn modelId="{DD873CBB-21BE-439A-828D-288ABAE56741}" srcId="{3FE75F55-EDDC-45AB-AB0B-72E873278BBE}" destId="{EC3C6234-5EAB-41DF-A544-378DAD8F0B20}" srcOrd="0" destOrd="0" parTransId="{ED7E63F3-BECC-41BC-B6C4-95BFA51C499B}" sibTransId="{C15E1024-EC5A-4CEF-B57B-130B77D7902A}"/>
    <dgm:cxn modelId="{8C22C3BD-B72E-496F-B057-66D5BAE06E43}" type="presOf" srcId="{00A01AAB-68E9-4DEF-BCCB-C20DDD8BC65B}" destId="{09C02A45-D89D-4D30-9D92-A2E4BDEF4C67}" srcOrd="0" destOrd="2" presId="urn:diagrams.loki3.com/BracketList"/>
    <dgm:cxn modelId="{E49052C5-436A-4C21-9F27-7D5A4EF99F2C}" srcId="{EC3C6234-5EAB-41DF-A544-378DAD8F0B20}" destId="{F0E20416-375E-4C67-B275-6A968D5D9A80}" srcOrd="1" destOrd="0" parTransId="{DCDCD70C-68F3-49A2-8675-14F4E141D79D}" sibTransId="{7317D7F7-3B00-42BC-B0FC-9B69DD639892}"/>
    <dgm:cxn modelId="{B2EB17D4-32CE-4B01-A06B-09A526BB0804}" type="presOf" srcId="{6F3A5BC1-D269-4E26-BE98-D575DE53307A}" destId="{4D71A39B-6DF1-4FCD-88F0-98401CB51C7D}" srcOrd="0" destOrd="0" presId="urn:diagrams.loki3.com/BracketList"/>
    <dgm:cxn modelId="{4D42E3D7-2204-4DFF-9958-B0D134817996}" type="presOf" srcId="{AAD147F7-89F3-4687-AAC4-71F9891B5AB7}" destId="{09C02A45-D89D-4D30-9D92-A2E4BDEF4C67}" srcOrd="0" destOrd="0" presId="urn:diagrams.loki3.com/BracketList"/>
    <dgm:cxn modelId="{5E75A0EB-D1C4-4AAF-9996-A5C1B6840CA3}" type="presOf" srcId="{F0E20416-375E-4C67-B275-6A968D5D9A80}" destId="{4D71A39B-6DF1-4FCD-88F0-98401CB51C7D}" srcOrd="0" destOrd="1" presId="urn:diagrams.loki3.com/BracketList"/>
    <dgm:cxn modelId="{D2EF83F2-D54F-4C2B-AB0E-C1081CBB2C54}" srcId="{710D564A-0E23-4369-809B-3B1B9F3DCC54}" destId="{2C7EE29A-5BBC-483E-8624-2621F140DF41}" srcOrd="0" destOrd="0" parTransId="{B2C4820A-0566-4037-B7CD-5020C9EDBE58}" sibTransId="{F0D8B7BA-E846-44F0-B220-79C1D17E872E}"/>
    <dgm:cxn modelId="{1DBF2DF7-C17E-464B-AA42-669FCAC147BB}" type="presOf" srcId="{55F12672-0832-4474-83D4-12A98D2BE72E}" destId="{4D71A39B-6DF1-4FCD-88F0-98401CB51C7D}" srcOrd="0" destOrd="2" presId="urn:diagrams.loki3.com/BracketList"/>
    <dgm:cxn modelId="{6967A8BF-D814-4A1F-AB44-306128CBEEC3}" type="presParOf" srcId="{D98A5A11-9942-4990-A941-A60AEE1BDC80}" destId="{47C931B8-48DD-42C4-931E-AC2E306FE435}" srcOrd="0" destOrd="0" presId="urn:diagrams.loki3.com/BracketList"/>
    <dgm:cxn modelId="{77E2B153-0F5D-4880-B972-2833EEDE0C15}" type="presParOf" srcId="{47C931B8-48DD-42C4-931E-AC2E306FE435}" destId="{54DD51FF-83EE-4E3C-8E3C-F402F2EB5509}" srcOrd="0" destOrd="0" presId="urn:diagrams.loki3.com/BracketList"/>
    <dgm:cxn modelId="{2E92EB64-CF43-44CD-9DDE-B5E97D93BA75}" type="presParOf" srcId="{47C931B8-48DD-42C4-931E-AC2E306FE435}" destId="{F6A0D81E-191C-4A02-B990-F849E4C68825}" srcOrd="1" destOrd="0" presId="urn:diagrams.loki3.com/BracketList"/>
    <dgm:cxn modelId="{53E79EA1-6591-44F7-B49F-936B6DBCA995}" type="presParOf" srcId="{47C931B8-48DD-42C4-931E-AC2E306FE435}" destId="{D5F9211C-1D3A-4EE9-8C0B-6BE8B4128A68}" srcOrd="2" destOrd="0" presId="urn:diagrams.loki3.com/BracketList"/>
    <dgm:cxn modelId="{56C436DA-1907-4BE0-BE72-6D911DE5534E}" type="presParOf" srcId="{47C931B8-48DD-42C4-931E-AC2E306FE435}" destId="{4D71A39B-6DF1-4FCD-88F0-98401CB51C7D}" srcOrd="3" destOrd="0" presId="urn:diagrams.loki3.com/BracketList"/>
    <dgm:cxn modelId="{9B1FAC39-175E-4729-8E3D-165DBB0488A3}" type="presParOf" srcId="{D98A5A11-9942-4990-A941-A60AEE1BDC80}" destId="{56D2C85E-949F-4510-99E3-5D2C452A7870}" srcOrd="1" destOrd="0" presId="urn:diagrams.loki3.com/BracketList"/>
    <dgm:cxn modelId="{736C3FAA-AAC2-43FF-AEB1-5CB558E1344F}" type="presParOf" srcId="{D98A5A11-9942-4990-A941-A60AEE1BDC80}" destId="{0049FC2D-DCE3-4E35-A199-B75EF13A194E}" srcOrd="2" destOrd="0" presId="urn:diagrams.loki3.com/BracketList"/>
    <dgm:cxn modelId="{1E085D6A-6BC5-415B-A16D-03DA2A61886A}" type="presParOf" srcId="{0049FC2D-DCE3-4E35-A199-B75EF13A194E}" destId="{35DD4545-1939-4C74-9DE7-2560C0B22AF4}" srcOrd="0" destOrd="0" presId="urn:diagrams.loki3.com/BracketList"/>
    <dgm:cxn modelId="{517C4B25-4DA6-402F-A262-3610FBA9F389}" type="presParOf" srcId="{0049FC2D-DCE3-4E35-A199-B75EF13A194E}" destId="{247C77D1-0978-4F59-8DFC-D61B9E774A22}" srcOrd="1" destOrd="0" presId="urn:diagrams.loki3.com/BracketList"/>
    <dgm:cxn modelId="{E32619E4-FD2C-4918-8EDD-4CE0CCBDC5E4}" type="presParOf" srcId="{0049FC2D-DCE3-4E35-A199-B75EF13A194E}" destId="{FF7FE2B4-88C2-4CBF-A9D3-9D56221A12AF}" srcOrd="2" destOrd="0" presId="urn:diagrams.loki3.com/BracketList"/>
    <dgm:cxn modelId="{A9DA7E53-0FA7-405A-817A-3ECD946D61F8}" type="presParOf" srcId="{0049FC2D-DCE3-4E35-A199-B75EF13A194E}" destId="{A6735F09-E23E-418A-8DCE-C64578502936}" srcOrd="3" destOrd="0" presId="urn:diagrams.loki3.com/BracketList"/>
    <dgm:cxn modelId="{E0163CCF-3E83-42B7-BBCB-21996C27C8FF}" type="presParOf" srcId="{D98A5A11-9942-4990-A941-A60AEE1BDC80}" destId="{38F087A1-1F5E-465C-9C75-AAAE7AB63FC7}" srcOrd="3" destOrd="0" presId="urn:diagrams.loki3.com/BracketList"/>
    <dgm:cxn modelId="{2A1284D0-17B2-442C-9410-6B82200874D1}" type="presParOf" srcId="{D98A5A11-9942-4990-A941-A60AEE1BDC80}" destId="{EB9572D5-28B6-44AC-B55A-D022DB1B9E71}" srcOrd="4" destOrd="0" presId="urn:diagrams.loki3.com/BracketList"/>
    <dgm:cxn modelId="{82559E0B-74C4-43E6-9A6D-E04AB0DFA622}" type="presParOf" srcId="{EB9572D5-28B6-44AC-B55A-D022DB1B9E71}" destId="{742B64F6-490C-46C0-B944-79F38B424822}" srcOrd="0" destOrd="0" presId="urn:diagrams.loki3.com/BracketList"/>
    <dgm:cxn modelId="{18C372D5-793C-4D29-B5F9-BF1A07A0D5FB}" type="presParOf" srcId="{EB9572D5-28B6-44AC-B55A-D022DB1B9E71}" destId="{62FF817B-9802-4299-B01E-CD02FD9F8F68}" srcOrd="1" destOrd="0" presId="urn:diagrams.loki3.com/BracketList"/>
    <dgm:cxn modelId="{C885DB9D-429E-43AE-82C4-BC144B4A90FD}" type="presParOf" srcId="{EB9572D5-28B6-44AC-B55A-D022DB1B9E71}" destId="{D8119259-8575-4E55-A50A-C383BA1F8172}" srcOrd="2" destOrd="0" presId="urn:diagrams.loki3.com/BracketList"/>
    <dgm:cxn modelId="{711F5994-C753-43AE-A070-5FF40373E68D}" type="presParOf" srcId="{EB9572D5-28B6-44AC-B55A-D022DB1B9E71}" destId="{09C02A45-D89D-4D30-9D92-A2E4BDEF4C67}" srcOrd="3" destOrd="0" presId="urn:diagrams.loki3.com/Bracke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82211EE-557D-41CE-BCAD-0A1C9991E6AD}" type="doc">
      <dgm:prSet loTypeId="urn:microsoft.com/office/officeart/2005/8/layout/vList2" loCatId="list" qsTypeId="urn:microsoft.com/office/officeart/2005/8/quickstyle/3d1" qsCatId="3D" csTypeId="urn:microsoft.com/office/officeart/2005/8/colors/colorful2" csCatId="colorful"/>
      <dgm:spPr/>
      <dgm:t>
        <a:bodyPr/>
        <a:lstStyle/>
        <a:p>
          <a:endParaRPr lang="en-GB"/>
        </a:p>
      </dgm:t>
    </dgm:pt>
    <dgm:pt modelId="{6185EF5A-AA2D-4899-9543-538922C80BA1}">
      <dgm:prSet/>
      <dgm:spPr/>
      <dgm:t>
        <a:bodyPr/>
        <a:lstStyle/>
        <a:p>
          <a:pPr rtl="0"/>
          <a:r>
            <a:rPr lang="en-US"/>
            <a:t>Estimate the current earnings of the firm</a:t>
          </a:r>
          <a:endParaRPr lang="en-GB"/>
        </a:p>
      </dgm:t>
    </dgm:pt>
    <dgm:pt modelId="{78A4D2DD-D2F4-4E10-9A1D-1037C4B626B8}" type="parTrans" cxnId="{EEE1B8D3-DDFE-4B8A-853D-D9C4EC68C666}">
      <dgm:prSet/>
      <dgm:spPr/>
      <dgm:t>
        <a:bodyPr/>
        <a:lstStyle/>
        <a:p>
          <a:endParaRPr lang="en-GB"/>
        </a:p>
      </dgm:t>
    </dgm:pt>
    <dgm:pt modelId="{05CD042A-B344-4308-868B-216D3CF176E0}" type="sibTrans" cxnId="{EEE1B8D3-DDFE-4B8A-853D-D9C4EC68C666}">
      <dgm:prSet/>
      <dgm:spPr/>
      <dgm:t>
        <a:bodyPr/>
        <a:lstStyle/>
        <a:p>
          <a:endParaRPr lang="en-GB"/>
        </a:p>
      </dgm:t>
    </dgm:pt>
    <dgm:pt modelId="{6B923D10-A7EB-4273-88B6-D8E971A855B1}">
      <dgm:prSet/>
      <dgm:spPr/>
      <dgm:t>
        <a:bodyPr/>
        <a:lstStyle/>
        <a:p>
          <a:pPr rtl="0"/>
          <a:r>
            <a:rPr lang="en-US"/>
            <a:t>If looking at cash flows to equity, look at earnings after interest expenses - i.e. net income</a:t>
          </a:r>
          <a:endParaRPr lang="en-GB"/>
        </a:p>
      </dgm:t>
    </dgm:pt>
    <dgm:pt modelId="{57F44CC8-24ED-45EA-91EA-6D83F7287269}" type="parTrans" cxnId="{0F88FD69-B86C-452C-BDB9-2E90E288F94B}">
      <dgm:prSet/>
      <dgm:spPr/>
      <dgm:t>
        <a:bodyPr/>
        <a:lstStyle/>
        <a:p>
          <a:endParaRPr lang="en-GB"/>
        </a:p>
      </dgm:t>
    </dgm:pt>
    <dgm:pt modelId="{D55E7B00-F4D0-4435-AF23-18F1CB2691DC}" type="sibTrans" cxnId="{0F88FD69-B86C-452C-BDB9-2E90E288F94B}">
      <dgm:prSet/>
      <dgm:spPr/>
      <dgm:t>
        <a:bodyPr/>
        <a:lstStyle/>
        <a:p>
          <a:endParaRPr lang="en-GB"/>
        </a:p>
      </dgm:t>
    </dgm:pt>
    <dgm:pt modelId="{FEC3835A-5CE5-4724-B9A3-CB1506E1A973}">
      <dgm:prSet/>
      <dgm:spPr/>
      <dgm:t>
        <a:bodyPr/>
        <a:lstStyle/>
        <a:p>
          <a:pPr rtl="0"/>
          <a:r>
            <a:rPr lang="en-US" dirty="0"/>
            <a:t>If looking at cash flows to the firm, look at operating earnings after taxes</a:t>
          </a:r>
          <a:endParaRPr lang="en-GB" dirty="0"/>
        </a:p>
      </dgm:t>
    </dgm:pt>
    <dgm:pt modelId="{99888908-8548-43FE-A4A2-8BD1262A6251}" type="parTrans" cxnId="{01851CE4-F0B0-48A2-A078-41BCDCFE0D73}">
      <dgm:prSet/>
      <dgm:spPr/>
      <dgm:t>
        <a:bodyPr/>
        <a:lstStyle/>
        <a:p>
          <a:endParaRPr lang="en-GB"/>
        </a:p>
      </dgm:t>
    </dgm:pt>
    <dgm:pt modelId="{DF42E890-26CE-4461-A910-800961AB2985}" type="sibTrans" cxnId="{01851CE4-F0B0-48A2-A078-41BCDCFE0D73}">
      <dgm:prSet/>
      <dgm:spPr/>
      <dgm:t>
        <a:bodyPr/>
        <a:lstStyle/>
        <a:p>
          <a:endParaRPr lang="en-GB"/>
        </a:p>
      </dgm:t>
    </dgm:pt>
    <dgm:pt modelId="{4F6CBA60-F9DA-4B29-935D-07115771F355}">
      <dgm:prSet/>
      <dgm:spPr/>
      <dgm:t>
        <a:bodyPr/>
        <a:lstStyle/>
        <a:p>
          <a:pPr rtl="0"/>
          <a:r>
            <a:rPr lang="en-US"/>
            <a:t>Consider how much the firm invested to create future growth</a:t>
          </a:r>
          <a:endParaRPr lang="en-GB"/>
        </a:p>
      </dgm:t>
    </dgm:pt>
    <dgm:pt modelId="{E6983583-EB4E-456B-810D-AED27A630168}" type="parTrans" cxnId="{37F5DBC3-82BF-46F3-8B9A-F652470FDD24}">
      <dgm:prSet/>
      <dgm:spPr/>
      <dgm:t>
        <a:bodyPr/>
        <a:lstStyle/>
        <a:p>
          <a:endParaRPr lang="en-GB"/>
        </a:p>
      </dgm:t>
    </dgm:pt>
    <dgm:pt modelId="{8653331A-B5B0-4198-ACB7-FCFD65CAC9CF}" type="sibTrans" cxnId="{37F5DBC3-82BF-46F3-8B9A-F652470FDD24}">
      <dgm:prSet/>
      <dgm:spPr/>
      <dgm:t>
        <a:bodyPr/>
        <a:lstStyle/>
        <a:p>
          <a:endParaRPr lang="en-GB"/>
        </a:p>
      </dgm:t>
    </dgm:pt>
    <dgm:pt modelId="{49E44BF0-7F7C-4BDF-93E1-8A9637A1E442}">
      <dgm:prSet/>
      <dgm:spPr/>
      <dgm:t>
        <a:bodyPr/>
        <a:lstStyle/>
        <a:p>
          <a:pPr rtl="0"/>
          <a:r>
            <a:rPr lang="en-US"/>
            <a:t>If the investment is not expensed, it will be categorized as capital expenditures. To the extent that depreciation provides a cash flow, it will cover some of these expenditures.</a:t>
          </a:r>
          <a:endParaRPr lang="en-GB"/>
        </a:p>
      </dgm:t>
    </dgm:pt>
    <dgm:pt modelId="{63780789-D5F5-4BBC-9B2F-B2C128ED0945}" type="parTrans" cxnId="{BBD9C851-F36A-467A-9640-31CC26F5F511}">
      <dgm:prSet/>
      <dgm:spPr/>
      <dgm:t>
        <a:bodyPr/>
        <a:lstStyle/>
        <a:p>
          <a:endParaRPr lang="en-GB"/>
        </a:p>
      </dgm:t>
    </dgm:pt>
    <dgm:pt modelId="{F2CCEC70-20BA-42C3-A8F4-70ECC72E00ED}" type="sibTrans" cxnId="{BBD9C851-F36A-467A-9640-31CC26F5F511}">
      <dgm:prSet/>
      <dgm:spPr/>
      <dgm:t>
        <a:bodyPr/>
        <a:lstStyle/>
        <a:p>
          <a:endParaRPr lang="en-GB"/>
        </a:p>
      </dgm:t>
    </dgm:pt>
    <dgm:pt modelId="{C516BE7F-8D45-48DC-B31B-46C9A020BF4E}">
      <dgm:prSet/>
      <dgm:spPr/>
      <dgm:t>
        <a:bodyPr/>
        <a:lstStyle/>
        <a:p>
          <a:pPr rtl="0"/>
          <a:r>
            <a:rPr lang="en-US"/>
            <a:t>Increasing working capital needs are also investments for future growth</a:t>
          </a:r>
          <a:endParaRPr lang="en-GB"/>
        </a:p>
      </dgm:t>
    </dgm:pt>
    <dgm:pt modelId="{9C0F77ED-E006-47F4-B40C-14BC106CA880}" type="parTrans" cxnId="{EDB7A8E4-AF0F-41D5-AA10-2678170F5B9E}">
      <dgm:prSet/>
      <dgm:spPr/>
      <dgm:t>
        <a:bodyPr/>
        <a:lstStyle/>
        <a:p>
          <a:endParaRPr lang="en-GB"/>
        </a:p>
      </dgm:t>
    </dgm:pt>
    <dgm:pt modelId="{6B92FDF5-2A78-457F-AB11-C549D298D264}" type="sibTrans" cxnId="{EDB7A8E4-AF0F-41D5-AA10-2678170F5B9E}">
      <dgm:prSet/>
      <dgm:spPr/>
      <dgm:t>
        <a:bodyPr/>
        <a:lstStyle/>
        <a:p>
          <a:endParaRPr lang="en-GB"/>
        </a:p>
      </dgm:t>
    </dgm:pt>
    <dgm:pt modelId="{BEB6A872-1C7B-4C25-9785-F9187B509997}">
      <dgm:prSet/>
      <dgm:spPr/>
      <dgm:t>
        <a:bodyPr/>
        <a:lstStyle/>
        <a:p>
          <a:pPr rtl="0"/>
          <a:r>
            <a:rPr lang="en-US"/>
            <a:t>If looking at cash flows to equity, consider the cash flows from net debt issues (debt issued - debt repaid)</a:t>
          </a:r>
          <a:endParaRPr lang="en-GB"/>
        </a:p>
      </dgm:t>
    </dgm:pt>
    <dgm:pt modelId="{8F13B036-1C08-42C5-B357-E34B48751FB3}" type="parTrans" cxnId="{6337ABAF-3734-4017-80B4-2ACD0521A02D}">
      <dgm:prSet/>
      <dgm:spPr/>
      <dgm:t>
        <a:bodyPr/>
        <a:lstStyle/>
        <a:p>
          <a:endParaRPr lang="en-GB"/>
        </a:p>
      </dgm:t>
    </dgm:pt>
    <dgm:pt modelId="{530AFE5B-7293-41E2-B4CB-B6C39E11B300}" type="sibTrans" cxnId="{6337ABAF-3734-4017-80B4-2ACD0521A02D}">
      <dgm:prSet/>
      <dgm:spPr/>
      <dgm:t>
        <a:bodyPr/>
        <a:lstStyle/>
        <a:p>
          <a:endParaRPr lang="en-GB"/>
        </a:p>
      </dgm:t>
    </dgm:pt>
    <dgm:pt modelId="{33F17644-B2AA-4AE3-8377-10F82BA02D9A}" type="pres">
      <dgm:prSet presAssocID="{382211EE-557D-41CE-BCAD-0A1C9991E6AD}" presName="linear" presStyleCnt="0">
        <dgm:presLayoutVars>
          <dgm:animLvl val="lvl"/>
          <dgm:resizeHandles val="exact"/>
        </dgm:presLayoutVars>
      </dgm:prSet>
      <dgm:spPr/>
    </dgm:pt>
    <dgm:pt modelId="{9B6572FF-8D3F-4CB9-ACFD-5B79A10A0950}" type="pres">
      <dgm:prSet presAssocID="{6185EF5A-AA2D-4899-9543-538922C80BA1}" presName="parentText" presStyleLbl="node1" presStyleIdx="0" presStyleCnt="3">
        <dgm:presLayoutVars>
          <dgm:chMax val="0"/>
          <dgm:bulletEnabled val="1"/>
        </dgm:presLayoutVars>
      </dgm:prSet>
      <dgm:spPr/>
    </dgm:pt>
    <dgm:pt modelId="{ED282DAC-4B5A-4A48-8BA6-C8D1D23E2942}" type="pres">
      <dgm:prSet presAssocID="{6185EF5A-AA2D-4899-9543-538922C80BA1}" presName="childText" presStyleLbl="revTx" presStyleIdx="0" presStyleCnt="2">
        <dgm:presLayoutVars>
          <dgm:bulletEnabled val="1"/>
        </dgm:presLayoutVars>
      </dgm:prSet>
      <dgm:spPr/>
    </dgm:pt>
    <dgm:pt modelId="{B7ECDA4B-822E-44A0-914F-38F5F2EC6809}" type="pres">
      <dgm:prSet presAssocID="{4F6CBA60-F9DA-4B29-935D-07115771F355}" presName="parentText" presStyleLbl="node1" presStyleIdx="1" presStyleCnt="3">
        <dgm:presLayoutVars>
          <dgm:chMax val="0"/>
          <dgm:bulletEnabled val="1"/>
        </dgm:presLayoutVars>
      </dgm:prSet>
      <dgm:spPr/>
    </dgm:pt>
    <dgm:pt modelId="{8F8A653C-E669-4570-BDD7-5BA860E3FBA6}" type="pres">
      <dgm:prSet presAssocID="{4F6CBA60-F9DA-4B29-935D-07115771F355}" presName="childText" presStyleLbl="revTx" presStyleIdx="1" presStyleCnt="2">
        <dgm:presLayoutVars>
          <dgm:bulletEnabled val="1"/>
        </dgm:presLayoutVars>
      </dgm:prSet>
      <dgm:spPr/>
    </dgm:pt>
    <dgm:pt modelId="{45DD733C-85CF-41DD-B98E-FF4F0F1BC573}" type="pres">
      <dgm:prSet presAssocID="{BEB6A872-1C7B-4C25-9785-F9187B509997}" presName="parentText" presStyleLbl="node1" presStyleIdx="2" presStyleCnt="3">
        <dgm:presLayoutVars>
          <dgm:chMax val="0"/>
          <dgm:bulletEnabled val="1"/>
        </dgm:presLayoutVars>
      </dgm:prSet>
      <dgm:spPr/>
    </dgm:pt>
  </dgm:ptLst>
  <dgm:cxnLst>
    <dgm:cxn modelId="{3C6B2D09-BC67-48D8-B877-1D065E2656D4}" type="presOf" srcId="{C516BE7F-8D45-48DC-B31B-46C9A020BF4E}" destId="{8F8A653C-E669-4570-BDD7-5BA860E3FBA6}" srcOrd="0" destOrd="1" presId="urn:microsoft.com/office/officeart/2005/8/layout/vList2"/>
    <dgm:cxn modelId="{D0E6971A-EDC7-4FEA-8356-94D80852B709}" type="presOf" srcId="{6B923D10-A7EB-4273-88B6-D8E971A855B1}" destId="{ED282DAC-4B5A-4A48-8BA6-C8D1D23E2942}" srcOrd="0" destOrd="0" presId="urn:microsoft.com/office/officeart/2005/8/layout/vList2"/>
    <dgm:cxn modelId="{0F88FD69-B86C-452C-BDB9-2E90E288F94B}" srcId="{6185EF5A-AA2D-4899-9543-538922C80BA1}" destId="{6B923D10-A7EB-4273-88B6-D8E971A855B1}" srcOrd="0" destOrd="0" parTransId="{57F44CC8-24ED-45EA-91EA-6D83F7287269}" sibTransId="{D55E7B00-F4D0-4435-AF23-18F1CB2691DC}"/>
    <dgm:cxn modelId="{29129A50-926C-437B-81B7-A68637FF0490}" type="presOf" srcId="{FEC3835A-5CE5-4724-B9A3-CB1506E1A973}" destId="{ED282DAC-4B5A-4A48-8BA6-C8D1D23E2942}" srcOrd="0" destOrd="1" presId="urn:microsoft.com/office/officeart/2005/8/layout/vList2"/>
    <dgm:cxn modelId="{BBD9C851-F36A-467A-9640-31CC26F5F511}" srcId="{4F6CBA60-F9DA-4B29-935D-07115771F355}" destId="{49E44BF0-7F7C-4BDF-93E1-8A9637A1E442}" srcOrd="0" destOrd="0" parTransId="{63780789-D5F5-4BBC-9B2F-B2C128ED0945}" sibTransId="{F2CCEC70-20BA-42C3-A8F4-70ECC72E00ED}"/>
    <dgm:cxn modelId="{C8614D75-2525-49CA-B013-B858E94C89B4}" type="presOf" srcId="{49E44BF0-7F7C-4BDF-93E1-8A9637A1E442}" destId="{8F8A653C-E669-4570-BDD7-5BA860E3FBA6}" srcOrd="0" destOrd="0" presId="urn:microsoft.com/office/officeart/2005/8/layout/vList2"/>
    <dgm:cxn modelId="{1D3D9A85-E36F-409A-A822-16AB2FA24AFC}" type="presOf" srcId="{382211EE-557D-41CE-BCAD-0A1C9991E6AD}" destId="{33F17644-B2AA-4AE3-8377-10F82BA02D9A}" srcOrd="0" destOrd="0" presId="urn:microsoft.com/office/officeart/2005/8/layout/vList2"/>
    <dgm:cxn modelId="{1D54FF87-AD81-4F98-AC2B-FDD40B3E45B0}" type="presOf" srcId="{6185EF5A-AA2D-4899-9543-538922C80BA1}" destId="{9B6572FF-8D3F-4CB9-ACFD-5B79A10A0950}" srcOrd="0" destOrd="0" presId="urn:microsoft.com/office/officeart/2005/8/layout/vList2"/>
    <dgm:cxn modelId="{28681992-4C69-4099-B0CA-F1039E9FE877}" type="presOf" srcId="{4F6CBA60-F9DA-4B29-935D-07115771F355}" destId="{B7ECDA4B-822E-44A0-914F-38F5F2EC6809}" srcOrd="0" destOrd="0" presId="urn:microsoft.com/office/officeart/2005/8/layout/vList2"/>
    <dgm:cxn modelId="{6337ABAF-3734-4017-80B4-2ACD0521A02D}" srcId="{382211EE-557D-41CE-BCAD-0A1C9991E6AD}" destId="{BEB6A872-1C7B-4C25-9785-F9187B509997}" srcOrd="2" destOrd="0" parTransId="{8F13B036-1C08-42C5-B357-E34B48751FB3}" sibTransId="{530AFE5B-7293-41E2-B4CB-B6C39E11B300}"/>
    <dgm:cxn modelId="{886C75BF-3251-4898-9200-1E6C7D2F20EE}" type="presOf" srcId="{BEB6A872-1C7B-4C25-9785-F9187B509997}" destId="{45DD733C-85CF-41DD-B98E-FF4F0F1BC573}" srcOrd="0" destOrd="0" presId="urn:microsoft.com/office/officeart/2005/8/layout/vList2"/>
    <dgm:cxn modelId="{37F5DBC3-82BF-46F3-8B9A-F652470FDD24}" srcId="{382211EE-557D-41CE-BCAD-0A1C9991E6AD}" destId="{4F6CBA60-F9DA-4B29-935D-07115771F355}" srcOrd="1" destOrd="0" parTransId="{E6983583-EB4E-456B-810D-AED27A630168}" sibTransId="{8653331A-B5B0-4198-ACB7-FCFD65CAC9CF}"/>
    <dgm:cxn modelId="{EEE1B8D3-DDFE-4B8A-853D-D9C4EC68C666}" srcId="{382211EE-557D-41CE-BCAD-0A1C9991E6AD}" destId="{6185EF5A-AA2D-4899-9543-538922C80BA1}" srcOrd="0" destOrd="0" parTransId="{78A4D2DD-D2F4-4E10-9A1D-1037C4B626B8}" sibTransId="{05CD042A-B344-4308-868B-216D3CF176E0}"/>
    <dgm:cxn modelId="{01851CE4-F0B0-48A2-A078-41BCDCFE0D73}" srcId="{6185EF5A-AA2D-4899-9543-538922C80BA1}" destId="{FEC3835A-5CE5-4724-B9A3-CB1506E1A973}" srcOrd="1" destOrd="0" parTransId="{99888908-8548-43FE-A4A2-8BD1262A6251}" sibTransId="{DF42E890-26CE-4461-A910-800961AB2985}"/>
    <dgm:cxn modelId="{EDB7A8E4-AF0F-41D5-AA10-2678170F5B9E}" srcId="{4F6CBA60-F9DA-4B29-935D-07115771F355}" destId="{C516BE7F-8D45-48DC-B31B-46C9A020BF4E}" srcOrd="1" destOrd="0" parTransId="{9C0F77ED-E006-47F4-B40C-14BC106CA880}" sibTransId="{6B92FDF5-2A78-457F-AB11-C549D298D264}"/>
    <dgm:cxn modelId="{E088B858-46F4-4979-AAF2-ADD71B4876AD}" type="presParOf" srcId="{33F17644-B2AA-4AE3-8377-10F82BA02D9A}" destId="{9B6572FF-8D3F-4CB9-ACFD-5B79A10A0950}" srcOrd="0" destOrd="0" presId="urn:microsoft.com/office/officeart/2005/8/layout/vList2"/>
    <dgm:cxn modelId="{7131E03B-B73A-4A18-A8FF-B6D807BF55F6}" type="presParOf" srcId="{33F17644-B2AA-4AE3-8377-10F82BA02D9A}" destId="{ED282DAC-4B5A-4A48-8BA6-C8D1D23E2942}" srcOrd="1" destOrd="0" presId="urn:microsoft.com/office/officeart/2005/8/layout/vList2"/>
    <dgm:cxn modelId="{51BDCB70-CC24-4390-86E5-247D6BAE7529}" type="presParOf" srcId="{33F17644-B2AA-4AE3-8377-10F82BA02D9A}" destId="{B7ECDA4B-822E-44A0-914F-38F5F2EC6809}" srcOrd="2" destOrd="0" presId="urn:microsoft.com/office/officeart/2005/8/layout/vList2"/>
    <dgm:cxn modelId="{F76B8AFB-4A1B-4724-A26C-A96C5100D824}" type="presParOf" srcId="{33F17644-B2AA-4AE3-8377-10F82BA02D9A}" destId="{8F8A653C-E669-4570-BDD7-5BA860E3FBA6}" srcOrd="3" destOrd="0" presId="urn:microsoft.com/office/officeart/2005/8/layout/vList2"/>
    <dgm:cxn modelId="{56B1B7EA-5D4C-4C36-BB00-B6B26F8EAA99}" type="presParOf" srcId="{33F17644-B2AA-4AE3-8377-10F82BA02D9A}" destId="{45DD733C-85CF-41DD-B98E-FF4F0F1BC573}"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380A6A3-5849-4A99-B270-5F18CC8E662E}" type="doc">
      <dgm:prSet loTypeId="urn:microsoft.com/office/officeart/2005/8/layout/lProcess2" loCatId="list" qsTypeId="urn:microsoft.com/office/officeart/2005/8/quickstyle/3d2" qsCatId="3D" csTypeId="urn:microsoft.com/office/officeart/2005/8/colors/colorful2" csCatId="colorful" phldr="1"/>
      <dgm:spPr/>
      <dgm:t>
        <a:bodyPr/>
        <a:lstStyle/>
        <a:p>
          <a:endParaRPr lang="en-GB"/>
        </a:p>
      </dgm:t>
    </dgm:pt>
    <dgm:pt modelId="{53A3B1BC-80A4-47B7-884F-50D48617CBB7}">
      <dgm:prSet phldrT="[Text]"/>
      <dgm:spPr/>
      <dgm:t>
        <a:bodyPr/>
        <a:lstStyle/>
        <a:p>
          <a:r>
            <a:rPr lang="en-GB" dirty="0"/>
            <a:t>Measuring Earnings</a:t>
          </a:r>
        </a:p>
      </dgm:t>
    </dgm:pt>
    <dgm:pt modelId="{0C0E06EE-A475-4664-83FC-B76DE2011C65}" type="parTrans" cxnId="{10DE788B-BDCE-40F7-A58A-F6E8E7C88E8B}">
      <dgm:prSet/>
      <dgm:spPr/>
      <dgm:t>
        <a:bodyPr/>
        <a:lstStyle/>
        <a:p>
          <a:endParaRPr lang="en-GB"/>
        </a:p>
      </dgm:t>
    </dgm:pt>
    <dgm:pt modelId="{0F70B580-36FD-4C55-B19E-583576376F47}" type="sibTrans" cxnId="{10DE788B-BDCE-40F7-A58A-F6E8E7C88E8B}">
      <dgm:prSet/>
      <dgm:spPr/>
      <dgm:t>
        <a:bodyPr/>
        <a:lstStyle/>
        <a:p>
          <a:endParaRPr lang="en-GB"/>
        </a:p>
      </dgm:t>
    </dgm:pt>
    <dgm:pt modelId="{FB64BA0D-366C-4F11-85AE-5DE67B1EE38C}">
      <dgm:prSet phldrT="[Text]"/>
      <dgm:spPr/>
      <dgm:t>
        <a:bodyPr/>
        <a:lstStyle/>
        <a:p>
          <a:r>
            <a:rPr lang="en-GB" dirty="0"/>
            <a:t>Normalize Earnings (Cyclicality-Variability)</a:t>
          </a:r>
        </a:p>
      </dgm:t>
    </dgm:pt>
    <dgm:pt modelId="{2842B4B6-4EFB-45FA-8F90-0CB0A55F839E}" type="parTrans" cxnId="{C600AF63-CC40-407D-8956-CEE01C5094D9}">
      <dgm:prSet/>
      <dgm:spPr/>
      <dgm:t>
        <a:bodyPr/>
        <a:lstStyle/>
        <a:p>
          <a:endParaRPr lang="en-GB"/>
        </a:p>
      </dgm:t>
    </dgm:pt>
    <dgm:pt modelId="{B6F7E53C-DE31-4A2B-96F6-E25CDB4EB33E}" type="sibTrans" cxnId="{C600AF63-CC40-407D-8956-CEE01C5094D9}">
      <dgm:prSet/>
      <dgm:spPr/>
      <dgm:t>
        <a:bodyPr/>
        <a:lstStyle/>
        <a:p>
          <a:endParaRPr lang="en-GB"/>
        </a:p>
      </dgm:t>
    </dgm:pt>
    <dgm:pt modelId="{4E1A903E-BF30-4D0F-A794-654FDE0F2577}">
      <dgm:prSet phldrT="[Text]"/>
      <dgm:spPr/>
      <dgm:t>
        <a:bodyPr/>
        <a:lstStyle/>
        <a:p>
          <a:r>
            <a:rPr lang="en-GB" dirty="0"/>
            <a:t>From Earnings to Cash Flows</a:t>
          </a:r>
        </a:p>
      </dgm:t>
    </dgm:pt>
    <dgm:pt modelId="{286D201C-951B-45DB-8FC7-75678D3EF000}" type="parTrans" cxnId="{028C2D3B-3D12-46C6-A7BC-EA65D7A274D4}">
      <dgm:prSet/>
      <dgm:spPr/>
      <dgm:t>
        <a:bodyPr/>
        <a:lstStyle/>
        <a:p>
          <a:endParaRPr lang="en-GB"/>
        </a:p>
      </dgm:t>
    </dgm:pt>
    <dgm:pt modelId="{B02111A2-2959-4BDB-9AF4-382AD731139D}" type="sibTrans" cxnId="{028C2D3B-3D12-46C6-A7BC-EA65D7A274D4}">
      <dgm:prSet/>
      <dgm:spPr/>
      <dgm:t>
        <a:bodyPr/>
        <a:lstStyle/>
        <a:p>
          <a:endParaRPr lang="en-GB"/>
        </a:p>
      </dgm:t>
    </dgm:pt>
    <dgm:pt modelId="{0AFD5086-CC03-4996-908E-D1833C608A9C}">
      <dgm:prSet phldrT="[Text]"/>
      <dgm:spPr/>
      <dgm:t>
        <a:bodyPr/>
        <a:lstStyle/>
        <a:p>
          <a:r>
            <a:rPr lang="en-GB" dirty="0"/>
            <a:t>Tax</a:t>
          </a:r>
        </a:p>
      </dgm:t>
    </dgm:pt>
    <dgm:pt modelId="{09B696BC-058D-4662-ADD8-3A366575E2B3}" type="parTrans" cxnId="{6269F675-E5BD-4279-9304-7539C5D37CB9}">
      <dgm:prSet/>
      <dgm:spPr/>
      <dgm:t>
        <a:bodyPr/>
        <a:lstStyle/>
        <a:p>
          <a:endParaRPr lang="en-GB"/>
        </a:p>
      </dgm:t>
    </dgm:pt>
    <dgm:pt modelId="{605CED6A-60C8-49A7-B21C-EB706B0E4851}" type="sibTrans" cxnId="{6269F675-E5BD-4279-9304-7539C5D37CB9}">
      <dgm:prSet/>
      <dgm:spPr/>
      <dgm:t>
        <a:bodyPr/>
        <a:lstStyle/>
        <a:p>
          <a:endParaRPr lang="en-GB"/>
        </a:p>
      </dgm:t>
    </dgm:pt>
    <dgm:pt modelId="{8E029922-469B-4145-9547-B2219543862C}">
      <dgm:prSet phldrT="[Text]"/>
      <dgm:spPr/>
      <dgm:t>
        <a:bodyPr/>
        <a:lstStyle/>
        <a:p>
          <a:r>
            <a:rPr lang="en-GB" dirty="0"/>
            <a:t>Correcting Earnings</a:t>
          </a:r>
        </a:p>
      </dgm:t>
    </dgm:pt>
    <dgm:pt modelId="{A1BC2C9B-BF89-4778-BDCB-864ED789DA04}" type="parTrans" cxnId="{F9671CD3-8470-4B2E-9B31-D975111C135C}">
      <dgm:prSet/>
      <dgm:spPr/>
      <dgm:t>
        <a:bodyPr/>
        <a:lstStyle/>
        <a:p>
          <a:endParaRPr lang="en-GB"/>
        </a:p>
      </dgm:t>
    </dgm:pt>
    <dgm:pt modelId="{F50A6A40-DF15-4F3A-87A9-1800AE520BA3}" type="sibTrans" cxnId="{F9671CD3-8470-4B2E-9B31-D975111C135C}">
      <dgm:prSet/>
      <dgm:spPr/>
      <dgm:t>
        <a:bodyPr/>
        <a:lstStyle/>
        <a:p>
          <a:endParaRPr lang="en-GB"/>
        </a:p>
      </dgm:t>
    </dgm:pt>
    <dgm:pt modelId="{2269EF51-9E75-45EF-9C38-9DDB12B9EB52}">
      <dgm:prSet phldrT="[Text]"/>
      <dgm:spPr/>
      <dgm:t>
        <a:bodyPr/>
        <a:lstStyle/>
        <a:p>
          <a:r>
            <a:rPr lang="en-GB" dirty="0"/>
            <a:t>Updating Earnings</a:t>
          </a:r>
        </a:p>
      </dgm:t>
    </dgm:pt>
    <dgm:pt modelId="{9F8DFD97-B888-4602-848B-84030058783A}" type="parTrans" cxnId="{9DA8F105-CADE-489F-B988-C65BF50CE9C0}">
      <dgm:prSet/>
      <dgm:spPr/>
      <dgm:t>
        <a:bodyPr/>
        <a:lstStyle/>
        <a:p>
          <a:endParaRPr lang="en-GB"/>
        </a:p>
      </dgm:t>
    </dgm:pt>
    <dgm:pt modelId="{4AE63D3D-7ABA-4C55-A22E-BDDF03875D71}" type="sibTrans" cxnId="{9DA8F105-CADE-489F-B988-C65BF50CE9C0}">
      <dgm:prSet/>
      <dgm:spPr/>
      <dgm:t>
        <a:bodyPr/>
        <a:lstStyle/>
        <a:p>
          <a:endParaRPr lang="en-GB"/>
        </a:p>
      </dgm:t>
    </dgm:pt>
    <dgm:pt modelId="{A6481580-38A8-498B-9A47-ED82BD70D280}">
      <dgm:prSet phldrT="[Text]"/>
      <dgm:spPr/>
      <dgm:t>
        <a:bodyPr/>
        <a:lstStyle/>
        <a:p>
          <a:r>
            <a:rPr lang="en-GB" dirty="0"/>
            <a:t>Abnormal Expenses-Negative Earnings</a:t>
          </a:r>
        </a:p>
      </dgm:t>
    </dgm:pt>
    <dgm:pt modelId="{2F256C66-A206-46F0-9074-81680562E3FA}" type="parTrans" cxnId="{85C0FC20-D441-4D0B-8E4C-D1E6437DC164}">
      <dgm:prSet/>
      <dgm:spPr/>
      <dgm:t>
        <a:bodyPr/>
        <a:lstStyle/>
        <a:p>
          <a:endParaRPr lang="en-GB"/>
        </a:p>
      </dgm:t>
    </dgm:pt>
    <dgm:pt modelId="{42D0293B-FD7E-46B1-A063-021C812AD3F9}" type="sibTrans" cxnId="{85C0FC20-D441-4D0B-8E4C-D1E6437DC164}">
      <dgm:prSet/>
      <dgm:spPr/>
      <dgm:t>
        <a:bodyPr/>
        <a:lstStyle/>
        <a:p>
          <a:endParaRPr lang="en-GB"/>
        </a:p>
      </dgm:t>
    </dgm:pt>
    <dgm:pt modelId="{08FA45A9-6BC5-499F-BFDC-7C9C276E0B0F}">
      <dgm:prSet phldrT="[Text]"/>
      <dgm:spPr/>
      <dgm:t>
        <a:bodyPr/>
        <a:lstStyle/>
        <a:p>
          <a:r>
            <a:rPr lang="en-GB" dirty="0"/>
            <a:t>Adjusting Operating Costs</a:t>
          </a:r>
        </a:p>
      </dgm:t>
    </dgm:pt>
    <dgm:pt modelId="{3D7B4769-AF69-499D-896A-C845B0386A58}" type="parTrans" cxnId="{6D086D6F-65E6-4034-AD37-9CE794FB4075}">
      <dgm:prSet/>
      <dgm:spPr/>
      <dgm:t>
        <a:bodyPr/>
        <a:lstStyle/>
        <a:p>
          <a:endParaRPr lang="en-GB"/>
        </a:p>
      </dgm:t>
    </dgm:pt>
    <dgm:pt modelId="{7AF567E4-9DB8-4B4A-B9FB-5BB34035E22A}" type="sibTrans" cxnId="{6D086D6F-65E6-4034-AD37-9CE794FB4075}">
      <dgm:prSet/>
      <dgm:spPr/>
      <dgm:t>
        <a:bodyPr/>
        <a:lstStyle/>
        <a:p>
          <a:endParaRPr lang="en-GB"/>
        </a:p>
      </dgm:t>
    </dgm:pt>
    <dgm:pt modelId="{E2236DE9-29ED-4530-95B1-893404BF8ADF}">
      <dgm:prSet phldrT="[Text]"/>
      <dgm:spPr/>
      <dgm:t>
        <a:bodyPr/>
        <a:lstStyle/>
        <a:p>
          <a:r>
            <a:rPr lang="en-GB" dirty="0"/>
            <a:t>Investment Activities-Capital Expenses</a:t>
          </a:r>
        </a:p>
      </dgm:t>
    </dgm:pt>
    <dgm:pt modelId="{53976B3E-41CD-4861-9CFE-71D4059DF044}" type="parTrans" cxnId="{58D4866D-0355-40DC-A215-3A14616200E8}">
      <dgm:prSet/>
      <dgm:spPr/>
      <dgm:t>
        <a:bodyPr/>
        <a:lstStyle/>
        <a:p>
          <a:endParaRPr lang="en-GB"/>
        </a:p>
      </dgm:t>
    </dgm:pt>
    <dgm:pt modelId="{A1E5CEAB-FA97-4F42-AEAE-F809DED6CD0C}" type="sibTrans" cxnId="{58D4866D-0355-40DC-A215-3A14616200E8}">
      <dgm:prSet/>
      <dgm:spPr/>
      <dgm:t>
        <a:bodyPr/>
        <a:lstStyle/>
        <a:p>
          <a:endParaRPr lang="en-GB"/>
        </a:p>
      </dgm:t>
    </dgm:pt>
    <dgm:pt modelId="{4177A266-C9E4-4380-9158-4CD5AE2BB756}">
      <dgm:prSet phldrT="[Text]"/>
      <dgm:spPr/>
      <dgm:t>
        <a:bodyPr/>
        <a:lstStyle/>
        <a:p>
          <a:r>
            <a:rPr lang="en-GB" dirty="0"/>
            <a:t>Financing Activities</a:t>
          </a:r>
        </a:p>
      </dgm:t>
    </dgm:pt>
    <dgm:pt modelId="{1E65FA9C-6236-4F3E-9030-580BCF978826}" type="parTrans" cxnId="{125AB6A8-E014-416C-AC7D-81044D35DC96}">
      <dgm:prSet/>
      <dgm:spPr/>
      <dgm:t>
        <a:bodyPr/>
        <a:lstStyle/>
        <a:p>
          <a:endParaRPr lang="en-GB"/>
        </a:p>
      </dgm:t>
    </dgm:pt>
    <dgm:pt modelId="{0F11E65B-FDB2-4110-BEFD-851DE8AA553E}" type="sibTrans" cxnId="{125AB6A8-E014-416C-AC7D-81044D35DC96}">
      <dgm:prSet/>
      <dgm:spPr/>
      <dgm:t>
        <a:bodyPr/>
        <a:lstStyle/>
        <a:p>
          <a:endParaRPr lang="en-GB"/>
        </a:p>
      </dgm:t>
    </dgm:pt>
    <dgm:pt modelId="{B379B3EE-2AB2-4AF3-A271-0628855AA875}">
      <dgm:prSet phldrT="[Text]"/>
      <dgm:spPr/>
      <dgm:t>
        <a:bodyPr/>
        <a:lstStyle/>
        <a:p>
          <a:r>
            <a:rPr lang="en-GB" dirty="0"/>
            <a:t>Equity Income</a:t>
          </a:r>
        </a:p>
      </dgm:t>
    </dgm:pt>
    <dgm:pt modelId="{183599EB-998E-42BA-8637-175F535F3DFD}" type="parTrans" cxnId="{5EFAB526-4F6B-4F3F-A20B-F388E62688AE}">
      <dgm:prSet/>
      <dgm:spPr/>
      <dgm:t>
        <a:bodyPr/>
        <a:lstStyle/>
        <a:p>
          <a:endParaRPr lang="en-GB"/>
        </a:p>
      </dgm:t>
    </dgm:pt>
    <dgm:pt modelId="{FD9D7A95-2766-42B8-BF94-0FD4727F0033}" type="sibTrans" cxnId="{5EFAB526-4F6B-4F3F-A20B-F388E62688AE}">
      <dgm:prSet/>
      <dgm:spPr/>
      <dgm:t>
        <a:bodyPr/>
        <a:lstStyle/>
        <a:p>
          <a:endParaRPr lang="en-GB"/>
        </a:p>
      </dgm:t>
    </dgm:pt>
    <dgm:pt modelId="{1F024FF3-DD79-42AD-BB37-DE3426C9824C}">
      <dgm:prSet phldrT="[Text]"/>
      <dgm:spPr/>
      <dgm:t>
        <a:bodyPr/>
        <a:lstStyle/>
        <a:p>
          <a:r>
            <a:rPr lang="en-GB" dirty="0"/>
            <a:t>Estimating Growth of Earnings</a:t>
          </a:r>
        </a:p>
      </dgm:t>
    </dgm:pt>
    <dgm:pt modelId="{1583C92D-F347-4615-ADCF-8E51744E0320}" type="parTrans" cxnId="{95CCE85E-0398-4726-BC48-C4FB8A25CC2B}">
      <dgm:prSet/>
      <dgm:spPr/>
      <dgm:t>
        <a:bodyPr/>
        <a:lstStyle/>
        <a:p>
          <a:endParaRPr lang="en-GB"/>
        </a:p>
      </dgm:t>
    </dgm:pt>
    <dgm:pt modelId="{7C3F75B8-CD47-4FEA-903E-AC920E6E5B64}" type="sibTrans" cxnId="{95CCE85E-0398-4726-BC48-C4FB8A25CC2B}">
      <dgm:prSet/>
      <dgm:spPr/>
      <dgm:t>
        <a:bodyPr/>
        <a:lstStyle/>
        <a:p>
          <a:endParaRPr lang="en-GB"/>
        </a:p>
      </dgm:t>
    </dgm:pt>
    <dgm:pt modelId="{9F05DDAB-77A6-4BF5-950C-FF8156FB67C6}">
      <dgm:prSet phldrT="[Text]"/>
      <dgm:spPr/>
      <dgm:t>
        <a:bodyPr/>
        <a:lstStyle/>
        <a:p>
          <a:r>
            <a:rPr lang="en-GB" dirty="0"/>
            <a:t>Firm CF</a:t>
          </a:r>
        </a:p>
      </dgm:t>
    </dgm:pt>
    <dgm:pt modelId="{1A0154D2-EC10-4FD4-9DA6-43D47FE32248}" type="parTrans" cxnId="{7E5DA92F-F981-4AEE-A714-49F7E8F6C3D1}">
      <dgm:prSet/>
      <dgm:spPr/>
      <dgm:t>
        <a:bodyPr/>
        <a:lstStyle/>
        <a:p>
          <a:endParaRPr lang="en-GB"/>
        </a:p>
      </dgm:t>
    </dgm:pt>
    <dgm:pt modelId="{37ECF36F-4C35-4575-BB27-00C36C424E56}" type="sibTrans" cxnId="{7E5DA92F-F981-4AEE-A714-49F7E8F6C3D1}">
      <dgm:prSet/>
      <dgm:spPr/>
      <dgm:t>
        <a:bodyPr/>
        <a:lstStyle/>
        <a:p>
          <a:endParaRPr lang="en-GB"/>
        </a:p>
      </dgm:t>
    </dgm:pt>
    <dgm:pt modelId="{D715CE21-7EC1-4F47-8283-5972A6E100DB}">
      <dgm:prSet phldrT="[Text]"/>
      <dgm:spPr/>
      <dgm:t>
        <a:bodyPr/>
        <a:lstStyle/>
        <a:p>
          <a:r>
            <a:rPr lang="en-GB" dirty="0"/>
            <a:t>Terminal Value</a:t>
          </a:r>
        </a:p>
      </dgm:t>
    </dgm:pt>
    <dgm:pt modelId="{590EE677-6EF0-468B-975C-647921806735}" type="parTrans" cxnId="{FDF5376B-3366-42E2-9FA9-AE53C113F70F}">
      <dgm:prSet/>
      <dgm:spPr/>
      <dgm:t>
        <a:bodyPr/>
        <a:lstStyle/>
        <a:p>
          <a:endParaRPr lang="en-GB"/>
        </a:p>
      </dgm:t>
    </dgm:pt>
    <dgm:pt modelId="{FF8C79B4-3E33-40CC-A49E-CC2F3866FBBC}" type="sibTrans" cxnId="{FDF5376B-3366-42E2-9FA9-AE53C113F70F}">
      <dgm:prSet/>
      <dgm:spPr/>
      <dgm:t>
        <a:bodyPr/>
        <a:lstStyle/>
        <a:p>
          <a:endParaRPr lang="en-GB"/>
        </a:p>
      </dgm:t>
    </dgm:pt>
    <dgm:pt modelId="{EFD58A9B-5A82-4328-9682-973B9E240FDC}">
      <dgm:prSet phldrT="[Text]"/>
      <dgm:spPr/>
      <dgm:t>
        <a:bodyPr/>
        <a:lstStyle/>
        <a:p>
          <a:r>
            <a:rPr lang="en-GB" dirty="0"/>
            <a:t>NWC Investments</a:t>
          </a:r>
        </a:p>
      </dgm:t>
    </dgm:pt>
    <dgm:pt modelId="{8E047921-CC98-4ECC-95BA-E540FF3162AA}" type="parTrans" cxnId="{D334C6A9-9DDC-4FA4-8574-4CFB1CC4EA54}">
      <dgm:prSet/>
      <dgm:spPr/>
      <dgm:t>
        <a:bodyPr/>
        <a:lstStyle/>
        <a:p>
          <a:endParaRPr lang="en-GB"/>
        </a:p>
      </dgm:t>
    </dgm:pt>
    <dgm:pt modelId="{6681CC10-9E0B-4910-853B-D5C12F691B74}" type="sibTrans" cxnId="{D334C6A9-9DDC-4FA4-8574-4CFB1CC4EA54}">
      <dgm:prSet/>
      <dgm:spPr/>
      <dgm:t>
        <a:bodyPr/>
        <a:lstStyle/>
        <a:p>
          <a:endParaRPr lang="en-GB"/>
        </a:p>
      </dgm:t>
    </dgm:pt>
    <dgm:pt modelId="{8985EAE3-D9DC-4758-B851-47F72B7F86CC}" type="pres">
      <dgm:prSet presAssocID="{6380A6A3-5849-4A99-B270-5F18CC8E662E}" presName="theList" presStyleCnt="0">
        <dgm:presLayoutVars>
          <dgm:dir/>
          <dgm:animLvl val="lvl"/>
          <dgm:resizeHandles val="exact"/>
        </dgm:presLayoutVars>
      </dgm:prSet>
      <dgm:spPr/>
    </dgm:pt>
    <dgm:pt modelId="{25949C39-3449-47AA-9ACB-ABF3812F161D}" type="pres">
      <dgm:prSet presAssocID="{53A3B1BC-80A4-47B7-884F-50D48617CBB7}" presName="compNode" presStyleCnt="0"/>
      <dgm:spPr/>
    </dgm:pt>
    <dgm:pt modelId="{5CF36137-5149-490B-AB2C-45F3E2A37990}" type="pres">
      <dgm:prSet presAssocID="{53A3B1BC-80A4-47B7-884F-50D48617CBB7}" presName="aNode" presStyleLbl="bgShp" presStyleIdx="0" presStyleCnt="3"/>
      <dgm:spPr/>
    </dgm:pt>
    <dgm:pt modelId="{86E5A120-D878-4CFF-90D1-445CB8C48678}" type="pres">
      <dgm:prSet presAssocID="{53A3B1BC-80A4-47B7-884F-50D48617CBB7}" presName="textNode" presStyleLbl="bgShp" presStyleIdx="0" presStyleCnt="3"/>
      <dgm:spPr/>
    </dgm:pt>
    <dgm:pt modelId="{DEE0F818-61A0-4C3B-97BE-D1B1E8B96C1F}" type="pres">
      <dgm:prSet presAssocID="{53A3B1BC-80A4-47B7-884F-50D48617CBB7}" presName="compChildNode" presStyleCnt="0"/>
      <dgm:spPr/>
    </dgm:pt>
    <dgm:pt modelId="{B84C08B0-316D-4FB4-BE61-F64B4D9CDAA7}" type="pres">
      <dgm:prSet presAssocID="{53A3B1BC-80A4-47B7-884F-50D48617CBB7}" presName="theInnerList" presStyleCnt="0"/>
      <dgm:spPr/>
    </dgm:pt>
    <dgm:pt modelId="{23A4B866-70DF-47BC-951D-7A0EC941D5B6}" type="pres">
      <dgm:prSet presAssocID="{FB64BA0D-366C-4F11-85AE-5DE67B1EE38C}" presName="childNode" presStyleLbl="node1" presStyleIdx="0" presStyleCnt="10">
        <dgm:presLayoutVars>
          <dgm:bulletEnabled val="1"/>
        </dgm:presLayoutVars>
      </dgm:prSet>
      <dgm:spPr/>
    </dgm:pt>
    <dgm:pt modelId="{2BCBAD67-430C-417F-8E19-4AB5F38DCCF6}" type="pres">
      <dgm:prSet presAssocID="{FB64BA0D-366C-4F11-85AE-5DE67B1EE38C}" presName="aSpace2" presStyleCnt="0"/>
      <dgm:spPr/>
    </dgm:pt>
    <dgm:pt modelId="{BB0876B2-F3C8-4CDF-9A6D-3839BBA9B554}" type="pres">
      <dgm:prSet presAssocID="{8E029922-469B-4145-9547-B2219543862C}" presName="childNode" presStyleLbl="node1" presStyleIdx="1" presStyleCnt="10">
        <dgm:presLayoutVars>
          <dgm:bulletEnabled val="1"/>
        </dgm:presLayoutVars>
      </dgm:prSet>
      <dgm:spPr/>
    </dgm:pt>
    <dgm:pt modelId="{BD04651B-A434-4988-8A5A-9FAA1E4415A3}" type="pres">
      <dgm:prSet presAssocID="{8E029922-469B-4145-9547-B2219543862C}" presName="aSpace2" presStyleCnt="0"/>
      <dgm:spPr/>
    </dgm:pt>
    <dgm:pt modelId="{1FCF82C7-0367-4D24-BB41-BD55F34DF8D9}" type="pres">
      <dgm:prSet presAssocID="{2269EF51-9E75-45EF-9C38-9DDB12B9EB52}" presName="childNode" presStyleLbl="node1" presStyleIdx="2" presStyleCnt="10">
        <dgm:presLayoutVars>
          <dgm:bulletEnabled val="1"/>
        </dgm:presLayoutVars>
      </dgm:prSet>
      <dgm:spPr/>
    </dgm:pt>
    <dgm:pt modelId="{F246F783-A541-4AF2-9553-61F1F46692F2}" type="pres">
      <dgm:prSet presAssocID="{53A3B1BC-80A4-47B7-884F-50D48617CBB7}" presName="aSpace" presStyleCnt="0"/>
      <dgm:spPr/>
    </dgm:pt>
    <dgm:pt modelId="{0F5BBB54-40CA-4D50-8C17-1428EDBEAA94}" type="pres">
      <dgm:prSet presAssocID="{4E1A903E-BF30-4D0F-A794-654FDE0F2577}" presName="compNode" presStyleCnt="0"/>
      <dgm:spPr/>
    </dgm:pt>
    <dgm:pt modelId="{C4FB9EFB-215B-479E-B643-53E28EB82633}" type="pres">
      <dgm:prSet presAssocID="{4E1A903E-BF30-4D0F-A794-654FDE0F2577}" presName="aNode" presStyleLbl="bgShp" presStyleIdx="1" presStyleCnt="3"/>
      <dgm:spPr/>
    </dgm:pt>
    <dgm:pt modelId="{4C06968E-8B12-4357-8BCD-1E91EE23BDDD}" type="pres">
      <dgm:prSet presAssocID="{4E1A903E-BF30-4D0F-A794-654FDE0F2577}" presName="textNode" presStyleLbl="bgShp" presStyleIdx="1" presStyleCnt="3"/>
      <dgm:spPr/>
    </dgm:pt>
    <dgm:pt modelId="{B162D9DC-C091-439D-B9B3-2BFF13166847}" type="pres">
      <dgm:prSet presAssocID="{4E1A903E-BF30-4D0F-A794-654FDE0F2577}" presName="compChildNode" presStyleCnt="0"/>
      <dgm:spPr/>
    </dgm:pt>
    <dgm:pt modelId="{585468EC-BC92-46D7-9FA3-D7636B325C2E}" type="pres">
      <dgm:prSet presAssocID="{4E1A903E-BF30-4D0F-A794-654FDE0F2577}" presName="theInnerList" presStyleCnt="0"/>
      <dgm:spPr/>
    </dgm:pt>
    <dgm:pt modelId="{E2CDD9BE-7E09-4191-AE0E-9ECB3CFE49AF}" type="pres">
      <dgm:prSet presAssocID="{0AFD5086-CC03-4996-908E-D1833C608A9C}" presName="childNode" presStyleLbl="node1" presStyleIdx="3" presStyleCnt="10">
        <dgm:presLayoutVars>
          <dgm:bulletEnabled val="1"/>
        </dgm:presLayoutVars>
      </dgm:prSet>
      <dgm:spPr/>
    </dgm:pt>
    <dgm:pt modelId="{94D063E4-8FB5-4F73-8378-F76AF66090BC}" type="pres">
      <dgm:prSet presAssocID="{0AFD5086-CC03-4996-908E-D1833C608A9C}" presName="aSpace2" presStyleCnt="0"/>
      <dgm:spPr/>
    </dgm:pt>
    <dgm:pt modelId="{69C26275-3039-4434-B964-543B2DEFE86F}" type="pres">
      <dgm:prSet presAssocID="{E2236DE9-29ED-4530-95B1-893404BF8ADF}" presName="childNode" presStyleLbl="node1" presStyleIdx="4" presStyleCnt="10">
        <dgm:presLayoutVars>
          <dgm:bulletEnabled val="1"/>
        </dgm:presLayoutVars>
      </dgm:prSet>
      <dgm:spPr/>
    </dgm:pt>
    <dgm:pt modelId="{08F79980-D929-4D23-9A7C-688D0BE27A96}" type="pres">
      <dgm:prSet presAssocID="{E2236DE9-29ED-4530-95B1-893404BF8ADF}" presName="aSpace2" presStyleCnt="0"/>
      <dgm:spPr/>
    </dgm:pt>
    <dgm:pt modelId="{53A2FEDB-F5F9-4FA4-AF92-046CE2CCF92E}" type="pres">
      <dgm:prSet presAssocID="{4177A266-C9E4-4380-9158-4CD5AE2BB756}" presName="childNode" presStyleLbl="node1" presStyleIdx="5" presStyleCnt="10">
        <dgm:presLayoutVars>
          <dgm:bulletEnabled val="1"/>
        </dgm:presLayoutVars>
      </dgm:prSet>
      <dgm:spPr/>
    </dgm:pt>
    <dgm:pt modelId="{D34964D3-28B3-4830-8866-C93C1E24C1C6}" type="pres">
      <dgm:prSet presAssocID="{4177A266-C9E4-4380-9158-4CD5AE2BB756}" presName="aSpace2" presStyleCnt="0"/>
      <dgm:spPr/>
    </dgm:pt>
    <dgm:pt modelId="{7D53205E-F54B-4707-95F3-7F0887A80650}" type="pres">
      <dgm:prSet presAssocID="{EFD58A9B-5A82-4328-9682-973B9E240FDC}" presName="childNode" presStyleLbl="node1" presStyleIdx="6" presStyleCnt="10">
        <dgm:presLayoutVars>
          <dgm:bulletEnabled val="1"/>
        </dgm:presLayoutVars>
      </dgm:prSet>
      <dgm:spPr/>
    </dgm:pt>
    <dgm:pt modelId="{3E770866-787F-4390-B536-5D726CCA3255}" type="pres">
      <dgm:prSet presAssocID="{4E1A903E-BF30-4D0F-A794-654FDE0F2577}" presName="aSpace" presStyleCnt="0"/>
      <dgm:spPr/>
    </dgm:pt>
    <dgm:pt modelId="{2BA10857-EC56-4B61-84DE-D63EC61ABABD}" type="pres">
      <dgm:prSet presAssocID="{1F024FF3-DD79-42AD-BB37-DE3426C9824C}" presName="compNode" presStyleCnt="0"/>
      <dgm:spPr/>
    </dgm:pt>
    <dgm:pt modelId="{4C9D6635-E3EF-4F45-9F11-88781E797BAB}" type="pres">
      <dgm:prSet presAssocID="{1F024FF3-DD79-42AD-BB37-DE3426C9824C}" presName="aNode" presStyleLbl="bgShp" presStyleIdx="2" presStyleCnt="3"/>
      <dgm:spPr/>
    </dgm:pt>
    <dgm:pt modelId="{347BF587-6392-4B05-9F2A-023FD48914A9}" type="pres">
      <dgm:prSet presAssocID="{1F024FF3-DD79-42AD-BB37-DE3426C9824C}" presName="textNode" presStyleLbl="bgShp" presStyleIdx="2" presStyleCnt="3"/>
      <dgm:spPr/>
    </dgm:pt>
    <dgm:pt modelId="{D20987A2-4F63-4104-B241-D2EA0B5672C5}" type="pres">
      <dgm:prSet presAssocID="{1F024FF3-DD79-42AD-BB37-DE3426C9824C}" presName="compChildNode" presStyleCnt="0"/>
      <dgm:spPr/>
    </dgm:pt>
    <dgm:pt modelId="{3273C9FC-EDE7-4FD3-9D4C-0430CA4CDE0A}" type="pres">
      <dgm:prSet presAssocID="{1F024FF3-DD79-42AD-BB37-DE3426C9824C}" presName="theInnerList" presStyleCnt="0"/>
      <dgm:spPr/>
    </dgm:pt>
    <dgm:pt modelId="{267A8AD5-B288-46D6-83FD-2AC51D93AC6E}" type="pres">
      <dgm:prSet presAssocID="{B379B3EE-2AB2-4AF3-A271-0628855AA875}" presName="childNode" presStyleLbl="node1" presStyleIdx="7" presStyleCnt="10">
        <dgm:presLayoutVars>
          <dgm:bulletEnabled val="1"/>
        </dgm:presLayoutVars>
      </dgm:prSet>
      <dgm:spPr/>
    </dgm:pt>
    <dgm:pt modelId="{E47069E6-0F25-4698-ACC3-E1BA37AA2794}" type="pres">
      <dgm:prSet presAssocID="{B379B3EE-2AB2-4AF3-A271-0628855AA875}" presName="aSpace2" presStyleCnt="0"/>
      <dgm:spPr/>
    </dgm:pt>
    <dgm:pt modelId="{EABD8300-71DB-4FFC-A722-3D99C5ABD7E2}" type="pres">
      <dgm:prSet presAssocID="{9F05DDAB-77A6-4BF5-950C-FF8156FB67C6}" presName="childNode" presStyleLbl="node1" presStyleIdx="8" presStyleCnt="10">
        <dgm:presLayoutVars>
          <dgm:bulletEnabled val="1"/>
        </dgm:presLayoutVars>
      </dgm:prSet>
      <dgm:spPr/>
    </dgm:pt>
    <dgm:pt modelId="{266B39A5-ED6B-4665-8FE9-DBC9E7F3A912}" type="pres">
      <dgm:prSet presAssocID="{9F05DDAB-77A6-4BF5-950C-FF8156FB67C6}" presName="aSpace2" presStyleCnt="0"/>
      <dgm:spPr/>
    </dgm:pt>
    <dgm:pt modelId="{70E67A16-41EC-4A59-AF0B-40B839E63CC7}" type="pres">
      <dgm:prSet presAssocID="{D715CE21-7EC1-4F47-8283-5972A6E100DB}" presName="childNode" presStyleLbl="node1" presStyleIdx="9" presStyleCnt="10">
        <dgm:presLayoutVars>
          <dgm:bulletEnabled val="1"/>
        </dgm:presLayoutVars>
      </dgm:prSet>
      <dgm:spPr/>
    </dgm:pt>
  </dgm:ptLst>
  <dgm:cxnLst>
    <dgm:cxn modelId="{C0F15803-C0BC-4FA0-8186-F0DB7A46D7BD}" type="presOf" srcId="{4E1A903E-BF30-4D0F-A794-654FDE0F2577}" destId="{C4FB9EFB-215B-479E-B643-53E28EB82633}" srcOrd="0" destOrd="0" presId="urn:microsoft.com/office/officeart/2005/8/layout/lProcess2"/>
    <dgm:cxn modelId="{30659605-DC46-49E6-A3B9-144004C808E2}" type="presOf" srcId="{0AFD5086-CC03-4996-908E-D1833C608A9C}" destId="{E2CDD9BE-7E09-4191-AE0E-9ECB3CFE49AF}" srcOrd="0" destOrd="0" presId="urn:microsoft.com/office/officeart/2005/8/layout/lProcess2"/>
    <dgm:cxn modelId="{9DA8F105-CADE-489F-B988-C65BF50CE9C0}" srcId="{53A3B1BC-80A4-47B7-884F-50D48617CBB7}" destId="{2269EF51-9E75-45EF-9C38-9DDB12B9EB52}" srcOrd="2" destOrd="0" parTransId="{9F8DFD97-B888-4602-848B-84030058783A}" sibTransId="{4AE63D3D-7ABA-4C55-A22E-BDDF03875D71}"/>
    <dgm:cxn modelId="{86F3D31A-D7BB-44F6-990F-832B3E009A08}" type="presOf" srcId="{A6481580-38A8-498B-9A47-ED82BD70D280}" destId="{BB0876B2-F3C8-4CDF-9A6D-3839BBA9B554}" srcOrd="0" destOrd="1" presId="urn:microsoft.com/office/officeart/2005/8/layout/lProcess2"/>
    <dgm:cxn modelId="{7308D91D-1940-43B0-8570-50B06A1A0C66}" type="presOf" srcId="{D715CE21-7EC1-4F47-8283-5972A6E100DB}" destId="{70E67A16-41EC-4A59-AF0B-40B839E63CC7}" srcOrd="0" destOrd="0" presId="urn:microsoft.com/office/officeart/2005/8/layout/lProcess2"/>
    <dgm:cxn modelId="{85C0FC20-D441-4D0B-8E4C-D1E6437DC164}" srcId="{8E029922-469B-4145-9547-B2219543862C}" destId="{A6481580-38A8-498B-9A47-ED82BD70D280}" srcOrd="0" destOrd="0" parTransId="{2F256C66-A206-46F0-9074-81680562E3FA}" sibTransId="{42D0293B-FD7E-46B1-A063-021C812AD3F9}"/>
    <dgm:cxn modelId="{5EFAB526-4F6B-4F3F-A20B-F388E62688AE}" srcId="{1F024FF3-DD79-42AD-BB37-DE3426C9824C}" destId="{B379B3EE-2AB2-4AF3-A271-0628855AA875}" srcOrd="0" destOrd="0" parTransId="{183599EB-998E-42BA-8637-175F535F3DFD}" sibTransId="{FD9D7A95-2766-42B8-BF94-0FD4727F0033}"/>
    <dgm:cxn modelId="{3F3B252A-4CA2-4A0B-B864-90BEE86CA6AD}" type="presOf" srcId="{2269EF51-9E75-45EF-9C38-9DDB12B9EB52}" destId="{1FCF82C7-0367-4D24-BB41-BD55F34DF8D9}" srcOrd="0" destOrd="0" presId="urn:microsoft.com/office/officeart/2005/8/layout/lProcess2"/>
    <dgm:cxn modelId="{7E5DA92F-F981-4AEE-A714-49F7E8F6C3D1}" srcId="{1F024FF3-DD79-42AD-BB37-DE3426C9824C}" destId="{9F05DDAB-77A6-4BF5-950C-FF8156FB67C6}" srcOrd="1" destOrd="0" parTransId="{1A0154D2-EC10-4FD4-9DA6-43D47FE32248}" sibTransId="{37ECF36F-4C35-4575-BB27-00C36C424E56}"/>
    <dgm:cxn modelId="{028C2D3B-3D12-46C6-A7BC-EA65D7A274D4}" srcId="{6380A6A3-5849-4A99-B270-5F18CC8E662E}" destId="{4E1A903E-BF30-4D0F-A794-654FDE0F2577}" srcOrd="1" destOrd="0" parTransId="{286D201C-951B-45DB-8FC7-75678D3EF000}" sibTransId="{B02111A2-2959-4BDB-9AF4-382AD731139D}"/>
    <dgm:cxn modelId="{95CCE85E-0398-4726-BC48-C4FB8A25CC2B}" srcId="{6380A6A3-5849-4A99-B270-5F18CC8E662E}" destId="{1F024FF3-DD79-42AD-BB37-DE3426C9824C}" srcOrd="2" destOrd="0" parTransId="{1583C92D-F347-4615-ADCF-8E51744E0320}" sibTransId="{7C3F75B8-CD47-4FEA-903E-AC920E6E5B64}"/>
    <dgm:cxn modelId="{64242E43-5435-4AB1-8127-5E513A1AC941}" type="presOf" srcId="{6380A6A3-5849-4A99-B270-5F18CC8E662E}" destId="{8985EAE3-D9DC-4758-B851-47F72B7F86CC}" srcOrd="0" destOrd="0" presId="urn:microsoft.com/office/officeart/2005/8/layout/lProcess2"/>
    <dgm:cxn modelId="{C600AF63-CC40-407D-8956-CEE01C5094D9}" srcId="{53A3B1BC-80A4-47B7-884F-50D48617CBB7}" destId="{FB64BA0D-366C-4F11-85AE-5DE67B1EE38C}" srcOrd="0" destOrd="0" parTransId="{2842B4B6-4EFB-45FA-8F90-0CB0A55F839E}" sibTransId="{B6F7E53C-DE31-4A2B-96F6-E25CDB4EB33E}"/>
    <dgm:cxn modelId="{FDF5376B-3366-42E2-9FA9-AE53C113F70F}" srcId="{1F024FF3-DD79-42AD-BB37-DE3426C9824C}" destId="{D715CE21-7EC1-4F47-8283-5972A6E100DB}" srcOrd="2" destOrd="0" parTransId="{590EE677-6EF0-468B-975C-647921806735}" sibTransId="{FF8C79B4-3E33-40CC-A49E-CC2F3866FBBC}"/>
    <dgm:cxn modelId="{58D4866D-0355-40DC-A215-3A14616200E8}" srcId="{4E1A903E-BF30-4D0F-A794-654FDE0F2577}" destId="{E2236DE9-29ED-4530-95B1-893404BF8ADF}" srcOrd="1" destOrd="0" parTransId="{53976B3E-41CD-4861-9CFE-71D4059DF044}" sibTransId="{A1E5CEAB-FA97-4F42-AEAE-F809DED6CD0C}"/>
    <dgm:cxn modelId="{9088334E-376F-443C-81E4-7431D47C9DFD}" type="presOf" srcId="{4177A266-C9E4-4380-9158-4CD5AE2BB756}" destId="{53A2FEDB-F5F9-4FA4-AF92-046CE2CCF92E}" srcOrd="0" destOrd="0" presId="urn:microsoft.com/office/officeart/2005/8/layout/lProcess2"/>
    <dgm:cxn modelId="{6D086D6F-65E6-4034-AD37-9CE794FB4075}" srcId="{8E029922-469B-4145-9547-B2219543862C}" destId="{08FA45A9-6BC5-499F-BFDC-7C9C276E0B0F}" srcOrd="1" destOrd="0" parTransId="{3D7B4769-AF69-499D-896A-C845B0386A58}" sibTransId="{7AF567E4-9DB8-4B4A-B9FB-5BB34035E22A}"/>
    <dgm:cxn modelId="{058AE770-024D-483B-94EA-81CED867D16A}" type="presOf" srcId="{1F024FF3-DD79-42AD-BB37-DE3426C9824C}" destId="{4C9D6635-E3EF-4F45-9F11-88781E797BAB}" srcOrd="0" destOrd="0" presId="urn:microsoft.com/office/officeart/2005/8/layout/lProcess2"/>
    <dgm:cxn modelId="{6269F675-E5BD-4279-9304-7539C5D37CB9}" srcId="{4E1A903E-BF30-4D0F-A794-654FDE0F2577}" destId="{0AFD5086-CC03-4996-908E-D1833C608A9C}" srcOrd="0" destOrd="0" parTransId="{09B696BC-058D-4662-ADD8-3A366575E2B3}" sibTransId="{605CED6A-60C8-49A7-B21C-EB706B0E4851}"/>
    <dgm:cxn modelId="{D614F077-4C07-4560-AFEA-CBFEF972F9DC}" type="presOf" srcId="{FB64BA0D-366C-4F11-85AE-5DE67B1EE38C}" destId="{23A4B866-70DF-47BC-951D-7A0EC941D5B6}" srcOrd="0" destOrd="0" presId="urn:microsoft.com/office/officeart/2005/8/layout/lProcess2"/>
    <dgm:cxn modelId="{96795C78-F074-402C-BDA5-28F4B6B7D392}" type="presOf" srcId="{9F05DDAB-77A6-4BF5-950C-FF8156FB67C6}" destId="{EABD8300-71DB-4FFC-A722-3D99C5ABD7E2}" srcOrd="0" destOrd="0" presId="urn:microsoft.com/office/officeart/2005/8/layout/lProcess2"/>
    <dgm:cxn modelId="{1F887C7F-A012-432C-98E0-E3D960E3EF15}" type="presOf" srcId="{53A3B1BC-80A4-47B7-884F-50D48617CBB7}" destId="{86E5A120-D878-4CFF-90D1-445CB8C48678}" srcOrd="1" destOrd="0" presId="urn:microsoft.com/office/officeart/2005/8/layout/lProcess2"/>
    <dgm:cxn modelId="{10DE788B-BDCE-40F7-A58A-F6E8E7C88E8B}" srcId="{6380A6A3-5849-4A99-B270-5F18CC8E662E}" destId="{53A3B1BC-80A4-47B7-884F-50D48617CBB7}" srcOrd="0" destOrd="0" parTransId="{0C0E06EE-A475-4664-83FC-B76DE2011C65}" sibTransId="{0F70B580-36FD-4C55-B19E-583576376F47}"/>
    <dgm:cxn modelId="{1C5DAC9C-0E00-437B-A46B-1FEC5653043B}" type="presOf" srcId="{B379B3EE-2AB2-4AF3-A271-0628855AA875}" destId="{267A8AD5-B288-46D6-83FD-2AC51D93AC6E}" srcOrd="0" destOrd="0" presId="urn:microsoft.com/office/officeart/2005/8/layout/lProcess2"/>
    <dgm:cxn modelId="{2F8D49A7-B219-4477-B879-353E27B4B49A}" type="presOf" srcId="{1F024FF3-DD79-42AD-BB37-DE3426C9824C}" destId="{347BF587-6392-4B05-9F2A-023FD48914A9}" srcOrd="1" destOrd="0" presId="urn:microsoft.com/office/officeart/2005/8/layout/lProcess2"/>
    <dgm:cxn modelId="{125AB6A8-E014-416C-AC7D-81044D35DC96}" srcId="{4E1A903E-BF30-4D0F-A794-654FDE0F2577}" destId="{4177A266-C9E4-4380-9158-4CD5AE2BB756}" srcOrd="2" destOrd="0" parTransId="{1E65FA9C-6236-4F3E-9030-580BCF978826}" sibTransId="{0F11E65B-FDB2-4110-BEFD-851DE8AA553E}"/>
    <dgm:cxn modelId="{D334C6A9-9DDC-4FA4-8574-4CFB1CC4EA54}" srcId="{4E1A903E-BF30-4D0F-A794-654FDE0F2577}" destId="{EFD58A9B-5A82-4328-9682-973B9E240FDC}" srcOrd="3" destOrd="0" parTransId="{8E047921-CC98-4ECC-95BA-E540FF3162AA}" sibTransId="{6681CC10-9E0B-4910-853B-D5C12F691B74}"/>
    <dgm:cxn modelId="{83C876B6-4B14-41EA-A1BA-E8CADBF079FB}" type="presOf" srcId="{EFD58A9B-5A82-4328-9682-973B9E240FDC}" destId="{7D53205E-F54B-4707-95F3-7F0887A80650}" srcOrd="0" destOrd="0" presId="urn:microsoft.com/office/officeart/2005/8/layout/lProcess2"/>
    <dgm:cxn modelId="{B2AD33C6-D22E-4A3E-AA2D-30419A24188B}" type="presOf" srcId="{E2236DE9-29ED-4530-95B1-893404BF8ADF}" destId="{69C26275-3039-4434-B964-543B2DEFE86F}" srcOrd="0" destOrd="0" presId="urn:microsoft.com/office/officeart/2005/8/layout/lProcess2"/>
    <dgm:cxn modelId="{F96A7ECF-9F69-44A3-9873-E11F04C34532}" type="presOf" srcId="{53A3B1BC-80A4-47B7-884F-50D48617CBB7}" destId="{5CF36137-5149-490B-AB2C-45F3E2A37990}" srcOrd="0" destOrd="0" presId="urn:microsoft.com/office/officeart/2005/8/layout/lProcess2"/>
    <dgm:cxn modelId="{F9671CD3-8470-4B2E-9B31-D975111C135C}" srcId="{53A3B1BC-80A4-47B7-884F-50D48617CBB7}" destId="{8E029922-469B-4145-9547-B2219543862C}" srcOrd="1" destOrd="0" parTransId="{A1BC2C9B-BF89-4778-BDCB-864ED789DA04}" sibTransId="{F50A6A40-DF15-4F3A-87A9-1800AE520BA3}"/>
    <dgm:cxn modelId="{86782FDD-08CD-47D1-96BB-39D873010A4D}" type="presOf" srcId="{4E1A903E-BF30-4D0F-A794-654FDE0F2577}" destId="{4C06968E-8B12-4357-8BCD-1E91EE23BDDD}" srcOrd="1" destOrd="0" presId="urn:microsoft.com/office/officeart/2005/8/layout/lProcess2"/>
    <dgm:cxn modelId="{724BDFE9-2379-45D4-9761-0B4A99C3CA12}" type="presOf" srcId="{8E029922-469B-4145-9547-B2219543862C}" destId="{BB0876B2-F3C8-4CDF-9A6D-3839BBA9B554}" srcOrd="0" destOrd="0" presId="urn:microsoft.com/office/officeart/2005/8/layout/lProcess2"/>
    <dgm:cxn modelId="{28FE34F8-8700-4C47-A409-B2F82D33672D}" type="presOf" srcId="{08FA45A9-6BC5-499F-BFDC-7C9C276E0B0F}" destId="{BB0876B2-F3C8-4CDF-9A6D-3839BBA9B554}" srcOrd="0" destOrd="2" presId="urn:microsoft.com/office/officeart/2005/8/layout/lProcess2"/>
    <dgm:cxn modelId="{7D1C864C-2B0A-4177-857F-EB4A8C3697F4}" type="presParOf" srcId="{8985EAE3-D9DC-4758-B851-47F72B7F86CC}" destId="{25949C39-3449-47AA-9ACB-ABF3812F161D}" srcOrd="0" destOrd="0" presId="urn:microsoft.com/office/officeart/2005/8/layout/lProcess2"/>
    <dgm:cxn modelId="{7D1775AA-AAE6-42B4-B37C-1C1705D448EB}" type="presParOf" srcId="{25949C39-3449-47AA-9ACB-ABF3812F161D}" destId="{5CF36137-5149-490B-AB2C-45F3E2A37990}" srcOrd="0" destOrd="0" presId="urn:microsoft.com/office/officeart/2005/8/layout/lProcess2"/>
    <dgm:cxn modelId="{E25523D8-8F4B-44E2-AEF8-30B52C27F441}" type="presParOf" srcId="{25949C39-3449-47AA-9ACB-ABF3812F161D}" destId="{86E5A120-D878-4CFF-90D1-445CB8C48678}" srcOrd="1" destOrd="0" presId="urn:microsoft.com/office/officeart/2005/8/layout/lProcess2"/>
    <dgm:cxn modelId="{B0F88170-1A7E-4967-BA0A-A5151FA1316F}" type="presParOf" srcId="{25949C39-3449-47AA-9ACB-ABF3812F161D}" destId="{DEE0F818-61A0-4C3B-97BE-D1B1E8B96C1F}" srcOrd="2" destOrd="0" presId="urn:microsoft.com/office/officeart/2005/8/layout/lProcess2"/>
    <dgm:cxn modelId="{BA252E1C-60FD-4A83-88FA-F0FD92F6B02B}" type="presParOf" srcId="{DEE0F818-61A0-4C3B-97BE-D1B1E8B96C1F}" destId="{B84C08B0-316D-4FB4-BE61-F64B4D9CDAA7}" srcOrd="0" destOrd="0" presId="urn:microsoft.com/office/officeart/2005/8/layout/lProcess2"/>
    <dgm:cxn modelId="{963DB0C7-5E63-4074-9714-88D97A646FF9}" type="presParOf" srcId="{B84C08B0-316D-4FB4-BE61-F64B4D9CDAA7}" destId="{23A4B866-70DF-47BC-951D-7A0EC941D5B6}" srcOrd="0" destOrd="0" presId="urn:microsoft.com/office/officeart/2005/8/layout/lProcess2"/>
    <dgm:cxn modelId="{08A7F2ED-9A7A-4468-BEDA-5C6DEE4C7BFB}" type="presParOf" srcId="{B84C08B0-316D-4FB4-BE61-F64B4D9CDAA7}" destId="{2BCBAD67-430C-417F-8E19-4AB5F38DCCF6}" srcOrd="1" destOrd="0" presId="urn:microsoft.com/office/officeart/2005/8/layout/lProcess2"/>
    <dgm:cxn modelId="{F72F4E61-BC09-4575-AAF0-D4C5FEA82DE4}" type="presParOf" srcId="{B84C08B0-316D-4FB4-BE61-F64B4D9CDAA7}" destId="{BB0876B2-F3C8-4CDF-9A6D-3839BBA9B554}" srcOrd="2" destOrd="0" presId="urn:microsoft.com/office/officeart/2005/8/layout/lProcess2"/>
    <dgm:cxn modelId="{4D497BA7-DF02-4F54-9BF9-F5EC1743D732}" type="presParOf" srcId="{B84C08B0-316D-4FB4-BE61-F64B4D9CDAA7}" destId="{BD04651B-A434-4988-8A5A-9FAA1E4415A3}" srcOrd="3" destOrd="0" presId="urn:microsoft.com/office/officeart/2005/8/layout/lProcess2"/>
    <dgm:cxn modelId="{BB700A78-5182-4330-96C6-3A0FED565CDE}" type="presParOf" srcId="{B84C08B0-316D-4FB4-BE61-F64B4D9CDAA7}" destId="{1FCF82C7-0367-4D24-BB41-BD55F34DF8D9}" srcOrd="4" destOrd="0" presId="urn:microsoft.com/office/officeart/2005/8/layout/lProcess2"/>
    <dgm:cxn modelId="{90CC933C-4A1B-44C5-BE11-F16222BF8340}" type="presParOf" srcId="{8985EAE3-D9DC-4758-B851-47F72B7F86CC}" destId="{F246F783-A541-4AF2-9553-61F1F46692F2}" srcOrd="1" destOrd="0" presId="urn:microsoft.com/office/officeart/2005/8/layout/lProcess2"/>
    <dgm:cxn modelId="{7B743443-CC5A-4601-ABFD-9A04E7C2FAB2}" type="presParOf" srcId="{8985EAE3-D9DC-4758-B851-47F72B7F86CC}" destId="{0F5BBB54-40CA-4D50-8C17-1428EDBEAA94}" srcOrd="2" destOrd="0" presId="urn:microsoft.com/office/officeart/2005/8/layout/lProcess2"/>
    <dgm:cxn modelId="{76C181DD-103C-41A4-8FBE-39549D70CE65}" type="presParOf" srcId="{0F5BBB54-40CA-4D50-8C17-1428EDBEAA94}" destId="{C4FB9EFB-215B-479E-B643-53E28EB82633}" srcOrd="0" destOrd="0" presId="urn:microsoft.com/office/officeart/2005/8/layout/lProcess2"/>
    <dgm:cxn modelId="{3F2A0E22-2937-4FF7-8157-D169C45557CC}" type="presParOf" srcId="{0F5BBB54-40CA-4D50-8C17-1428EDBEAA94}" destId="{4C06968E-8B12-4357-8BCD-1E91EE23BDDD}" srcOrd="1" destOrd="0" presId="urn:microsoft.com/office/officeart/2005/8/layout/lProcess2"/>
    <dgm:cxn modelId="{21610F3E-44FC-41E3-86A6-3F3E0F8CE67C}" type="presParOf" srcId="{0F5BBB54-40CA-4D50-8C17-1428EDBEAA94}" destId="{B162D9DC-C091-439D-B9B3-2BFF13166847}" srcOrd="2" destOrd="0" presId="urn:microsoft.com/office/officeart/2005/8/layout/lProcess2"/>
    <dgm:cxn modelId="{844A63C1-2FEB-40F0-B7D7-4C9B388A0A75}" type="presParOf" srcId="{B162D9DC-C091-439D-B9B3-2BFF13166847}" destId="{585468EC-BC92-46D7-9FA3-D7636B325C2E}" srcOrd="0" destOrd="0" presId="urn:microsoft.com/office/officeart/2005/8/layout/lProcess2"/>
    <dgm:cxn modelId="{F0263671-5D6E-480C-A58F-89744F96BC84}" type="presParOf" srcId="{585468EC-BC92-46D7-9FA3-D7636B325C2E}" destId="{E2CDD9BE-7E09-4191-AE0E-9ECB3CFE49AF}" srcOrd="0" destOrd="0" presId="urn:microsoft.com/office/officeart/2005/8/layout/lProcess2"/>
    <dgm:cxn modelId="{281DC8FB-987F-4332-86B0-3C544C7865DA}" type="presParOf" srcId="{585468EC-BC92-46D7-9FA3-D7636B325C2E}" destId="{94D063E4-8FB5-4F73-8378-F76AF66090BC}" srcOrd="1" destOrd="0" presId="urn:microsoft.com/office/officeart/2005/8/layout/lProcess2"/>
    <dgm:cxn modelId="{293B8233-9CE5-4E9D-90B4-ACB616B02350}" type="presParOf" srcId="{585468EC-BC92-46D7-9FA3-D7636B325C2E}" destId="{69C26275-3039-4434-B964-543B2DEFE86F}" srcOrd="2" destOrd="0" presId="urn:microsoft.com/office/officeart/2005/8/layout/lProcess2"/>
    <dgm:cxn modelId="{30F05B6E-2071-419D-9D33-D8F1FA293D65}" type="presParOf" srcId="{585468EC-BC92-46D7-9FA3-D7636B325C2E}" destId="{08F79980-D929-4D23-9A7C-688D0BE27A96}" srcOrd="3" destOrd="0" presId="urn:microsoft.com/office/officeart/2005/8/layout/lProcess2"/>
    <dgm:cxn modelId="{FED24EB3-DCF3-420E-A823-4001E92769B2}" type="presParOf" srcId="{585468EC-BC92-46D7-9FA3-D7636B325C2E}" destId="{53A2FEDB-F5F9-4FA4-AF92-046CE2CCF92E}" srcOrd="4" destOrd="0" presId="urn:microsoft.com/office/officeart/2005/8/layout/lProcess2"/>
    <dgm:cxn modelId="{6352FDC1-E01C-4361-9F5C-F98339347D71}" type="presParOf" srcId="{585468EC-BC92-46D7-9FA3-D7636B325C2E}" destId="{D34964D3-28B3-4830-8866-C93C1E24C1C6}" srcOrd="5" destOrd="0" presId="urn:microsoft.com/office/officeart/2005/8/layout/lProcess2"/>
    <dgm:cxn modelId="{D7C7BD5A-80F7-44B0-9740-4D78F96FEE8D}" type="presParOf" srcId="{585468EC-BC92-46D7-9FA3-D7636B325C2E}" destId="{7D53205E-F54B-4707-95F3-7F0887A80650}" srcOrd="6" destOrd="0" presId="urn:microsoft.com/office/officeart/2005/8/layout/lProcess2"/>
    <dgm:cxn modelId="{09EEE48D-D601-45C1-9051-0829988D5A9B}" type="presParOf" srcId="{8985EAE3-D9DC-4758-B851-47F72B7F86CC}" destId="{3E770866-787F-4390-B536-5D726CCA3255}" srcOrd="3" destOrd="0" presId="urn:microsoft.com/office/officeart/2005/8/layout/lProcess2"/>
    <dgm:cxn modelId="{D3946924-170D-4704-83B6-0C9672B0D90D}" type="presParOf" srcId="{8985EAE3-D9DC-4758-B851-47F72B7F86CC}" destId="{2BA10857-EC56-4B61-84DE-D63EC61ABABD}" srcOrd="4" destOrd="0" presId="urn:microsoft.com/office/officeart/2005/8/layout/lProcess2"/>
    <dgm:cxn modelId="{3AE9A438-AE48-471C-86F8-1F55F6F0D745}" type="presParOf" srcId="{2BA10857-EC56-4B61-84DE-D63EC61ABABD}" destId="{4C9D6635-E3EF-4F45-9F11-88781E797BAB}" srcOrd="0" destOrd="0" presId="urn:microsoft.com/office/officeart/2005/8/layout/lProcess2"/>
    <dgm:cxn modelId="{1387C8BB-41DA-43ED-AAE8-CCBDAD57513F}" type="presParOf" srcId="{2BA10857-EC56-4B61-84DE-D63EC61ABABD}" destId="{347BF587-6392-4B05-9F2A-023FD48914A9}" srcOrd="1" destOrd="0" presId="urn:microsoft.com/office/officeart/2005/8/layout/lProcess2"/>
    <dgm:cxn modelId="{F621AF53-E9BA-4E83-B12B-972179001E9A}" type="presParOf" srcId="{2BA10857-EC56-4B61-84DE-D63EC61ABABD}" destId="{D20987A2-4F63-4104-B241-D2EA0B5672C5}" srcOrd="2" destOrd="0" presId="urn:microsoft.com/office/officeart/2005/8/layout/lProcess2"/>
    <dgm:cxn modelId="{F7C57896-E51D-4047-A783-034B2CD2D448}" type="presParOf" srcId="{D20987A2-4F63-4104-B241-D2EA0B5672C5}" destId="{3273C9FC-EDE7-4FD3-9D4C-0430CA4CDE0A}" srcOrd="0" destOrd="0" presId="urn:microsoft.com/office/officeart/2005/8/layout/lProcess2"/>
    <dgm:cxn modelId="{84ED7329-92EC-4945-93B8-5FBBD9BE6BCE}" type="presParOf" srcId="{3273C9FC-EDE7-4FD3-9D4C-0430CA4CDE0A}" destId="{267A8AD5-B288-46D6-83FD-2AC51D93AC6E}" srcOrd="0" destOrd="0" presId="urn:microsoft.com/office/officeart/2005/8/layout/lProcess2"/>
    <dgm:cxn modelId="{34F20D22-0FEE-4CF4-92EF-AC5104B42E82}" type="presParOf" srcId="{3273C9FC-EDE7-4FD3-9D4C-0430CA4CDE0A}" destId="{E47069E6-0F25-4698-ACC3-E1BA37AA2794}" srcOrd="1" destOrd="0" presId="urn:microsoft.com/office/officeart/2005/8/layout/lProcess2"/>
    <dgm:cxn modelId="{2A1B61D1-1EFE-45A6-BFC8-A9EE71BFCB95}" type="presParOf" srcId="{3273C9FC-EDE7-4FD3-9D4C-0430CA4CDE0A}" destId="{EABD8300-71DB-4FFC-A722-3D99C5ABD7E2}" srcOrd="2" destOrd="0" presId="urn:microsoft.com/office/officeart/2005/8/layout/lProcess2"/>
    <dgm:cxn modelId="{78975C07-2CC3-4243-98EF-6BF5204D818E}" type="presParOf" srcId="{3273C9FC-EDE7-4FD3-9D4C-0430CA4CDE0A}" destId="{266B39A5-ED6B-4665-8FE9-DBC9E7F3A912}" srcOrd="3" destOrd="0" presId="urn:microsoft.com/office/officeart/2005/8/layout/lProcess2"/>
    <dgm:cxn modelId="{C9285FC6-983C-489D-B144-E1663D6A4EC4}" type="presParOf" srcId="{3273C9FC-EDE7-4FD3-9D4C-0430CA4CDE0A}" destId="{70E67A16-41EC-4A59-AF0B-40B839E63CC7}" srcOrd="4"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81F671C-9FC3-4E50-B368-3DB08E3969C4}" type="doc">
      <dgm:prSet loTypeId="urn:microsoft.com/office/officeart/2005/8/layout/hierarchy1" loCatId="hierarchy" qsTypeId="urn:microsoft.com/office/officeart/2005/8/quickstyle/3d2" qsCatId="3D" csTypeId="urn:microsoft.com/office/officeart/2005/8/colors/accent1_2" csCatId="accent1" phldr="1"/>
      <dgm:spPr/>
      <dgm:t>
        <a:bodyPr/>
        <a:lstStyle/>
        <a:p>
          <a:endParaRPr lang="en-GB"/>
        </a:p>
      </dgm:t>
    </dgm:pt>
    <dgm:pt modelId="{00CF9D9C-990D-4F94-AD9D-4E076B9F0F3B}">
      <dgm:prSet phldrT="[Text]" custT="1"/>
      <dgm:spPr/>
      <dgm:t>
        <a:bodyPr/>
        <a:lstStyle/>
        <a:p>
          <a:r>
            <a:rPr lang="en-GB" sz="2800" b="1" dirty="0"/>
            <a:t>Cash Flows can be measured to</a:t>
          </a:r>
        </a:p>
      </dgm:t>
    </dgm:pt>
    <dgm:pt modelId="{83908560-CF60-4BA7-AD69-29C0F0E05D10}" type="parTrans" cxnId="{89A25AAB-737F-48B3-8029-145703174513}">
      <dgm:prSet/>
      <dgm:spPr/>
      <dgm:t>
        <a:bodyPr/>
        <a:lstStyle/>
        <a:p>
          <a:endParaRPr lang="en-GB"/>
        </a:p>
      </dgm:t>
    </dgm:pt>
    <dgm:pt modelId="{0FB79F49-4E50-4E37-86B7-2F2FE87E1798}" type="sibTrans" cxnId="{89A25AAB-737F-48B3-8029-145703174513}">
      <dgm:prSet/>
      <dgm:spPr/>
      <dgm:t>
        <a:bodyPr/>
        <a:lstStyle/>
        <a:p>
          <a:endParaRPr lang="en-GB"/>
        </a:p>
      </dgm:t>
    </dgm:pt>
    <dgm:pt modelId="{A1DEA195-C47F-4DB7-81FB-D519F36C2A43}">
      <dgm:prSet phldrT="[Text]"/>
      <dgm:spPr/>
      <dgm:t>
        <a:bodyPr/>
        <a:lstStyle/>
        <a:p>
          <a:r>
            <a:rPr lang="en-GB" dirty="0"/>
            <a:t>All claimholders in the firm</a:t>
          </a:r>
        </a:p>
      </dgm:t>
    </dgm:pt>
    <dgm:pt modelId="{D573960E-68F9-4768-8485-39B8335FB48A}" type="parTrans" cxnId="{6DEE430D-46E4-467C-B59F-8C53610B5268}">
      <dgm:prSet/>
      <dgm:spPr/>
      <dgm:t>
        <a:bodyPr/>
        <a:lstStyle/>
        <a:p>
          <a:endParaRPr lang="en-GB"/>
        </a:p>
      </dgm:t>
    </dgm:pt>
    <dgm:pt modelId="{7115F449-48B1-483F-8A37-AA83B1288C8B}" type="sibTrans" cxnId="{6DEE430D-46E4-467C-B59F-8C53610B5268}">
      <dgm:prSet/>
      <dgm:spPr/>
      <dgm:t>
        <a:bodyPr/>
        <a:lstStyle/>
        <a:p>
          <a:endParaRPr lang="en-GB"/>
        </a:p>
      </dgm:t>
    </dgm:pt>
    <dgm:pt modelId="{C938933F-1A3C-44B1-BD7B-F6329534582C}">
      <dgm:prSet phldrT="[Text]"/>
      <dgm:spPr/>
      <dgm:t>
        <a:bodyPr/>
        <a:lstStyle/>
        <a:p>
          <a:r>
            <a:rPr lang="en-GB" dirty="0"/>
            <a:t>EBIT(1-Tax) </a:t>
          </a:r>
        </a:p>
        <a:p>
          <a:r>
            <a:rPr lang="en-GB" dirty="0"/>
            <a:t>– (Cap Expend-Depreciation) </a:t>
          </a:r>
        </a:p>
        <a:p>
          <a:r>
            <a:rPr lang="en-GB" dirty="0"/>
            <a:t>– Change in non-cash WC</a:t>
          </a:r>
        </a:p>
        <a:p>
          <a:r>
            <a:rPr lang="en-GB" dirty="0"/>
            <a:t>=Free CF to Firm (FCFF)</a:t>
          </a:r>
        </a:p>
      </dgm:t>
    </dgm:pt>
    <dgm:pt modelId="{98BF71AB-4923-4893-BAA9-C6E6A1836CB2}" type="parTrans" cxnId="{8AD779E7-C1FE-4259-9491-9604B537D1EC}">
      <dgm:prSet/>
      <dgm:spPr/>
      <dgm:t>
        <a:bodyPr/>
        <a:lstStyle/>
        <a:p>
          <a:endParaRPr lang="en-GB"/>
        </a:p>
      </dgm:t>
    </dgm:pt>
    <dgm:pt modelId="{05F61C3A-8291-4591-B064-11016F867F39}" type="sibTrans" cxnId="{8AD779E7-C1FE-4259-9491-9604B537D1EC}">
      <dgm:prSet/>
      <dgm:spPr/>
      <dgm:t>
        <a:bodyPr/>
        <a:lstStyle/>
        <a:p>
          <a:endParaRPr lang="en-GB"/>
        </a:p>
      </dgm:t>
    </dgm:pt>
    <dgm:pt modelId="{F8E44B3D-D070-49BA-9118-FB76DBA1C293}">
      <dgm:prSet phldrT="[Text]"/>
      <dgm:spPr/>
      <dgm:t>
        <a:bodyPr/>
        <a:lstStyle/>
        <a:p>
          <a:r>
            <a:rPr lang="en-GB" dirty="0"/>
            <a:t>Equity Investors</a:t>
          </a:r>
        </a:p>
      </dgm:t>
    </dgm:pt>
    <dgm:pt modelId="{22A4CC06-312E-4854-AE77-86C44F91FF9A}" type="parTrans" cxnId="{1E8C3A9C-5F6D-4D12-BC72-608C931FEF59}">
      <dgm:prSet/>
      <dgm:spPr/>
      <dgm:t>
        <a:bodyPr/>
        <a:lstStyle/>
        <a:p>
          <a:endParaRPr lang="en-GB"/>
        </a:p>
      </dgm:t>
    </dgm:pt>
    <dgm:pt modelId="{74D1C657-52B5-4019-AEB4-0C8BEAF0D661}" type="sibTrans" cxnId="{1E8C3A9C-5F6D-4D12-BC72-608C931FEF59}">
      <dgm:prSet/>
      <dgm:spPr/>
      <dgm:t>
        <a:bodyPr/>
        <a:lstStyle/>
        <a:p>
          <a:endParaRPr lang="en-GB"/>
        </a:p>
      </dgm:t>
    </dgm:pt>
    <dgm:pt modelId="{4DA04E2E-C8C1-4318-AF2A-CDA4AC043B75}">
      <dgm:prSet phldrT="[Text]"/>
      <dgm:spPr/>
      <dgm:t>
        <a:bodyPr/>
        <a:lstStyle/>
        <a:p>
          <a:r>
            <a:rPr lang="en-GB" dirty="0"/>
            <a:t>Net Income </a:t>
          </a:r>
        </a:p>
        <a:p>
          <a:r>
            <a:rPr lang="en-GB" dirty="0"/>
            <a:t>– (Cap Expend – Depreciation) </a:t>
          </a:r>
        </a:p>
        <a:p>
          <a:r>
            <a:rPr lang="en-GB" dirty="0"/>
            <a:t>–Change in non-cash WC </a:t>
          </a:r>
        </a:p>
        <a:p>
          <a:r>
            <a:rPr lang="en-GB" dirty="0"/>
            <a:t>– (Principal Repaid –New Debt Issues) </a:t>
          </a:r>
        </a:p>
        <a:p>
          <a:r>
            <a:rPr lang="en-GB" dirty="0"/>
            <a:t>– Preferred Dividend</a:t>
          </a:r>
        </a:p>
        <a:p>
          <a:r>
            <a:rPr lang="en-GB" dirty="0"/>
            <a:t>= Free CF to Equity</a:t>
          </a:r>
        </a:p>
        <a:p>
          <a:r>
            <a:rPr lang="en-GB" dirty="0"/>
            <a:t>(FCFE)</a:t>
          </a:r>
        </a:p>
      </dgm:t>
    </dgm:pt>
    <dgm:pt modelId="{ABE63220-C942-400E-9E30-9ED8C66F96B8}" type="parTrans" cxnId="{BED4A6D5-A1D1-4BFD-8D85-C37C5D9C3F43}">
      <dgm:prSet/>
      <dgm:spPr/>
      <dgm:t>
        <a:bodyPr/>
        <a:lstStyle/>
        <a:p>
          <a:endParaRPr lang="en-GB"/>
        </a:p>
      </dgm:t>
    </dgm:pt>
    <dgm:pt modelId="{1ACB526B-09E7-4C4A-98DF-7B56C75540E0}" type="sibTrans" cxnId="{BED4A6D5-A1D1-4BFD-8D85-C37C5D9C3F43}">
      <dgm:prSet/>
      <dgm:spPr/>
      <dgm:t>
        <a:bodyPr/>
        <a:lstStyle/>
        <a:p>
          <a:endParaRPr lang="en-GB"/>
        </a:p>
      </dgm:t>
    </dgm:pt>
    <dgm:pt modelId="{7C5A4509-4902-49C9-8A8D-B95728DB63FA}">
      <dgm:prSet/>
      <dgm:spPr/>
      <dgm:t>
        <a:bodyPr/>
        <a:lstStyle/>
        <a:p>
          <a:r>
            <a:rPr lang="en-GB" dirty="0"/>
            <a:t>Dividends </a:t>
          </a:r>
        </a:p>
        <a:p>
          <a:r>
            <a:rPr lang="en-GB" dirty="0"/>
            <a:t>+ Stock Buybacks</a:t>
          </a:r>
        </a:p>
      </dgm:t>
    </dgm:pt>
    <dgm:pt modelId="{6ACD67C0-FB38-4D15-8915-5515A2D3B28D}" type="parTrans" cxnId="{751BED93-E681-4BB4-A99B-D15727C49E9F}">
      <dgm:prSet/>
      <dgm:spPr/>
      <dgm:t>
        <a:bodyPr/>
        <a:lstStyle/>
        <a:p>
          <a:endParaRPr lang="en-GB"/>
        </a:p>
      </dgm:t>
    </dgm:pt>
    <dgm:pt modelId="{D5CBE6DA-472F-4E2D-90BC-4CF50DBFE2BC}" type="sibTrans" cxnId="{751BED93-E681-4BB4-A99B-D15727C49E9F}">
      <dgm:prSet/>
      <dgm:spPr/>
      <dgm:t>
        <a:bodyPr/>
        <a:lstStyle/>
        <a:p>
          <a:endParaRPr lang="en-GB"/>
        </a:p>
      </dgm:t>
    </dgm:pt>
    <dgm:pt modelId="{E463E2D9-2954-4D95-AD95-4074CF20C75A}" type="pres">
      <dgm:prSet presAssocID="{881F671C-9FC3-4E50-B368-3DB08E3969C4}" presName="hierChild1" presStyleCnt="0">
        <dgm:presLayoutVars>
          <dgm:chPref val="1"/>
          <dgm:dir/>
          <dgm:animOne val="branch"/>
          <dgm:animLvl val="lvl"/>
          <dgm:resizeHandles/>
        </dgm:presLayoutVars>
      </dgm:prSet>
      <dgm:spPr/>
    </dgm:pt>
    <dgm:pt modelId="{B9EA8A42-D34C-44FB-B0C9-6B1DA37A6E31}" type="pres">
      <dgm:prSet presAssocID="{00CF9D9C-990D-4F94-AD9D-4E076B9F0F3B}" presName="hierRoot1" presStyleCnt="0"/>
      <dgm:spPr/>
    </dgm:pt>
    <dgm:pt modelId="{D6762702-D230-45C1-BCEC-E34729F87438}" type="pres">
      <dgm:prSet presAssocID="{00CF9D9C-990D-4F94-AD9D-4E076B9F0F3B}" presName="composite" presStyleCnt="0"/>
      <dgm:spPr/>
    </dgm:pt>
    <dgm:pt modelId="{81FCE9F7-6584-46F8-B635-39307CDD990B}" type="pres">
      <dgm:prSet presAssocID="{00CF9D9C-990D-4F94-AD9D-4E076B9F0F3B}" presName="background" presStyleLbl="node0" presStyleIdx="0" presStyleCnt="1"/>
      <dgm:spPr/>
    </dgm:pt>
    <dgm:pt modelId="{1985D908-05DA-4853-9A1A-C57E0DDCC801}" type="pres">
      <dgm:prSet presAssocID="{00CF9D9C-990D-4F94-AD9D-4E076B9F0F3B}" presName="text" presStyleLbl="fgAcc0" presStyleIdx="0" presStyleCnt="1" custScaleX="320637" custScaleY="32851">
        <dgm:presLayoutVars>
          <dgm:chPref val="3"/>
        </dgm:presLayoutVars>
      </dgm:prSet>
      <dgm:spPr/>
    </dgm:pt>
    <dgm:pt modelId="{79B99B1C-C36C-4362-A147-4BD9205235D3}" type="pres">
      <dgm:prSet presAssocID="{00CF9D9C-990D-4F94-AD9D-4E076B9F0F3B}" presName="hierChild2" presStyleCnt="0"/>
      <dgm:spPr/>
    </dgm:pt>
    <dgm:pt modelId="{6501446E-FB32-4734-863B-E89443CA245F}" type="pres">
      <dgm:prSet presAssocID="{D573960E-68F9-4768-8485-39B8335FB48A}" presName="Name10" presStyleLbl="parChTrans1D2" presStyleIdx="0" presStyleCnt="2"/>
      <dgm:spPr/>
    </dgm:pt>
    <dgm:pt modelId="{15D036A4-65F7-48D2-8372-0C509043D166}" type="pres">
      <dgm:prSet presAssocID="{A1DEA195-C47F-4DB7-81FB-D519F36C2A43}" presName="hierRoot2" presStyleCnt="0"/>
      <dgm:spPr/>
    </dgm:pt>
    <dgm:pt modelId="{CEA6C799-D4E1-44CB-B736-78C5D93E362A}" type="pres">
      <dgm:prSet presAssocID="{A1DEA195-C47F-4DB7-81FB-D519F36C2A43}" presName="composite2" presStyleCnt="0"/>
      <dgm:spPr/>
    </dgm:pt>
    <dgm:pt modelId="{1980C046-78FC-4684-B752-C4F2277DE730}" type="pres">
      <dgm:prSet presAssocID="{A1DEA195-C47F-4DB7-81FB-D519F36C2A43}" presName="background2" presStyleLbl="node2" presStyleIdx="0" presStyleCnt="2"/>
      <dgm:spPr/>
    </dgm:pt>
    <dgm:pt modelId="{AF46156F-4790-4A8E-B921-B569EB58DA6E}" type="pres">
      <dgm:prSet presAssocID="{A1DEA195-C47F-4DB7-81FB-D519F36C2A43}" presName="text2" presStyleLbl="fgAcc2" presStyleIdx="0" presStyleCnt="2" custScaleX="148676" custScaleY="43011">
        <dgm:presLayoutVars>
          <dgm:chPref val="3"/>
        </dgm:presLayoutVars>
      </dgm:prSet>
      <dgm:spPr/>
    </dgm:pt>
    <dgm:pt modelId="{50C55492-2E54-4F26-AB1A-86FD3F08A4A5}" type="pres">
      <dgm:prSet presAssocID="{A1DEA195-C47F-4DB7-81FB-D519F36C2A43}" presName="hierChild3" presStyleCnt="0"/>
      <dgm:spPr/>
    </dgm:pt>
    <dgm:pt modelId="{6FCA1159-801B-45EF-BEE4-B5219A8AB2C7}" type="pres">
      <dgm:prSet presAssocID="{98BF71AB-4923-4893-BAA9-C6E6A1836CB2}" presName="Name17" presStyleLbl="parChTrans1D3" presStyleIdx="0" presStyleCnt="3"/>
      <dgm:spPr/>
    </dgm:pt>
    <dgm:pt modelId="{2B390D22-7954-4C21-83D1-684F7AA8AF94}" type="pres">
      <dgm:prSet presAssocID="{C938933F-1A3C-44B1-BD7B-F6329534582C}" presName="hierRoot3" presStyleCnt="0"/>
      <dgm:spPr/>
    </dgm:pt>
    <dgm:pt modelId="{54CC9A9A-1286-49A3-B196-78A77F2199AE}" type="pres">
      <dgm:prSet presAssocID="{C938933F-1A3C-44B1-BD7B-F6329534582C}" presName="composite3" presStyleCnt="0"/>
      <dgm:spPr/>
    </dgm:pt>
    <dgm:pt modelId="{E5A98936-892A-461C-9C4B-7C701DCAB985}" type="pres">
      <dgm:prSet presAssocID="{C938933F-1A3C-44B1-BD7B-F6329534582C}" presName="background3" presStyleLbl="node3" presStyleIdx="0" presStyleCnt="3"/>
      <dgm:spPr/>
    </dgm:pt>
    <dgm:pt modelId="{CECCF544-A506-47DB-A415-AC749CA0D220}" type="pres">
      <dgm:prSet presAssocID="{C938933F-1A3C-44B1-BD7B-F6329534582C}" presName="text3" presStyleLbl="fgAcc3" presStyleIdx="0" presStyleCnt="3" custScaleX="115579" custScaleY="265024" custLinFactNeighborX="-14277">
        <dgm:presLayoutVars>
          <dgm:chPref val="3"/>
        </dgm:presLayoutVars>
      </dgm:prSet>
      <dgm:spPr/>
    </dgm:pt>
    <dgm:pt modelId="{E9FD3000-5E2B-4D01-99E7-BC03E0C56BDD}" type="pres">
      <dgm:prSet presAssocID="{C938933F-1A3C-44B1-BD7B-F6329534582C}" presName="hierChild4" presStyleCnt="0"/>
      <dgm:spPr/>
    </dgm:pt>
    <dgm:pt modelId="{97331BF4-7854-463F-AC54-0C1843109EF4}" type="pres">
      <dgm:prSet presAssocID="{22A4CC06-312E-4854-AE77-86C44F91FF9A}" presName="Name10" presStyleLbl="parChTrans1D2" presStyleIdx="1" presStyleCnt="2"/>
      <dgm:spPr/>
    </dgm:pt>
    <dgm:pt modelId="{08AF5B2B-CF0C-4BF4-BA6A-9A42EEF29C1D}" type="pres">
      <dgm:prSet presAssocID="{F8E44B3D-D070-49BA-9118-FB76DBA1C293}" presName="hierRoot2" presStyleCnt="0"/>
      <dgm:spPr/>
    </dgm:pt>
    <dgm:pt modelId="{E52AF567-3611-4017-AF33-FF5E628C6CE0}" type="pres">
      <dgm:prSet presAssocID="{F8E44B3D-D070-49BA-9118-FB76DBA1C293}" presName="composite2" presStyleCnt="0"/>
      <dgm:spPr/>
    </dgm:pt>
    <dgm:pt modelId="{29AEE9C1-CF9E-40CF-99F8-0DA3F3EC8CA6}" type="pres">
      <dgm:prSet presAssocID="{F8E44B3D-D070-49BA-9118-FB76DBA1C293}" presName="background2" presStyleLbl="node2" presStyleIdx="1" presStyleCnt="2"/>
      <dgm:spPr/>
    </dgm:pt>
    <dgm:pt modelId="{E09FF8A5-6F84-4387-BA6B-E25F622E9EC4}" type="pres">
      <dgm:prSet presAssocID="{F8E44B3D-D070-49BA-9118-FB76DBA1C293}" presName="text2" presStyleLbl="fgAcc2" presStyleIdx="1" presStyleCnt="2" custScaleX="148676" custScaleY="43011">
        <dgm:presLayoutVars>
          <dgm:chPref val="3"/>
        </dgm:presLayoutVars>
      </dgm:prSet>
      <dgm:spPr/>
    </dgm:pt>
    <dgm:pt modelId="{5FB287D5-1841-49E1-A594-5D535D784E99}" type="pres">
      <dgm:prSet presAssocID="{F8E44B3D-D070-49BA-9118-FB76DBA1C293}" presName="hierChild3" presStyleCnt="0"/>
      <dgm:spPr/>
    </dgm:pt>
    <dgm:pt modelId="{D3241072-E826-4CE7-A20B-84F046A9F605}" type="pres">
      <dgm:prSet presAssocID="{ABE63220-C942-400E-9E30-9ED8C66F96B8}" presName="Name17" presStyleLbl="parChTrans1D3" presStyleIdx="1" presStyleCnt="3"/>
      <dgm:spPr/>
    </dgm:pt>
    <dgm:pt modelId="{63427C52-64DC-4A15-8E0F-0232D3B6440D}" type="pres">
      <dgm:prSet presAssocID="{4DA04E2E-C8C1-4318-AF2A-CDA4AC043B75}" presName="hierRoot3" presStyleCnt="0"/>
      <dgm:spPr/>
    </dgm:pt>
    <dgm:pt modelId="{8A9671AB-9C0D-4A18-B31D-DD73DAAD0E3F}" type="pres">
      <dgm:prSet presAssocID="{4DA04E2E-C8C1-4318-AF2A-CDA4AC043B75}" presName="composite3" presStyleCnt="0"/>
      <dgm:spPr/>
    </dgm:pt>
    <dgm:pt modelId="{F0DE682D-2E63-46AC-A075-3CB16823D04A}" type="pres">
      <dgm:prSet presAssocID="{4DA04E2E-C8C1-4318-AF2A-CDA4AC043B75}" presName="background3" presStyleLbl="node3" presStyleIdx="1" presStyleCnt="3"/>
      <dgm:spPr/>
    </dgm:pt>
    <dgm:pt modelId="{2CF1B970-0EC5-4C46-9997-05C22B18B0C1}" type="pres">
      <dgm:prSet presAssocID="{4DA04E2E-C8C1-4318-AF2A-CDA4AC043B75}" presName="text3" presStyleLbl="fgAcc3" presStyleIdx="1" presStyleCnt="3" custScaleX="115579" custScaleY="265024" custLinFactNeighborX="-2407">
        <dgm:presLayoutVars>
          <dgm:chPref val="3"/>
        </dgm:presLayoutVars>
      </dgm:prSet>
      <dgm:spPr/>
    </dgm:pt>
    <dgm:pt modelId="{CD4828E1-3199-40B0-85B9-8C8415D44D48}" type="pres">
      <dgm:prSet presAssocID="{4DA04E2E-C8C1-4318-AF2A-CDA4AC043B75}" presName="hierChild4" presStyleCnt="0"/>
      <dgm:spPr/>
    </dgm:pt>
    <dgm:pt modelId="{AD79F83D-2B04-4EA0-A36B-752E2867A041}" type="pres">
      <dgm:prSet presAssocID="{6ACD67C0-FB38-4D15-8915-5515A2D3B28D}" presName="Name17" presStyleLbl="parChTrans1D3" presStyleIdx="2" presStyleCnt="3"/>
      <dgm:spPr/>
    </dgm:pt>
    <dgm:pt modelId="{4B9B7790-2E14-4A40-8DBE-911BCD797909}" type="pres">
      <dgm:prSet presAssocID="{7C5A4509-4902-49C9-8A8D-B95728DB63FA}" presName="hierRoot3" presStyleCnt="0"/>
      <dgm:spPr/>
    </dgm:pt>
    <dgm:pt modelId="{15A3D961-774A-49E9-A281-3089C14C93E8}" type="pres">
      <dgm:prSet presAssocID="{7C5A4509-4902-49C9-8A8D-B95728DB63FA}" presName="composite3" presStyleCnt="0"/>
      <dgm:spPr/>
    </dgm:pt>
    <dgm:pt modelId="{8154CC8E-A2CD-4D08-BBBF-7C749868A1EF}" type="pres">
      <dgm:prSet presAssocID="{7C5A4509-4902-49C9-8A8D-B95728DB63FA}" presName="background3" presStyleLbl="node3" presStyleIdx="2" presStyleCnt="3"/>
      <dgm:spPr/>
    </dgm:pt>
    <dgm:pt modelId="{0B35F89D-0B27-468F-80EF-E08305F4E7A6}" type="pres">
      <dgm:prSet presAssocID="{7C5A4509-4902-49C9-8A8D-B95728DB63FA}" presName="text3" presStyleLbl="fgAcc3" presStyleIdx="2" presStyleCnt="3" custScaleX="71217" custScaleY="265024">
        <dgm:presLayoutVars>
          <dgm:chPref val="3"/>
        </dgm:presLayoutVars>
      </dgm:prSet>
      <dgm:spPr/>
    </dgm:pt>
    <dgm:pt modelId="{A4EBF640-A4E4-41C7-8AEA-D72CD854E284}" type="pres">
      <dgm:prSet presAssocID="{7C5A4509-4902-49C9-8A8D-B95728DB63FA}" presName="hierChild4" presStyleCnt="0"/>
      <dgm:spPr/>
    </dgm:pt>
  </dgm:ptLst>
  <dgm:cxnLst>
    <dgm:cxn modelId="{6DEE430D-46E4-467C-B59F-8C53610B5268}" srcId="{00CF9D9C-990D-4F94-AD9D-4E076B9F0F3B}" destId="{A1DEA195-C47F-4DB7-81FB-D519F36C2A43}" srcOrd="0" destOrd="0" parTransId="{D573960E-68F9-4768-8485-39B8335FB48A}" sibTransId="{7115F449-48B1-483F-8A37-AA83B1288C8B}"/>
    <dgm:cxn modelId="{5E37BD14-0A52-4CA8-988A-3A15DA65E033}" type="presOf" srcId="{4DA04E2E-C8C1-4318-AF2A-CDA4AC043B75}" destId="{2CF1B970-0EC5-4C46-9997-05C22B18B0C1}" srcOrd="0" destOrd="0" presId="urn:microsoft.com/office/officeart/2005/8/layout/hierarchy1"/>
    <dgm:cxn modelId="{4B82FC32-F6BA-4B33-9073-F90828945363}" type="presOf" srcId="{C938933F-1A3C-44B1-BD7B-F6329534582C}" destId="{CECCF544-A506-47DB-A415-AC749CA0D220}" srcOrd="0" destOrd="0" presId="urn:microsoft.com/office/officeart/2005/8/layout/hierarchy1"/>
    <dgm:cxn modelId="{810DFE3E-FCAD-4859-8CF9-E6CBFEDC78DC}" type="presOf" srcId="{A1DEA195-C47F-4DB7-81FB-D519F36C2A43}" destId="{AF46156F-4790-4A8E-B921-B569EB58DA6E}" srcOrd="0" destOrd="0" presId="urn:microsoft.com/office/officeart/2005/8/layout/hierarchy1"/>
    <dgm:cxn modelId="{C01A785F-09B3-4313-9A2B-F4C9EF6F621B}" type="presOf" srcId="{D573960E-68F9-4768-8485-39B8335FB48A}" destId="{6501446E-FB32-4734-863B-E89443CA245F}" srcOrd="0" destOrd="0" presId="urn:microsoft.com/office/officeart/2005/8/layout/hierarchy1"/>
    <dgm:cxn modelId="{7E80894D-2BB7-4E9F-BC26-6A026C2FCB09}" type="presOf" srcId="{00CF9D9C-990D-4F94-AD9D-4E076B9F0F3B}" destId="{1985D908-05DA-4853-9A1A-C57E0DDCC801}" srcOrd="0" destOrd="0" presId="urn:microsoft.com/office/officeart/2005/8/layout/hierarchy1"/>
    <dgm:cxn modelId="{F508BF75-9A23-4D69-9DB1-1313940A37DE}" type="presOf" srcId="{98BF71AB-4923-4893-BAA9-C6E6A1836CB2}" destId="{6FCA1159-801B-45EF-BEE4-B5219A8AB2C7}" srcOrd="0" destOrd="0" presId="urn:microsoft.com/office/officeart/2005/8/layout/hierarchy1"/>
    <dgm:cxn modelId="{38A66756-C388-4547-8ACF-FC1F992FECFC}" type="presOf" srcId="{7C5A4509-4902-49C9-8A8D-B95728DB63FA}" destId="{0B35F89D-0B27-468F-80EF-E08305F4E7A6}" srcOrd="0" destOrd="0" presId="urn:microsoft.com/office/officeart/2005/8/layout/hierarchy1"/>
    <dgm:cxn modelId="{2D374287-E552-4BEB-880B-FDF4BC9D54DD}" type="presOf" srcId="{F8E44B3D-D070-49BA-9118-FB76DBA1C293}" destId="{E09FF8A5-6F84-4387-BA6B-E25F622E9EC4}" srcOrd="0" destOrd="0" presId="urn:microsoft.com/office/officeart/2005/8/layout/hierarchy1"/>
    <dgm:cxn modelId="{751BED93-E681-4BB4-A99B-D15727C49E9F}" srcId="{F8E44B3D-D070-49BA-9118-FB76DBA1C293}" destId="{7C5A4509-4902-49C9-8A8D-B95728DB63FA}" srcOrd="1" destOrd="0" parTransId="{6ACD67C0-FB38-4D15-8915-5515A2D3B28D}" sibTransId="{D5CBE6DA-472F-4E2D-90BC-4CF50DBFE2BC}"/>
    <dgm:cxn modelId="{1E8C3A9C-5F6D-4D12-BC72-608C931FEF59}" srcId="{00CF9D9C-990D-4F94-AD9D-4E076B9F0F3B}" destId="{F8E44B3D-D070-49BA-9118-FB76DBA1C293}" srcOrd="1" destOrd="0" parTransId="{22A4CC06-312E-4854-AE77-86C44F91FF9A}" sibTransId="{74D1C657-52B5-4019-AEB4-0C8BEAF0D661}"/>
    <dgm:cxn modelId="{89A25AAB-737F-48B3-8029-145703174513}" srcId="{881F671C-9FC3-4E50-B368-3DB08E3969C4}" destId="{00CF9D9C-990D-4F94-AD9D-4E076B9F0F3B}" srcOrd="0" destOrd="0" parTransId="{83908560-CF60-4BA7-AD69-29C0F0E05D10}" sibTransId="{0FB79F49-4E50-4E37-86B7-2F2FE87E1798}"/>
    <dgm:cxn modelId="{5191AFB6-BC6E-4B09-B903-88C85B315452}" type="presOf" srcId="{ABE63220-C942-400E-9E30-9ED8C66F96B8}" destId="{D3241072-E826-4CE7-A20B-84F046A9F605}" srcOrd="0" destOrd="0" presId="urn:microsoft.com/office/officeart/2005/8/layout/hierarchy1"/>
    <dgm:cxn modelId="{2CDCE4BC-B941-447F-A93C-AD89B5F6D26C}" type="presOf" srcId="{22A4CC06-312E-4854-AE77-86C44F91FF9A}" destId="{97331BF4-7854-463F-AC54-0C1843109EF4}" srcOrd="0" destOrd="0" presId="urn:microsoft.com/office/officeart/2005/8/layout/hierarchy1"/>
    <dgm:cxn modelId="{0A796CCE-D06B-4433-B318-EEC1C1AB1B18}" type="presOf" srcId="{881F671C-9FC3-4E50-B368-3DB08E3969C4}" destId="{E463E2D9-2954-4D95-AD95-4074CF20C75A}" srcOrd="0" destOrd="0" presId="urn:microsoft.com/office/officeart/2005/8/layout/hierarchy1"/>
    <dgm:cxn modelId="{BED4A6D5-A1D1-4BFD-8D85-C37C5D9C3F43}" srcId="{F8E44B3D-D070-49BA-9118-FB76DBA1C293}" destId="{4DA04E2E-C8C1-4318-AF2A-CDA4AC043B75}" srcOrd="0" destOrd="0" parTransId="{ABE63220-C942-400E-9E30-9ED8C66F96B8}" sibTransId="{1ACB526B-09E7-4C4A-98DF-7B56C75540E0}"/>
    <dgm:cxn modelId="{E54554D9-9C95-44F9-BA62-0C4119ED49F3}" type="presOf" srcId="{6ACD67C0-FB38-4D15-8915-5515A2D3B28D}" destId="{AD79F83D-2B04-4EA0-A36B-752E2867A041}" srcOrd="0" destOrd="0" presId="urn:microsoft.com/office/officeart/2005/8/layout/hierarchy1"/>
    <dgm:cxn modelId="{8AD779E7-C1FE-4259-9491-9604B537D1EC}" srcId="{A1DEA195-C47F-4DB7-81FB-D519F36C2A43}" destId="{C938933F-1A3C-44B1-BD7B-F6329534582C}" srcOrd="0" destOrd="0" parTransId="{98BF71AB-4923-4893-BAA9-C6E6A1836CB2}" sibTransId="{05F61C3A-8291-4591-B064-11016F867F39}"/>
    <dgm:cxn modelId="{3C265EB0-2F4F-4111-9F2D-82928E8C9A04}" type="presParOf" srcId="{E463E2D9-2954-4D95-AD95-4074CF20C75A}" destId="{B9EA8A42-D34C-44FB-B0C9-6B1DA37A6E31}" srcOrd="0" destOrd="0" presId="urn:microsoft.com/office/officeart/2005/8/layout/hierarchy1"/>
    <dgm:cxn modelId="{A81EA53C-9FA7-4A39-A847-D1C7F2AE6E7C}" type="presParOf" srcId="{B9EA8A42-D34C-44FB-B0C9-6B1DA37A6E31}" destId="{D6762702-D230-45C1-BCEC-E34729F87438}" srcOrd="0" destOrd="0" presId="urn:microsoft.com/office/officeart/2005/8/layout/hierarchy1"/>
    <dgm:cxn modelId="{98D16D5F-B595-408E-BA59-77C16F3FA43E}" type="presParOf" srcId="{D6762702-D230-45C1-BCEC-E34729F87438}" destId="{81FCE9F7-6584-46F8-B635-39307CDD990B}" srcOrd="0" destOrd="0" presId="urn:microsoft.com/office/officeart/2005/8/layout/hierarchy1"/>
    <dgm:cxn modelId="{827B35C3-DFDB-4797-BF06-4AA37F18DC45}" type="presParOf" srcId="{D6762702-D230-45C1-BCEC-E34729F87438}" destId="{1985D908-05DA-4853-9A1A-C57E0DDCC801}" srcOrd="1" destOrd="0" presId="urn:microsoft.com/office/officeart/2005/8/layout/hierarchy1"/>
    <dgm:cxn modelId="{29179D4A-165E-436A-A3B7-994B3608263D}" type="presParOf" srcId="{B9EA8A42-D34C-44FB-B0C9-6B1DA37A6E31}" destId="{79B99B1C-C36C-4362-A147-4BD9205235D3}" srcOrd="1" destOrd="0" presId="urn:microsoft.com/office/officeart/2005/8/layout/hierarchy1"/>
    <dgm:cxn modelId="{31465E05-F5B5-4FF7-9B08-D5E3582F2B5B}" type="presParOf" srcId="{79B99B1C-C36C-4362-A147-4BD9205235D3}" destId="{6501446E-FB32-4734-863B-E89443CA245F}" srcOrd="0" destOrd="0" presId="urn:microsoft.com/office/officeart/2005/8/layout/hierarchy1"/>
    <dgm:cxn modelId="{DE6ADA29-0272-47F4-BA72-82625BA144B3}" type="presParOf" srcId="{79B99B1C-C36C-4362-A147-4BD9205235D3}" destId="{15D036A4-65F7-48D2-8372-0C509043D166}" srcOrd="1" destOrd="0" presId="urn:microsoft.com/office/officeart/2005/8/layout/hierarchy1"/>
    <dgm:cxn modelId="{7EA7EA41-1EF0-4B59-BA2C-999F5E87C26C}" type="presParOf" srcId="{15D036A4-65F7-48D2-8372-0C509043D166}" destId="{CEA6C799-D4E1-44CB-B736-78C5D93E362A}" srcOrd="0" destOrd="0" presId="urn:microsoft.com/office/officeart/2005/8/layout/hierarchy1"/>
    <dgm:cxn modelId="{E03224BA-8E81-4041-907A-77819520C89B}" type="presParOf" srcId="{CEA6C799-D4E1-44CB-B736-78C5D93E362A}" destId="{1980C046-78FC-4684-B752-C4F2277DE730}" srcOrd="0" destOrd="0" presId="urn:microsoft.com/office/officeart/2005/8/layout/hierarchy1"/>
    <dgm:cxn modelId="{6CD40A92-0CE8-49DD-B1F1-4C76A4951E1C}" type="presParOf" srcId="{CEA6C799-D4E1-44CB-B736-78C5D93E362A}" destId="{AF46156F-4790-4A8E-B921-B569EB58DA6E}" srcOrd="1" destOrd="0" presId="urn:microsoft.com/office/officeart/2005/8/layout/hierarchy1"/>
    <dgm:cxn modelId="{39B05349-0DDD-4E60-A3EA-8B3D7A43D159}" type="presParOf" srcId="{15D036A4-65F7-48D2-8372-0C509043D166}" destId="{50C55492-2E54-4F26-AB1A-86FD3F08A4A5}" srcOrd="1" destOrd="0" presId="urn:microsoft.com/office/officeart/2005/8/layout/hierarchy1"/>
    <dgm:cxn modelId="{0C165BCF-531E-47A5-BA20-EC87123485A3}" type="presParOf" srcId="{50C55492-2E54-4F26-AB1A-86FD3F08A4A5}" destId="{6FCA1159-801B-45EF-BEE4-B5219A8AB2C7}" srcOrd="0" destOrd="0" presId="urn:microsoft.com/office/officeart/2005/8/layout/hierarchy1"/>
    <dgm:cxn modelId="{6B7757A8-F14E-4348-9D42-4AAFCD4A11FE}" type="presParOf" srcId="{50C55492-2E54-4F26-AB1A-86FD3F08A4A5}" destId="{2B390D22-7954-4C21-83D1-684F7AA8AF94}" srcOrd="1" destOrd="0" presId="urn:microsoft.com/office/officeart/2005/8/layout/hierarchy1"/>
    <dgm:cxn modelId="{4E44CA25-C62B-413E-8242-55CA7F3145A0}" type="presParOf" srcId="{2B390D22-7954-4C21-83D1-684F7AA8AF94}" destId="{54CC9A9A-1286-49A3-B196-78A77F2199AE}" srcOrd="0" destOrd="0" presId="urn:microsoft.com/office/officeart/2005/8/layout/hierarchy1"/>
    <dgm:cxn modelId="{63300E96-4D39-4BDE-B306-0EC943E6421D}" type="presParOf" srcId="{54CC9A9A-1286-49A3-B196-78A77F2199AE}" destId="{E5A98936-892A-461C-9C4B-7C701DCAB985}" srcOrd="0" destOrd="0" presId="urn:microsoft.com/office/officeart/2005/8/layout/hierarchy1"/>
    <dgm:cxn modelId="{6B572C21-0DA0-446F-94F2-587B5BAF4F11}" type="presParOf" srcId="{54CC9A9A-1286-49A3-B196-78A77F2199AE}" destId="{CECCF544-A506-47DB-A415-AC749CA0D220}" srcOrd="1" destOrd="0" presId="urn:microsoft.com/office/officeart/2005/8/layout/hierarchy1"/>
    <dgm:cxn modelId="{54AF1A88-0071-4BF5-8A8B-BE4E238FFC36}" type="presParOf" srcId="{2B390D22-7954-4C21-83D1-684F7AA8AF94}" destId="{E9FD3000-5E2B-4D01-99E7-BC03E0C56BDD}" srcOrd="1" destOrd="0" presId="urn:microsoft.com/office/officeart/2005/8/layout/hierarchy1"/>
    <dgm:cxn modelId="{B4D03744-5F8E-4E97-B035-E3735E117954}" type="presParOf" srcId="{79B99B1C-C36C-4362-A147-4BD9205235D3}" destId="{97331BF4-7854-463F-AC54-0C1843109EF4}" srcOrd="2" destOrd="0" presId="urn:microsoft.com/office/officeart/2005/8/layout/hierarchy1"/>
    <dgm:cxn modelId="{2F93E8B3-F3EC-4CFA-838B-1A2DA4F88EC5}" type="presParOf" srcId="{79B99B1C-C36C-4362-A147-4BD9205235D3}" destId="{08AF5B2B-CF0C-4BF4-BA6A-9A42EEF29C1D}" srcOrd="3" destOrd="0" presId="urn:microsoft.com/office/officeart/2005/8/layout/hierarchy1"/>
    <dgm:cxn modelId="{97720B3F-DE70-42D9-AF85-2B72704CFB13}" type="presParOf" srcId="{08AF5B2B-CF0C-4BF4-BA6A-9A42EEF29C1D}" destId="{E52AF567-3611-4017-AF33-FF5E628C6CE0}" srcOrd="0" destOrd="0" presId="urn:microsoft.com/office/officeart/2005/8/layout/hierarchy1"/>
    <dgm:cxn modelId="{E2E256BF-86A1-420F-8545-F52644ADC35C}" type="presParOf" srcId="{E52AF567-3611-4017-AF33-FF5E628C6CE0}" destId="{29AEE9C1-CF9E-40CF-99F8-0DA3F3EC8CA6}" srcOrd="0" destOrd="0" presId="urn:microsoft.com/office/officeart/2005/8/layout/hierarchy1"/>
    <dgm:cxn modelId="{AE2E1EF5-A8B5-4F7E-84AA-FBF36989549C}" type="presParOf" srcId="{E52AF567-3611-4017-AF33-FF5E628C6CE0}" destId="{E09FF8A5-6F84-4387-BA6B-E25F622E9EC4}" srcOrd="1" destOrd="0" presId="urn:microsoft.com/office/officeart/2005/8/layout/hierarchy1"/>
    <dgm:cxn modelId="{78A57358-965B-4487-B503-98FD81127739}" type="presParOf" srcId="{08AF5B2B-CF0C-4BF4-BA6A-9A42EEF29C1D}" destId="{5FB287D5-1841-49E1-A594-5D535D784E99}" srcOrd="1" destOrd="0" presId="urn:microsoft.com/office/officeart/2005/8/layout/hierarchy1"/>
    <dgm:cxn modelId="{B3D1A1B7-75AA-4F99-A4D8-E720F00F0926}" type="presParOf" srcId="{5FB287D5-1841-49E1-A594-5D535D784E99}" destId="{D3241072-E826-4CE7-A20B-84F046A9F605}" srcOrd="0" destOrd="0" presId="urn:microsoft.com/office/officeart/2005/8/layout/hierarchy1"/>
    <dgm:cxn modelId="{F3482E7E-B02A-4310-B42B-8C12FBCA792C}" type="presParOf" srcId="{5FB287D5-1841-49E1-A594-5D535D784E99}" destId="{63427C52-64DC-4A15-8E0F-0232D3B6440D}" srcOrd="1" destOrd="0" presId="urn:microsoft.com/office/officeart/2005/8/layout/hierarchy1"/>
    <dgm:cxn modelId="{988035C2-1F86-4813-BD85-84BAC0124A27}" type="presParOf" srcId="{63427C52-64DC-4A15-8E0F-0232D3B6440D}" destId="{8A9671AB-9C0D-4A18-B31D-DD73DAAD0E3F}" srcOrd="0" destOrd="0" presId="urn:microsoft.com/office/officeart/2005/8/layout/hierarchy1"/>
    <dgm:cxn modelId="{3F7A8B3B-E208-49D1-A072-D8E706451864}" type="presParOf" srcId="{8A9671AB-9C0D-4A18-B31D-DD73DAAD0E3F}" destId="{F0DE682D-2E63-46AC-A075-3CB16823D04A}" srcOrd="0" destOrd="0" presId="urn:microsoft.com/office/officeart/2005/8/layout/hierarchy1"/>
    <dgm:cxn modelId="{8D4392B9-CDFA-43F9-8734-A965B7D4B6CF}" type="presParOf" srcId="{8A9671AB-9C0D-4A18-B31D-DD73DAAD0E3F}" destId="{2CF1B970-0EC5-4C46-9997-05C22B18B0C1}" srcOrd="1" destOrd="0" presId="urn:microsoft.com/office/officeart/2005/8/layout/hierarchy1"/>
    <dgm:cxn modelId="{7AD3DC19-7D7E-4058-91BF-FA92E2DB3F11}" type="presParOf" srcId="{63427C52-64DC-4A15-8E0F-0232D3B6440D}" destId="{CD4828E1-3199-40B0-85B9-8C8415D44D48}" srcOrd="1" destOrd="0" presId="urn:microsoft.com/office/officeart/2005/8/layout/hierarchy1"/>
    <dgm:cxn modelId="{16B4DA50-A287-45C1-80BE-55F652EB3712}" type="presParOf" srcId="{5FB287D5-1841-49E1-A594-5D535D784E99}" destId="{AD79F83D-2B04-4EA0-A36B-752E2867A041}" srcOrd="2" destOrd="0" presId="urn:microsoft.com/office/officeart/2005/8/layout/hierarchy1"/>
    <dgm:cxn modelId="{4E304D77-535C-463A-A217-7BEFCD056B3C}" type="presParOf" srcId="{5FB287D5-1841-49E1-A594-5D535D784E99}" destId="{4B9B7790-2E14-4A40-8DBE-911BCD797909}" srcOrd="3" destOrd="0" presId="urn:microsoft.com/office/officeart/2005/8/layout/hierarchy1"/>
    <dgm:cxn modelId="{14AE4DBD-063E-425A-9B5B-EC586E630260}" type="presParOf" srcId="{4B9B7790-2E14-4A40-8DBE-911BCD797909}" destId="{15A3D961-774A-49E9-A281-3089C14C93E8}" srcOrd="0" destOrd="0" presId="urn:microsoft.com/office/officeart/2005/8/layout/hierarchy1"/>
    <dgm:cxn modelId="{D79D9B97-EA3B-457C-B4EB-FBA72FB799C2}" type="presParOf" srcId="{15A3D961-774A-49E9-A281-3089C14C93E8}" destId="{8154CC8E-A2CD-4D08-BBBF-7C749868A1EF}" srcOrd="0" destOrd="0" presId="urn:microsoft.com/office/officeart/2005/8/layout/hierarchy1"/>
    <dgm:cxn modelId="{2798D41D-A944-4B57-8479-D6302621B81B}" type="presParOf" srcId="{15A3D961-774A-49E9-A281-3089C14C93E8}" destId="{0B35F89D-0B27-468F-80EF-E08305F4E7A6}" srcOrd="1" destOrd="0" presId="urn:microsoft.com/office/officeart/2005/8/layout/hierarchy1"/>
    <dgm:cxn modelId="{14B0D81B-8656-4C95-8771-500053A8C1BC}" type="presParOf" srcId="{4B9B7790-2E14-4A40-8DBE-911BCD797909}" destId="{A4EBF640-A4E4-41C7-8AEA-D72CD854E284}"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5E48D4C-8747-430C-A790-BE8B24D44DA4}" type="doc">
      <dgm:prSet loTypeId="urn:microsoft.com/office/officeart/2005/8/layout/vList5" loCatId="list" qsTypeId="urn:microsoft.com/office/officeart/2005/8/quickstyle/3d2" qsCatId="3D" csTypeId="urn:microsoft.com/office/officeart/2005/8/colors/accent1_2" csCatId="accent1" phldr="1"/>
      <dgm:spPr/>
      <dgm:t>
        <a:bodyPr/>
        <a:lstStyle/>
        <a:p>
          <a:endParaRPr lang="en-GB"/>
        </a:p>
      </dgm:t>
    </dgm:pt>
    <dgm:pt modelId="{B3082C11-B153-4488-ADC8-2939BC7CFC4F}">
      <dgm:prSet/>
      <dgm:spPr/>
      <dgm:t>
        <a:bodyPr/>
        <a:lstStyle/>
        <a:p>
          <a:pPr rtl="0"/>
          <a:r>
            <a:rPr lang="en-GB" dirty="0"/>
            <a:t>I. </a:t>
          </a:r>
        </a:p>
        <a:p>
          <a:pPr rtl="0"/>
          <a:r>
            <a:rPr lang="en-GB" dirty="0"/>
            <a:t>Updating Earnings</a:t>
          </a:r>
        </a:p>
      </dgm:t>
    </dgm:pt>
    <dgm:pt modelId="{F5E3A289-D4F6-47C2-81BF-F9A6DB283E5C}" type="parTrans" cxnId="{94C907D0-AB23-4376-84EE-5AFBDE51A2C7}">
      <dgm:prSet/>
      <dgm:spPr/>
      <dgm:t>
        <a:bodyPr/>
        <a:lstStyle/>
        <a:p>
          <a:endParaRPr lang="en-GB"/>
        </a:p>
      </dgm:t>
    </dgm:pt>
    <dgm:pt modelId="{7550E368-7D43-4532-BEF7-3103E735886C}" type="sibTrans" cxnId="{94C907D0-AB23-4376-84EE-5AFBDE51A2C7}">
      <dgm:prSet/>
      <dgm:spPr/>
      <dgm:t>
        <a:bodyPr/>
        <a:lstStyle/>
        <a:p>
          <a:endParaRPr lang="en-GB"/>
        </a:p>
      </dgm:t>
    </dgm:pt>
    <dgm:pt modelId="{4861D693-05B0-4242-B17D-F47B04D1657D}">
      <dgm:prSet/>
      <dgm:spPr/>
      <dgm:t>
        <a:bodyPr/>
        <a:lstStyle/>
        <a:p>
          <a:pPr rtl="0"/>
          <a:r>
            <a:rPr lang="en-GB" dirty="0"/>
            <a:t>Last available information</a:t>
          </a:r>
        </a:p>
      </dgm:t>
    </dgm:pt>
    <dgm:pt modelId="{AE1547D3-39F6-4E0E-81CF-3C7FCB93DB67}" type="parTrans" cxnId="{0ABAC971-2EF9-4C24-9798-172C62944B55}">
      <dgm:prSet/>
      <dgm:spPr/>
      <dgm:t>
        <a:bodyPr/>
        <a:lstStyle/>
        <a:p>
          <a:endParaRPr lang="en-GB"/>
        </a:p>
      </dgm:t>
    </dgm:pt>
    <dgm:pt modelId="{2365EE9A-BFD1-41FF-9248-FE991CC2B799}" type="sibTrans" cxnId="{0ABAC971-2EF9-4C24-9798-172C62944B55}">
      <dgm:prSet/>
      <dgm:spPr/>
      <dgm:t>
        <a:bodyPr/>
        <a:lstStyle/>
        <a:p>
          <a:endParaRPr lang="en-GB"/>
        </a:p>
      </dgm:t>
    </dgm:pt>
    <dgm:pt modelId="{7EB905E0-1136-4F51-BB59-DB6452B4C97F}">
      <dgm:prSet/>
      <dgm:spPr/>
      <dgm:t>
        <a:bodyPr/>
        <a:lstStyle/>
        <a:p>
          <a:pPr rtl="0"/>
          <a:r>
            <a:rPr lang="en-GB" dirty="0"/>
            <a:t>II.</a:t>
          </a:r>
        </a:p>
        <a:p>
          <a:pPr rtl="0"/>
          <a:r>
            <a:rPr lang="en-GB" dirty="0"/>
            <a:t> Unusual items</a:t>
          </a:r>
        </a:p>
      </dgm:t>
    </dgm:pt>
    <dgm:pt modelId="{DAE2D588-07F8-4A39-B8EE-9856C1AE8203}" type="parTrans" cxnId="{985406B3-D98A-4B22-B792-DAE28ADF8E96}">
      <dgm:prSet/>
      <dgm:spPr/>
      <dgm:t>
        <a:bodyPr/>
        <a:lstStyle/>
        <a:p>
          <a:endParaRPr lang="en-GB"/>
        </a:p>
      </dgm:t>
    </dgm:pt>
    <dgm:pt modelId="{8C8B2C11-0127-471D-8070-434D5517771D}" type="sibTrans" cxnId="{985406B3-D98A-4B22-B792-DAE28ADF8E96}">
      <dgm:prSet/>
      <dgm:spPr/>
      <dgm:t>
        <a:bodyPr/>
        <a:lstStyle/>
        <a:p>
          <a:endParaRPr lang="en-GB"/>
        </a:p>
      </dgm:t>
    </dgm:pt>
    <dgm:pt modelId="{67122234-C486-472E-9A73-197E777A239D}">
      <dgm:prSet/>
      <dgm:spPr/>
      <dgm:t>
        <a:bodyPr/>
        <a:lstStyle/>
        <a:p>
          <a:pPr rtl="0"/>
          <a:r>
            <a:rPr lang="en-GB" dirty="0"/>
            <a:t>One Time</a:t>
          </a:r>
        </a:p>
      </dgm:t>
    </dgm:pt>
    <dgm:pt modelId="{C8AB0236-8EF5-4B02-B590-0CA79E674331}" type="parTrans" cxnId="{F09E01D2-53FB-4BA4-B333-41536CD323D2}">
      <dgm:prSet/>
      <dgm:spPr/>
      <dgm:t>
        <a:bodyPr/>
        <a:lstStyle/>
        <a:p>
          <a:endParaRPr lang="en-GB"/>
        </a:p>
      </dgm:t>
    </dgm:pt>
    <dgm:pt modelId="{4F6954CE-2E98-43AD-BD00-557ADD318742}" type="sibTrans" cxnId="{F09E01D2-53FB-4BA4-B333-41536CD323D2}">
      <dgm:prSet/>
      <dgm:spPr/>
      <dgm:t>
        <a:bodyPr/>
        <a:lstStyle/>
        <a:p>
          <a:endParaRPr lang="en-GB"/>
        </a:p>
      </dgm:t>
    </dgm:pt>
    <dgm:pt modelId="{B065F0BF-E7D8-4EE0-AFB9-05D33F5AFA76}">
      <dgm:prSet/>
      <dgm:spPr/>
      <dgm:t>
        <a:bodyPr/>
        <a:lstStyle/>
        <a:p>
          <a:pPr rtl="0"/>
          <a:r>
            <a:rPr lang="en-GB" dirty="0"/>
            <a:t>Non Recurring</a:t>
          </a:r>
        </a:p>
      </dgm:t>
    </dgm:pt>
    <dgm:pt modelId="{2751BD2C-BBCD-4552-93B7-1FB6ED911D37}" type="parTrans" cxnId="{5990B285-8128-40C2-B2A1-88A4AAC63312}">
      <dgm:prSet/>
      <dgm:spPr/>
      <dgm:t>
        <a:bodyPr/>
        <a:lstStyle/>
        <a:p>
          <a:endParaRPr lang="en-GB"/>
        </a:p>
      </dgm:t>
    </dgm:pt>
    <dgm:pt modelId="{C01F26A8-7C77-43ED-96C5-4CD28F9CDB37}" type="sibTrans" cxnId="{5990B285-8128-40C2-B2A1-88A4AAC63312}">
      <dgm:prSet/>
      <dgm:spPr/>
      <dgm:t>
        <a:bodyPr/>
        <a:lstStyle/>
        <a:p>
          <a:endParaRPr lang="en-GB"/>
        </a:p>
      </dgm:t>
    </dgm:pt>
    <dgm:pt modelId="{61BAC11F-C59A-4756-AE74-5211BA90F885}">
      <dgm:prSet/>
      <dgm:spPr/>
      <dgm:t>
        <a:bodyPr/>
        <a:lstStyle/>
        <a:p>
          <a:pPr rtl="0"/>
          <a:r>
            <a:rPr lang="en-GB" dirty="0"/>
            <a:t>Negative or Abnormal</a:t>
          </a:r>
        </a:p>
      </dgm:t>
    </dgm:pt>
    <dgm:pt modelId="{2E2C0F8D-010D-44C0-BDC5-589C5DFCD404}" type="parTrans" cxnId="{6D0E6AE8-A42A-4BDC-83DE-063E0E39444E}">
      <dgm:prSet/>
      <dgm:spPr/>
      <dgm:t>
        <a:bodyPr/>
        <a:lstStyle/>
        <a:p>
          <a:endParaRPr lang="en-GB"/>
        </a:p>
      </dgm:t>
    </dgm:pt>
    <dgm:pt modelId="{A6736242-6B07-4FED-A116-28F5F507CD5F}" type="sibTrans" cxnId="{6D0E6AE8-A42A-4BDC-83DE-063E0E39444E}">
      <dgm:prSet/>
      <dgm:spPr/>
      <dgm:t>
        <a:bodyPr/>
        <a:lstStyle/>
        <a:p>
          <a:endParaRPr lang="en-GB"/>
        </a:p>
      </dgm:t>
    </dgm:pt>
    <dgm:pt modelId="{79AD427A-A4ED-4043-B4AB-1DA76EE05B8C}">
      <dgm:prSet/>
      <dgm:spPr/>
      <dgm:t>
        <a:bodyPr/>
        <a:lstStyle/>
        <a:p>
          <a:pPr rtl="0"/>
          <a:r>
            <a:rPr lang="en-GB" dirty="0"/>
            <a:t>Trailing Earnings</a:t>
          </a:r>
        </a:p>
      </dgm:t>
    </dgm:pt>
    <dgm:pt modelId="{72F68E84-9547-457B-A925-6557101B15BD}" type="parTrans" cxnId="{D816274D-969A-4263-BCCB-A4EE2ED7A4F2}">
      <dgm:prSet/>
      <dgm:spPr/>
      <dgm:t>
        <a:bodyPr/>
        <a:lstStyle/>
        <a:p>
          <a:endParaRPr lang="en-GB"/>
        </a:p>
      </dgm:t>
    </dgm:pt>
    <dgm:pt modelId="{80153CCD-353C-4FAF-B983-4593D22E20AC}" type="sibTrans" cxnId="{D816274D-969A-4263-BCCB-A4EE2ED7A4F2}">
      <dgm:prSet/>
      <dgm:spPr/>
      <dgm:t>
        <a:bodyPr/>
        <a:lstStyle/>
        <a:p>
          <a:endParaRPr lang="en-GB"/>
        </a:p>
      </dgm:t>
    </dgm:pt>
    <dgm:pt modelId="{8976004A-01CC-400D-9B08-D9D718A84D0D}">
      <dgm:prSet/>
      <dgm:spPr/>
      <dgm:t>
        <a:bodyPr/>
        <a:lstStyle/>
        <a:p>
          <a:pPr rtl="0"/>
          <a:r>
            <a:rPr lang="en-GB" dirty="0"/>
            <a:t>III. </a:t>
          </a:r>
        </a:p>
        <a:p>
          <a:pPr rtl="0"/>
          <a:r>
            <a:rPr lang="en-GB" dirty="0"/>
            <a:t>Correcting Accounting Earnings</a:t>
          </a:r>
        </a:p>
      </dgm:t>
    </dgm:pt>
    <dgm:pt modelId="{071548D3-E58A-4909-A172-AF0982A67E44}" type="parTrans" cxnId="{87979E0A-0A1B-4C1C-9F15-55DA84FE2D91}">
      <dgm:prSet/>
      <dgm:spPr/>
      <dgm:t>
        <a:bodyPr/>
        <a:lstStyle/>
        <a:p>
          <a:endParaRPr lang="en-US"/>
        </a:p>
      </dgm:t>
    </dgm:pt>
    <dgm:pt modelId="{8839A338-FE47-48E6-9664-8006EDA004CB}" type="sibTrans" cxnId="{87979E0A-0A1B-4C1C-9F15-55DA84FE2D91}">
      <dgm:prSet/>
      <dgm:spPr/>
      <dgm:t>
        <a:bodyPr/>
        <a:lstStyle/>
        <a:p>
          <a:endParaRPr lang="en-US"/>
        </a:p>
      </dgm:t>
    </dgm:pt>
    <dgm:pt modelId="{5AB52901-9684-4B26-A172-D7EB2AF089E1}">
      <dgm:prSet/>
      <dgm:spPr/>
      <dgm:t>
        <a:bodyPr/>
        <a:lstStyle/>
        <a:p>
          <a:pPr rtl="0"/>
          <a:r>
            <a:rPr lang="en-GB" dirty="0"/>
            <a:t>Operating Leases/Pension Contributions</a:t>
          </a:r>
        </a:p>
      </dgm:t>
    </dgm:pt>
    <dgm:pt modelId="{A23F35F9-5826-439B-9E10-46B6AE2AAB09}" type="parTrans" cxnId="{091D79B2-0137-4347-B369-E0D5505803C7}">
      <dgm:prSet/>
      <dgm:spPr/>
      <dgm:t>
        <a:bodyPr/>
        <a:lstStyle/>
        <a:p>
          <a:endParaRPr lang="en-US"/>
        </a:p>
      </dgm:t>
    </dgm:pt>
    <dgm:pt modelId="{462B6851-9627-496F-8708-C550F159DC79}" type="sibTrans" cxnId="{091D79B2-0137-4347-B369-E0D5505803C7}">
      <dgm:prSet/>
      <dgm:spPr/>
      <dgm:t>
        <a:bodyPr/>
        <a:lstStyle/>
        <a:p>
          <a:endParaRPr lang="en-US"/>
        </a:p>
      </dgm:t>
    </dgm:pt>
    <dgm:pt modelId="{4ACBCDA9-75A4-46B0-9493-B5389D7C6CB1}">
      <dgm:prSet/>
      <dgm:spPr/>
      <dgm:t>
        <a:bodyPr/>
        <a:lstStyle/>
        <a:p>
          <a:pPr rtl="0"/>
          <a:r>
            <a:rPr lang="en-GB" dirty="0"/>
            <a:t>R&amp;D Expenses</a:t>
          </a:r>
        </a:p>
      </dgm:t>
    </dgm:pt>
    <dgm:pt modelId="{249DBB59-4B4C-4A77-B49B-221A13DDCE9F}" type="parTrans" cxnId="{A5AF33C1-9BB1-4F59-8217-9A11B1E76301}">
      <dgm:prSet/>
      <dgm:spPr/>
      <dgm:t>
        <a:bodyPr/>
        <a:lstStyle/>
        <a:p>
          <a:endParaRPr lang="en-US"/>
        </a:p>
      </dgm:t>
    </dgm:pt>
    <dgm:pt modelId="{F7D86597-2E4B-4B9C-99F0-60E10BA1FEE7}" type="sibTrans" cxnId="{A5AF33C1-9BB1-4F59-8217-9A11B1E76301}">
      <dgm:prSet/>
      <dgm:spPr/>
      <dgm:t>
        <a:bodyPr/>
        <a:lstStyle/>
        <a:p>
          <a:endParaRPr lang="en-US"/>
        </a:p>
      </dgm:t>
    </dgm:pt>
    <dgm:pt modelId="{20875550-52FC-4B51-A61C-4A824F914C05}" type="pres">
      <dgm:prSet presAssocID="{55E48D4C-8747-430C-A790-BE8B24D44DA4}" presName="Name0" presStyleCnt="0">
        <dgm:presLayoutVars>
          <dgm:dir/>
          <dgm:animLvl val="lvl"/>
          <dgm:resizeHandles val="exact"/>
        </dgm:presLayoutVars>
      </dgm:prSet>
      <dgm:spPr/>
    </dgm:pt>
    <dgm:pt modelId="{32E315D9-AAF2-4645-B665-E82E61A139B8}" type="pres">
      <dgm:prSet presAssocID="{B3082C11-B153-4488-ADC8-2939BC7CFC4F}" presName="linNode" presStyleCnt="0"/>
      <dgm:spPr/>
    </dgm:pt>
    <dgm:pt modelId="{FB32828E-F1E5-41EB-BD05-04CC32180775}" type="pres">
      <dgm:prSet presAssocID="{B3082C11-B153-4488-ADC8-2939BC7CFC4F}" presName="parentText" presStyleLbl="node1" presStyleIdx="0" presStyleCnt="3">
        <dgm:presLayoutVars>
          <dgm:chMax val="1"/>
          <dgm:bulletEnabled val="1"/>
        </dgm:presLayoutVars>
      </dgm:prSet>
      <dgm:spPr/>
    </dgm:pt>
    <dgm:pt modelId="{42AA8A87-810A-47AD-AFF3-EA43EF8603F5}" type="pres">
      <dgm:prSet presAssocID="{B3082C11-B153-4488-ADC8-2939BC7CFC4F}" presName="descendantText" presStyleLbl="alignAccFollowNode1" presStyleIdx="0" presStyleCnt="3">
        <dgm:presLayoutVars>
          <dgm:bulletEnabled val="1"/>
        </dgm:presLayoutVars>
      </dgm:prSet>
      <dgm:spPr/>
    </dgm:pt>
    <dgm:pt modelId="{30CDD1FB-6684-4F5D-96D2-494CC27D4F76}" type="pres">
      <dgm:prSet presAssocID="{7550E368-7D43-4532-BEF7-3103E735886C}" presName="sp" presStyleCnt="0"/>
      <dgm:spPr/>
    </dgm:pt>
    <dgm:pt modelId="{078FBF56-6342-4127-8C3E-3067DCD2318B}" type="pres">
      <dgm:prSet presAssocID="{7EB905E0-1136-4F51-BB59-DB6452B4C97F}" presName="linNode" presStyleCnt="0"/>
      <dgm:spPr/>
    </dgm:pt>
    <dgm:pt modelId="{17DBC40D-E8A7-4CFD-8363-D9D28CAA3638}" type="pres">
      <dgm:prSet presAssocID="{7EB905E0-1136-4F51-BB59-DB6452B4C97F}" presName="parentText" presStyleLbl="node1" presStyleIdx="1" presStyleCnt="3">
        <dgm:presLayoutVars>
          <dgm:chMax val="1"/>
          <dgm:bulletEnabled val="1"/>
        </dgm:presLayoutVars>
      </dgm:prSet>
      <dgm:spPr/>
    </dgm:pt>
    <dgm:pt modelId="{EA204D05-8F05-4CE9-B01B-B48490A958DF}" type="pres">
      <dgm:prSet presAssocID="{7EB905E0-1136-4F51-BB59-DB6452B4C97F}" presName="descendantText" presStyleLbl="alignAccFollowNode1" presStyleIdx="1" presStyleCnt="3">
        <dgm:presLayoutVars>
          <dgm:bulletEnabled val="1"/>
        </dgm:presLayoutVars>
      </dgm:prSet>
      <dgm:spPr/>
    </dgm:pt>
    <dgm:pt modelId="{1F4C4972-42F8-4310-B4D2-B6A4E6C992E6}" type="pres">
      <dgm:prSet presAssocID="{8C8B2C11-0127-471D-8070-434D5517771D}" presName="sp" presStyleCnt="0"/>
      <dgm:spPr/>
    </dgm:pt>
    <dgm:pt modelId="{F209AE64-5151-4F7B-AE86-1A903E88FD27}" type="pres">
      <dgm:prSet presAssocID="{8976004A-01CC-400D-9B08-D9D718A84D0D}" presName="linNode" presStyleCnt="0"/>
      <dgm:spPr/>
    </dgm:pt>
    <dgm:pt modelId="{31B07EFC-AC5C-4275-B9AB-9D3816D05ADE}" type="pres">
      <dgm:prSet presAssocID="{8976004A-01CC-400D-9B08-D9D718A84D0D}" presName="parentText" presStyleLbl="node1" presStyleIdx="2" presStyleCnt="3">
        <dgm:presLayoutVars>
          <dgm:chMax val="1"/>
          <dgm:bulletEnabled val="1"/>
        </dgm:presLayoutVars>
      </dgm:prSet>
      <dgm:spPr/>
    </dgm:pt>
    <dgm:pt modelId="{A48B6553-0883-42DA-8712-75281ED78300}" type="pres">
      <dgm:prSet presAssocID="{8976004A-01CC-400D-9B08-D9D718A84D0D}" presName="descendantText" presStyleLbl="alignAccFollowNode1" presStyleIdx="2" presStyleCnt="3">
        <dgm:presLayoutVars>
          <dgm:bulletEnabled val="1"/>
        </dgm:presLayoutVars>
      </dgm:prSet>
      <dgm:spPr/>
    </dgm:pt>
  </dgm:ptLst>
  <dgm:cxnLst>
    <dgm:cxn modelId="{907CC304-C493-4CC6-BE55-C701E8882145}" type="presOf" srcId="{61BAC11F-C59A-4756-AE74-5211BA90F885}" destId="{EA204D05-8F05-4CE9-B01B-B48490A958DF}" srcOrd="0" destOrd="2" presId="urn:microsoft.com/office/officeart/2005/8/layout/vList5"/>
    <dgm:cxn modelId="{4BFA6B05-22C4-4C56-BFE2-F9F6FCAA4FE0}" type="presOf" srcId="{4ACBCDA9-75A4-46B0-9493-B5389D7C6CB1}" destId="{A48B6553-0883-42DA-8712-75281ED78300}" srcOrd="0" destOrd="1" presId="urn:microsoft.com/office/officeart/2005/8/layout/vList5"/>
    <dgm:cxn modelId="{87979E0A-0A1B-4C1C-9F15-55DA84FE2D91}" srcId="{55E48D4C-8747-430C-A790-BE8B24D44DA4}" destId="{8976004A-01CC-400D-9B08-D9D718A84D0D}" srcOrd="2" destOrd="0" parTransId="{071548D3-E58A-4909-A172-AF0982A67E44}" sibTransId="{8839A338-FE47-48E6-9664-8006EDA004CB}"/>
    <dgm:cxn modelId="{083B5710-E195-4B46-AAC8-B48659392B35}" type="presOf" srcId="{7EB905E0-1136-4F51-BB59-DB6452B4C97F}" destId="{17DBC40D-E8A7-4CFD-8363-D9D28CAA3638}" srcOrd="0" destOrd="0" presId="urn:microsoft.com/office/officeart/2005/8/layout/vList5"/>
    <dgm:cxn modelId="{550DB33D-9F25-42DA-BC3C-E11B38D44398}" type="presOf" srcId="{8976004A-01CC-400D-9B08-D9D718A84D0D}" destId="{31B07EFC-AC5C-4275-B9AB-9D3816D05ADE}" srcOrd="0" destOrd="0" presId="urn:microsoft.com/office/officeart/2005/8/layout/vList5"/>
    <dgm:cxn modelId="{BBC8B961-A8FA-4125-A827-9EE846464A43}" type="presOf" srcId="{4861D693-05B0-4242-B17D-F47B04D1657D}" destId="{42AA8A87-810A-47AD-AFF3-EA43EF8603F5}" srcOrd="0" destOrd="1" presId="urn:microsoft.com/office/officeart/2005/8/layout/vList5"/>
    <dgm:cxn modelId="{E4AC8647-BE94-4557-9E4D-E688AF278AA7}" type="presOf" srcId="{B3082C11-B153-4488-ADC8-2939BC7CFC4F}" destId="{FB32828E-F1E5-41EB-BD05-04CC32180775}" srcOrd="0" destOrd="0" presId="urn:microsoft.com/office/officeart/2005/8/layout/vList5"/>
    <dgm:cxn modelId="{D816274D-969A-4263-BCCB-A4EE2ED7A4F2}" srcId="{B3082C11-B153-4488-ADC8-2939BC7CFC4F}" destId="{79AD427A-A4ED-4043-B4AB-1DA76EE05B8C}" srcOrd="0" destOrd="0" parTransId="{72F68E84-9547-457B-A925-6557101B15BD}" sibTransId="{80153CCD-353C-4FAF-B983-4593D22E20AC}"/>
    <dgm:cxn modelId="{0ABAC971-2EF9-4C24-9798-172C62944B55}" srcId="{B3082C11-B153-4488-ADC8-2939BC7CFC4F}" destId="{4861D693-05B0-4242-B17D-F47B04D1657D}" srcOrd="1" destOrd="0" parTransId="{AE1547D3-39F6-4E0E-81CF-3C7FCB93DB67}" sibTransId="{2365EE9A-BFD1-41FF-9248-FE991CC2B799}"/>
    <dgm:cxn modelId="{EF61B873-D054-4B89-8F55-364903243E28}" type="presOf" srcId="{B065F0BF-E7D8-4EE0-AFB9-05D33F5AFA76}" destId="{EA204D05-8F05-4CE9-B01B-B48490A958DF}" srcOrd="0" destOrd="1" presId="urn:microsoft.com/office/officeart/2005/8/layout/vList5"/>
    <dgm:cxn modelId="{075F0B80-D084-4C55-9F1B-55F4D357700A}" type="presOf" srcId="{5AB52901-9684-4B26-A172-D7EB2AF089E1}" destId="{A48B6553-0883-42DA-8712-75281ED78300}" srcOrd="0" destOrd="0" presId="urn:microsoft.com/office/officeart/2005/8/layout/vList5"/>
    <dgm:cxn modelId="{5990B285-8128-40C2-B2A1-88A4AAC63312}" srcId="{7EB905E0-1136-4F51-BB59-DB6452B4C97F}" destId="{B065F0BF-E7D8-4EE0-AFB9-05D33F5AFA76}" srcOrd="1" destOrd="0" parTransId="{2751BD2C-BBCD-4552-93B7-1FB6ED911D37}" sibTransId="{C01F26A8-7C77-43ED-96C5-4CD28F9CDB37}"/>
    <dgm:cxn modelId="{EEADEE9E-C6E7-48DA-A67E-E72F81FBC6C3}" type="presOf" srcId="{67122234-C486-472E-9A73-197E777A239D}" destId="{EA204D05-8F05-4CE9-B01B-B48490A958DF}" srcOrd="0" destOrd="0" presId="urn:microsoft.com/office/officeart/2005/8/layout/vList5"/>
    <dgm:cxn modelId="{091D79B2-0137-4347-B369-E0D5505803C7}" srcId="{8976004A-01CC-400D-9B08-D9D718A84D0D}" destId="{5AB52901-9684-4B26-A172-D7EB2AF089E1}" srcOrd="0" destOrd="0" parTransId="{A23F35F9-5826-439B-9E10-46B6AE2AAB09}" sibTransId="{462B6851-9627-496F-8708-C550F159DC79}"/>
    <dgm:cxn modelId="{985406B3-D98A-4B22-B792-DAE28ADF8E96}" srcId="{55E48D4C-8747-430C-A790-BE8B24D44DA4}" destId="{7EB905E0-1136-4F51-BB59-DB6452B4C97F}" srcOrd="1" destOrd="0" parTransId="{DAE2D588-07F8-4A39-B8EE-9856C1AE8203}" sibTransId="{8C8B2C11-0127-471D-8070-434D5517771D}"/>
    <dgm:cxn modelId="{A5AF33C1-9BB1-4F59-8217-9A11B1E76301}" srcId="{8976004A-01CC-400D-9B08-D9D718A84D0D}" destId="{4ACBCDA9-75A4-46B0-9493-B5389D7C6CB1}" srcOrd="1" destOrd="0" parTransId="{249DBB59-4B4C-4A77-B49B-221A13DDCE9F}" sibTransId="{F7D86597-2E4B-4B9C-99F0-60E10BA1FEE7}"/>
    <dgm:cxn modelId="{94C907D0-AB23-4376-84EE-5AFBDE51A2C7}" srcId="{55E48D4C-8747-430C-A790-BE8B24D44DA4}" destId="{B3082C11-B153-4488-ADC8-2939BC7CFC4F}" srcOrd="0" destOrd="0" parTransId="{F5E3A289-D4F6-47C2-81BF-F9A6DB283E5C}" sibTransId="{7550E368-7D43-4532-BEF7-3103E735886C}"/>
    <dgm:cxn modelId="{F09E01D2-53FB-4BA4-B333-41536CD323D2}" srcId="{7EB905E0-1136-4F51-BB59-DB6452B4C97F}" destId="{67122234-C486-472E-9A73-197E777A239D}" srcOrd="0" destOrd="0" parTransId="{C8AB0236-8EF5-4B02-B590-0CA79E674331}" sibTransId="{4F6954CE-2E98-43AD-BD00-557ADD318742}"/>
    <dgm:cxn modelId="{344AA7DC-D606-4847-8EE9-343E6A24CDD9}" type="presOf" srcId="{79AD427A-A4ED-4043-B4AB-1DA76EE05B8C}" destId="{42AA8A87-810A-47AD-AFF3-EA43EF8603F5}" srcOrd="0" destOrd="0" presId="urn:microsoft.com/office/officeart/2005/8/layout/vList5"/>
    <dgm:cxn modelId="{6D0E6AE8-A42A-4BDC-83DE-063E0E39444E}" srcId="{7EB905E0-1136-4F51-BB59-DB6452B4C97F}" destId="{61BAC11F-C59A-4756-AE74-5211BA90F885}" srcOrd="2" destOrd="0" parTransId="{2E2C0F8D-010D-44C0-BDC5-589C5DFCD404}" sibTransId="{A6736242-6B07-4FED-A116-28F5F507CD5F}"/>
    <dgm:cxn modelId="{505FB6EC-9F7A-4758-813D-211337919B4A}" type="presOf" srcId="{55E48D4C-8747-430C-A790-BE8B24D44DA4}" destId="{20875550-52FC-4B51-A61C-4A824F914C05}" srcOrd="0" destOrd="0" presId="urn:microsoft.com/office/officeart/2005/8/layout/vList5"/>
    <dgm:cxn modelId="{3B364BDF-02A0-44BA-AD79-BF9ABD58D71B}" type="presParOf" srcId="{20875550-52FC-4B51-A61C-4A824F914C05}" destId="{32E315D9-AAF2-4645-B665-E82E61A139B8}" srcOrd="0" destOrd="0" presId="urn:microsoft.com/office/officeart/2005/8/layout/vList5"/>
    <dgm:cxn modelId="{A8644074-0CA7-44D2-BE86-A84244B0E18A}" type="presParOf" srcId="{32E315D9-AAF2-4645-B665-E82E61A139B8}" destId="{FB32828E-F1E5-41EB-BD05-04CC32180775}" srcOrd="0" destOrd="0" presId="urn:microsoft.com/office/officeart/2005/8/layout/vList5"/>
    <dgm:cxn modelId="{BEEB04AB-119E-40A9-8815-6666AE06BBF3}" type="presParOf" srcId="{32E315D9-AAF2-4645-B665-E82E61A139B8}" destId="{42AA8A87-810A-47AD-AFF3-EA43EF8603F5}" srcOrd="1" destOrd="0" presId="urn:microsoft.com/office/officeart/2005/8/layout/vList5"/>
    <dgm:cxn modelId="{BF856A16-E2EC-4695-8858-292294C59336}" type="presParOf" srcId="{20875550-52FC-4B51-A61C-4A824F914C05}" destId="{30CDD1FB-6684-4F5D-96D2-494CC27D4F76}" srcOrd="1" destOrd="0" presId="urn:microsoft.com/office/officeart/2005/8/layout/vList5"/>
    <dgm:cxn modelId="{A1AA4A9C-1BA3-46AA-A936-0E106E5778D5}" type="presParOf" srcId="{20875550-52FC-4B51-A61C-4A824F914C05}" destId="{078FBF56-6342-4127-8C3E-3067DCD2318B}" srcOrd="2" destOrd="0" presId="urn:microsoft.com/office/officeart/2005/8/layout/vList5"/>
    <dgm:cxn modelId="{AA385B3E-BB7A-472F-A9F6-1020295D9F5C}" type="presParOf" srcId="{078FBF56-6342-4127-8C3E-3067DCD2318B}" destId="{17DBC40D-E8A7-4CFD-8363-D9D28CAA3638}" srcOrd="0" destOrd="0" presId="urn:microsoft.com/office/officeart/2005/8/layout/vList5"/>
    <dgm:cxn modelId="{DFF3F2F6-5A64-47CC-8F97-9691536E74E1}" type="presParOf" srcId="{078FBF56-6342-4127-8C3E-3067DCD2318B}" destId="{EA204D05-8F05-4CE9-B01B-B48490A958DF}" srcOrd="1" destOrd="0" presId="urn:microsoft.com/office/officeart/2005/8/layout/vList5"/>
    <dgm:cxn modelId="{2FBE46B9-0160-4C11-A465-50C3389D7305}" type="presParOf" srcId="{20875550-52FC-4B51-A61C-4A824F914C05}" destId="{1F4C4972-42F8-4310-B4D2-B6A4E6C992E6}" srcOrd="3" destOrd="0" presId="urn:microsoft.com/office/officeart/2005/8/layout/vList5"/>
    <dgm:cxn modelId="{37CD6EB2-F72C-433D-B4AF-A677EF686843}" type="presParOf" srcId="{20875550-52FC-4B51-A61C-4A824F914C05}" destId="{F209AE64-5151-4F7B-AE86-1A903E88FD27}" srcOrd="4" destOrd="0" presId="urn:microsoft.com/office/officeart/2005/8/layout/vList5"/>
    <dgm:cxn modelId="{A27771DF-490B-4206-A821-231CFD1113DB}" type="presParOf" srcId="{F209AE64-5151-4F7B-AE86-1A903E88FD27}" destId="{31B07EFC-AC5C-4275-B9AB-9D3816D05ADE}" srcOrd="0" destOrd="0" presId="urn:microsoft.com/office/officeart/2005/8/layout/vList5"/>
    <dgm:cxn modelId="{5C566925-8E35-4FE5-9119-391E6DD1883B}" type="presParOf" srcId="{F209AE64-5151-4F7B-AE86-1A903E88FD27}" destId="{A48B6553-0883-42DA-8712-75281ED78300}"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54D12FA-11C1-4FAF-85C7-2C44F38A11AB}" type="doc">
      <dgm:prSet loTypeId="urn:microsoft.com/office/officeart/2005/8/layout/default" loCatId="list" qsTypeId="urn:microsoft.com/office/officeart/2005/8/quickstyle/3d1" qsCatId="3D" csTypeId="urn:microsoft.com/office/officeart/2005/8/colors/colorful3" csCatId="colorful" phldr="1"/>
      <dgm:spPr/>
      <dgm:t>
        <a:bodyPr/>
        <a:lstStyle/>
        <a:p>
          <a:endParaRPr lang="en-GB"/>
        </a:p>
      </dgm:t>
    </dgm:pt>
    <dgm:pt modelId="{9A694E32-E36B-4496-9F1D-0F38E44B2416}">
      <dgm:prSet phldrT="[Text]"/>
      <dgm:spPr/>
      <dgm:t>
        <a:bodyPr/>
        <a:lstStyle/>
        <a:p>
          <a:r>
            <a:rPr lang="en-US" dirty="0"/>
            <a:t>Difficulties in Measuring Earnings:</a:t>
          </a:r>
          <a:br>
            <a:rPr lang="en-US" dirty="0"/>
          </a:br>
          <a:r>
            <a:rPr lang="en-US" dirty="0"/>
            <a:t>From Reported to Actual Earnings</a:t>
          </a:r>
          <a:endParaRPr lang="en-GB" dirty="0"/>
        </a:p>
      </dgm:t>
    </dgm:pt>
    <dgm:pt modelId="{EEA1F730-54BE-4FC2-A9BA-855034285F9F}" type="parTrans" cxnId="{9AFC99AD-4284-403B-B04A-762AF0FD83E8}">
      <dgm:prSet/>
      <dgm:spPr/>
      <dgm:t>
        <a:bodyPr/>
        <a:lstStyle/>
        <a:p>
          <a:endParaRPr lang="en-GB"/>
        </a:p>
      </dgm:t>
    </dgm:pt>
    <dgm:pt modelId="{914203F3-4BC0-4031-8A93-BEF9981840BB}" type="sibTrans" cxnId="{9AFC99AD-4284-403B-B04A-762AF0FD83E8}">
      <dgm:prSet/>
      <dgm:spPr/>
      <dgm:t>
        <a:bodyPr/>
        <a:lstStyle/>
        <a:p>
          <a:endParaRPr lang="en-GB"/>
        </a:p>
      </dgm:t>
    </dgm:pt>
    <dgm:pt modelId="{55D12898-32D4-4B85-BD8A-25306D72D22E}" type="pres">
      <dgm:prSet presAssocID="{F54D12FA-11C1-4FAF-85C7-2C44F38A11AB}" presName="diagram" presStyleCnt="0">
        <dgm:presLayoutVars>
          <dgm:dir/>
          <dgm:resizeHandles val="exact"/>
        </dgm:presLayoutVars>
      </dgm:prSet>
      <dgm:spPr/>
    </dgm:pt>
    <dgm:pt modelId="{BE2B58DD-D748-4CDE-A7FD-B91DEC218CF2}" type="pres">
      <dgm:prSet presAssocID="{9A694E32-E36B-4496-9F1D-0F38E44B2416}" presName="node" presStyleLbl="node1" presStyleIdx="0" presStyleCnt="1" custScaleX="266229" custLinFactNeighborX="388" custLinFactNeighborY="-2911">
        <dgm:presLayoutVars>
          <dgm:bulletEnabled val="1"/>
        </dgm:presLayoutVars>
      </dgm:prSet>
      <dgm:spPr/>
    </dgm:pt>
  </dgm:ptLst>
  <dgm:cxnLst>
    <dgm:cxn modelId="{48B9B532-54AC-44F5-AC45-183620FA24A9}" type="presOf" srcId="{9A694E32-E36B-4496-9F1D-0F38E44B2416}" destId="{BE2B58DD-D748-4CDE-A7FD-B91DEC218CF2}" srcOrd="0" destOrd="0" presId="urn:microsoft.com/office/officeart/2005/8/layout/default"/>
    <dgm:cxn modelId="{BF5AB9A2-52A7-4705-BF9F-35E688A882E8}" type="presOf" srcId="{F54D12FA-11C1-4FAF-85C7-2C44F38A11AB}" destId="{55D12898-32D4-4B85-BD8A-25306D72D22E}" srcOrd="0" destOrd="0" presId="urn:microsoft.com/office/officeart/2005/8/layout/default"/>
    <dgm:cxn modelId="{9AFC99AD-4284-403B-B04A-762AF0FD83E8}" srcId="{F54D12FA-11C1-4FAF-85C7-2C44F38A11AB}" destId="{9A694E32-E36B-4496-9F1D-0F38E44B2416}" srcOrd="0" destOrd="0" parTransId="{EEA1F730-54BE-4FC2-A9BA-855034285F9F}" sibTransId="{914203F3-4BC0-4031-8A93-BEF9981840BB}"/>
    <dgm:cxn modelId="{F3C771A5-9C42-48A9-8FF9-CFDA7E875F0C}" type="presParOf" srcId="{55D12898-32D4-4B85-BD8A-25306D72D22E}" destId="{BE2B58DD-D748-4CDE-A7FD-B91DEC218CF2}" srcOrd="0" destOrd="0" presId="urn:microsoft.com/office/officeart/2005/8/layout/defaul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B1EC37C-AC6F-43D4-9BC3-108B93167AAA}" type="doc">
      <dgm:prSet loTypeId="urn:microsoft.com/office/officeart/2005/8/layout/lProcess2" loCatId="list" qsTypeId="urn:microsoft.com/office/officeart/2005/8/quickstyle/simple1" qsCatId="simple" csTypeId="urn:microsoft.com/office/officeart/2005/8/colors/accent1_2" csCatId="accent1"/>
      <dgm:spPr/>
      <dgm:t>
        <a:bodyPr/>
        <a:lstStyle/>
        <a:p>
          <a:endParaRPr lang="en-US"/>
        </a:p>
      </dgm:t>
    </dgm:pt>
    <dgm:pt modelId="{3BA7967A-2F9C-46BB-9C54-08C5E1EE8D8C}">
      <dgm:prSet/>
      <dgm:spPr/>
      <dgm:t>
        <a:bodyPr/>
        <a:lstStyle/>
        <a:p>
          <a:pPr rtl="0"/>
          <a:r>
            <a:rPr lang="en-GB"/>
            <a:t>I believe it is temporary</a:t>
          </a:r>
          <a:endParaRPr lang="en-US"/>
        </a:p>
      </dgm:t>
    </dgm:pt>
    <dgm:pt modelId="{52E9B3E4-D229-45BE-A103-FDE8BC5A4678}" type="parTrans" cxnId="{97D081F6-5716-4E90-A2C0-241204ACE7BF}">
      <dgm:prSet/>
      <dgm:spPr/>
      <dgm:t>
        <a:bodyPr/>
        <a:lstStyle/>
        <a:p>
          <a:endParaRPr lang="en-US"/>
        </a:p>
      </dgm:t>
    </dgm:pt>
    <dgm:pt modelId="{134CFDBB-B10B-4D25-8B74-59AA6CE118E3}" type="sibTrans" cxnId="{97D081F6-5716-4E90-A2C0-241204ACE7BF}">
      <dgm:prSet/>
      <dgm:spPr/>
      <dgm:t>
        <a:bodyPr/>
        <a:lstStyle/>
        <a:p>
          <a:endParaRPr lang="en-US"/>
        </a:p>
      </dgm:t>
    </dgm:pt>
    <dgm:pt modelId="{B959A801-1548-4214-B4A6-DC5967BA3AAE}">
      <dgm:prSet/>
      <dgm:spPr/>
      <dgm:t>
        <a:bodyPr/>
        <a:lstStyle/>
        <a:p>
          <a:pPr rtl="0"/>
          <a:r>
            <a:rPr lang="en-GB" u="sng"/>
            <a:t>Average Earnings</a:t>
          </a:r>
          <a:r>
            <a:rPr lang="en-GB"/>
            <a:t> if size is stable</a:t>
          </a:r>
          <a:endParaRPr lang="en-US"/>
        </a:p>
      </dgm:t>
    </dgm:pt>
    <dgm:pt modelId="{9F84F447-C49B-42BD-9A85-348A2BF56EA6}" type="parTrans" cxnId="{95C21F5D-C008-4D9E-8449-C68DA8843DBF}">
      <dgm:prSet/>
      <dgm:spPr/>
      <dgm:t>
        <a:bodyPr/>
        <a:lstStyle/>
        <a:p>
          <a:endParaRPr lang="en-US"/>
        </a:p>
      </dgm:t>
    </dgm:pt>
    <dgm:pt modelId="{7627AB74-F22C-416E-818A-7557091AF23F}" type="sibTrans" cxnId="{95C21F5D-C008-4D9E-8449-C68DA8843DBF}">
      <dgm:prSet/>
      <dgm:spPr/>
      <dgm:t>
        <a:bodyPr/>
        <a:lstStyle/>
        <a:p>
          <a:endParaRPr lang="en-US"/>
        </a:p>
      </dgm:t>
    </dgm:pt>
    <mc:AlternateContent xmlns:mc="http://schemas.openxmlformats.org/markup-compatibility/2006" xmlns:a14="http://schemas.microsoft.com/office/drawing/2010/main">
      <mc:Choice Requires="a14">
        <dgm:pt modelId="{33007692-595D-4B26-BE92-3EDA9F2995D5}">
          <dgm:prSet/>
          <dgm:spPr/>
          <dgm:t>
            <a:bodyPr/>
            <a:lstStyle/>
            <a:p>
              <a:pPr rtl="0"/>
              <a:r>
                <a:rPr lang="en-GB"/>
                <a:t>ROE or ROC: </a:t>
              </a:r>
              <a14:m>
                <m:oMath xmlns:m="http://schemas.openxmlformats.org/officeDocument/2006/math">
                  <m:sSub>
                    <m:sSubPr>
                      <m:ctrlPr>
                        <a:rPr lang="en-GB" b="0" i="1">
                          <a:latin typeface="Cambria Math" panose="02040503050406030204" pitchFamily="18" charset="0"/>
                        </a:rPr>
                      </m:ctrlPr>
                    </m:sSubPr>
                    <m:e>
                      <m:r>
                        <a:rPr lang="en-GB" b="0" i="1">
                          <a:latin typeface="Cambria Math" panose="02040503050406030204" pitchFamily="18" charset="0"/>
                        </a:rPr>
                        <m:t>𝐸𝑎𝑟𝑛𝑖𝑛𝑔𝑠</m:t>
                      </m:r>
                    </m:e>
                    <m:sub>
                      <m:r>
                        <a:rPr lang="en-GB" b="0" i="1">
                          <a:latin typeface="Cambria Math" panose="02040503050406030204" pitchFamily="18" charset="0"/>
                        </a:rPr>
                        <m:t>𝑡</m:t>
                      </m:r>
                    </m:sub>
                  </m:sSub>
                  <m:r>
                    <a:rPr lang="en-GB" b="0" i="1">
                      <a:latin typeface="Cambria Math" panose="02040503050406030204" pitchFamily="18" charset="0"/>
                    </a:rPr>
                    <m:t>=</m:t>
                  </m:r>
                  <m:sSub>
                    <m:sSubPr>
                      <m:ctrlPr>
                        <a:rPr lang="en-GB" b="0" i="1">
                          <a:latin typeface="Cambria Math" panose="02040503050406030204" pitchFamily="18" charset="0"/>
                        </a:rPr>
                      </m:ctrlPr>
                    </m:sSubPr>
                    <m:e>
                      <m:r>
                        <a:rPr lang="en-GB" b="0" i="1">
                          <a:latin typeface="Cambria Math" panose="02040503050406030204" pitchFamily="18" charset="0"/>
                        </a:rPr>
                        <m:t>𝑅𝑂𝐸</m:t>
                      </m:r>
                    </m:e>
                    <m:sub>
                      <m:r>
                        <a:rPr lang="en-GB" b="0" i="1">
                          <a:latin typeface="Cambria Math" panose="02040503050406030204" pitchFamily="18" charset="0"/>
                        </a:rPr>
                        <m:t>𝑟𝑒𝑓𝑒𝑟𝑒𝑛𝑒</m:t>
                      </m:r>
                    </m:sub>
                  </m:sSub>
                  <m:r>
                    <a:rPr lang="en-GB" b="0"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𝐸𝑞𝑢𝑖𝑡𝑦</m:t>
                      </m:r>
                    </m:e>
                    <m:sub>
                      <m:r>
                        <a:rPr lang="en-GB" b="0" i="1">
                          <a:latin typeface="Cambria Math" panose="02040503050406030204" pitchFamily="18" charset="0"/>
                        </a:rPr>
                        <m:t>𝑡</m:t>
                      </m:r>
                    </m:sub>
                  </m:sSub>
                </m:oMath>
              </a14:m>
              <a:r>
                <a:rPr lang="en-US"/>
                <a:t> if size is not stable</a:t>
              </a:r>
            </a:p>
          </dgm:t>
        </dgm:pt>
      </mc:Choice>
      <mc:Fallback xmlns="">
        <dgm:pt modelId="{33007692-595D-4B26-BE92-3EDA9F2995D5}">
          <dgm:prSet/>
          <dgm:spPr/>
          <dgm:t>
            <a:bodyPr/>
            <a:lstStyle/>
            <a:p>
              <a:pPr rtl="0"/>
              <a:r>
                <a:rPr lang="en-GB" smtClean="0"/>
                <a:t>ROE or ROC: </a:t>
              </a:r>
              <a:r>
                <a:rPr lang="en-GB" i="0"/>
                <a:t>〖</a:t>
              </a:r>
              <a:r>
                <a:rPr lang="en-GB" b="0" i="0"/>
                <a:t>𝐸𝑎𝑟𝑛𝑖𝑛𝑔𝑠〗_𝑡=〖𝑅𝑂𝐸〗_𝑟𝑒𝑓𝑒𝑟𝑒𝑛𝑒∗〖</a:t>
              </a:r>
              <a:r>
                <a:rPr lang="en-GB" i="0"/>
                <a:t>𝐸𝑞𝑢𝑖𝑡𝑦</a:t>
              </a:r>
              <a:r>
                <a:rPr lang="en-GB" b="0" i="0"/>
                <a:t>〗_𝑡</a:t>
              </a:r>
              <a:r>
                <a:rPr lang="en-US"/>
                <a:t> if size is not stable</a:t>
              </a:r>
            </a:p>
          </dgm:t>
        </dgm:pt>
      </mc:Fallback>
    </mc:AlternateContent>
    <dgm:pt modelId="{E927154F-4CD1-4923-B631-F5D704AAB6DE}" type="parTrans" cxnId="{F3E4F69C-6801-4CF3-A8CF-C625189A51E2}">
      <dgm:prSet/>
      <dgm:spPr/>
      <dgm:t>
        <a:bodyPr/>
        <a:lstStyle/>
        <a:p>
          <a:endParaRPr lang="en-US"/>
        </a:p>
      </dgm:t>
    </dgm:pt>
    <dgm:pt modelId="{DECADB53-F31D-4254-A68C-2D7F4F60175B}" type="sibTrans" cxnId="{F3E4F69C-6801-4CF3-A8CF-C625189A51E2}">
      <dgm:prSet/>
      <dgm:spPr/>
      <dgm:t>
        <a:bodyPr/>
        <a:lstStyle/>
        <a:p>
          <a:endParaRPr lang="en-US"/>
        </a:p>
      </dgm:t>
    </dgm:pt>
    <dgm:pt modelId="{F1780389-7C59-412B-977F-F05013AF62EB}">
      <dgm:prSet/>
      <dgm:spPr/>
      <dgm:t>
        <a:bodyPr/>
        <a:lstStyle/>
        <a:p>
          <a:pPr rtl="0"/>
          <a:r>
            <a:rPr lang="en-GB"/>
            <a:t>I believe it is not temporary </a:t>
          </a:r>
          <a:r>
            <a:rPr lang="en-GB">
              <a:sym typeface="Wingdings" panose="05000000000000000000" pitchFamily="2" charset="2"/>
            </a:rPr>
            <a:t></a:t>
          </a:r>
          <a:r>
            <a:rPr lang="en-GB"/>
            <a:t> Explicit Cash Flows</a:t>
          </a:r>
          <a:endParaRPr lang="en-US"/>
        </a:p>
      </dgm:t>
    </dgm:pt>
    <dgm:pt modelId="{ACD02DE7-FAAA-4CDE-B2E2-3AD1F3939D11}" type="parTrans" cxnId="{5F1DC073-1319-4649-8E0A-D0BDB9377249}">
      <dgm:prSet/>
      <dgm:spPr/>
      <dgm:t>
        <a:bodyPr/>
        <a:lstStyle/>
        <a:p>
          <a:endParaRPr lang="en-US"/>
        </a:p>
      </dgm:t>
    </dgm:pt>
    <dgm:pt modelId="{CB27307F-459F-41E9-B396-2D5A85D41CC3}" type="sibTrans" cxnId="{5F1DC073-1319-4649-8E0A-D0BDB9377249}">
      <dgm:prSet/>
      <dgm:spPr/>
      <dgm:t>
        <a:bodyPr/>
        <a:lstStyle/>
        <a:p>
          <a:endParaRPr lang="en-US"/>
        </a:p>
      </dgm:t>
    </dgm:pt>
    <dgm:pt modelId="{3D09A9A5-66C7-4FFC-94EC-14BCA5E2E820}">
      <dgm:prSet/>
      <dgm:spPr/>
      <dgm:t>
        <a:bodyPr/>
        <a:lstStyle/>
        <a:p>
          <a:pPr rtl="0"/>
          <a:r>
            <a:rPr lang="en-GB" u="sng"/>
            <a:t>Target Profit Margin</a:t>
          </a:r>
          <a:r>
            <a:rPr lang="en-GB"/>
            <a:t>: if the problem is Structural</a:t>
          </a:r>
          <a:endParaRPr lang="en-US"/>
        </a:p>
      </dgm:t>
    </dgm:pt>
    <dgm:pt modelId="{E04B3401-9C8B-4A27-B401-2052312C4F3C}" type="parTrans" cxnId="{329FB2DE-9C31-41D8-AD6E-320852BB4E27}">
      <dgm:prSet/>
      <dgm:spPr/>
      <dgm:t>
        <a:bodyPr/>
        <a:lstStyle/>
        <a:p>
          <a:endParaRPr lang="en-US"/>
        </a:p>
      </dgm:t>
    </dgm:pt>
    <dgm:pt modelId="{0253988F-2FC5-4570-A2D3-3048C88EF050}" type="sibTrans" cxnId="{329FB2DE-9C31-41D8-AD6E-320852BB4E27}">
      <dgm:prSet/>
      <dgm:spPr/>
      <dgm:t>
        <a:bodyPr/>
        <a:lstStyle/>
        <a:p>
          <a:endParaRPr lang="en-US"/>
        </a:p>
      </dgm:t>
    </dgm:pt>
    <dgm:pt modelId="{21C28BB0-69BF-4AF5-9E72-15DA605BB94F}">
      <dgm:prSet/>
      <dgm:spPr/>
      <dgm:t>
        <a:bodyPr/>
        <a:lstStyle/>
        <a:p>
          <a:pPr rtl="0"/>
          <a:r>
            <a:rPr lang="en-GB" u="sng"/>
            <a:t>Target Debt Ratio</a:t>
          </a:r>
          <a:r>
            <a:rPr lang="en-GB"/>
            <a:t>: if Leverage is the problem</a:t>
          </a:r>
          <a:endParaRPr lang="en-US"/>
        </a:p>
      </dgm:t>
    </dgm:pt>
    <dgm:pt modelId="{8CD8B7F4-8488-49DD-98D4-4FC0652004E1}" type="parTrans" cxnId="{4E8E9528-1BF7-4A56-9A3B-0F0E9A4FEA23}">
      <dgm:prSet/>
      <dgm:spPr/>
      <dgm:t>
        <a:bodyPr/>
        <a:lstStyle/>
        <a:p>
          <a:endParaRPr lang="en-US"/>
        </a:p>
      </dgm:t>
    </dgm:pt>
    <dgm:pt modelId="{D0373309-7FE3-4162-B9E8-62BD635FCB77}" type="sibTrans" cxnId="{4E8E9528-1BF7-4A56-9A3B-0F0E9A4FEA23}">
      <dgm:prSet/>
      <dgm:spPr/>
      <dgm:t>
        <a:bodyPr/>
        <a:lstStyle/>
        <a:p>
          <a:endParaRPr lang="en-US"/>
        </a:p>
      </dgm:t>
    </dgm:pt>
    <dgm:pt modelId="{A7F6BA11-F5AB-4035-B710-D89ED30D9C9E}">
      <dgm:prSet/>
      <dgm:spPr/>
      <dgm:t>
        <a:bodyPr/>
        <a:lstStyle/>
        <a:p>
          <a:pPr rtl="0"/>
          <a:r>
            <a:rPr lang="en-GB" u="sng"/>
            <a:t>Industry Profit margin</a:t>
          </a:r>
          <a:r>
            <a:rPr lang="en-GB"/>
            <a:t>: if there are operating problems</a:t>
          </a:r>
          <a:endParaRPr lang="en-US"/>
        </a:p>
      </dgm:t>
    </dgm:pt>
    <dgm:pt modelId="{573087B8-BE90-45FA-94D7-A63B628CDAFC}" type="parTrans" cxnId="{93BF1EFD-81F5-4419-BB7A-EB716B41E8EA}">
      <dgm:prSet/>
      <dgm:spPr/>
      <dgm:t>
        <a:bodyPr/>
        <a:lstStyle/>
        <a:p>
          <a:endParaRPr lang="en-US"/>
        </a:p>
      </dgm:t>
    </dgm:pt>
    <dgm:pt modelId="{78C9E0C5-C002-43E7-A13A-E228AB68EFCB}" type="sibTrans" cxnId="{93BF1EFD-81F5-4419-BB7A-EB716B41E8EA}">
      <dgm:prSet/>
      <dgm:spPr/>
      <dgm:t>
        <a:bodyPr/>
        <a:lstStyle/>
        <a:p>
          <a:endParaRPr lang="en-US"/>
        </a:p>
      </dgm:t>
    </dgm:pt>
    <dgm:pt modelId="{E8C30FCE-CE7C-4AD8-9BCD-825EEED4C828}" type="pres">
      <dgm:prSet presAssocID="{4B1EC37C-AC6F-43D4-9BC3-108B93167AAA}" presName="theList" presStyleCnt="0">
        <dgm:presLayoutVars>
          <dgm:dir/>
          <dgm:animLvl val="lvl"/>
          <dgm:resizeHandles val="exact"/>
        </dgm:presLayoutVars>
      </dgm:prSet>
      <dgm:spPr/>
    </dgm:pt>
    <dgm:pt modelId="{35A38986-204B-4BF6-A1F1-FC40F1980C29}" type="pres">
      <dgm:prSet presAssocID="{3BA7967A-2F9C-46BB-9C54-08C5E1EE8D8C}" presName="compNode" presStyleCnt="0"/>
      <dgm:spPr/>
    </dgm:pt>
    <dgm:pt modelId="{70F1434D-4C55-43C5-916D-C11F3465DE30}" type="pres">
      <dgm:prSet presAssocID="{3BA7967A-2F9C-46BB-9C54-08C5E1EE8D8C}" presName="aNode" presStyleLbl="bgShp" presStyleIdx="0" presStyleCnt="2"/>
      <dgm:spPr/>
    </dgm:pt>
    <dgm:pt modelId="{11B1F96E-8E61-4B27-B77D-6A6B8223FEA6}" type="pres">
      <dgm:prSet presAssocID="{3BA7967A-2F9C-46BB-9C54-08C5E1EE8D8C}" presName="textNode" presStyleLbl="bgShp" presStyleIdx="0" presStyleCnt="2"/>
      <dgm:spPr/>
    </dgm:pt>
    <dgm:pt modelId="{C8095CAE-DF12-4C6B-A8A8-7986D6C2C4B5}" type="pres">
      <dgm:prSet presAssocID="{3BA7967A-2F9C-46BB-9C54-08C5E1EE8D8C}" presName="compChildNode" presStyleCnt="0"/>
      <dgm:spPr/>
    </dgm:pt>
    <dgm:pt modelId="{D2569D08-44C5-43F2-9B3D-BE717B4F4A62}" type="pres">
      <dgm:prSet presAssocID="{3BA7967A-2F9C-46BB-9C54-08C5E1EE8D8C}" presName="theInnerList" presStyleCnt="0"/>
      <dgm:spPr/>
    </dgm:pt>
    <dgm:pt modelId="{F49C4B54-0FDA-4577-A9DD-826FDB571F7B}" type="pres">
      <dgm:prSet presAssocID="{B959A801-1548-4214-B4A6-DC5967BA3AAE}" presName="childNode" presStyleLbl="node1" presStyleIdx="0" presStyleCnt="5">
        <dgm:presLayoutVars>
          <dgm:bulletEnabled val="1"/>
        </dgm:presLayoutVars>
      </dgm:prSet>
      <dgm:spPr/>
    </dgm:pt>
    <dgm:pt modelId="{0C4E53B4-D7D4-4410-BFCB-23A256F670D9}" type="pres">
      <dgm:prSet presAssocID="{B959A801-1548-4214-B4A6-DC5967BA3AAE}" presName="aSpace2" presStyleCnt="0"/>
      <dgm:spPr/>
    </dgm:pt>
    <dgm:pt modelId="{541B65DC-328E-44DA-937C-F45A7B0E6E39}" type="pres">
      <dgm:prSet presAssocID="{33007692-595D-4B26-BE92-3EDA9F2995D5}" presName="childNode" presStyleLbl="node1" presStyleIdx="1" presStyleCnt="5">
        <dgm:presLayoutVars>
          <dgm:bulletEnabled val="1"/>
        </dgm:presLayoutVars>
      </dgm:prSet>
      <dgm:spPr/>
    </dgm:pt>
    <dgm:pt modelId="{15D7CD0B-AC9C-48F9-8F4B-45976DF16BF4}" type="pres">
      <dgm:prSet presAssocID="{3BA7967A-2F9C-46BB-9C54-08C5E1EE8D8C}" presName="aSpace" presStyleCnt="0"/>
      <dgm:spPr/>
    </dgm:pt>
    <dgm:pt modelId="{4C05BC67-19E6-4527-8A85-6D2270CAA750}" type="pres">
      <dgm:prSet presAssocID="{F1780389-7C59-412B-977F-F05013AF62EB}" presName="compNode" presStyleCnt="0"/>
      <dgm:spPr/>
    </dgm:pt>
    <dgm:pt modelId="{C9DB5F4F-261C-491B-8E76-1445C6EB646F}" type="pres">
      <dgm:prSet presAssocID="{F1780389-7C59-412B-977F-F05013AF62EB}" presName="aNode" presStyleLbl="bgShp" presStyleIdx="1" presStyleCnt="2"/>
      <dgm:spPr/>
    </dgm:pt>
    <dgm:pt modelId="{9CE50477-8051-4BDE-B0FD-8213BBD12D69}" type="pres">
      <dgm:prSet presAssocID="{F1780389-7C59-412B-977F-F05013AF62EB}" presName="textNode" presStyleLbl="bgShp" presStyleIdx="1" presStyleCnt="2"/>
      <dgm:spPr/>
    </dgm:pt>
    <dgm:pt modelId="{1E733EF9-A7F5-4DBA-BE79-412213D6135D}" type="pres">
      <dgm:prSet presAssocID="{F1780389-7C59-412B-977F-F05013AF62EB}" presName="compChildNode" presStyleCnt="0"/>
      <dgm:spPr/>
    </dgm:pt>
    <dgm:pt modelId="{E63788EF-F56E-4B8D-8A0C-DE85F2DF629B}" type="pres">
      <dgm:prSet presAssocID="{F1780389-7C59-412B-977F-F05013AF62EB}" presName="theInnerList" presStyleCnt="0"/>
      <dgm:spPr/>
    </dgm:pt>
    <dgm:pt modelId="{14910E77-7793-4B8A-859E-B3757AE456B7}" type="pres">
      <dgm:prSet presAssocID="{3D09A9A5-66C7-4FFC-94EC-14BCA5E2E820}" presName="childNode" presStyleLbl="node1" presStyleIdx="2" presStyleCnt="5">
        <dgm:presLayoutVars>
          <dgm:bulletEnabled val="1"/>
        </dgm:presLayoutVars>
      </dgm:prSet>
      <dgm:spPr/>
    </dgm:pt>
    <dgm:pt modelId="{7C3DBC74-0AA2-443E-9BAE-7A3302A3D49C}" type="pres">
      <dgm:prSet presAssocID="{3D09A9A5-66C7-4FFC-94EC-14BCA5E2E820}" presName="aSpace2" presStyleCnt="0"/>
      <dgm:spPr/>
    </dgm:pt>
    <dgm:pt modelId="{282EE335-BD3E-4241-83DC-1D1C5AC4E4F8}" type="pres">
      <dgm:prSet presAssocID="{21C28BB0-69BF-4AF5-9E72-15DA605BB94F}" presName="childNode" presStyleLbl="node1" presStyleIdx="3" presStyleCnt="5">
        <dgm:presLayoutVars>
          <dgm:bulletEnabled val="1"/>
        </dgm:presLayoutVars>
      </dgm:prSet>
      <dgm:spPr/>
    </dgm:pt>
    <dgm:pt modelId="{A5626367-966A-48FC-8439-2DD95E939B28}" type="pres">
      <dgm:prSet presAssocID="{21C28BB0-69BF-4AF5-9E72-15DA605BB94F}" presName="aSpace2" presStyleCnt="0"/>
      <dgm:spPr/>
    </dgm:pt>
    <dgm:pt modelId="{A182FB55-BCE9-4F46-9ED4-B02EE7E3F849}" type="pres">
      <dgm:prSet presAssocID="{A7F6BA11-F5AB-4035-B710-D89ED30D9C9E}" presName="childNode" presStyleLbl="node1" presStyleIdx="4" presStyleCnt="5">
        <dgm:presLayoutVars>
          <dgm:bulletEnabled val="1"/>
        </dgm:presLayoutVars>
      </dgm:prSet>
      <dgm:spPr/>
    </dgm:pt>
  </dgm:ptLst>
  <dgm:cxnLst>
    <dgm:cxn modelId="{6430D208-0587-4FD9-A880-E0828427261C}" type="presOf" srcId="{A7F6BA11-F5AB-4035-B710-D89ED30D9C9E}" destId="{A182FB55-BCE9-4F46-9ED4-B02EE7E3F849}" srcOrd="0" destOrd="0" presId="urn:microsoft.com/office/officeart/2005/8/layout/lProcess2"/>
    <dgm:cxn modelId="{4E8E9528-1BF7-4A56-9A3B-0F0E9A4FEA23}" srcId="{F1780389-7C59-412B-977F-F05013AF62EB}" destId="{21C28BB0-69BF-4AF5-9E72-15DA605BB94F}" srcOrd="1" destOrd="0" parTransId="{8CD8B7F4-8488-49DD-98D4-4FC0652004E1}" sibTransId="{D0373309-7FE3-4162-B9E8-62BD635FCB77}"/>
    <dgm:cxn modelId="{95C21F5D-C008-4D9E-8449-C68DA8843DBF}" srcId="{3BA7967A-2F9C-46BB-9C54-08C5E1EE8D8C}" destId="{B959A801-1548-4214-B4A6-DC5967BA3AAE}" srcOrd="0" destOrd="0" parTransId="{9F84F447-C49B-42BD-9A85-348A2BF56EA6}" sibTransId="{7627AB74-F22C-416E-818A-7557091AF23F}"/>
    <dgm:cxn modelId="{5141C147-2B5C-47A8-9CF4-9AC63BA9B69B}" type="presOf" srcId="{21C28BB0-69BF-4AF5-9E72-15DA605BB94F}" destId="{282EE335-BD3E-4241-83DC-1D1C5AC4E4F8}" srcOrd="0" destOrd="0" presId="urn:microsoft.com/office/officeart/2005/8/layout/lProcess2"/>
    <dgm:cxn modelId="{5F1DC073-1319-4649-8E0A-D0BDB9377249}" srcId="{4B1EC37C-AC6F-43D4-9BC3-108B93167AAA}" destId="{F1780389-7C59-412B-977F-F05013AF62EB}" srcOrd="1" destOrd="0" parTransId="{ACD02DE7-FAAA-4CDE-B2E2-3AD1F3939D11}" sibTransId="{CB27307F-459F-41E9-B396-2D5A85D41CC3}"/>
    <dgm:cxn modelId="{7B251D75-0885-4C57-A44B-3B9016525565}" type="presOf" srcId="{F1780389-7C59-412B-977F-F05013AF62EB}" destId="{C9DB5F4F-261C-491B-8E76-1445C6EB646F}" srcOrd="0" destOrd="0" presId="urn:microsoft.com/office/officeart/2005/8/layout/lProcess2"/>
    <dgm:cxn modelId="{E50A1C59-C5E4-4E8F-BD30-A677BF8E8863}" type="presOf" srcId="{3BA7967A-2F9C-46BB-9C54-08C5E1EE8D8C}" destId="{11B1F96E-8E61-4B27-B77D-6A6B8223FEA6}" srcOrd="1" destOrd="0" presId="urn:microsoft.com/office/officeart/2005/8/layout/lProcess2"/>
    <dgm:cxn modelId="{9ED4A17D-5E64-46B0-B3F8-E1E881522B41}" type="presOf" srcId="{B959A801-1548-4214-B4A6-DC5967BA3AAE}" destId="{F49C4B54-0FDA-4577-A9DD-826FDB571F7B}" srcOrd="0" destOrd="0" presId="urn:microsoft.com/office/officeart/2005/8/layout/lProcess2"/>
    <dgm:cxn modelId="{0AE0C888-A4A6-4B3A-92A7-055E75529009}" type="presOf" srcId="{3BA7967A-2F9C-46BB-9C54-08C5E1EE8D8C}" destId="{70F1434D-4C55-43C5-916D-C11F3465DE30}" srcOrd="0" destOrd="0" presId="urn:microsoft.com/office/officeart/2005/8/layout/lProcess2"/>
    <dgm:cxn modelId="{E73F0F98-A7EF-4604-9C3C-32B3284AB6BD}" type="presOf" srcId="{4B1EC37C-AC6F-43D4-9BC3-108B93167AAA}" destId="{E8C30FCE-CE7C-4AD8-9BCD-825EEED4C828}" srcOrd="0" destOrd="0" presId="urn:microsoft.com/office/officeart/2005/8/layout/lProcess2"/>
    <dgm:cxn modelId="{D9913B98-DF55-42AF-AB9D-B636DB362515}" type="presOf" srcId="{F1780389-7C59-412B-977F-F05013AF62EB}" destId="{9CE50477-8051-4BDE-B0FD-8213BBD12D69}" srcOrd="1" destOrd="0" presId="urn:microsoft.com/office/officeart/2005/8/layout/lProcess2"/>
    <dgm:cxn modelId="{EE1DDA98-4417-4940-8B8B-6DE96EFE9088}" type="presOf" srcId="{3D09A9A5-66C7-4FFC-94EC-14BCA5E2E820}" destId="{14910E77-7793-4B8A-859E-B3757AE456B7}" srcOrd="0" destOrd="0" presId="urn:microsoft.com/office/officeart/2005/8/layout/lProcess2"/>
    <dgm:cxn modelId="{992E3F99-396B-44CA-A1CC-B9D0AC566076}" type="presOf" srcId="{33007692-595D-4B26-BE92-3EDA9F2995D5}" destId="{541B65DC-328E-44DA-937C-F45A7B0E6E39}" srcOrd="0" destOrd="0" presId="urn:microsoft.com/office/officeart/2005/8/layout/lProcess2"/>
    <dgm:cxn modelId="{F3E4F69C-6801-4CF3-A8CF-C625189A51E2}" srcId="{3BA7967A-2F9C-46BB-9C54-08C5E1EE8D8C}" destId="{33007692-595D-4B26-BE92-3EDA9F2995D5}" srcOrd="1" destOrd="0" parTransId="{E927154F-4CD1-4923-B631-F5D704AAB6DE}" sibTransId="{DECADB53-F31D-4254-A68C-2D7F4F60175B}"/>
    <dgm:cxn modelId="{329FB2DE-9C31-41D8-AD6E-320852BB4E27}" srcId="{F1780389-7C59-412B-977F-F05013AF62EB}" destId="{3D09A9A5-66C7-4FFC-94EC-14BCA5E2E820}" srcOrd="0" destOrd="0" parTransId="{E04B3401-9C8B-4A27-B401-2052312C4F3C}" sibTransId="{0253988F-2FC5-4570-A2D3-3048C88EF050}"/>
    <dgm:cxn modelId="{97D081F6-5716-4E90-A2C0-241204ACE7BF}" srcId="{4B1EC37C-AC6F-43D4-9BC3-108B93167AAA}" destId="{3BA7967A-2F9C-46BB-9C54-08C5E1EE8D8C}" srcOrd="0" destOrd="0" parTransId="{52E9B3E4-D229-45BE-A103-FDE8BC5A4678}" sibTransId="{134CFDBB-B10B-4D25-8B74-59AA6CE118E3}"/>
    <dgm:cxn modelId="{93BF1EFD-81F5-4419-BB7A-EB716B41E8EA}" srcId="{F1780389-7C59-412B-977F-F05013AF62EB}" destId="{A7F6BA11-F5AB-4035-B710-D89ED30D9C9E}" srcOrd="2" destOrd="0" parTransId="{573087B8-BE90-45FA-94D7-A63B628CDAFC}" sibTransId="{78C9E0C5-C002-43E7-A13A-E228AB68EFCB}"/>
    <dgm:cxn modelId="{5BECECCB-7D82-41D2-ABD1-B4D2DCCEF423}" type="presParOf" srcId="{E8C30FCE-CE7C-4AD8-9BCD-825EEED4C828}" destId="{35A38986-204B-4BF6-A1F1-FC40F1980C29}" srcOrd="0" destOrd="0" presId="urn:microsoft.com/office/officeart/2005/8/layout/lProcess2"/>
    <dgm:cxn modelId="{D3ADEF5C-4147-4BF8-B415-532341C8CBC6}" type="presParOf" srcId="{35A38986-204B-4BF6-A1F1-FC40F1980C29}" destId="{70F1434D-4C55-43C5-916D-C11F3465DE30}" srcOrd="0" destOrd="0" presId="urn:microsoft.com/office/officeart/2005/8/layout/lProcess2"/>
    <dgm:cxn modelId="{AF1D00F9-7968-40D4-9CEC-4FB265727839}" type="presParOf" srcId="{35A38986-204B-4BF6-A1F1-FC40F1980C29}" destId="{11B1F96E-8E61-4B27-B77D-6A6B8223FEA6}" srcOrd="1" destOrd="0" presId="urn:microsoft.com/office/officeart/2005/8/layout/lProcess2"/>
    <dgm:cxn modelId="{4692D5EC-F14B-4057-9854-8D67E4074C9E}" type="presParOf" srcId="{35A38986-204B-4BF6-A1F1-FC40F1980C29}" destId="{C8095CAE-DF12-4C6B-A8A8-7986D6C2C4B5}" srcOrd="2" destOrd="0" presId="urn:microsoft.com/office/officeart/2005/8/layout/lProcess2"/>
    <dgm:cxn modelId="{6B8912DC-EE70-438E-A8B7-F50661D1F924}" type="presParOf" srcId="{C8095CAE-DF12-4C6B-A8A8-7986D6C2C4B5}" destId="{D2569D08-44C5-43F2-9B3D-BE717B4F4A62}" srcOrd="0" destOrd="0" presId="urn:microsoft.com/office/officeart/2005/8/layout/lProcess2"/>
    <dgm:cxn modelId="{25D8A29F-C620-400D-970B-F0B3920F5D20}" type="presParOf" srcId="{D2569D08-44C5-43F2-9B3D-BE717B4F4A62}" destId="{F49C4B54-0FDA-4577-A9DD-826FDB571F7B}" srcOrd="0" destOrd="0" presId="urn:microsoft.com/office/officeart/2005/8/layout/lProcess2"/>
    <dgm:cxn modelId="{FECC1201-99FE-4F8D-B0B4-FD3BED379833}" type="presParOf" srcId="{D2569D08-44C5-43F2-9B3D-BE717B4F4A62}" destId="{0C4E53B4-D7D4-4410-BFCB-23A256F670D9}" srcOrd="1" destOrd="0" presId="urn:microsoft.com/office/officeart/2005/8/layout/lProcess2"/>
    <dgm:cxn modelId="{5A3452FA-9D7F-4FB0-9800-A40FC5DE88E9}" type="presParOf" srcId="{D2569D08-44C5-43F2-9B3D-BE717B4F4A62}" destId="{541B65DC-328E-44DA-937C-F45A7B0E6E39}" srcOrd="2" destOrd="0" presId="urn:microsoft.com/office/officeart/2005/8/layout/lProcess2"/>
    <dgm:cxn modelId="{BD8CFC93-6D08-4170-809B-5A31A3831509}" type="presParOf" srcId="{E8C30FCE-CE7C-4AD8-9BCD-825EEED4C828}" destId="{15D7CD0B-AC9C-48F9-8F4B-45976DF16BF4}" srcOrd="1" destOrd="0" presId="urn:microsoft.com/office/officeart/2005/8/layout/lProcess2"/>
    <dgm:cxn modelId="{5FDAAFA8-1AB5-45DF-A417-418E1CFD537C}" type="presParOf" srcId="{E8C30FCE-CE7C-4AD8-9BCD-825EEED4C828}" destId="{4C05BC67-19E6-4527-8A85-6D2270CAA750}" srcOrd="2" destOrd="0" presId="urn:microsoft.com/office/officeart/2005/8/layout/lProcess2"/>
    <dgm:cxn modelId="{646ACB60-0BE6-4CB5-B318-8DD93F7940EF}" type="presParOf" srcId="{4C05BC67-19E6-4527-8A85-6D2270CAA750}" destId="{C9DB5F4F-261C-491B-8E76-1445C6EB646F}" srcOrd="0" destOrd="0" presId="urn:microsoft.com/office/officeart/2005/8/layout/lProcess2"/>
    <dgm:cxn modelId="{9AEA5923-715E-4F75-AF3D-EF5104B3BD8E}" type="presParOf" srcId="{4C05BC67-19E6-4527-8A85-6D2270CAA750}" destId="{9CE50477-8051-4BDE-B0FD-8213BBD12D69}" srcOrd="1" destOrd="0" presId="urn:microsoft.com/office/officeart/2005/8/layout/lProcess2"/>
    <dgm:cxn modelId="{8F8F1BBD-E6F2-4E5F-9C67-EC98C8376A63}" type="presParOf" srcId="{4C05BC67-19E6-4527-8A85-6D2270CAA750}" destId="{1E733EF9-A7F5-4DBA-BE79-412213D6135D}" srcOrd="2" destOrd="0" presId="urn:microsoft.com/office/officeart/2005/8/layout/lProcess2"/>
    <dgm:cxn modelId="{C33F7812-8BBE-43B0-8E06-38275B8FFF61}" type="presParOf" srcId="{1E733EF9-A7F5-4DBA-BE79-412213D6135D}" destId="{E63788EF-F56E-4B8D-8A0C-DE85F2DF629B}" srcOrd="0" destOrd="0" presId="urn:microsoft.com/office/officeart/2005/8/layout/lProcess2"/>
    <dgm:cxn modelId="{06C8815A-F696-4566-9AD5-F617E779A150}" type="presParOf" srcId="{E63788EF-F56E-4B8D-8A0C-DE85F2DF629B}" destId="{14910E77-7793-4B8A-859E-B3757AE456B7}" srcOrd="0" destOrd="0" presId="urn:microsoft.com/office/officeart/2005/8/layout/lProcess2"/>
    <dgm:cxn modelId="{49287E12-DE53-4C5D-81DA-77040DCF087E}" type="presParOf" srcId="{E63788EF-F56E-4B8D-8A0C-DE85F2DF629B}" destId="{7C3DBC74-0AA2-443E-9BAE-7A3302A3D49C}" srcOrd="1" destOrd="0" presId="urn:microsoft.com/office/officeart/2005/8/layout/lProcess2"/>
    <dgm:cxn modelId="{8F47C0A9-6819-4985-A4F0-5328DD9C3CE3}" type="presParOf" srcId="{E63788EF-F56E-4B8D-8A0C-DE85F2DF629B}" destId="{282EE335-BD3E-4241-83DC-1D1C5AC4E4F8}" srcOrd="2" destOrd="0" presId="urn:microsoft.com/office/officeart/2005/8/layout/lProcess2"/>
    <dgm:cxn modelId="{5B846B61-5A7B-4F83-9600-6D0A81022ADD}" type="presParOf" srcId="{E63788EF-F56E-4B8D-8A0C-DE85F2DF629B}" destId="{A5626367-966A-48FC-8439-2DD95E939B28}" srcOrd="3" destOrd="0" presId="urn:microsoft.com/office/officeart/2005/8/layout/lProcess2"/>
    <dgm:cxn modelId="{885F91CD-C834-4044-B2FB-852AAD7F025B}" type="presParOf" srcId="{E63788EF-F56E-4B8D-8A0C-DE85F2DF629B}" destId="{A182FB55-BCE9-4F46-9ED4-B02EE7E3F849}" srcOrd="4"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B1EC37C-AC6F-43D4-9BC3-108B93167AAA}" type="doc">
      <dgm:prSet loTypeId="urn:microsoft.com/office/officeart/2005/8/layout/lProcess2" loCatId="list" qsTypeId="urn:microsoft.com/office/officeart/2005/8/quickstyle/simple1" qsCatId="simple" csTypeId="urn:microsoft.com/office/officeart/2005/8/colors/accent1_2" csCatId="accent1"/>
      <dgm:spPr/>
      <dgm:t>
        <a:bodyPr/>
        <a:lstStyle/>
        <a:p>
          <a:endParaRPr lang="en-US"/>
        </a:p>
      </dgm:t>
    </dgm:pt>
    <dgm:pt modelId="{3BA7967A-2F9C-46BB-9C54-08C5E1EE8D8C}">
      <dgm:prSet/>
      <dgm:spPr/>
      <dgm:t>
        <a:bodyPr/>
        <a:lstStyle/>
        <a:p>
          <a:pPr rtl="0"/>
          <a:r>
            <a:rPr lang="en-GB" smtClean="0"/>
            <a:t>I believe it is temporary</a:t>
          </a:r>
          <a:endParaRPr lang="en-US"/>
        </a:p>
      </dgm:t>
    </dgm:pt>
    <dgm:pt modelId="{52E9B3E4-D229-45BE-A103-FDE8BC5A4678}" type="parTrans" cxnId="{97D081F6-5716-4E90-A2C0-241204ACE7BF}">
      <dgm:prSet/>
      <dgm:spPr/>
      <dgm:t>
        <a:bodyPr/>
        <a:lstStyle/>
        <a:p>
          <a:endParaRPr lang="en-US"/>
        </a:p>
      </dgm:t>
    </dgm:pt>
    <dgm:pt modelId="{134CFDBB-B10B-4D25-8B74-59AA6CE118E3}" type="sibTrans" cxnId="{97D081F6-5716-4E90-A2C0-241204ACE7BF}">
      <dgm:prSet/>
      <dgm:spPr/>
      <dgm:t>
        <a:bodyPr/>
        <a:lstStyle/>
        <a:p>
          <a:endParaRPr lang="en-US"/>
        </a:p>
      </dgm:t>
    </dgm:pt>
    <dgm:pt modelId="{B959A801-1548-4214-B4A6-DC5967BA3AAE}">
      <dgm:prSet/>
      <dgm:spPr/>
      <dgm:t>
        <a:bodyPr/>
        <a:lstStyle/>
        <a:p>
          <a:pPr rtl="0"/>
          <a:r>
            <a:rPr lang="en-GB" u="sng" smtClean="0"/>
            <a:t>Average Earnings</a:t>
          </a:r>
          <a:r>
            <a:rPr lang="en-GB" smtClean="0"/>
            <a:t> if size is stable</a:t>
          </a:r>
          <a:endParaRPr lang="en-US"/>
        </a:p>
      </dgm:t>
    </dgm:pt>
    <dgm:pt modelId="{9F84F447-C49B-42BD-9A85-348A2BF56EA6}" type="parTrans" cxnId="{95C21F5D-C008-4D9E-8449-C68DA8843DBF}">
      <dgm:prSet/>
      <dgm:spPr/>
      <dgm:t>
        <a:bodyPr/>
        <a:lstStyle/>
        <a:p>
          <a:endParaRPr lang="en-US"/>
        </a:p>
      </dgm:t>
    </dgm:pt>
    <dgm:pt modelId="{7627AB74-F22C-416E-818A-7557091AF23F}" type="sibTrans" cxnId="{95C21F5D-C008-4D9E-8449-C68DA8843DBF}">
      <dgm:prSet/>
      <dgm:spPr/>
      <dgm:t>
        <a:bodyPr/>
        <a:lstStyle/>
        <a:p>
          <a:endParaRPr lang="en-US"/>
        </a:p>
      </dgm:t>
    </dgm:pt>
    <dgm:pt modelId="{33007692-595D-4B26-BE92-3EDA9F2995D5}">
      <dgm:prSet/>
      <dgm:spPr>
        <a:blipFill rotWithShape="0">
          <a:blip xmlns:r="http://schemas.openxmlformats.org/officeDocument/2006/relationships" r:embed="rId1"/>
          <a:stretch>
            <a:fillRect r="-1625"/>
          </a:stretch>
        </a:blipFill>
      </dgm:spPr>
      <dgm:t>
        <a:bodyPr/>
        <a:lstStyle/>
        <a:p>
          <a:r>
            <a:rPr lang="en-US">
              <a:noFill/>
            </a:rPr>
            <a:t> </a:t>
          </a:r>
        </a:p>
      </dgm:t>
    </dgm:pt>
    <dgm:pt modelId="{E927154F-4CD1-4923-B631-F5D704AAB6DE}" type="parTrans" cxnId="{F3E4F69C-6801-4CF3-A8CF-C625189A51E2}">
      <dgm:prSet/>
      <dgm:spPr/>
      <dgm:t>
        <a:bodyPr/>
        <a:lstStyle/>
        <a:p>
          <a:endParaRPr lang="en-US"/>
        </a:p>
      </dgm:t>
    </dgm:pt>
    <dgm:pt modelId="{DECADB53-F31D-4254-A68C-2D7F4F60175B}" type="sibTrans" cxnId="{F3E4F69C-6801-4CF3-A8CF-C625189A51E2}">
      <dgm:prSet/>
      <dgm:spPr/>
      <dgm:t>
        <a:bodyPr/>
        <a:lstStyle/>
        <a:p>
          <a:endParaRPr lang="en-US"/>
        </a:p>
      </dgm:t>
    </dgm:pt>
    <dgm:pt modelId="{F1780389-7C59-412B-977F-F05013AF62EB}">
      <dgm:prSet/>
      <dgm:spPr/>
      <dgm:t>
        <a:bodyPr/>
        <a:lstStyle/>
        <a:p>
          <a:pPr rtl="0"/>
          <a:r>
            <a:rPr lang="en-GB" smtClean="0"/>
            <a:t>I believe it is not temporary </a:t>
          </a:r>
          <a:r>
            <a:rPr lang="en-GB" smtClean="0">
              <a:sym typeface="Wingdings" panose="05000000000000000000" pitchFamily="2" charset="2"/>
            </a:rPr>
            <a:t></a:t>
          </a:r>
          <a:r>
            <a:rPr lang="en-GB" smtClean="0"/>
            <a:t> Explicit Cash Flows</a:t>
          </a:r>
          <a:endParaRPr lang="en-US"/>
        </a:p>
      </dgm:t>
    </dgm:pt>
    <dgm:pt modelId="{ACD02DE7-FAAA-4CDE-B2E2-3AD1F3939D11}" type="parTrans" cxnId="{5F1DC073-1319-4649-8E0A-D0BDB9377249}">
      <dgm:prSet/>
      <dgm:spPr/>
      <dgm:t>
        <a:bodyPr/>
        <a:lstStyle/>
        <a:p>
          <a:endParaRPr lang="en-US"/>
        </a:p>
      </dgm:t>
    </dgm:pt>
    <dgm:pt modelId="{CB27307F-459F-41E9-B396-2D5A85D41CC3}" type="sibTrans" cxnId="{5F1DC073-1319-4649-8E0A-D0BDB9377249}">
      <dgm:prSet/>
      <dgm:spPr/>
      <dgm:t>
        <a:bodyPr/>
        <a:lstStyle/>
        <a:p>
          <a:endParaRPr lang="en-US"/>
        </a:p>
      </dgm:t>
    </dgm:pt>
    <dgm:pt modelId="{3D09A9A5-66C7-4FFC-94EC-14BCA5E2E820}">
      <dgm:prSet/>
      <dgm:spPr/>
      <dgm:t>
        <a:bodyPr/>
        <a:lstStyle/>
        <a:p>
          <a:pPr rtl="0"/>
          <a:r>
            <a:rPr lang="en-GB" u="sng" smtClean="0"/>
            <a:t>Target Profit Margin</a:t>
          </a:r>
          <a:r>
            <a:rPr lang="en-GB" smtClean="0"/>
            <a:t>: if the problem is Structural</a:t>
          </a:r>
          <a:endParaRPr lang="en-US"/>
        </a:p>
      </dgm:t>
    </dgm:pt>
    <dgm:pt modelId="{E04B3401-9C8B-4A27-B401-2052312C4F3C}" type="parTrans" cxnId="{329FB2DE-9C31-41D8-AD6E-320852BB4E27}">
      <dgm:prSet/>
      <dgm:spPr/>
      <dgm:t>
        <a:bodyPr/>
        <a:lstStyle/>
        <a:p>
          <a:endParaRPr lang="en-US"/>
        </a:p>
      </dgm:t>
    </dgm:pt>
    <dgm:pt modelId="{0253988F-2FC5-4570-A2D3-3048C88EF050}" type="sibTrans" cxnId="{329FB2DE-9C31-41D8-AD6E-320852BB4E27}">
      <dgm:prSet/>
      <dgm:spPr/>
      <dgm:t>
        <a:bodyPr/>
        <a:lstStyle/>
        <a:p>
          <a:endParaRPr lang="en-US"/>
        </a:p>
      </dgm:t>
    </dgm:pt>
    <dgm:pt modelId="{21C28BB0-69BF-4AF5-9E72-15DA605BB94F}">
      <dgm:prSet/>
      <dgm:spPr/>
      <dgm:t>
        <a:bodyPr/>
        <a:lstStyle/>
        <a:p>
          <a:pPr rtl="0"/>
          <a:r>
            <a:rPr lang="en-GB" u="sng" smtClean="0"/>
            <a:t>Target Debt Ratio</a:t>
          </a:r>
          <a:r>
            <a:rPr lang="en-GB" smtClean="0"/>
            <a:t>: if Leverage is the problem</a:t>
          </a:r>
          <a:endParaRPr lang="en-US"/>
        </a:p>
      </dgm:t>
    </dgm:pt>
    <dgm:pt modelId="{8CD8B7F4-8488-49DD-98D4-4FC0652004E1}" type="parTrans" cxnId="{4E8E9528-1BF7-4A56-9A3B-0F0E9A4FEA23}">
      <dgm:prSet/>
      <dgm:spPr/>
      <dgm:t>
        <a:bodyPr/>
        <a:lstStyle/>
        <a:p>
          <a:endParaRPr lang="en-US"/>
        </a:p>
      </dgm:t>
    </dgm:pt>
    <dgm:pt modelId="{D0373309-7FE3-4162-B9E8-62BD635FCB77}" type="sibTrans" cxnId="{4E8E9528-1BF7-4A56-9A3B-0F0E9A4FEA23}">
      <dgm:prSet/>
      <dgm:spPr/>
      <dgm:t>
        <a:bodyPr/>
        <a:lstStyle/>
        <a:p>
          <a:endParaRPr lang="en-US"/>
        </a:p>
      </dgm:t>
    </dgm:pt>
    <dgm:pt modelId="{A7F6BA11-F5AB-4035-B710-D89ED30D9C9E}">
      <dgm:prSet/>
      <dgm:spPr/>
      <dgm:t>
        <a:bodyPr/>
        <a:lstStyle/>
        <a:p>
          <a:pPr rtl="0"/>
          <a:r>
            <a:rPr lang="en-GB" u="sng" smtClean="0"/>
            <a:t>Industry Profit margin</a:t>
          </a:r>
          <a:r>
            <a:rPr lang="en-GB" smtClean="0"/>
            <a:t>: if there are operating problems</a:t>
          </a:r>
          <a:endParaRPr lang="en-US"/>
        </a:p>
      </dgm:t>
    </dgm:pt>
    <dgm:pt modelId="{573087B8-BE90-45FA-94D7-A63B628CDAFC}" type="parTrans" cxnId="{93BF1EFD-81F5-4419-BB7A-EB716B41E8EA}">
      <dgm:prSet/>
      <dgm:spPr/>
      <dgm:t>
        <a:bodyPr/>
        <a:lstStyle/>
        <a:p>
          <a:endParaRPr lang="en-US"/>
        </a:p>
      </dgm:t>
    </dgm:pt>
    <dgm:pt modelId="{78C9E0C5-C002-43E7-A13A-E228AB68EFCB}" type="sibTrans" cxnId="{93BF1EFD-81F5-4419-BB7A-EB716B41E8EA}">
      <dgm:prSet/>
      <dgm:spPr/>
      <dgm:t>
        <a:bodyPr/>
        <a:lstStyle/>
        <a:p>
          <a:endParaRPr lang="en-US"/>
        </a:p>
      </dgm:t>
    </dgm:pt>
    <dgm:pt modelId="{E8C30FCE-CE7C-4AD8-9BCD-825EEED4C828}" type="pres">
      <dgm:prSet presAssocID="{4B1EC37C-AC6F-43D4-9BC3-108B93167AAA}" presName="theList" presStyleCnt="0">
        <dgm:presLayoutVars>
          <dgm:dir/>
          <dgm:animLvl val="lvl"/>
          <dgm:resizeHandles val="exact"/>
        </dgm:presLayoutVars>
      </dgm:prSet>
      <dgm:spPr/>
    </dgm:pt>
    <dgm:pt modelId="{35A38986-204B-4BF6-A1F1-FC40F1980C29}" type="pres">
      <dgm:prSet presAssocID="{3BA7967A-2F9C-46BB-9C54-08C5E1EE8D8C}" presName="compNode" presStyleCnt="0"/>
      <dgm:spPr/>
    </dgm:pt>
    <dgm:pt modelId="{70F1434D-4C55-43C5-916D-C11F3465DE30}" type="pres">
      <dgm:prSet presAssocID="{3BA7967A-2F9C-46BB-9C54-08C5E1EE8D8C}" presName="aNode" presStyleLbl="bgShp" presStyleIdx="0" presStyleCnt="2"/>
      <dgm:spPr/>
    </dgm:pt>
    <dgm:pt modelId="{11B1F96E-8E61-4B27-B77D-6A6B8223FEA6}" type="pres">
      <dgm:prSet presAssocID="{3BA7967A-2F9C-46BB-9C54-08C5E1EE8D8C}" presName="textNode" presStyleLbl="bgShp" presStyleIdx="0" presStyleCnt="2"/>
      <dgm:spPr/>
    </dgm:pt>
    <dgm:pt modelId="{C8095CAE-DF12-4C6B-A8A8-7986D6C2C4B5}" type="pres">
      <dgm:prSet presAssocID="{3BA7967A-2F9C-46BB-9C54-08C5E1EE8D8C}" presName="compChildNode" presStyleCnt="0"/>
      <dgm:spPr/>
    </dgm:pt>
    <dgm:pt modelId="{D2569D08-44C5-43F2-9B3D-BE717B4F4A62}" type="pres">
      <dgm:prSet presAssocID="{3BA7967A-2F9C-46BB-9C54-08C5E1EE8D8C}" presName="theInnerList" presStyleCnt="0"/>
      <dgm:spPr/>
    </dgm:pt>
    <dgm:pt modelId="{F49C4B54-0FDA-4577-A9DD-826FDB571F7B}" type="pres">
      <dgm:prSet presAssocID="{B959A801-1548-4214-B4A6-DC5967BA3AAE}" presName="childNode" presStyleLbl="node1" presStyleIdx="0" presStyleCnt="5">
        <dgm:presLayoutVars>
          <dgm:bulletEnabled val="1"/>
        </dgm:presLayoutVars>
      </dgm:prSet>
      <dgm:spPr/>
    </dgm:pt>
    <dgm:pt modelId="{0C4E53B4-D7D4-4410-BFCB-23A256F670D9}" type="pres">
      <dgm:prSet presAssocID="{B959A801-1548-4214-B4A6-DC5967BA3AAE}" presName="aSpace2" presStyleCnt="0"/>
      <dgm:spPr/>
    </dgm:pt>
    <dgm:pt modelId="{541B65DC-328E-44DA-937C-F45A7B0E6E39}" type="pres">
      <dgm:prSet presAssocID="{33007692-595D-4B26-BE92-3EDA9F2995D5}" presName="childNode" presStyleLbl="node1" presStyleIdx="1" presStyleCnt="5">
        <dgm:presLayoutVars>
          <dgm:bulletEnabled val="1"/>
        </dgm:presLayoutVars>
      </dgm:prSet>
      <dgm:spPr/>
    </dgm:pt>
    <dgm:pt modelId="{15D7CD0B-AC9C-48F9-8F4B-45976DF16BF4}" type="pres">
      <dgm:prSet presAssocID="{3BA7967A-2F9C-46BB-9C54-08C5E1EE8D8C}" presName="aSpace" presStyleCnt="0"/>
      <dgm:spPr/>
    </dgm:pt>
    <dgm:pt modelId="{4C05BC67-19E6-4527-8A85-6D2270CAA750}" type="pres">
      <dgm:prSet presAssocID="{F1780389-7C59-412B-977F-F05013AF62EB}" presName="compNode" presStyleCnt="0"/>
      <dgm:spPr/>
    </dgm:pt>
    <dgm:pt modelId="{C9DB5F4F-261C-491B-8E76-1445C6EB646F}" type="pres">
      <dgm:prSet presAssocID="{F1780389-7C59-412B-977F-F05013AF62EB}" presName="aNode" presStyleLbl="bgShp" presStyleIdx="1" presStyleCnt="2"/>
      <dgm:spPr/>
    </dgm:pt>
    <dgm:pt modelId="{9CE50477-8051-4BDE-B0FD-8213BBD12D69}" type="pres">
      <dgm:prSet presAssocID="{F1780389-7C59-412B-977F-F05013AF62EB}" presName="textNode" presStyleLbl="bgShp" presStyleIdx="1" presStyleCnt="2"/>
      <dgm:spPr/>
    </dgm:pt>
    <dgm:pt modelId="{1E733EF9-A7F5-4DBA-BE79-412213D6135D}" type="pres">
      <dgm:prSet presAssocID="{F1780389-7C59-412B-977F-F05013AF62EB}" presName="compChildNode" presStyleCnt="0"/>
      <dgm:spPr/>
    </dgm:pt>
    <dgm:pt modelId="{E63788EF-F56E-4B8D-8A0C-DE85F2DF629B}" type="pres">
      <dgm:prSet presAssocID="{F1780389-7C59-412B-977F-F05013AF62EB}" presName="theInnerList" presStyleCnt="0"/>
      <dgm:spPr/>
    </dgm:pt>
    <dgm:pt modelId="{14910E77-7793-4B8A-859E-B3757AE456B7}" type="pres">
      <dgm:prSet presAssocID="{3D09A9A5-66C7-4FFC-94EC-14BCA5E2E820}" presName="childNode" presStyleLbl="node1" presStyleIdx="2" presStyleCnt="5">
        <dgm:presLayoutVars>
          <dgm:bulletEnabled val="1"/>
        </dgm:presLayoutVars>
      </dgm:prSet>
      <dgm:spPr/>
    </dgm:pt>
    <dgm:pt modelId="{7C3DBC74-0AA2-443E-9BAE-7A3302A3D49C}" type="pres">
      <dgm:prSet presAssocID="{3D09A9A5-66C7-4FFC-94EC-14BCA5E2E820}" presName="aSpace2" presStyleCnt="0"/>
      <dgm:spPr/>
    </dgm:pt>
    <dgm:pt modelId="{282EE335-BD3E-4241-83DC-1D1C5AC4E4F8}" type="pres">
      <dgm:prSet presAssocID="{21C28BB0-69BF-4AF5-9E72-15DA605BB94F}" presName="childNode" presStyleLbl="node1" presStyleIdx="3" presStyleCnt="5">
        <dgm:presLayoutVars>
          <dgm:bulletEnabled val="1"/>
        </dgm:presLayoutVars>
      </dgm:prSet>
      <dgm:spPr/>
    </dgm:pt>
    <dgm:pt modelId="{A5626367-966A-48FC-8439-2DD95E939B28}" type="pres">
      <dgm:prSet presAssocID="{21C28BB0-69BF-4AF5-9E72-15DA605BB94F}" presName="aSpace2" presStyleCnt="0"/>
      <dgm:spPr/>
    </dgm:pt>
    <dgm:pt modelId="{A182FB55-BCE9-4F46-9ED4-B02EE7E3F849}" type="pres">
      <dgm:prSet presAssocID="{A7F6BA11-F5AB-4035-B710-D89ED30D9C9E}" presName="childNode" presStyleLbl="node1" presStyleIdx="4" presStyleCnt="5">
        <dgm:presLayoutVars>
          <dgm:bulletEnabled val="1"/>
        </dgm:presLayoutVars>
      </dgm:prSet>
      <dgm:spPr/>
    </dgm:pt>
  </dgm:ptLst>
  <dgm:cxnLst>
    <dgm:cxn modelId="{5F1DC073-1319-4649-8E0A-D0BDB9377249}" srcId="{4B1EC37C-AC6F-43D4-9BC3-108B93167AAA}" destId="{F1780389-7C59-412B-977F-F05013AF62EB}" srcOrd="1" destOrd="0" parTransId="{ACD02DE7-FAAA-4CDE-B2E2-3AD1F3939D11}" sibTransId="{CB27307F-459F-41E9-B396-2D5A85D41CC3}"/>
    <dgm:cxn modelId="{6430D208-0587-4FD9-A880-E0828427261C}" type="presOf" srcId="{A7F6BA11-F5AB-4035-B710-D89ED30D9C9E}" destId="{A182FB55-BCE9-4F46-9ED4-B02EE7E3F849}" srcOrd="0" destOrd="0" presId="urn:microsoft.com/office/officeart/2005/8/layout/lProcess2"/>
    <dgm:cxn modelId="{4E8E9528-1BF7-4A56-9A3B-0F0E9A4FEA23}" srcId="{F1780389-7C59-412B-977F-F05013AF62EB}" destId="{21C28BB0-69BF-4AF5-9E72-15DA605BB94F}" srcOrd="1" destOrd="0" parTransId="{8CD8B7F4-8488-49DD-98D4-4FC0652004E1}" sibTransId="{D0373309-7FE3-4162-B9E8-62BD635FCB77}"/>
    <dgm:cxn modelId="{EE1DDA98-4417-4940-8B8B-6DE96EFE9088}" type="presOf" srcId="{3D09A9A5-66C7-4FFC-94EC-14BCA5E2E820}" destId="{14910E77-7793-4B8A-859E-B3757AE456B7}" srcOrd="0" destOrd="0" presId="urn:microsoft.com/office/officeart/2005/8/layout/lProcess2"/>
    <dgm:cxn modelId="{D9913B98-DF55-42AF-AB9D-B636DB362515}" type="presOf" srcId="{F1780389-7C59-412B-977F-F05013AF62EB}" destId="{9CE50477-8051-4BDE-B0FD-8213BBD12D69}" srcOrd="1" destOrd="0" presId="urn:microsoft.com/office/officeart/2005/8/layout/lProcess2"/>
    <dgm:cxn modelId="{5141C147-2B5C-47A8-9CF4-9AC63BA9B69B}" type="presOf" srcId="{21C28BB0-69BF-4AF5-9E72-15DA605BB94F}" destId="{282EE335-BD3E-4241-83DC-1D1C5AC4E4F8}" srcOrd="0" destOrd="0" presId="urn:microsoft.com/office/officeart/2005/8/layout/lProcess2"/>
    <dgm:cxn modelId="{992E3F99-396B-44CA-A1CC-B9D0AC566076}" type="presOf" srcId="{33007692-595D-4B26-BE92-3EDA9F2995D5}" destId="{541B65DC-328E-44DA-937C-F45A7B0E6E39}" srcOrd="0" destOrd="0" presId="urn:microsoft.com/office/officeart/2005/8/layout/lProcess2"/>
    <dgm:cxn modelId="{93BF1EFD-81F5-4419-BB7A-EB716B41E8EA}" srcId="{F1780389-7C59-412B-977F-F05013AF62EB}" destId="{A7F6BA11-F5AB-4035-B710-D89ED30D9C9E}" srcOrd="2" destOrd="0" parTransId="{573087B8-BE90-45FA-94D7-A63B628CDAFC}" sibTransId="{78C9E0C5-C002-43E7-A13A-E228AB68EFCB}"/>
    <dgm:cxn modelId="{7B251D75-0885-4C57-A44B-3B9016525565}" type="presOf" srcId="{F1780389-7C59-412B-977F-F05013AF62EB}" destId="{C9DB5F4F-261C-491B-8E76-1445C6EB646F}" srcOrd="0" destOrd="0" presId="urn:microsoft.com/office/officeart/2005/8/layout/lProcess2"/>
    <dgm:cxn modelId="{97D081F6-5716-4E90-A2C0-241204ACE7BF}" srcId="{4B1EC37C-AC6F-43D4-9BC3-108B93167AAA}" destId="{3BA7967A-2F9C-46BB-9C54-08C5E1EE8D8C}" srcOrd="0" destOrd="0" parTransId="{52E9B3E4-D229-45BE-A103-FDE8BC5A4678}" sibTransId="{134CFDBB-B10B-4D25-8B74-59AA6CE118E3}"/>
    <dgm:cxn modelId="{E50A1C59-C5E4-4E8F-BD30-A677BF8E8863}" type="presOf" srcId="{3BA7967A-2F9C-46BB-9C54-08C5E1EE8D8C}" destId="{11B1F96E-8E61-4B27-B77D-6A6B8223FEA6}" srcOrd="1" destOrd="0" presId="urn:microsoft.com/office/officeart/2005/8/layout/lProcess2"/>
    <dgm:cxn modelId="{0AE0C888-A4A6-4B3A-92A7-055E75529009}" type="presOf" srcId="{3BA7967A-2F9C-46BB-9C54-08C5E1EE8D8C}" destId="{70F1434D-4C55-43C5-916D-C11F3465DE30}" srcOrd="0" destOrd="0" presId="urn:microsoft.com/office/officeart/2005/8/layout/lProcess2"/>
    <dgm:cxn modelId="{9ED4A17D-5E64-46B0-B3F8-E1E881522B41}" type="presOf" srcId="{B959A801-1548-4214-B4A6-DC5967BA3AAE}" destId="{F49C4B54-0FDA-4577-A9DD-826FDB571F7B}" srcOrd="0" destOrd="0" presId="urn:microsoft.com/office/officeart/2005/8/layout/lProcess2"/>
    <dgm:cxn modelId="{95C21F5D-C008-4D9E-8449-C68DA8843DBF}" srcId="{3BA7967A-2F9C-46BB-9C54-08C5E1EE8D8C}" destId="{B959A801-1548-4214-B4A6-DC5967BA3AAE}" srcOrd="0" destOrd="0" parTransId="{9F84F447-C49B-42BD-9A85-348A2BF56EA6}" sibTransId="{7627AB74-F22C-416E-818A-7557091AF23F}"/>
    <dgm:cxn modelId="{329FB2DE-9C31-41D8-AD6E-320852BB4E27}" srcId="{F1780389-7C59-412B-977F-F05013AF62EB}" destId="{3D09A9A5-66C7-4FFC-94EC-14BCA5E2E820}" srcOrd="0" destOrd="0" parTransId="{E04B3401-9C8B-4A27-B401-2052312C4F3C}" sibTransId="{0253988F-2FC5-4570-A2D3-3048C88EF050}"/>
    <dgm:cxn modelId="{E73F0F98-A7EF-4604-9C3C-32B3284AB6BD}" type="presOf" srcId="{4B1EC37C-AC6F-43D4-9BC3-108B93167AAA}" destId="{E8C30FCE-CE7C-4AD8-9BCD-825EEED4C828}" srcOrd="0" destOrd="0" presId="urn:microsoft.com/office/officeart/2005/8/layout/lProcess2"/>
    <dgm:cxn modelId="{F3E4F69C-6801-4CF3-A8CF-C625189A51E2}" srcId="{3BA7967A-2F9C-46BB-9C54-08C5E1EE8D8C}" destId="{33007692-595D-4B26-BE92-3EDA9F2995D5}" srcOrd="1" destOrd="0" parTransId="{E927154F-4CD1-4923-B631-F5D704AAB6DE}" sibTransId="{DECADB53-F31D-4254-A68C-2D7F4F60175B}"/>
    <dgm:cxn modelId="{5BECECCB-7D82-41D2-ABD1-B4D2DCCEF423}" type="presParOf" srcId="{E8C30FCE-CE7C-4AD8-9BCD-825EEED4C828}" destId="{35A38986-204B-4BF6-A1F1-FC40F1980C29}" srcOrd="0" destOrd="0" presId="urn:microsoft.com/office/officeart/2005/8/layout/lProcess2"/>
    <dgm:cxn modelId="{D3ADEF5C-4147-4BF8-B415-532341C8CBC6}" type="presParOf" srcId="{35A38986-204B-4BF6-A1F1-FC40F1980C29}" destId="{70F1434D-4C55-43C5-916D-C11F3465DE30}" srcOrd="0" destOrd="0" presId="urn:microsoft.com/office/officeart/2005/8/layout/lProcess2"/>
    <dgm:cxn modelId="{AF1D00F9-7968-40D4-9CEC-4FB265727839}" type="presParOf" srcId="{35A38986-204B-4BF6-A1F1-FC40F1980C29}" destId="{11B1F96E-8E61-4B27-B77D-6A6B8223FEA6}" srcOrd="1" destOrd="0" presId="urn:microsoft.com/office/officeart/2005/8/layout/lProcess2"/>
    <dgm:cxn modelId="{4692D5EC-F14B-4057-9854-8D67E4074C9E}" type="presParOf" srcId="{35A38986-204B-4BF6-A1F1-FC40F1980C29}" destId="{C8095CAE-DF12-4C6B-A8A8-7986D6C2C4B5}" srcOrd="2" destOrd="0" presId="urn:microsoft.com/office/officeart/2005/8/layout/lProcess2"/>
    <dgm:cxn modelId="{6B8912DC-EE70-438E-A8B7-F50661D1F924}" type="presParOf" srcId="{C8095CAE-DF12-4C6B-A8A8-7986D6C2C4B5}" destId="{D2569D08-44C5-43F2-9B3D-BE717B4F4A62}" srcOrd="0" destOrd="0" presId="urn:microsoft.com/office/officeart/2005/8/layout/lProcess2"/>
    <dgm:cxn modelId="{25D8A29F-C620-400D-970B-F0B3920F5D20}" type="presParOf" srcId="{D2569D08-44C5-43F2-9B3D-BE717B4F4A62}" destId="{F49C4B54-0FDA-4577-A9DD-826FDB571F7B}" srcOrd="0" destOrd="0" presId="urn:microsoft.com/office/officeart/2005/8/layout/lProcess2"/>
    <dgm:cxn modelId="{FECC1201-99FE-4F8D-B0B4-FD3BED379833}" type="presParOf" srcId="{D2569D08-44C5-43F2-9B3D-BE717B4F4A62}" destId="{0C4E53B4-D7D4-4410-BFCB-23A256F670D9}" srcOrd="1" destOrd="0" presId="urn:microsoft.com/office/officeart/2005/8/layout/lProcess2"/>
    <dgm:cxn modelId="{5A3452FA-9D7F-4FB0-9800-A40FC5DE88E9}" type="presParOf" srcId="{D2569D08-44C5-43F2-9B3D-BE717B4F4A62}" destId="{541B65DC-328E-44DA-937C-F45A7B0E6E39}" srcOrd="2" destOrd="0" presId="urn:microsoft.com/office/officeart/2005/8/layout/lProcess2"/>
    <dgm:cxn modelId="{BD8CFC93-6D08-4170-809B-5A31A3831509}" type="presParOf" srcId="{E8C30FCE-CE7C-4AD8-9BCD-825EEED4C828}" destId="{15D7CD0B-AC9C-48F9-8F4B-45976DF16BF4}" srcOrd="1" destOrd="0" presId="urn:microsoft.com/office/officeart/2005/8/layout/lProcess2"/>
    <dgm:cxn modelId="{5FDAAFA8-1AB5-45DF-A417-418E1CFD537C}" type="presParOf" srcId="{E8C30FCE-CE7C-4AD8-9BCD-825EEED4C828}" destId="{4C05BC67-19E6-4527-8A85-6D2270CAA750}" srcOrd="2" destOrd="0" presId="urn:microsoft.com/office/officeart/2005/8/layout/lProcess2"/>
    <dgm:cxn modelId="{646ACB60-0BE6-4CB5-B318-8DD93F7940EF}" type="presParOf" srcId="{4C05BC67-19E6-4527-8A85-6D2270CAA750}" destId="{C9DB5F4F-261C-491B-8E76-1445C6EB646F}" srcOrd="0" destOrd="0" presId="urn:microsoft.com/office/officeart/2005/8/layout/lProcess2"/>
    <dgm:cxn modelId="{9AEA5923-715E-4F75-AF3D-EF5104B3BD8E}" type="presParOf" srcId="{4C05BC67-19E6-4527-8A85-6D2270CAA750}" destId="{9CE50477-8051-4BDE-B0FD-8213BBD12D69}" srcOrd="1" destOrd="0" presId="urn:microsoft.com/office/officeart/2005/8/layout/lProcess2"/>
    <dgm:cxn modelId="{8F8F1BBD-E6F2-4E5F-9C67-EC98C8376A63}" type="presParOf" srcId="{4C05BC67-19E6-4527-8A85-6D2270CAA750}" destId="{1E733EF9-A7F5-4DBA-BE79-412213D6135D}" srcOrd="2" destOrd="0" presId="urn:microsoft.com/office/officeart/2005/8/layout/lProcess2"/>
    <dgm:cxn modelId="{C33F7812-8BBE-43B0-8E06-38275B8FFF61}" type="presParOf" srcId="{1E733EF9-A7F5-4DBA-BE79-412213D6135D}" destId="{E63788EF-F56E-4B8D-8A0C-DE85F2DF629B}" srcOrd="0" destOrd="0" presId="urn:microsoft.com/office/officeart/2005/8/layout/lProcess2"/>
    <dgm:cxn modelId="{06C8815A-F696-4566-9AD5-F617E779A150}" type="presParOf" srcId="{E63788EF-F56E-4B8D-8A0C-DE85F2DF629B}" destId="{14910E77-7793-4B8A-859E-B3757AE456B7}" srcOrd="0" destOrd="0" presId="urn:microsoft.com/office/officeart/2005/8/layout/lProcess2"/>
    <dgm:cxn modelId="{49287E12-DE53-4C5D-81DA-77040DCF087E}" type="presParOf" srcId="{E63788EF-F56E-4B8D-8A0C-DE85F2DF629B}" destId="{7C3DBC74-0AA2-443E-9BAE-7A3302A3D49C}" srcOrd="1" destOrd="0" presId="urn:microsoft.com/office/officeart/2005/8/layout/lProcess2"/>
    <dgm:cxn modelId="{8F47C0A9-6819-4985-A4F0-5328DD9C3CE3}" type="presParOf" srcId="{E63788EF-F56E-4B8D-8A0C-DE85F2DF629B}" destId="{282EE335-BD3E-4241-83DC-1D1C5AC4E4F8}" srcOrd="2" destOrd="0" presId="urn:microsoft.com/office/officeart/2005/8/layout/lProcess2"/>
    <dgm:cxn modelId="{5B846B61-5A7B-4F83-9600-6D0A81022ADD}" type="presParOf" srcId="{E63788EF-F56E-4B8D-8A0C-DE85F2DF629B}" destId="{A5626367-966A-48FC-8439-2DD95E939B28}" srcOrd="3" destOrd="0" presId="urn:microsoft.com/office/officeart/2005/8/layout/lProcess2"/>
    <dgm:cxn modelId="{885F91CD-C834-4044-B2FB-852AAD7F025B}" type="presParOf" srcId="{E63788EF-F56E-4B8D-8A0C-DE85F2DF629B}" destId="{A182FB55-BCE9-4F46-9ED4-B02EE7E3F849}" srcOrd="4"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23BE8BA4-CDD3-4EA8-A1F4-541AD0BD933C}"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en-US"/>
        </a:p>
      </dgm:t>
    </dgm:pt>
    <dgm:pt modelId="{3F4F5EEB-870D-47DE-86C4-CB498F1C52A5}">
      <dgm:prSet phldrT="[Text]"/>
      <dgm:spPr/>
      <dgm:t>
        <a:bodyPr/>
        <a:lstStyle/>
        <a:p>
          <a:r>
            <a:rPr lang="en-US" dirty="0"/>
            <a:t>Financial Expenses (Off-Balance Sheet Liabilities)</a:t>
          </a:r>
        </a:p>
      </dgm:t>
    </dgm:pt>
    <dgm:pt modelId="{D03FC6D2-0F02-469C-A793-33D59272CA97}" type="parTrans" cxnId="{A892C9F9-79CC-40A5-9672-E11664130552}">
      <dgm:prSet/>
      <dgm:spPr/>
      <dgm:t>
        <a:bodyPr/>
        <a:lstStyle/>
        <a:p>
          <a:endParaRPr lang="en-US"/>
        </a:p>
      </dgm:t>
    </dgm:pt>
    <dgm:pt modelId="{19BEA05E-457F-4658-A9E0-A944EF4B3623}" type="sibTrans" cxnId="{A892C9F9-79CC-40A5-9672-E11664130552}">
      <dgm:prSet/>
      <dgm:spPr/>
      <dgm:t>
        <a:bodyPr/>
        <a:lstStyle/>
        <a:p>
          <a:endParaRPr lang="en-US"/>
        </a:p>
      </dgm:t>
    </dgm:pt>
    <dgm:pt modelId="{5157243A-E2F5-4DF5-BEAE-8192CAC44695}">
      <dgm:prSet phldrT="[Text]" custT="1"/>
      <dgm:spPr/>
      <dgm:t>
        <a:bodyPr/>
        <a:lstStyle/>
        <a:p>
          <a:r>
            <a:rPr lang="en-US" sz="2400" b="1" dirty="0"/>
            <a:t>They Change Operating Income</a:t>
          </a:r>
        </a:p>
      </dgm:t>
    </dgm:pt>
    <dgm:pt modelId="{3214DB6C-2423-4E80-8D44-7CBCFA632982}" type="parTrans" cxnId="{AB400C0A-E32A-4DE3-B993-3D8E8E89B21B}">
      <dgm:prSet/>
      <dgm:spPr/>
      <dgm:t>
        <a:bodyPr/>
        <a:lstStyle/>
        <a:p>
          <a:endParaRPr lang="en-US"/>
        </a:p>
      </dgm:t>
    </dgm:pt>
    <dgm:pt modelId="{76E64178-0D43-41A6-B5F6-5C1E9E947955}" type="sibTrans" cxnId="{AB400C0A-E32A-4DE3-B993-3D8E8E89B21B}">
      <dgm:prSet/>
      <dgm:spPr/>
      <dgm:t>
        <a:bodyPr/>
        <a:lstStyle/>
        <a:p>
          <a:endParaRPr lang="en-US"/>
        </a:p>
      </dgm:t>
    </dgm:pt>
    <dgm:pt modelId="{AFBA7089-2208-43FA-8996-081885EDF0F6}">
      <dgm:prSet phldrT="[Text]"/>
      <dgm:spPr/>
      <dgm:t>
        <a:bodyPr/>
        <a:lstStyle/>
        <a:p>
          <a:r>
            <a:rPr lang="en-US" dirty="0"/>
            <a:t>They should be considered as Debt</a:t>
          </a:r>
        </a:p>
      </dgm:t>
    </dgm:pt>
    <dgm:pt modelId="{44A4FDE0-E061-4D9A-B789-DAED0C5EDF88}" type="parTrans" cxnId="{1D969426-6F2E-48FA-B9E7-D384AD801C13}">
      <dgm:prSet/>
      <dgm:spPr/>
      <dgm:t>
        <a:bodyPr/>
        <a:lstStyle/>
        <a:p>
          <a:endParaRPr lang="en-US"/>
        </a:p>
      </dgm:t>
    </dgm:pt>
    <dgm:pt modelId="{06A5F9DE-154F-4C30-B5B3-76A5FA6888D9}" type="sibTrans" cxnId="{1D969426-6F2E-48FA-B9E7-D384AD801C13}">
      <dgm:prSet/>
      <dgm:spPr/>
      <dgm:t>
        <a:bodyPr/>
        <a:lstStyle/>
        <a:p>
          <a:endParaRPr lang="en-US"/>
        </a:p>
      </dgm:t>
    </dgm:pt>
    <dgm:pt modelId="{A97F2849-955F-4255-85CB-DA68BE5F7752}">
      <dgm:prSet phldrT="[Text]" custT="1"/>
      <dgm:spPr/>
      <dgm:t>
        <a:bodyPr/>
        <a:lstStyle/>
        <a:p>
          <a:r>
            <a:rPr lang="en-US" sz="2000" dirty="0"/>
            <a:t>This increases Debt, but also creates an equivalent asset</a:t>
          </a:r>
        </a:p>
      </dgm:t>
    </dgm:pt>
    <dgm:pt modelId="{1F12DA51-A939-4CEE-8C1C-1C8C687202E8}" type="parTrans" cxnId="{D30E8A99-55C1-4A4A-B0B8-103963437DDE}">
      <dgm:prSet/>
      <dgm:spPr/>
      <dgm:t>
        <a:bodyPr/>
        <a:lstStyle/>
        <a:p>
          <a:endParaRPr lang="en-US"/>
        </a:p>
      </dgm:t>
    </dgm:pt>
    <dgm:pt modelId="{95541BB5-09C2-4013-BA86-24745AE8326B}" type="sibTrans" cxnId="{D30E8A99-55C1-4A4A-B0B8-103963437DDE}">
      <dgm:prSet/>
      <dgm:spPr/>
      <dgm:t>
        <a:bodyPr/>
        <a:lstStyle/>
        <a:p>
          <a:endParaRPr lang="en-US"/>
        </a:p>
      </dgm:t>
    </dgm:pt>
    <dgm:pt modelId="{1A7F0D30-3E44-419E-B8F9-7218C2ACB6B6}">
      <dgm:prSet phldrT="[Text]" custT="1"/>
      <dgm:spPr/>
      <dgm:t>
        <a:bodyPr/>
        <a:lstStyle/>
        <a:p>
          <a:r>
            <a:rPr lang="en-US" sz="1700" dirty="0"/>
            <a:t>Net Income does not change due to depreciation and the increased interest payments</a:t>
          </a:r>
        </a:p>
      </dgm:t>
    </dgm:pt>
    <dgm:pt modelId="{B74FF92E-D4BF-4CE3-940F-6EF7FE473CAE}" type="parTrans" cxnId="{55947746-A153-4610-92A1-37FD16173060}">
      <dgm:prSet/>
      <dgm:spPr/>
      <dgm:t>
        <a:bodyPr/>
        <a:lstStyle/>
        <a:p>
          <a:endParaRPr lang="en-US"/>
        </a:p>
      </dgm:t>
    </dgm:pt>
    <dgm:pt modelId="{692C4A0C-76AE-46A8-8E95-D1A66E70DB22}" type="sibTrans" cxnId="{55947746-A153-4610-92A1-37FD16173060}">
      <dgm:prSet/>
      <dgm:spPr/>
      <dgm:t>
        <a:bodyPr/>
        <a:lstStyle/>
        <a:p>
          <a:endParaRPr lang="en-US"/>
        </a:p>
      </dgm:t>
    </dgm:pt>
    <dgm:pt modelId="{6E2DF4B3-ED28-48C2-B210-18BCD40B0E5E}">
      <dgm:prSet phldrT="[Text]" custT="1"/>
      <dgm:spPr/>
      <dgm:t>
        <a:bodyPr/>
        <a:lstStyle/>
        <a:p>
          <a:r>
            <a:rPr lang="en-US" sz="2400" b="1" dirty="0"/>
            <a:t>Cost of Capital Changes</a:t>
          </a:r>
        </a:p>
      </dgm:t>
    </dgm:pt>
    <dgm:pt modelId="{399877A3-F9FA-4856-AF25-5B29D272CF84}" type="parTrans" cxnId="{2D79B581-6674-43DE-86EE-3F1F84372C13}">
      <dgm:prSet/>
      <dgm:spPr/>
      <dgm:t>
        <a:bodyPr/>
        <a:lstStyle/>
        <a:p>
          <a:endParaRPr lang="en-US"/>
        </a:p>
      </dgm:t>
    </dgm:pt>
    <dgm:pt modelId="{9DFFC575-5585-40FC-9A2E-1CEA79C4FC16}" type="sibTrans" cxnId="{2D79B581-6674-43DE-86EE-3F1F84372C13}">
      <dgm:prSet/>
      <dgm:spPr/>
      <dgm:t>
        <a:bodyPr/>
        <a:lstStyle/>
        <a:p>
          <a:endParaRPr lang="en-US"/>
        </a:p>
      </dgm:t>
    </dgm:pt>
    <dgm:pt modelId="{E8DB76B5-90CA-4F06-919F-9C6FFDE45644}">
      <dgm:prSet phldrT="[Text]" custT="1"/>
      <dgm:spPr/>
      <dgm:t>
        <a:bodyPr/>
        <a:lstStyle/>
        <a:p>
          <a:r>
            <a:rPr lang="en-US" sz="2400" b="1" dirty="0"/>
            <a:t>Return on Capital Changes</a:t>
          </a:r>
        </a:p>
      </dgm:t>
    </dgm:pt>
    <dgm:pt modelId="{CC906A34-451D-4ABC-83CC-435ED3B1631C}" type="parTrans" cxnId="{2E052DFA-E381-438A-BE81-165E31E24526}">
      <dgm:prSet/>
      <dgm:spPr/>
      <dgm:t>
        <a:bodyPr/>
        <a:lstStyle/>
        <a:p>
          <a:endParaRPr lang="en-US"/>
        </a:p>
      </dgm:t>
    </dgm:pt>
    <dgm:pt modelId="{5C88D9E7-243A-4599-8C68-8A876B441ECE}" type="sibTrans" cxnId="{2E052DFA-E381-438A-BE81-165E31E24526}">
      <dgm:prSet/>
      <dgm:spPr/>
      <dgm:t>
        <a:bodyPr/>
        <a:lstStyle/>
        <a:p>
          <a:endParaRPr lang="en-US"/>
        </a:p>
      </dgm:t>
    </dgm:pt>
    <dgm:pt modelId="{17C4A4B4-8D8C-4027-BA2A-00698A611D44}" type="pres">
      <dgm:prSet presAssocID="{23BE8BA4-CDD3-4EA8-A1F4-541AD0BD933C}" presName="Name0" presStyleCnt="0">
        <dgm:presLayoutVars>
          <dgm:dir/>
          <dgm:animLvl val="lvl"/>
          <dgm:resizeHandles val="exact"/>
        </dgm:presLayoutVars>
      </dgm:prSet>
      <dgm:spPr/>
    </dgm:pt>
    <dgm:pt modelId="{0A718309-1A76-4806-AB21-96B7D294A438}" type="pres">
      <dgm:prSet presAssocID="{23BE8BA4-CDD3-4EA8-A1F4-541AD0BD933C}" presName="tSp" presStyleCnt="0"/>
      <dgm:spPr/>
    </dgm:pt>
    <dgm:pt modelId="{DA2DF4BE-7E28-4137-89EE-9C62EB4A6F3F}" type="pres">
      <dgm:prSet presAssocID="{23BE8BA4-CDD3-4EA8-A1F4-541AD0BD933C}" presName="bSp" presStyleCnt="0"/>
      <dgm:spPr/>
    </dgm:pt>
    <dgm:pt modelId="{7DF580CD-35C8-446A-BFF3-EF89DEA7F72C}" type="pres">
      <dgm:prSet presAssocID="{23BE8BA4-CDD3-4EA8-A1F4-541AD0BD933C}" presName="process" presStyleCnt="0"/>
      <dgm:spPr/>
    </dgm:pt>
    <dgm:pt modelId="{EE0CB6DB-59B5-46B3-8814-8EF4C8BA452C}" type="pres">
      <dgm:prSet presAssocID="{3F4F5EEB-870D-47DE-86C4-CB498F1C52A5}" presName="composite1" presStyleCnt="0"/>
      <dgm:spPr/>
    </dgm:pt>
    <dgm:pt modelId="{7FAB703D-1205-48AF-B837-6094B1EC7559}" type="pres">
      <dgm:prSet presAssocID="{3F4F5EEB-870D-47DE-86C4-CB498F1C52A5}" presName="dummyNode1" presStyleLbl="node1" presStyleIdx="0" presStyleCnt="2"/>
      <dgm:spPr/>
    </dgm:pt>
    <dgm:pt modelId="{F98C279F-F125-4F7F-A7AC-E4533B0F8260}" type="pres">
      <dgm:prSet presAssocID="{3F4F5EEB-870D-47DE-86C4-CB498F1C52A5}" presName="childNode1" presStyleLbl="bgAcc1" presStyleIdx="0" presStyleCnt="2" custLinFactNeighborX="2214" custLinFactNeighborY="-74893">
        <dgm:presLayoutVars>
          <dgm:bulletEnabled val="1"/>
        </dgm:presLayoutVars>
      </dgm:prSet>
      <dgm:spPr/>
    </dgm:pt>
    <dgm:pt modelId="{DC76FE4C-286F-451B-B0FA-DB7A6C01C045}" type="pres">
      <dgm:prSet presAssocID="{3F4F5EEB-870D-47DE-86C4-CB498F1C52A5}" presName="childNode1tx" presStyleLbl="bgAcc1" presStyleIdx="0" presStyleCnt="2">
        <dgm:presLayoutVars>
          <dgm:bulletEnabled val="1"/>
        </dgm:presLayoutVars>
      </dgm:prSet>
      <dgm:spPr/>
    </dgm:pt>
    <dgm:pt modelId="{C5DA587F-F56A-4D99-BA91-81AF5FBAE31D}" type="pres">
      <dgm:prSet presAssocID="{3F4F5EEB-870D-47DE-86C4-CB498F1C52A5}" presName="parentNode1" presStyleLbl="node1" presStyleIdx="0" presStyleCnt="2" custLinFactY="-33299" custLinFactNeighborX="2491" custLinFactNeighborY="-100000">
        <dgm:presLayoutVars>
          <dgm:chMax val="1"/>
          <dgm:bulletEnabled val="1"/>
        </dgm:presLayoutVars>
      </dgm:prSet>
      <dgm:spPr/>
    </dgm:pt>
    <dgm:pt modelId="{67EF2CFF-2338-4CDB-BB2F-E296025AB1BD}" type="pres">
      <dgm:prSet presAssocID="{3F4F5EEB-870D-47DE-86C4-CB498F1C52A5}" presName="connSite1" presStyleCnt="0"/>
      <dgm:spPr/>
    </dgm:pt>
    <dgm:pt modelId="{4A657CBE-3EA4-4D49-A61F-189BC86219D8}" type="pres">
      <dgm:prSet presAssocID="{19BEA05E-457F-4658-A9E0-A944EF4B3623}" presName="Name9" presStyleLbl="sibTrans2D1" presStyleIdx="0" presStyleCnt="1"/>
      <dgm:spPr/>
    </dgm:pt>
    <dgm:pt modelId="{61F061F5-9E2F-4DDD-9277-C058B2FF62EC}" type="pres">
      <dgm:prSet presAssocID="{AFBA7089-2208-43FA-8996-081885EDF0F6}" presName="composite2" presStyleCnt="0"/>
      <dgm:spPr/>
    </dgm:pt>
    <dgm:pt modelId="{9ADDE959-F7C3-44C8-90AD-A29D31CF8091}" type="pres">
      <dgm:prSet presAssocID="{AFBA7089-2208-43FA-8996-081885EDF0F6}" presName="dummyNode2" presStyleLbl="node1" presStyleIdx="0" presStyleCnt="2"/>
      <dgm:spPr/>
    </dgm:pt>
    <dgm:pt modelId="{DC3BDF6D-A669-469F-8B0D-9A6F39202726}" type="pres">
      <dgm:prSet presAssocID="{AFBA7089-2208-43FA-8996-081885EDF0F6}" presName="childNode2" presStyleLbl="bgAcc1" presStyleIdx="1" presStyleCnt="2" custScaleX="166558" custLinFactNeighborX="141" custLinFactNeighborY="51031">
        <dgm:presLayoutVars>
          <dgm:bulletEnabled val="1"/>
        </dgm:presLayoutVars>
      </dgm:prSet>
      <dgm:spPr/>
    </dgm:pt>
    <dgm:pt modelId="{8C206F84-D83C-4C34-83B2-5CFB2EC96425}" type="pres">
      <dgm:prSet presAssocID="{AFBA7089-2208-43FA-8996-081885EDF0F6}" presName="childNode2tx" presStyleLbl="bgAcc1" presStyleIdx="1" presStyleCnt="2">
        <dgm:presLayoutVars>
          <dgm:bulletEnabled val="1"/>
        </dgm:presLayoutVars>
      </dgm:prSet>
      <dgm:spPr/>
    </dgm:pt>
    <dgm:pt modelId="{823D338F-5443-4445-A681-1B7CC59DFAAC}" type="pres">
      <dgm:prSet presAssocID="{AFBA7089-2208-43FA-8996-081885EDF0F6}" presName="parentNode2" presStyleLbl="node1" presStyleIdx="1" presStyleCnt="2" custScaleX="122528" custLinFactY="19081" custLinFactNeighborX="5615" custLinFactNeighborY="100000">
        <dgm:presLayoutVars>
          <dgm:chMax val="0"/>
          <dgm:bulletEnabled val="1"/>
        </dgm:presLayoutVars>
      </dgm:prSet>
      <dgm:spPr/>
    </dgm:pt>
    <dgm:pt modelId="{A43D7941-2011-4E40-A7D5-78442E1903CD}" type="pres">
      <dgm:prSet presAssocID="{AFBA7089-2208-43FA-8996-081885EDF0F6}" presName="connSite2" presStyleCnt="0"/>
      <dgm:spPr/>
    </dgm:pt>
  </dgm:ptLst>
  <dgm:cxnLst>
    <dgm:cxn modelId="{AB400C0A-E32A-4DE3-B993-3D8E8E89B21B}" srcId="{3F4F5EEB-870D-47DE-86C4-CB498F1C52A5}" destId="{5157243A-E2F5-4DF5-BEAE-8192CAC44695}" srcOrd="0" destOrd="0" parTransId="{3214DB6C-2423-4E80-8D44-7CBCFA632982}" sibTransId="{76E64178-0D43-41A6-B5F6-5C1E9E947955}"/>
    <dgm:cxn modelId="{14C79425-AEE8-44B5-A5D2-19A11D0FEA1E}" type="presOf" srcId="{5157243A-E2F5-4DF5-BEAE-8192CAC44695}" destId="{F98C279F-F125-4F7F-A7AC-E4533B0F8260}" srcOrd="0" destOrd="0" presId="urn:microsoft.com/office/officeart/2005/8/layout/hProcess4"/>
    <dgm:cxn modelId="{1D969426-6F2E-48FA-B9E7-D384AD801C13}" srcId="{23BE8BA4-CDD3-4EA8-A1F4-541AD0BD933C}" destId="{AFBA7089-2208-43FA-8996-081885EDF0F6}" srcOrd="1" destOrd="0" parTransId="{44A4FDE0-E061-4D9A-B789-DAED0C5EDF88}" sibTransId="{06A5F9DE-154F-4C30-B5B3-76A5FA6888D9}"/>
    <dgm:cxn modelId="{BEE61330-4A46-4D4C-9EFA-9BC70D80D04A}" type="presOf" srcId="{5157243A-E2F5-4DF5-BEAE-8192CAC44695}" destId="{DC76FE4C-286F-451B-B0FA-DB7A6C01C045}" srcOrd="1" destOrd="0" presId="urn:microsoft.com/office/officeart/2005/8/layout/hProcess4"/>
    <dgm:cxn modelId="{55947746-A153-4610-92A1-37FD16173060}" srcId="{3F4F5EEB-870D-47DE-86C4-CB498F1C52A5}" destId="{1A7F0D30-3E44-419E-B8F9-7218C2ACB6B6}" srcOrd="1" destOrd="0" parTransId="{B74FF92E-D4BF-4CE3-940F-6EF7FE473CAE}" sibTransId="{692C4A0C-76AE-46A8-8E95-D1A66E70DB22}"/>
    <dgm:cxn modelId="{E290D868-FE26-4FF0-8DB1-4B37D3E7666B}" type="presOf" srcId="{23BE8BA4-CDD3-4EA8-A1F4-541AD0BD933C}" destId="{17C4A4B4-8D8C-4027-BA2A-00698A611D44}" srcOrd="0" destOrd="0" presId="urn:microsoft.com/office/officeart/2005/8/layout/hProcess4"/>
    <dgm:cxn modelId="{1DDC9C4C-1A73-405E-BB97-52A12EBB421C}" type="presOf" srcId="{A97F2849-955F-4255-85CB-DA68BE5F7752}" destId="{8C206F84-D83C-4C34-83B2-5CFB2EC96425}" srcOrd="1" destOrd="0" presId="urn:microsoft.com/office/officeart/2005/8/layout/hProcess4"/>
    <dgm:cxn modelId="{728DD94C-CAA5-4E60-9D02-A79DED2AB241}" type="presOf" srcId="{6E2DF4B3-ED28-48C2-B210-18BCD40B0E5E}" destId="{DC3BDF6D-A669-469F-8B0D-9A6F39202726}" srcOrd="0" destOrd="1" presId="urn:microsoft.com/office/officeart/2005/8/layout/hProcess4"/>
    <dgm:cxn modelId="{47DECD52-F691-46F5-B6C3-EA0E529476BF}" type="presOf" srcId="{AFBA7089-2208-43FA-8996-081885EDF0F6}" destId="{823D338F-5443-4445-A681-1B7CC59DFAAC}" srcOrd="0" destOrd="0" presId="urn:microsoft.com/office/officeart/2005/8/layout/hProcess4"/>
    <dgm:cxn modelId="{56C7FA58-813F-4AE6-BB58-D97509039C17}" type="presOf" srcId="{A97F2849-955F-4255-85CB-DA68BE5F7752}" destId="{DC3BDF6D-A669-469F-8B0D-9A6F39202726}" srcOrd="0" destOrd="0" presId="urn:microsoft.com/office/officeart/2005/8/layout/hProcess4"/>
    <dgm:cxn modelId="{2496157E-3566-4FE3-AEC9-F2F795EEB816}" type="presOf" srcId="{19BEA05E-457F-4658-A9E0-A944EF4B3623}" destId="{4A657CBE-3EA4-4D49-A61F-189BC86219D8}" srcOrd="0" destOrd="0" presId="urn:microsoft.com/office/officeart/2005/8/layout/hProcess4"/>
    <dgm:cxn modelId="{2D79B581-6674-43DE-86EE-3F1F84372C13}" srcId="{AFBA7089-2208-43FA-8996-081885EDF0F6}" destId="{6E2DF4B3-ED28-48C2-B210-18BCD40B0E5E}" srcOrd="1" destOrd="0" parTransId="{399877A3-F9FA-4856-AF25-5B29D272CF84}" sibTransId="{9DFFC575-5585-40FC-9A2E-1CEA79C4FC16}"/>
    <dgm:cxn modelId="{784E7B8D-D3F5-45C9-AAE4-8B8E3C684CE2}" type="presOf" srcId="{3F4F5EEB-870D-47DE-86C4-CB498F1C52A5}" destId="{C5DA587F-F56A-4D99-BA91-81AF5FBAE31D}" srcOrd="0" destOrd="0" presId="urn:microsoft.com/office/officeart/2005/8/layout/hProcess4"/>
    <dgm:cxn modelId="{D30E8A99-55C1-4A4A-B0B8-103963437DDE}" srcId="{AFBA7089-2208-43FA-8996-081885EDF0F6}" destId="{A97F2849-955F-4255-85CB-DA68BE5F7752}" srcOrd="0" destOrd="0" parTransId="{1F12DA51-A939-4CEE-8C1C-1C8C687202E8}" sibTransId="{95541BB5-09C2-4013-BA86-24745AE8326B}"/>
    <dgm:cxn modelId="{AF3CB6B1-DC3D-4DA2-B606-21568C5D8236}" type="presOf" srcId="{E8DB76B5-90CA-4F06-919F-9C6FFDE45644}" destId="{8C206F84-D83C-4C34-83B2-5CFB2EC96425}" srcOrd="1" destOrd="2" presId="urn:microsoft.com/office/officeart/2005/8/layout/hProcess4"/>
    <dgm:cxn modelId="{ADBADDBA-A63A-4932-9171-99456BC3E93B}" type="presOf" srcId="{E8DB76B5-90CA-4F06-919F-9C6FFDE45644}" destId="{DC3BDF6D-A669-469F-8B0D-9A6F39202726}" srcOrd="0" destOrd="2" presId="urn:microsoft.com/office/officeart/2005/8/layout/hProcess4"/>
    <dgm:cxn modelId="{F8296BBF-3DEE-4EEB-AA5E-A7A2ADADDFF1}" type="presOf" srcId="{1A7F0D30-3E44-419E-B8F9-7218C2ACB6B6}" destId="{F98C279F-F125-4F7F-A7AC-E4533B0F8260}" srcOrd="0" destOrd="1" presId="urn:microsoft.com/office/officeart/2005/8/layout/hProcess4"/>
    <dgm:cxn modelId="{91B146DC-2EC0-42D7-A999-C70A652732F5}" type="presOf" srcId="{1A7F0D30-3E44-419E-B8F9-7218C2ACB6B6}" destId="{DC76FE4C-286F-451B-B0FA-DB7A6C01C045}" srcOrd="1" destOrd="1" presId="urn:microsoft.com/office/officeart/2005/8/layout/hProcess4"/>
    <dgm:cxn modelId="{A892C9F9-79CC-40A5-9672-E11664130552}" srcId="{23BE8BA4-CDD3-4EA8-A1F4-541AD0BD933C}" destId="{3F4F5EEB-870D-47DE-86C4-CB498F1C52A5}" srcOrd="0" destOrd="0" parTransId="{D03FC6D2-0F02-469C-A793-33D59272CA97}" sibTransId="{19BEA05E-457F-4658-A9E0-A944EF4B3623}"/>
    <dgm:cxn modelId="{2E052DFA-E381-438A-BE81-165E31E24526}" srcId="{AFBA7089-2208-43FA-8996-081885EDF0F6}" destId="{E8DB76B5-90CA-4F06-919F-9C6FFDE45644}" srcOrd="2" destOrd="0" parTransId="{CC906A34-451D-4ABC-83CC-435ED3B1631C}" sibTransId="{5C88D9E7-243A-4599-8C68-8A876B441ECE}"/>
    <dgm:cxn modelId="{7A9C01FD-0878-4C0F-9063-161E4E0F06D1}" type="presOf" srcId="{6E2DF4B3-ED28-48C2-B210-18BCD40B0E5E}" destId="{8C206F84-D83C-4C34-83B2-5CFB2EC96425}" srcOrd="1" destOrd="1" presId="urn:microsoft.com/office/officeart/2005/8/layout/hProcess4"/>
    <dgm:cxn modelId="{A44E4021-9016-4147-A153-A08AFB6AF03F}" type="presParOf" srcId="{17C4A4B4-8D8C-4027-BA2A-00698A611D44}" destId="{0A718309-1A76-4806-AB21-96B7D294A438}" srcOrd="0" destOrd="0" presId="urn:microsoft.com/office/officeart/2005/8/layout/hProcess4"/>
    <dgm:cxn modelId="{CAE45AB3-7012-4CAF-8F18-857EFAE2DDB5}" type="presParOf" srcId="{17C4A4B4-8D8C-4027-BA2A-00698A611D44}" destId="{DA2DF4BE-7E28-4137-89EE-9C62EB4A6F3F}" srcOrd="1" destOrd="0" presId="urn:microsoft.com/office/officeart/2005/8/layout/hProcess4"/>
    <dgm:cxn modelId="{C227242A-6BF0-40C1-AADB-8CED1AA9F077}" type="presParOf" srcId="{17C4A4B4-8D8C-4027-BA2A-00698A611D44}" destId="{7DF580CD-35C8-446A-BFF3-EF89DEA7F72C}" srcOrd="2" destOrd="0" presId="urn:microsoft.com/office/officeart/2005/8/layout/hProcess4"/>
    <dgm:cxn modelId="{4632952F-6E4B-4523-97FE-58E929EC05CE}" type="presParOf" srcId="{7DF580CD-35C8-446A-BFF3-EF89DEA7F72C}" destId="{EE0CB6DB-59B5-46B3-8814-8EF4C8BA452C}" srcOrd="0" destOrd="0" presId="urn:microsoft.com/office/officeart/2005/8/layout/hProcess4"/>
    <dgm:cxn modelId="{8662CF65-3307-4E73-A0C7-4DCBA2FF3B5C}" type="presParOf" srcId="{EE0CB6DB-59B5-46B3-8814-8EF4C8BA452C}" destId="{7FAB703D-1205-48AF-B837-6094B1EC7559}" srcOrd="0" destOrd="0" presId="urn:microsoft.com/office/officeart/2005/8/layout/hProcess4"/>
    <dgm:cxn modelId="{F9288E96-2FBC-41F7-9D48-B6B782DFDA93}" type="presParOf" srcId="{EE0CB6DB-59B5-46B3-8814-8EF4C8BA452C}" destId="{F98C279F-F125-4F7F-A7AC-E4533B0F8260}" srcOrd="1" destOrd="0" presId="urn:microsoft.com/office/officeart/2005/8/layout/hProcess4"/>
    <dgm:cxn modelId="{19FABCB6-B672-4F77-8625-128CEBDE0F5F}" type="presParOf" srcId="{EE0CB6DB-59B5-46B3-8814-8EF4C8BA452C}" destId="{DC76FE4C-286F-451B-B0FA-DB7A6C01C045}" srcOrd="2" destOrd="0" presId="urn:microsoft.com/office/officeart/2005/8/layout/hProcess4"/>
    <dgm:cxn modelId="{849B5691-3429-4C2E-9EC0-F9AD737B6211}" type="presParOf" srcId="{EE0CB6DB-59B5-46B3-8814-8EF4C8BA452C}" destId="{C5DA587F-F56A-4D99-BA91-81AF5FBAE31D}" srcOrd="3" destOrd="0" presId="urn:microsoft.com/office/officeart/2005/8/layout/hProcess4"/>
    <dgm:cxn modelId="{CFFFD71D-5549-4800-85E5-4D7EF3BCD4E3}" type="presParOf" srcId="{EE0CB6DB-59B5-46B3-8814-8EF4C8BA452C}" destId="{67EF2CFF-2338-4CDB-BB2F-E296025AB1BD}" srcOrd="4" destOrd="0" presId="urn:microsoft.com/office/officeart/2005/8/layout/hProcess4"/>
    <dgm:cxn modelId="{2EE8DCCE-69A4-48AD-9476-BC9C300B59F6}" type="presParOf" srcId="{7DF580CD-35C8-446A-BFF3-EF89DEA7F72C}" destId="{4A657CBE-3EA4-4D49-A61F-189BC86219D8}" srcOrd="1" destOrd="0" presId="urn:microsoft.com/office/officeart/2005/8/layout/hProcess4"/>
    <dgm:cxn modelId="{EFE37FB1-D1F5-44BD-9275-CCF95B230AB3}" type="presParOf" srcId="{7DF580CD-35C8-446A-BFF3-EF89DEA7F72C}" destId="{61F061F5-9E2F-4DDD-9277-C058B2FF62EC}" srcOrd="2" destOrd="0" presId="urn:microsoft.com/office/officeart/2005/8/layout/hProcess4"/>
    <dgm:cxn modelId="{0E08B36B-6C9E-480A-8C72-04EDDE5EEC83}" type="presParOf" srcId="{61F061F5-9E2F-4DDD-9277-C058B2FF62EC}" destId="{9ADDE959-F7C3-44C8-90AD-A29D31CF8091}" srcOrd="0" destOrd="0" presId="urn:microsoft.com/office/officeart/2005/8/layout/hProcess4"/>
    <dgm:cxn modelId="{9E0E1579-601F-475D-9897-687AB34AAF1D}" type="presParOf" srcId="{61F061F5-9E2F-4DDD-9277-C058B2FF62EC}" destId="{DC3BDF6D-A669-469F-8B0D-9A6F39202726}" srcOrd="1" destOrd="0" presId="urn:microsoft.com/office/officeart/2005/8/layout/hProcess4"/>
    <dgm:cxn modelId="{F342555F-C2F4-406E-818E-0830A987FF7A}" type="presParOf" srcId="{61F061F5-9E2F-4DDD-9277-C058B2FF62EC}" destId="{8C206F84-D83C-4C34-83B2-5CFB2EC96425}" srcOrd="2" destOrd="0" presId="urn:microsoft.com/office/officeart/2005/8/layout/hProcess4"/>
    <dgm:cxn modelId="{F274C403-0694-48BA-AA2B-03369020476B}" type="presParOf" srcId="{61F061F5-9E2F-4DDD-9277-C058B2FF62EC}" destId="{823D338F-5443-4445-A681-1B7CC59DFAAC}" srcOrd="3" destOrd="0" presId="urn:microsoft.com/office/officeart/2005/8/layout/hProcess4"/>
    <dgm:cxn modelId="{35D8F620-FC07-4340-ADB6-FA83163E6466}" type="presParOf" srcId="{61F061F5-9E2F-4DDD-9277-C058B2FF62EC}" destId="{A43D7941-2011-4E40-A7D5-78442E1903CD}"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23BE8BA4-CDD3-4EA8-A1F4-541AD0BD933C}"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en-US"/>
        </a:p>
      </dgm:t>
    </dgm:pt>
    <dgm:pt modelId="{3F4F5EEB-870D-47DE-86C4-CB498F1C52A5}">
      <dgm:prSet phldrT="[Text]" custT="1"/>
      <dgm:spPr/>
      <dgm:t>
        <a:bodyPr/>
        <a:lstStyle/>
        <a:p>
          <a:r>
            <a:rPr lang="en-US" sz="2000" dirty="0"/>
            <a:t>Capital Investments (Off-Balance Sheet Assets)</a:t>
          </a:r>
        </a:p>
      </dgm:t>
    </dgm:pt>
    <dgm:pt modelId="{D03FC6D2-0F02-469C-A793-33D59272CA97}" type="parTrans" cxnId="{A892C9F9-79CC-40A5-9672-E11664130552}">
      <dgm:prSet/>
      <dgm:spPr/>
      <dgm:t>
        <a:bodyPr/>
        <a:lstStyle/>
        <a:p>
          <a:endParaRPr lang="en-US"/>
        </a:p>
      </dgm:t>
    </dgm:pt>
    <dgm:pt modelId="{19BEA05E-457F-4658-A9E0-A944EF4B3623}" type="sibTrans" cxnId="{A892C9F9-79CC-40A5-9672-E11664130552}">
      <dgm:prSet/>
      <dgm:spPr/>
      <dgm:t>
        <a:bodyPr/>
        <a:lstStyle/>
        <a:p>
          <a:endParaRPr lang="en-US"/>
        </a:p>
      </dgm:t>
    </dgm:pt>
    <dgm:pt modelId="{5157243A-E2F5-4DF5-BEAE-8192CAC44695}">
      <dgm:prSet phldrT="[Text]" custT="1"/>
      <dgm:spPr/>
      <dgm:t>
        <a:bodyPr/>
        <a:lstStyle/>
        <a:p>
          <a:r>
            <a:rPr lang="en-US" sz="1600" b="1" dirty="0"/>
            <a:t>They Change Operating Income</a:t>
          </a:r>
        </a:p>
      </dgm:t>
    </dgm:pt>
    <dgm:pt modelId="{3214DB6C-2423-4E80-8D44-7CBCFA632982}" type="parTrans" cxnId="{AB400C0A-E32A-4DE3-B993-3D8E8E89B21B}">
      <dgm:prSet/>
      <dgm:spPr/>
      <dgm:t>
        <a:bodyPr/>
        <a:lstStyle/>
        <a:p>
          <a:endParaRPr lang="en-US"/>
        </a:p>
      </dgm:t>
    </dgm:pt>
    <dgm:pt modelId="{76E64178-0D43-41A6-B5F6-5C1E9E947955}" type="sibTrans" cxnId="{AB400C0A-E32A-4DE3-B993-3D8E8E89B21B}">
      <dgm:prSet/>
      <dgm:spPr/>
      <dgm:t>
        <a:bodyPr/>
        <a:lstStyle/>
        <a:p>
          <a:endParaRPr lang="en-US"/>
        </a:p>
      </dgm:t>
    </dgm:pt>
    <dgm:pt modelId="{AFBA7089-2208-43FA-8996-081885EDF0F6}">
      <dgm:prSet phldrT="[Text]" custT="1"/>
      <dgm:spPr/>
      <dgm:t>
        <a:bodyPr/>
        <a:lstStyle/>
        <a:p>
          <a:r>
            <a:rPr lang="en-US" sz="2000" dirty="0"/>
            <a:t>They should be considered as an Intangible Asset</a:t>
          </a:r>
        </a:p>
      </dgm:t>
    </dgm:pt>
    <dgm:pt modelId="{44A4FDE0-E061-4D9A-B789-DAED0C5EDF88}" type="parTrans" cxnId="{1D969426-6F2E-48FA-B9E7-D384AD801C13}">
      <dgm:prSet/>
      <dgm:spPr/>
      <dgm:t>
        <a:bodyPr/>
        <a:lstStyle/>
        <a:p>
          <a:endParaRPr lang="en-US"/>
        </a:p>
      </dgm:t>
    </dgm:pt>
    <dgm:pt modelId="{06A5F9DE-154F-4C30-B5B3-76A5FA6888D9}" type="sibTrans" cxnId="{1D969426-6F2E-48FA-B9E7-D384AD801C13}">
      <dgm:prSet/>
      <dgm:spPr/>
      <dgm:t>
        <a:bodyPr/>
        <a:lstStyle/>
        <a:p>
          <a:endParaRPr lang="en-US"/>
        </a:p>
      </dgm:t>
    </dgm:pt>
    <dgm:pt modelId="{A97F2849-955F-4255-85CB-DA68BE5F7752}">
      <dgm:prSet phldrT="[Text]" custT="1"/>
      <dgm:spPr/>
      <dgm:t>
        <a:bodyPr/>
        <a:lstStyle/>
        <a:p>
          <a:r>
            <a:rPr lang="en-US" sz="1600" dirty="0"/>
            <a:t>This increases Fixed Assets, but also creates an equivalent value for Equity</a:t>
          </a:r>
        </a:p>
      </dgm:t>
    </dgm:pt>
    <dgm:pt modelId="{1F12DA51-A939-4CEE-8C1C-1C8C687202E8}" type="parTrans" cxnId="{D30E8A99-55C1-4A4A-B0B8-103963437DDE}">
      <dgm:prSet/>
      <dgm:spPr/>
      <dgm:t>
        <a:bodyPr/>
        <a:lstStyle/>
        <a:p>
          <a:endParaRPr lang="en-US"/>
        </a:p>
      </dgm:t>
    </dgm:pt>
    <dgm:pt modelId="{95541BB5-09C2-4013-BA86-24745AE8326B}" type="sibTrans" cxnId="{D30E8A99-55C1-4A4A-B0B8-103963437DDE}">
      <dgm:prSet/>
      <dgm:spPr/>
      <dgm:t>
        <a:bodyPr/>
        <a:lstStyle/>
        <a:p>
          <a:endParaRPr lang="en-US"/>
        </a:p>
      </dgm:t>
    </dgm:pt>
    <dgm:pt modelId="{1A7F0D30-3E44-419E-B8F9-7218C2ACB6B6}">
      <dgm:prSet phldrT="[Text]" custT="1"/>
      <dgm:spPr/>
      <dgm:t>
        <a:bodyPr/>
        <a:lstStyle/>
        <a:p>
          <a:r>
            <a:rPr lang="en-US" sz="1600" b="1" dirty="0"/>
            <a:t>They Change Net Income </a:t>
          </a:r>
          <a:r>
            <a:rPr lang="en-US" sz="1600" b="0" dirty="0"/>
            <a:t>(The asset increases Equity. No Interest Payments)</a:t>
          </a:r>
          <a:endParaRPr lang="en-US" sz="1600" b="1" dirty="0"/>
        </a:p>
      </dgm:t>
    </dgm:pt>
    <dgm:pt modelId="{B74FF92E-D4BF-4CE3-940F-6EF7FE473CAE}" type="parTrans" cxnId="{55947746-A153-4610-92A1-37FD16173060}">
      <dgm:prSet/>
      <dgm:spPr/>
      <dgm:t>
        <a:bodyPr/>
        <a:lstStyle/>
        <a:p>
          <a:endParaRPr lang="en-US"/>
        </a:p>
      </dgm:t>
    </dgm:pt>
    <dgm:pt modelId="{692C4A0C-76AE-46A8-8E95-D1A66E70DB22}" type="sibTrans" cxnId="{55947746-A153-4610-92A1-37FD16173060}">
      <dgm:prSet/>
      <dgm:spPr/>
      <dgm:t>
        <a:bodyPr/>
        <a:lstStyle/>
        <a:p>
          <a:endParaRPr lang="en-US"/>
        </a:p>
      </dgm:t>
    </dgm:pt>
    <dgm:pt modelId="{6E2DF4B3-ED28-48C2-B210-18BCD40B0E5E}">
      <dgm:prSet phldrT="[Text]" custT="1"/>
      <dgm:spPr/>
      <dgm:t>
        <a:bodyPr/>
        <a:lstStyle/>
        <a:p>
          <a:r>
            <a:rPr lang="en-US" sz="1600" b="1" dirty="0"/>
            <a:t>Cost of Capital Changes</a:t>
          </a:r>
        </a:p>
      </dgm:t>
    </dgm:pt>
    <dgm:pt modelId="{399877A3-F9FA-4856-AF25-5B29D272CF84}" type="parTrans" cxnId="{2D79B581-6674-43DE-86EE-3F1F84372C13}">
      <dgm:prSet/>
      <dgm:spPr/>
      <dgm:t>
        <a:bodyPr/>
        <a:lstStyle/>
        <a:p>
          <a:endParaRPr lang="en-US"/>
        </a:p>
      </dgm:t>
    </dgm:pt>
    <dgm:pt modelId="{9DFFC575-5585-40FC-9A2E-1CEA79C4FC16}" type="sibTrans" cxnId="{2D79B581-6674-43DE-86EE-3F1F84372C13}">
      <dgm:prSet/>
      <dgm:spPr/>
      <dgm:t>
        <a:bodyPr/>
        <a:lstStyle/>
        <a:p>
          <a:endParaRPr lang="en-US"/>
        </a:p>
      </dgm:t>
    </dgm:pt>
    <dgm:pt modelId="{E8DB76B5-90CA-4F06-919F-9C6FFDE45644}">
      <dgm:prSet phldrT="[Text]" custT="1"/>
      <dgm:spPr/>
      <dgm:t>
        <a:bodyPr/>
        <a:lstStyle/>
        <a:p>
          <a:r>
            <a:rPr lang="en-US" sz="1600" b="1" dirty="0"/>
            <a:t>Return on Capital Changes</a:t>
          </a:r>
        </a:p>
      </dgm:t>
    </dgm:pt>
    <dgm:pt modelId="{CC906A34-451D-4ABC-83CC-435ED3B1631C}" type="parTrans" cxnId="{2E052DFA-E381-438A-BE81-165E31E24526}">
      <dgm:prSet/>
      <dgm:spPr/>
      <dgm:t>
        <a:bodyPr/>
        <a:lstStyle/>
        <a:p>
          <a:endParaRPr lang="en-US"/>
        </a:p>
      </dgm:t>
    </dgm:pt>
    <dgm:pt modelId="{5C88D9E7-243A-4599-8C68-8A876B441ECE}" type="sibTrans" cxnId="{2E052DFA-E381-438A-BE81-165E31E24526}">
      <dgm:prSet/>
      <dgm:spPr/>
      <dgm:t>
        <a:bodyPr/>
        <a:lstStyle/>
        <a:p>
          <a:endParaRPr lang="en-US"/>
        </a:p>
      </dgm:t>
    </dgm:pt>
    <dgm:pt modelId="{280993EF-A620-4739-9EF0-1B122FA20A8A}">
      <dgm:prSet phldrT="[Text]" custT="1"/>
      <dgm:spPr/>
      <dgm:t>
        <a:bodyPr/>
        <a:lstStyle/>
        <a:p>
          <a:r>
            <a:rPr lang="en-US" sz="2000" dirty="0"/>
            <a:t>They Are Investments</a:t>
          </a:r>
        </a:p>
      </dgm:t>
    </dgm:pt>
    <dgm:pt modelId="{0FDAC9BD-7CDB-4E63-8DFF-4DC308AA49BD}" type="parTrans" cxnId="{1BB92E94-5E7F-40EA-A50A-4FC93DF6FEB9}">
      <dgm:prSet/>
      <dgm:spPr/>
      <dgm:t>
        <a:bodyPr/>
        <a:lstStyle/>
        <a:p>
          <a:endParaRPr lang="en-US"/>
        </a:p>
      </dgm:t>
    </dgm:pt>
    <dgm:pt modelId="{0E302BBE-A194-491E-A3EF-E4CF9AC8CF89}" type="sibTrans" cxnId="{1BB92E94-5E7F-40EA-A50A-4FC93DF6FEB9}">
      <dgm:prSet/>
      <dgm:spPr/>
      <dgm:t>
        <a:bodyPr/>
        <a:lstStyle/>
        <a:p>
          <a:endParaRPr lang="en-US"/>
        </a:p>
      </dgm:t>
    </dgm:pt>
    <dgm:pt modelId="{D23A8A9B-911D-4B63-8899-99086C813386}">
      <dgm:prSet phldrT="[Text]" custT="1"/>
      <dgm:spPr/>
      <dgm:t>
        <a:bodyPr/>
        <a:lstStyle/>
        <a:p>
          <a:r>
            <a:rPr lang="en-US" sz="1600" b="1" dirty="0"/>
            <a:t>They increase </a:t>
          </a:r>
          <a:r>
            <a:rPr lang="en-US" sz="1600" b="1" dirty="0" err="1"/>
            <a:t>CapEx</a:t>
          </a:r>
          <a:endParaRPr lang="en-US" sz="1600" b="1" dirty="0"/>
        </a:p>
      </dgm:t>
    </dgm:pt>
    <dgm:pt modelId="{8735F30D-C598-4E69-AF29-2D9F6B92C314}" type="parTrans" cxnId="{49B1AF7A-5782-41D6-95F5-3EC3AF70B595}">
      <dgm:prSet/>
      <dgm:spPr/>
      <dgm:t>
        <a:bodyPr/>
        <a:lstStyle/>
        <a:p>
          <a:endParaRPr lang="en-US"/>
        </a:p>
      </dgm:t>
    </dgm:pt>
    <dgm:pt modelId="{787D3910-3DAA-4AE5-A319-9C98682BE2CD}" type="sibTrans" cxnId="{49B1AF7A-5782-41D6-95F5-3EC3AF70B595}">
      <dgm:prSet/>
      <dgm:spPr/>
      <dgm:t>
        <a:bodyPr/>
        <a:lstStyle/>
        <a:p>
          <a:endParaRPr lang="en-US"/>
        </a:p>
      </dgm:t>
    </dgm:pt>
    <dgm:pt modelId="{CE0662D4-3810-40DB-BC34-9006D2E6B325}">
      <dgm:prSet phldrT="[Text]" custT="1"/>
      <dgm:spPr/>
      <dgm:t>
        <a:bodyPr/>
        <a:lstStyle/>
        <a:p>
          <a:r>
            <a:rPr lang="en-US" sz="1600" b="1" dirty="0"/>
            <a:t>They Increase growth</a:t>
          </a:r>
        </a:p>
      </dgm:t>
    </dgm:pt>
    <dgm:pt modelId="{2C9DB56C-3E79-459F-A7C2-F013E9DF3369}" type="parTrans" cxnId="{41B9E6C3-A5AA-4BFC-95A3-A95F22E9F266}">
      <dgm:prSet/>
      <dgm:spPr/>
      <dgm:t>
        <a:bodyPr/>
        <a:lstStyle/>
        <a:p>
          <a:endParaRPr lang="en-US"/>
        </a:p>
      </dgm:t>
    </dgm:pt>
    <dgm:pt modelId="{6DAA2695-C563-4245-AE31-91FA66289F65}" type="sibTrans" cxnId="{41B9E6C3-A5AA-4BFC-95A3-A95F22E9F266}">
      <dgm:prSet/>
      <dgm:spPr/>
      <dgm:t>
        <a:bodyPr/>
        <a:lstStyle/>
        <a:p>
          <a:endParaRPr lang="en-US"/>
        </a:p>
      </dgm:t>
    </dgm:pt>
    <dgm:pt modelId="{17C4A4B4-8D8C-4027-BA2A-00698A611D44}" type="pres">
      <dgm:prSet presAssocID="{23BE8BA4-CDD3-4EA8-A1F4-541AD0BD933C}" presName="Name0" presStyleCnt="0">
        <dgm:presLayoutVars>
          <dgm:dir/>
          <dgm:animLvl val="lvl"/>
          <dgm:resizeHandles val="exact"/>
        </dgm:presLayoutVars>
      </dgm:prSet>
      <dgm:spPr/>
    </dgm:pt>
    <dgm:pt modelId="{0A718309-1A76-4806-AB21-96B7D294A438}" type="pres">
      <dgm:prSet presAssocID="{23BE8BA4-CDD3-4EA8-A1F4-541AD0BD933C}" presName="tSp" presStyleCnt="0"/>
      <dgm:spPr/>
    </dgm:pt>
    <dgm:pt modelId="{DA2DF4BE-7E28-4137-89EE-9C62EB4A6F3F}" type="pres">
      <dgm:prSet presAssocID="{23BE8BA4-CDD3-4EA8-A1F4-541AD0BD933C}" presName="bSp" presStyleCnt="0"/>
      <dgm:spPr/>
    </dgm:pt>
    <dgm:pt modelId="{7DF580CD-35C8-446A-BFF3-EF89DEA7F72C}" type="pres">
      <dgm:prSet presAssocID="{23BE8BA4-CDD3-4EA8-A1F4-541AD0BD933C}" presName="process" presStyleCnt="0"/>
      <dgm:spPr/>
    </dgm:pt>
    <dgm:pt modelId="{EE0CB6DB-59B5-46B3-8814-8EF4C8BA452C}" type="pres">
      <dgm:prSet presAssocID="{3F4F5EEB-870D-47DE-86C4-CB498F1C52A5}" presName="composite1" presStyleCnt="0"/>
      <dgm:spPr/>
    </dgm:pt>
    <dgm:pt modelId="{7FAB703D-1205-48AF-B837-6094B1EC7559}" type="pres">
      <dgm:prSet presAssocID="{3F4F5EEB-870D-47DE-86C4-CB498F1C52A5}" presName="dummyNode1" presStyleLbl="node1" presStyleIdx="0" presStyleCnt="3"/>
      <dgm:spPr/>
    </dgm:pt>
    <dgm:pt modelId="{F98C279F-F125-4F7F-A7AC-E4533B0F8260}" type="pres">
      <dgm:prSet presAssocID="{3F4F5EEB-870D-47DE-86C4-CB498F1C52A5}" presName="childNode1" presStyleLbl="bgAcc1" presStyleIdx="0" presStyleCnt="3" custScaleX="143676" custScaleY="117428" custLinFactY="-1742" custLinFactNeighborX="5226" custLinFactNeighborY="-100000">
        <dgm:presLayoutVars>
          <dgm:bulletEnabled val="1"/>
        </dgm:presLayoutVars>
      </dgm:prSet>
      <dgm:spPr/>
    </dgm:pt>
    <dgm:pt modelId="{DC76FE4C-286F-451B-B0FA-DB7A6C01C045}" type="pres">
      <dgm:prSet presAssocID="{3F4F5EEB-870D-47DE-86C4-CB498F1C52A5}" presName="childNode1tx" presStyleLbl="bgAcc1" presStyleIdx="0" presStyleCnt="3">
        <dgm:presLayoutVars>
          <dgm:bulletEnabled val="1"/>
        </dgm:presLayoutVars>
      </dgm:prSet>
      <dgm:spPr/>
    </dgm:pt>
    <dgm:pt modelId="{C5DA587F-F56A-4D99-BA91-81AF5FBAE31D}" type="pres">
      <dgm:prSet presAssocID="{3F4F5EEB-870D-47DE-86C4-CB498F1C52A5}" presName="parentNode1" presStyleLbl="node1" presStyleIdx="0" presStyleCnt="3" custScaleX="123230" custScaleY="203975" custLinFactY="-39833" custLinFactNeighborX="4721" custLinFactNeighborY="-100000">
        <dgm:presLayoutVars>
          <dgm:chMax val="1"/>
          <dgm:bulletEnabled val="1"/>
        </dgm:presLayoutVars>
      </dgm:prSet>
      <dgm:spPr/>
    </dgm:pt>
    <dgm:pt modelId="{67EF2CFF-2338-4CDB-BB2F-E296025AB1BD}" type="pres">
      <dgm:prSet presAssocID="{3F4F5EEB-870D-47DE-86C4-CB498F1C52A5}" presName="connSite1" presStyleCnt="0"/>
      <dgm:spPr/>
    </dgm:pt>
    <dgm:pt modelId="{4A657CBE-3EA4-4D49-A61F-189BC86219D8}" type="pres">
      <dgm:prSet presAssocID="{19BEA05E-457F-4658-A9E0-A944EF4B3623}" presName="Name9" presStyleLbl="sibTrans2D1" presStyleIdx="0" presStyleCnt="2" custLinFactNeighborX="-18521" custLinFactNeighborY="-15762"/>
      <dgm:spPr/>
    </dgm:pt>
    <dgm:pt modelId="{1101133F-D3E5-47CA-BD83-DFFC20F2EFE6}" type="pres">
      <dgm:prSet presAssocID="{280993EF-A620-4739-9EF0-1B122FA20A8A}" presName="composite2" presStyleCnt="0"/>
      <dgm:spPr/>
    </dgm:pt>
    <dgm:pt modelId="{7A8E9911-0E2F-48DA-AB0C-00F34C262455}" type="pres">
      <dgm:prSet presAssocID="{280993EF-A620-4739-9EF0-1B122FA20A8A}" presName="dummyNode2" presStyleLbl="node1" presStyleIdx="0" presStyleCnt="3"/>
      <dgm:spPr/>
    </dgm:pt>
    <dgm:pt modelId="{CB28B580-0A53-4B00-AE8D-7417BA232AF4}" type="pres">
      <dgm:prSet presAssocID="{280993EF-A620-4739-9EF0-1B122FA20A8A}" presName="childNode2" presStyleLbl="bgAcc1" presStyleIdx="1" presStyleCnt="3" custScaleX="147605" custScaleY="117731" custLinFactY="25387" custLinFactNeighborX="-31934" custLinFactNeighborY="100000">
        <dgm:presLayoutVars>
          <dgm:bulletEnabled val="1"/>
        </dgm:presLayoutVars>
      </dgm:prSet>
      <dgm:spPr/>
    </dgm:pt>
    <dgm:pt modelId="{78973D74-CE24-4B98-881C-58C68BE9FD33}" type="pres">
      <dgm:prSet presAssocID="{280993EF-A620-4739-9EF0-1B122FA20A8A}" presName="childNode2tx" presStyleLbl="bgAcc1" presStyleIdx="1" presStyleCnt="3">
        <dgm:presLayoutVars>
          <dgm:bulletEnabled val="1"/>
        </dgm:presLayoutVars>
      </dgm:prSet>
      <dgm:spPr/>
    </dgm:pt>
    <dgm:pt modelId="{D6B1B8E4-39FC-4E4B-81A0-EA9821F13287}" type="pres">
      <dgm:prSet presAssocID="{280993EF-A620-4739-9EF0-1B122FA20A8A}" presName="parentNode2" presStyleLbl="node1" presStyleIdx="1" presStyleCnt="3" custScaleX="123230" custScaleY="133356" custLinFactY="100000" custLinFactNeighborX="-33694" custLinFactNeighborY="177140">
        <dgm:presLayoutVars>
          <dgm:chMax val="0"/>
          <dgm:bulletEnabled val="1"/>
        </dgm:presLayoutVars>
      </dgm:prSet>
      <dgm:spPr/>
    </dgm:pt>
    <dgm:pt modelId="{6A5F271F-27D0-4E30-86C8-C71C85C2C7E3}" type="pres">
      <dgm:prSet presAssocID="{280993EF-A620-4739-9EF0-1B122FA20A8A}" presName="connSite2" presStyleCnt="0"/>
      <dgm:spPr/>
    </dgm:pt>
    <dgm:pt modelId="{FB2B7D9D-B806-4B31-887B-230EB455C1F1}" type="pres">
      <dgm:prSet presAssocID="{0E302BBE-A194-491E-A3EF-E4CF9AC8CF89}" presName="Name18" presStyleLbl="sibTrans2D1" presStyleIdx="1" presStyleCnt="2"/>
      <dgm:spPr/>
    </dgm:pt>
    <dgm:pt modelId="{46B6303E-C247-43E7-8B15-47EEEFC7F624}" type="pres">
      <dgm:prSet presAssocID="{AFBA7089-2208-43FA-8996-081885EDF0F6}" presName="composite1" presStyleCnt="0"/>
      <dgm:spPr/>
    </dgm:pt>
    <dgm:pt modelId="{F25CC2CB-2881-45A9-B412-7BF55C8C4EB3}" type="pres">
      <dgm:prSet presAssocID="{AFBA7089-2208-43FA-8996-081885EDF0F6}" presName="dummyNode1" presStyleLbl="node1" presStyleIdx="1" presStyleCnt="3"/>
      <dgm:spPr/>
    </dgm:pt>
    <dgm:pt modelId="{E532DE92-9CAE-49A5-BA68-B9BCE90B36E8}" type="pres">
      <dgm:prSet presAssocID="{AFBA7089-2208-43FA-8996-081885EDF0F6}" presName="childNode1" presStyleLbl="bgAcc1" presStyleIdx="2" presStyleCnt="3" custScaleX="159013" custScaleY="145255" custLinFactNeighborX="-1031" custLinFactNeighborY="-41395">
        <dgm:presLayoutVars>
          <dgm:bulletEnabled val="1"/>
        </dgm:presLayoutVars>
      </dgm:prSet>
      <dgm:spPr/>
    </dgm:pt>
    <dgm:pt modelId="{8D51F084-7236-4397-A108-245C48D86F7C}" type="pres">
      <dgm:prSet presAssocID="{AFBA7089-2208-43FA-8996-081885EDF0F6}" presName="childNode1tx" presStyleLbl="bgAcc1" presStyleIdx="2" presStyleCnt="3">
        <dgm:presLayoutVars>
          <dgm:bulletEnabled val="1"/>
        </dgm:presLayoutVars>
      </dgm:prSet>
      <dgm:spPr/>
    </dgm:pt>
    <dgm:pt modelId="{CD0E7210-7BAF-4E18-8CBE-197988778374}" type="pres">
      <dgm:prSet presAssocID="{AFBA7089-2208-43FA-8996-081885EDF0F6}" presName="parentNode1" presStyleLbl="node1" presStyleIdx="2" presStyleCnt="3" custScaleX="123230" custScaleY="202145" custLinFactNeighborX="-9473" custLinFactNeighborY="28802">
        <dgm:presLayoutVars>
          <dgm:chMax val="1"/>
          <dgm:bulletEnabled val="1"/>
        </dgm:presLayoutVars>
      </dgm:prSet>
      <dgm:spPr/>
    </dgm:pt>
    <dgm:pt modelId="{267D9302-A167-407F-9A68-3038DD45FF70}" type="pres">
      <dgm:prSet presAssocID="{AFBA7089-2208-43FA-8996-081885EDF0F6}" presName="connSite1" presStyleCnt="0"/>
      <dgm:spPr/>
    </dgm:pt>
  </dgm:ptLst>
  <dgm:cxnLst>
    <dgm:cxn modelId="{86C4B801-6942-4928-BC50-996BA253598C}" type="presOf" srcId="{1A7F0D30-3E44-419E-B8F9-7218C2ACB6B6}" destId="{F98C279F-F125-4F7F-A7AC-E4533B0F8260}" srcOrd="0" destOrd="1" presId="urn:microsoft.com/office/officeart/2005/8/layout/hProcess4"/>
    <dgm:cxn modelId="{7CB32805-2FB5-4176-9306-2D5C92712A21}" type="presOf" srcId="{6E2DF4B3-ED28-48C2-B210-18BCD40B0E5E}" destId="{8D51F084-7236-4397-A108-245C48D86F7C}" srcOrd="1" destOrd="1" presId="urn:microsoft.com/office/officeart/2005/8/layout/hProcess4"/>
    <dgm:cxn modelId="{AB400C0A-E32A-4DE3-B993-3D8E8E89B21B}" srcId="{3F4F5EEB-870D-47DE-86C4-CB498F1C52A5}" destId="{5157243A-E2F5-4DF5-BEAE-8192CAC44695}" srcOrd="0" destOrd="0" parTransId="{3214DB6C-2423-4E80-8D44-7CBCFA632982}" sibTransId="{76E64178-0D43-41A6-B5F6-5C1E9E947955}"/>
    <dgm:cxn modelId="{4691191F-2BFB-423D-829D-E707093768E2}" type="presOf" srcId="{23BE8BA4-CDD3-4EA8-A1F4-541AD0BD933C}" destId="{17C4A4B4-8D8C-4027-BA2A-00698A611D44}" srcOrd="0" destOrd="0" presId="urn:microsoft.com/office/officeart/2005/8/layout/hProcess4"/>
    <dgm:cxn modelId="{D498D220-8CB2-4458-9C3F-89EF0801BF27}" type="presOf" srcId="{5157243A-E2F5-4DF5-BEAE-8192CAC44695}" destId="{F98C279F-F125-4F7F-A7AC-E4533B0F8260}" srcOrd="0" destOrd="0" presId="urn:microsoft.com/office/officeart/2005/8/layout/hProcess4"/>
    <dgm:cxn modelId="{1D969426-6F2E-48FA-B9E7-D384AD801C13}" srcId="{23BE8BA4-CDD3-4EA8-A1F4-541AD0BD933C}" destId="{AFBA7089-2208-43FA-8996-081885EDF0F6}" srcOrd="2" destOrd="0" parTransId="{44A4FDE0-E061-4D9A-B789-DAED0C5EDF88}" sibTransId="{06A5F9DE-154F-4C30-B5B3-76A5FA6888D9}"/>
    <dgm:cxn modelId="{8A6F8234-9C7D-466A-A42E-3DE095387826}" type="presOf" srcId="{D23A8A9B-911D-4B63-8899-99086C813386}" destId="{CB28B580-0A53-4B00-AE8D-7417BA232AF4}" srcOrd="0" destOrd="0" presId="urn:microsoft.com/office/officeart/2005/8/layout/hProcess4"/>
    <dgm:cxn modelId="{854C1935-85F4-4898-9D1A-59D36992C494}" type="presOf" srcId="{A97F2849-955F-4255-85CB-DA68BE5F7752}" destId="{8D51F084-7236-4397-A108-245C48D86F7C}" srcOrd="1" destOrd="0" presId="urn:microsoft.com/office/officeart/2005/8/layout/hProcess4"/>
    <dgm:cxn modelId="{E2FC8760-FA8C-48B6-AAD8-6620E5407650}" type="presOf" srcId="{A97F2849-955F-4255-85CB-DA68BE5F7752}" destId="{E532DE92-9CAE-49A5-BA68-B9BCE90B36E8}" srcOrd="0" destOrd="0" presId="urn:microsoft.com/office/officeart/2005/8/layout/hProcess4"/>
    <dgm:cxn modelId="{1F430A63-5749-42FD-ADBE-0C43B558FECF}" type="presOf" srcId="{3F4F5EEB-870D-47DE-86C4-CB498F1C52A5}" destId="{C5DA587F-F56A-4D99-BA91-81AF5FBAE31D}" srcOrd="0" destOrd="0" presId="urn:microsoft.com/office/officeart/2005/8/layout/hProcess4"/>
    <dgm:cxn modelId="{14391363-5B1E-4997-85D2-AF46EF1A6173}" type="presOf" srcId="{280993EF-A620-4739-9EF0-1B122FA20A8A}" destId="{D6B1B8E4-39FC-4E4B-81A0-EA9821F13287}" srcOrd="0" destOrd="0" presId="urn:microsoft.com/office/officeart/2005/8/layout/hProcess4"/>
    <dgm:cxn modelId="{55947746-A153-4610-92A1-37FD16173060}" srcId="{3F4F5EEB-870D-47DE-86C4-CB498F1C52A5}" destId="{1A7F0D30-3E44-419E-B8F9-7218C2ACB6B6}" srcOrd="1" destOrd="0" parTransId="{B74FF92E-D4BF-4CE3-940F-6EF7FE473CAE}" sibTransId="{692C4A0C-76AE-46A8-8E95-D1A66E70DB22}"/>
    <dgm:cxn modelId="{B679EB66-B118-4F0C-AE39-9FA9DF133F75}" type="presOf" srcId="{CE0662D4-3810-40DB-BC34-9006D2E6B325}" destId="{78973D74-CE24-4B98-881C-58C68BE9FD33}" srcOrd="1" destOrd="1" presId="urn:microsoft.com/office/officeart/2005/8/layout/hProcess4"/>
    <dgm:cxn modelId="{20659F49-2531-4E69-8C76-93683496E77E}" type="presOf" srcId="{6E2DF4B3-ED28-48C2-B210-18BCD40B0E5E}" destId="{E532DE92-9CAE-49A5-BA68-B9BCE90B36E8}" srcOrd="0" destOrd="1" presId="urn:microsoft.com/office/officeart/2005/8/layout/hProcess4"/>
    <dgm:cxn modelId="{0700D853-FAA7-4F1E-8EC2-04038E221767}" type="presOf" srcId="{D23A8A9B-911D-4B63-8899-99086C813386}" destId="{78973D74-CE24-4B98-881C-58C68BE9FD33}" srcOrd="1" destOrd="0" presId="urn:microsoft.com/office/officeart/2005/8/layout/hProcess4"/>
    <dgm:cxn modelId="{255D5057-38FE-49F5-BDA6-FD6708D90861}" type="presOf" srcId="{0E302BBE-A194-491E-A3EF-E4CF9AC8CF89}" destId="{FB2B7D9D-B806-4B31-887B-230EB455C1F1}" srcOrd="0" destOrd="0" presId="urn:microsoft.com/office/officeart/2005/8/layout/hProcess4"/>
    <dgm:cxn modelId="{49B1AF7A-5782-41D6-95F5-3EC3AF70B595}" srcId="{280993EF-A620-4739-9EF0-1B122FA20A8A}" destId="{D23A8A9B-911D-4B63-8899-99086C813386}" srcOrd="0" destOrd="0" parTransId="{8735F30D-C598-4E69-AF29-2D9F6B92C314}" sibTransId="{787D3910-3DAA-4AE5-A319-9C98682BE2CD}"/>
    <dgm:cxn modelId="{2D79B581-6674-43DE-86EE-3F1F84372C13}" srcId="{AFBA7089-2208-43FA-8996-081885EDF0F6}" destId="{6E2DF4B3-ED28-48C2-B210-18BCD40B0E5E}" srcOrd="1" destOrd="0" parTransId="{399877A3-F9FA-4856-AF25-5B29D272CF84}" sibTransId="{9DFFC575-5585-40FC-9A2E-1CEA79C4FC16}"/>
    <dgm:cxn modelId="{1389538A-C3C6-45E2-88D8-95422404E56F}" type="presOf" srcId="{E8DB76B5-90CA-4F06-919F-9C6FFDE45644}" destId="{8D51F084-7236-4397-A108-245C48D86F7C}" srcOrd="1" destOrd="2" presId="urn:microsoft.com/office/officeart/2005/8/layout/hProcess4"/>
    <dgm:cxn modelId="{1BB92E94-5E7F-40EA-A50A-4FC93DF6FEB9}" srcId="{23BE8BA4-CDD3-4EA8-A1F4-541AD0BD933C}" destId="{280993EF-A620-4739-9EF0-1B122FA20A8A}" srcOrd="1" destOrd="0" parTransId="{0FDAC9BD-7CDB-4E63-8DFF-4DC308AA49BD}" sibTransId="{0E302BBE-A194-491E-A3EF-E4CF9AC8CF89}"/>
    <dgm:cxn modelId="{D30E8A99-55C1-4A4A-B0B8-103963437DDE}" srcId="{AFBA7089-2208-43FA-8996-081885EDF0F6}" destId="{A97F2849-955F-4255-85CB-DA68BE5F7752}" srcOrd="0" destOrd="0" parTransId="{1F12DA51-A939-4CEE-8C1C-1C8C687202E8}" sibTransId="{95541BB5-09C2-4013-BA86-24745AE8326B}"/>
    <dgm:cxn modelId="{4851A79B-E615-4D13-A875-E06F12423706}" type="presOf" srcId="{5157243A-E2F5-4DF5-BEAE-8192CAC44695}" destId="{DC76FE4C-286F-451B-B0FA-DB7A6C01C045}" srcOrd="1" destOrd="0" presId="urn:microsoft.com/office/officeart/2005/8/layout/hProcess4"/>
    <dgm:cxn modelId="{ABE733AF-A9B1-4839-ADEB-D103D6DDB1B7}" type="presOf" srcId="{19BEA05E-457F-4658-A9E0-A944EF4B3623}" destId="{4A657CBE-3EA4-4D49-A61F-189BC86219D8}" srcOrd="0" destOrd="0" presId="urn:microsoft.com/office/officeart/2005/8/layout/hProcess4"/>
    <dgm:cxn modelId="{8C9D02B0-2459-452A-BB74-AF37BA08FD2A}" type="presOf" srcId="{E8DB76B5-90CA-4F06-919F-9C6FFDE45644}" destId="{E532DE92-9CAE-49A5-BA68-B9BCE90B36E8}" srcOrd="0" destOrd="2" presId="urn:microsoft.com/office/officeart/2005/8/layout/hProcess4"/>
    <dgm:cxn modelId="{A4CBACB9-CD43-416D-97B6-5DEA1B4881C4}" type="presOf" srcId="{CE0662D4-3810-40DB-BC34-9006D2E6B325}" destId="{CB28B580-0A53-4B00-AE8D-7417BA232AF4}" srcOrd="0" destOrd="1" presId="urn:microsoft.com/office/officeart/2005/8/layout/hProcess4"/>
    <dgm:cxn modelId="{41B9E6C3-A5AA-4BFC-95A3-A95F22E9F266}" srcId="{280993EF-A620-4739-9EF0-1B122FA20A8A}" destId="{CE0662D4-3810-40DB-BC34-9006D2E6B325}" srcOrd="1" destOrd="0" parTransId="{2C9DB56C-3E79-459F-A7C2-F013E9DF3369}" sibTransId="{6DAA2695-C563-4245-AE31-91FA66289F65}"/>
    <dgm:cxn modelId="{FCF2D6CA-1791-4191-8B35-D2721D1564B3}" type="presOf" srcId="{AFBA7089-2208-43FA-8996-081885EDF0F6}" destId="{CD0E7210-7BAF-4E18-8CBE-197988778374}" srcOrd="0" destOrd="0" presId="urn:microsoft.com/office/officeart/2005/8/layout/hProcess4"/>
    <dgm:cxn modelId="{EA91BAD3-7175-4D7E-9C2D-6012B12EA791}" type="presOf" srcId="{1A7F0D30-3E44-419E-B8F9-7218C2ACB6B6}" destId="{DC76FE4C-286F-451B-B0FA-DB7A6C01C045}" srcOrd="1" destOrd="1" presId="urn:microsoft.com/office/officeart/2005/8/layout/hProcess4"/>
    <dgm:cxn modelId="{A892C9F9-79CC-40A5-9672-E11664130552}" srcId="{23BE8BA4-CDD3-4EA8-A1F4-541AD0BD933C}" destId="{3F4F5EEB-870D-47DE-86C4-CB498F1C52A5}" srcOrd="0" destOrd="0" parTransId="{D03FC6D2-0F02-469C-A793-33D59272CA97}" sibTransId="{19BEA05E-457F-4658-A9E0-A944EF4B3623}"/>
    <dgm:cxn modelId="{2E052DFA-E381-438A-BE81-165E31E24526}" srcId="{AFBA7089-2208-43FA-8996-081885EDF0F6}" destId="{E8DB76B5-90CA-4F06-919F-9C6FFDE45644}" srcOrd="2" destOrd="0" parTransId="{CC906A34-451D-4ABC-83CC-435ED3B1631C}" sibTransId="{5C88D9E7-243A-4599-8C68-8A876B441ECE}"/>
    <dgm:cxn modelId="{5D217BCF-3F01-4850-834E-8C5BA563F423}" type="presParOf" srcId="{17C4A4B4-8D8C-4027-BA2A-00698A611D44}" destId="{0A718309-1A76-4806-AB21-96B7D294A438}" srcOrd="0" destOrd="0" presId="urn:microsoft.com/office/officeart/2005/8/layout/hProcess4"/>
    <dgm:cxn modelId="{55010421-88EA-4589-B228-62BBE98684D3}" type="presParOf" srcId="{17C4A4B4-8D8C-4027-BA2A-00698A611D44}" destId="{DA2DF4BE-7E28-4137-89EE-9C62EB4A6F3F}" srcOrd="1" destOrd="0" presId="urn:microsoft.com/office/officeart/2005/8/layout/hProcess4"/>
    <dgm:cxn modelId="{FC7AF03F-3AFB-4B84-AC3E-3C93F251089A}" type="presParOf" srcId="{17C4A4B4-8D8C-4027-BA2A-00698A611D44}" destId="{7DF580CD-35C8-446A-BFF3-EF89DEA7F72C}" srcOrd="2" destOrd="0" presId="urn:microsoft.com/office/officeart/2005/8/layout/hProcess4"/>
    <dgm:cxn modelId="{39A51557-55EA-4457-96F8-051430828AB8}" type="presParOf" srcId="{7DF580CD-35C8-446A-BFF3-EF89DEA7F72C}" destId="{EE0CB6DB-59B5-46B3-8814-8EF4C8BA452C}" srcOrd="0" destOrd="0" presId="urn:microsoft.com/office/officeart/2005/8/layout/hProcess4"/>
    <dgm:cxn modelId="{D8B24782-8ED5-4A10-BD22-1BE367BEFE46}" type="presParOf" srcId="{EE0CB6DB-59B5-46B3-8814-8EF4C8BA452C}" destId="{7FAB703D-1205-48AF-B837-6094B1EC7559}" srcOrd="0" destOrd="0" presId="urn:microsoft.com/office/officeart/2005/8/layout/hProcess4"/>
    <dgm:cxn modelId="{91C76EE1-28F2-440D-9802-C283118B465E}" type="presParOf" srcId="{EE0CB6DB-59B5-46B3-8814-8EF4C8BA452C}" destId="{F98C279F-F125-4F7F-A7AC-E4533B0F8260}" srcOrd="1" destOrd="0" presId="urn:microsoft.com/office/officeart/2005/8/layout/hProcess4"/>
    <dgm:cxn modelId="{9CA512A4-BF87-43DA-B2AC-D527851758BF}" type="presParOf" srcId="{EE0CB6DB-59B5-46B3-8814-8EF4C8BA452C}" destId="{DC76FE4C-286F-451B-B0FA-DB7A6C01C045}" srcOrd="2" destOrd="0" presId="urn:microsoft.com/office/officeart/2005/8/layout/hProcess4"/>
    <dgm:cxn modelId="{DBB34290-661F-4232-BD3F-14DDE19DB03B}" type="presParOf" srcId="{EE0CB6DB-59B5-46B3-8814-8EF4C8BA452C}" destId="{C5DA587F-F56A-4D99-BA91-81AF5FBAE31D}" srcOrd="3" destOrd="0" presId="urn:microsoft.com/office/officeart/2005/8/layout/hProcess4"/>
    <dgm:cxn modelId="{69C68E05-5662-4B5B-B57C-5B2AC2966E4D}" type="presParOf" srcId="{EE0CB6DB-59B5-46B3-8814-8EF4C8BA452C}" destId="{67EF2CFF-2338-4CDB-BB2F-E296025AB1BD}" srcOrd="4" destOrd="0" presId="urn:microsoft.com/office/officeart/2005/8/layout/hProcess4"/>
    <dgm:cxn modelId="{A1CC0326-5C8F-4886-9E74-DFB43CF9F141}" type="presParOf" srcId="{7DF580CD-35C8-446A-BFF3-EF89DEA7F72C}" destId="{4A657CBE-3EA4-4D49-A61F-189BC86219D8}" srcOrd="1" destOrd="0" presId="urn:microsoft.com/office/officeart/2005/8/layout/hProcess4"/>
    <dgm:cxn modelId="{8C373CFA-D027-4BBC-B84D-4CD4487B5417}" type="presParOf" srcId="{7DF580CD-35C8-446A-BFF3-EF89DEA7F72C}" destId="{1101133F-D3E5-47CA-BD83-DFFC20F2EFE6}" srcOrd="2" destOrd="0" presId="urn:microsoft.com/office/officeart/2005/8/layout/hProcess4"/>
    <dgm:cxn modelId="{32E81F4F-6F46-440B-9F4B-475280428A82}" type="presParOf" srcId="{1101133F-D3E5-47CA-BD83-DFFC20F2EFE6}" destId="{7A8E9911-0E2F-48DA-AB0C-00F34C262455}" srcOrd="0" destOrd="0" presId="urn:microsoft.com/office/officeart/2005/8/layout/hProcess4"/>
    <dgm:cxn modelId="{3BBD47EB-2C65-4E05-828F-0BB1842D510A}" type="presParOf" srcId="{1101133F-D3E5-47CA-BD83-DFFC20F2EFE6}" destId="{CB28B580-0A53-4B00-AE8D-7417BA232AF4}" srcOrd="1" destOrd="0" presId="urn:microsoft.com/office/officeart/2005/8/layout/hProcess4"/>
    <dgm:cxn modelId="{D9FD18F9-A124-49FE-8F76-F898D5792887}" type="presParOf" srcId="{1101133F-D3E5-47CA-BD83-DFFC20F2EFE6}" destId="{78973D74-CE24-4B98-881C-58C68BE9FD33}" srcOrd="2" destOrd="0" presId="urn:microsoft.com/office/officeart/2005/8/layout/hProcess4"/>
    <dgm:cxn modelId="{B963CBF6-8644-4076-8026-C1DC233AD980}" type="presParOf" srcId="{1101133F-D3E5-47CA-BD83-DFFC20F2EFE6}" destId="{D6B1B8E4-39FC-4E4B-81A0-EA9821F13287}" srcOrd="3" destOrd="0" presId="urn:microsoft.com/office/officeart/2005/8/layout/hProcess4"/>
    <dgm:cxn modelId="{18A2E026-43FF-432F-95A6-1EEACF4EC8FE}" type="presParOf" srcId="{1101133F-D3E5-47CA-BD83-DFFC20F2EFE6}" destId="{6A5F271F-27D0-4E30-86C8-C71C85C2C7E3}" srcOrd="4" destOrd="0" presId="urn:microsoft.com/office/officeart/2005/8/layout/hProcess4"/>
    <dgm:cxn modelId="{A91582B1-F390-4BE7-B71E-FC8CE32D049E}" type="presParOf" srcId="{7DF580CD-35C8-446A-BFF3-EF89DEA7F72C}" destId="{FB2B7D9D-B806-4B31-887B-230EB455C1F1}" srcOrd="3" destOrd="0" presId="urn:microsoft.com/office/officeart/2005/8/layout/hProcess4"/>
    <dgm:cxn modelId="{9A5F6546-CB11-4A7C-B7A3-A77485D7EC1D}" type="presParOf" srcId="{7DF580CD-35C8-446A-BFF3-EF89DEA7F72C}" destId="{46B6303E-C247-43E7-8B15-47EEEFC7F624}" srcOrd="4" destOrd="0" presId="urn:microsoft.com/office/officeart/2005/8/layout/hProcess4"/>
    <dgm:cxn modelId="{FBB3E807-A61F-404F-82AB-AFC0B1F5240F}" type="presParOf" srcId="{46B6303E-C247-43E7-8B15-47EEEFC7F624}" destId="{F25CC2CB-2881-45A9-B412-7BF55C8C4EB3}" srcOrd="0" destOrd="0" presId="urn:microsoft.com/office/officeart/2005/8/layout/hProcess4"/>
    <dgm:cxn modelId="{819E331A-DCE7-4016-8A4D-1DD76F01A886}" type="presParOf" srcId="{46B6303E-C247-43E7-8B15-47EEEFC7F624}" destId="{E532DE92-9CAE-49A5-BA68-B9BCE90B36E8}" srcOrd="1" destOrd="0" presId="urn:microsoft.com/office/officeart/2005/8/layout/hProcess4"/>
    <dgm:cxn modelId="{E16DD4E0-3210-4AE5-B2B5-09207D42DBD8}" type="presParOf" srcId="{46B6303E-C247-43E7-8B15-47EEEFC7F624}" destId="{8D51F084-7236-4397-A108-245C48D86F7C}" srcOrd="2" destOrd="0" presId="urn:microsoft.com/office/officeart/2005/8/layout/hProcess4"/>
    <dgm:cxn modelId="{9757FB17-00B8-4606-99A8-4C62D9387B9E}" type="presParOf" srcId="{46B6303E-C247-43E7-8B15-47EEEFC7F624}" destId="{CD0E7210-7BAF-4E18-8CBE-197988778374}" srcOrd="3" destOrd="0" presId="urn:microsoft.com/office/officeart/2005/8/layout/hProcess4"/>
    <dgm:cxn modelId="{93596EAD-E5C0-4712-B579-890497C6750E}" type="presParOf" srcId="{46B6303E-C247-43E7-8B15-47EEEFC7F624}" destId="{267D9302-A167-407F-9A68-3038DD45FF70}"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13D38AE-FDB7-4791-825E-98984D063944}" type="doc">
      <dgm:prSet loTypeId="urn:microsoft.com/office/officeart/2005/8/layout/orgChart1" loCatId="hierarchy" qsTypeId="urn:microsoft.com/office/officeart/2005/8/quickstyle/3d2" qsCatId="3D" csTypeId="urn:microsoft.com/office/officeart/2005/8/colors/colorful5" csCatId="colorful" phldr="1"/>
      <dgm:spPr/>
      <dgm:t>
        <a:bodyPr/>
        <a:lstStyle/>
        <a:p>
          <a:endParaRPr lang="en-GB"/>
        </a:p>
      </dgm:t>
    </dgm:pt>
    <dgm:pt modelId="{5CC7BB67-11FA-4C34-BED6-D8A0AFE071C3}">
      <dgm:prSet custT="1"/>
      <dgm:spPr/>
      <dgm:t>
        <a:bodyPr/>
        <a:lstStyle/>
        <a:p>
          <a:pPr rtl="0"/>
          <a:r>
            <a:rPr lang="en-GB" sz="4400" dirty="0"/>
            <a:t>From Earnings To </a:t>
          </a:r>
        </a:p>
        <a:p>
          <a:pPr rtl="0"/>
          <a:r>
            <a:rPr lang="en-GB" sz="4400" dirty="0"/>
            <a:t>Actual Cash Flows</a:t>
          </a:r>
        </a:p>
      </dgm:t>
    </dgm:pt>
    <dgm:pt modelId="{4D13A2A6-A452-4A20-9554-29AABA75DA71}" type="parTrans" cxnId="{B8C08B93-B4A3-4BB1-B683-206B610FE1B7}">
      <dgm:prSet/>
      <dgm:spPr/>
      <dgm:t>
        <a:bodyPr/>
        <a:lstStyle/>
        <a:p>
          <a:endParaRPr lang="en-GB"/>
        </a:p>
      </dgm:t>
    </dgm:pt>
    <dgm:pt modelId="{F140E2FC-2D20-44A8-83C0-EB7288E2FED6}" type="sibTrans" cxnId="{B8C08B93-B4A3-4BB1-B683-206B610FE1B7}">
      <dgm:prSet/>
      <dgm:spPr/>
      <dgm:t>
        <a:bodyPr/>
        <a:lstStyle/>
        <a:p>
          <a:endParaRPr lang="en-GB"/>
        </a:p>
      </dgm:t>
    </dgm:pt>
    <dgm:pt modelId="{59EA0DD4-84EB-4848-8326-779C59546B8A}">
      <dgm:prSet/>
      <dgm:spPr/>
      <dgm:t>
        <a:bodyPr/>
        <a:lstStyle/>
        <a:p>
          <a:pPr rtl="0"/>
          <a:r>
            <a:rPr lang="en-GB" dirty="0"/>
            <a:t>A.</a:t>
          </a:r>
        </a:p>
        <a:p>
          <a:pPr rtl="0"/>
          <a:r>
            <a:rPr lang="en-GB" dirty="0"/>
            <a:t>Tax</a:t>
          </a:r>
        </a:p>
      </dgm:t>
    </dgm:pt>
    <dgm:pt modelId="{861C3C94-016A-44D7-B6BD-60026AA3FE0C}" type="parTrans" cxnId="{5F4A7476-618F-4963-803E-0D68F6FB4072}">
      <dgm:prSet/>
      <dgm:spPr/>
      <dgm:t>
        <a:bodyPr/>
        <a:lstStyle/>
        <a:p>
          <a:endParaRPr lang="en-GB"/>
        </a:p>
      </dgm:t>
    </dgm:pt>
    <dgm:pt modelId="{C4F5687D-3C00-49F0-88FE-BAA0C6294592}" type="sibTrans" cxnId="{5F4A7476-618F-4963-803E-0D68F6FB4072}">
      <dgm:prSet/>
      <dgm:spPr/>
      <dgm:t>
        <a:bodyPr/>
        <a:lstStyle/>
        <a:p>
          <a:endParaRPr lang="en-GB"/>
        </a:p>
      </dgm:t>
    </dgm:pt>
    <dgm:pt modelId="{0E5E4EB7-31F3-42E1-BA70-908F7699E25C}">
      <dgm:prSet/>
      <dgm:spPr/>
      <dgm:t>
        <a:bodyPr/>
        <a:lstStyle/>
        <a:p>
          <a:pPr rtl="0"/>
          <a:r>
            <a:rPr lang="en-GB" dirty="0"/>
            <a:t>B.</a:t>
          </a:r>
        </a:p>
        <a:p>
          <a:pPr rtl="0"/>
          <a:r>
            <a:rPr lang="en-GB" dirty="0"/>
            <a:t>Net Capital Expenditures</a:t>
          </a:r>
        </a:p>
      </dgm:t>
    </dgm:pt>
    <dgm:pt modelId="{526C025C-B2D0-4C70-9D80-E01B5512C9F1}" type="parTrans" cxnId="{3F534832-BA2B-42EB-9B1F-7FA3CA15AD0F}">
      <dgm:prSet/>
      <dgm:spPr/>
      <dgm:t>
        <a:bodyPr/>
        <a:lstStyle/>
        <a:p>
          <a:endParaRPr lang="en-GB"/>
        </a:p>
      </dgm:t>
    </dgm:pt>
    <dgm:pt modelId="{C2F7E06B-D0FF-44F3-831B-A9A0F629E9AD}" type="sibTrans" cxnId="{3F534832-BA2B-42EB-9B1F-7FA3CA15AD0F}">
      <dgm:prSet/>
      <dgm:spPr/>
      <dgm:t>
        <a:bodyPr/>
        <a:lstStyle/>
        <a:p>
          <a:endParaRPr lang="en-GB"/>
        </a:p>
      </dgm:t>
    </dgm:pt>
    <dgm:pt modelId="{F1140240-6516-4ADF-8224-B1E909A9485E}">
      <dgm:prSet/>
      <dgm:spPr/>
      <dgm:t>
        <a:bodyPr/>
        <a:lstStyle/>
        <a:p>
          <a:pPr rtl="0"/>
          <a:r>
            <a:rPr lang="en-GB" dirty="0"/>
            <a:t>C. </a:t>
          </a:r>
        </a:p>
        <a:p>
          <a:pPr rtl="0"/>
          <a:r>
            <a:rPr lang="en-GB" dirty="0"/>
            <a:t>NWC Investments</a:t>
          </a:r>
        </a:p>
      </dgm:t>
    </dgm:pt>
    <dgm:pt modelId="{6F34958D-B3D3-4F21-ADDC-EEEB6B9149B5}" type="parTrans" cxnId="{A9BBE976-532C-4572-A72F-81E9717AE655}">
      <dgm:prSet/>
      <dgm:spPr/>
      <dgm:t>
        <a:bodyPr/>
        <a:lstStyle/>
        <a:p>
          <a:endParaRPr lang="en-GB"/>
        </a:p>
      </dgm:t>
    </dgm:pt>
    <dgm:pt modelId="{DFCF4556-226B-4434-BBB1-CB8330013956}" type="sibTrans" cxnId="{A9BBE976-532C-4572-A72F-81E9717AE655}">
      <dgm:prSet/>
      <dgm:spPr/>
      <dgm:t>
        <a:bodyPr/>
        <a:lstStyle/>
        <a:p>
          <a:endParaRPr lang="en-GB"/>
        </a:p>
      </dgm:t>
    </dgm:pt>
    <dgm:pt modelId="{9C81E6AC-CE19-454C-8136-56BC97DF56BC}" type="pres">
      <dgm:prSet presAssocID="{213D38AE-FDB7-4791-825E-98984D063944}" presName="hierChild1" presStyleCnt="0">
        <dgm:presLayoutVars>
          <dgm:orgChart val="1"/>
          <dgm:chPref val="1"/>
          <dgm:dir/>
          <dgm:animOne val="branch"/>
          <dgm:animLvl val="lvl"/>
          <dgm:resizeHandles/>
        </dgm:presLayoutVars>
      </dgm:prSet>
      <dgm:spPr/>
    </dgm:pt>
    <dgm:pt modelId="{30457075-A8F7-4C52-937A-09A33F892487}" type="pres">
      <dgm:prSet presAssocID="{5CC7BB67-11FA-4C34-BED6-D8A0AFE071C3}" presName="hierRoot1" presStyleCnt="0">
        <dgm:presLayoutVars>
          <dgm:hierBranch val="init"/>
        </dgm:presLayoutVars>
      </dgm:prSet>
      <dgm:spPr/>
    </dgm:pt>
    <dgm:pt modelId="{94C3675C-55E1-4A2E-81EB-97FCA2228094}" type="pres">
      <dgm:prSet presAssocID="{5CC7BB67-11FA-4C34-BED6-D8A0AFE071C3}" presName="rootComposite1" presStyleCnt="0"/>
      <dgm:spPr/>
    </dgm:pt>
    <dgm:pt modelId="{8CEF45EA-DCD5-4D4B-807C-A09E4F930379}" type="pres">
      <dgm:prSet presAssocID="{5CC7BB67-11FA-4C34-BED6-D8A0AFE071C3}" presName="rootText1" presStyleLbl="node0" presStyleIdx="0" presStyleCnt="1" custScaleX="330352" custScaleY="202969">
        <dgm:presLayoutVars>
          <dgm:chPref val="3"/>
        </dgm:presLayoutVars>
      </dgm:prSet>
      <dgm:spPr/>
    </dgm:pt>
    <dgm:pt modelId="{AE4BEA17-F40C-416F-8CAC-5A45DC2A43E5}" type="pres">
      <dgm:prSet presAssocID="{5CC7BB67-11FA-4C34-BED6-D8A0AFE071C3}" presName="rootConnector1" presStyleLbl="node1" presStyleIdx="0" presStyleCnt="0"/>
      <dgm:spPr/>
    </dgm:pt>
    <dgm:pt modelId="{E2E2CB60-5B69-41BB-93B5-D3BCE584ADB3}" type="pres">
      <dgm:prSet presAssocID="{5CC7BB67-11FA-4C34-BED6-D8A0AFE071C3}" presName="hierChild2" presStyleCnt="0"/>
      <dgm:spPr/>
    </dgm:pt>
    <dgm:pt modelId="{FADC4AE9-70A3-4336-A80C-B5EA50E7F69D}" type="pres">
      <dgm:prSet presAssocID="{861C3C94-016A-44D7-B6BD-60026AA3FE0C}" presName="Name37" presStyleLbl="parChTrans1D2" presStyleIdx="0" presStyleCnt="3"/>
      <dgm:spPr/>
    </dgm:pt>
    <dgm:pt modelId="{493612F6-A4F4-440B-892F-752728E3E228}" type="pres">
      <dgm:prSet presAssocID="{59EA0DD4-84EB-4848-8326-779C59546B8A}" presName="hierRoot2" presStyleCnt="0">
        <dgm:presLayoutVars>
          <dgm:hierBranch val="init"/>
        </dgm:presLayoutVars>
      </dgm:prSet>
      <dgm:spPr/>
    </dgm:pt>
    <dgm:pt modelId="{E176BBAE-34CB-4E09-A81F-866F72E3010D}" type="pres">
      <dgm:prSet presAssocID="{59EA0DD4-84EB-4848-8326-779C59546B8A}" presName="rootComposite" presStyleCnt="0"/>
      <dgm:spPr/>
    </dgm:pt>
    <dgm:pt modelId="{7C77A335-BDC8-494E-830D-3EEFBD0989BD}" type="pres">
      <dgm:prSet presAssocID="{59EA0DD4-84EB-4848-8326-779C59546B8A}" presName="rootText" presStyleLbl="node2" presStyleIdx="0" presStyleCnt="3" custScaleX="108168" custScaleY="181858">
        <dgm:presLayoutVars>
          <dgm:chPref val="3"/>
        </dgm:presLayoutVars>
      </dgm:prSet>
      <dgm:spPr/>
    </dgm:pt>
    <dgm:pt modelId="{12A732D3-BCEF-4F1C-A1FC-F8EA3019B846}" type="pres">
      <dgm:prSet presAssocID="{59EA0DD4-84EB-4848-8326-779C59546B8A}" presName="rootConnector" presStyleLbl="node2" presStyleIdx="0" presStyleCnt="3"/>
      <dgm:spPr/>
    </dgm:pt>
    <dgm:pt modelId="{3F3FEE63-B793-4E6E-BDCC-C8AD25B5DC02}" type="pres">
      <dgm:prSet presAssocID="{59EA0DD4-84EB-4848-8326-779C59546B8A}" presName="hierChild4" presStyleCnt="0"/>
      <dgm:spPr/>
    </dgm:pt>
    <dgm:pt modelId="{F530FA97-4588-4A0B-B3AF-13F8B8135C75}" type="pres">
      <dgm:prSet presAssocID="{59EA0DD4-84EB-4848-8326-779C59546B8A}" presName="hierChild5" presStyleCnt="0"/>
      <dgm:spPr/>
    </dgm:pt>
    <dgm:pt modelId="{E89D80A4-0037-47D2-97ED-B3D139351BB5}" type="pres">
      <dgm:prSet presAssocID="{526C025C-B2D0-4C70-9D80-E01B5512C9F1}" presName="Name37" presStyleLbl="parChTrans1D2" presStyleIdx="1" presStyleCnt="3"/>
      <dgm:spPr/>
    </dgm:pt>
    <dgm:pt modelId="{5541CB0A-026C-4A1F-BA0C-80B389C94485}" type="pres">
      <dgm:prSet presAssocID="{0E5E4EB7-31F3-42E1-BA70-908F7699E25C}" presName="hierRoot2" presStyleCnt="0">
        <dgm:presLayoutVars>
          <dgm:hierBranch val="init"/>
        </dgm:presLayoutVars>
      </dgm:prSet>
      <dgm:spPr/>
    </dgm:pt>
    <dgm:pt modelId="{8DD8CE04-B0E5-4078-B114-970CA7BEF618}" type="pres">
      <dgm:prSet presAssocID="{0E5E4EB7-31F3-42E1-BA70-908F7699E25C}" presName="rootComposite" presStyleCnt="0"/>
      <dgm:spPr/>
    </dgm:pt>
    <dgm:pt modelId="{29B16F8C-F484-406E-87BA-F96E8004EA98}" type="pres">
      <dgm:prSet presAssocID="{0E5E4EB7-31F3-42E1-BA70-908F7699E25C}" presName="rootText" presStyleLbl="node2" presStyleIdx="1" presStyleCnt="3" custScaleX="128443" custScaleY="181858">
        <dgm:presLayoutVars>
          <dgm:chPref val="3"/>
        </dgm:presLayoutVars>
      </dgm:prSet>
      <dgm:spPr/>
    </dgm:pt>
    <dgm:pt modelId="{CE644F03-D438-438D-A54B-F222329AF0CB}" type="pres">
      <dgm:prSet presAssocID="{0E5E4EB7-31F3-42E1-BA70-908F7699E25C}" presName="rootConnector" presStyleLbl="node2" presStyleIdx="1" presStyleCnt="3"/>
      <dgm:spPr/>
    </dgm:pt>
    <dgm:pt modelId="{3A0CB031-F7D9-483C-AC09-D11B83AA6AC1}" type="pres">
      <dgm:prSet presAssocID="{0E5E4EB7-31F3-42E1-BA70-908F7699E25C}" presName="hierChild4" presStyleCnt="0"/>
      <dgm:spPr/>
    </dgm:pt>
    <dgm:pt modelId="{C18B2AC1-1FBD-421F-89AE-4C2C0504083B}" type="pres">
      <dgm:prSet presAssocID="{0E5E4EB7-31F3-42E1-BA70-908F7699E25C}" presName="hierChild5" presStyleCnt="0"/>
      <dgm:spPr/>
    </dgm:pt>
    <dgm:pt modelId="{4E603516-0C9F-4758-85FD-A45413C58CB1}" type="pres">
      <dgm:prSet presAssocID="{6F34958D-B3D3-4F21-ADDC-EEEB6B9149B5}" presName="Name37" presStyleLbl="parChTrans1D2" presStyleIdx="2" presStyleCnt="3"/>
      <dgm:spPr/>
    </dgm:pt>
    <dgm:pt modelId="{0E1D8B1B-74EA-4E8C-BD2D-4553203CEC78}" type="pres">
      <dgm:prSet presAssocID="{F1140240-6516-4ADF-8224-B1E909A9485E}" presName="hierRoot2" presStyleCnt="0">
        <dgm:presLayoutVars>
          <dgm:hierBranch val="init"/>
        </dgm:presLayoutVars>
      </dgm:prSet>
      <dgm:spPr/>
    </dgm:pt>
    <dgm:pt modelId="{2B2A71C5-E590-4D94-9220-A1901B305ED9}" type="pres">
      <dgm:prSet presAssocID="{F1140240-6516-4ADF-8224-B1E909A9485E}" presName="rootComposite" presStyleCnt="0"/>
      <dgm:spPr/>
    </dgm:pt>
    <dgm:pt modelId="{FB4035BF-E5EF-4368-B0CF-74344B3703F0}" type="pres">
      <dgm:prSet presAssocID="{F1140240-6516-4ADF-8224-B1E909A9485E}" presName="rootText" presStyleLbl="node2" presStyleIdx="2" presStyleCnt="3" custScaleX="108168" custScaleY="181858">
        <dgm:presLayoutVars>
          <dgm:chPref val="3"/>
        </dgm:presLayoutVars>
      </dgm:prSet>
      <dgm:spPr/>
    </dgm:pt>
    <dgm:pt modelId="{468AF66B-46EF-43FF-A00F-C08F9F794DAB}" type="pres">
      <dgm:prSet presAssocID="{F1140240-6516-4ADF-8224-B1E909A9485E}" presName="rootConnector" presStyleLbl="node2" presStyleIdx="2" presStyleCnt="3"/>
      <dgm:spPr/>
    </dgm:pt>
    <dgm:pt modelId="{5EB158FA-F1C1-49C5-B866-2EB5FF3568CE}" type="pres">
      <dgm:prSet presAssocID="{F1140240-6516-4ADF-8224-B1E909A9485E}" presName="hierChild4" presStyleCnt="0"/>
      <dgm:spPr/>
    </dgm:pt>
    <dgm:pt modelId="{600C9FCF-3834-4070-9322-820CE82A9976}" type="pres">
      <dgm:prSet presAssocID="{F1140240-6516-4ADF-8224-B1E909A9485E}" presName="hierChild5" presStyleCnt="0"/>
      <dgm:spPr/>
    </dgm:pt>
    <dgm:pt modelId="{C9C15937-CF09-453D-98B3-8F86399911A0}" type="pres">
      <dgm:prSet presAssocID="{5CC7BB67-11FA-4C34-BED6-D8A0AFE071C3}" presName="hierChild3" presStyleCnt="0"/>
      <dgm:spPr/>
    </dgm:pt>
  </dgm:ptLst>
  <dgm:cxnLst>
    <dgm:cxn modelId="{3F0DA203-4C57-492D-B984-9FF8730D2E1C}" type="presOf" srcId="{5CC7BB67-11FA-4C34-BED6-D8A0AFE071C3}" destId="{AE4BEA17-F40C-416F-8CAC-5A45DC2A43E5}" srcOrd="1" destOrd="0" presId="urn:microsoft.com/office/officeart/2005/8/layout/orgChart1"/>
    <dgm:cxn modelId="{5DDFD41C-069E-4B76-B3E4-5FAA4DAECC80}" type="presOf" srcId="{861C3C94-016A-44D7-B6BD-60026AA3FE0C}" destId="{FADC4AE9-70A3-4336-A80C-B5EA50E7F69D}" srcOrd="0" destOrd="0" presId="urn:microsoft.com/office/officeart/2005/8/layout/orgChart1"/>
    <dgm:cxn modelId="{BDCEDC28-575E-4496-ADA1-8B463F5749D0}" type="presOf" srcId="{6F34958D-B3D3-4F21-ADDC-EEEB6B9149B5}" destId="{4E603516-0C9F-4758-85FD-A45413C58CB1}" srcOrd="0" destOrd="0" presId="urn:microsoft.com/office/officeart/2005/8/layout/orgChart1"/>
    <dgm:cxn modelId="{3F534832-BA2B-42EB-9B1F-7FA3CA15AD0F}" srcId="{5CC7BB67-11FA-4C34-BED6-D8A0AFE071C3}" destId="{0E5E4EB7-31F3-42E1-BA70-908F7699E25C}" srcOrd="1" destOrd="0" parTransId="{526C025C-B2D0-4C70-9D80-E01B5512C9F1}" sibTransId="{C2F7E06B-D0FF-44F3-831B-A9A0F629E9AD}"/>
    <dgm:cxn modelId="{A902143C-A1BD-47D8-ADFC-B19A1624A811}" type="presOf" srcId="{0E5E4EB7-31F3-42E1-BA70-908F7699E25C}" destId="{29B16F8C-F484-406E-87BA-F96E8004EA98}" srcOrd="0" destOrd="0" presId="urn:microsoft.com/office/officeart/2005/8/layout/orgChart1"/>
    <dgm:cxn modelId="{4F5BC141-A539-4234-A986-941241B731B8}" type="presOf" srcId="{213D38AE-FDB7-4791-825E-98984D063944}" destId="{9C81E6AC-CE19-454C-8136-56BC97DF56BC}" srcOrd="0" destOrd="0" presId="urn:microsoft.com/office/officeart/2005/8/layout/orgChart1"/>
    <dgm:cxn modelId="{5F4A7476-618F-4963-803E-0D68F6FB4072}" srcId="{5CC7BB67-11FA-4C34-BED6-D8A0AFE071C3}" destId="{59EA0DD4-84EB-4848-8326-779C59546B8A}" srcOrd="0" destOrd="0" parTransId="{861C3C94-016A-44D7-B6BD-60026AA3FE0C}" sibTransId="{C4F5687D-3C00-49F0-88FE-BAA0C6294592}"/>
    <dgm:cxn modelId="{A9BBE976-532C-4572-A72F-81E9717AE655}" srcId="{5CC7BB67-11FA-4C34-BED6-D8A0AFE071C3}" destId="{F1140240-6516-4ADF-8224-B1E909A9485E}" srcOrd="2" destOrd="0" parTransId="{6F34958D-B3D3-4F21-ADDC-EEEB6B9149B5}" sibTransId="{DFCF4556-226B-4434-BBB1-CB8330013956}"/>
    <dgm:cxn modelId="{3C89297D-6BEB-43A6-8520-49D3697CABC0}" type="presOf" srcId="{526C025C-B2D0-4C70-9D80-E01B5512C9F1}" destId="{E89D80A4-0037-47D2-97ED-B3D139351BB5}" srcOrd="0" destOrd="0" presId="urn:microsoft.com/office/officeart/2005/8/layout/orgChart1"/>
    <dgm:cxn modelId="{81D6BA7F-4A08-468A-8A0B-BB3F8DFD131C}" type="presOf" srcId="{F1140240-6516-4ADF-8224-B1E909A9485E}" destId="{FB4035BF-E5EF-4368-B0CF-74344B3703F0}" srcOrd="0" destOrd="0" presId="urn:microsoft.com/office/officeart/2005/8/layout/orgChart1"/>
    <dgm:cxn modelId="{B8C08B93-B4A3-4BB1-B683-206B610FE1B7}" srcId="{213D38AE-FDB7-4791-825E-98984D063944}" destId="{5CC7BB67-11FA-4C34-BED6-D8A0AFE071C3}" srcOrd="0" destOrd="0" parTransId="{4D13A2A6-A452-4A20-9554-29AABA75DA71}" sibTransId="{F140E2FC-2D20-44A8-83C0-EB7288E2FED6}"/>
    <dgm:cxn modelId="{BD87FAAF-282B-4AFA-8247-97C0197DB30C}" type="presOf" srcId="{5CC7BB67-11FA-4C34-BED6-D8A0AFE071C3}" destId="{8CEF45EA-DCD5-4D4B-807C-A09E4F930379}" srcOrd="0" destOrd="0" presId="urn:microsoft.com/office/officeart/2005/8/layout/orgChart1"/>
    <dgm:cxn modelId="{4D6293C1-74ED-4537-8ECC-6A797D14A357}" type="presOf" srcId="{F1140240-6516-4ADF-8224-B1E909A9485E}" destId="{468AF66B-46EF-43FF-A00F-C08F9F794DAB}" srcOrd="1" destOrd="0" presId="urn:microsoft.com/office/officeart/2005/8/layout/orgChart1"/>
    <dgm:cxn modelId="{DEED5FC6-F252-44C0-9AE2-3DA52AD28333}" type="presOf" srcId="{0E5E4EB7-31F3-42E1-BA70-908F7699E25C}" destId="{CE644F03-D438-438D-A54B-F222329AF0CB}" srcOrd="1" destOrd="0" presId="urn:microsoft.com/office/officeart/2005/8/layout/orgChart1"/>
    <dgm:cxn modelId="{25F953E8-1B32-4B84-8605-81FCBABBB961}" type="presOf" srcId="{59EA0DD4-84EB-4848-8326-779C59546B8A}" destId="{7C77A335-BDC8-494E-830D-3EEFBD0989BD}" srcOrd="0" destOrd="0" presId="urn:microsoft.com/office/officeart/2005/8/layout/orgChart1"/>
    <dgm:cxn modelId="{8336EEF3-8976-43A8-9E2E-CACFAA7A2EFA}" type="presOf" srcId="{59EA0DD4-84EB-4848-8326-779C59546B8A}" destId="{12A732D3-BCEF-4F1C-A1FC-F8EA3019B846}" srcOrd="1" destOrd="0" presId="urn:microsoft.com/office/officeart/2005/8/layout/orgChart1"/>
    <dgm:cxn modelId="{23B6AD7D-46DE-4746-A960-9D75312A4357}" type="presParOf" srcId="{9C81E6AC-CE19-454C-8136-56BC97DF56BC}" destId="{30457075-A8F7-4C52-937A-09A33F892487}" srcOrd="0" destOrd="0" presId="urn:microsoft.com/office/officeart/2005/8/layout/orgChart1"/>
    <dgm:cxn modelId="{35B009C3-1651-491E-A41B-CA891F26DA4A}" type="presParOf" srcId="{30457075-A8F7-4C52-937A-09A33F892487}" destId="{94C3675C-55E1-4A2E-81EB-97FCA2228094}" srcOrd="0" destOrd="0" presId="urn:microsoft.com/office/officeart/2005/8/layout/orgChart1"/>
    <dgm:cxn modelId="{30044960-AFE8-48FC-A5B6-AC0211776D28}" type="presParOf" srcId="{94C3675C-55E1-4A2E-81EB-97FCA2228094}" destId="{8CEF45EA-DCD5-4D4B-807C-A09E4F930379}" srcOrd="0" destOrd="0" presId="urn:microsoft.com/office/officeart/2005/8/layout/orgChart1"/>
    <dgm:cxn modelId="{56B2531C-9F3D-4895-B4D2-DC1F5DF51F03}" type="presParOf" srcId="{94C3675C-55E1-4A2E-81EB-97FCA2228094}" destId="{AE4BEA17-F40C-416F-8CAC-5A45DC2A43E5}" srcOrd="1" destOrd="0" presId="urn:microsoft.com/office/officeart/2005/8/layout/orgChart1"/>
    <dgm:cxn modelId="{B588FC94-17AD-49BB-8078-820A14DBF051}" type="presParOf" srcId="{30457075-A8F7-4C52-937A-09A33F892487}" destId="{E2E2CB60-5B69-41BB-93B5-D3BCE584ADB3}" srcOrd="1" destOrd="0" presId="urn:microsoft.com/office/officeart/2005/8/layout/orgChart1"/>
    <dgm:cxn modelId="{1150555F-C62B-4BD6-A4E7-23DAC3E916B6}" type="presParOf" srcId="{E2E2CB60-5B69-41BB-93B5-D3BCE584ADB3}" destId="{FADC4AE9-70A3-4336-A80C-B5EA50E7F69D}" srcOrd="0" destOrd="0" presId="urn:microsoft.com/office/officeart/2005/8/layout/orgChart1"/>
    <dgm:cxn modelId="{05FD53B1-25F0-4D79-A834-091FE2ADF1A2}" type="presParOf" srcId="{E2E2CB60-5B69-41BB-93B5-D3BCE584ADB3}" destId="{493612F6-A4F4-440B-892F-752728E3E228}" srcOrd="1" destOrd="0" presId="urn:microsoft.com/office/officeart/2005/8/layout/orgChart1"/>
    <dgm:cxn modelId="{37B40964-201D-4491-B4B9-5C778695E95A}" type="presParOf" srcId="{493612F6-A4F4-440B-892F-752728E3E228}" destId="{E176BBAE-34CB-4E09-A81F-866F72E3010D}" srcOrd="0" destOrd="0" presId="urn:microsoft.com/office/officeart/2005/8/layout/orgChart1"/>
    <dgm:cxn modelId="{EF682679-594C-4468-836A-9914121F75FF}" type="presParOf" srcId="{E176BBAE-34CB-4E09-A81F-866F72E3010D}" destId="{7C77A335-BDC8-494E-830D-3EEFBD0989BD}" srcOrd="0" destOrd="0" presId="urn:microsoft.com/office/officeart/2005/8/layout/orgChart1"/>
    <dgm:cxn modelId="{8664ADDE-F45B-4AE1-A494-DEA3ED34EE8E}" type="presParOf" srcId="{E176BBAE-34CB-4E09-A81F-866F72E3010D}" destId="{12A732D3-BCEF-4F1C-A1FC-F8EA3019B846}" srcOrd="1" destOrd="0" presId="urn:microsoft.com/office/officeart/2005/8/layout/orgChart1"/>
    <dgm:cxn modelId="{2B216BE0-439E-42B0-9CF3-0C26CFC34C68}" type="presParOf" srcId="{493612F6-A4F4-440B-892F-752728E3E228}" destId="{3F3FEE63-B793-4E6E-BDCC-C8AD25B5DC02}" srcOrd="1" destOrd="0" presId="urn:microsoft.com/office/officeart/2005/8/layout/orgChart1"/>
    <dgm:cxn modelId="{3422D22F-354E-4456-93C9-9DD4CB0155AA}" type="presParOf" srcId="{493612F6-A4F4-440B-892F-752728E3E228}" destId="{F530FA97-4588-4A0B-B3AF-13F8B8135C75}" srcOrd="2" destOrd="0" presId="urn:microsoft.com/office/officeart/2005/8/layout/orgChart1"/>
    <dgm:cxn modelId="{CBEE2C39-87C8-463E-A814-230018FCF4CB}" type="presParOf" srcId="{E2E2CB60-5B69-41BB-93B5-D3BCE584ADB3}" destId="{E89D80A4-0037-47D2-97ED-B3D139351BB5}" srcOrd="2" destOrd="0" presId="urn:microsoft.com/office/officeart/2005/8/layout/orgChart1"/>
    <dgm:cxn modelId="{291D43AA-2E2B-4E1E-B617-86C4EBD64CA1}" type="presParOf" srcId="{E2E2CB60-5B69-41BB-93B5-D3BCE584ADB3}" destId="{5541CB0A-026C-4A1F-BA0C-80B389C94485}" srcOrd="3" destOrd="0" presId="urn:microsoft.com/office/officeart/2005/8/layout/orgChart1"/>
    <dgm:cxn modelId="{3E2B76CA-9DF8-4C39-BB7D-5037CB8F1BEA}" type="presParOf" srcId="{5541CB0A-026C-4A1F-BA0C-80B389C94485}" destId="{8DD8CE04-B0E5-4078-B114-970CA7BEF618}" srcOrd="0" destOrd="0" presId="urn:microsoft.com/office/officeart/2005/8/layout/orgChart1"/>
    <dgm:cxn modelId="{16E474D9-6B01-4077-AD56-4B21FCD7C7B8}" type="presParOf" srcId="{8DD8CE04-B0E5-4078-B114-970CA7BEF618}" destId="{29B16F8C-F484-406E-87BA-F96E8004EA98}" srcOrd="0" destOrd="0" presId="urn:microsoft.com/office/officeart/2005/8/layout/orgChart1"/>
    <dgm:cxn modelId="{D9AD8DB4-65CF-4360-B08B-8780EDFF78A5}" type="presParOf" srcId="{8DD8CE04-B0E5-4078-B114-970CA7BEF618}" destId="{CE644F03-D438-438D-A54B-F222329AF0CB}" srcOrd="1" destOrd="0" presId="urn:microsoft.com/office/officeart/2005/8/layout/orgChart1"/>
    <dgm:cxn modelId="{874BC3AD-1DE7-4593-99CB-E47C8114A1A1}" type="presParOf" srcId="{5541CB0A-026C-4A1F-BA0C-80B389C94485}" destId="{3A0CB031-F7D9-483C-AC09-D11B83AA6AC1}" srcOrd="1" destOrd="0" presId="urn:microsoft.com/office/officeart/2005/8/layout/orgChart1"/>
    <dgm:cxn modelId="{372439C7-0DA1-439A-A5F8-AB5B7B76C3A6}" type="presParOf" srcId="{5541CB0A-026C-4A1F-BA0C-80B389C94485}" destId="{C18B2AC1-1FBD-421F-89AE-4C2C0504083B}" srcOrd="2" destOrd="0" presId="urn:microsoft.com/office/officeart/2005/8/layout/orgChart1"/>
    <dgm:cxn modelId="{7C44CD06-E232-4379-AEB0-F5FC82543F8F}" type="presParOf" srcId="{E2E2CB60-5B69-41BB-93B5-D3BCE584ADB3}" destId="{4E603516-0C9F-4758-85FD-A45413C58CB1}" srcOrd="4" destOrd="0" presId="urn:microsoft.com/office/officeart/2005/8/layout/orgChart1"/>
    <dgm:cxn modelId="{6AAC98EB-F3E1-4F9B-A13B-908A68160DDC}" type="presParOf" srcId="{E2E2CB60-5B69-41BB-93B5-D3BCE584ADB3}" destId="{0E1D8B1B-74EA-4E8C-BD2D-4553203CEC78}" srcOrd="5" destOrd="0" presId="urn:microsoft.com/office/officeart/2005/8/layout/orgChart1"/>
    <dgm:cxn modelId="{21FFA2FC-09F1-4AF8-BC92-BE86C9D0957D}" type="presParOf" srcId="{0E1D8B1B-74EA-4E8C-BD2D-4553203CEC78}" destId="{2B2A71C5-E590-4D94-9220-A1901B305ED9}" srcOrd="0" destOrd="0" presId="urn:microsoft.com/office/officeart/2005/8/layout/orgChart1"/>
    <dgm:cxn modelId="{0CFF141D-E6CD-485E-90CB-6794FFFEE613}" type="presParOf" srcId="{2B2A71C5-E590-4D94-9220-A1901B305ED9}" destId="{FB4035BF-E5EF-4368-B0CF-74344B3703F0}" srcOrd="0" destOrd="0" presId="urn:microsoft.com/office/officeart/2005/8/layout/orgChart1"/>
    <dgm:cxn modelId="{237A3726-12F9-4427-95D4-34F530258F11}" type="presParOf" srcId="{2B2A71C5-E590-4D94-9220-A1901B305ED9}" destId="{468AF66B-46EF-43FF-A00F-C08F9F794DAB}" srcOrd="1" destOrd="0" presId="urn:microsoft.com/office/officeart/2005/8/layout/orgChart1"/>
    <dgm:cxn modelId="{3D6EBA55-DD2E-43EF-B70D-BB6F3983E626}" type="presParOf" srcId="{0E1D8B1B-74EA-4E8C-BD2D-4553203CEC78}" destId="{5EB158FA-F1C1-49C5-B866-2EB5FF3568CE}" srcOrd="1" destOrd="0" presId="urn:microsoft.com/office/officeart/2005/8/layout/orgChart1"/>
    <dgm:cxn modelId="{EED7D79C-BF0F-4C6F-B5E3-526114DBEFF6}" type="presParOf" srcId="{0E1D8B1B-74EA-4E8C-BD2D-4553203CEC78}" destId="{600C9FCF-3834-4070-9322-820CE82A9976}" srcOrd="2" destOrd="0" presId="urn:microsoft.com/office/officeart/2005/8/layout/orgChart1"/>
    <dgm:cxn modelId="{C93DB196-993A-40B9-BBCC-28E819E8CC11}" type="presParOf" srcId="{30457075-A8F7-4C52-937A-09A33F892487}" destId="{C9C15937-CF09-453D-98B3-8F86399911A0}"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ED86103-3BC9-480C-B7C5-0A737B8AC7AA}" type="doc">
      <dgm:prSet loTypeId="urn:microsoft.com/office/officeart/2005/8/layout/balance1" loCatId="relationship" qsTypeId="urn:microsoft.com/office/officeart/2005/8/quickstyle/simple5" qsCatId="simple" csTypeId="urn:microsoft.com/office/officeart/2005/8/colors/accent1_2" csCatId="accent1" phldr="1"/>
      <dgm:spPr/>
      <dgm:t>
        <a:bodyPr/>
        <a:lstStyle/>
        <a:p>
          <a:endParaRPr lang="en-GB"/>
        </a:p>
      </dgm:t>
    </dgm:pt>
    <dgm:pt modelId="{5B5AFEBC-7350-45E4-806F-F38F26B0292B}">
      <dgm:prSet phldrT="[Text]" phldr="0"/>
      <dgm:spPr/>
      <dgm:t>
        <a:bodyPr/>
        <a:lstStyle/>
        <a:p>
          <a:r>
            <a:rPr lang="en-GB" dirty="0"/>
            <a:t>Marginal</a:t>
          </a:r>
        </a:p>
      </dgm:t>
    </dgm:pt>
    <dgm:pt modelId="{0995BAC2-B527-49F9-B620-23D56A962A2B}" type="parTrans" cxnId="{60E062CF-60C7-419B-B5F9-9F536A819740}">
      <dgm:prSet/>
      <dgm:spPr/>
      <dgm:t>
        <a:bodyPr/>
        <a:lstStyle/>
        <a:p>
          <a:endParaRPr lang="en-GB"/>
        </a:p>
      </dgm:t>
    </dgm:pt>
    <dgm:pt modelId="{26ED6075-0AA0-49A0-8104-036A43A027BC}" type="sibTrans" cxnId="{60E062CF-60C7-419B-B5F9-9F536A819740}">
      <dgm:prSet/>
      <dgm:spPr/>
      <dgm:t>
        <a:bodyPr/>
        <a:lstStyle/>
        <a:p>
          <a:endParaRPr lang="en-GB"/>
        </a:p>
      </dgm:t>
    </dgm:pt>
    <dgm:pt modelId="{5EC201D9-C509-470F-9A60-26DAD7B38A68}">
      <dgm:prSet phldrT="[Text]" phldr="0"/>
      <dgm:spPr/>
      <dgm:t>
        <a:bodyPr/>
        <a:lstStyle/>
        <a:p>
          <a:r>
            <a:rPr lang="en-GB" dirty="0"/>
            <a:t>Cost of next $</a:t>
          </a:r>
        </a:p>
      </dgm:t>
    </dgm:pt>
    <dgm:pt modelId="{EA1A3BBD-B909-4D2C-9080-1E4878A1C66B}" type="parTrans" cxnId="{BF55C750-0138-4C3B-809A-FB4CC6546890}">
      <dgm:prSet/>
      <dgm:spPr/>
      <dgm:t>
        <a:bodyPr/>
        <a:lstStyle/>
        <a:p>
          <a:endParaRPr lang="en-GB"/>
        </a:p>
      </dgm:t>
    </dgm:pt>
    <dgm:pt modelId="{8E4D02E5-1023-428E-A998-E4106AD37980}" type="sibTrans" cxnId="{BF55C750-0138-4C3B-809A-FB4CC6546890}">
      <dgm:prSet/>
      <dgm:spPr/>
      <dgm:t>
        <a:bodyPr/>
        <a:lstStyle/>
        <a:p>
          <a:endParaRPr lang="en-GB"/>
        </a:p>
      </dgm:t>
    </dgm:pt>
    <dgm:pt modelId="{2F6039B5-A7A0-4DAC-B109-9B4FA1FDBEB1}">
      <dgm:prSet phldrT="[Text]" phldr="0"/>
      <dgm:spPr/>
      <dgm:t>
        <a:bodyPr/>
        <a:lstStyle/>
        <a:p>
          <a:r>
            <a:rPr lang="en-GB" dirty="0"/>
            <a:t>Regulation</a:t>
          </a:r>
        </a:p>
      </dgm:t>
    </dgm:pt>
    <dgm:pt modelId="{C773280B-D81E-4BA8-A3D0-F0C3991F6877}" type="parTrans" cxnId="{0EB7CFA7-2F53-4D6F-A212-CD9C7D3CC190}">
      <dgm:prSet/>
      <dgm:spPr/>
      <dgm:t>
        <a:bodyPr/>
        <a:lstStyle/>
        <a:p>
          <a:endParaRPr lang="en-GB"/>
        </a:p>
      </dgm:t>
    </dgm:pt>
    <dgm:pt modelId="{EFAD4F32-F767-4925-A886-0704E52B523A}" type="sibTrans" cxnId="{0EB7CFA7-2F53-4D6F-A212-CD9C7D3CC190}">
      <dgm:prSet/>
      <dgm:spPr/>
      <dgm:t>
        <a:bodyPr/>
        <a:lstStyle/>
        <a:p>
          <a:endParaRPr lang="en-GB"/>
        </a:p>
      </dgm:t>
    </dgm:pt>
    <dgm:pt modelId="{63D1F7EE-92B1-4A92-9F82-F97CC9AEDC6C}">
      <dgm:prSet phldrT="[Text]" phldr="0"/>
      <dgm:spPr/>
      <dgm:t>
        <a:bodyPr/>
        <a:lstStyle/>
        <a:p>
          <a:r>
            <a:rPr lang="en-GB" dirty="0"/>
            <a:t>Effective</a:t>
          </a:r>
        </a:p>
      </dgm:t>
    </dgm:pt>
    <dgm:pt modelId="{BCC33EE7-A753-46DC-B714-7A5C47436FF3}" type="parTrans" cxnId="{32561204-C9B4-415B-9853-1FBB10BF8DC9}">
      <dgm:prSet/>
      <dgm:spPr/>
      <dgm:t>
        <a:bodyPr/>
        <a:lstStyle/>
        <a:p>
          <a:endParaRPr lang="en-GB"/>
        </a:p>
      </dgm:t>
    </dgm:pt>
    <dgm:pt modelId="{4DDBC5F0-C6F7-4582-BF91-07308F63FD7A}" type="sibTrans" cxnId="{32561204-C9B4-415B-9853-1FBB10BF8DC9}">
      <dgm:prSet/>
      <dgm:spPr/>
      <dgm:t>
        <a:bodyPr/>
        <a:lstStyle/>
        <a:p>
          <a:endParaRPr lang="en-GB"/>
        </a:p>
      </dgm:t>
    </dgm:pt>
    <dgm:pt modelId="{CC985042-081C-4FDB-88E3-EE543F1B3E76}">
      <dgm:prSet phldrT="[Text]" phldr="0"/>
      <dgm:spPr/>
      <dgm:t>
        <a:bodyPr/>
        <a:lstStyle/>
        <a:p>
          <a:r>
            <a:rPr lang="en-GB" dirty="0"/>
            <a:t>Forecastable</a:t>
          </a:r>
        </a:p>
      </dgm:t>
    </dgm:pt>
    <dgm:pt modelId="{4E4B2BCA-110E-4EA7-B05F-F4B5E526305D}" type="parTrans" cxnId="{33FC8D8B-F750-4E10-952E-B1A6E3988954}">
      <dgm:prSet/>
      <dgm:spPr/>
      <dgm:t>
        <a:bodyPr/>
        <a:lstStyle/>
        <a:p>
          <a:endParaRPr lang="en-GB"/>
        </a:p>
      </dgm:t>
    </dgm:pt>
    <dgm:pt modelId="{B4645F8E-EBDD-4916-9299-258164B6546A}" type="sibTrans" cxnId="{33FC8D8B-F750-4E10-952E-B1A6E3988954}">
      <dgm:prSet/>
      <dgm:spPr/>
      <dgm:t>
        <a:bodyPr/>
        <a:lstStyle/>
        <a:p>
          <a:endParaRPr lang="en-GB"/>
        </a:p>
      </dgm:t>
    </dgm:pt>
    <dgm:pt modelId="{A98A2803-0B68-44E8-9B7D-39945D779086}">
      <dgm:prSet phldrT="[Text]" phldr="0"/>
      <dgm:spPr/>
      <dgm:t>
        <a:bodyPr/>
        <a:lstStyle/>
        <a:p>
          <a:r>
            <a:rPr lang="en-GB" dirty="0"/>
            <a:t>Actual CF</a:t>
          </a:r>
        </a:p>
      </dgm:t>
    </dgm:pt>
    <dgm:pt modelId="{FCD8D3F4-C334-42DF-A155-B27273481850}" type="parTrans" cxnId="{9B31B3C9-E854-4BD2-83A6-1F76BFB18F5C}">
      <dgm:prSet/>
      <dgm:spPr/>
      <dgm:t>
        <a:bodyPr/>
        <a:lstStyle/>
        <a:p>
          <a:endParaRPr lang="en-GB"/>
        </a:p>
      </dgm:t>
    </dgm:pt>
    <dgm:pt modelId="{F65CDD9D-2123-4392-BD24-8CDC11EAF694}" type="sibTrans" cxnId="{9B31B3C9-E854-4BD2-83A6-1F76BFB18F5C}">
      <dgm:prSet/>
      <dgm:spPr/>
      <dgm:t>
        <a:bodyPr/>
        <a:lstStyle/>
        <a:p>
          <a:endParaRPr lang="en-GB"/>
        </a:p>
      </dgm:t>
    </dgm:pt>
    <dgm:pt modelId="{FDE7CA83-8EA0-4D4D-9C61-3718FC4B33E7}">
      <dgm:prSet phldrT="[Text]" phldr="0"/>
      <dgm:spPr/>
      <dgm:t>
        <a:bodyPr/>
        <a:lstStyle/>
        <a:p>
          <a:r>
            <a:rPr lang="en-GB" dirty="0"/>
            <a:t>Tax optimization</a:t>
          </a:r>
        </a:p>
      </dgm:t>
    </dgm:pt>
    <dgm:pt modelId="{37005057-5715-4D3D-97BB-FC6A39AB3BCD}" type="parTrans" cxnId="{681AA96B-4C0E-434A-97BB-96D080472A9F}">
      <dgm:prSet/>
      <dgm:spPr/>
      <dgm:t>
        <a:bodyPr/>
        <a:lstStyle/>
        <a:p>
          <a:endParaRPr lang="en-GB"/>
        </a:p>
      </dgm:t>
    </dgm:pt>
    <dgm:pt modelId="{B03FD9C0-C6AE-4C5B-B921-6A6967B78241}" type="sibTrans" cxnId="{681AA96B-4C0E-434A-97BB-96D080472A9F}">
      <dgm:prSet/>
      <dgm:spPr/>
      <dgm:t>
        <a:bodyPr/>
        <a:lstStyle/>
        <a:p>
          <a:endParaRPr lang="en-GB"/>
        </a:p>
      </dgm:t>
    </dgm:pt>
    <dgm:pt modelId="{76C18696-88B1-456F-918D-5EF61162DC0F}">
      <dgm:prSet phldrT="[Text]" phldr="0"/>
      <dgm:spPr/>
      <dgm:t>
        <a:bodyPr/>
        <a:lstStyle/>
        <a:p>
          <a:r>
            <a:rPr lang="en-GB"/>
            <a:t>Reported by government</a:t>
          </a:r>
          <a:endParaRPr lang="en-GB" dirty="0"/>
        </a:p>
      </dgm:t>
    </dgm:pt>
    <dgm:pt modelId="{99AB3D42-BB9F-47D1-80B7-7F8BAEF359BA}" type="parTrans" cxnId="{7D1EC402-3D9C-4188-8497-CE0CDF620E50}">
      <dgm:prSet/>
      <dgm:spPr/>
      <dgm:t>
        <a:bodyPr/>
        <a:lstStyle/>
        <a:p>
          <a:endParaRPr lang="en-GB"/>
        </a:p>
      </dgm:t>
    </dgm:pt>
    <dgm:pt modelId="{51BC272D-811A-4C2E-934B-9C8380D10DF4}" type="sibTrans" cxnId="{7D1EC402-3D9C-4188-8497-CE0CDF620E50}">
      <dgm:prSet/>
      <dgm:spPr/>
      <dgm:t>
        <a:bodyPr/>
        <a:lstStyle/>
        <a:p>
          <a:endParaRPr lang="en-GB"/>
        </a:p>
      </dgm:t>
    </dgm:pt>
    <dgm:pt modelId="{C5F05973-C68F-4547-B79A-7AC08A39F22F}">
      <dgm:prSet phldrT="[Text]" phldr="0"/>
      <dgm:spPr/>
      <dgm:t>
        <a:bodyPr/>
        <a:lstStyle/>
        <a:p>
          <a:r>
            <a:rPr lang="en-GB"/>
            <a:t>Reported in statements</a:t>
          </a:r>
          <a:endParaRPr lang="en-GB" dirty="0"/>
        </a:p>
      </dgm:t>
    </dgm:pt>
    <dgm:pt modelId="{D7CFE211-1FA6-4AD3-ABDC-AA198A161F60}" type="parTrans" cxnId="{B59F0741-C97D-4A8E-8775-657BE914A60E}">
      <dgm:prSet/>
      <dgm:spPr/>
      <dgm:t>
        <a:bodyPr/>
        <a:lstStyle/>
        <a:p>
          <a:endParaRPr lang="en-GB"/>
        </a:p>
      </dgm:t>
    </dgm:pt>
    <dgm:pt modelId="{775D03EB-49B8-4052-A730-41D489476C4D}" type="sibTrans" cxnId="{B59F0741-C97D-4A8E-8775-657BE914A60E}">
      <dgm:prSet/>
      <dgm:spPr/>
      <dgm:t>
        <a:bodyPr/>
        <a:lstStyle/>
        <a:p>
          <a:endParaRPr lang="en-GB"/>
        </a:p>
      </dgm:t>
    </dgm:pt>
    <dgm:pt modelId="{9F765EE2-4EC0-4E01-B78A-E0584F38C7F7}" type="pres">
      <dgm:prSet presAssocID="{FED86103-3BC9-480C-B7C5-0A737B8AC7AA}" presName="outerComposite" presStyleCnt="0">
        <dgm:presLayoutVars>
          <dgm:chMax val="2"/>
          <dgm:animLvl val="lvl"/>
          <dgm:resizeHandles val="exact"/>
        </dgm:presLayoutVars>
      </dgm:prSet>
      <dgm:spPr/>
    </dgm:pt>
    <dgm:pt modelId="{B3EC7E8A-1333-461B-8C71-531DA66DA2E7}" type="pres">
      <dgm:prSet presAssocID="{FED86103-3BC9-480C-B7C5-0A737B8AC7AA}" presName="dummyMaxCanvas" presStyleCnt="0"/>
      <dgm:spPr/>
    </dgm:pt>
    <dgm:pt modelId="{29C0A290-59CD-42A4-A481-C61DD6AF8456}" type="pres">
      <dgm:prSet presAssocID="{FED86103-3BC9-480C-B7C5-0A737B8AC7AA}" presName="parentComposite" presStyleCnt="0"/>
      <dgm:spPr/>
    </dgm:pt>
    <dgm:pt modelId="{6D2D582B-878B-4DD4-B637-A54B1D254E82}" type="pres">
      <dgm:prSet presAssocID="{FED86103-3BC9-480C-B7C5-0A737B8AC7AA}" presName="parent1" presStyleLbl="alignAccFollowNode1" presStyleIdx="0" presStyleCnt="4">
        <dgm:presLayoutVars>
          <dgm:chMax val="4"/>
        </dgm:presLayoutVars>
      </dgm:prSet>
      <dgm:spPr/>
    </dgm:pt>
    <dgm:pt modelId="{118D56C1-C382-4CED-86C3-57F1AD9DB28E}" type="pres">
      <dgm:prSet presAssocID="{FED86103-3BC9-480C-B7C5-0A737B8AC7AA}" presName="parent2" presStyleLbl="alignAccFollowNode1" presStyleIdx="1" presStyleCnt="4">
        <dgm:presLayoutVars>
          <dgm:chMax val="4"/>
        </dgm:presLayoutVars>
      </dgm:prSet>
      <dgm:spPr/>
    </dgm:pt>
    <dgm:pt modelId="{DBCD0E24-8725-4AF8-91E5-E9AB64D0FB2C}" type="pres">
      <dgm:prSet presAssocID="{FED86103-3BC9-480C-B7C5-0A737B8AC7AA}" presName="childrenComposite" presStyleCnt="0"/>
      <dgm:spPr/>
    </dgm:pt>
    <dgm:pt modelId="{5F16E553-5341-40E7-96E4-81C8F1AC0996}" type="pres">
      <dgm:prSet presAssocID="{FED86103-3BC9-480C-B7C5-0A737B8AC7AA}" presName="dummyMaxCanvas_ChildArea" presStyleCnt="0"/>
      <dgm:spPr/>
    </dgm:pt>
    <dgm:pt modelId="{974279A2-B8FC-4728-9A14-BD43A4873D62}" type="pres">
      <dgm:prSet presAssocID="{FED86103-3BC9-480C-B7C5-0A737B8AC7AA}" presName="fulcrum" presStyleLbl="alignAccFollowNode1" presStyleIdx="2" presStyleCnt="4"/>
      <dgm:spPr/>
    </dgm:pt>
    <dgm:pt modelId="{C7F331B4-869A-4542-B6EA-8C53A971C1A9}" type="pres">
      <dgm:prSet presAssocID="{FED86103-3BC9-480C-B7C5-0A737B8AC7AA}" presName="balance_34" presStyleLbl="alignAccFollowNode1" presStyleIdx="3" presStyleCnt="4">
        <dgm:presLayoutVars>
          <dgm:bulletEnabled val="1"/>
        </dgm:presLayoutVars>
      </dgm:prSet>
      <dgm:spPr/>
    </dgm:pt>
    <dgm:pt modelId="{2C02AB47-C471-4392-A618-9FCC144F5239}" type="pres">
      <dgm:prSet presAssocID="{FED86103-3BC9-480C-B7C5-0A737B8AC7AA}" presName="right_34_1" presStyleLbl="node1" presStyleIdx="0" presStyleCnt="7">
        <dgm:presLayoutVars>
          <dgm:bulletEnabled val="1"/>
        </dgm:presLayoutVars>
      </dgm:prSet>
      <dgm:spPr/>
    </dgm:pt>
    <dgm:pt modelId="{5B97B534-5295-4EE1-8025-6280E5964948}" type="pres">
      <dgm:prSet presAssocID="{FED86103-3BC9-480C-B7C5-0A737B8AC7AA}" presName="right_34_2" presStyleLbl="node1" presStyleIdx="1" presStyleCnt="7">
        <dgm:presLayoutVars>
          <dgm:bulletEnabled val="1"/>
        </dgm:presLayoutVars>
      </dgm:prSet>
      <dgm:spPr/>
    </dgm:pt>
    <dgm:pt modelId="{062E4373-A8A3-4BBB-AA3A-E2565F1A1576}" type="pres">
      <dgm:prSet presAssocID="{FED86103-3BC9-480C-B7C5-0A737B8AC7AA}" presName="right_34_3" presStyleLbl="node1" presStyleIdx="2" presStyleCnt="7">
        <dgm:presLayoutVars>
          <dgm:bulletEnabled val="1"/>
        </dgm:presLayoutVars>
      </dgm:prSet>
      <dgm:spPr/>
    </dgm:pt>
    <dgm:pt modelId="{1CA2D0CA-3896-4102-95D1-FDB732776859}" type="pres">
      <dgm:prSet presAssocID="{FED86103-3BC9-480C-B7C5-0A737B8AC7AA}" presName="right_34_4" presStyleLbl="node1" presStyleIdx="3" presStyleCnt="7">
        <dgm:presLayoutVars>
          <dgm:bulletEnabled val="1"/>
        </dgm:presLayoutVars>
      </dgm:prSet>
      <dgm:spPr/>
    </dgm:pt>
    <dgm:pt modelId="{A547E5F9-753D-4E1D-A494-271418764846}" type="pres">
      <dgm:prSet presAssocID="{FED86103-3BC9-480C-B7C5-0A737B8AC7AA}" presName="left_34_1" presStyleLbl="node1" presStyleIdx="4" presStyleCnt="7">
        <dgm:presLayoutVars>
          <dgm:bulletEnabled val="1"/>
        </dgm:presLayoutVars>
      </dgm:prSet>
      <dgm:spPr/>
    </dgm:pt>
    <dgm:pt modelId="{B73E0F17-5DCE-4E50-A0D2-3B9B820B805A}" type="pres">
      <dgm:prSet presAssocID="{FED86103-3BC9-480C-B7C5-0A737B8AC7AA}" presName="left_34_2" presStyleLbl="node1" presStyleIdx="5" presStyleCnt="7">
        <dgm:presLayoutVars>
          <dgm:bulletEnabled val="1"/>
        </dgm:presLayoutVars>
      </dgm:prSet>
      <dgm:spPr/>
    </dgm:pt>
    <dgm:pt modelId="{AA0AFB59-62A1-4A5C-A8FE-22D4ECF1079F}" type="pres">
      <dgm:prSet presAssocID="{FED86103-3BC9-480C-B7C5-0A737B8AC7AA}" presName="left_34_3" presStyleLbl="node1" presStyleIdx="6" presStyleCnt="7">
        <dgm:presLayoutVars>
          <dgm:bulletEnabled val="1"/>
        </dgm:presLayoutVars>
      </dgm:prSet>
      <dgm:spPr/>
    </dgm:pt>
  </dgm:ptLst>
  <dgm:cxnLst>
    <dgm:cxn modelId="{7D1EC402-3D9C-4188-8497-CE0CDF620E50}" srcId="{5B5AFEBC-7350-45E4-806F-F38F26B0292B}" destId="{76C18696-88B1-456F-918D-5EF61162DC0F}" srcOrd="2" destOrd="0" parTransId="{99AB3D42-BB9F-47D1-80B7-7F8BAEF359BA}" sibTransId="{51BC272D-811A-4C2E-934B-9C8380D10DF4}"/>
    <dgm:cxn modelId="{90DC2C03-45DE-4E41-865A-7DA310258C5B}" type="presOf" srcId="{5EC201D9-C509-470F-9A60-26DAD7B38A68}" destId="{A547E5F9-753D-4E1D-A494-271418764846}" srcOrd="0" destOrd="0" presId="urn:microsoft.com/office/officeart/2005/8/layout/balance1"/>
    <dgm:cxn modelId="{32561204-C9B4-415B-9853-1FBB10BF8DC9}" srcId="{FED86103-3BC9-480C-B7C5-0A737B8AC7AA}" destId="{63D1F7EE-92B1-4A92-9F82-F97CC9AEDC6C}" srcOrd="1" destOrd="0" parTransId="{BCC33EE7-A753-46DC-B714-7A5C47436FF3}" sibTransId="{4DDBC5F0-C6F7-4582-BF91-07308F63FD7A}"/>
    <dgm:cxn modelId="{D4722E2A-2919-4D91-A83B-239288B421F0}" type="presOf" srcId="{76C18696-88B1-456F-918D-5EF61162DC0F}" destId="{AA0AFB59-62A1-4A5C-A8FE-22D4ECF1079F}" srcOrd="0" destOrd="0" presId="urn:microsoft.com/office/officeart/2005/8/layout/balance1"/>
    <dgm:cxn modelId="{B59F0741-C97D-4A8E-8775-657BE914A60E}" srcId="{63D1F7EE-92B1-4A92-9F82-F97CC9AEDC6C}" destId="{C5F05973-C68F-4547-B79A-7AC08A39F22F}" srcOrd="3" destOrd="0" parTransId="{D7CFE211-1FA6-4AD3-ABDC-AA198A161F60}" sibTransId="{775D03EB-49B8-4052-A730-41D489476C4D}"/>
    <dgm:cxn modelId="{681AA96B-4C0E-434A-97BB-96D080472A9F}" srcId="{63D1F7EE-92B1-4A92-9F82-F97CC9AEDC6C}" destId="{FDE7CA83-8EA0-4D4D-9C61-3718FC4B33E7}" srcOrd="2" destOrd="0" parTransId="{37005057-5715-4D3D-97BB-FC6A39AB3BCD}" sibTransId="{B03FD9C0-C6AE-4C5B-B921-6A6967B78241}"/>
    <dgm:cxn modelId="{BF55C750-0138-4C3B-809A-FB4CC6546890}" srcId="{5B5AFEBC-7350-45E4-806F-F38F26B0292B}" destId="{5EC201D9-C509-470F-9A60-26DAD7B38A68}" srcOrd="0" destOrd="0" parTransId="{EA1A3BBD-B909-4D2C-9080-1E4878A1C66B}" sibTransId="{8E4D02E5-1023-428E-A998-E4106AD37980}"/>
    <dgm:cxn modelId="{B1410379-D6F5-4EB8-9595-39C247141015}" type="presOf" srcId="{63D1F7EE-92B1-4A92-9F82-F97CC9AEDC6C}" destId="{118D56C1-C382-4CED-86C3-57F1AD9DB28E}" srcOrd="0" destOrd="0" presId="urn:microsoft.com/office/officeart/2005/8/layout/balance1"/>
    <dgm:cxn modelId="{EB603189-12CE-43AC-B16C-42147C3770FE}" type="presOf" srcId="{CC985042-081C-4FDB-88E3-EE543F1B3E76}" destId="{2C02AB47-C471-4392-A618-9FCC144F5239}" srcOrd="0" destOrd="0" presId="urn:microsoft.com/office/officeart/2005/8/layout/balance1"/>
    <dgm:cxn modelId="{33FC8D8B-F750-4E10-952E-B1A6E3988954}" srcId="{63D1F7EE-92B1-4A92-9F82-F97CC9AEDC6C}" destId="{CC985042-081C-4FDB-88E3-EE543F1B3E76}" srcOrd="0" destOrd="0" parTransId="{4E4B2BCA-110E-4EA7-B05F-F4B5E526305D}" sibTransId="{B4645F8E-EBDD-4916-9299-258164B6546A}"/>
    <dgm:cxn modelId="{91D7B29F-A276-4DB8-9794-69F3982CF7B1}" type="presOf" srcId="{A98A2803-0B68-44E8-9B7D-39945D779086}" destId="{5B97B534-5295-4EE1-8025-6280E5964948}" srcOrd="0" destOrd="0" presId="urn:microsoft.com/office/officeart/2005/8/layout/balance1"/>
    <dgm:cxn modelId="{0EB7CFA7-2F53-4D6F-A212-CD9C7D3CC190}" srcId="{5B5AFEBC-7350-45E4-806F-F38F26B0292B}" destId="{2F6039B5-A7A0-4DAC-B109-9B4FA1FDBEB1}" srcOrd="1" destOrd="0" parTransId="{C773280B-D81E-4BA8-A3D0-F0C3991F6877}" sibTransId="{EFAD4F32-F767-4925-A886-0704E52B523A}"/>
    <dgm:cxn modelId="{C224E4C0-F5AE-4E82-A591-632A5B6EE6D5}" type="presOf" srcId="{C5F05973-C68F-4547-B79A-7AC08A39F22F}" destId="{1CA2D0CA-3896-4102-95D1-FDB732776859}" srcOrd="0" destOrd="0" presId="urn:microsoft.com/office/officeart/2005/8/layout/balance1"/>
    <dgm:cxn modelId="{C0387FC5-D707-439C-9AFD-64EC46E38A90}" type="presOf" srcId="{FDE7CA83-8EA0-4D4D-9C61-3718FC4B33E7}" destId="{062E4373-A8A3-4BBB-AA3A-E2565F1A1576}" srcOrd="0" destOrd="0" presId="urn:microsoft.com/office/officeart/2005/8/layout/balance1"/>
    <dgm:cxn modelId="{9B31B3C9-E854-4BD2-83A6-1F76BFB18F5C}" srcId="{63D1F7EE-92B1-4A92-9F82-F97CC9AEDC6C}" destId="{A98A2803-0B68-44E8-9B7D-39945D779086}" srcOrd="1" destOrd="0" parTransId="{FCD8D3F4-C334-42DF-A155-B27273481850}" sibTransId="{F65CDD9D-2123-4392-BD24-8CDC11EAF694}"/>
    <dgm:cxn modelId="{62BC62CA-0778-42B2-AC06-FD2D8A1AA601}" type="presOf" srcId="{5B5AFEBC-7350-45E4-806F-F38F26B0292B}" destId="{6D2D582B-878B-4DD4-B637-A54B1D254E82}" srcOrd="0" destOrd="0" presId="urn:microsoft.com/office/officeart/2005/8/layout/balance1"/>
    <dgm:cxn modelId="{60E062CF-60C7-419B-B5F9-9F536A819740}" srcId="{FED86103-3BC9-480C-B7C5-0A737B8AC7AA}" destId="{5B5AFEBC-7350-45E4-806F-F38F26B0292B}" srcOrd="0" destOrd="0" parTransId="{0995BAC2-B527-49F9-B620-23D56A962A2B}" sibTransId="{26ED6075-0AA0-49A0-8104-036A43A027BC}"/>
    <dgm:cxn modelId="{6EDB17D2-B376-44F7-AA65-1E2ED1406A6F}" type="presOf" srcId="{2F6039B5-A7A0-4DAC-B109-9B4FA1FDBEB1}" destId="{B73E0F17-5DCE-4E50-A0D2-3B9B820B805A}" srcOrd="0" destOrd="0" presId="urn:microsoft.com/office/officeart/2005/8/layout/balance1"/>
    <dgm:cxn modelId="{151B97D7-21E3-485F-8914-36690A7FD997}" type="presOf" srcId="{FED86103-3BC9-480C-B7C5-0A737B8AC7AA}" destId="{9F765EE2-4EC0-4E01-B78A-E0584F38C7F7}" srcOrd="0" destOrd="0" presId="urn:microsoft.com/office/officeart/2005/8/layout/balance1"/>
    <dgm:cxn modelId="{31F091DB-EBDA-448C-BE75-FDE10FC50D50}" type="presParOf" srcId="{9F765EE2-4EC0-4E01-B78A-E0584F38C7F7}" destId="{B3EC7E8A-1333-461B-8C71-531DA66DA2E7}" srcOrd="0" destOrd="0" presId="urn:microsoft.com/office/officeart/2005/8/layout/balance1"/>
    <dgm:cxn modelId="{33A58174-9703-4DD4-8CC7-A1E73431445F}" type="presParOf" srcId="{9F765EE2-4EC0-4E01-B78A-E0584F38C7F7}" destId="{29C0A290-59CD-42A4-A481-C61DD6AF8456}" srcOrd="1" destOrd="0" presId="urn:microsoft.com/office/officeart/2005/8/layout/balance1"/>
    <dgm:cxn modelId="{B73B4F10-7558-4F05-82FB-99E8E0FD221E}" type="presParOf" srcId="{29C0A290-59CD-42A4-A481-C61DD6AF8456}" destId="{6D2D582B-878B-4DD4-B637-A54B1D254E82}" srcOrd="0" destOrd="0" presId="urn:microsoft.com/office/officeart/2005/8/layout/balance1"/>
    <dgm:cxn modelId="{184F1C71-26D5-413A-AD79-CF33B61904A6}" type="presParOf" srcId="{29C0A290-59CD-42A4-A481-C61DD6AF8456}" destId="{118D56C1-C382-4CED-86C3-57F1AD9DB28E}" srcOrd="1" destOrd="0" presId="urn:microsoft.com/office/officeart/2005/8/layout/balance1"/>
    <dgm:cxn modelId="{753AC1AD-5135-4B3D-810D-227C554577E5}" type="presParOf" srcId="{9F765EE2-4EC0-4E01-B78A-E0584F38C7F7}" destId="{DBCD0E24-8725-4AF8-91E5-E9AB64D0FB2C}" srcOrd="2" destOrd="0" presId="urn:microsoft.com/office/officeart/2005/8/layout/balance1"/>
    <dgm:cxn modelId="{53B8AD2E-613F-42EE-9E68-29D824DB864C}" type="presParOf" srcId="{DBCD0E24-8725-4AF8-91E5-E9AB64D0FB2C}" destId="{5F16E553-5341-40E7-96E4-81C8F1AC0996}" srcOrd="0" destOrd="0" presId="urn:microsoft.com/office/officeart/2005/8/layout/balance1"/>
    <dgm:cxn modelId="{2D95E56F-EEF1-47C6-B335-24833654C453}" type="presParOf" srcId="{DBCD0E24-8725-4AF8-91E5-E9AB64D0FB2C}" destId="{974279A2-B8FC-4728-9A14-BD43A4873D62}" srcOrd="1" destOrd="0" presId="urn:microsoft.com/office/officeart/2005/8/layout/balance1"/>
    <dgm:cxn modelId="{EBEB8F72-F9C4-4A01-8ED1-147DCE945CCC}" type="presParOf" srcId="{DBCD0E24-8725-4AF8-91E5-E9AB64D0FB2C}" destId="{C7F331B4-869A-4542-B6EA-8C53A971C1A9}" srcOrd="2" destOrd="0" presId="urn:microsoft.com/office/officeart/2005/8/layout/balance1"/>
    <dgm:cxn modelId="{38AEA7D6-91C2-4B19-8447-2EC682CDAE22}" type="presParOf" srcId="{DBCD0E24-8725-4AF8-91E5-E9AB64D0FB2C}" destId="{2C02AB47-C471-4392-A618-9FCC144F5239}" srcOrd="3" destOrd="0" presId="urn:microsoft.com/office/officeart/2005/8/layout/balance1"/>
    <dgm:cxn modelId="{33EEE303-97AC-4AFA-9024-FCC1D62B1B1B}" type="presParOf" srcId="{DBCD0E24-8725-4AF8-91E5-E9AB64D0FB2C}" destId="{5B97B534-5295-4EE1-8025-6280E5964948}" srcOrd="4" destOrd="0" presId="urn:microsoft.com/office/officeart/2005/8/layout/balance1"/>
    <dgm:cxn modelId="{FF2F0924-5811-411A-87E7-164401C2C9EC}" type="presParOf" srcId="{DBCD0E24-8725-4AF8-91E5-E9AB64D0FB2C}" destId="{062E4373-A8A3-4BBB-AA3A-E2565F1A1576}" srcOrd="5" destOrd="0" presId="urn:microsoft.com/office/officeart/2005/8/layout/balance1"/>
    <dgm:cxn modelId="{B6D9C5DD-2635-414C-B6A7-3F2F6ACA1577}" type="presParOf" srcId="{DBCD0E24-8725-4AF8-91E5-E9AB64D0FB2C}" destId="{1CA2D0CA-3896-4102-95D1-FDB732776859}" srcOrd="6" destOrd="0" presId="urn:microsoft.com/office/officeart/2005/8/layout/balance1"/>
    <dgm:cxn modelId="{C132AE64-B8E5-4889-BEB4-5BBDBE898982}" type="presParOf" srcId="{DBCD0E24-8725-4AF8-91E5-E9AB64D0FB2C}" destId="{A547E5F9-753D-4E1D-A494-271418764846}" srcOrd="7" destOrd="0" presId="urn:microsoft.com/office/officeart/2005/8/layout/balance1"/>
    <dgm:cxn modelId="{C74E5898-570A-4D10-A261-898D739EE6B3}" type="presParOf" srcId="{DBCD0E24-8725-4AF8-91E5-E9AB64D0FB2C}" destId="{B73E0F17-5DCE-4E50-A0D2-3B9B820B805A}" srcOrd="8" destOrd="0" presId="urn:microsoft.com/office/officeart/2005/8/layout/balance1"/>
    <dgm:cxn modelId="{C48DFE6C-FF7E-4915-AFA9-10D811BE7B69}" type="presParOf" srcId="{DBCD0E24-8725-4AF8-91E5-E9AB64D0FB2C}" destId="{AA0AFB59-62A1-4A5C-A8FE-22D4ECF1079F}" srcOrd="9" destOrd="0" presId="urn:microsoft.com/office/officeart/2005/8/layout/balanc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6F84937-4CB1-4BFB-9D7E-36A5198F139B}" type="doc">
      <dgm:prSet loTypeId="urn:microsoft.com/office/officeart/2008/layout/VerticalCurvedList" loCatId="list" qsTypeId="urn:microsoft.com/office/officeart/2005/8/quickstyle/simple4" qsCatId="simple" csTypeId="urn:microsoft.com/office/officeart/2005/8/colors/accent1_2" csCatId="accent1" phldr="1"/>
      <dgm:spPr/>
      <dgm:t>
        <a:bodyPr/>
        <a:lstStyle/>
        <a:p>
          <a:endParaRPr lang="en-GB"/>
        </a:p>
      </dgm:t>
    </dgm:pt>
    <dgm:pt modelId="{094D3DE7-9833-4C46-A6FB-D3D603477C29}">
      <dgm:prSet/>
      <dgm:spPr/>
      <dgm:t>
        <a:bodyPr/>
        <a:lstStyle/>
        <a:p>
          <a:r>
            <a:rPr lang="en-US" dirty="0"/>
            <a:t>NCE’s represent the difference between capital expenditures and depreciation. </a:t>
          </a:r>
        </a:p>
        <a:p>
          <a:r>
            <a:rPr lang="en-US" dirty="0"/>
            <a:t>Depreciation is a cash inflow that pays for some CAPEX.</a:t>
          </a:r>
          <a:endParaRPr lang="fr-FR" dirty="0"/>
        </a:p>
      </dgm:t>
    </dgm:pt>
    <dgm:pt modelId="{32D7758F-82CE-404A-8D7E-F05817A84182}" type="parTrans" cxnId="{D6195681-505A-48D7-AE32-E3A8B144152A}">
      <dgm:prSet/>
      <dgm:spPr/>
      <dgm:t>
        <a:bodyPr/>
        <a:lstStyle/>
        <a:p>
          <a:endParaRPr lang="en-GB"/>
        </a:p>
      </dgm:t>
    </dgm:pt>
    <dgm:pt modelId="{A95C561C-5F63-4B26-BE96-B217D7C67DCC}" type="sibTrans" cxnId="{D6195681-505A-48D7-AE32-E3A8B144152A}">
      <dgm:prSet/>
      <dgm:spPr/>
      <dgm:t>
        <a:bodyPr/>
        <a:lstStyle/>
        <a:p>
          <a:endParaRPr lang="en-GB"/>
        </a:p>
      </dgm:t>
    </dgm:pt>
    <dgm:pt modelId="{CE8BE629-F1E2-4F87-ABF1-BFF3635E352C}">
      <dgm:prSet/>
      <dgm:spPr/>
      <dgm:t>
        <a:bodyPr/>
        <a:lstStyle/>
        <a:p>
          <a:r>
            <a:rPr lang="en-US" dirty="0"/>
            <a:t>In general, the net capital expenditures will be a function of how fast a firm is growing or expecting to grow</a:t>
          </a:r>
          <a:r>
            <a:rPr lang="en-US" b="1" dirty="0"/>
            <a:t>. </a:t>
          </a:r>
        </a:p>
        <a:p>
          <a:r>
            <a:rPr lang="en-US" b="1" dirty="0"/>
            <a:t>High growth firms will have much higher net capital expenditures than low growth firms. </a:t>
          </a:r>
          <a:endParaRPr lang="fr-FR" dirty="0"/>
        </a:p>
      </dgm:t>
    </dgm:pt>
    <dgm:pt modelId="{0130BC0B-D641-43CE-87F7-D8B34ED148C5}" type="parTrans" cxnId="{3AF183DB-6F2B-4BD7-8305-2921E0645002}">
      <dgm:prSet/>
      <dgm:spPr/>
      <dgm:t>
        <a:bodyPr/>
        <a:lstStyle/>
        <a:p>
          <a:endParaRPr lang="en-GB"/>
        </a:p>
      </dgm:t>
    </dgm:pt>
    <dgm:pt modelId="{57C53108-92B1-4D46-A554-484412D124E6}" type="sibTrans" cxnId="{3AF183DB-6F2B-4BD7-8305-2921E0645002}">
      <dgm:prSet/>
      <dgm:spPr/>
      <dgm:t>
        <a:bodyPr/>
        <a:lstStyle/>
        <a:p>
          <a:endParaRPr lang="en-GB"/>
        </a:p>
      </dgm:t>
    </dgm:pt>
    <dgm:pt modelId="{2C3F81B4-036C-41E1-91E0-740E8C4E70E6}">
      <dgm:prSet custT="1"/>
      <dgm:spPr/>
      <dgm:t>
        <a:bodyPr/>
        <a:lstStyle/>
        <a:p>
          <a:pPr algn="ctr"/>
          <a:r>
            <a:rPr lang="en-US" sz="2000" b="1" dirty="0"/>
            <a:t>Assumptions about net capital expenditures can never be made independently of assumptions about growth in the future.</a:t>
          </a:r>
          <a:endParaRPr lang="fr-FR" sz="2000" b="1" dirty="0"/>
        </a:p>
      </dgm:t>
    </dgm:pt>
    <dgm:pt modelId="{BE88E991-EFD0-41D9-8DF3-83E50DBC227C}" type="parTrans" cxnId="{9F33FEDF-86FA-4BA2-AD88-0E8C95F69901}">
      <dgm:prSet/>
      <dgm:spPr/>
      <dgm:t>
        <a:bodyPr/>
        <a:lstStyle/>
        <a:p>
          <a:endParaRPr lang="en-GB"/>
        </a:p>
      </dgm:t>
    </dgm:pt>
    <dgm:pt modelId="{440F413E-5C36-4269-A56B-CF738D900CC6}" type="sibTrans" cxnId="{9F33FEDF-86FA-4BA2-AD88-0E8C95F69901}">
      <dgm:prSet/>
      <dgm:spPr/>
      <dgm:t>
        <a:bodyPr/>
        <a:lstStyle/>
        <a:p>
          <a:endParaRPr lang="en-GB"/>
        </a:p>
      </dgm:t>
    </dgm:pt>
    <dgm:pt modelId="{F46CC487-F263-4632-A5CD-4D12F38E1E58}" type="pres">
      <dgm:prSet presAssocID="{66F84937-4CB1-4BFB-9D7E-36A5198F139B}" presName="Name0" presStyleCnt="0">
        <dgm:presLayoutVars>
          <dgm:chMax val="7"/>
          <dgm:chPref val="7"/>
          <dgm:dir/>
        </dgm:presLayoutVars>
      </dgm:prSet>
      <dgm:spPr/>
    </dgm:pt>
    <dgm:pt modelId="{F8B0677D-4D30-4CE6-A77A-F19A6A840B7B}" type="pres">
      <dgm:prSet presAssocID="{66F84937-4CB1-4BFB-9D7E-36A5198F139B}" presName="Name1" presStyleCnt="0"/>
      <dgm:spPr/>
    </dgm:pt>
    <dgm:pt modelId="{89AFE865-EEB2-4AA7-BD2A-BA8308C1B3EC}" type="pres">
      <dgm:prSet presAssocID="{66F84937-4CB1-4BFB-9D7E-36A5198F139B}" presName="cycle" presStyleCnt="0"/>
      <dgm:spPr/>
    </dgm:pt>
    <dgm:pt modelId="{45747923-0EA7-4123-B0F8-18788F2D6A73}" type="pres">
      <dgm:prSet presAssocID="{66F84937-4CB1-4BFB-9D7E-36A5198F139B}" presName="srcNode" presStyleLbl="node1" presStyleIdx="0" presStyleCnt="3"/>
      <dgm:spPr/>
    </dgm:pt>
    <dgm:pt modelId="{443B0889-8F01-4A48-83CC-E49F24DAB954}" type="pres">
      <dgm:prSet presAssocID="{66F84937-4CB1-4BFB-9D7E-36A5198F139B}" presName="conn" presStyleLbl="parChTrans1D2" presStyleIdx="0" presStyleCnt="1"/>
      <dgm:spPr/>
    </dgm:pt>
    <dgm:pt modelId="{272D7822-3FC0-4EDE-AA9B-65BD91FF51E9}" type="pres">
      <dgm:prSet presAssocID="{66F84937-4CB1-4BFB-9D7E-36A5198F139B}" presName="extraNode" presStyleLbl="node1" presStyleIdx="0" presStyleCnt="3"/>
      <dgm:spPr/>
    </dgm:pt>
    <dgm:pt modelId="{8B36A7F9-D09F-4782-86B1-7529FF0050B5}" type="pres">
      <dgm:prSet presAssocID="{66F84937-4CB1-4BFB-9D7E-36A5198F139B}" presName="dstNode" presStyleLbl="node1" presStyleIdx="0" presStyleCnt="3"/>
      <dgm:spPr/>
    </dgm:pt>
    <dgm:pt modelId="{BD7A76AC-D0A7-442E-ACBF-2F84A9889C57}" type="pres">
      <dgm:prSet presAssocID="{094D3DE7-9833-4C46-A6FB-D3D603477C29}" presName="text_1" presStyleLbl="node1" presStyleIdx="0" presStyleCnt="3">
        <dgm:presLayoutVars>
          <dgm:bulletEnabled val="1"/>
        </dgm:presLayoutVars>
      </dgm:prSet>
      <dgm:spPr/>
    </dgm:pt>
    <dgm:pt modelId="{6A9701DA-CBF2-4754-B50D-3A1EC86FDC48}" type="pres">
      <dgm:prSet presAssocID="{094D3DE7-9833-4C46-A6FB-D3D603477C29}" presName="accent_1" presStyleCnt="0"/>
      <dgm:spPr/>
    </dgm:pt>
    <dgm:pt modelId="{6463573F-108A-4C0B-BB28-F036216D9CFE}" type="pres">
      <dgm:prSet presAssocID="{094D3DE7-9833-4C46-A6FB-D3D603477C29}" presName="accentRepeatNode" presStyleLbl="solidFgAcc1" presStyleIdx="0" presStyleCnt="3"/>
      <dgm:spPr>
        <a:blipFill rotWithShape="0">
          <a:blip xmlns:r="http://schemas.openxmlformats.org/officeDocument/2006/relationships" r:embed="rId1" cstate="print">
            <a:extLst>
              <a:ext uri="{28A0092B-C50C-407E-A947-70E740481C1C}">
                <a14:useLocalDpi xmlns:a14="http://schemas.microsoft.com/office/drawing/2010/main" val="0"/>
              </a:ext>
            </a:extLst>
          </a:blip>
          <a:srcRect/>
          <a:stretch>
            <a:fillRect l="-25000" r="-25000"/>
          </a:stretch>
        </a:blipFill>
      </dgm:spPr>
    </dgm:pt>
    <dgm:pt modelId="{3B754078-F34D-4A55-B89A-F8B9FD767B24}" type="pres">
      <dgm:prSet presAssocID="{CE8BE629-F1E2-4F87-ABF1-BFF3635E352C}" presName="text_2" presStyleLbl="node1" presStyleIdx="1" presStyleCnt="3">
        <dgm:presLayoutVars>
          <dgm:bulletEnabled val="1"/>
        </dgm:presLayoutVars>
      </dgm:prSet>
      <dgm:spPr/>
    </dgm:pt>
    <dgm:pt modelId="{C8C0AC0D-765D-4402-961B-AF7213F701B1}" type="pres">
      <dgm:prSet presAssocID="{CE8BE629-F1E2-4F87-ABF1-BFF3635E352C}" presName="accent_2" presStyleCnt="0"/>
      <dgm:spPr/>
    </dgm:pt>
    <dgm:pt modelId="{90A6CC63-42D5-41C3-8C2A-B689F769213F}" type="pres">
      <dgm:prSet presAssocID="{CE8BE629-F1E2-4F87-ABF1-BFF3635E352C}" presName="accentRepeatNode" presStyleLbl="solidFgAcc1" presStyleIdx="1" presStyleCnt="3"/>
      <dgm:spPr>
        <a:blipFill rotWithShape="0">
          <a:blip xmlns:r="http://schemas.openxmlformats.org/officeDocument/2006/relationships" r:embed="rId2" cstate="print">
            <a:extLst>
              <a:ext uri="{28A0092B-C50C-407E-A947-70E740481C1C}">
                <a14:useLocalDpi xmlns:a14="http://schemas.microsoft.com/office/drawing/2010/main" val="0"/>
              </a:ext>
            </a:extLst>
          </a:blip>
          <a:srcRect/>
          <a:stretch>
            <a:fillRect l="-25000" r="-25000"/>
          </a:stretch>
        </a:blipFill>
      </dgm:spPr>
    </dgm:pt>
    <dgm:pt modelId="{2CEA139D-EA6F-4E5C-B27B-B7558E307793}" type="pres">
      <dgm:prSet presAssocID="{2C3F81B4-036C-41E1-91E0-740E8C4E70E6}" presName="text_3" presStyleLbl="node1" presStyleIdx="2" presStyleCnt="3">
        <dgm:presLayoutVars>
          <dgm:bulletEnabled val="1"/>
        </dgm:presLayoutVars>
      </dgm:prSet>
      <dgm:spPr/>
    </dgm:pt>
    <dgm:pt modelId="{F3236709-CC4D-4081-B205-AF7761578A49}" type="pres">
      <dgm:prSet presAssocID="{2C3F81B4-036C-41E1-91E0-740E8C4E70E6}" presName="accent_3" presStyleCnt="0"/>
      <dgm:spPr/>
    </dgm:pt>
    <dgm:pt modelId="{47166102-B88F-42D1-B3A5-565484A280F2}" type="pres">
      <dgm:prSet presAssocID="{2C3F81B4-036C-41E1-91E0-740E8C4E70E6}" presName="accentRepeatNode" presStyleLbl="solidFgAcc1" presStyleIdx="2" presStyleCnt="3"/>
      <dgm:spPr>
        <a:blipFill rotWithShape="0">
          <a:blip xmlns:r="http://schemas.openxmlformats.org/officeDocument/2006/relationships" r:embed="rId3" cstate="print">
            <a:extLst>
              <a:ext uri="{28A0092B-C50C-407E-A947-70E740481C1C}">
                <a14:useLocalDpi xmlns:a14="http://schemas.microsoft.com/office/drawing/2010/main" val="0"/>
              </a:ext>
            </a:extLst>
          </a:blip>
          <a:srcRect/>
          <a:stretch>
            <a:fillRect l="-24000" r="-24000"/>
          </a:stretch>
        </a:blipFill>
      </dgm:spPr>
    </dgm:pt>
  </dgm:ptLst>
  <dgm:cxnLst>
    <dgm:cxn modelId="{735AA132-5EA1-452E-8583-B5063AA29EC9}" type="presOf" srcId="{094D3DE7-9833-4C46-A6FB-D3D603477C29}" destId="{BD7A76AC-D0A7-442E-ACBF-2F84A9889C57}" srcOrd="0" destOrd="0" presId="urn:microsoft.com/office/officeart/2008/layout/VerticalCurvedList"/>
    <dgm:cxn modelId="{F73C3363-D97E-4922-96D9-3ABA762C7239}" type="presOf" srcId="{A95C561C-5F63-4B26-BE96-B217D7C67DCC}" destId="{443B0889-8F01-4A48-83CC-E49F24DAB954}" srcOrd="0" destOrd="0" presId="urn:microsoft.com/office/officeart/2008/layout/VerticalCurvedList"/>
    <dgm:cxn modelId="{C67C0069-2580-4424-B186-157A4A772122}" type="presOf" srcId="{66F84937-4CB1-4BFB-9D7E-36A5198F139B}" destId="{F46CC487-F263-4632-A5CD-4D12F38E1E58}" srcOrd="0" destOrd="0" presId="urn:microsoft.com/office/officeart/2008/layout/VerticalCurvedList"/>
    <dgm:cxn modelId="{D6195681-505A-48D7-AE32-E3A8B144152A}" srcId="{66F84937-4CB1-4BFB-9D7E-36A5198F139B}" destId="{094D3DE7-9833-4C46-A6FB-D3D603477C29}" srcOrd="0" destOrd="0" parTransId="{32D7758F-82CE-404A-8D7E-F05817A84182}" sibTransId="{A95C561C-5F63-4B26-BE96-B217D7C67DCC}"/>
    <dgm:cxn modelId="{9F5BF8B1-48B8-4395-A384-07F86149ACF1}" type="presOf" srcId="{2C3F81B4-036C-41E1-91E0-740E8C4E70E6}" destId="{2CEA139D-EA6F-4E5C-B27B-B7558E307793}" srcOrd="0" destOrd="0" presId="urn:microsoft.com/office/officeart/2008/layout/VerticalCurvedList"/>
    <dgm:cxn modelId="{3AF183DB-6F2B-4BD7-8305-2921E0645002}" srcId="{66F84937-4CB1-4BFB-9D7E-36A5198F139B}" destId="{CE8BE629-F1E2-4F87-ABF1-BFF3635E352C}" srcOrd="1" destOrd="0" parTransId="{0130BC0B-D641-43CE-87F7-D8B34ED148C5}" sibTransId="{57C53108-92B1-4D46-A554-484412D124E6}"/>
    <dgm:cxn modelId="{9F33FEDF-86FA-4BA2-AD88-0E8C95F69901}" srcId="{66F84937-4CB1-4BFB-9D7E-36A5198F139B}" destId="{2C3F81B4-036C-41E1-91E0-740E8C4E70E6}" srcOrd="2" destOrd="0" parTransId="{BE88E991-EFD0-41D9-8DF3-83E50DBC227C}" sibTransId="{440F413E-5C36-4269-A56B-CF738D900CC6}"/>
    <dgm:cxn modelId="{DFC3EAF9-BE65-4916-86F0-7D05E6CDB0B3}" type="presOf" srcId="{CE8BE629-F1E2-4F87-ABF1-BFF3635E352C}" destId="{3B754078-F34D-4A55-B89A-F8B9FD767B24}" srcOrd="0" destOrd="0" presId="urn:microsoft.com/office/officeart/2008/layout/VerticalCurvedList"/>
    <dgm:cxn modelId="{C54CC6EA-E148-4D31-A6C0-AB90A8ECDBEC}" type="presParOf" srcId="{F46CC487-F263-4632-A5CD-4D12F38E1E58}" destId="{F8B0677D-4D30-4CE6-A77A-F19A6A840B7B}" srcOrd="0" destOrd="0" presId="urn:microsoft.com/office/officeart/2008/layout/VerticalCurvedList"/>
    <dgm:cxn modelId="{BE374E74-B0BE-4B9F-BBCC-241C8143CD6F}" type="presParOf" srcId="{F8B0677D-4D30-4CE6-A77A-F19A6A840B7B}" destId="{89AFE865-EEB2-4AA7-BD2A-BA8308C1B3EC}" srcOrd="0" destOrd="0" presId="urn:microsoft.com/office/officeart/2008/layout/VerticalCurvedList"/>
    <dgm:cxn modelId="{A75A050C-4625-4874-B230-36F3956D2CCF}" type="presParOf" srcId="{89AFE865-EEB2-4AA7-BD2A-BA8308C1B3EC}" destId="{45747923-0EA7-4123-B0F8-18788F2D6A73}" srcOrd="0" destOrd="0" presId="urn:microsoft.com/office/officeart/2008/layout/VerticalCurvedList"/>
    <dgm:cxn modelId="{B0498CB8-36AC-444B-A4A5-FD236DD840AA}" type="presParOf" srcId="{89AFE865-EEB2-4AA7-BD2A-BA8308C1B3EC}" destId="{443B0889-8F01-4A48-83CC-E49F24DAB954}" srcOrd="1" destOrd="0" presId="urn:microsoft.com/office/officeart/2008/layout/VerticalCurvedList"/>
    <dgm:cxn modelId="{AF1433BD-E939-4554-93FA-53EBEF15B2AD}" type="presParOf" srcId="{89AFE865-EEB2-4AA7-BD2A-BA8308C1B3EC}" destId="{272D7822-3FC0-4EDE-AA9B-65BD91FF51E9}" srcOrd="2" destOrd="0" presId="urn:microsoft.com/office/officeart/2008/layout/VerticalCurvedList"/>
    <dgm:cxn modelId="{AEA81D79-0E0A-41DF-A329-FE57B5652BB4}" type="presParOf" srcId="{89AFE865-EEB2-4AA7-BD2A-BA8308C1B3EC}" destId="{8B36A7F9-D09F-4782-86B1-7529FF0050B5}" srcOrd="3" destOrd="0" presId="urn:microsoft.com/office/officeart/2008/layout/VerticalCurvedList"/>
    <dgm:cxn modelId="{2B6509DB-B447-4C8D-B366-DA6DEBE9BB04}" type="presParOf" srcId="{F8B0677D-4D30-4CE6-A77A-F19A6A840B7B}" destId="{BD7A76AC-D0A7-442E-ACBF-2F84A9889C57}" srcOrd="1" destOrd="0" presId="urn:microsoft.com/office/officeart/2008/layout/VerticalCurvedList"/>
    <dgm:cxn modelId="{DFEA2938-11D3-4600-82A3-AB1A7A32CE90}" type="presParOf" srcId="{F8B0677D-4D30-4CE6-A77A-F19A6A840B7B}" destId="{6A9701DA-CBF2-4754-B50D-3A1EC86FDC48}" srcOrd="2" destOrd="0" presId="urn:microsoft.com/office/officeart/2008/layout/VerticalCurvedList"/>
    <dgm:cxn modelId="{9EB87F13-81CD-41A2-B4AD-4C856172B449}" type="presParOf" srcId="{6A9701DA-CBF2-4754-B50D-3A1EC86FDC48}" destId="{6463573F-108A-4C0B-BB28-F036216D9CFE}" srcOrd="0" destOrd="0" presId="urn:microsoft.com/office/officeart/2008/layout/VerticalCurvedList"/>
    <dgm:cxn modelId="{B53CAD95-041A-43BD-9DB6-89F4B2F4CACB}" type="presParOf" srcId="{F8B0677D-4D30-4CE6-A77A-F19A6A840B7B}" destId="{3B754078-F34D-4A55-B89A-F8B9FD767B24}" srcOrd="3" destOrd="0" presId="urn:microsoft.com/office/officeart/2008/layout/VerticalCurvedList"/>
    <dgm:cxn modelId="{13921A65-D1E1-4196-9EFB-857FC8871661}" type="presParOf" srcId="{F8B0677D-4D30-4CE6-A77A-F19A6A840B7B}" destId="{C8C0AC0D-765D-4402-961B-AF7213F701B1}" srcOrd="4" destOrd="0" presId="urn:microsoft.com/office/officeart/2008/layout/VerticalCurvedList"/>
    <dgm:cxn modelId="{8E9723E3-EC7B-45EC-A9F5-CFCA4450FA5E}" type="presParOf" srcId="{C8C0AC0D-765D-4402-961B-AF7213F701B1}" destId="{90A6CC63-42D5-41C3-8C2A-B689F769213F}" srcOrd="0" destOrd="0" presId="urn:microsoft.com/office/officeart/2008/layout/VerticalCurvedList"/>
    <dgm:cxn modelId="{B5981A67-DD86-4542-9CE2-7CCF8F2778D7}" type="presParOf" srcId="{F8B0677D-4D30-4CE6-A77A-F19A6A840B7B}" destId="{2CEA139D-EA6F-4E5C-B27B-B7558E307793}" srcOrd="5" destOrd="0" presId="urn:microsoft.com/office/officeart/2008/layout/VerticalCurvedList"/>
    <dgm:cxn modelId="{D2AF0C3C-95D1-4913-B7EE-70A906C5F476}" type="presParOf" srcId="{F8B0677D-4D30-4CE6-A77A-F19A6A840B7B}" destId="{F3236709-CC4D-4081-B205-AF7761578A49}" srcOrd="6" destOrd="0" presId="urn:microsoft.com/office/officeart/2008/layout/VerticalCurvedList"/>
    <dgm:cxn modelId="{AC632828-2CC7-44CA-A60F-D1DA48380A71}" type="presParOf" srcId="{F3236709-CC4D-4081-B205-AF7761578A49}" destId="{47166102-B88F-42D1-B3A5-565484A280F2}"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8D9B5138-7C10-48A6-A143-F40A762A989D}" type="doc">
      <dgm:prSet loTypeId="urn:microsoft.com/office/officeart/2008/layout/VerticalCurvedList" loCatId="list" qsTypeId="urn:microsoft.com/office/officeart/2005/8/quickstyle/simple4" qsCatId="simple" csTypeId="urn:microsoft.com/office/officeart/2005/8/colors/accent1_2" csCatId="accent1" phldr="1"/>
      <dgm:spPr/>
      <dgm:t>
        <a:bodyPr/>
        <a:lstStyle/>
        <a:p>
          <a:endParaRPr lang="en-GB"/>
        </a:p>
      </dgm:t>
    </dgm:pt>
    <dgm:pt modelId="{97D350F3-1A48-4B54-B444-BB5418B1A42B}">
      <dgm:prSet/>
      <dgm:spPr/>
      <dgm:t>
        <a:bodyPr/>
        <a:lstStyle/>
        <a:p>
          <a:r>
            <a:rPr lang="en-US" u="sng" dirty="0"/>
            <a:t>Increase in Sales needs financing.</a:t>
          </a:r>
          <a:r>
            <a:rPr lang="en-US" dirty="0"/>
            <a:t> </a:t>
          </a:r>
        </a:p>
        <a:p>
          <a:r>
            <a:rPr lang="en-US" dirty="0"/>
            <a:t>Short term financing is provided by investments in NWC</a:t>
          </a:r>
          <a:endParaRPr lang="fr-FR" dirty="0"/>
        </a:p>
      </dgm:t>
    </dgm:pt>
    <dgm:pt modelId="{7C1BEDF1-856B-4EDF-BE37-0CD1179983AF}" type="parTrans" cxnId="{F4A7A66B-DB18-4A9B-AD52-8B15E07DAA5C}">
      <dgm:prSet/>
      <dgm:spPr/>
      <dgm:t>
        <a:bodyPr/>
        <a:lstStyle/>
        <a:p>
          <a:endParaRPr lang="en-GB"/>
        </a:p>
      </dgm:t>
    </dgm:pt>
    <dgm:pt modelId="{095BD025-DE92-4B0F-AD19-44B9A3A297B4}" type="sibTrans" cxnId="{F4A7A66B-DB18-4A9B-AD52-8B15E07DAA5C}">
      <dgm:prSet/>
      <dgm:spPr/>
      <dgm:t>
        <a:bodyPr/>
        <a:lstStyle/>
        <a:p>
          <a:endParaRPr lang="en-GB"/>
        </a:p>
      </dgm:t>
    </dgm:pt>
    <dgm:pt modelId="{1A390B39-C914-452F-BF0A-F6ED5ACEE9A8}">
      <dgm:prSet/>
      <dgm:spPr/>
      <dgm:t>
        <a:bodyPr/>
        <a:lstStyle/>
        <a:p>
          <a:r>
            <a:rPr lang="en-US" u="sng" dirty="0"/>
            <a:t>Changes in non-cash working capital from year to year are volatile</a:t>
          </a:r>
          <a:r>
            <a:rPr lang="en-US" dirty="0"/>
            <a:t>. </a:t>
          </a:r>
        </a:p>
        <a:p>
          <a:r>
            <a:rPr lang="en-US" dirty="0"/>
            <a:t>A far better estimate of non-cash working capital needs, is a rate of</a:t>
          </a:r>
          <a:r>
            <a:rPr lang="en-US" b="1" dirty="0"/>
            <a:t> non-cash </a:t>
          </a:r>
          <a:r>
            <a:rPr lang="el-GR" b="1" dirty="0"/>
            <a:t>Δ</a:t>
          </a:r>
          <a:r>
            <a:rPr lang="en-GB" b="1" dirty="0"/>
            <a:t>NWC</a:t>
          </a:r>
          <a:r>
            <a:rPr lang="en-US" b="1" dirty="0"/>
            <a:t> as a proportion of revenues</a:t>
          </a:r>
          <a:endParaRPr lang="fr-FR" dirty="0"/>
        </a:p>
      </dgm:t>
    </dgm:pt>
    <dgm:pt modelId="{F1D3E8E8-5F99-4006-8617-CC5C3BF22424}" type="parTrans" cxnId="{5354C800-34C4-486E-9EFA-72421B68FBAB}">
      <dgm:prSet/>
      <dgm:spPr/>
      <dgm:t>
        <a:bodyPr/>
        <a:lstStyle/>
        <a:p>
          <a:endParaRPr lang="en-GB"/>
        </a:p>
      </dgm:t>
    </dgm:pt>
    <dgm:pt modelId="{E8C1BC3F-019C-40FF-B209-D94FD4AACCBD}" type="sibTrans" cxnId="{5354C800-34C4-486E-9EFA-72421B68FBAB}">
      <dgm:prSet/>
      <dgm:spPr/>
      <dgm:t>
        <a:bodyPr/>
        <a:lstStyle/>
        <a:p>
          <a:endParaRPr lang="en-GB"/>
        </a:p>
      </dgm:t>
    </dgm:pt>
    <dgm:pt modelId="{5CD9A494-15A6-4EC9-B231-F68018ABC23F}">
      <dgm:prSet/>
      <dgm:spPr/>
      <dgm:t>
        <a:bodyPr/>
        <a:lstStyle/>
        <a:p>
          <a:r>
            <a:rPr lang="en-US" u="sng" dirty="0"/>
            <a:t>Some firms have negative non-cash working capital</a:t>
          </a:r>
          <a:r>
            <a:rPr lang="en-US" dirty="0"/>
            <a:t>. (Tesco) Assuming that this will continue into the future will generate positive cash flows for the firm. </a:t>
          </a:r>
        </a:p>
        <a:p>
          <a:r>
            <a:rPr lang="en-US" dirty="0"/>
            <a:t>While this is indeed feasible for a period of time, it is not forever. Thus, it is better that non-cash working capital needs be set to </a:t>
          </a:r>
          <a:r>
            <a:rPr lang="en-US" b="1" dirty="0"/>
            <a:t>zero</a:t>
          </a:r>
          <a:r>
            <a:rPr lang="en-US" dirty="0"/>
            <a:t>, when it is negative.</a:t>
          </a:r>
          <a:endParaRPr lang="fr-FR" dirty="0"/>
        </a:p>
      </dgm:t>
    </dgm:pt>
    <dgm:pt modelId="{4A01D228-BE03-4F14-AFEA-8AC02AF3221D}" type="parTrans" cxnId="{5AE3D56C-8F81-465F-8CC2-6C046F49B2A8}">
      <dgm:prSet/>
      <dgm:spPr/>
      <dgm:t>
        <a:bodyPr/>
        <a:lstStyle/>
        <a:p>
          <a:endParaRPr lang="en-GB"/>
        </a:p>
      </dgm:t>
    </dgm:pt>
    <dgm:pt modelId="{16F5155D-28C4-4D7C-907A-0A860EADEB58}" type="sibTrans" cxnId="{5AE3D56C-8F81-465F-8CC2-6C046F49B2A8}">
      <dgm:prSet/>
      <dgm:spPr/>
      <dgm:t>
        <a:bodyPr/>
        <a:lstStyle/>
        <a:p>
          <a:endParaRPr lang="en-GB"/>
        </a:p>
      </dgm:t>
    </dgm:pt>
    <dgm:pt modelId="{ECF46972-B69F-4459-BB00-CBA36CC2927D}" type="pres">
      <dgm:prSet presAssocID="{8D9B5138-7C10-48A6-A143-F40A762A989D}" presName="Name0" presStyleCnt="0">
        <dgm:presLayoutVars>
          <dgm:chMax val="7"/>
          <dgm:chPref val="7"/>
          <dgm:dir/>
        </dgm:presLayoutVars>
      </dgm:prSet>
      <dgm:spPr/>
    </dgm:pt>
    <dgm:pt modelId="{B6A11B9D-B86D-41F6-B4FD-840278F838AD}" type="pres">
      <dgm:prSet presAssocID="{8D9B5138-7C10-48A6-A143-F40A762A989D}" presName="Name1" presStyleCnt="0"/>
      <dgm:spPr/>
    </dgm:pt>
    <dgm:pt modelId="{7629D08D-A325-49F0-A833-A8BAB9281BD5}" type="pres">
      <dgm:prSet presAssocID="{8D9B5138-7C10-48A6-A143-F40A762A989D}" presName="cycle" presStyleCnt="0"/>
      <dgm:spPr/>
    </dgm:pt>
    <dgm:pt modelId="{594FFC8C-1D79-404E-A7C3-4E8A949F8F79}" type="pres">
      <dgm:prSet presAssocID="{8D9B5138-7C10-48A6-A143-F40A762A989D}" presName="srcNode" presStyleLbl="node1" presStyleIdx="0" presStyleCnt="3"/>
      <dgm:spPr/>
    </dgm:pt>
    <dgm:pt modelId="{3F9E812E-E005-4FDD-BA43-FFC7CEAFF1E3}" type="pres">
      <dgm:prSet presAssocID="{8D9B5138-7C10-48A6-A143-F40A762A989D}" presName="conn" presStyleLbl="parChTrans1D2" presStyleIdx="0" presStyleCnt="1"/>
      <dgm:spPr/>
    </dgm:pt>
    <dgm:pt modelId="{AB7F26F6-1E2D-4EC8-B17B-9519AE9DAEF2}" type="pres">
      <dgm:prSet presAssocID="{8D9B5138-7C10-48A6-A143-F40A762A989D}" presName="extraNode" presStyleLbl="node1" presStyleIdx="0" presStyleCnt="3"/>
      <dgm:spPr/>
    </dgm:pt>
    <dgm:pt modelId="{73CBD5E7-8E32-4039-A939-1E7A0E0B5FA5}" type="pres">
      <dgm:prSet presAssocID="{8D9B5138-7C10-48A6-A143-F40A762A989D}" presName="dstNode" presStyleLbl="node1" presStyleIdx="0" presStyleCnt="3"/>
      <dgm:spPr/>
    </dgm:pt>
    <dgm:pt modelId="{BD9AA13A-AD8D-44B9-B9B6-391135A7D1F7}" type="pres">
      <dgm:prSet presAssocID="{97D350F3-1A48-4B54-B444-BB5418B1A42B}" presName="text_1" presStyleLbl="node1" presStyleIdx="0" presStyleCnt="3">
        <dgm:presLayoutVars>
          <dgm:bulletEnabled val="1"/>
        </dgm:presLayoutVars>
      </dgm:prSet>
      <dgm:spPr/>
    </dgm:pt>
    <dgm:pt modelId="{3BF69DAE-B5AD-4D9C-AA8A-C721B384B88F}" type="pres">
      <dgm:prSet presAssocID="{97D350F3-1A48-4B54-B444-BB5418B1A42B}" presName="accent_1" presStyleCnt="0"/>
      <dgm:spPr/>
    </dgm:pt>
    <dgm:pt modelId="{BEAFBAA6-25F7-4912-BE8B-424A7B671D8D}" type="pres">
      <dgm:prSet presAssocID="{97D350F3-1A48-4B54-B444-BB5418B1A42B}" presName="accentRepeatNode" presStyleLbl="solidFgAcc1" presStyleIdx="0" presStyleCnt="3"/>
      <dgm:spPr/>
    </dgm:pt>
    <dgm:pt modelId="{413370F3-0E95-4212-A1DE-E11EC97A8A43}" type="pres">
      <dgm:prSet presAssocID="{1A390B39-C914-452F-BF0A-F6ED5ACEE9A8}" presName="text_2" presStyleLbl="node1" presStyleIdx="1" presStyleCnt="3">
        <dgm:presLayoutVars>
          <dgm:bulletEnabled val="1"/>
        </dgm:presLayoutVars>
      </dgm:prSet>
      <dgm:spPr/>
    </dgm:pt>
    <dgm:pt modelId="{2BF2609A-452A-4CEB-A37A-839727D84225}" type="pres">
      <dgm:prSet presAssocID="{1A390B39-C914-452F-BF0A-F6ED5ACEE9A8}" presName="accent_2" presStyleCnt="0"/>
      <dgm:spPr/>
    </dgm:pt>
    <dgm:pt modelId="{A10E4DE6-5F93-4CBA-A1DD-87C9F79E2886}" type="pres">
      <dgm:prSet presAssocID="{1A390B39-C914-452F-BF0A-F6ED5ACEE9A8}" presName="accentRepeatNode" presStyleLbl="solidFgAcc1" presStyleIdx="1" presStyleCnt="3"/>
      <dgm:spPr/>
    </dgm:pt>
    <dgm:pt modelId="{65ED611D-B399-46EB-B76D-9F73C8242AC5}" type="pres">
      <dgm:prSet presAssocID="{5CD9A494-15A6-4EC9-B231-F68018ABC23F}" presName="text_3" presStyleLbl="node1" presStyleIdx="2" presStyleCnt="3">
        <dgm:presLayoutVars>
          <dgm:bulletEnabled val="1"/>
        </dgm:presLayoutVars>
      </dgm:prSet>
      <dgm:spPr/>
    </dgm:pt>
    <dgm:pt modelId="{1F01ED4B-7139-4F42-8D75-EEE4EB7F16DD}" type="pres">
      <dgm:prSet presAssocID="{5CD9A494-15A6-4EC9-B231-F68018ABC23F}" presName="accent_3" presStyleCnt="0"/>
      <dgm:spPr/>
    </dgm:pt>
    <dgm:pt modelId="{46D8AB76-8552-49EE-A294-07DAFC027C45}" type="pres">
      <dgm:prSet presAssocID="{5CD9A494-15A6-4EC9-B231-F68018ABC23F}" presName="accentRepeatNode" presStyleLbl="solidFgAcc1" presStyleIdx="2" presStyleCnt="3"/>
      <dgm:spPr/>
    </dgm:pt>
  </dgm:ptLst>
  <dgm:cxnLst>
    <dgm:cxn modelId="{5354C800-34C4-486E-9EFA-72421B68FBAB}" srcId="{8D9B5138-7C10-48A6-A143-F40A762A989D}" destId="{1A390B39-C914-452F-BF0A-F6ED5ACEE9A8}" srcOrd="1" destOrd="0" parTransId="{F1D3E8E8-5F99-4006-8617-CC5C3BF22424}" sibTransId="{E8C1BC3F-019C-40FF-B209-D94FD4AACCBD}"/>
    <dgm:cxn modelId="{61205966-BB31-4B1E-9CC9-70B2A91A9CCE}" type="presOf" srcId="{8D9B5138-7C10-48A6-A143-F40A762A989D}" destId="{ECF46972-B69F-4459-BB00-CBA36CC2927D}" srcOrd="0" destOrd="0" presId="urn:microsoft.com/office/officeart/2008/layout/VerticalCurvedList"/>
    <dgm:cxn modelId="{F4A7A66B-DB18-4A9B-AD52-8B15E07DAA5C}" srcId="{8D9B5138-7C10-48A6-A143-F40A762A989D}" destId="{97D350F3-1A48-4B54-B444-BB5418B1A42B}" srcOrd="0" destOrd="0" parTransId="{7C1BEDF1-856B-4EDF-BE37-0CD1179983AF}" sibTransId="{095BD025-DE92-4B0F-AD19-44B9A3A297B4}"/>
    <dgm:cxn modelId="{5AE3D56C-8F81-465F-8CC2-6C046F49B2A8}" srcId="{8D9B5138-7C10-48A6-A143-F40A762A989D}" destId="{5CD9A494-15A6-4EC9-B231-F68018ABC23F}" srcOrd="2" destOrd="0" parTransId="{4A01D228-BE03-4F14-AFEA-8AC02AF3221D}" sibTransId="{16F5155D-28C4-4D7C-907A-0A860EADEB58}"/>
    <dgm:cxn modelId="{F9470B6F-4721-4C5A-897A-CD1EA145CF86}" type="presOf" srcId="{1A390B39-C914-452F-BF0A-F6ED5ACEE9A8}" destId="{413370F3-0E95-4212-A1DE-E11EC97A8A43}" srcOrd="0" destOrd="0" presId="urn:microsoft.com/office/officeart/2008/layout/VerticalCurvedList"/>
    <dgm:cxn modelId="{24081076-F023-4C3F-9F2C-B571F9D8E954}" type="presOf" srcId="{97D350F3-1A48-4B54-B444-BB5418B1A42B}" destId="{BD9AA13A-AD8D-44B9-B9B6-391135A7D1F7}" srcOrd="0" destOrd="0" presId="urn:microsoft.com/office/officeart/2008/layout/VerticalCurvedList"/>
    <dgm:cxn modelId="{5464C856-0F83-4C28-84D2-B35798F8114C}" type="presOf" srcId="{095BD025-DE92-4B0F-AD19-44B9A3A297B4}" destId="{3F9E812E-E005-4FDD-BA43-FFC7CEAFF1E3}" srcOrd="0" destOrd="0" presId="urn:microsoft.com/office/officeart/2008/layout/VerticalCurvedList"/>
    <dgm:cxn modelId="{ABB8B4B1-74EA-4AA2-ACD4-EBBC88D668B6}" type="presOf" srcId="{5CD9A494-15A6-4EC9-B231-F68018ABC23F}" destId="{65ED611D-B399-46EB-B76D-9F73C8242AC5}" srcOrd="0" destOrd="0" presId="urn:microsoft.com/office/officeart/2008/layout/VerticalCurvedList"/>
    <dgm:cxn modelId="{3F253A7A-36C5-4688-8A40-E02D733D9B35}" type="presParOf" srcId="{ECF46972-B69F-4459-BB00-CBA36CC2927D}" destId="{B6A11B9D-B86D-41F6-B4FD-840278F838AD}" srcOrd="0" destOrd="0" presId="urn:microsoft.com/office/officeart/2008/layout/VerticalCurvedList"/>
    <dgm:cxn modelId="{C4F42912-E220-4940-AB06-CC6DCB1558B0}" type="presParOf" srcId="{B6A11B9D-B86D-41F6-B4FD-840278F838AD}" destId="{7629D08D-A325-49F0-A833-A8BAB9281BD5}" srcOrd="0" destOrd="0" presId="urn:microsoft.com/office/officeart/2008/layout/VerticalCurvedList"/>
    <dgm:cxn modelId="{B5BB7B0E-5E01-4D0F-907A-F6C2CC4EF2D3}" type="presParOf" srcId="{7629D08D-A325-49F0-A833-A8BAB9281BD5}" destId="{594FFC8C-1D79-404E-A7C3-4E8A949F8F79}" srcOrd="0" destOrd="0" presId="urn:microsoft.com/office/officeart/2008/layout/VerticalCurvedList"/>
    <dgm:cxn modelId="{33ECD249-02AE-4457-AB6E-95369CD52B5E}" type="presParOf" srcId="{7629D08D-A325-49F0-A833-A8BAB9281BD5}" destId="{3F9E812E-E005-4FDD-BA43-FFC7CEAFF1E3}" srcOrd="1" destOrd="0" presId="urn:microsoft.com/office/officeart/2008/layout/VerticalCurvedList"/>
    <dgm:cxn modelId="{80ECC2B4-F035-4320-9293-AC88964C18A9}" type="presParOf" srcId="{7629D08D-A325-49F0-A833-A8BAB9281BD5}" destId="{AB7F26F6-1E2D-4EC8-B17B-9519AE9DAEF2}" srcOrd="2" destOrd="0" presId="urn:microsoft.com/office/officeart/2008/layout/VerticalCurvedList"/>
    <dgm:cxn modelId="{F7D9745A-1C0F-4424-B321-4404CA07D821}" type="presParOf" srcId="{7629D08D-A325-49F0-A833-A8BAB9281BD5}" destId="{73CBD5E7-8E32-4039-A939-1E7A0E0B5FA5}" srcOrd="3" destOrd="0" presId="urn:microsoft.com/office/officeart/2008/layout/VerticalCurvedList"/>
    <dgm:cxn modelId="{50373EB1-3B8D-410A-8ECC-7EF42FE01751}" type="presParOf" srcId="{B6A11B9D-B86D-41F6-B4FD-840278F838AD}" destId="{BD9AA13A-AD8D-44B9-B9B6-391135A7D1F7}" srcOrd="1" destOrd="0" presId="urn:microsoft.com/office/officeart/2008/layout/VerticalCurvedList"/>
    <dgm:cxn modelId="{A02B7BB8-D39E-4ED5-983D-4AF293C141F0}" type="presParOf" srcId="{B6A11B9D-B86D-41F6-B4FD-840278F838AD}" destId="{3BF69DAE-B5AD-4D9C-AA8A-C721B384B88F}" srcOrd="2" destOrd="0" presId="urn:microsoft.com/office/officeart/2008/layout/VerticalCurvedList"/>
    <dgm:cxn modelId="{06F6DB6D-38A4-4960-9A90-BE4D4B6D6ADE}" type="presParOf" srcId="{3BF69DAE-B5AD-4D9C-AA8A-C721B384B88F}" destId="{BEAFBAA6-25F7-4912-BE8B-424A7B671D8D}" srcOrd="0" destOrd="0" presId="urn:microsoft.com/office/officeart/2008/layout/VerticalCurvedList"/>
    <dgm:cxn modelId="{42413746-7A7F-4802-9978-688241D8119F}" type="presParOf" srcId="{B6A11B9D-B86D-41F6-B4FD-840278F838AD}" destId="{413370F3-0E95-4212-A1DE-E11EC97A8A43}" srcOrd="3" destOrd="0" presId="urn:microsoft.com/office/officeart/2008/layout/VerticalCurvedList"/>
    <dgm:cxn modelId="{ABE3DB4A-DD75-4BED-997F-A0F55EDD266E}" type="presParOf" srcId="{B6A11B9D-B86D-41F6-B4FD-840278F838AD}" destId="{2BF2609A-452A-4CEB-A37A-839727D84225}" srcOrd="4" destOrd="0" presId="urn:microsoft.com/office/officeart/2008/layout/VerticalCurvedList"/>
    <dgm:cxn modelId="{859BACB3-D922-4CB9-8D50-B48C1F8A3570}" type="presParOf" srcId="{2BF2609A-452A-4CEB-A37A-839727D84225}" destId="{A10E4DE6-5F93-4CBA-A1DD-87C9F79E2886}" srcOrd="0" destOrd="0" presId="urn:microsoft.com/office/officeart/2008/layout/VerticalCurvedList"/>
    <dgm:cxn modelId="{187CE7CD-0770-414D-9DDB-1733D534B385}" type="presParOf" srcId="{B6A11B9D-B86D-41F6-B4FD-840278F838AD}" destId="{65ED611D-B399-46EB-B76D-9F73C8242AC5}" srcOrd="5" destOrd="0" presId="urn:microsoft.com/office/officeart/2008/layout/VerticalCurvedList"/>
    <dgm:cxn modelId="{F2D195E1-5519-4DE6-8808-37513B0B80C8}" type="presParOf" srcId="{B6A11B9D-B86D-41F6-B4FD-840278F838AD}" destId="{1F01ED4B-7139-4F42-8D75-EEE4EB7F16DD}" srcOrd="6" destOrd="0" presId="urn:microsoft.com/office/officeart/2008/layout/VerticalCurvedList"/>
    <dgm:cxn modelId="{56E9C5CA-1FC2-41CE-877B-1D8659B8B3C1}" type="presParOf" srcId="{1F01ED4B-7139-4F42-8D75-EEE4EB7F16DD}" destId="{46D8AB76-8552-49EE-A294-07DAFC027C45}"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9B493682-BFC3-4D9A-BC25-B1BB059B51EF}"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GB"/>
        </a:p>
      </dgm:t>
    </dgm:pt>
    <dgm:pt modelId="{EB4C8FF5-FA60-47C3-8F42-F6430FA2F9F2}">
      <dgm:prSet custT="1"/>
      <dgm:spPr/>
      <dgm:t>
        <a:bodyPr/>
        <a:lstStyle/>
        <a:p>
          <a:pPr rtl="0"/>
          <a:r>
            <a:rPr lang="en-US" sz="2400" dirty="0"/>
            <a:t>Some analysts assume that the earnings of a firm represent its potential dividends. This cannot be true for several reasons:</a:t>
          </a:r>
          <a:endParaRPr lang="en-GB" sz="2400" dirty="0"/>
        </a:p>
      </dgm:t>
    </dgm:pt>
    <dgm:pt modelId="{7C6EBEA7-CEE7-46D4-A680-DE995F7281D6}" type="parTrans" cxnId="{FF33637C-F650-42DB-8CDB-B8D3B9A6005A}">
      <dgm:prSet/>
      <dgm:spPr/>
      <dgm:t>
        <a:bodyPr/>
        <a:lstStyle/>
        <a:p>
          <a:endParaRPr lang="en-GB"/>
        </a:p>
      </dgm:t>
    </dgm:pt>
    <dgm:pt modelId="{0B9EA0E8-91EA-4FD7-8743-F34CEF0B1EB1}" type="sibTrans" cxnId="{FF33637C-F650-42DB-8CDB-B8D3B9A6005A}">
      <dgm:prSet/>
      <dgm:spPr/>
      <dgm:t>
        <a:bodyPr/>
        <a:lstStyle/>
        <a:p>
          <a:endParaRPr lang="en-GB"/>
        </a:p>
      </dgm:t>
    </dgm:pt>
    <dgm:pt modelId="{9D0D3EE6-5A24-4D8B-958A-F55339DF9374}">
      <dgm:prSet/>
      <dgm:spPr/>
      <dgm:t>
        <a:bodyPr/>
        <a:lstStyle/>
        <a:p>
          <a:pPr rtl="0"/>
          <a:r>
            <a:rPr lang="en-US" dirty="0"/>
            <a:t>Earnings are not cash flows, since there are both non-cash revenues and expenses in the earnings calculation</a:t>
          </a:r>
          <a:endParaRPr lang="en-GB" dirty="0"/>
        </a:p>
      </dgm:t>
    </dgm:pt>
    <dgm:pt modelId="{7578261F-E50B-4FBD-B2A1-9A1C683108D6}" type="parTrans" cxnId="{059D34C5-92CE-45A3-96A6-4FE2A8D3C8F6}">
      <dgm:prSet/>
      <dgm:spPr/>
      <dgm:t>
        <a:bodyPr/>
        <a:lstStyle/>
        <a:p>
          <a:endParaRPr lang="en-GB"/>
        </a:p>
      </dgm:t>
    </dgm:pt>
    <dgm:pt modelId="{27C1E435-E05A-4FF2-8BE7-C920D66F5E60}" type="sibTrans" cxnId="{059D34C5-92CE-45A3-96A6-4FE2A8D3C8F6}">
      <dgm:prSet/>
      <dgm:spPr/>
      <dgm:t>
        <a:bodyPr/>
        <a:lstStyle/>
        <a:p>
          <a:endParaRPr lang="en-GB"/>
        </a:p>
      </dgm:t>
    </dgm:pt>
    <dgm:pt modelId="{1733FE3F-6A03-4A95-8B0C-7B1678B5F719}">
      <dgm:prSet/>
      <dgm:spPr/>
      <dgm:t>
        <a:bodyPr/>
        <a:lstStyle/>
        <a:p>
          <a:pPr rtl="0"/>
          <a:r>
            <a:rPr lang="en-US"/>
            <a:t>Even if earnings were cash flows, a firm that paid its earnings out as dividends would not be investing in new assets and thus could not grow</a:t>
          </a:r>
          <a:endParaRPr lang="en-GB"/>
        </a:p>
      </dgm:t>
    </dgm:pt>
    <dgm:pt modelId="{BA58355D-D5F5-42A9-A96A-5EAA5FCF0089}" type="parTrans" cxnId="{21830746-1D29-428C-B0B2-50748A7B7B31}">
      <dgm:prSet/>
      <dgm:spPr/>
      <dgm:t>
        <a:bodyPr/>
        <a:lstStyle/>
        <a:p>
          <a:endParaRPr lang="en-GB"/>
        </a:p>
      </dgm:t>
    </dgm:pt>
    <dgm:pt modelId="{AA2C9272-C837-4393-84EC-9FCBC73C9F81}" type="sibTrans" cxnId="{21830746-1D29-428C-B0B2-50748A7B7B31}">
      <dgm:prSet/>
      <dgm:spPr/>
      <dgm:t>
        <a:bodyPr/>
        <a:lstStyle/>
        <a:p>
          <a:endParaRPr lang="en-GB"/>
        </a:p>
      </dgm:t>
    </dgm:pt>
    <dgm:pt modelId="{08529FD3-E0BF-4A16-BF34-9BD59648BA2C}">
      <dgm:prSet/>
      <dgm:spPr/>
      <dgm:t>
        <a:bodyPr/>
        <a:lstStyle/>
        <a:p>
          <a:pPr rtl="0"/>
          <a:r>
            <a:rPr lang="en-US"/>
            <a:t>Valuation models, where earnings are discounted back to the present, will over estimate the value of the equity in the firm</a:t>
          </a:r>
          <a:endParaRPr lang="en-GB"/>
        </a:p>
      </dgm:t>
    </dgm:pt>
    <dgm:pt modelId="{0D20FB3B-1026-48A6-8BD3-7F8FD9D71BA4}" type="parTrans" cxnId="{9438EEDC-8B84-4E49-9F83-7D1F8183A50D}">
      <dgm:prSet/>
      <dgm:spPr/>
      <dgm:t>
        <a:bodyPr/>
        <a:lstStyle/>
        <a:p>
          <a:endParaRPr lang="en-GB"/>
        </a:p>
      </dgm:t>
    </dgm:pt>
    <dgm:pt modelId="{FFB53C12-F3DB-4A14-A1B4-708F0A25289A}" type="sibTrans" cxnId="{9438EEDC-8B84-4E49-9F83-7D1F8183A50D}">
      <dgm:prSet/>
      <dgm:spPr/>
      <dgm:t>
        <a:bodyPr/>
        <a:lstStyle/>
        <a:p>
          <a:endParaRPr lang="en-GB"/>
        </a:p>
      </dgm:t>
    </dgm:pt>
    <dgm:pt modelId="{450A325C-A633-4709-8A87-E6F7EEF2D3C0}">
      <dgm:prSet custT="1"/>
      <dgm:spPr/>
      <dgm:t>
        <a:bodyPr/>
        <a:lstStyle/>
        <a:p>
          <a:pPr rtl="0"/>
          <a:r>
            <a:rPr lang="en-US" sz="2400" dirty="0"/>
            <a:t>The potential dividends of a firm are the cash flows left over after the firm has made any “investments” to create future growth and net debt repayments (debt repayments - new debt issues)</a:t>
          </a:r>
          <a:endParaRPr lang="en-GB" sz="2400" dirty="0"/>
        </a:p>
      </dgm:t>
    </dgm:pt>
    <dgm:pt modelId="{759F1878-5199-42E6-B0F1-D37044CDA46B}" type="parTrans" cxnId="{391D000C-948F-4730-BF85-DB1FC690C01F}">
      <dgm:prSet/>
      <dgm:spPr/>
      <dgm:t>
        <a:bodyPr/>
        <a:lstStyle/>
        <a:p>
          <a:endParaRPr lang="en-GB"/>
        </a:p>
      </dgm:t>
    </dgm:pt>
    <dgm:pt modelId="{80A411AE-817A-4C72-9B4F-4ED744B2E49F}" type="sibTrans" cxnId="{391D000C-948F-4730-BF85-DB1FC690C01F}">
      <dgm:prSet/>
      <dgm:spPr/>
      <dgm:t>
        <a:bodyPr/>
        <a:lstStyle/>
        <a:p>
          <a:endParaRPr lang="en-GB"/>
        </a:p>
      </dgm:t>
    </dgm:pt>
    <dgm:pt modelId="{94136F78-41ED-4AE4-8668-DF69DC8146F3}">
      <dgm:prSet/>
      <dgm:spPr/>
      <dgm:t>
        <a:bodyPr/>
        <a:lstStyle/>
        <a:p>
          <a:pPr rtl="0"/>
          <a:r>
            <a:rPr lang="en-US"/>
            <a:t>The common categorization of capital expenditures into discretionary and non-discretionary loses its basis when there is future growth built into the valuation.</a:t>
          </a:r>
          <a:endParaRPr lang="en-GB"/>
        </a:p>
      </dgm:t>
    </dgm:pt>
    <dgm:pt modelId="{0A6B066F-8BE8-40AD-8CAA-4A0BF90639A0}" type="parTrans" cxnId="{9DF17234-22B2-4C9B-8071-1139FD298EE0}">
      <dgm:prSet/>
      <dgm:spPr/>
      <dgm:t>
        <a:bodyPr/>
        <a:lstStyle/>
        <a:p>
          <a:endParaRPr lang="en-GB"/>
        </a:p>
      </dgm:t>
    </dgm:pt>
    <dgm:pt modelId="{9D4AFD7C-47E4-458A-85F0-B7A0DF1B3B9C}" type="sibTrans" cxnId="{9DF17234-22B2-4C9B-8071-1139FD298EE0}">
      <dgm:prSet/>
      <dgm:spPr/>
      <dgm:t>
        <a:bodyPr/>
        <a:lstStyle/>
        <a:p>
          <a:endParaRPr lang="en-GB"/>
        </a:p>
      </dgm:t>
    </dgm:pt>
    <dgm:pt modelId="{42E5FEF8-DBD0-414D-B5F5-F4C1DA20486B}" type="pres">
      <dgm:prSet presAssocID="{9B493682-BFC3-4D9A-BC25-B1BB059B51EF}" presName="linear" presStyleCnt="0">
        <dgm:presLayoutVars>
          <dgm:animLvl val="lvl"/>
          <dgm:resizeHandles val="exact"/>
        </dgm:presLayoutVars>
      </dgm:prSet>
      <dgm:spPr/>
    </dgm:pt>
    <dgm:pt modelId="{0B9088ED-3FC2-4C3F-8259-967553F2137B}" type="pres">
      <dgm:prSet presAssocID="{EB4C8FF5-FA60-47C3-8F42-F6430FA2F9F2}" presName="parentText" presStyleLbl="node1" presStyleIdx="0" presStyleCnt="2" custLinFactNeighborX="872">
        <dgm:presLayoutVars>
          <dgm:chMax val="0"/>
          <dgm:bulletEnabled val="1"/>
        </dgm:presLayoutVars>
      </dgm:prSet>
      <dgm:spPr/>
    </dgm:pt>
    <dgm:pt modelId="{B47162A2-88B5-4174-BCB5-8E9741C759FA}" type="pres">
      <dgm:prSet presAssocID="{EB4C8FF5-FA60-47C3-8F42-F6430FA2F9F2}" presName="childText" presStyleLbl="revTx" presStyleIdx="0" presStyleCnt="2">
        <dgm:presLayoutVars>
          <dgm:bulletEnabled val="1"/>
        </dgm:presLayoutVars>
      </dgm:prSet>
      <dgm:spPr/>
    </dgm:pt>
    <dgm:pt modelId="{0C02ABC0-A92D-48FF-B87B-E694F1F4A771}" type="pres">
      <dgm:prSet presAssocID="{450A325C-A633-4709-8A87-E6F7EEF2D3C0}" presName="parentText" presStyleLbl="node1" presStyleIdx="1" presStyleCnt="2" custLinFactNeighborX="872">
        <dgm:presLayoutVars>
          <dgm:chMax val="0"/>
          <dgm:bulletEnabled val="1"/>
        </dgm:presLayoutVars>
      </dgm:prSet>
      <dgm:spPr/>
    </dgm:pt>
    <dgm:pt modelId="{D7E22659-8587-4F4F-9EEA-D8C886A4FC8A}" type="pres">
      <dgm:prSet presAssocID="{450A325C-A633-4709-8A87-E6F7EEF2D3C0}" presName="childText" presStyleLbl="revTx" presStyleIdx="1" presStyleCnt="2">
        <dgm:presLayoutVars>
          <dgm:bulletEnabled val="1"/>
        </dgm:presLayoutVars>
      </dgm:prSet>
      <dgm:spPr/>
    </dgm:pt>
  </dgm:ptLst>
  <dgm:cxnLst>
    <dgm:cxn modelId="{391D000C-948F-4730-BF85-DB1FC690C01F}" srcId="{9B493682-BFC3-4D9A-BC25-B1BB059B51EF}" destId="{450A325C-A633-4709-8A87-E6F7EEF2D3C0}" srcOrd="1" destOrd="0" parTransId="{759F1878-5199-42E6-B0F1-D37044CDA46B}" sibTransId="{80A411AE-817A-4C72-9B4F-4ED744B2E49F}"/>
    <dgm:cxn modelId="{9DF17234-22B2-4C9B-8071-1139FD298EE0}" srcId="{450A325C-A633-4709-8A87-E6F7EEF2D3C0}" destId="{94136F78-41ED-4AE4-8668-DF69DC8146F3}" srcOrd="0" destOrd="0" parTransId="{0A6B066F-8BE8-40AD-8CAA-4A0BF90639A0}" sibTransId="{9D4AFD7C-47E4-458A-85F0-B7A0DF1B3B9C}"/>
    <dgm:cxn modelId="{21830746-1D29-428C-B0B2-50748A7B7B31}" srcId="{EB4C8FF5-FA60-47C3-8F42-F6430FA2F9F2}" destId="{1733FE3F-6A03-4A95-8B0C-7B1678B5F719}" srcOrd="1" destOrd="0" parTransId="{BA58355D-D5F5-42A9-A96A-5EAA5FCF0089}" sibTransId="{AA2C9272-C837-4393-84EC-9FCBC73C9F81}"/>
    <dgm:cxn modelId="{19C95D47-F8DC-4E16-AEFE-10CD21F29C38}" type="presOf" srcId="{9B493682-BFC3-4D9A-BC25-B1BB059B51EF}" destId="{42E5FEF8-DBD0-414D-B5F5-F4C1DA20486B}" srcOrd="0" destOrd="0" presId="urn:microsoft.com/office/officeart/2005/8/layout/vList2"/>
    <dgm:cxn modelId="{85D4374C-2037-4981-B026-F8498DC1C223}" type="presOf" srcId="{450A325C-A633-4709-8A87-E6F7EEF2D3C0}" destId="{0C02ABC0-A92D-48FF-B87B-E694F1F4A771}" srcOrd="0" destOrd="0" presId="urn:microsoft.com/office/officeart/2005/8/layout/vList2"/>
    <dgm:cxn modelId="{0782AC77-FBB5-4C3A-B1BB-215340CAF810}" type="presOf" srcId="{94136F78-41ED-4AE4-8668-DF69DC8146F3}" destId="{D7E22659-8587-4F4F-9EEA-D8C886A4FC8A}" srcOrd="0" destOrd="0" presId="urn:microsoft.com/office/officeart/2005/8/layout/vList2"/>
    <dgm:cxn modelId="{FF33637C-F650-42DB-8CDB-B8D3B9A6005A}" srcId="{9B493682-BFC3-4D9A-BC25-B1BB059B51EF}" destId="{EB4C8FF5-FA60-47C3-8F42-F6430FA2F9F2}" srcOrd="0" destOrd="0" parTransId="{7C6EBEA7-CEE7-46D4-A680-DE995F7281D6}" sibTransId="{0B9EA0E8-91EA-4FD7-8743-F34CEF0B1EB1}"/>
    <dgm:cxn modelId="{792D4C89-9ABD-4BAC-88A8-80F25A857028}" type="presOf" srcId="{9D0D3EE6-5A24-4D8B-958A-F55339DF9374}" destId="{B47162A2-88B5-4174-BCB5-8E9741C759FA}" srcOrd="0" destOrd="0" presId="urn:microsoft.com/office/officeart/2005/8/layout/vList2"/>
    <dgm:cxn modelId="{F03F1E9C-C881-460C-B574-998DC22AFBBA}" type="presOf" srcId="{EB4C8FF5-FA60-47C3-8F42-F6430FA2F9F2}" destId="{0B9088ED-3FC2-4C3F-8259-967553F2137B}" srcOrd="0" destOrd="0" presId="urn:microsoft.com/office/officeart/2005/8/layout/vList2"/>
    <dgm:cxn modelId="{8B6387A3-351B-45FC-AB1F-EFEEF23F8C6F}" type="presOf" srcId="{08529FD3-E0BF-4A16-BF34-9BD59648BA2C}" destId="{B47162A2-88B5-4174-BCB5-8E9741C759FA}" srcOrd="0" destOrd="2" presId="urn:microsoft.com/office/officeart/2005/8/layout/vList2"/>
    <dgm:cxn modelId="{774863BF-8449-4DD7-B772-EA5C88180B67}" type="presOf" srcId="{1733FE3F-6A03-4A95-8B0C-7B1678B5F719}" destId="{B47162A2-88B5-4174-BCB5-8E9741C759FA}" srcOrd="0" destOrd="1" presId="urn:microsoft.com/office/officeart/2005/8/layout/vList2"/>
    <dgm:cxn modelId="{059D34C5-92CE-45A3-96A6-4FE2A8D3C8F6}" srcId="{EB4C8FF5-FA60-47C3-8F42-F6430FA2F9F2}" destId="{9D0D3EE6-5A24-4D8B-958A-F55339DF9374}" srcOrd="0" destOrd="0" parTransId="{7578261F-E50B-4FBD-B2A1-9A1C683108D6}" sibTransId="{27C1E435-E05A-4FF2-8BE7-C920D66F5E60}"/>
    <dgm:cxn modelId="{9438EEDC-8B84-4E49-9F83-7D1F8183A50D}" srcId="{EB4C8FF5-FA60-47C3-8F42-F6430FA2F9F2}" destId="{08529FD3-E0BF-4A16-BF34-9BD59648BA2C}" srcOrd="2" destOrd="0" parTransId="{0D20FB3B-1026-48A6-8BD3-7F8FD9D71BA4}" sibTransId="{FFB53C12-F3DB-4A14-A1B4-708F0A25289A}"/>
    <dgm:cxn modelId="{89A87AFB-B609-4EE3-93CC-08A58AC67599}" type="presParOf" srcId="{42E5FEF8-DBD0-414D-B5F5-F4C1DA20486B}" destId="{0B9088ED-3FC2-4C3F-8259-967553F2137B}" srcOrd="0" destOrd="0" presId="urn:microsoft.com/office/officeart/2005/8/layout/vList2"/>
    <dgm:cxn modelId="{7D3FB218-3693-42BB-88F4-23FB97BAC25E}" type="presParOf" srcId="{42E5FEF8-DBD0-414D-B5F5-F4C1DA20486B}" destId="{B47162A2-88B5-4174-BCB5-8E9741C759FA}" srcOrd="1" destOrd="0" presId="urn:microsoft.com/office/officeart/2005/8/layout/vList2"/>
    <dgm:cxn modelId="{78BEA82A-AE7E-4AE0-817F-F0E1AF72289A}" type="presParOf" srcId="{42E5FEF8-DBD0-414D-B5F5-F4C1DA20486B}" destId="{0C02ABC0-A92D-48FF-B87B-E694F1F4A771}" srcOrd="2" destOrd="0" presId="urn:microsoft.com/office/officeart/2005/8/layout/vList2"/>
    <dgm:cxn modelId="{4B1435FC-231B-4210-85AE-F7F68EF6F89C}" type="presParOf" srcId="{42E5FEF8-DBD0-414D-B5F5-F4C1DA20486B}" destId="{D7E22659-8587-4F4F-9EEA-D8C886A4FC8A}"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26085A0D-2DE4-459F-BAC7-7E50DC41216B}"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GB"/>
        </a:p>
      </dgm:t>
    </dgm:pt>
    <dgm:pt modelId="{075FFB99-751B-4067-9BF0-242C598645D3}">
      <dgm:prSet custT="1"/>
      <dgm:spPr/>
      <dgm:t>
        <a:bodyPr/>
        <a:lstStyle/>
        <a:p>
          <a:r>
            <a:rPr lang="en-GB" sz="3200"/>
            <a:t>Actual Figures</a:t>
          </a:r>
          <a:endParaRPr lang="fr-FR" sz="3200"/>
        </a:p>
      </dgm:t>
    </dgm:pt>
    <dgm:pt modelId="{B89831F5-4220-4EDD-A2B9-A1066F6A7F0D}" type="parTrans" cxnId="{C368DD67-D432-4C99-A0B7-C0BB80BBF8AF}">
      <dgm:prSet/>
      <dgm:spPr/>
      <dgm:t>
        <a:bodyPr/>
        <a:lstStyle/>
        <a:p>
          <a:endParaRPr lang="en-GB" sz="2800"/>
        </a:p>
      </dgm:t>
    </dgm:pt>
    <dgm:pt modelId="{A73C7E69-1676-493A-831D-B08310F28D96}" type="sibTrans" cxnId="{C368DD67-D432-4C99-A0B7-C0BB80BBF8AF}">
      <dgm:prSet/>
      <dgm:spPr/>
      <dgm:t>
        <a:bodyPr/>
        <a:lstStyle/>
        <a:p>
          <a:endParaRPr lang="en-GB" sz="2800"/>
        </a:p>
      </dgm:t>
    </dgm:pt>
    <dgm:pt modelId="{241D21B5-F654-4341-A9B6-4788C29F0253}">
      <dgm:prSet custT="1"/>
      <dgm:spPr/>
      <dgm:t>
        <a:bodyPr/>
        <a:lstStyle/>
        <a:p>
          <a:r>
            <a:rPr lang="en-GB" sz="3200"/>
            <a:t>Industry Multiple (Damodaran)</a:t>
          </a:r>
          <a:endParaRPr lang="fr-FR" sz="3200"/>
        </a:p>
      </dgm:t>
    </dgm:pt>
    <dgm:pt modelId="{5BC249FB-CD6E-4458-9302-83D11A5ACBD8}" type="parTrans" cxnId="{C5436871-2345-49AE-8584-EC31B57B31DB}">
      <dgm:prSet/>
      <dgm:spPr/>
      <dgm:t>
        <a:bodyPr/>
        <a:lstStyle/>
        <a:p>
          <a:endParaRPr lang="en-GB" sz="2800"/>
        </a:p>
      </dgm:t>
    </dgm:pt>
    <dgm:pt modelId="{B379FA97-807D-4A2F-A416-F821E0C876A9}" type="sibTrans" cxnId="{C5436871-2345-49AE-8584-EC31B57B31DB}">
      <dgm:prSet/>
      <dgm:spPr/>
      <dgm:t>
        <a:bodyPr/>
        <a:lstStyle/>
        <a:p>
          <a:endParaRPr lang="en-GB" sz="2800"/>
        </a:p>
      </dgm:t>
    </dgm:pt>
    <dgm:pt modelId="{98EDD9D1-6E8B-4EE0-A940-1D6C533929B4}">
      <dgm:prSet custT="1"/>
      <dgm:spPr/>
      <dgm:t>
        <a:bodyPr/>
        <a:lstStyle/>
        <a:p>
          <a:r>
            <a:rPr lang="en-GB" sz="3200"/>
            <a:t>Average Multiple</a:t>
          </a:r>
          <a:endParaRPr lang="fr-FR" sz="3200"/>
        </a:p>
      </dgm:t>
    </dgm:pt>
    <dgm:pt modelId="{6C3E2426-E953-43D3-AD3F-162C8FF3F5A8}" type="parTrans" cxnId="{1D9FD30A-1C83-4605-9667-134D262A2B2B}">
      <dgm:prSet/>
      <dgm:spPr/>
      <dgm:t>
        <a:bodyPr/>
        <a:lstStyle/>
        <a:p>
          <a:endParaRPr lang="en-GB" sz="2800"/>
        </a:p>
      </dgm:t>
    </dgm:pt>
    <dgm:pt modelId="{747A3D2F-0A22-4078-A8A1-51EF021AB9DA}" type="sibTrans" cxnId="{1D9FD30A-1C83-4605-9667-134D262A2B2B}">
      <dgm:prSet/>
      <dgm:spPr/>
      <dgm:t>
        <a:bodyPr/>
        <a:lstStyle/>
        <a:p>
          <a:endParaRPr lang="en-GB" sz="2800"/>
        </a:p>
      </dgm:t>
    </dgm:pt>
    <dgm:pt modelId="{463453C5-FF0E-4425-85C5-AEF50B4A4CA4}">
      <dgm:prSet custT="1"/>
      <dgm:spPr/>
      <dgm:t>
        <a:bodyPr/>
        <a:lstStyle/>
        <a:p>
          <a:r>
            <a:rPr lang="en-GB" sz="3200"/>
            <a:t>Forecast/normalize figures</a:t>
          </a:r>
          <a:endParaRPr lang="fr-FR" sz="3200"/>
        </a:p>
      </dgm:t>
    </dgm:pt>
    <dgm:pt modelId="{E2D94A47-D69B-47A2-A4D6-3E7658CE042D}" type="parTrans" cxnId="{9AFB55EF-77AE-4579-9E96-FC1DBB93606E}">
      <dgm:prSet/>
      <dgm:spPr/>
      <dgm:t>
        <a:bodyPr/>
        <a:lstStyle/>
        <a:p>
          <a:endParaRPr lang="en-GB" sz="2800"/>
        </a:p>
      </dgm:t>
    </dgm:pt>
    <dgm:pt modelId="{0EB7C6BC-12F6-43C6-8EE9-7F25551DE693}" type="sibTrans" cxnId="{9AFB55EF-77AE-4579-9E96-FC1DBB93606E}">
      <dgm:prSet/>
      <dgm:spPr/>
      <dgm:t>
        <a:bodyPr/>
        <a:lstStyle/>
        <a:p>
          <a:endParaRPr lang="en-GB" sz="2800"/>
        </a:p>
      </dgm:t>
    </dgm:pt>
    <dgm:pt modelId="{3F8A8F39-6CD3-4F0D-9377-DA6AD1231A94}">
      <dgm:prSet custT="1"/>
      <dgm:spPr/>
      <dgm:t>
        <a:bodyPr/>
        <a:lstStyle/>
        <a:p>
          <a:r>
            <a:rPr lang="en-GB" sz="3200"/>
            <a:t>Forecast/normalize multiples</a:t>
          </a:r>
          <a:endParaRPr lang="fr-FR" sz="3200"/>
        </a:p>
      </dgm:t>
    </dgm:pt>
    <dgm:pt modelId="{0F3F4349-9DF7-4191-972E-20AAC7956623}" type="parTrans" cxnId="{A901FDEE-B820-4503-BC7C-DE4D55744ABF}">
      <dgm:prSet/>
      <dgm:spPr/>
      <dgm:t>
        <a:bodyPr/>
        <a:lstStyle/>
        <a:p>
          <a:endParaRPr lang="en-GB" sz="2800"/>
        </a:p>
      </dgm:t>
    </dgm:pt>
    <dgm:pt modelId="{9AD183A3-4878-4AAB-933C-7E1F01BBF0D3}" type="sibTrans" cxnId="{A901FDEE-B820-4503-BC7C-DE4D55744ABF}">
      <dgm:prSet/>
      <dgm:spPr/>
      <dgm:t>
        <a:bodyPr/>
        <a:lstStyle/>
        <a:p>
          <a:endParaRPr lang="en-GB" sz="2800"/>
        </a:p>
      </dgm:t>
    </dgm:pt>
    <dgm:pt modelId="{956EB409-9E95-4E81-8513-684F34EF3FB2}" type="pres">
      <dgm:prSet presAssocID="{26085A0D-2DE4-459F-BAC7-7E50DC41216B}" presName="diagram" presStyleCnt="0">
        <dgm:presLayoutVars>
          <dgm:dir/>
          <dgm:resizeHandles val="exact"/>
        </dgm:presLayoutVars>
      </dgm:prSet>
      <dgm:spPr/>
    </dgm:pt>
    <dgm:pt modelId="{87BB832D-156E-4DE5-9E99-4D1CDA069066}" type="pres">
      <dgm:prSet presAssocID="{075FFB99-751B-4067-9BF0-242C598645D3}" presName="node" presStyleLbl="node1" presStyleIdx="0" presStyleCnt="5">
        <dgm:presLayoutVars>
          <dgm:bulletEnabled val="1"/>
        </dgm:presLayoutVars>
      </dgm:prSet>
      <dgm:spPr/>
    </dgm:pt>
    <dgm:pt modelId="{19359B4D-A887-44C0-9F39-A5A741F261D3}" type="pres">
      <dgm:prSet presAssocID="{A73C7E69-1676-493A-831D-B08310F28D96}" presName="sibTrans" presStyleCnt="0"/>
      <dgm:spPr/>
    </dgm:pt>
    <dgm:pt modelId="{1E726181-EEF0-45B7-9E46-9527DD3B50B7}" type="pres">
      <dgm:prSet presAssocID="{241D21B5-F654-4341-A9B6-4788C29F0253}" presName="node" presStyleLbl="node1" presStyleIdx="1" presStyleCnt="5">
        <dgm:presLayoutVars>
          <dgm:bulletEnabled val="1"/>
        </dgm:presLayoutVars>
      </dgm:prSet>
      <dgm:spPr/>
    </dgm:pt>
    <dgm:pt modelId="{05214024-F85F-4170-9C25-595EDAB4094A}" type="pres">
      <dgm:prSet presAssocID="{B379FA97-807D-4A2F-A416-F821E0C876A9}" presName="sibTrans" presStyleCnt="0"/>
      <dgm:spPr/>
    </dgm:pt>
    <dgm:pt modelId="{45AD2006-B4F7-41F7-A5D1-DC12B1325106}" type="pres">
      <dgm:prSet presAssocID="{98EDD9D1-6E8B-4EE0-A940-1D6C533929B4}" presName="node" presStyleLbl="node1" presStyleIdx="2" presStyleCnt="5">
        <dgm:presLayoutVars>
          <dgm:bulletEnabled val="1"/>
        </dgm:presLayoutVars>
      </dgm:prSet>
      <dgm:spPr/>
    </dgm:pt>
    <dgm:pt modelId="{83491EFA-BF19-4096-8BB6-EE3407C5E9CD}" type="pres">
      <dgm:prSet presAssocID="{747A3D2F-0A22-4078-A8A1-51EF021AB9DA}" presName="sibTrans" presStyleCnt="0"/>
      <dgm:spPr/>
    </dgm:pt>
    <dgm:pt modelId="{D1A1D2D5-71C3-4E7F-BCF2-DBB76F879ED6}" type="pres">
      <dgm:prSet presAssocID="{463453C5-FF0E-4425-85C5-AEF50B4A4CA4}" presName="node" presStyleLbl="node1" presStyleIdx="3" presStyleCnt="5">
        <dgm:presLayoutVars>
          <dgm:bulletEnabled val="1"/>
        </dgm:presLayoutVars>
      </dgm:prSet>
      <dgm:spPr/>
    </dgm:pt>
    <dgm:pt modelId="{0EB70278-F36B-4DC6-89AD-DBB70368F931}" type="pres">
      <dgm:prSet presAssocID="{0EB7C6BC-12F6-43C6-8EE9-7F25551DE693}" presName="sibTrans" presStyleCnt="0"/>
      <dgm:spPr/>
    </dgm:pt>
    <dgm:pt modelId="{F0668259-A783-4207-918B-3D4A3F47C4CF}" type="pres">
      <dgm:prSet presAssocID="{3F8A8F39-6CD3-4F0D-9377-DA6AD1231A94}" presName="node" presStyleLbl="node1" presStyleIdx="4" presStyleCnt="5">
        <dgm:presLayoutVars>
          <dgm:bulletEnabled val="1"/>
        </dgm:presLayoutVars>
      </dgm:prSet>
      <dgm:spPr/>
    </dgm:pt>
  </dgm:ptLst>
  <dgm:cxnLst>
    <dgm:cxn modelId="{1D9FD30A-1C83-4605-9667-134D262A2B2B}" srcId="{26085A0D-2DE4-459F-BAC7-7E50DC41216B}" destId="{98EDD9D1-6E8B-4EE0-A940-1D6C533929B4}" srcOrd="2" destOrd="0" parTransId="{6C3E2426-E953-43D3-AD3F-162C8FF3F5A8}" sibTransId="{747A3D2F-0A22-4078-A8A1-51EF021AB9DA}"/>
    <dgm:cxn modelId="{C368DD67-D432-4C99-A0B7-C0BB80BBF8AF}" srcId="{26085A0D-2DE4-459F-BAC7-7E50DC41216B}" destId="{075FFB99-751B-4067-9BF0-242C598645D3}" srcOrd="0" destOrd="0" parTransId="{B89831F5-4220-4EDD-A2B9-A1066F6A7F0D}" sibTransId="{A73C7E69-1676-493A-831D-B08310F28D96}"/>
    <dgm:cxn modelId="{C5436871-2345-49AE-8584-EC31B57B31DB}" srcId="{26085A0D-2DE4-459F-BAC7-7E50DC41216B}" destId="{241D21B5-F654-4341-A9B6-4788C29F0253}" srcOrd="1" destOrd="0" parTransId="{5BC249FB-CD6E-4458-9302-83D11A5ACBD8}" sibTransId="{B379FA97-807D-4A2F-A416-F821E0C876A9}"/>
    <dgm:cxn modelId="{7EB48059-266F-4674-8AEE-437E23981395}" type="presOf" srcId="{26085A0D-2DE4-459F-BAC7-7E50DC41216B}" destId="{956EB409-9E95-4E81-8513-684F34EF3FB2}" srcOrd="0" destOrd="0" presId="urn:microsoft.com/office/officeart/2005/8/layout/default"/>
    <dgm:cxn modelId="{D26FEF79-89C0-42A5-A9C6-D4F1EB14CC1A}" type="presOf" srcId="{463453C5-FF0E-4425-85C5-AEF50B4A4CA4}" destId="{D1A1D2D5-71C3-4E7F-BCF2-DBB76F879ED6}" srcOrd="0" destOrd="0" presId="urn:microsoft.com/office/officeart/2005/8/layout/default"/>
    <dgm:cxn modelId="{A38188A5-8D79-4D0F-9FB7-4D359D1D4E51}" type="presOf" srcId="{075FFB99-751B-4067-9BF0-242C598645D3}" destId="{87BB832D-156E-4DE5-9E99-4D1CDA069066}" srcOrd="0" destOrd="0" presId="urn:microsoft.com/office/officeart/2005/8/layout/default"/>
    <dgm:cxn modelId="{200D0FAE-E551-401C-99A4-96C25D320680}" type="presOf" srcId="{3F8A8F39-6CD3-4F0D-9377-DA6AD1231A94}" destId="{F0668259-A783-4207-918B-3D4A3F47C4CF}" srcOrd="0" destOrd="0" presId="urn:microsoft.com/office/officeart/2005/8/layout/default"/>
    <dgm:cxn modelId="{A612B0C5-7D5F-4C6A-90E3-DC5A84DD5D4C}" type="presOf" srcId="{241D21B5-F654-4341-A9B6-4788C29F0253}" destId="{1E726181-EEF0-45B7-9E46-9527DD3B50B7}" srcOrd="0" destOrd="0" presId="urn:microsoft.com/office/officeart/2005/8/layout/default"/>
    <dgm:cxn modelId="{0DC913DB-F298-4F8A-8D21-C4211A5621F8}" type="presOf" srcId="{98EDD9D1-6E8B-4EE0-A940-1D6C533929B4}" destId="{45AD2006-B4F7-41F7-A5D1-DC12B1325106}" srcOrd="0" destOrd="0" presId="urn:microsoft.com/office/officeart/2005/8/layout/default"/>
    <dgm:cxn modelId="{A901FDEE-B820-4503-BC7C-DE4D55744ABF}" srcId="{26085A0D-2DE4-459F-BAC7-7E50DC41216B}" destId="{3F8A8F39-6CD3-4F0D-9377-DA6AD1231A94}" srcOrd="4" destOrd="0" parTransId="{0F3F4349-9DF7-4191-972E-20AAC7956623}" sibTransId="{9AD183A3-4878-4AAB-933C-7E1F01BBF0D3}"/>
    <dgm:cxn modelId="{9AFB55EF-77AE-4579-9E96-FC1DBB93606E}" srcId="{26085A0D-2DE4-459F-BAC7-7E50DC41216B}" destId="{463453C5-FF0E-4425-85C5-AEF50B4A4CA4}" srcOrd="3" destOrd="0" parTransId="{E2D94A47-D69B-47A2-A4D6-3E7658CE042D}" sibTransId="{0EB7C6BC-12F6-43C6-8EE9-7F25551DE693}"/>
    <dgm:cxn modelId="{270AFD2A-2134-41CB-87A2-AB4364ADEC8C}" type="presParOf" srcId="{956EB409-9E95-4E81-8513-684F34EF3FB2}" destId="{87BB832D-156E-4DE5-9E99-4D1CDA069066}" srcOrd="0" destOrd="0" presId="urn:microsoft.com/office/officeart/2005/8/layout/default"/>
    <dgm:cxn modelId="{E96443B3-1139-491A-A95D-C4CDEC6CF8CC}" type="presParOf" srcId="{956EB409-9E95-4E81-8513-684F34EF3FB2}" destId="{19359B4D-A887-44C0-9F39-A5A741F261D3}" srcOrd="1" destOrd="0" presId="urn:microsoft.com/office/officeart/2005/8/layout/default"/>
    <dgm:cxn modelId="{5544F150-780E-46C5-B8B3-260209019A22}" type="presParOf" srcId="{956EB409-9E95-4E81-8513-684F34EF3FB2}" destId="{1E726181-EEF0-45B7-9E46-9527DD3B50B7}" srcOrd="2" destOrd="0" presId="urn:microsoft.com/office/officeart/2005/8/layout/default"/>
    <dgm:cxn modelId="{781E5999-A847-4F49-8ACC-9C3F7EF025A2}" type="presParOf" srcId="{956EB409-9E95-4E81-8513-684F34EF3FB2}" destId="{05214024-F85F-4170-9C25-595EDAB4094A}" srcOrd="3" destOrd="0" presId="urn:microsoft.com/office/officeart/2005/8/layout/default"/>
    <dgm:cxn modelId="{6838B362-CC85-4D98-9605-6B23C88CB048}" type="presParOf" srcId="{956EB409-9E95-4E81-8513-684F34EF3FB2}" destId="{45AD2006-B4F7-41F7-A5D1-DC12B1325106}" srcOrd="4" destOrd="0" presId="urn:microsoft.com/office/officeart/2005/8/layout/default"/>
    <dgm:cxn modelId="{8FCB4384-C05A-42D3-97B9-E6AFD95C15E7}" type="presParOf" srcId="{956EB409-9E95-4E81-8513-684F34EF3FB2}" destId="{83491EFA-BF19-4096-8BB6-EE3407C5E9CD}" srcOrd="5" destOrd="0" presId="urn:microsoft.com/office/officeart/2005/8/layout/default"/>
    <dgm:cxn modelId="{3B8943A9-CB6C-4E2C-BEAE-3462FD9F4019}" type="presParOf" srcId="{956EB409-9E95-4E81-8513-684F34EF3FB2}" destId="{D1A1D2D5-71C3-4E7F-BCF2-DBB76F879ED6}" srcOrd="6" destOrd="0" presId="urn:microsoft.com/office/officeart/2005/8/layout/default"/>
    <dgm:cxn modelId="{3B090DD9-6160-4906-B70A-9A25B33A8B10}" type="presParOf" srcId="{956EB409-9E95-4E81-8513-684F34EF3FB2}" destId="{0EB70278-F36B-4DC6-89AD-DBB70368F931}" srcOrd="7" destOrd="0" presId="urn:microsoft.com/office/officeart/2005/8/layout/default"/>
    <dgm:cxn modelId="{758F600B-0B80-44E9-B6F9-BE9B2A695D51}" type="presParOf" srcId="{956EB409-9E95-4E81-8513-684F34EF3FB2}" destId="{F0668259-A783-4207-918B-3D4A3F47C4CF}"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F003F1A2-FBA6-475B-8863-75FB8ADCFC01}" type="doc">
      <dgm:prSet loTypeId="urn:microsoft.com/office/officeart/2005/8/layout/list1" loCatId="list" qsTypeId="urn:microsoft.com/office/officeart/2005/8/quickstyle/simple5" qsCatId="simple" csTypeId="urn:microsoft.com/office/officeart/2005/8/colors/accent1_2" csCatId="accent1"/>
      <dgm:spPr/>
      <dgm:t>
        <a:bodyPr/>
        <a:lstStyle/>
        <a:p>
          <a:endParaRPr lang="en-GB"/>
        </a:p>
      </dgm:t>
    </dgm:pt>
    <dgm:pt modelId="{6EC88A55-C2CA-4AAC-B33F-B46D08112A3D}">
      <dgm:prSet/>
      <dgm:spPr/>
      <dgm:t>
        <a:bodyPr/>
        <a:lstStyle/>
        <a:p>
          <a:pPr rtl="0"/>
          <a:r>
            <a:rPr lang="en-US"/>
            <a:t>Look at the past</a:t>
          </a:r>
          <a:endParaRPr lang="en-GB"/>
        </a:p>
      </dgm:t>
    </dgm:pt>
    <dgm:pt modelId="{CA7506AA-C525-440C-A66A-F82549B85BB9}" type="parTrans" cxnId="{BAB2A69C-B53A-4427-934B-2F712CF6EDFA}">
      <dgm:prSet/>
      <dgm:spPr/>
      <dgm:t>
        <a:bodyPr/>
        <a:lstStyle/>
        <a:p>
          <a:endParaRPr lang="en-GB"/>
        </a:p>
      </dgm:t>
    </dgm:pt>
    <dgm:pt modelId="{0663C86F-3B60-4C0E-96A6-B95BFE73FB04}" type="sibTrans" cxnId="{BAB2A69C-B53A-4427-934B-2F712CF6EDFA}">
      <dgm:prSet/>
      <dgm:spPr/>
      <dgm:t>
        <a:bodyPr/>
        <a:lstStyle/>
        <a:p>
          <a:endParaRPr lang="en-GB"/>
        </a:p>
      </dgm:t>
    </dgm:pt>
    <dgm:pt modelId="{28E049EB-B5FD-4B9A-B5DA-B26853246728}">
      <dgm:prSet/>
      <dgm:spPr/>
      <dgm:t>
        <a:bodyPr/>
        <a:lstStyle/>
        <a:p>
          <a:pPr rtl="0"/>
          <a:r>
            <a:rPr lang="en-US"/>
            <a:t>The historical growth in earnings per share is usually a good starting point for growth estimation</a:t>
          </a:r>
          <a:endParaRPr lang="en-GB"/>
        </a:p>
      </dgm:t>
    </dgm:pt>
    <dgm:pt modelId="{B22397F0-C97F-4EFC-A186-AD2F8579D758}" type="parTrans" cxnId="{33CC38F8-BD3C-43AC-9E40-41CD20DC7EC6}">
      <dgm:prSet/>
      <dgm:spPr/>
      <dgm:t>
        <a:bodyPr/>
        <a:lstStyle/>
        <a:p>
          <a:endParaRPr lang="en-GB"/>
        </a:p>
      </dgm:t>
    </dgm:pt>
    <dgm:pt modelId="{58688B04-40A5-4700-804D-15979AAB4CF8}" type="sibTrans" cxnId="{33CC38F8-BD3C-43AC-9E40-41CD20DC7EC6}">
      <dgm:prSet/>
      <dgm:spPr/>
      <dgm:t>
        <a:bodyPr/>
        <a:lstStyle/>
        <a:p>
          <a:endParaRPr lang="en-GB"/>
        </a:p>
      </dgm:t>
    </dgm:pt>
    <dgm:pt modelId="{5273070B-C054-44A9-BCB8-1B1CCE625ABA}">
      <dgm:prSet/>
      <dgm:spPr/>
      <dgm:t>
        <a:bodyPr/>
        <a:lstStyle/>
        <a:p>
          <a:pPr rtl="0"/>
          <a:r>
            <a:rPr lang="en-US"/>
            <a:t>Look at what others are estimating</a:t>
          </a:r>
          <a:endParaRPr lang="en-GB"/>
        </a:p>
      </dgm:t>
    </dgm:pt>
    <dgm:pt modelId="{AB308C74-7BAC-425B-898E-D05BBD794D0E}" type="parTrans" cxnId="{D1037959-41DE-4D33-A9BF-3295561E70BB}">
      <dgm:prSet/>
      <dgm:spPr/>
      <dgm:t>
        <a:bodyPr/>
        <a:lstStyle/>
        <a:p>
          <a:endParaRPr lang="en-GB"/>
        </a:p>
      </dgm:t>
    </dgm:pt>
    <dgm:pt modelId="{718E4863-3239-452F-B594-2B0FEF279F90}" type="sibTrans" cxnId="{D1037959-41DE-4D33-A9BF-3295561E70BB}">
      <dgm:prSet/>
      <dgm:spPr/>
      <dgm:t>
        <a:bodyPr/>
        <a:lstStyle/>
        <a:p>
          <a:endParaRPr lang="en-GB"/>
        </a:p>
      </dgm:t>
    </dgm:pt>
    <dgm:pt modelId="{71A42D11-3B14-445C-A06C-92A2D789C5BC}">
      <dgm:prSet/>
      <dgm:spPr/>
      <dgm:t>
        <a:bodyPr/>
        <a:lstStyle/>
        <a:p>
          <a:pPr rtl="0"/>
          <a:r>
            <a:rPr lang="en-US"/>
            <a:t>Analysts estimate growth in earnings per share for many firms. It is useful to know what their estimates are.</a:t>
          </a:r>
          <a:endParaRPr lang="en-GB"/>
        </a:p>
      </dgm:t>
    </dgm:pt>
    <dgm:pt modelId="{1D6F8614-0C75-4AFF-B56C-40DFCFBC32F0}" type="parTrans" cxnId="{747F9C9C-92DA-4B2E-AB2F-C41DE248FD2B}">
      <dgm:prSet/>
      <dgm:spPr/>
      <dgm:t>
        <a:bodyPr/>
        <a:lstStyle/>
        <a:p>
          <a:endParaRPr lang="en-GB"/>
        </a:p>
      </dgm:t>
    </dgm:pt>
    <dgm:pt modelId="{B713945B-5923-4C36-8047-760CBD3D5F7B}" type="sibTrans" cxnId="{747F9C9C-92DA-4B2E-AB2F-C41DE248FD2B}">
      <dgm:prSet/>
      <dgm:spPr/>
      <dgm:t>
        <a:bodyPr/>
        <a:lstStyle/>
        <a:p>
          <a:endParaRPr lang="en-GB"/>
        </a:p>
      </dgm:t>
    </dgm:pt>
    <dgm:pt modelId="{9AA90256-D8E3-4714-80B3-C6FEA39A93D6}">
      <dgm:prSet/>
      <dgm:spPr/>
      <dgm:t>
        <a:bodyPr/>
        <a:lstStyle/>
        <a:p>
          <a:pPr rtl="0"/>
          <a:r>
            <a:rPr lang="en-US"/>
            <a:t>Look at fundamentals</a:t>
          </a:r>
          <a:endParaRPr lang="en-GB"/>
        </a:p>
      </dgm:t>
    </dgm:pt>
    <dgm:pt modelId="{E2A9B90D-BF3A-42EA-AC8E-021C44084E98}" type="parTrans" cxnId="{1C45F2FC-FA40-4941-AABA-721BB4CB702A}">
      <dgm:prSet/>
      <dgm:spPr/>
      <dgm:t>
        <a:bodyPr/>
        <a:lstStyle/>
        <a:p>
          <a:endParaRPr lang="en-GB"/>
        </a:p>
      </dgm:t>
    </dgm:pt>
    <dgm:pt modelId="{8A4FB8F1-7265-4778-9651-2187A8F1C706}" type="sibTrans" cxnId="{1C45F2FC-FA40-4941-AABA-721BB4CB702A}">
      <dgm:prSet/>
      <dgm:spPr/>
      <dgm:t>
        <a:bodyPr/>
        <a:lstStyle/>
        <a:p>
          <a:endParaRPr lang="en-GB"/>
        </a:p>
      </dgm:t>
    </dgm:pt>
    <dgm:pt modelId="{4E5905F0-A13F-4932-B3F0-5D6350DE990B}">
      <dgm:prSet/>
      <dgm:spPr/>
      <dgm:t>
        <a:bodyPr/>
        <a:lstStyle/>
        <a:p>
          <a:pPr rtl="0"/>
          <a:r>
            <a:rPr lang="en-US"/>
            <a:t>Ultimately, all growth in earnings can be traced to two fundamentals - how much the firm is investing in new projects, and what returns these projects are making for the firm.</a:t>
          </a:r>
          <a:endParaRPr lang="en-GB"/>
        </a:p>
      </dgm:t>
    </dgm:pt>
    <dgm:pt modelId="{801FAC8B-045A-4A76-A0D6-9E30EA05B954}" type="parTrans" cxnId="{96FC7FA3-1380-4E62-952C-C3AAE0D5EF7B}">
      <dgm:prSet/>
      <dgm:spPr/>
      <dgm:t>
        <a:bodyPr/>
        <a:lstStyle/>
        <a:p>
          <a:endParaRPr lang="en-GB"/>
        </a:p>
      </dgm:t>
    </dgm:pt>
    <dgm:pt modelId="{FE874003-FE12-4D16-8032-2778F4090B0D}" type="sibTrans" cxnId="{96FC7FA3-1380-4E62-952C-C3AAE0D5EF7B}">
      <dgm:prSet/>
      <dgm:spPr/>
      <dgm:t>
        <a:bodyPr/>
        <a:lstStyle/>
        <a:p>
          <a:endParaRPr lang="en-GB"/>
        </a:p>
      </dgm:t>
    </dgm:pt>
    <dgm:pt modelId="{BDB54B62-FE8F-42D0-937B-8BB32680F781}" type="pres">
      <dgm:prSet presAssocID="{F003F1A2-FBA6-475B-8863-75FB8ADCFC01}" presName="linear" presStyleCnt="0">
        <dgm:presLayoutVars>
          <dgm:dir/>
          <dgm:animLvl val="lvl"/>
          <dgm:resizeHandles val="exact"/>
        </dgm:presLayoutVars>
      </dgm:prSet>
      <dgm:spPr/>
    </dgm:pt>
    <dgm:pt modelId="{E6708A6E-B336-404E-BEA5-8729F34F2099}" type="pres">
      <dgm:prSet presAssocID="{6EC88A55-C2CA-4AAC-B33F-B46D08112A3D}" presName="parentLin" presStyleCnt="0"/>
      <dgm:spPr/>
    </dgm:pt>
    <dgm:pt modelId="{1A857EF2-7F04-4A19-B049-4AC77DBB5242}" type="pres">
      <dgm:prSet presAssocID="{6EC88A55-C2CA-4AAC-B33F-B46D08112A3D}" presName="parentLeftMargin" presStyleLbl="node1" presStyleIdx="0" presStyleCnt="3"/>
      <dgm:spPr/>
    </dgm:pt>
    <dgm:pt modelId="{6950BBBE-DF2D-4F53-A478-19B375A261C1}" type="pres">
      <dgm:prSet presAssocID="{6EC88A55-C2CA-4AAC-B33F-B46D08112A3D}" presName="parentText" presStyleLbl="node1" presStyleIdx="0" presStyleCnt="3">
        <dgm:presLayoutVars>
          <dgm:chMax val="0"/>
          <dgm:bulletEnabled val="1"/>
        </dgm:presLayoutVars>
      </dgm:prSet>
      <dgm:spPr/>
    </dgm:pt>
    <dgm:pt modelId="{20B1976D-96C3-42AD-BAFC-C70428830598}" type="pres">
      <dgm:prSet presAssocID="{6EC88A55-C2CA-4AAC-B33F-B46D08112A3D}" presName="negativeSpace" presStyleCnt="0"/>
      <dgm:spPr/>
    </dgm:pt>
    <dgm:pt modelId="{DFE8F4E4-A9A6-4963-82AA-3495444EC8F9}" type="pres">
      <dgm:prSet presAssocID="{6EC88A55-C2CA-4AAC-B33F-B46D08112A3D}" presName="childText" presStyleLbl="conFgAcc1" presStyleIdx="0" presStyleCnt="3">
        <dgm:presLayoutVars>
          <dgm:bulletEnabled val="1"/>
        </dgm:presLayoutVars>
      </dgm:prSet>
      <dgm:spPr/>
    </dgm:pt>
    <dgm:pt modelId="{6C4BF7BA-7D0A-4C20-9443-BDD0A53DF302}" type="pres">
      <dgm:prSet presAssocID="{0663C86F-3B60-4C0E-96A6-B95BFE73FB04}" presName="spaceBetweenRectangles" presStyleCnt="0"/>
      <dgm:spPr/>
    </dgm:pt>
    <dgm:pt modelId="{9DE6CA44-3EE8-4F9D-909F-869D334BF714}" type="pres">
      <dgm:prSet presAssocID="{5273070B-C054-44A9-BCB8-1B1CCE625ABA}" presName="parentLin" presStyleCnt="0"/>
      <dgm:spPr/>
    </dgm:pt>
    <dgm:pt modelId="{337CFECD-1A53-4E4C-B7F5-E05096BECDD2}" type="pres">
      <dgm:prSet presAssocID="{5273070B-C054-44A9-BCB8-1B1CCE625ABA}" presName="parentLeftMargin" presStyleLbl="node1" presStyleIdx="0" presStyleCnt="3"/>
      <dgm:spPr/>
    </dgm:pt>
    <dgm:pt modelId="{4C6B2F55-C9E6-4E92-B40A-ADA88CCE11E1}" type="pres">
      <dgm:prSet presAssocID="{5273070B-C054-44A9-BCB8-1B1CCE625ABA}" presName="parentText" presStyleLbl="node1" presStyleIdx="1" presStyleCnt="3">
        <dgm:presLayoutVars>
          <dgm:chMax val="0"/>
          <dgm:bulletEnabled val="1"/>
        </dgm:presLayoutVars>
      </dgm:prSet>
      <dgm:spPr/>
    </dgm:pt>
    <dgm:pt modelId="{3F754A43-7359-4B8D-B7D7-909328265191}" type="pres">
      <dgm:prSet presAssocID="{5273070B-C054-44A9-BCB8-1B1CCE625ABA}" presName="negativeSpace" presStyleCnt="0"/>
      <dgm:spPr/>
    </dgm:pt>
    <dgm:pt modelId="{4954A4A2-426A-468C-AEEE-EDA7D19E4358}" type="pres">
      <dgm:prSet presAssocID="{5273070B-C054-44A9-BCB8-1B1CCE625ABA}" presName="childText" presStyleLbl="conFgAcc1" presStyleIdx="1" presStyleCnt="3">
        <dgm:presLayoutVars>
          <dgm:bulletEnabled val="1"/>
        </dgm:presLayoutVars>
      </dgm:prSet>
      <dgm:spPr/>
    </dgm:pt>
    <dgm:pt modelId="{287FB856-F46B-43E5-B1AF-3FE251FDE138}" type="pres">
      <dgm:prSet presAssocID="{718E4863-3239-452F-B594-2B0FEF279F90}" presName="spaceBetweenRectangles" presStyleCnt="0"/>
      <dgm:spPr/>
    </dgm:pt>
    <dgm:pt modelId="{6BF85353-0707-447F-AACF-73DCEB98774B}" type="pres">
      <dgm:prSet presAssocID="{9AA90256-D8E3-4714-80B3-C6FEA39A93D6}" presName="parentLin" presStyleCnt="0"/>
      <dgm:spPr/>
    </dgm:pt>
    <dgm:pt modelId="{607CFA8E-0E7C-4FCA-A54D-BE49F201BAD2}" type="pres">
      <dgm:prSet presAssocID="{9AA90256-D8E3-4714-80B3-C6FEA39A93D6}" presName="parentLeftMargin" presStyleLbl="node1" presStyleIdx="1" presStyleCnt="3"/>
      <dgm:spPr/>
    </dgm:pt>
    <dgm:pt modelId="{FB2D7965-8713-4C11-AC57-FA3EC7B4DECF}" type="pres">
      <dgm:prSet presAssocID="{9AA90256-D8E3-4714-80B3-C6FEA39A93D6}" presName="parentText" presStyleLbl="node1" presStyleIdx="2" presStyleCnt="3">
        <dgm:presLayoutVars>
          <dgm:chMax val="0"/>
          <dgm:bulletEnabled val="1"/>
        </dgm:presLayoutVars>
      </dgm:prSet>
      <dgm:spPr/>
    </dgm:pt>
    <dgm:pt modelId="{C9C7CC64-809E-4DE5-9378-AA70BF563BA4}" type="pres">
      <dgm:prSet presAssocID="{9AA90256-D8E3-4714-80B3-C6FEA39A93D6}" presName="negativeSpace" presStyleCnt="0"/>
      <dgm:spPr/>
    </dgm:pt>
    <dgm:pt modelId="{42FC9D60-10F3-432D-9716-7CF8139A8988}" type="pres">
      <dgm:prSet presAssocID="{9AA90256-D8E3-4714-80B3-C6FEA39A93D6}" presName="childText" presStyleLbl="conFgAcc1" presStyleIdx="2" presStyleCnt="3">
        <dgm:presLayoutVars>
          <dgm:bulletEnabled val="1"/>
        </dgm:presLayoutVars>
      </dgm:prSet>
      <dgm:spPr/>
    </dgm:pt>
  </dgm:ptLst>
  <dgm:cxnLst>
    <dgm:cxn modelId="{53AF2F14-B9F3-4674-9776-1F5C8CB8E786}" type="presOf" srcId="{5273070B-C054-44A9-BCB8-1B1CCE625ABA}" destId="{4C6B2F55-C9E6-4E92-B40A-ADA88CCE11E1}" srcOrd="1" destOrd="0" presId="urn:microsoft.com/office/officeart/2005/8/layout/list1"/>
    <dgm:cxn modelId="{514FE524-E254-4E6A-99A5-0213D8C47DA5}" type="presOf" srcId="{5273070B-C054-44A9-BCB8-1B1CCE625ABA}" destId="{337CFECD-1A53-4E4C-B7F5-E05096BECDD2}" srcOrd="0" destOrd="0" presId="urn:microsoft.com/office/officeart/2005/8/layout/list1"/>
    <dgm:cxn modelId="{1050CD66-8FC9-45BB-B9F9-AD7B89493C91}" type="presOf" srcId="{4E5905F0-A13F-4932-B3F0-5D6350DE990B}" destId="{42FC9D60-10F3-432D-9716-7CF8139A8988}" srcOrd="0" destOrd="0" presId="urn:microsoft.com/office/officeart/2005/8/layout/list1"/>
    <dgm:cxn modelId="{0AA8F956-1849-43F5-A4B1-57F50C4DAAE0}" type="presOf" srcId="{6EC88A55-C2CA-4AAC-B33F-B46D08112A3D}" destId="{1A857EF2-7F04-4A19-B049-4AC77DBB5242}" srcOrd="0" destOrd="0" presId="urn:microsoft.com/office/officeart/2005/8/layout/list1"/>
    <dgm:cxn modelId="{D1037959-41DE-4D33-A9BF-3295561E70BB}" srcId="{F003F1A2-FBA6-475B-8863-75FB8ADCFC01}" destId="{5273070B-C054-44A9-BCB8-1B1CCE625ABA}" srcOrd="1" destOrd="0" parTransId="{AB308C74-7BAC-425B-898E-D05BBD794D0E}" sibTransId="{718E4863-3239-452F-B594-2B0FEF279F90}"/>
    <dgm:cxn modelId="{B383B398-ED78-424A-8EB9-94BCC6CE05F6}" type="presOf" srcId="{71A42D11-3B14-445C-A06C-92A2D789C5BC}" destId="{4954A4A2-426A-468C-AEEE-EDA7D19E4358}" srcOrd="0" destOrd="0" presId="urn:microsoft.com/office/officeart/2005/8/layout/list1"/>
    <dgm:cxn modelId="{81BEC898-F209-49DA-8F18-402F92EACC46}" type="presOf" srcId="{F003F1A2-FBA6-475B-8863-75FB8ADCFC01}" destId="{BDB54B62-FE8F-42D0-937B-8BB32680F781}" srcOrd="0" destOrd="0" presId="urn:microsoft.com/office/officeart/2005/8/layout/list1"/>
    <dgm:cxn modelId="{747F9C9C-92DA-4B2E-AB2F-C41DE248FD2B}" srcId="{5273070B-C054-44A9-BCB8-1B1CCE625ABA}" destId="{71A42D11-3B14-445C-A06C-92A2D789C5BC}" srcOrd="0" destOrd="0" parTransId="{1D6F8614-0C75-4AFF-B56C-40DFCFBC32F0}" sibTransId="{B713945B-5923-4C36-8047-760CBD3D5F7B}"/>
    <dgm:cxn modelId="{BAB2A69C-B53A-4427-934B-2F712CF6EDFA}" srcId="{F003F1A2-FBA6-475B-8863-75FB8ADCFC01}" destId="{6EC88A55-C2CA-4AAC-B33F-B46D08112A3D}" srcOrd="0" destOrd="0" parTransId="{CA7506AA-C525-440C-A66A-F82549B85BB9}" sibTransId="{0663C86F-3B60-4C0E-96A6-B95BFE73FB04}"/>
    <dgm:cxn modelId="{96FC7FA3-1380-4E62-952C-C3AAE0D5EF7B}" srcId="{9AA90256-D8E3-4714-80B3-C6FEA39A93D6}" destId="{4E5905F0-A13F-4932-B3F0-5D6350DE990B}" srcOrd="0" destOrd="0" parTransId="{801FAC8B-045A-4A76-A0D6-9E30EA05B954}" sibTransId="{FE874003-FE12-4D16-8032-2778F4090B0D}"/>
    <dgm:cxn modelId="{383BB8AE-6CFB-404C-AA22-588C62BDA474}" type="presOf" srcId="{6EC88A55-C2CA-4AAC-B33F-B46D08112A3D}" destId="{6950BBBE-DF2D-4F53-A478-19B375A261C1}" srcOrd="1" destOrd="0" presId="urn:microsoft.com/office/officeart/2005/8/layout/list1"/>
    <dgm:cxn modelId="{7717C1B6-A85F-4753-B560-8EBCF8037DFA}" type="presOf" srcId="{9AA90256-D8E3-4714-80B3-C6FEA39A93D6}" destId="{607CFA8E-0E7C-4FCA-A54D-BE49F201BAD2}" srcOrd="0" destOrd="0" presId="urn:microsoft.com/office/officeart/2005/8/layout/list1"/>
    <dgm:cxn modelId="{EA2CECCC-AEAA-4671-9F27-D1FB320CEA6A}" type="presOf" srcId="{9AA90256-D8E3-4714-80B3-C6FEA39A93D6}" destId="{FB2D7965-8713-4C11-AC57-FA3EC7B4DECF}" srcOrd="1" destOrd="0" presId="urn:microsoft.com/office/officeart/2005/8/layout/list1"/>
    <dgm:cxn modelId="{F60F3DEA-CB43-4831-9B46-A576032059BB}" type="presOf" srcId="{28E049EB-B5FD-4B9A-B5DA-B26853246728}" destId="{DFE8F4E4-A9A6-4963-82AA-3495444EC8F9}" srcOrd="0" destOrd="0" presId="urn:microsoft.com/office/officeart/2005/8/layout/list1"/>
    <dgm:cxn modelId="{33CC38F8-BD3C-43AC-9E40-41CD20DC7EC6}" srcId="{6EC88A55-C2CA-4AAC-B33F-B46D08112A3D}" destId="{28E049EB-B5FD-4B9A-B5DA-B26853246728}" srcOrd="0" destOrd="0" parTransId="{B22397F0-C97F-4EFC-A186-AD2F8579D758}" sibTransId="{58688B04-40A5-4700-804D-15979AAB4CF8}"/>
    <dgm:cxn modelId="{1C45F2FC-FA40-4941-AABA-721BB4CB702A}" srcId="{F003F1A2-FBA6-475B-8863-75FB8ADCFC01}" destId="{9AA90256-D8E3-4714-80B3-C6FEA39A93D6}" srcOrd="2" destOrd="0" parTransId="{E2A9B90D-BF3A-42EA-AC8E-021C44084E98}" sibTransId="{8A4FB8F1-7265-4778-9651-2187A8F1C706}"/>
    <dgm:cxn modelId="{067A5209-B384-4318-A0E0-1CF6CCBB1911}" type="presParOf" srcId="{BDB54B62-FE8F-42D0-937B-8BB32680F781}" destId="{E6708A6E-B336-404E-BEA5-8729F34F2099}" srcOrd="0" destOrd="0" presId="urn:microsoft.com/office/officeart/2005/8/layout/list1"/>
    <dgm:cxn modelId="{679E5D2C-5FA4-452F-AF8D-2D201FE646AE}" type="presParOf" srcId="{E6708A6E-B336-404E-BEA5-8729F34F2099}" destId="{1A857EF2-7F04-4A19-B049-4AC77DBB5242}" srcOrd="0" destOrd="0" presId="urn:microsoft.com/office/officeart/2005/8/layout/list1"/>
    <dgm:cxn modelId="{70F7E452-275B-4EBB-9E73-EE6FC08E1377}" type="presParOf" srcId="{E6708A6E-B336-404E-BEA5-8729F34F2099}" destId="{6950BBBE-DF2D-4F53-A478-19B375A261C1}" srcOrd="1" destOrd="0" presId="urn:microsoft.com/office/officeart/2005/8/layout/list1"/>
    <dgm:cxn modelId="{C2FA3693-A244-4D57-A32B-0ACEEECB7C2D}" type="presParOf" srcId="{BDB54B62-FE8F-42D0-937B-8BB32680F781}" destId="{20B1976D-96C3-42AD-BAFC-C70428830598}" srcOrd="1" destOrd="0" presId="urn:microsoft.com/office/officeart/2005/8/layout/list1"/>
    <dgm:cxn modelId="{93997ADA-7D85-49AE-A5E8-E1694FEF9A66}" type="presParOf" srcId="{BDB54B62-FE8F-42D0-937B-8BB32680F781}" destId="{DFE8F4E4-A9A6-4963-82AA-3495444EC8F9}" srcOrd="2" destOrd="0" presId="urn:microsoft.com/office/officeart/2005/8/layout/list1"/>
    <dgm:cxn modelId="{F06153F9-BEF3-4EA7-B97A-46DC5974E7E3}" type="presParOf" srcId="{BDB54B62-FE8F-42D0-937B-8BB32680F781}" destId="{6C4BF7BA-7D0A-4C20-9443-BDD0A53DF302}" srcOrd="3" destOrd="0" presId="urn:microsoft.com/office/officeart/2005/8/layout/list1"/>
    <dgm:cxn modelId="{5845ADF8-BD98-4B7C-8B76-A967A52C4480}" type="presParOf" srcId="{BDB54B62-FE8F-42D0-937B-8BB32680F781}" destId="{9DE6CA44-3EE8-4F9D-909F-869D334BF714}" srcOrd="4" destOrd="0" presId="urn:microsoft.com/office/officeart/2005/8/layout/list1"/>
    <dgm:cxn modelId="{5CC25FF6-2C5B-46A4-8A63-7F50618A2F28}" type="presParOf" srcId="{9DE6CA44-3EE8-4F9D-909F-869D334BF714}" destId="{337CFECD-1A53-4E4C-B7F5-E05096BECDD2}" srcOrd="0" destOrd="0" presId="urn:microsoft.com/office/officeart/2005/8/layout/list1"/>
    <dgm:cxn modelId="{9C2F04CB-B778-48D1-9191-241ACF12723F}" type="presParOf" srcId="{9DE6CA44-3EE8-4F9D-909F-869D334BF714}" destId="{4C6B2F55-C9E6-4E92-B40A-ADA88CCE11E1}" srcOrd="1" destOrd="0" presId="urn:microsoft.com/office/officeart/2005/8/layout/list1"/>
    <dgm:cxn modelId="{34D57196-6E48-48FA-8D6D-ADBF0F4E260F}" type="presParOf" srcId="{BDB54B62-FE8F-42D0-937B-8BB32680F781}" destId="{3F754A43-7359-4B8D-B7D7-909328265191}" srcOrd="5" destOrd="0" presId="urn:microsoft.com/office/officeart/2005/8/layout/list1"/>
    <dgm:cxn modelId="{34D9A52B-D631-48E9-ABB8-135CEB0A003C}" type="presParOf" srcId="{BDB54B62-FE8F-42D0-937B-8BB32680F781}" destId="{4954A4A2-426A-468C-AEEE-EDA7D19E4358}" srcOrd="6" destOrd="0" presId="urn:microsoft.com/office/officeart/2005/8/layout/list1"/>
    <dgm:cxn modelId="{3863EA25-4F68-4819-94EF-D0B1AF44E565}" type="presParOf" srcId="{BDB54B62-FE8F-42D0-937B-8BB32680F781}" destId="{287FB856-F46B-43E5-B1AF-3FE251FDE138}" srcOrd="7" destOrd="0" presId="urn:microsoft.com/office/officeart/2005/8/layout/list1"/>
    <dgm:cxn modelId="{808A06D8-ACAE-45D5-B1DF-40C295364409}" type="presParOf" srcId="{BDB54B62-FE8F-42D0-937B-8BB32680F781}" destId="{6BF85353-0707-447F-AACF-73DCEB98774B}" srcOrd="8" destOrd="0" presId="urn:microsoft.com/office/officeart/2005/8/layout/list1"/>
    <dgm:cxn modelId="{DEA3BB27-F944-4129-83E7-ED87A01AA112}" type="presParOf" srcId="{6BF85353-0707-447F-AACF-73DCEB98774B}" destId="{607CFA8E-0E7C-4FCA-A54D-BE49F201BAD2}" srcOrd="0" destOrd="0" presId="urn:microsoft.com/office/officeart/2005/8/layout/list1"/>
    <dgm:cxn modelId="{8D41AEBE-DC81-47A0-BE8C-F23C8EA1A722}" type="presParOf" srcId="{6BF85353-0707-447F-AACF-73DCEB98774B}" destId="{FB2D7965-8713-4C11-AC57-FA3EC7B4DECF}" srcOrd="1" destOrd="0" presId="urn:microsoft.com/office/officeart/2005/8/layout/list1"/>
    <dgm:cxn modelId="{5A8BD468-FF9A-478B-9C2E-4C23494D32B6}" type="presParOf" srcId="{BDB54B62-FE8F-42D0-937B-8BB32680F781}" destId="{C9C7CC64-809E-4DE5-9378-AA70BF563BA4}" srcOrd="9" destOrd="0" presId="urn:microsoft.com/office/officeart/2005/8/layout/list1"/>
    <dgm:cxn modelId="{E9483EF7-1560-49E6-8BDF-4D6E61C4B043}" type="presParOf" srcId="{BDB54B62-FE8F-42D0-937B-8BB32680F781}" destId="{42FC9D60-10F3-432D-9716-7CF8139A8988}"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1D6A8191-B4FD-4BF9-918F-8C0356FC8FB9}" type="doc">
      <dgm:prSet loTypeId="urn:microsoft.com/office/officeart/2005/8/layout/lProcess2" loCatId="list" qsTypeId="urn:microsoft.com/office/officeart/2005/8/quickstyle/3d1" qsCatId="3D" csTypeId="urn:microsoft.com/office/officeart/2005/8/colors/accent1_2" csCatId="accent1" phldr="1"/>
      <dgm:spPr/>
      <dgm:t>
        <a:bodyPr/>
        <a:lstStyle/>
        <a:p>
          <a:endParaRPr lang="en-GB"/>
        </a:p>
      </dgm:t>
    </dgm:pt>
    <dgm:pt modelId="{82526EE3-C23D-4462-A7EB-C411F62BEA1A}">
      <dgm:prSet/>
      <dgm:spPr/>
      <dgm:t>
        <a:bodyPr/>
        <a:lstStyle/>
        <a:p>
          <a:pPr rtl="0"/>
          <a:r>
            <a:rPr lang="en-US" dirty="0">
              <a:solidFill>
                <a:schemeClr val="bg1">
                  <a:lumMod val="95000"/>
                </a:schemeClr>
              </a:solidFill>
            </a:rPr>
            <a:t>Estimation</a:t>
          </a:r>
          <a:endParaRPr lang="en-GB" dirty="0">
            <a:solidFill>
              <a:schemeClr val="bg1">
                <a:lumMod val="95000"/>
              </a:schemeClr>
            </a:solidFill>
          </a:endParaRPr>
        </a:p>
      </dgm:t>
    </dgm:pt>
    <dgm:pt modelId="{12BE9F75-AF10-4B42-AB7F-C304B880F53A}" type="parTrans" cxnId="{DA7AC497-1DD1-47E2-BA6C-BE8372866274}">
      <dgm:prSet/>
      <dgm:spPr/>
      <dgm:t>
        <a:bodyPr/>
        <a:lstStyle/>
        <a:p>
          <a:endParaRPr lang="en-GB">
            <a:solidFill>
              <a:schemeClr val="bg1"/>
            </a:solidFill>
          </a:endParaRPr>
        </a:p>
      </dgm:t>
    </dgm:pt>
    <dgm:pt modelId="{CF3116B7-44D4-4B9D-9AAF-F62F33203E29}" type="sibTrans" cxnId="{DA7AC497-1DD1-47E2-BA6C-BE8372866274}">
      <dgm:prSet/>
      <dgm:spPr/>
      <dgm:t>
        <a:bodyPr/>
        <a:lstStyle/>
        <a:p>
          <a:endParaRPr lang="en-GB">
            <a:solidFill>
              <a:schemeClr val="bg1"/>
            </a:solidFill>
          </a:endParaRPr>
        </a:p>
      </dgm:t>
    </dgm:pt>
    <dgm:pt modelId="{C6B7F563-5C4A-4AFE-A0DA-CCECC3C7C1ED}">
      <dgm:prSet/>
      <dgm:spPr/>
      <dgm:t>
        <a:bodyPr/>
        <a:lstStyle/>
        <a:p>
          <a:pPr rtl="0"/>
          <a:r>
            <a:rPr lang="en-US">
              <a:solidFill>
                <a:schemeClr val="bg1"/>
              </a:solidFill>
            </a:rPr>
            <a:t>Arithmetic versus Geometric Averages</a:t>
          </a:r>
          <a:endParaRPr lang="en-GB">
            <a:solidFill>
              <a:schemeClr val="bg1"/>
            </a:solidFill>
          </a:endParaRPr>
        </a:p>
      </dgm:t>
    </dgm:pt>
    <dgm:pt modelId="{C6131F15-DB49-44BB-8A9B-30F65E5C673F}" type="parTrans" cxnId="{A991290C-2ED6-4D77-9111-FF1954473FF1}">
      <dgm:prSet/>
      <dgm:spPr/>
      <dgm:t>
        <a:bodyPr/>
        <a:lstStyle/>
        <a:p>
          <a:endParaRPr lang="en-GB">
            <a:solidFill>
              <a:schemeClr val="bg1"/>
            </a:solidFill>
          </a:endParaRPr>
        </a:p>
      </dgm:t>
    </dgm:pt>
    <dgm:pt modelId="{D4525FDF-5FAC-4935-B29E-DA50C35ED5FE}" type="sibTrans" cxnId="{A991290C-2ED6-4D77-9111-FF1954473FF1}">
      <dgm:prSet/>
      <dgm:spPr/>
      <dgm:t>
        <a:bodyPr/>
        <a:lstStyle/>
        <a:p>
          <a:endParaRPr lang="en-GB">
            <a:solidFill>
              <a:schemeClr val="bg1"/>
            </a:solidFill>
          </a:endParaRPr>
        </a:p>
      </dgm:t>
    </dgm:pt>
    <dgm:pt modelId="{37873EE0-02E2-4630-A59C-049A8BC5E84E}">
      <dgm:prSet/>
      <dgm:spPr/>
      <dgm:t>
        <a:bodyPr/>
        <a:lstStyle/>
        <a:p>
          <a:pPr rtl="0"/>
          <a:r>
            <a:rPr lang="en-US">
              <a:solidFill>
                <a:schemeClr val="bg1"/>
              </a:solidFill>
            </a:rPr>
            <a:t>Simple versus Regression Models</a:t>
          </a:r>
          <a:endParaRPr lang="en-GB">
            <a:solidFill>
              <a:schemeClr val="bg1"/>
            </a:solidFill>
          </a:endParaRPr>
        </a:p>
      </dgm:t>
    </dgm:pt>
    <dgm:pt modelId="{1182EE3A-7F5E-4DA2-B34C-282A9CCB8313}" type="parTrans" cxnId="{45A487F7-5B0E-4B83-850E-B5F44E7640FB}">
      <dgm:prSet/>
      <dgm:spPr/>
      <dgm:t>
        <a:bodyPr/>
        <a:lstStyle/>
        <a:p>
          <a:endParaRPr lang="en-GB">
            <a:solidFill>
              <a:schemeClr val="bg1"/>
            </a:solidFill>
          </a:endParaRPr>
        </a:p>
      </dgm:t>
    </dgm:pt>
    <dgm:pt modelId="{822265FD-DE95-4015-86C2-6CE689413D43}" type="sibTrans" cxnId="{45A487F7-5B0E-4B83-850E-B5F44E7640FB}">
      <dgm:prSet/>
      <dgm:spPr/>
      <dgm:t>
        <a:bodyPr/>
        <a:lstStyle/>
        <a:p>
          <a:endParaRPr lang="en-GB">
            <a:solidFill>
              <a:schemeClr val="bg1"/>
            </a:solidFill>
          </a:endParaRPr>
        </a:p>
      </dgm:t>
    </dgm:pt>
    <dgm:pt modelId="{BB8A63A8-504B-4335-A5CC-3A60EAAFC6C0}">
      <dgm:prSet/>
      <dgm:spPr/>
      <dgm:t>
        <a:bodyPr/>
        <a:lstStyle/>
        <a:p>
          <a:pPr rtl="0"/>
          <a:r>
            <a:rPr lang="en-US" dirty="0">
              <a:solidFill>
                <a:schemeClr val="bg1"/>
              </a:solidFill>
            </a:rPr>
            <a:t>Sensitive to</a:t>
          </a:r>
          <a:endParaRPr lang="en-GB" dirty="0">
            <a:solidFill>
              <a:schemeClr val="bg1"/>
            </a:solidFill>
          </a:endParaRPr>
        </a:p>
      </dgm:t>
    </dgm:pt>
    <dgm:pt modelId="{EADC5FBF-4B42-49B1-BA33-650CE186F963}" type="parTrans" cxnId="{EA07891F-7907-4096-9ACA-B23468B7BAE5}">
      <dgm:prSet/>
      <dgm:spPr/>
      <dgm:t>
        <a:bodyPr/>
        <a:lstStyle/>
        <a:p>
          <a:endParaRPr lang="en-GB">
            <a:solidFill>
              <a:schemeClr val="bg1"/>
            </a:solidFill>
          </a:endParaRPr>
        </a:p>
      </dgm:t>
    </dgm:pt>
    <dgm:pt modelId="{8EB692C0-2DD9-49C7-A575-0A6FCABD0083}" type="sibTrans" cxnId="{EA07891F-7907-4096-9ACA-B23468B7BAE5}">
      <dgm:prSet/>
      <dgm:spPr/>
      <dgm:t>
        <a:bodyPr/>
        <a:lstStyle/>
        <a:p>
          <a:endParaRPr lang="en-GB">
            <a:solidFill>
              <a:schemeClr val="bg1"/>
            </a:solidFill>
          </a:endParaRPr>
        </a:p>
      </dgm:t>
    </dgm:pt>
    <dgm:pt modelId="{732CA11D-853B-4EBE-9620-27D9DFD2299A}">
      <dgm:prSet/>
      <dgm:spPr/>
      <dgm:t>
        <a:bodyPr/>
        <a:lstStyle/>
        <a:p>
          <a:pPr rtl="0"/>
          <a:r>
            <a:rPr lang="en-US">
              <a:solidFill>
                <a:schemeClr val="bg1"/>
              </a:solidFill>
            </a:rPr>
            <a:t>the period used in the estimation</a:t>
          </a:r>
          <a:endParaRPr lang="en-GB">
            <a:solidFill>
              <a:schemeClr val="bg1"/>
            </a:solidFill>
          </a:endParaRPr>
        </a:p>
      </dgm:t>
    </dgm:pt>
    <dgm:pt modelId="{B642D710-9463-4613-8D19-9F1DC70AC220}" type="parTrans" cxnId="{56074583-CCFE-4228-89CB-118718548726}">
      <dgm:prSet/>
      <dgm:spPr/>
      <dgm:t>
        <a:bodyPr/>
        <a:lstStyle/>
        <a:p>
          <a:endParaRPr lang="en-GB">
            <a:solidFill>
              <a:schemeClr val="bg1"/>
            </a:solidFill>
          </a:endParaRPr>
        </a:p>
      </dgm:t>
    </dgm:pt>
    <dgm:pt modelId="{7FF57DE7-1294-4202-8A6B-CCA02FB341BB}" type="sibTrans" cxnId="{56074583-CCFE-4228-89CB-118718548726}">
      <dgm:prSet/>
      <dgm:spPr/>
      <dgm:t>
        <a:bodyPr/>
        <a:lstStyle/>
        <a:p>
          <a:endParaRPr lang="en-GB">
            <a:solidFill>
              <a:schemeClr val="bg1"/>
            </a:solidFill>
          </a:endParaRPr>
        </a:p>
      </dgm:t>
    </dgm:pt>
    <dgm:pt modelId="{7D6036AE-6799-4C63-9272-DDFF844C690E}">
      <dgm:prSet/>
      <dgm:spPr/>
      <dgm:t>
        <a:bodyPr/>
        <a:lstStyle/>
        <a:p>
          <a:pPr rtl="0"/>
          <a:r>
            <a:rPr lang="en-US" dirty="0">
              <a:solidFill>
                <a:schemeClr val="bg1"/>
              </a:solidFill>
            </a:rPr>
            <a:t>Other Factors</a:t>
          </a:r>
          <a:endParaRPr lang="en-GB" dirty="0">
            <a:solidFill>
              <a:schemeClr val="bg1"/>
            </a:solidFill>
          </a:endParaRPr>
        </a:p>
      </dgm:t>
    </dgm:pt>
    <dgm:pt modelId="{5641868A-B749-4A04-AEAB-8492C5511591}" type="parTrans" cxnId="{068B6977-2F15-444D-8DF2-D944AABFC7EF}">
      <dgm:prSet/>
      <dgm:spPr/>
      <dgm:t>
        <a:bodyPr/>
        <a:lstStyle/>
        <a:p>
          <a:endParaRPr lang="en-GB">
            <a:solidFill>
              <a:schemeClr val="bg1"/>
            </a:solidFill>
          </a:endParaRPr>
        </a:p>
      </dgm:t>
    </dgm:pt>
    <dgm:pt modelId="{AFE50557-EE63-46D3-BF1F-6A14082BD2FC}" type="sibTrans" cxnId="{068B6977-2F15-444D-8DF2-D944AABFC7EF}">
      <dgm:prSet/>
      <dgm:spPr/>
      <dgm:t>
        <a:bodyPr/>
        <a:lstStyle/>
        <a:p>
          <a:endParaRPr lang="en-GB">
            <a:solidFill>
              <a:schemeClr val="bg1"/>
            </a:solidFill>
          </a:endParaRPr>
        </a:p>
      </dgm:t>
    </dgm:pt>
    <dgm:pt modelId="{1BB4850D-030D-4345-BEBB-4FFFCD105690}">
      <dgm:prSet/>
      <dgm:spPr/>
      <dgm:t>
        <a:bodyPr/>
        <a:lstStyle/>
        <a:p>
          <a:pPr rtl="0"/>
          <a:r>
            <a:rPr lang="en-US">
              <a:solidFill>
                <a:schemeClr val="bg1"/>
              </a:solidFill>
            </a:rPr>
            <a:t>how to deal with negative earnings</a:t>
          </a:r>
          <a:endParaRPr lang="en-GB">
            <a:solidFill>
              <a:schemeClr val="bg1"/>
            </a:solidFill>
          </a:endParaRPr>
        </a:p>
      </dgm:t>
    </dgm:pt>
    <dgm:pt modelId="{63726DB2-C596-4E04-BB9A-3E89F5BCCEFA}" type="parTrans" cxnId="{94535D39-3061-4A5F-95A6-5B9EDA430E68}">
      <dgm:prSet/>
      <dgm:spPr/>
      <dgm:t>
        <a:bodyPr/>
        <a:lstStyle/>
        <a:p>
          <a:endParaRPr lang="en-GB">
            <a:solidFill>
              <a:schemeClr val="bg1"/>
            </a:solidFill>
          </a:endParaRPr>
        </a:p>
      </dgm:t>
    </dgm:pt>
    <dgm:pt modelId="{7F8A5DF5-D1E5-4A92-923C-3EF25B72C16C}" type="sibTrans" cxnId="{94535D39-3061-4A5F-95A6-5B9EDA430E68}">
      <dgm:prSet/>
      <dgm:spPr/>
      <dgm:t>
        <a:bodyPr/>
        <a:lstStyle/>
        <a:p>
          <a:endParaRPr lang="en-GB">
            <a:solidFill>
              <a:schemeClr val="bg1"/>
            </a:solidFill>
          </a:endParaRPr>
        </a:p>
      </dgm:t>
    </dgm:pt>
    <dgm:pt modelId="{AA9AEA1C-FC28-4258-831E-51855BC04583}">
      <dgm:prSet/>
      <dgm:spPr/>
      <dgm:t>
        <a:bodyPr/>
        <a:lstStyle/>
        <a:p>
          <a:pPr rtl="0"/>
          <a:r>
            <a:rPr lang="en-US">
              <a:solidFill>
                <a:schemeClr val="bg1"/>
              </a:solidFill>
            </a:rPr>
            <a:t>the effect of changing size</a:t>
          </a:r>
          <a:endParaRPr lang="en-GB">
            <a:solidFill>
              <a:schemeClr val="bg1"/>
            </a:solidFill>
          </a:endParaRPr>
        </a:p>
      </dgm:t>
    </dgm:pt>
    <dgm:pt modelId="{FF1F1C5A-557A-4535-918F-B51289CED79B}" type="parTrans" cxnId="{3CDEC596-EFDD-4C46-BFF1-AE685C13AE05}">
      <dgm:prSet/>
      <dgm:spPr/>
      <dgm:t>
        <a:bodyPr/>
        <a:lstStyle/>
        <a:p>
          <a:endParaRPr lang="en-GB">
            <a:solidFill>
              <a:schemeClr val="bg1"/>
            </a:solidFill>
          </a:endParaRPr>
        </a:p>
      </dgm:t>
    </dgm:pt>
    <dgm:pt modelId="{8FC7FB29-1789-4C73-8810-62A867C5AD4E}" type="sibTrans" cxnId="{3CDEC596-EFDD-4C46-BFF1-AE685C13AE05}">
      <dgm:prSet/>
      <dgm:spPr/>
      <dgm:t>
        <a:bodyPr/>
        <a:lstStyle/>
        <a:p>
          <a:endParaRPr lang="en-GB">
            <a:solidFill>
              <a:schemeClr val="bg1"/>
            </a:solidFill>
          </a:endParaRPr>
        </a:p>
      </dgm:t>
    </dgm:pt>
    <dgm:pt modelId="{66038E50-CAAF-4025-B031-2DB1FB7FC7C3}" type="pres">
      <dgm:prSet presAssocID="{1D6A8191-B4FD-4BF9-918F-8C0356FC8FB9}" presName="theList" presStyleCnt="0">
        <dgm:presLayoutVars>
          <dgm:dir/>
          <dgm:animLvl val="lvl"/>
          <dgm:resizeHandles val="exact"/>
        </dgm:presLayoutVars>
      </dgm:prSet>
      <dgm:spPr/>
    </dgm:pt>
    <dgm:pt modelId="{BFCDD892-1237-40EF-9A35-D607D1F608D0}" type="pres">
      <dgm:prSet presAssocID="{82526EE3-C23D-4462-A7EB-C411F62BEA1A}" presName="compNode" presStyleCnt="0"/>
      <dgm:spPr/>
    </dgm:pt>
    <dgm:pt modelId="{6AA10200-9BEE-46E6-B1F3-44896AD9D80A}" type="pres">
      <dgm:prSet presAssocID="{82526EE3-C23D-4462-A7EB-C411F62BEA1A}" presName="aNode" presStyleLbl="bgShp" presStyleIdx="0" presStyleCnt="3" custLinFactNeighborY="926"/>
      <dgm:spPr/>
    </dgm:pt>
    <dgm:pt modelId="{4924E4E2-FDE5-4FD8-AE57-2E52A741F3EE}" type="pres">
      <dgm:prSet presAssocID="{82526EE3-C23D-4462-A7EB-C411F62BEA1A}" presName="textNode" presStyleLbl="bgShp" presStyleIdx="0" presStyleCnt="3"/>
      <dgm:spPr/>
    </dgm:pt>
    <dgm:pt modelId="{5E4148B6-0653-4309-B2FC-896DAF4E257E}" type="pres">
      <dgm:prSet presAssocID="{82526EE3-C23D-4462-A7EB-C411F62BEA1A}" presName="compChildNode" presStyleCnt="0"/>
      <dgm:spPr/>
    </dgm:pt>
    <dgm:pt modelId="{85905E61-69E4-4998-A9E3-8C563CF99C65}" type="pres">
      <dgm:prSet presAssocID="{82526EE3-C23D-4462-A7EB-C411F62BEA1A}" presName="theInnerList" presStyleCnt="0"/>
      <dgm:spPr/>
    </dgm:pt>
    <dgm:pt modelId="{5C61D3BF-BEAF-40C6-A393-F50CCCF59BEC}" type="pres">
      <dgm:prSet presAssocID="{C6B7F563-5C4A-4AFE-A0DA-CCECC3C7C1ED}" presName="childNode" presStyleLbl="node1" presStyleIdx="0" presStyleCnt="5">
        <dgm:presLayoutVars>
          <dgm:bulletEnabled val="1"/>
        </dgm:presLayoutVars>
      </dgm:prSet>
      <dgm:spPr/>
    </dgm:pt>
    <dgm:pt modelId="{CFEB5A08-4875-49E5-A411-909175159687}" type="pres">
      <dgm:prSet presAssocID="{C6B7F563-5C4A-4AFE-A0DA-CCECC3C7C1ED}" presName="aSpace2" presStyleCnt="0"/>
      <dgm:spPr/>
    </dgm:pt>
    <dgm:pt modelId="{EEEE09A0-BCCD-496F-8812-DB164849CD5E}" type="pres">
      <dgm:prSet presAssocID="{37873EE0-02E2-4630-A59C-049A8BC5E84E}" presName="childNode" presStyleLbl="node1" presStyleIdx="1" presStyleCnt="5">
        <dgm:presLayoutVars>
          <dgm:bulletEnabled val="1"/>
        </dgm:presLayoutVars>
      </dgm:prSet>
      <dgm:spPr/>
    </dgm:pt>
    <dgm:pt modelId="{7D24B633-6BEC-4386-85C6-067F25A44705}" type="pres">
      <dgm:prSet presAssocID="{82526EE3-C23D-4462-A7EB-C411F62BEA1A}" presName="aSpace" presStyleCnt="0"/>
      <dgm:spPr/>
    </dgm:pt>
    <dgm:pt modelId="{678A8D70-29CF-45B8-8260-F6794A75D97F}" type="pres">
      <dgm:prSet presAssocID="{BB8A63A8-504B-4335-A5CC-3A60EAAFC6C0}" presName="compNode" presStyleCnt="0"/>
      <dgm:spPr/>
    </dgm:pt>
    <dgm:pt modelId="{5A300AF4-110F-4942-8F32-B21624101A12}" type="pres">
      <dgm:prSet presAssocID="{BB8A63A8-504B-4335-A5CC-3A60EAAFC6C0}" presName="aNode" presStyleLbl="bgShp" presStyleIdx="1" presStyleCnt="3"/>
      <dgm:spPr/>
    </dgm:pt>
    <dgm:pt modelId="{D3692579-E10D-4C56-A96E-7FDB34904286}" type="pres">
      <dgm:prSet presAssocID="{BB8A63A8-504B-4335-A5CC-3A60EAAFC6C0}" presName="textNode" presStyleLbl="bgShp" presStyleIdx="1" presStyleCnt="3"/>
      <dgm:spPr/>
    </dgm:pt>
    <dgm:pt modelId="{208C0DFF-0441-4A10-97A5-E2E86704963E}" type="pres">
      <dgm:prSet presAssocID="{BB8A63A8-504B-4335-A5CC-3A60EAAFC6C0}" presName="compChildNode" presStyleCnt="0"/>
      <dgm:spPr/>
    </dgm:pt>
    <dgm:pt modelId="{89189910-27CB-451A-A9E0-2311031D4A3B}" type="pres">
      <dgm:prSet presAssocID="{BB8A63A8-504B-4335-A5CC-3A60EAAFC6C0}" presName="theInnerList" presStyleCnt="0"/>
      <dgm:spPr/>
    </dgm:pt>
    <dgm:pt modelId="{D18B5130-0F44-43FB-812D-1E0EA8BC72B3}" type="pres">
      <dgm:prSet presAssocID="{732CA11D-853B-4EBE-9620-27D9DFD2299A}" presName="childNode" presStyleLbl="node1" presStyleIdx="2" presStyleCnt="5">
        <dgm:presLayoutVars>
          <dgm:bulletEnabled val="1"/>
        </dgm:presLayoutVars>
      </dgm:prSet>
      <dgm:spPr/>
    </dgm:pt>
    <dgm:pt modelId="{D848FC9F-9694-4020-9A4A-C184A827F0ED}" type="pres">
      <dgm:prSet presAssocID="{BB8A63A8-504B-4335-A5CC-3A60EAAFC6C0}" presName="aSpace" presStyleCnt="0"/>
      <dgm:spPr/>
    </dgm:pt>
    <dgm:pt modelId="{9A42AB45-8EB4-4E46-BE8A-E92A51078261}" type="pres">
      <dgm:prSet presAssocID="{7D6036AE-6799-4C63-9272-DDFF844C690E}" presName="compNode" presStyleCnt="0"/>
      <dgm:spPr/>
    </dgm:pt>
    <dgm:pt modelId="{BF098BAC-00E7-47AB-BE44-16D2FA4693E5}" type="pres">
      <dgm:prSet presAssocID="{7D6036AE-6799-4C63-9272-DDFF844C690E}" presName="aNode" presStyleLbl="bgShp" presStyleIdx="2" presStyleCnt="3"/>
      <dgm:spPr/>
    </dgm:pt>
    <dgm:pt modelId="{FF6E72EE-6296-4E8A-B6D3-A56BB811DFF9}" type="pres">
      <dgm:prSet presAssocID="{7D6036AE-6799-4C63-9272-DDFF844C690E}" presName="textNode" presStyleLbl="bgShp" presStyleIdx="2" presStyleCnt="3"/>
      <dgm:spPr/>
    </dgm:pt>
    <dgm:pt modelId="{44E6929C-80E0-4E77-9D49-61F6CD6CC65F}" type="pres">
      <dgm:prSet presAssocID="{7D6036AE-6799-4C63-9272-DDFF844C690E}" presName="compChildNode" presStyleCnt="0"/>
      <dgm:spPr/>
    </dgm:pt>
    <dgm:pt modelId="{8E92132C-07C3-4C4F-8E37-CA25AF5629F8}" type="pres">
      <dgm:prSet presAssocID="{7D6036AE-6799-4C63-9272-DDFF844C690E}" presName="theInnerList" presStyleCnt="0"/>
      <dgm:spPr/>
    </dgm:pt>
    <dgm:pt modelId="{867DB91A-1C45-4127-8864-BA1067FD2102}" type="pres">
      <dgm:prSet presAssocID="{1BB4850D-030D-4345-BEBB-4FFFCD105690}" presName="childNode" presStyleLbl="node1" presStyleIdx="3" presStyleCnt="5">
        <dgm:presLayoutVars>
          <dgm:bulletEnabled val="1"/>
        </dgm:presLayoutVars>
      </dgm:prSet>
      <dgm:spPr/>
    </dgm:pt>
    <dgm:pt modelId="{2009C36B-5280-4651-A775-831E80505B13}" type="pres">
      <dgm:prSet presAssocID="{1BB4850D-030D-4345-BEBB-4FFFCD105690}" presName="aSpace2" presStyleCnt="0"/>
      <dgm:spPr/>
    </dgm:pt>
    <dgm:pt modelId="{C71F42E5-D43F-4CF3-B5FE-36B9561A6A17}" type="pres">
      <dgm:prSet presAssocID="{AA9AEA1C-FC28-4258-831E-51855BC04583}" presName="childNode" presStyleLbl="node1" presStyleIdx="4" presStyleCnt="5">
        <dgm:presLayoutVars>
          <dgm:bulletEnabled val="1"/>
        </dgm:presLayoutVars>
      </dgm:prSet>
      <dgm:spPr/>
    </dgm:pt>
  </dgm:ptLst>
  <dgm:cxnLst>
    <dgm:cxn modelId="{A991290C-2ED6-4D77-9111-FF1954473FF1}" srcId="{82526EE3-C23D-4462-A7EB-C411F62BEA1A}" destId="{C6B7F563-5C4A-4AFE-A0DA-CCECC3C7C1ED}" srcOrd="0" destOrd="0" parTransId="{C6131F15-DB49-44BB-8A9B-30F65E5C673F}" sibTransId="{D4525FDF-5FAC-4935-B29E-DA50C35ED5FE}"/>
    <dgm:cxn modelId="{4AC77D10-FF59-4D34-902B-36F6AB4B10B9}" type="presOf" srcId="{1D6A8191-B4FD-4BF9-918F-8C0356FC8FB9}" destId="{66038E50-CAAF-4025-B031-2DB1FB7FC7C3}" srcOrd="0" destOrd="0" presId="urn:microsoft.com/office/officeart/2005/8/layout/lProcess2"/>
    <dgm:cxn modelId="{51A78A1B-B349-4822-BCF8-4F19161FC108}" type="presOf" srcId="{AA9AEA1C-FC28-4258-831E-51855BC04583}" destId="{C71F42E5-D43F-4CF3-B5FE-36B9561A6A17}" srcOrd="0" destOrd="0" presId="urn:microsoft.com/office/officeart/2005/8/layout/lProcess2"/>
    <dgm:cxn modelId="{EA07891F-7907-4096-9ACA-B23468B7BAE5}" srcId="{1D6A8191-B4FD-4BF9-918F-8C0356FC8FB9}" destId="{BB8A63A8-504B-4335-A5CC-3A60EAAFC6C0}" srcOrd="1" destOrd="0" parTransId="{EADC5FBF-4B42-49B1-BA33-650CE186F963}" sibTransId="{8EB692C0-2DD9-49C7-A575-0A6FCABD0083}"/>
    <dgm:cxn modelId="{94535D39-3061-4A5F-95A6-5B9EDA430E68}" srcId="{7D6036AE-6799-4C63-9272-DDFF844C690E}" destId="{1BB4850D-030D-4345-BEBB-4FFFCD105690}" srcOrd="0" destOrd="0" parTransId="{63726DB2-C596-4E04-BB9A-3E89F5BCCEFA}" sibTransId="{7F8A5DF5-D1E5-4A92-923C-3EF25B72C16C}"/>
    <dgm:cxn modelId="{DFC47940-9DEE-4AAB-B76E-BCE44C1365A8}" type="presOf" srcId="{732CA11D-853B-4EBE-9620-27D9DFD2299A}" destId="{D18B5130-0F44-43FB-812D-1E0EA8BC72B3}" srcOrd="0" destOrd="0" presId="urn:microsoft.com/office/officeart/2005/8/layout/lProcess2"/>
    <dgm:cxn modelId="{23AB3D6D-D934-46B4-8BBD-CF309ED84908}" type="presOf" srcId="{C6B7F563-5C4A-4AFE-A0DA-CCECC3C7C1ED}" destId="{5C61D3BF-BEAF-40C6-A393-F50CCCF59BEC}" srcOrd="0" destOrd="0" presId="urn:microsoft.com/office/officeart/2005/8/layout/lProcess2"/>
    <dgm:cxn modelId="{CFC35A4E-32D5-4FAF-8E93-5EF7F80A1862}" type="presOf" srcId="{37873EE0-02E2-4630-A59C-049A8BC5E84E}" destId="{EEEE09A0-BCCD-496F-8812-DB164849CD5E}" srcOrd="0" destOrd="0" presId="urn:microsoft.com/office/officeart/2005/8/layout/lProcess2"/>
    <dgm:cxn modelId="{70B54071-93FE-442C-8906-88345AEA7163}" type="presOf" srcId="{82526EE3-C23D-4462-A7EB-C411F62BEA1A}" destId="{6AA10200-9BEE-46E6-B1F3-44896AD9D80A}" srcOrd="0" destOrd="0" presId="urn:microsoft.com/office/officeart/2005/8/layout/lProcess2"/>
    <dgm:cxn modelId="{D17C4053-A4A5-4A39-BB85-7D7A18EE832B}" type="presOf" srcId="{BB8A63A8-504B-4335-A5CC-3A60EAAFC6C0}" destId="{5A300AF4-110F-4942-8F32-B21624101A12}" srcOrd="0" destOrd="0" presId="urn:microsoft.com/office/officeart/2005/8/layout/lProcess2"/>
    <dgm:cxn modelId="{9B211E57-EE42-4796-95DD-8FBB93183DCE}" type="presOf" srcId="{82526EE3-C23D-4462-A7EB-C411F62BEA1A}" destId="{4924E4E2-FDE5-4FD8-AE57-2E52A741F3EE}" srcOrd="1" destOrd="0" presId="urn:microsoft.com/office/officeart/2005/8/layout/lProcess2"/>
    <dgm:cxn modelId="{068B6977-2F15-444D-8DF2-D944AABFC7EF}" srcId="{1D6A8191-B4FD-4BF9-918F-8C0356FC8FB9}" destId="{7D6036AE-6799-4C63-9272-DDFF844C690E}" srcOrd="2" destOrd="0" parTransId="{5641868A-B749-4A04-AEAB-8492C5511591}" sibTransId="{AFE50557-EE63-46D3-BF1F-6A14082BD2FC}"/>
    <dgm:cxn modelId="{56074583-CCFE-4228-89CB-118718548726}" srcId="{BB8A63A8-504B-4335-A5CC-3A60EAAFC6C0}" destId="{732CA11D-853B-4EBE-9620-27D9DFD2299A}" srcOrd="0" destOrd="0" parTransId="{B642D710-9463-4613-8D19-9F1DC70AC220}" sibTransId="{7FF57DE7-1294-4202-8A6B-CCA02FB341BB}"/>
    <dgm:cxn modelId="{2426DF8D-7B28-41E8-A3E6-170DF9FD4B6E}" type="presOf" srcId="{7D6036AE-6799-4C63-9272-DDFF844C690E}" destId="{BF098BAC-00E7-47AB-BE44-16D2FA4693E5}" srcOrd="0" destOrd="0" presId="urn:microsoft.com/office/officeart/2005/8/layout/lProcess2"/>
    <dgm:cxn modelId="{A8659896-BA3F-45C0-B2AE-7CCD6BCC8C36}" type="presOf" srcId="{1BB4850D-030D-4345-BEBB-4FFFCD105690}" destId="{867DB91A-1C45-4127-8864-BA1067FD2102}" srcOrd="0" destOrd="0" presId="urn:microsoft.com/office/officeart/2005/8/layout/lProcess2"/>
    <dgm:cxn modelId="{3CDEC596-EFDD-4C46-BFF1-AE685C13AE05}" srcId="{7D6036AE-6799-4C63-9272-DDFF844C690E}" destId="{AA9AEA1C-FC28-4258-831E-51855BC04583}" srcOrd="1" destOrd="0" parTransId="{FF1F1C5A-557A-4535-918F-B51289CED79B}" sibTransId="{8FC7FB29-1789-4C73-8810-62A867C5AD4E}"/>
    <dgm:cxn modelId="{DA7AC497-1DD1-47E2-BA6C-BE8372866274}" srcId="{1D6A8191-B4FD-4BF9-918F-8C0356FC8FB9}" destId="{82526EE3-C23D-4462-A7EB-C411F62BEA1A}" srcOrd="0" destOrd="0" parTransId="{12BE9F75-AF10-4B42-AB7F-C304B880F53A}" sibTransId="{CF3116B7-44D4-4B9D-9AAF-F62F33203E29}"/>
    <dgm:cxn modelId="{B9A5C5B1-5048-465A-B573-6F7CD7EA6E44}" type="presOf" srcId="{7D6036AE-6799-4C63-9272-DDFF844C690E}" destId="{FF6E72EE-6296-4E8A-B6D3-A56BB811DFF9}" srcOrd="1" destOrd="0" presId="urn:microsoft.com/office/officeart/2005/8/layout/lProcess2"/>
    <dgm:cxn modelId="{6B7CD4F5-4477-4D16-A582-3E0479490F00}" type="presOf" srcId="{BB8A63A8-504B-4335-A5CC-3A60EAAFC6C0}" destId="{D3692579-E10D-4C56-A96E-7FDB34904286}" srcOrd="1" destOrd="0" presId="urn:microsoft.com/office/officeart/2005/8/layout/lProcess2"/>
    <dgm:cxn modelId="{45A487F7-5B0E-4B83-850E-B5F44E7640FB}" srcId="{82526EE3-C23D-4462-A7EB-C411F62BEA1A}" destId="{37873EE0-02E2-4630-A59C-049A8BC5E84E}" srcOrd="1" destOrd="0" parTransId="{1182EE3A-7F5E-4DA2-B34C-282A9CCB8313}" sibTransId="{822265FD-DE95-4015-86C2-6CE689413D43}"/>
    <dgm:cxn modelId="{12DA2DD9-45BD-4F6F-AACE-502E400607D2}" type="presParOf" srcId="{66038E50-CAAF-4025-B031-2DB1FB7FC7C3}" destId="{BFCDD892-1237-40EF-9A35-D607D1F608D0}" srcOrd="0" destOrd="0" presId="urn:microsoft.com/office/officeart/2005/8/layout/lProcess2"/>
    <dgm:cxn modelId="{BC4DD1BA-44F0-4A61-9B1C-0EE656CA81CB}" type="presParOf" srcId="{BFCDD892-1237-40EF-9A35-D607D1F608D0}" destId="{6AA10200-9BEE-46E6-B1F3-44896AD9D80A}" srcOrd="0" destOrd="0" presId="urn:microsoft.com/office/officeart/2005/8/layout/lProcess2"/>
    <dgm:cxn modelId="{AA3C5A03-E54E-49D3-AFA3-D3674CBB9916}" type="presParOf" srcId="{BFCDD892-1237-40EF-9A35-D607D1F608D0}" destId="{4924E4E2-FDE5-4FD8-AE57-2E52A741F3EE}" srcOrd="1" destOrd="0" presId="urn:microsoft.com/office/officeart/2005/8/layout/lProcess2"/>
    <dgm:cxn modelId="{F38D8A99-6C62-4948-B21E-469DC0BD7821}" type="presParOf" srcId="{BFCDD892-1237-40EF-9A35-D607D1F608D0}" destId="{5E4148B6-0653-4309-B2FC-896DAF4E257E}" srcOrd="2" destOrd="0" presId="urn:microsoft.com/office/officeart/2005/8/layout/lProcess2"/>
    <dgm:cxn modelId="{5A1D3769-D653-4CE9-BC1C-464B1D0DA197}" type="presParOf" srcId="{5E4148B6-0653-4309-B2FC-896DAF4E257E}" destId="{85905E61-69E4-4998-A9E3-8C563CF99C65}" srcOrd="0" destOrd="0" presId="urn:microsoft.com/office/officeart/2005/8/layout/lProcess2"/>
    <dgm:cxn modelId="{81465186-E7DA-4DBD-A2EE-0C931B9462BF}" type="presParOf" srcId="{85905E61-69E4-4998-A9E3-8C563CF99C65}" destId="{5C61D3BF-BEAF-40C6-A393-F50CCCF59BEC}" srcOrd="0" destOrd="0" presId="urn:microsoft.com/office/officeart/2005/8/layout/lProcess2"/>
    <dgm:cxn modelId="{14DD5737-4F72-4CBA-AC09-EFB9B992AA8E}" type="presParOf" srcId="{85905E61-69E4-4998-A9E3-8C563CF99C65}" destId="{CFEB5A08-4875-49E5-A411-909175159687}" srcOrd="1" destOrd="0" presId="urn:microsoft.com/office/officeart/2005/8/layout/lProcess2"/>
    <dgm:cxn modelId="{7401545B-604E-47E1-B75C-3F64FF0E4770}" type="presParOf" srcId="{85905E61-69E4-4998-A9E3-8C563CF99C65}" destId="{EEEE09A0-BCCD-496F-8812-DB164849CD5E}" srcOrd="2" destOrd="0" presId="urn:microsoft.com/office/officeart/2005/8/layout/lProcess2"/>
    <dgm:cxn modelId="{231BEC7C-53B7-4735-B7C8-6DBB28DFC19B}" type="presParOf" srcId="{66038E50-CAAF-4025-B031-2DB1FB7FC7C3}" destId="{7D24B633-6BEC-4386-85C6-067F25A44705}" srcOrd="1" destOrd="0" presId="urn:microsoft.com/office/officeart/2005/8/layout/lProcess2"/>
    <dgm:cxn modelId="{575EC9DA-7386-4BCB-AE19-510C6373861E}" type="presParOf" srcId="{66038E50-CAAF-4025-B031-2DB1FB7FC7C3}" destId="{678A8D70-29CF-45B8-8260-F6794A75D97F}" srcOrd="2" destOrd="0" presId="urn:microsoft.com/office/officeart/2005/8/layout/lProcess2"/>
    <dgm:cxn modelId="{E5797920-EF60-4CD0-A6F8-3401BC422D48}" type="presParOf" srcId="{678A8D70-29CF-45B8-8260-F6794A75D97F}" destId="{5A300AF4-110F-4942-8F32-B21624101A12}" srcOrd="0" destOrd="0" presId="urn:microsoft.com/office/officeart/2005/8/layout/lProcess2"/>
    <dgm:cxn modelId="{2F48D45B-1DE1-478D-94C7-F00CA8E8321E}" type="presParOf" srcId="{678A8D70-29CF-45B8-8260-F6794A75D97F}" destId="{D3692579-E10D-4C56-A96E-7FDB34904286}" srcOrd="1" destOrd="0" presId="urn:microsoft.com/office/officeart/2005/8/layout/lProcess2"/>
    <dgm:cxn modelId="{73A290AD-E19C-4755-A691-A3294D25F410}" type="presParOf" srcId="{678A8D70-29CF-45B8-8260-F6794A75D97F}" destId="{208C0DFF-0441-4A10-97A5-E2E86704963E}" srcOrd="2" destOrd="0" presId="urn:microsoft.com/office/officeart/2005/8/layout/lProcess2"/>
    <dgm:cxn modelId="{669CF88C-CB88-49FF-BD07-0430F96D014B}" type="presParOf" srcId="{208C0DFF-0441-4A10-97A5-E2E86704963E}" destId="{89189910-27CB-451A-A9E0-2311031D4A3B}" srcOrd="0" destOrd="0" presId="urn:microsoft.com/office/officeart/2005/8/layout/lProcess2"/>
    <dgm:cxn modelId="{8FFBD5AC-D16B-40AB-97C5-C802C4D44103}" type="presParOf" srcId="{89189910-27CB-451A-A9E0-2311031D4A3B}" destId="{D18B5130-0F44-43FB-812D-1E0EA8BC72B3}" srcOrd="0" destOrd="0" presId="urn:microsoft.com/office/officeart/2005/8/layout/lProcess2"/>
    <dgm:cxn modelId="{C0DB8106-94EB-4424-9662-0C98B538BD01}" type="presParOf" srcId="{66038E50-CAAF-4025-B031-2DB1FB7FC7C3}" destId="{D848FC9F-9694-4020-9A4A-C184A827F0ED}" srcOrd="3" destOrd="0" presId="urn:microsoft.com/office/officeart/2005/8/layout/lProcess2"/>
    <dgm:cxn modelId="{623553F1-E993-4346-AB95-193903C5C4AD}" type="presParOf" srcId="{66038E50-CAAF-4025-B031-2DB1FB7FC7C3}" destId="{9A42AB45-8EB4-4E46-BE8A-E92A51078261}" srcOrd="4" destOrd="0" presId="urn:microsoft.com/office/officeart/2005/8/layout/lProcess2"/>
    <dgm:cxn modelId="{30FF6F03-0B75-44F5-ACB9-67F7A6806905}" type="presParOf" srcId="{9A42AB45-8EB4-4E46-BE8A-E92A51078261}" destId="{BF098BAC-00E7-47AB-BE44-16D2FA4693E5}" srcOrd="0" destOrd="0" presId="urn:microsoft.com/office/officeart/2005/8/layout/lProcess2"/>
    <dgm:cxn modelId="{A241CF40-C8BF-48B3-9287-747ED256CF88}" type="presParOf" srcId="{9A42AB45-8EB4-4E46-BE8A-E92A51078261}" destId="{FF6E72EE-6296-4E8A-B6D3-A56BB811DFF9}" srcOrd="1" destOrd="0" presId="urn:microsoft.com/office/officeart/2005/8/layout/lProcess2"/>
    <dgm:cxn modelId="{F49844BE-A3BB-45AB-88D2-CC0BB5C046D1}" type="presParOf" srcId="{9A42AB45-8EB4-4E46-BE8A-E92A51078261}" destId="{44E6929C-80E0-4E77-9D49-61F6CD6CC65F}" srcOrd="2" destOrd="0" presId="urn:microsoft.com/office/officeart/2005/8/layout/lProcess2"/>
    <dgm:cxn modelId="{8B089FC2-661B-4549-9923-0D9EA62A74B4}" type="presParOf" srcId="{44E6929C-80E0-4E77-9D49-61F6CD6CC65F}" destId="{8E92132C-07C3-4C4F-8E37-CA25AF5629F8}" srcOrd="0" destOrd="0" presId="urn:microsoft.com/office/officeart/2005/8/layout/lProcess2"/>
    <dgm:cxn modelId="{274CB957-92D9-4F7D-88F2-433D123C129D}" type="presParOf" srcId="{8E92132C-07C3-4C4F-8E37-CA25AF5629F8}" destId="{867DB91A-1C45-4127-8864-BA1067FD2102}" srcOrd="0" destOrd="0" presId="urn:microsoft.com/office/officeart/2005/8/layout/lProcess2"/>
    <dgm:cxn modelId="{0A33D8A0-9473-4A5E-ABAE-7FC7A1BE1F22}" type="presParOf" srcId="{8E92132C-07C3-4C4F-8E37-CA25AF5629F8}" destId="{2009C36B-5280-4651-A775-831E80505B13}" srcOrd="1" destOrd="0" presId="urn:microsoft.com/office/officeart/2005/8/layout/lProcess2"/>
    <dgm:cxn modelId="{9888E425-8390-4140-998B-75F284A2973E}" type="presParOf" srcId="{8E92132C-07C3-4C4F-8E37-CA25AF5629F8}" destId="{C71F42E5-D43F-4CF3-B5FE-36B9561A6A17}"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57E2290A-9AD8-4F40-A14C-148996F7A0AC}"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GB"/>
        </a:p>
      </dgm:t>
    </dgm:pt>
    <dgm:pt modelId="{86AB46F2-4BDE-4C5D-91E8-A6E319CB17C7}">
      <dgm:prSet/>
      <dgm:spPr/>
      <dgm:t>
        <a:bodyPr/>
        <a:lstStyle/>
        <a:p>
          <a:pPr algn="ctr"/>
          <a:r>
            <a:rPr lang="en-GB"/>
            <a:t>Growth comes from quality and magnitude of investments</a:t>
          </a:r>
          <a:endParaRPr lang="fr-FR"/>
        </a:p>
      </dgm:t>
    </dgm:pt>
    <dgm:pt modelId="{011C1EB6-A630-4157-955A-DA26CB69DB1F}" type="parTrans" cxnId="{CE3D2542-5714-40EF-92EA-A7AA4976D55B}">
      <dgm:prSet/>
      <dgm:spPr/>
      <dgm:t>
        <a:bodyPr/>
        <a:lstStyle/>
        <a:p>
          <a:endParaRPr lang="en-GB"/>
        </a:p>
      </dgm:t>
    </dgm:pt>
    <dgm:pt modelId="{A58F7741-F1C6-4EE2-AFAF-D8F0526389F3}" type="sibTrans" cxnId="{CE3D2542-5714-40EF-92EA-A7AA4976D55B}">
      <dgm:prSet/>
      <dgm:spPr/>
      <dgm:t>
        <a:bodyPr/>
        <a:lstStyle/>
        <a:p>
          <a:endParaRPr lang="en-GB"/>
        </a:p>
      </dgm:t>
    </dgm:pt>
    <mc:AlternateContent xmlns:mc="http://schemas.openxmlformats.org/markup-compatibility/2006" xmlns:a14="http://schemas.microsoft.com/office/drawing/2010/main">
      <mc:Choice Requires="a14">
        <dgm:pt modelId="{A514EA00-A658-4BAB-8FEE-30A012AD1CB7}">
          <dgm:prSet custT="1"/>
          <dgm:spPr/>
          <dgm:t>
            <a:bodyPr/>
            <a:lstStyle/>
            <a:p>
              <a:pPr/>
              <a14:m>
                <m:oMathPara xmlns:m="http://schemas.openxmlformats.org/officeDocument/2006/math">
                  <m:oMath>
                    <m:r>
                      <a:rPr lang="fr-FR" sz="1600" b="0" i="1" smtClean="0">
                        <a:latin typeface="Cambria Math" panose="02040503050406030204" pitchFamily="18" charset="0"/>
                      </a:rPr>
                      <m:t>𝑔</m:t>
                    </m:r>
                    <m:r>
                      <a:rPr lang="fr-FR" sz="1600" b="0" i="1" smtClean="0">
                        <a:latin typeface="Cambria Math" panose="02040503050406030204" pitchFamily="18" charset="0"/>
                      </a:rPr>
                      <m:t>=</m:t>
                    </m:r>
                  </m:oMath>
                </m:oMathPara>
              </a14:m>
              <a:endParaRPr lang="en-GB" sz="1600" b="0" i="1" dirty="0"/>
            </a:p>
            <a:p>
              <a:pPr/>
              <a14:m>
                <m:oMathPara xmlns:m="http://schemas.openxmlformats.org/officeDocument/2006/math">
                  <m:oMath>
                    <m:limUpp>
                      <m:limUppPr>
                        <m:ctrlPr>
                          <a:rPr lang="fr-FR" sz="1600" b="0" i="1">
                            <a:latin typeface="Cambria Math" panose="02040503050406030204" pitchFamily="18" charset="0"/>
                          </a:rPr>
                        </m:ctrlPr>
                      </m:limUppPr>
                      <m:e>
                        <m:groupChr>
                          <m:groupChrPr>
                            <m:chr m:val="⏞"/>
                            <m:pos m:val="top"/>
                            <m:vertJc m:val="bot"/>
                            <m:ctrlPr>
                              <a:rPr lang="fr-FR" sz="1600" b="0" i="1">
                                <a:latin typeface="Cambria Math" panose="02040503050406030204" pitchFamily="18" charset="0"/>
                              </a:rPr>
                            </m:ctrlPr>
                          </m:groupChrPr>
                          <m:e>
                            <m:r>
                              <m:rPr>
                                <m:brk/>
                              </m:rPr>
                              <a:rPr lang="fr-FR" sz="1600" b="0" i="1">
                                <a:latin typeface="Cambria Math" panose="02040503050406030204" pitchFamily="18" charset="0"/>
                              </a:rPr>
                              <m:t>𝑅</m:t>
                            </m:r>
                          </m:e>
                        </m:groupChr>
                      </m:e>
                      <m:lim>
                        <m:eqArr>
                          <m:eqArrPr>
                            <m:ctrlPr>
                              <a:rPr lang="fr-FR" sz="1600" b="0" i="1">
                                <a:latin typeface="Cambria Math" panose="02040503050406030204" pitchFamily="18" charset="0"/>
                              </a:rPr>
                            </m:ctrlPr>
                          </m:eqArrPr>
                          <m:e>
                            <m:r>
                              <a:rPr lang="fr-FR" sz="1600" b="0" i="1">
                                <a:latin typeface="Cambria Math" panose="02040503050406030204" pitchFamily="18" charset="0"/>
                              </a:rPr>
                              <m:t>𝑅</m:t>
                            </m:r>
                            <m:r>
                              <a:rPr lang="fr-FR" sz="1600" b="0" i="1">
                                <a:latin typeface="Cambria Math" panose="02040503050406030204" pitchFamily="18" charset="0"/>
                              </a:rPr>
                              <m:t>:</m:t>
                            </m:r>
                          </m:e>
                          <m:e>
                            <m:r>
                              <a:rPr lang="fr-FR" sz="1600" b="0" i="1">
                                <a:latin typeface="Cambria Math" panose="02040503050406030204" pitchFamily="18" charset="0"/>
                              </a:rPr>
                              <m:t>𝑅𝑒𝑡𝑢𝑟𝑛</m:t>
                            </m:r>
                          </m:e>
                          <m:e>
                            <m:r>
                              <a:rPr lang="fr-FR" sz="1600" b="0" i="1">
                                <a:latin typeface="Cambria Math" panose="02040503050406030204" pitchFamily="18" charset="0"/>
                              </a:rPr>
                              <m:t>(</m:t>
                            </m:r>
                            <m:r>
                              <a:rPr lang="fr-FR" sz="1600" b="0" i="1">
                                <a:latin typeface="Cambria Math" panose="02040503050406030204" pitchFamily="18" charset="0"/>
                              </a:rPr>
                              <m:t>𝑄𝑢𝑎𝑙𝑖𝑡𝑦</m:t>
                            </m:r>
                            <m:r>
                              <a:rPr lang="fr-FR" sz="1600" b="0" i="1">
                                <a:latin typeface="Cambria Math" panose="02040503050406030204" pitchFamily="18" charset="0"/>
                              </a:rPr>
                              <m:t>)</m:t>
                            </m:r>
                          </m:e>
                        </m:eqArr>
                      </m:lim>
                    </m:limUpp>
                    <m:r>
                      <a:rPr lang="fr-FR" sz="1600" b="0" i="1">
                        <a:latin typeface="Cambria Math" panose="02040503050406030204" pitchFamily="18" charset="0"/>
                      </a:rPr>
                      <m:t>∗</m:t>
                    </m:r>
                    <m:limLow>
                      <m:limLowPr>
                        <m:ctrlPr>
                          <a:rPr lang="fr-FR" sz="1600" i="1">
                            <a:latin typeface="Cambria Math" panose="02040503050406030204" pitchFamily="18" charset="0"/>
                          </a:rPr>
                        </m:ctrlPr>
                      </m:limLowPr>
                      <m:e>
                        <m:groupChr>
                          <m:groupChrPr>
                            <m:chr m:val="⏟"/>
                            <m:pos m:val="bot"/>
                            <m:vertJc m:val="top"/>
                            <m:ctrlPr>
                              <a:rPr lang="fr-FR" sz="1600" i="1">
                                <a:latin typeface="Cambria Math" panose="02040503050406030204" pitchFamily="18" charset="0"/>
                              </a:rPr>
                            </m:ctrlPr>
                          </m:groupChrPr>
                          <m:e>
                            <m:r>
                              <a:rPr lang="fr-FR" sz="1600" i="1">
                                <a:latin typeface="Cambria Math" panose="02040503050406030204" pitchFamily="18" charset="0"/>
                              </a:rPr>
                              <m:t>𝑅𝑅</m:t>
                            </m:r>
                          </m:e>
                        </m:groupChr>
                      </m:e>
                      <m:lim>
                        <m:eqArr>
                          <m:eqArrPr>
                            <m:ctrlPr>
                              <a:rPr lang="fr-FR" sz="1600" b="0" i="1">
                                <a:latin typeface="Cambria Math" panose="02040503050406030204" pitchFamily="18" charset="0"/>
                              </a:rPr>
                            </m:ctrlPr>
                          </m:eqArrPr>
                          <m:e>
                            <m:r>
                              <a:rPr lang="fr-FR" sz="1600" b="0" i="1">
                                <a:latin typeface="Cambria Math" panose="02040503050406030204" pitchFamily="18" charset="0"/>
                              </a:rPr>
                              <m:t>𝑅𝑅</m:t>
                            </m:r>
                            <m:r>
                              <a:rPr lang="fr-FR" sz="1600" b="0" i="1">
                                <a:latin typeface="Cambria Math" panose="02040503050406030204" pitchFamily="18" charset="0"/>
                              </a:rPr>
                              <m:t>:</m:t>
                            </m:r>
                          </m:e>
                          <m:e>
                            <m:r>
                              <a:rPr lang="fr-FR" sz="1600" b="0" i="1">
                                <a:latin typeface="Cambria Math" panose="02040503050406030204" pitchFamily="18" charset="0"/>
                              </a:rPr>
                              <m:t>𝑅𝑒</m:t>
                            </m:r>
                            <m:r>
                              <a:rPr lang="fr-FR" sz="1600" b="0" i="1">
                                <a:latin typeface="Cambria Math" panose="02040503050406030204" pitchFamily="18" charset="0"/>
                              </a:rPr>
                              <m:t>−</m:t>
                            </m:r>
                            <m:r>
                              <a:rPr lang="fr-FR" sz="1600" b="0" i="1">
                                <a:latin typeface="Cambria Math" panose="02040503050406030204" pitchFamily="18" charset="0"/>
                              </a:rPr>
                              <m:t>𝐼𝑛𝑣𝑒𝑠𝑡𝑚𝑒𝑛𝑡</m:t>
                            </m:r>
                          </m:e>
                          <m:e>
                            <m:r>
                              <a:rPr lang="fr-FR" sz="1600" b="0" i="1">
                                <a:latin typeface="Cambria Math" panose="02040503050406030204" pitchFamily="18" charset="0"/>
                              </a:rPr>
                              <m:t>(</m:t>
                            </m:r>
                            <m:r>
                              <a:rPr lang="fr-FR" sz="1600" b="0" i="1">
                                <a:latin typeface="Cambria Math" panose="02040503050406030204" pitchFamily="18" charset="0"/>
                              </a:rPr>
                              <m:t>𝑀𝑎𝑔𝑛𝑖𝑡𝑢𝑑𝑒</m:t>
                            </m:r>
                            <m:r>
                              <a:rPr lang="fr-FR" sz="1600" b="0" i="1">
                                <a:latin typeface="Cambria Math" panose="02040503050406030204" pitchFamily="18" charset="0"/>
                              </a:rPr>
                              <m:t>)</m:t>
                            </m:r>
                          </m:e>
                        </m:eqArr>
                      </m:lim>
                    </m:limLow>
                  </m:oMath>
                </m:oMathPara>
              </a14:m>
              <a:endParaRPr lang="fr-FR" sz="1600" dirty="0"/>
            </a:p>
          </dgm:t>
        </dgm:pt>
      </mc:Choice>
      <mc:Fallback xmlns="">
        <dgm:pt modelId="{A514EA00-A658-4BAB-8FEE-30A012AD1CB7}">
          <dgm:prSet custT="1"/>
          <dgm:spPr/>
          <dgm:t>
            <a:bodyPr/>
            <a:lstStyle/>
            <a:p>
              <a:r>
                <a:rPr lang="fr-FR" sz="1600" b="0" i="0"/>
                <a:t>𝑔=</a:t>
              </a:r>
              <a:endParaRPr lang="en-GB" sz="1600" b="0" i="1" dirty="0"/>
            </a:p>
            <a:p>
              <a:r>
                <a:rPr lang="fr-FR" sz="1600" b="0" i="0"/>
                <a:t>⏞𝑅┴</a:t>
              </a:r>
              <a:r>
                <a:rPr lang="fr-FR" sz="1600" b="0" i="0">
                  <a:latin typeface="Cambria Math" panose="02040503050406030204" pitchFamily="18" charset="0"/>
                </a:rPr>
                <a:t>█(</a:t>
              </a:r>
              <a:r>
                <a:rPr lang="fr-FR" sz="1600" b="0" i="0"/>
                <a:t>𝑅:</a:t>
              </a:r>
              <a:r>
                <a:rPr lang="fr-FR" sz="1600" b="0" i="0">
                  <a:latin typeface="Cambria Math" panose="02040503050406030204" pitchFamily="18" charset="0"/>
                </a:rPr>
                <a:t>@</a:t>
              </a:r>
              <a:r>
                <a:rPr lang="fr-FR" sz="1600" b="0" i="0"/>
                <a:t>𝑅𝑒𝑡𝑢𝑟𝑛</a:t>
              </a:r>
              <a:r>
                <a:rPr lang="fr-FR" sz="1600" b="0" i="0">
                  <a:latin typeface="Cambria Math" panose="02040503050406030204" pitchFamily="18" charset="0"/>
                </a:rPr>
                <a:t>@</a:t>
              </a:r>
              <a:r>
                <a:rPr lang="fr-FR" sz="1600" b="0" i="0"/>
                <a:t>(𝑄𝑢𝑎𝑙𝑖𝑡𝑦)</a:t>
              </a:r>
              <a:r>
                <a:rPr lang="fr-FR" sz="1600" b="0" i="0">
                  <a:latin typeface="Cambria Math" panose="02040503050406030204" pitchFamily="18" charset="0"/>
                </a:rPr>
                <a:t>)</a:t>
              </a:r>
              <a:r>
                <a:rPr lang="fr-FR" sz="1600" b="0" i="0"/>
                <a:t>∗</a:t>
              </a:r>
              <a:r>
                <a:rPr lang="fr-FR" sz="1600" i="0"/>
                <a:t>⏟𝑅𝑅</a:t>
              </a:r>
              <a:r>
                <a:rPr lang="fr-FR" sz="1600" b="0" i="0"/>
                <a:t>┬</a:t>
              </a:r>
              <a:r>
                <a:rPr lang="fr-FR" sz="1600" b="0" i="0">
                  <a:latin typeface="Cambria Math" panose="02040503050406030204" pitchFamily="18" charset="0"/>
                </a:rPr>
                <a:t>█(</a:t>
              </a:r>
              <a:r>
                <a:rPr lang="fr-FR" sz="1600" b="0" i="0"/>
                <a:t>𝑅𝑅:</a:t>
              </a:r>
              <a:r>
                <a:rPr lang="fr-FR" sz="1600" b="0" i="0">
                  <a:latin typeface="Cambria Math" panose="02040503050406030204" pitchFamily="18" charset="0"/>
                </a:rPr>
                <a:t>@</a:t>
              </a:r>
              <a:r>
                <a:rPr lang="fr-FR" sz="1600" b="0" i="0"/>
                <a:t>𝑅𝑒−𝐼𝑛𝑣𝑒𝑠𝑡𝑚𝑒𝑛𝑡</a:t>
              </a:r>
              <a:r>
                <a:rPr lang="fr-FR" sz="1600" b="0" i="0">
                  <a:latin typeface="Cambria Math" panose="02040503050406030204" pitchFamily="18" charset="0"/>
                </a:rPr>
                <a:t>@</a:t>
              </a:r>
              <a:r>
                <a:rPr lang="fr-FR" sz="1600" b="0" i="0"/>
                <a:t>(𝑀𝑎𝑔𝑛𝑖𝑡𝑢𝑑𝑒)</a:t>
              </a:r>
              <a:r>
                <a:rPr lang="fr-FR" sz="1600" b="0" i="0">
                  <a:latin typeface="Cambria Math" panose="02040503050406030204" pitchFamily="18" charset="0"/>
                </a:rPr>
                <a:t>)</a:t>
              </a:r>
              <a:endParaRPr lang="fr-FR" sz="1600" dirty="0"/>
            </a:p>
          </dgm:t>
        </dgm:pt>
      </mc:Fallback>
    </mc:AlternateContent>
    <dgm:pt modelId="{FFD498B9-46F0-455C-9E55-4DAD80E35954}" type="parTrans" cxnId="{49A32EFA-8D06-43E3-85A1-D45BD04CDB61}">
      <dgm:prSet/>
      <dgm:spPr/>
      <dgm:t>
        <a:bodyPr/>
        <a:lstStyle/>
        <a:p>
          <a:endParaRPr lang="en-GB"/>
        </a:p>
      </dgm:t>
    </dgm:pt>
    <dgm:pt modelId="{CD06B8BE-F6BB-44B3-AB82-114640047313}" type="sibTrans" cxnId="{49A32EFA-8D06-43E3-85A1-D45BD04CDB61}">
      <dgm:prSet/>
      <dgm:spPr/>
      <dgm:t>
        <a:bodyPr/>
        <a:lstStyle/>
        <a:p>
          <a:endParaRPr lang="en-GB"/>
        </a:p>
      </dgm:t>
    </dgm:pt>
    <dgm:pt modelId="{978323E8-F4FF-4B2B-934B-C6F3322C0561}">
      <dgm:prSet/>
      <dgm:spPr/>
      <dgm:t>
        <a:bodyPr/>
        <a:lstStyle/>
        <a:p>
          <a:r>
            <a:rPr lang="en-GB"/>
            <a:t>The magnitude of investments should be inline with growth</a:t>
          </a:r>
          <a:endParaRPr lang="fr-FR"/>
        </a:p>
      </dgm:t>
    </dgm:pt>
    <dgm:pt modelId="{DABD0FC8-281D-41B0-AECD-18FA559118BA}" type="parTrans" cxnId="{84439EC8-F4FA-49FD-85AF-72CCD8B88EFA}">
      <dgm:prSet/>
      <dgm:spPr/>
      <dgm:t>
        <a:bodyPr/>
        <a:lstStyle/>
        <a:p>
          <a:endParaRPr lang="en-GB"/>
        </a:p>
      </dgm:t>
    </dgm:pt>
    <dgm:pt modelId="{9A2B1167-96C3-4E40-BA7B-FBBAF4A94857}" type="sibTrans" cxnId="{84439EC8-F4FA-49FD-85AF-72CCD8B88EFA}">
      <dgm:prSet/>
      <dgm:spPr/>
      <dgm:t>
        <a:bodyPr/>
        <a:lstStyle/>
        <a:p>
          <a:endParaRPr lang="en-GB"/>
        </a:p>
      </dgm:t>
    </dgm:pt>
    <mc:AlternateContent xmlns:mc="http://schemas.openxmlformats.org/markup-compatibility/2006" xmlns:a14="http://schemas.microsoft.com/office/drawing/2010/main">
      <mc:Choice Requires="a14">
        <dgm:pt modelId="{430A1AEF-B426-40B4-BF56-D11D60392345}">
          <dgm:prSet custT="1"/>
          <dgm:spPr/>
          <dgm:t>
            <a:bodyPr/>
            <a:lstStyle/>
            <a:p>
              <a:pPr algn="ctr"/>
              <a14:m>
                <m:oMathPara xmlns:m="http://schemas.openxmlformats.org/officeDocument/2006/math">
                  <m:oMath>
                    <m:r>
                      <a:rPr lang="fr-FR" sz="1600" b="0" i="1" smtClean="0">
                        <a:latin typeface="Cambria Math" panose="02040503050406030204" pitchFamily="18" charset="0"/>
                      </a:rPr>
                      <m:t>𝑅𝑅</m:t>
                    </m:r>
                    <m:r>
                      <a:rPr lang="fr-FR" sz="1600" b="0" i="1" smtClean="0">
                        <a:latin typeface="Cambria Math" panose="02040503050406030204" pitchFamily="18" charset="0"/>
                      </a:rPr>
                      <m:t>=</m:t>
                    </m:r>
                    <m:f>
                      <m:fPr>
                        <m:ctrlPr>
                          <a:rPr lang="fr-FR" sz="1600" b="0" i="1">
                            <a:latin typeface="Cambria Math" panose="02040503050406030204" pitchFamily="18" charset="0"/>
                          </a:rPr>
                        </m:ctrlPr>
                      </m:fPr>
                      <m:num>
                        <m:r>
                          <a:rPr lang="fr-FR" sz="1600" b="0" i="1">
                            <a:latin typeface="Cambria Math" panose="02040503050406030204" pitchFamily="18" charset="0"/>
                          </a:rPr>
                          <m:t>𝑅</m:t>
                        </m:r>
                      </m:num>
                      <m:den>
                        <m:r>
                          <a:rPr lang="fr-FR" sz="1600" b="0" i="1">
                            <a:latin typeface="Cambria Math" panose="02040503050406030204" pitchFamily="18" charset="0"/>
                          </a:rPr>
                          <m:t>𝑔</m:t>
                        </m:r>
                      </m:den>
                    </m:f>
                  </m:oMath>
                </m:oMathPara>
              </a14:m>
              <a:endParaRPr lang="fr-FR" sz="1600" dirty="0"/>
            </a:p>
          </dgm:t>
        </dgm:pt>
      </mc:Choice>
      <mc:Fallback xmlns="">
        <dgm:pt modelId="{430A1AEF-B426-40B4-BF56-D11D60392345}">
          <dgm:prSet custT="1"/>
          <dgm:spPr/>
          <dgm:t>
            <a:bodyPr/>
            <a:lstStyle/>
            <a:p>
              <a:pPr algn="ctr"/>
              <a:r>
                <a:rPr lang="fr-FR" sz="1600" b="0" i="0"/>
                <a:t>𝑅𝑅=𝑅/𝑔</a:t>
              </a:r>
              <a:endParaRPr lang="fr-FR" sz="1600" dirty="0"/>
            </a:p>
          </dgm:t>
        </dgm:pt>
      </mc:Fallback>
    </mc:AlternateContent>
    <dgm:pt modelId="{576F509E-C301-4BAC-8778-9CCE39D78B6F}" type="parTrans" cxnId="{D646DFF7-B272-400A-9F8C-10C3971573F3}">
      <dgm:prSet/>
      <dgm:spPr/>
      <dgm:t>
        <a:bodyPr/>
        <a:lstStyle/>
        <a:p>
          <a:endParaRPr lang="en-GB"/>
        </a:p>
      </dgm:t>
    </dgm:pt>
    <dgm:pt modelId="{65C4F177-2B8C-47B3-843D-F9C783906C16}" type="sibTrans" cxnId="{D646DFF7-B272-400A-9F8C-10C3971573F3}">
      <dgm:prSet/>
      <dgm:spPr/>
      <dgm:t>
        <a:bodyPr/>
        <a:lstStyle/>
        <a:p>
          <a:endParaRPr lang="en-GB"/>
        </a:p>
      </dgm:t>
    </dgm:pt>
    <dgm:pt modelId="{2F33A771-6EAB-4C6C-A09C-72F833370571}">
      <dgm:prSet/>
      <dgm:spPr/>
      <dgm:t>
        <a:bodyPr/>
        <a:lstStyle/>
        <a:p>
          <a:r>
            <a:rPr lang="en-GB"/>
            <a:t>You cannot expect growth unless your return reaches a certain level</a:t>
          </a:r>
          <a:endParaRPr lang="fr-FR"/>
        </a:p>
      </dgm:t>
    </dgm:pt>
    <dgm:pt modelId="{591AC500-8CEE-49AE-AA56-FAD28A028E67}" type="parTrans" cxnId="{369FD19A-AE69-4032-BA9F-DF242DD491A3}">
      <dgm:prSet/>
      <dgm:spPr/>
      <dgm:t>
        <a:bodyPr/>
        <a:lstStyle/>
        <a:p>
          <a:endParaRPr lang="en-GB"/>
        </a:p>
      </dgm:t>
    </dgm:pt>
    <dgm:pt modelId="{550046D4-7F89-4608-AE3E-006AEC14F153}" type="sibTrans" cxnId="{369FD19A-AE69-4032-BA9F-DF242DD491A3}">
      <dgm:prSet/>
      <dgm:spPr/>
      <dgm:t>
        <a:bodyPr/>
        <a:lstStyle/>
        <a:p>
          <a:endParaRPr lang="en-GB"/>
        </a:p>
      </dgm:t>
    </dgm:pt>
    <mc:AlternateContent xmlns:mc="http://schemas.openxmlformats.org/markup-compatibility/2006" xmlns:a14="http://schemas.microsoft.com/office/drawing/2010/main">
      <mc:Choice Requires="a14">
        <dgm:pt modelId="{7D98F760-AD57-4463-B2CE-59278E23D215}">
          <dgm:prSet custT="1"/>
          <dgm:spPr/>
          <dgm:t>
            <a:bodyPr/>
            <a:lstStyle/>
            <a:p>
              <a:pPr algn="ctr"/>
              <a14:m>
                <m:oMathPara xmlns:m="http://schemas.openxmlformats.org/officeDocument/2006/math">
                  <m:oMath>
                    <m:r>
                      <a:rPr lang="fr-FR" sz="1600" i="1" smtClean="0">
                        <a:latin typeface="Cambria Math" panose="02040503050406030204" pitchFamily="18" charset="0"/>
                      </a:rPr>
                      <m:t>𝑅</m:t>
                    </m:r>
                    <m:r>
                      <a:rPr lang="fr-FR" sz="1600" i="1" smtClean="0">
                        <a:latin typeface="Cambria Math" panose="02040503050406030204" pitchFamily="18" charset="0"/>
                      </a:rPr>
                      <m:t>=</m:t>
                    </m:r>
                    <m:f>
                      <m:fPr>
                        <m:ctrlPr>
                          <a:rPr lang="fr-FR" sz="1600" i="1">
                            <a:latin typeface="Cambria Math" panose="02040503050406030204" pitchFamily="18" charset="0"/>
                          </a:rPr>
                        </m:ctrlPr>
                      </m:fPr>
                      <m:num>
                        <m:r>
                          <a:rPr lang="fr-FR" sz="1600" i="1">
                            <a:latin typeface="Cambria Math" panose="02040503050406030204" pitchFamily="18" charset="0"/>
                          </a:rPr>
                          <m:t>𝑅</m:t>
                        </m:r>
                        <m:r>
                          <a:rPr lang="fr-FR" sz="1600" b="0" i="1">
                            <a:latin typeface="Cambria Math" panose="02040503050406030204" pitchFamily="18" charset="0"/>
                          </a:rPr>
                          <m:t>𝑅</m:t>
                        </m:r>
                      </m:num>
                      <m:den>
                        <m:r>
                          <a:rPr lang="fr-FR" sz="1600" i="1">
                            <a:latin typeface="Cambria Math" panose="02040503050406030204" pitchFamily="18" charset="0"/>
                          </a:rPr>
                          <m:t>𝑔</m:t>
                        </m:r>
                      </m:den>
                    </m:f>
                  </m:oMath>
                </m:oMathPara>
              </a14:m>
              <a:endParaRPr lang="fr-FR" sz="1600" dirty="0"/>
            </a:p>
          </dgm:t>
        </dgm:pt>
      </mc:Choice>
      <mc:Fallback xmlns="">
        <dgm:pt modelId="{7D98F760-AD57-4463-B2CE-59278E23D215}">
          <dgm:prSet custT="1"/>
          <dgm:spPr/>
          <dgm:t>
            <a:bodyPr/>
            <a:lstStyle/>
            <a:p>
              <a:pPr algn="ctr"/>
              <a:r>
                <a:rPr lang="fr-FR" sz="1600" i="0"/>
                <a:t>𝑅=𝑅</a:t>
              </a:r>
              <a:r>
                <a:rPr lang="fr-FR" sz="1600" b="0" i="0"/>
                <a:t>𝑅/</a:t>
              </a:r>
              <a:r>
                <a:rPr lang="fr-FR" sz="1600" i="0"/>
                <a:t>𝑔</a:t>
              </a:r>
              <a:endParaRPr lang="fr-FR" sz="1600" dirty="0"/>
            </a:p>
          </dgm:t>
        </dgm:pt>
      </mc:Fallback>
    </mc:AlternateContent>
    <dgm:pt modelId="{4AE304BF-CC8B-4A1E-9932-A0F90B1099E7}" type="parTrans" cxnId="{7EA15D02-D59D-4223-94EA-2A834D5099C3}">
      <dgm:prSet/>
      <dgm:spPr/>
      <dgm:t>
        <a:bodyPr/>
        <a:lstStyle/>
        <a:p>
          <a:endParaRPr lang="en-GB"/>
        </a:p>
      </dgm:t>
    </dgm:pt>
    <dgm:pt modelId="{A72F6C40-2A88-432E-A035-25A6F5A16504}" type="sibTrans" cxnId="{7EA15D02-D59D-4223-94EA-2A834D5099C3}">
      <dgm:prSet/>
      <dgm:spPr/>
      <dgm:t>
        <a:bodyPr/>
        <a:lstStyle/>
        <a:p>
          <a:endParaRPr lang="en-GB"/>
        </a:p>
      </dgm:t>
    </dgm:pt>
    <dgm:pt modelId="{BE863A10-FD21-4BFF-8C7A-C00DD5C045D3}" type="pres">
      <dgm:prSet presAssocID="{57E2290A-9AD8-4F40-A14C-148996F7A0AC}" presName="theList" presStyleCnt="0">
        <dgm:presLayoutVars>
          <dgm:dir/>
          <dgm:animLvl val="lvl"/>
          <dgm:resizeHandles val="exact"/>
        </dgm:presLayoutVars>
      </dgm:prSet>
      <dgm:spPr/>
    </dgm:pt>
    <dgm:pt modelId="{C2525A42-2F7D-4CEC-B257-EABF2C8AEACF}" type="pres">
      <dgm:prSet presAssocID="{86AB46F2-4BDE-4C5D-91E8-A6E319CB17C7}" presName="compNode" presStyleCnt="0"/>
      <dgm:spPr/>
    </dgm:pt>
    <dgm:pt modelId="{DFA42168-DAB7-4FBC-8BF3-487BA82E6A36}" type="pres">
      <dgm:prSet presAssocID="{86AB46F2-4BDE-4C5D-91E8-A6E319CB17C7}" presName="aNode" presStyleLbl="bgShp" presStyleIdx="0" presStyleCnt="3"/>
      <dgm:spPr/>
    </dgm:pt>
    <dgm:pt modelId="{82D00D9A-25F7-4F60-B8B7-E12514CABE8F}" type="pres">
      <dgm:prSet presAssocID="{86AB46F2-4BDE-4C5D-91E8-A6E319CB17C7}" presName="textNode" presStyleLbl="bgShp" presStyleIdx="0" presStyleCnt="3"/>
      <dgm:spPr/>
    </dgm:pt>
    <dgm:pt modelId="{28789F53-2AC3-4D8D-915B-90145B8E6814}" type="pres">
      <dgm:prSet presAssocID="{86AB46F2-4BDE-4C5D-91E8-A6E319CB17C7}" presName="compChildNode" presStyleCnt="0"/>
      <dgm:spPr/>
    </dgm:pt>
    <dgm:pt modelId="{9C6648F9-6C70-4C60-83D9-D2BB0A394CE0}" type="pres">
      <dgm:prSet presAssocID="{86AB46F2-4BDE-4C5D-91E8-A6E319CB17C7}" presName="theInnerList" presStyleCnt="0"/>
      <dgm:spPr/>
    </dgm:pt>
    <dgm:pt modelId="{5038B60A-ABE1-4D09-9096-DDBD50A0B7E6}" type="pres">
      <dgm:prSet presAssocID="{A514EA00-A658-4BAB-8FEE-30A012AD1CB7}" presName="childNode" presStyleLbl="node1" presStyleIdx="0" presStyleCnt="3">
        <dgm:presLayoutVars>
          <dgm:bulletEnabled val="1"/>
        </dgm:presLayoutVars>
      </dgm:prSet>
      <dgm:spPr/>
    </dgm:pt>
    <dgm:pt modelId="{89E9EDBD-392A-43AF-960B-6FAE3AFF96B5}" type="pres">
      <dgm:prSet presAssocID="{86AB46F2-4BDE-4C5D-91E8-A6E319CB17C7}" presName="aSpace" presStyleCnt="0"/>
      <dgm:spPr/>
    </dgm:pt>
    <dgm:pt modelId="{E5AF58B0-444C-4633-8EA8-F549DC7F0A45}" type="pres">
      <dgm:prSet presAssocID="{978323E8-F4FF-4B2B-934B-C6F3322C0561}" presName="compNode" presStyleCnt="0"/>
      <dgm:spPr/>
    </dgm:pt>
    <dgm:pt modelId="{F21F0AC5-0A89-4CE0-BA28-82268E4B11B9}" type="pres">
      <dgm:prSet presAssocID="{978323E8-F4FF-4B2B-934B-C6F3322C0561}" presName="aNode" presStyleLbl="bgShp" presStyleIdx="1" presStyleCnt="3"/>
      <dgm:spPr/>
    </dgm:pt>
    <dgm:pt modelId="{2028B6DF-D957-4279-A4D2-C83582223AAD}" type="pres">
      <dgm:prSet presAssocID="{978323E8-F4FF-4B2B-934B-C6F3322C0561}" presName="textNode" presStyleLbl="bgShp" presStyleIdx="1" presStyleCnt="3"/>
      <dgm:spPr/>
    </dgm:pt>
    <dgm:pt modelId="{42D83456-CD1D-4BCF-8A69-695F7CF287CC}" type="pres">
      <dgm:prSet presAssocID="{978323E8-F4FF-4B2B-934B-C6F3322C0561}" presName="compChildNode" presStyleCnt="0"/>
      <dgm:spPr/>
    </dgm:pt>
    <dgm:pt modelId="{5C1A3EB7-BB94-4DDA-BD65-DDBA86672A29}" type="pres">
      <dgm:prSet presAssocID="{978323E8-F4FF-4B2B-934B-C6F3322C0561}" presName="theInnerList" presStyleCnt="0"/>
      <dgm:spPr/>
    </dgm:pt>
    <dgm:pt modelId="{5D0652FB-6021-46E1-B444-AA3D0F6DDD91}" type="pres">
      <dgm:prSet presAssocID="{430A1AEF-B426-40B4-BF56-D11D60392345}" presName="childNode" presStyleLbl="node1" presStyleIdx="1" presStyleCnt="3">
        <dgm:presLayoutVars>
          <dgm:bulletEnabled val="1"/>
        </dgm:presLayoutVars>
      </dgm:prSet>
      <dgm:spPr/>
    </dgm:pt>
    <dgm:pt modelId="{DE6406EE-E76D-4C75-8975-6A74CD9E7EA1}" type="pres">
      <dgm:prSet presAssocID="{978323E8-F4FF-4B2B-934B-C6F3322C0561}" presName="aSpace" presStyleCnt="0"/>
      <dgm:spPr/>
    </dgm:pt>
    <dgm:pt modelId="{88369C92-4A7A-40E3-9B3F-18E969FAD458}" type="pres">
      <dgm:prSet presAssocID="{2F33A771-6EAB-4C6C-A09C-72F833370571}" presName="compNode" presStyleCnt="0"/>
      <dgm:spPr/>
    </dgm:pt>
    <dgm:pt modelId="{35E469D7-FCEC-44E1-8092-8BF0B1D8A135}" type="pres">
      <dgm:prSet presAssocID="{2F33A771-6EAB-4C6C-A09C-72F833370571}" presName="aNode" presStyleLbl="bgShp" presStyleIdx="2" presStyleCnt="3"/>
      <dgm:spPr/>
    </dgm:pt>
    <dgm:pt modelId="{2793A19D-B9FC-4E27-8F85-97FAD3F57C62}" type="pres">
      <dgm:prSet presAssocID="{2F33A771-6EAB-4C6C-A09C-72F833370571}" presName="textNode" presStyleLbl="bgShp" presStyleIdx="2" presStyleCnt="3"/>
      <dgm:spPr/>
    </dgm:pt>
    <dgm:pt modelId="{525BDCE5-4F33-44C2-9EAA-0A7036320848}" type="pres">
      <dgm:prSet presAssocID="{2F33A771-6EAB-4C6C-A09C-72F833370571}" presName="compChildNode" presStyleCnt="0"/>
      <dgm:spPr/>
    </dgm:pt>
    <dgm:pt modelId="{193E41DA-03DF-43A8-B742-D3BC76F90481}" type="pres">
      <dgm:prSet presAssocID="{2F33A771-6EAB-4C6C-A09C-72F833370571}" presName="theInnerList" presStyleCnt="0"/>
      <dgm:spPr/>
    </dgm:pt>
    <dgm:pt modelId="{23452B9E-409F-46E0-8CB1-CBFF28887526}" type="pres">
      <dgm:prSet presAssocID="{7D98F760-AD57-4463-B2CE-59278E23D215}" presName="childNode" presStyleLbl="node1" presStyleIdx="2" presStyleCnt="3">
        <dgm:presLayoutVars>
          <dgm:bulletEnabled val="1"/>
        </dgm:presLayoutVars>
      </dgm:prSet>
      <dgm:spPr/>
    </dgm:pt>
  </dgm:ptLst>
  <dgm:cxnLst>
    <dgm:cxn modelId="{7EA15D02-D59D-4223-94EA-2A834D5099C3}" srcId="{2F33A771-6EAB-4C6C-A09C-72F833370571}" destId="{7D98F760-AD57-4463-B2CE-59278E23D215}" srcOrd="0" destOrd="0" parTransId="{4AE304BF-CC8B-4A1E-9932-A0F90B1099E7}" sibTransId="{A72F6C40-2A88-432E-A035-25A6F5A16504}"/>
    <dgm:cxn modelId="{54948235-6797-4AD4-96BE-2C87DE9A9F6C}" type="presOf" srcId="{57E2290A-9AD8-4F40-A14C-148996F7A0AC}" destId="{BE863A10-FD21-4BFF-8C7A-C00DD5C045D3}" srcOrd="0" destOrd="0" presId="urn:microsoft.com/office/officeart/2005/8/layout/lProcess2"/>
    <dgm:cxn modelId="{CE3D2542-5714-40EF-92EA-A7AA4976D55B}" srcId="{57E2290A-9AD8-4F40-A14C-148996F7A0AC}" destId="{86AB46F2-4BDE-4C5D-91E8-A6E319CB17C7}" srcOrd="0" destOrd="0" parTransId="{011C1EB6-A630-4157-955A-DA26CB69DB1F}" sibTransId="{A58F7741-F1C6-4EE2-AFAF-D8F0526389F3}"/>
    <dgm:cxn modelId="{6CD12B51-0A45-45A7-80CF-8EF7551CABD0}" type="presOf" srcId="{86AB46F2-4BDE-4C5D-91E8-A6E319CB17C7}" destId="{82D00D9A-25F7-4F60-B8B7-E12514CABE8F}" srcOrd="1" destOrd="0" presId="urn:microsoft.com/office/officeart/2005/8/layout/lProcess2"/>
    <dgm:cxn modelId="{975CC174-3093-423F-82D7-CB35218D279F}" type="presOf" srcId="{7D98F760-AD57-4463-B2CE-59278E23D215}" destId="{23452B9E-409F-46E0-8CB1-CBFF28887526}" srcOrd="0" destOrd="0" presId="urn:microsoft.com/office/officeart/2005/8/layout/lProcess2"/>
    <dgm:cxn modelId="{70031197-CCB9-4383-BE4C-18F3C9B8AB56}" type="presOf" srcId="{430A1AEF-B426-40B4-BF56-D11D60392345}" destId="{5D0652FB-6021-46E1-B444-AA3D0F6DDD91}" srcOrd="0" destOrd="0" presId="urn:microsoft.com/office/officeart/2005/8/layout/lProcess2"/>
    <dgm:cxn modelId="{369FD19A-AE69-4032-BA9F-DF242DD491A3}" srcId="{57E2290A-9AD8-4F40-A14C-148996F7A0AC}" destId="{2F33A771-6EAB-4C6C-A09C-72F833370571}" srcOrd="2" destOrd="0" parTransId="{591AC500-8CEE-49AE-AA56-FAD28A028E67}" sibTransId="{550046D4-7F89-4608-AE3E-006AEC14F153}"/>
    <dgm:cxn modelId="{ADFFEEA7-7D55-45C8-BE98-2E83F9F919E0}" type="presOf" srcId="{2F33A771-6EAB-4C6C-A09C-72F833370571}" destId="{2793A19D-B9FC-4E27-8F85-97FAD3F57C62}" srcOrd="1" destOrd="0" presId="urn:microsoft.com/office/officeart/2005/8/layout/lProcess2"/>
    <dgm:cxn modelId="{6F8DCCAD-7D64-4A8D-80E6-961100BD691B}" type="presOf" srcId="{86AB46F2-4BDE-4C5D-91E8-A6E319CB17C7}" destId="{DFA42168-DAB7-4FBC-8BF3-487BA82E6A36}" srcOrd="0" destOrd="0" presId="urn:microsoft.com/office/officeart/2005/8/layout/lProcess2"/>
    <dgm:cxn modelId="{349D07C4-2823-41CE-8B19-1E61888ACFAC}" type="presOf" srcId="{A514EA00-A658-4BAB-8FEE-30A012AD1CB7}" destId="{5038B60A-ABE1-4D09-9096-DDBD50A0B7E6}" srcOrd="0" destOrd="0" presId="urn:microsoft.com/office/officeart/2005/8/layout/lProcess2"/>
    <dgm:cxn modelId="{84439EC8-F4FA-49FD-85AF-72CCD8B88EFA}" srcId="{57E2290A-9AD8-4F40-A14C-148996F7A0AC}" destId="{978323E8-F4FF-4B2B-934B-C6F3322C0561}" srcOrd="1" destOrd="0" parTransId="{DABD0FC8-281D-41B0-AECD-18FA559118BA}" sibTransId="{9A2B1167-96C3-4E40-BA7B-FBBAF4A94857}"/>
    <dgm:cxn modelId="{CB9A8BE2-25DF-4636-A689-04C12D51BF24}" type="presOf" srcId="{978323E8-F4FF-4B2B-934B-C6F3322C0561}" destId="{2028B6DF-D957-4279-A4D2-C83582223AAD}" srcOrd="1" destOrd="0" presId="urn:microsoft.com/office/officeart/2005/8/layout/lProcess2"/>
    <dgm:cxn modelId="{5D2EB0E5-AC30-4722-B50C-385073CCD656}" type="presOf" srcId="{978323E8-F4FF-4B2B-934B-C6F3322C0561}" destId="{F21F0AC5-0A89-4CE0-BA28-82268E4B11B9}" srcOrd="0" destOrd="0" presId="urn:microsoft.com/office/officeart/2005/8/layout/lProcess2"/>
    <dgm:cxn modelId="{84D9C8EA-B294-4EB7-A253-376F6D24ECDB}" type="presOf" srcId="{2F33A771-6EAB-4C6C-A09C-72F833370571}" destId="{35E469D7-FCEC-44E1-8092-8BF0B1D8A135}" srcOrd="0" destOrd="0" presId="urn:microsoft.com/office/officeart/2005/8/layout/lProcess2"/>
    <dgm:cxn modelId="{D646DFF7-B272-400A-9F8C-10C3971573F3}" srcId="{978323E8-F4FF-4B2B-934B-C6F3322C0561}" destId="{430A1AEF-B426-40B4-BF56-D11D60392345}" srcOrd="0" destOrd="0" parTransId="{576F509E-C301-4BAC-8778-9CCE39D78B6F}" sibTransId="{65C4F177-2B8C-47B3-843D-F9C783906C16}"/>
    <dgm:cxn modelId="{49A32EFA-8D06-43E3-85A1-D45BD04CDB61}" srcId="{86AB46F2-4BDE-4C5D-91E8-A6E319CB17C7}" destId="{A514EA00-A658-4BAB-8FEE-30A012AD1CB7}" srcOrd="0" destOrd="0" parTransId="{FFD498B9-46F0-455C-9E55-4DAD80E35954}" sibTransId="{CD06B8BE-F6BB-44B3-AB82-114640047313}"/>
    <dgm:cxn modelId="{1F6285B8-9406-4D96-AE45-97F901C41DE1}" type="presParOf" srcId="{BE863A10-FD21-4BFF-8C7A-C00DD5C045D3}" destId="{C2525A42-2F7D-4CEC-B257-EABF2C8AEACF}" srcOrd="0" destOrd="0" presId="urn:microsoft.com/office/officeart/2005/8/layout/lProcess2"/>
    <dgm:cxn modelId="{EBF21981-EF30-477B-BBF9-1E12FE52F6EA}" type="presParOf" srcId="{C2525A42-2F7D-4CEC-B257-EABF2C8AEACF}" destId="{DFA42168-DAB7-4FBC-8BF3-487BA82E6A36}" srcOrd="0" destOrd="0" presId="urn:microsoft.com/office/officeart/2005/8/layout/lProcess2"/>
    <dgm:cxn modelId="{1A2C6DF4-856E-4093-B985-8382CDD79A96}" type="presParOf" srcId="{C2525A42-2F7D-4CEC-B257-EABF2C8AEACF}" destId="{82D00D9A-25F7-4F60-B8B7-E12514CABE8F}" srcOrd="1" destOrd="0" presId="urn:microsoft.com/office/officeart/2005/8/layout/lProcess2"/>
    <dgm:cxn modelId="{DBAF729D-ED6F-45C0-AB45-42A931BC9B1B}" type="presParOf" srcId="{C2525A42-2F7D-4CEC-B257-EABF2C8AEACF}" destId="{28789F53-2AC3-4D8D-915B-90145B8E6814}" srcOrd="2" destOrd="0" presId="urn:microsoft.com/office/officeart/2005/8/layout/lProcess2"/>
    <dgm:cxn modelId="{B68AB981-4106-48D4-AA7E-92B75C8668F0}" type="presParOf" srcId="{28789F53-2AC3-4D8D-915B-90145B8E6814}" destId="{9C6648F9-6C70-4C60-83D9-D2BB0A394CE0}" srcOrd="0" destOrd="0" presId="urn:microsoft.com/office/officeart/2005/8/layout/lProcess2"/>
    <dgm:cxn modelId="{FC07B228-F944-4271-AB7C-2B17F3F22127}" type="presParOf" srcId="{9C6648F9-6C70-4C60-83D9-D2BB0A394CE0}" destId="{5038B60A-ABE1-4D09-9096-DDBD50A0B7E6}" srcOrd="0" destOrd="0" presId="urn:microsoft.com/office/officeart/2005/8/layout/lProcess2"/>
    <dgm:cxn modelId="{CEF6DCA0-1D50-4427-AD69-57BE54257118}" type="presParOf" srcId="{BE863A10-FD21-4BFF-8C7A-C00DD5C045D3}" destId="{89E9EDBD-392A-43AF-960B-6FAE3AFF96B5}" srcOrd="1" destOrd="0" presId="urn:microsoft.com/office/officeart/2005/8/layout/lProcess2"/>
    <dgm:cxn modelId="{E42A55C0-84E0-4E51-A739-33EF7A0A4AC7}" type="presParOf" srcId="{BE863A10-FD21-4BFF-8C7A-C00DD5C045D3}" destId="{E5AF58B0-444C-4633-8EA8-F549DC7F0A45}" srcOrd="2" destOrd="0" presId="urn:microsoft.com/office/officeart/2005/8/layout/lProcess2"/>
    <dgm:cxn modelId="{F7714E15-3DE0-4790-8E3D-B1406045E3DC}" type="presParOf" srcId="{E5AF58B0-444C-4633-8EA8-F549DC7F0A45}" destId="{F21F0AC5-0A89-4CE0-BA28-82268E4B11B9}" srcOrd="0" destOrd="0" presId="urn:microsoft.com/office/officeart/2005/8/layout/lProcess2"/>
    <dgm:cxn modelId="{5BA596D9-4165-44EC-85CE-3E77401FFD09}" type="presParOf" srcId="{E5AF58B0-444C-4633-8EA8-F549DC7F0A45}" destId="{2028B6DF-D957-4279-A4D2-C83582223AAD}" srcOrd="1" destOrd="0" presId="urn:microsoft.com/office/officeart/2005/8/layout/lProcess2"/>
    <dgm:cxn modelId="{0FC69FD6-7307-4BEA-8C01-094DAB3AEF6B}" type="presParOf" srcId="{E5AF58B0-444C-4633-8EA8-F549DC7F0A45}" destId="{42D83456-CD1D-4BCF-8A69-695F7CF287CC}" srcOrd="2" destOrd="0" presId="urn:microsoft.com/office/officeart/2005/8/layout/lProcess2"/>
    <dgm:cxn modelId="{9A14B007-FC2E-4D00-B4E5-45E493BB75C3}" type="presParOf" srcId="{42D83456-CD1D-4BCF-8A69-695F7CF287CC}" destId="{5C1A3EB7-BB94-4DDA-BD65-DDBA86672A29}" srcOrd="0" destOrd="0" presId="urn:microsoft.com/office/officeart/2005/8/layout/lProcess2"/>
    <dgm:cxn modelId="{4178C22F-49F8-4BA7-97AD-4F4BE3DEFEA6}" type="presParOf" srcId="{5C1A3EB7-BB94-4DDA-BD65-DDBA86672A29}" destId="{5D0652FB-6021-46E1-B444-AA3D0F6DDD91}" srcOrd="0" destOrd="0" presId="urn:microsoft.com/office/officeart/2005/8/layout/lProcess2"/>
    <dgm:cxn modelId="{3CF2172C-4FEE-4A38-B7EF-ED424623589F}" type="presParOf" srcId="{BE863A10-FD21-4BFF-8C7A-C00DD5C045D3}" destId="{DE6406EE-E76D-4C75-8975-6A74CD9E7EA1}" srcOrd="3" destOrd="0" presId="urn:microsoft.com/office/officeart/2005/8/layout/lProcess2"/>
    <dgm:cxn modelId="{FA605A6F-55AF-4347-8D7B-33DBA42D36A3}" type="presParOf" srcId="{BE863A10-FD21-4BFF-8C7A-C00DD5C045D3}" destId="{88369C92-4A7A-40E3-9B3F-18E969FAD458}" srcOrd="4" destOrd="0" presId="urn:microsoft.com/office/officeart/2005/8/layout/lProcess2"/>
    <dgm:cxn modelId="{94AA3A33-7D5B-4739-A068-36849250062A}" type="presParOf" srcId="{88369C92-4A7A-40E3-9B3F-18E969FAD458}" destId="{35E469D7-FCEC-44E1-8092-8BF0B1D8A135}" srcOrd="0" destOrd="0" presId="urn:microsoft.com/office/officeart/2005/8/layout/lProcess2"/>
    <dgm:cxn modelId="{E458A9DF-244C-4C81-AFEA-AEE128E7EE4A}" type="presParOf" srcId="{88369C92-4A7A-40E3-9B3F-18E969FAD458}" destId="{2793A19D-B9FC-4E27-8F85-97FAD3F57C62}" srcOrd="1" destOrd="0" presId="urn:microsoft.com/office/officeart/2005/8/layout/lProcess2"/>
    <dgm:cxn modelId="{34341C03-4AF1-43BA-B201-9B74E8CD779F}" type="presParOf" srcId="{88369C92-4A7A-40E3-9B3F-18E969FAD458}" destId="{525BDCE5-4F33-44C2-9EAA-0A7036320848}" srcOrd="2" destOrd="0" presId="urn:microsoft.com/office/officeart/2005/8/layout/lProcess2"/>
    <dgm:cxn modelId="{0930B06D-A99D-4944-B0E7-48D6D086B165}" type="presParOf" srcId="{525BDCE5-4F33-44C2-9EAA-0A7036320848}" destId="{193E41DA-03DF-43A8-B742-D3BC76F90481}" srcOrd="0" destOrd="0" presId="urn:microsoft.com/office/officeart/2005/8/layout/lProcess2"/>
    <dgm:cxn modelId="{0D7D08CC-5510-4006-88B5-F73276D780B8}" type="presParOf" srcId="{193E41DA-03DF-43A8-B742-D3BC76F90481}" destId="{23452B9E-409F-46E0-8CB1-CBFF28887526}" srcOrd="0"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57E2290A-9AD8-4F40-A14C-148996F7A0AC}"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GB"/>
        </a:p>
      </dgm:t>
    </dgm:pt>
    <dgm:pt modelId="{86AB46F2-4BDE-4C5D-91E8-A6E319CB17C7}">
      <dgm:prSet/>
      <dgm:spPr/>
      <dgm:t>
        <a:bodyPr/>
        <a:lstStyle/>
        <a:p>
          <a:pPr algn="ctr"/>
          <a:r>
            <a:rPr lang="en-GB"/>
            <a:t>Growth comes from quality and magnitude of investments</a:t>
          </a:r>
          <a:endParaRPr lang="fr-FR"/>
        </a:p>
      </dgm:t>
    </dgm:pt>
    <dgm:pt modelId="{011C1EB6-A630-4157-955A-DA26CB69DB1F}" type="parTrans" cxnId="{CE3D2542-5714-40EF-92EA-A7AA4976D55B}">
      <dgm:prSet/>
      <dgm:spPr/>
      <dgm:t>
        <a:bodyPr/>
        <a:lstStyle/>
        <a:p>
          <a:endParaRPr lang="en-GB"/>
        </a:p>
      </dgm:t>
    </dgm:pt>
    <dgm:pt modelId="{A58F7741-F1C6-4EE2-AFAF-D8F0526389F3}" type="sibTrans" cxnId="{CE3D2542-5714-40EF-92EA-A7AA4976D55B}">
      <dgm:prSet/>
      <dgm:spPr/>
      <dgm:t>
        <a:bodyPr/>
        <a:lstStyle/>
        <a:p>
          <a:endParaRPr lang="en-GB"/>
        </a:p>
      </dgm:t>
    </dgm:pt>
    <dgm:pt modelId="{A514EA00-A658-4BAB-8FEE-30A012AD1CB7}">
      <dgm:prSet custT="1"/>
      <dgm:spPr>
        <a:blipFill>
          <a:blip xmlns:r="http://schemas.openxmlformats.org/officeDocument/2006/relationships" r:embed="rId1"/>
          <a:stretch>
            <a:fillRect/>
          </a:stretch>
        </a:blipFill>
      </dgm:spPr>
      <dgm:t>
        <a:bodyPr/>
        <a:lstStyle/>
        <a:p>
          <a:r>
            <a:rPr lang="en-GB">
              <a:noFill/>
            </a:rPr>
            <a:t> </a:t>
          </a:r>
        </a:p>
      </dgm:t>
    </dgm:pt>
    <dgm:pt modelId="{FFD498B9-46F0-455C-9E55-4DAD80E35954}" type="parTrans" cxnId="{49A32EFA-8D06-43E3-85A1-D45BD04CDB61}">
      <dgm:prSet/>
      <dgm:spPr/>
      <dgm:t>
        <a:bodyPr/>
        <a:lstStyle/>
        <a:p>
          <a:endParaRPr lang="en-GB"/>
        </a:p>
      </dgm:t>
    </dgm:pt>
    <dgm:pt modelId="{CD06B8BE-F6BB-44B3-AB82-114640047313}" type="sibTrans" cxnId="{49A32EFA-8D06-43E3-85A1-D45BD04CDB61}">
      <dgm:prSet/>
      <dgm:spPr/>
      <dgm:t>
        <a:bodyPr/>
        <a:lstStyle/>
        <a:p>
          <a:endParaRPr lang="en-GB"/>
        </a:p>
      </dgm:t>
    </dgm:pt>
    <dgm:pt modelId="{978323E8-F4FF-4B2B-934B-C6F3322C0561}">
      <dgm:prSet/>
      <dgm:spPr/>
      <dgm:t>
        <a:bodyPr/>
        <a:lstStyle/>
        <a:p>
          <a:r>
            <a:rPr lang="en-GB"/>
            <a:t>The magnitude of investments should be inline with growth</a:t>
          </a:r>
          <a:endParaRPr lang="fr-FR"/>
        </a:p>
      </dgm:t>
    </dgm:pt>
    <dgm:pt modelId="{DABD0FC8-281D-41B0-AECD-18FA559118BA}" type="parTrans" cxnId="{84439EC8-F4FA-49FD-85AF-72CCD8B88EFA}">
      <dgm:prSet/>
      <dgm:spPr/>
      <dgm:t>
        <a:bodyPr/>
        <a:lstStyle/>
        <a:p>
          <a:endParaRPr lang="en-GB"/>
        </a:p>
      </dgm:t>
    </dgm:pt>
    <dgm:pt modelId="{9A2B1167-96C3-4E40-BA7B-FBBAF4A94857}" type="sibTrans" cxnId="{84439EC8-F4FA-49FD-85AF-72CCD8B88EFA}">
      <dgm:prSet/>
      <dgm:spPr/>
      <dgm:t>
        <a:bodyPr/>
        <a:lstStyle/>
        <a:p>
          <a:endParaRPr lang="en-GB"/>
        </a:p>
      </dgm:t>
    </dgm:pt>
    <dgm:pt modelId="{430A1AEF-B426-40B4-BF56-D11D60392345}">
      <dgm:prSet custT="1"/>
      <dgm:spPr>
        <a:blipFill>
          <a:blip xmlns:r="http://schemas.openxmlformats.org/officeDocument/2006/relationships" r:embed="rId2"/>
          <a:stretch>
            <a:fillRect/>
          </a:stretch>
        </a:blipFill>
      </dgm:spPr>
      <dgm:t>
        <a:bodyPr/>
        <a:lstStyle/>
        <a:p>
          <a:r>
            <a:rPr lang="en-GB">
              <a:noFill/>
            </a:rPr>
            <a:t> </a:t>
          </a:r>
        </a:p>
      </dgm:t>
    </dgm:pt>
    <dgm:pt modelId="{576F509E-C301-4BAC-8778-9CCE39D78B6F}" type="parTrans" cxnId="{D646DFF7-B272-400A-9F8C-10C3971573F3}">
      <dgm:prSet/>
      <dgm:spPr/>
      <dgm:t>
        <a:bodyPr/>
        <a:lstStyle/>
        <a:p>
          <a:endParaRPr lang="en-GB"/>
        </a:p>
      </dgm:t>
    </dgm:pt>
    <dgm:pt modelId="{65C4F177-2B8C-47B3-843D-F9C783906C16}" type="sibTrans" cxnId="{D646DFF7-B272-400A-9F8C-10C3971573F3}">
      <dgm:prSet/>
      <dgm:spPr/>
      <dgm:t>
        <a:bodyPr/>
        <a:lstStyle/>
        <a:p>
          <a:endParaRPr lang="en-GB"/>
        </a:p>
      </dgm:t>
    </dgm:pt>
    <dgm:pt modelId="{2F33A771-6EAB-4C6C-A09C-72F833370571}">
      <dgm:prSet/>
      <dgm:spPr/>
      <dgm:t>
        <a:bodyPr/>
        <a:lstStyle/>
        <a:p>
          <a:r>
            <a:rPr lang="en-GB"/>
            <a:t>You cannot expect growth unless your return reaches a certain level</a:t>
          </a:r>
          <a:endParaRPr lang="fr-FR"/>
        </a:p>
      </dgm:t>
    </dgm:pt>
    <dgm:pt modelId="{591AC500-8CEE-49AE-AA56-FAD28A028E67}" type="parTrans" cxnId="{369FD19A-AE69-4032-BA9F-DF242DD491A3}">
      <dgm:prSet/>
      <dgm:spPr/>
      <dgm:t>
        <a:bodyPr/>
        <a:lstStyle/>
        <a:p>
          <a:endParaRPr lang="en-GB"/>
        </a:p>
      </dgm:t>
    </dgm:pt>
    <dgm:pt modelId="{550046D4-7F89-4608-AE3E-006AEC14F153}" type="sibTrans" cxnId="{369FD19A-AE69-4032-BA9F-DF242DD491A3}">
      <dgm:prSet/>
      <dgm:spPr/>
      <dgm:t>
        <a:bodyPr/>
        <a:lstStyle/>
        <a:p>
          <a:endParaRPr lang="en-GB"/>
        </a:p>
      </dgm:t>
    </dgm:pt>
    <dgm:pt modelId="{7D98F760-AD57-4463-B2CE-59278E23D215}">
      <dgm:prSet custT="1"/>
      <dgm:spPr>
        <a:blipFill>
          <a:blip xmlns:r="http://schemas.openxmlformats.org/officeDocument/2006/relationships" r:embed="rId3"/>
          <a:stretch>
            <a:fillRect/>
          </a:stretch>
        </a:blipFill>
      </dgm:spPr>
      <dgm:t>
        <a:bodyPr/>
        <a:lstStyle/>
        <a:p>
          <a:r>
            <a:rPr lang="en-GB">
              <a:noFill/>
            </a:rPr>
            <a:t> </a:t>
          </a:r>
        </a:p>
      </dgm:t>
    </dgm:pt>
    <dgm:pt modelId="{4AE304BF-CC8B-4A1E-9932-A0F90B1099E7}" type="parTrans" cxnId="{7EA15D02-D59D-4223-94EA-2A834D5099C3}">
      <dgm:prSet/>
      <dgm:spPr/>
      <dgm:t>
        <a:bodyPr/>
        <a:lstStyle/>
        <a:p>
          <a:endParaRPr lang="en-GB"/>
        </a:p>
      </dgm:t>
    </dgm:pt>
    <dgm:pt modelId="{A72F6C40-2A88-432E-A035-25A6F5A16504}" type="sibTrans" cxnId="{7EA15D02-D59D-4223-94EA-2A834D5099C3}">
      <dgm:prSet/>
      <dgm:spPr/>
      <dgm:t>
        <a:bodyPr/>
        <a:lstStyle/>
        <a:p>
          <a:endParaRPr lang="en-GB"/>
        </a:p>
      </dgm:t>
    </dgm:pt>
    <dgm:pt modelId="{BE863A10-FD21-4BFF-8C7A-C00DD5C045D3}" type="pres">
      <dgm:prSet presAssocID="{57E2290A-9AD8-4F40-A14C-148996F7A0AC}" presName="theList" presStyleCnt="0">
        <dgm:presLayoutVars>
          <dgm:dir/>
          <dgm:animLvl val="lvl"/>
          <dgm:resizeHandles val="exact"/>
        </dgm:presLayoutVars>
      </dgm:prSet>
      <dgm:spPr/>
    </dgm:pt>
    <dgm:pt modelId="{C2525A42-2F7D-4CEC-B257-EABF2C8AEACF}" type="pres">
      <dgm:prSet presAssocID="{86AB46F2-4BDE-4C5D-91E8-A6E319CB17C7}" presName="compNode" presStyleCnt="0"/>
      <dgm:spPr/>
    </dgm:pt>
    <dgm:pt modelId="{DFA42168-DAB7-4FBC-8BF3-487BA82E6A36}" type="pres">
      <dgm:prSet presAssocID="{86AB46F2-4BDE-4C5D-91E8-A6E319CB17C7}" presName="aNode" presStyleLbl="bgShp" presStyleIdx="0" presStyleCnt="3"/>
      <dgm:spPr/>
    </dgm:pt>
    <dgm:pt modelId="{82D00D9A-25F7-4F60-B8B7-E12514CABE8F}" type="pres">
      <dgm:prSet presAssocID="{86AB46F2-4BDE-4C5D-91E8-A6E319CB17C7}" presName="textNode" presStyleLbl="bgShp" presStyleIdx="0" presStyleCnt="3"/>
      <dgm:spPr/>
    </dgm:pt>
    <dgm:pt modelId="{28789F53-2AC3-4D8D-915B-90145B8E6814}" type="pres">
      <dgm:prSet presAssocID="{86AB46F2-4BDE-4C5D-91E8-A6E319CB17C7}" presName="compChildNode" presStyleCnt="0"/>
      <dgm:spPr/>
    </dgm:pt>
    <dgm:pt modelId="{9C6648F9-6C70-4C60-83D9-D2BB0A394CE0}" type="pres">
      <dgm:prSet presAssocID="{86AB46F2-4BDE-4C5D-91E8-A6E319CB17C7}" presName="theInnerList" presStyleCnt="0"/>
      <dgm:spPr/>
    </dgm:pt>
    <dgm:pt modelId="{5038B60A-ABE1-4D09-9096-DDBD50A0B7E6}" type="pres">
      <dgm:prSet presAssocID="{A514EA00-A658-4BAB-8FEE-30A012AD1CB7}" presName="childNode" presStyleLbl="node1" presStyleIdx="0" presStyleCnt="3">
        <dgm:presLayoutVars>
          <dgm:bulletEnabled val="1"/>
        </dgm:presLayoutVars>
      </dgm:prSet>
      <dgm:spPr/>
    </dgm:pt>
    <dgm:pt modelId="{89E9EDBD-392A-43AF-960B-6FAE3AFF96B5}" type="pres">
      <dgm:prSet presAssocID="{86AB46F2-4BDE-4C5D-91E8-A6E319CB17C7}" presName="aSpace" presStyleCnt="0"/>
      <dgm:spPr/>
    </dgm:pt>
    <dgm:pt modelId="{E5AF58B0-444C-4633-8EA8-F549DC7F0A45}" type="pres">
      <dgm:prSet presAssocID="{978323E8-F4FF-4B2B-934B-C6F3322C0561}" presName="compNode" presStyleCnt="0"/>
      <dgm:spPr/>
    </dgm:pt>
    <dgm:pt modelId="{F21F0AC5-0A89-4CE0-BA28-82268E4B11B9}" type="pres">
      <dgm:prSet presAssocID="{978323E8-F4FF-4B2B-934B-C6F3322C0561}" presName="aNode" presStyleLbl="bgShp" presStyleIdx="1" presStyleCnt="3"/>
      <dgm:spPr/>
    </dgm:pt>
    <dgm:pt modelId="{2028B6DF-D957-4279-A4D2-C83582223AAD}" type="pres">
      <dgm:prSet presAssocID="{978323E8-F4FF-4B2B-934B-C6F3322C0561}" presName="textNode" presStyleLbl="bgShp" presStyleIdx="1" presStyleCnt="3"/>
      <dgm:spPr/>
    </dgm:pt>
    <dgm:pt modelId="{42D83456-CD1D-4BCF-8A69-695F7CF287CC}" type="pres">
      <dgm:prSet presAssocID="{978323E8-F4FF-4B2B-934B-C6F3322C0561}" presName="compChildNode" presStyleCnt="0"/>
      <dgm:spPr/>
    </dgm:pt>
    <dgm:pt modelId="{5C1A3EB7-BB94-4DDA-BD65-DDBA86672A29}" type="pres">
      <dgm:prSet presAssocID="{978323E8-F4FF-4B2B-934B-C6F3322C0561}" presName="theInnerList" presStyleCnt="0"/>
      <dgm:spPr/>
    </dgm:pt>
    <dgm:pt modelId="{5D0652FB-6021-46E1-B444-AA3D0F6DDD91}" type="pres">
      <dgm:prSet presAssocID="{430A1AEF-B426-40B4-BF56-D11D60392345}" presName="childNode" presStyleLbl="node1" presStyleIdx="1" presStyleCnt="3">
        <dgm:presLayoutVars>
          <dgm:bulletEnabled val="1"/>
        </dgm:presLayoutVars>
      </dgm:prSet>
      <dgm:spPr/>
    </dgm:pt>
    <dgm:pt modelId="{DE6406EE-E76D-4C75-8975-6A74CD9E7EA1}" type="pres">
      <dgm:prSet presAssocID="{978323E8-F4FF-4B2B-934B-C6F3322C0561}" presName="aSpace" presStyleCnt="0"/>
      <dgm:spPr/>
    </dgm:pt>
    <dgm:pt modelId="{88369C92-4A7A-40E3-9B3F-18E969FAD458}" type="pres">
      <dgm:prSet presAssocID="{2F33A771-6EAB-4C6C-A09C-72F833370571}" presName="compNode" presStyleCnt="0"/>
      <dgm:spPr/>
    </dgm:pt>
    <dgm:pt modelId="{35E469D7-FCEC-44E1-8092-8BF0B1D8A135}" type="pres">
      <dgm:prSet presAssocID="{2F33A771-6EAB-4C6C-A09C-72F833370571}" presName="aNode" presStyleLbl="bgShp" presStyleIdx="2" presStyleCnt="3"/>
      <dgm:spPr/>
    </dgm:pt>
    <dgm:pt modelId="{2793A19D-B9FC-4E27-8F85-97FAD3F57C62}" type="pres">
      <dgm:prSet presAssocID="{2F33A771-6EAB-4C6C-A09C-72F833370571}" presName="textNode" presStyleLbl="bgShp" presStyleIdx="2" presStyleCnt="3"/>
      <dgm:spPr/>
    </dgm:pt>
    <dgm:pt modelId="{525BDCE5-4F33-44C2-9EAA-0A7036320848}" type="pres">
      <dgm:prSet presAssocID="{2F33A771-6EAB-4C6C-A09C-72F833370571}" presName="compChildNode" presStyleCnt="0"/>
      <dgm:spPr/>
    </dgm:pt>
    <dgm:pt modelId="{193E41DA-03DF-43A8-B742-D3BC76F90481}" type="pres">
      <dgm:prSet presAssocID="{2F33A771-6EAB-4C6C-A09C-72F833370571}" presName="theInnerList" presStyleCnt="0"/>
      <dgm:spPr/>
    </dgm:pt>
    <dgm:pt modelId="{23452B9E-409F-46E0-8CB1-CBFF28887526}" type="pres">
      <dgm:prSet presAssocID="{7D98F760-AD57-4463-B2CE-59278E23D215}" presName="childNode" presStyleLbl="node1" presStyleIdx="2" presStyleCnt="3">
        <dgm:presLayoutVars>
          <dgm:bulletEnabled val="1"/>
        </dgm:presLayoutVars>
      </dgm:prSet>
      <dgm:spPr/>
    </dgm:pt>
  </dgm:ptLst>
  <dgm:cxnLst>
    <dgm:cxn modelId="{7EA15D02-D59D-4223-94EA-2A834D5099C3}" srcId="{2F33A771-6EAB-4C6C-A09C-72F833370571}" destId="{7D98F760-AD57-4463-B2CE-59278E23D215}" srcOrd="0" destOrd="0" parTransId="{4AE304BF-CC8B-4A1E-9932-A0F90B1099E7}" sibTransId="{A72F6C40-2A88-432E-A035-25A6F5A16504}"/>
    <dgm:cxn modelId="{54948235-6797-4AD4-96BE-2C87DE9A9F6C}" type="presOf" srcId="{57E2290A-9AD8-4F40-A14C-148996F7A0AC}" destId="{BE863A10-FD21-4BFF-8C7A-C00DD5C045D3}" srcOrd="0" destOrd="0" presId="urn:microsoft.com/office/officeart/2005/8/layout/lProcess2"/>
    <dgm:cxn modelId="{CE3D2542-5714-40EF-92EA-A7AA4976D55B}" srcId="{57E2290A-9AD8-4F40-A14C-148996F7A0AC}" destId="{86AB46F2-4BDE-4C5D-91E8-A6E319CB17C7}" srcOrd="0" destOrd="0" parTransId="{011C1EB6-A630-4157-955A-DA26CB69DB1F}" sibTransId="{A58F7741-F1C6-4EE2-AFAF-D8F0526389F3}"/>
    <dgm:cxn modelId="{6CD12B51-0A45-45A7-80CF-8EF7551CABD0}" type="presOf" srcId="{86AB46F2-4BDE-4C5D-91E8-A6E319CB17C7}" destId="{82D00D9A-25F7-4F60-B8B7-E12514CABE8F}" srcOrd="1" destOrd="0" presId="urn:microsoft.com/office/officeart/2005/8/layout/lProcess2"/>
    <dgm:cxn modelId="{975CC174-3093-423F-82D7-CB35218D279F}" type="presOf" srcId="{7D98F760-AD57-4463-B2CE-59278E23D215}" destId="{23452B9E-409F-46E0-8CB1-CBFF28887526}" srcOrd="0" destOrd="0" presId="urn:microsoft.com/office/officeart/2005/8/layout/lProcess2"/>
    <dgm:cxn modelId="{70031197-CCB9-4383-BE4C-18F3C9B8AB56}" type="presOf" srcId="{430A1AEF-B426-40B4-BF56-D11D60392345}" destId="{5D0652FB-6021-46E1-B444-AA3D0F6DDD91}" srcOrd="0" destOrd="0" presId="urn:microsoft.com/office/officeart/2005/8/layout/lProcess2"/>
    <dgm:cxn modelId="{369FD19A-AE69-4032-BA9F-DF242DD491A3}" srcId="{57E2290A-9AD8-4F40-A14C-148996F7A0AC}" destId="{2F33A771-6EAB-4C6C-A09C-72F833370571}" srcOrd="2" destOrd="0" parTransId="{591AC500-8CEE-49AE-AA56-FAD28A028E67}" sibTransId="{550046D4-7F89-4608-AE3E-006AEC14F153}"/>
    <dgm:cxn modelId="{ADFFEEA7-7D55-45C8-BE98-2E83F9F919E0}" type="presOf" srcId="{2F33A771-6EAB-4C6C-A09C-72F833370571}" destId="{2793A19D-B9FC-4E27-8F85-97FAD3F57C62}" srcOrd="1" destOrd="0" presId="urn:microsoft.com/office/officeart/2005/8/layout/lProcess2"/>
    <dgm:cxn modelId="{6F8DCCAD-7D64-4A8D-80E6-961100BD691B}" type="presOf" srcId="{86AB46F2-4BDE-4C5D-91E8-A6E319CB17C7}" destId="{DFA42168-DAB7-4FBC-8BF3-487BA82E6A36}" srcOrd="0" destOrd="0" presId="urn:microsoft.com/office/officeart/2005/8/layout/lProcess2"/>
    <dgm:cxn modelId="{349D07C4-2823-41CE-8B19-1E61888ACFAC}" type="presOf" srcId="{A514EA00-A658-4BAB-8FEE-30A012AD1CB7}" destId="{5038B60A-ABE1-4D09-9096-DDBD50A0B7E6}" srcOrd="0" destOrd="0" presId="urn:microsoft.com/office/officeart/2005/8/layout/lProcess2"/>
    <dgm:cxn modelId="{84439EC8-F4FA-49FD-85AF-72CCD8B88EFA}" srcId="{57E2290A-9AD8-4F40-A14C-148996F7A0AC}" destId="{978323E8-F4FF-4B2B-934B-C6F3322C0561}" srcOrd="1" destOrd="0" parTransId="{DABD0FC8-281D-41B0-AECD-18FA559118BA}" sibTransId="{9A2B1167-96C3-4E40-BA7B-FBBAF4A94857}"/>
    <dgm:cxn modelId="{CB9A8BE2-25DF-4636-A689-04C12D51BF24}" type="presOf" srcId="{978323E8-F4FF-4B2B-934B-C6F3322C0561}" destId="{2028B6DF-D957-4279-A4D2-C83582223AAD}" srcOrd="1" destOrd="0" presId="urn:microsoft.com/office/officeart/2005/8/layout/lProcess2"/>
    <dgm:cxn modelId="{5D2EB0E5-AC30-4722-B50C-385073CCD656}" type="presOf" srcId="{978323E8-F4FF-4B2B-934B-C6F3322C0561}" destId="{F21F0AC5-0A89-4CE0-BA28-82268E4B11B9}" srcOrd="0" destOrd="0" presId="urn:microsoft.com/office/officeart/2005/8/layout/lProcess2"/>
    <dgm:cxn modelId="{84D9C8EA-B294-4EB7-A253-376F6D24ECDB}" type="presOf" srcId="{2F33A771-6EAB-4C6C-A09C-72F833370571}" destId="{35E469D7-FCEC-44E1-8092-8BF0B1D8A135}" srcOrd="0" destOrd="0" presId="urn:microsoft.com/office/officeart/2005/8/layout/lProcess2"/>
    <dgm:cxn modelId="{D646DFF7-B272-400A-9F8C-10C3971573F3}" srcId="{978323E8-F4FF-4B2B-934B-C6F3322C0561}" destId="{430A1AEF-B426-40B4-BF56-D11D60392345}" srcOrd="0" destOrd="0" parTransId="{576F509E-C301-4BAC-8778-9CCE39D78B6F}" sibTransId="{65C4F177-2B8C-47B3-843D-F9C783906C16}"/>
    <dgm:cxn modelId="{49A32EFA-8D06-43E3-85A1-D45BD04CDB61}" srcId="{86AB46F2-4BDE-4C5D-91E8-A6E319CB17C7}" destId="{A514EA00-A658-4BAB-8FEE-30A012AD1CB7}" srcOrd="0" destOrd="0" parTransId="{FFD498B9-46F0-455C-9E55-4DAD80E35954}" sibTransId="{CD06B8BE-F6BB-44B3-AB82-114640047313}"/>
    <dgm:cxn modelId="{1F6285B8-9406-4D96-AE45-97F901C41DE1}" type="presParOf" srcId="{BE863A10-FD21-4BFF-8C7A-C00DD5C045D3}" destId="{C2525A42-2F7D-4CEC-B257-EABF2C8AEACF}" srcOrd="0" destOrd="0" presId="urn:microsoft.com/office/officeart/2005/8/layout/lProcess2"/>
    <dgm:cxn modelId="{EBF21981-EF30-477B-BBF9-1E12FE52F6EA}" type="presParOf" srcId="{C2525A42-2F7D-4CEC-B257-EABF2C8AEACF}" destId="{DFA42168-DAB7-4FBC-8BF3-487BA82E6A36}" srcOrd="0" destOrd="0" presId="urn:microsoft.com/office/officeart/2005/8/layout/lProcess2"/>
    <dgm:cxn modelId="{1A2C6DF4-856E-4093-B985-8382CDD79A96}" type="presParOf" srcId="{C2525A42-2F7D-4CEC-B257-EABF2C8AEACF}" destId="{82D00D9A-25F7-4F60-B8B7-E12514CABE8F}" srcOrd="1" destOrd="0" presId="urn:microsoft.com/office/officeart/2005/8/layout/lProcess2"/>
    <dgm:cxn modelId="{DBAF729D-ED6F-45C0-AB45-42A931BC9B1B}" type="presParOf" srcId="{C2525A42-2F7D-4CEC-B257-EABF2C8AEACF}" destId="{28789F53-2AC3-4D8D-915B-90145B8E6814}" srcOrd="2" destOrd="0" presId="urn:microsoft.com/office/officeart/2005/8/layout/lProcess2"/>
    <dgm:cxn modelId="{B68AB981-4106-48D4-AA7E-92B75C8668F0}" type="presParOf" srcId="{28789F53-2AC3-4D8D-915B-90145B8E6814}" destId="{9C6648F9-6C70-4C60-83D9-D2BB0A394CE0}" srcOrd="0" destOrd="0" presId="urn:microsoft.com/office/officeart/2005/8/layout/lProcess2"/>
    <dgm:cxn modelId="{FC07B228-F944-4271-AB7C-2B17F3F22127}" type="presParOf" srcId="{9C6648F9-6C70-4C60-83D9-D2BB0A394CE0}" destId="{5038B60A-ABE1-4D09-9096-DDBD50A0B7E6}" srcOrd="0" destOrd="0" presId="urn:microsoft.com/office/officeart/2005/8/layout/lProcess2"/>
    <dgm:cxn modelId="{CEF6DCA0-1D50-4427-AD69-57BE54257118}" type="presParOf" srcId="{BE863A10-FD21-4BFF-8C7A-C00DD5C045D3}" destId="{89E9EDBD-392A-43AF-960B-6FAE3AFF96B5}" srcOrd="1" destOrd="0" presId="urn:microsoft.com/office/officeart/2005/8/layout/lProcess2"/>
    <dgm:cxn modelId="{E42A55C0-84E0-4E51-A739-33EF7A0A4AC7}" type="presParOf" srcId="{BE863A10-FD21-4BFF-8C7A-C00DD5C045D3}" destId="{E5AF58B0-444C-4633-8EA8-F549DC7F0A45}" srcOrd="2" destOrd="0" presId="urn:microsoft.com/office/officeart/2005/8/layout/lProcess2"/>
    <dgm:cxn modelId="{F7714E15-3DE0-4790-8E3D-B1406045E3DC}" type="presParOf" srcId="{E5AF58B0-444C-4633-8EA8-F549DC7F0A45}" destId="{F21F0AC5-0A89-4CE0-BA28-82268E4B11B9}" srcOrd="0" destOrd="0" presId="urn:microsoft.com/office/officeart/2005/8/layout/lProcess2"/>
    <dgm:cxn modelId="{5BA596D9-4165-44EC-85CE-3E77401FFD09}" type="presParOf" srcId="{E5AF58B0-444C-4633-8EA8-F549DC7F0A45}" destId="{2028B6DF-D957-4279-A4D2-C83582223AAD}" srcOrd="1" destOrd="0" presId="urn:microsoft.com/office/officeart/2005/8/layout/lProcess2"/>
    <dgm:cxn modelId="{0FC69FD6-7307-4BEA-8C01-094DAB3AEF6B}" type="presParOf" srcId="{E5AF58B0-444C-4633-8EA8-F549DC7F0A45}" destId="{42D83456-CD1D-4BCF-8A69-695F7CF287CC}" srcOrd="2" destOrd="0" presId="urn:microsoft.com/office/officeart/2005/8/layout/lProcess2"/>
    <dgm:cxn modelId="{9A14B007-FC2E-4D00-B4E5-45E493BB75C3}" type="presParOf" srcId="{42D83456-CD1D-4BCF-8A69-695F7CF287CC}" destId="{5C1A3EB7-BB94-4DDA-BD65-DDBA86672A29}" srcOrd="0" destOrd="0" presId="urn:microsoft.com/office/officeart/2005/8/layout/lProcess2"/>
    <dgm:cxn modelId="{4178C22F-49F8-4BA7-97AD-4F4BE3DEFEA6}" type="presParOf" srcId="{5C1A3EB7-BB94-4DDA-BD65-DDBA86672A29}" destId="{5D0652FB-6021-46E1-B444-AA3D0F6DDD91}" srcOrd="0" destOrd="0" presId="urn:microsoft.com/office/officeart/2005/8/layout/lProcess2"/>
    <dgm:cxn modelId="{3CF2172C-4FEE-4A38-B7EF-ED424623589F}" type="presParOf" srcId="{BE863A10-FD21-4BFF-8C7A-C00DD5C045D3}" destId="{DE6406EE-E76D-4C75-8975-6A74CD9E7EA1}" srcOrd="3" destOrd="0" presId="urn:microsoft.com/office/officeart/2005/8/layout/lProcess2"/>
    <dgm:cxn modelId="{FA605A6F-55AF-4347-8D7B-33DBA42D36A3}" type="presParOf" srcId="{BE863A10-FD21-4BFF-8C7A-C00DD5C045D3}" destId="{88369C92-4A7A-40E3-9B3F-18E969FAD458}" srcOrd="4" destOrd="0" presId="urn:microsoft.com/office/officeart/2005/8/layout/lProcess2"/>
    <dgm:cxn modelId="{94AA3A33-7D5B-4739-A068-36849250062A}" type="presParOf" srcId="{88369C92-4A7A-40E3-9B3F-18E969FAD458}" destId="{35E469D7-FCEC-44E1-8092-8BF0B1D8A135}" srcOrd="0" destOrd="0" presId="urn:microsoft.com/office/officeart/2005/8/layout/lProcess2"/>
    <dgm:cxn modelId="{E458A9DF-244C-4C81-AFEA-AEE128E7EE4A}" type="presParOf" srcId="{88369C92-4A7A-40E3-9B3F-18E969FAD458}" destId="{2793A19D-B9FC-4E27-8F85-97FAD3F57C62}" srcOrd="1" destOrd="0" presId="urn:microsoft.com/office/officeart/2005/8/layout/lProcess2"/>
    <dgm:cxn modelId="{34341C03-4AF1-43BA-B201-9B74E8CD779F}" type="presParOf" srcId="{88369C92-4A7A-40E3-9B3F-18E969FAD458}" destId="{525BDCE5-4F33-44C2-9EAA-0A7036320848}" srcOrd="2" destOrd="0" presId="urn:microsoft.com/office/officeart/2005/8/layout/lProcess2"/>
    <dgm:cxn modelId="{0930B06D-A99D-4944-B0E7-48D6D086B165}" type="presParOf" srcId="{525BDCE5-4F33-44C2-9EAA-0A7036320848}" destId="{193E41DA-03DF-43A8-B742-D3BC76F90481}" srcOrd="0" destOrd="0" presId="urn:microsoft.com/office/officeart/2005/8/layout/lProcess2"/>
    <dgm:cxn modelId="{0D7D08CC-5510-4006-88B5-F73276D780B8}" type="presParOf" srcId="{193E41DA-03DF-43A8-B742-D3BC76F90481}" destId="{23452B9E-409F-46E0-8CB1-CBFF28887526}" srcOrd="0"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2752F86E-4CB9-481C-A8A1-3F0945BD8406}" type="doc">
      <dgm:prSet loTypeId="urn:microsoft.com/office/officeart/2005/8/layout/hierarchy1" loCatId="hierarchy" qsTypeId="urn:microsoft.com/office/officeart/2005/8/quickstyle/3d2" qsCatId="3D" csTypeId="urn:microsoft.com/office/officeart/2005/8/colors/accent3_1" csCatId="accent3" phldr="1"/>
      <dgm:spPr/>
      <dgm:t>
        <a:bodyPr/>
        <a:lstStyle/>
        <a:p>
          <a:endParaRPr lang="en-GB"/>
        </a:p>
      </dgm:t>
    </dgm:pt>
    <dgm:pt modelId="{677958AC-2397-4AF2-BE18-11F76DFA274E}">
      <dgm:prSet phldrT="[Text]"/>
      <dgm:spPr/>
      <dgm:t>
        <a:bodyPr/>
        <a:lstStyle/>
        <a:p>
          <a:r>
            <a:rPr lang="en-GB" dirty="0"/>
            <a:t>Estimate Growth</a:t>
          </a:r>
        </a:p>
      </dgm:t>
    </dgm:pt>
    <dgm:pt modelId="{68E0D891-DE3E-460D-8D6C-DBF9D5F95F2F}" type="parTrans" cxnId="{754F6B9B-FA27-45CE-A649-0978137DC7AC}">
      <dgm:prSet/>
      <dgm:spPr/>
      <dgm:t>
        <a:bodyPr/>
        <a:lstStyle/>
        <a:p>
          <a:endParaRPr lang="en-GB"/>
        </a:p>
      </dgm:t>
    </dgm:pt>
    <dgm:pt modelId="{AFE0A892-61BA-4B59-AC4E-B65FE78C1ACE}" type="sibTrans" cxnId="{754F6B9B-FA27-45CE-A649-0978137DC7AC}">
      <dgm:prSet/>
      <dgm:spPr/>
      <dgm:t>
        <a:bodyPr/>
        <a:lstStyle/>
        <a:p>
          <a:endParaRPr lang="en-GB"/>
        </a:p>
      </dgm:t>
    </dgm:pt>
    <dgm:pt modelId="{70F113B3-0B83-49A7-B02F-2091E915AD26}">
      <dgm:prSet phldrT="[Text]"/>
      <dgm:spPr/>
      <dgm:t>
        <a:bodyPr/>
        <a:lstStyle/>
        <a:p>
          <a:r>
            <a:rPr lang="en-GB" dirty="0"/>
            <a:t>Dividends</a:t>
          </a:r>
        </a:p>
      </dgm:t>
    </dgm:pt>
    <dgm:pt modelId="{D9F77954-8504-4F72-B1E6-BF0A62A77F72}" type="parTrans" cxnId="{B86E481B-DFAE-4198-9FCD-8A7E3454F966}">
      <dgm:prSet/>
      <dgm:spPr/>
      <dgm:t>
        <a:bodyPr/>
        <a:lstStyle/>
        <a:p>
          <a:endParaRPr lang="en-GB"/>
        </a:p>
      </dgm:t>
    </dgm:pt>
    <dgm:pt modelId="{F28B01A6-5B8F-4CE9-85B5-5A02CBEEF73F}" type="sibTrans" cxnId="{B86E481B-DFAE-4198-9FCD-8A7E3454F966}">
      <dgm:prSet/>
      <dgm:spPr/>
      <dgm:t>
        <a:bodyPr/>
        <a:lstStyle/>
        <a:p>
          <a:endParaRPr lang="en-GB"/>
        </a:p>
      </dgm:t>
    </dgm:pt>
    <dgm:pt modelId="{A496D1D8-BF6D-4AE7-8304-EEA2DF4DBDD0}">
      <dgm:prSet phldrT="[Text]"/>
      <dgm:spPr/>
      <dgm:t>
        <a:bodyPr/>
        <a:lstStyle/>
        <a:p>
          <a:r>
            <a:rPr lang="en-GB" dirty="0"/>
            <a:t>Net Income</a:t>
          </a:r>
        </a:p>
      </dgm:t>
    </dgm:pt>
    <dgm:pt modelId="{09AA3B56-8407-474D-8F54-9A498AB6926E}" type="parTrans" cxnId="{5768BBBC-F081-44C8-BE1D-5492B270F895}">
      <dgm:prSet/>
      <dgm:spPr/>
      <dgm:t>
        <a:bodyPr/>
        <a:lstStyle/>
        <a:p>
          <a:endParaRPr lang="en-GB"/>
        </a:p>
      </dgm:t>
    </dgm:pt>
    <dgm:pt modelId="{A495D8AF-6480-474C-9A9E-33EF5B576DE8}" type="sibTrans" cxnId="{5768BBBC-F081-44C8-BE1D-5492B270F895}">
      <dgm:prSet/>
      <dgm:spPr/>
      <dgm:t>
        <a:bodyPr/>
        <a:lstStyle/>
        <a:p>
          <a:endParaRPr lang="en-GB"/>
        </a:p>
      </dgm:t>
    </dgm:pt>
    <dgm:pt modelId="{8BA6199A-C0EA-4B96-B1B8-E9ADD5290EE8}">
      <dgm:prSet phldrT="[Text]"/>
      <dgm:spPr/>
      <dgm:t>
        <a:bodyPr/>
        <a:lstStyle/>
        <a:p>
          <a:r>
            <a:rPr lang="en-GB" dirty="0"/>
            <a:t>EBIT</a:t>
          </a:r>
        </a:p>
      </dgm:t>
    </dgm:pt>
    <dgm:pt modelId="{FF6E8CB0-5BEC-45C5-B1E1-BD4D9EA42AD7}" type="parTrans" cxnId="{28508F05-285E-49AA-A5A7-71317DD2F142}">
      <dgm:prSet/>
      <dgm:spPr/>
      <dgm:t>
        <a:bodyPr/>
        <a:lstStyle/>
        <a:p>
          <a:endParaRPr lang="en-GB"/>
        </a:p>
      </dgm:t>
    </dgm:pt>
    <dgm:pt modelId="{73FC42D4-6B27-46FF-A380-755C0D7D52D7}" type="sibTrans" cxnId="{28508F05-285E-49AA-A5A7-71317DD2F142}">
      <dgm:prSet/>
      <dgm:spPr/>
      <dgm:t>
        <a:bodyPr/>
        <a:lstStyle/>
        <a:p>
          <a:endParaRPr lang="en-GB"/>
        </a:p>
      </dgm:t>
    </dgm:pt>
    <dgm:pt modelId="{ED74A6FC-D874-48C1-9E4E-166DB274636F}">
      <dgm:prSet/>
      <dgm:spPr/>
      <dgm:t>
        <a:bodyPr/>
        <a:lstStyle/>
        <a:p>
          <a:r>
            <a:rPr lang="en-GB" dirty="0"/>
            <a:t>Retention Ratio*ROE</a:t>
          </a:r>
        </a:p>
      </dgm:t>
    </dgm:pt>
    <dgm:pt modelId="{B7D9A717-9BA1-4A35-9708-D399FB8E6E98}" type="parTrans" cxnId="{D86168D2-DAD3-4671-968E-74B9946AA6CB}">
      <dgm:prSet/>
      <dgm:spPr/>
      <dgm:t>
        <a:bodyPr/>
        <a:lstStyle/>
        <a:p>
          <a:endParaRPr lang="en-GB"/>
        </a:p>
      </dgm:t>
    </dgm:pt>
    <dgm:pt modelId="{3EF3B43B-056A-47A9-AD9A-2C80109EA275}" type="sibTrans" cxnId="{D86168D2-DAD3-4671-968E-74B9946AA6CB}">
      <dgm:prSet/>
      <dgm:spPr/>
      <dgm:t>
        <a:bodyPr/>
        <a:lstStyle/>
        <a:p>
          <a:endParaRPr lang="en-GB"/>
        </a:p>
      </dgm:t>
    </dgm:pt>
    <dgm:pt modelId="{4447AEF4-8924-4C7A-AC7C-4A233DC58F59}">
      <dgm:prSet/>
      <dgm:spPr/>
      <dgm:t>
        <a:bodyPr/>
        <a:lstStyle/>
        <a:p>
          <a:r>
            <a:rPr lang="en-GB" dirty="0" err="1"/>
            <a:t>Eq</a:t>
          </a:r>
          <a:r>
            <a:rPr lang="en-GB" dirty="0"/>
            <a:t>-Re-investment </a:t>
          </a:r>
        </a:p>
        <a:p>
          <a:r>
            <a:rPr lang="en-GB" dirty="0"/>
            <a:t>Rate*ROE</a:t>
          </a:r>
        </a:p>
      </dgm:t>
    </dgm:pt>
    <dgm:pt modelId="{F8CBFB65-27DB-44E7-97B7-81620AF2C524}" type="parTrans" cxnId="{EAD23653-8ABE-4B7A-8422-7F6DFEA8EC7D}">
      <dgm:prSet/>
      <dgm:spPr/>
      <dgm:t>
        <a:bodyPr/>
        <a:lstStyle/>
        <a:p>
          <a:endParaRPr lang="en-GB"/>
        </a:p>
      </dgm:t>
    </dgm:pt>
    <dgm:pt modelId="{18765BB9-9A7C-42C4-A4A2-6FA8602EF3D2}" type="sibTrans" cxnId="{EAD23653-8ABE-4B7A-8422-7F6DFEA8EC7D}">
      <dgm:prSet/>
      <dgm:spPr/>
      <dgm:t>
        <a:bodyPr/>
        <a:lstStyle/>
        <a:p>
          <a:endParaRPr lang="en-GB"/>
        </a:p>
      </dgm:t>
    </dgm:pt>
    <dgm:pt modelId="{E590E0FA-045D-4288-9DBD-2951FB61E03A}">
      <dgm:prSet/>
      <dgm:spPr/>
      <dgm:t>
        <a:bodyPr/>
        <a:lstStyle/>
        <a:p>
          <a:r>
            <a:rPr lang="en-GB" dirty="0"/>
            <a:t>Re-investment Rate*ROC</a:t>
          </a:r>
        </a:p>
      </dgm:t>
    </dgm:pt>
    <dgm:pt modelId="{48D52240-7A30-4191-9527-942DB7B5D68D}" type="parTrans" cxnId="{A0185498-18BF-4547-A83A-D09656330312}">
      <dgm:prSet/>
      <dgm:spPr/>
      <dgm:t>
        <a:bodyPr/>
        <a:lstStyle/>
        <a:p>
          <a:endParaRPr lang="en-GB"/>
        </a:p>
      </dgm:t>
    </dgm:pt>
    <dgm:pt modelId="{044FA4BA-7D0B-4FCF-A927-6D3A5E86A466}" type="sibTrans" cxnId="{A0185498-18BF-4547-A83A-D09656330312}">
      <dgm:prSet/>
      <dgm:spPr/>
      <dgm:t>
        <a:bodyPr/>
        <a:lstStyle/>
        <a:p>
          <a:endParaRPr lang="en-GB"/>
        </a:p>
      </dgm:t>
    </dgm:pt>
    <dgm:pt modelId="{591E6E50-1F6D-498C-94B5-EEC48007B585}" type="pres">
      <dgm:prSet presAssocID="{2752F86E-4CB9-481C-A8A1-3F0945BD8406}" presName="hierChild1" presStyleCnt="0">
        <dgm:presLayoutVars>
          <dgm:chPref val="1"/>
          <dgm:dir/>
          <dgm:animOne val="branch"/>
          <dgm:animLvl val="lvl"/>
          <dgm:resizeHandles/>
        </dgm:presLayoutVars>
      </dgm:prSet>
      <dgm:spPr/>
    </dgm:pt>
    <dgm:pt modelId="{4013A1F8-C8E6-4692-8C2C-23B671CB5CBA}" type="pres">
      <dgm:prSet presAssocID="{677958AC-2397-4AF2-BE18-11F76DFA274E}" presName="hierRoot1" presStyleCnt="0"/>
      <dgm:spPr/>
    </dgm:pt>
    <dgm:pt modelId="{AED26C37-9AD9-43A8-AEA3-C8ED11031CE0}" type="pres">
      <dgm:prSet presAssocID="{677958AC-2397-4AF2-BE18-11F76DFA274E}" presName="composite" presStyleCnt="0"/>
      <dgm:spPr/>
    </dgm:pt>
    <dgm:pt modelId="{41921C13-D17F-465D-B4B9-54B68712ED10}" type="pres">
      <dgm:prSet presAssocID="{677958AC-2397-4AF2-BE18-11F76DFA274E}" presName="background" presStyleLbl="node0" presStyleIdx="0" presStyleCnt="1"/>
      <dgm:spPr/>
    </dgm:pt>
    <dgm:pt modelId="{30B83D9B-1FEE-4BE2-BAE4-465F4A8939B4}" type="pres">
      <dgm:prSet presAssocID="{677958AC-2397-4AF2-BE18-11F76DFA274E}" presName="text" presStyleLbl="fgAcc0" presStyleIdx="0" presStyleCnt="1">
        <dgm:presLayoutVars>
          <dgm:chPref val="3"/>
        </dgm:presLayoutVars>
      </dgm:prSet>
      <dgm:spPr/>
    </dgm:pt>
    <dgm:pt modelId="{436B3C00-0E59-47A3-ADDE-1BE3A5F275E8}" type="pres">
      <dgm:prSet presAssocID="{677958AC-2397-4AF2-BE18-11F76DFA274E}" presName="hierChild2" presStyleCnt="0"/>
      <dgm:spPr/>
    </dgm:pt>
    <dgm:pt modelId="{B9BDA5B8-F102-4B52-AE2D-94EC873612AF}" type="pres">
      <dgm:prSet presAssocID="{D9F77954-8504-4F72-B1E6-BF0A62A77F72}" presName="Name10" presStyleLbl="parChTrans1D2" presStyleIdx="0" presStyleCnt="3"/>
      <dgm:spPr/>
    </dgm:pt>
    <dgm:pt modelId="{F1DA2C67-9ED0-4F22-B4A8-5267E7CF067D}" type="pres">
      <dgm:prSet presAssocID="{70F113B3-0B83-49A7-B02F-2091E915AD26}" presName="hierRoot2" presStyleCnt="0"/>
      <dgm:spPr/>
    </dgm:pt>
    <dgm:pt modelId="{535B78ED-E2E1-4F20-93A9-AFF1E48838DE}" type="pres">
      <dgm:prSet presAssocID="{70F113B3-0B83-49A7-B02F-2091E915AD26}" presName="composite2" presStyleCnt="0"/>
      <dgm:spPr/>
    </dgm:pt>
    <dgm:pt modelId="{593626B4-A60B-46CD-B163-C9ED25C44C2A}" type="pres">
      <dgm:prSet presAssocID="{70F113B3-0B83-49A7-B02F-2091E915AD26}" presName="background2" presStyleLbl="node2" presStyleIdx="0" presStyleCnt="3"/>
      <dgm:spPr/>
    </dgm:pt>
    <dgm:pt modelId="{24417B8C-CC34-417B-AB18-9914BB45085D}" type="pres">
      <dgm:prSet presAssocID="{70F113B3-0B83-49A7-B02F-2091E915AD26}" presName="text2" presStyleLbl="fgAcc2" presStyleIdx="0" presStyleCnt="3">
        <dgm:presLayoutVars>
          <dgm:chPref val="3"/>
        </dgm:presLayoutVars>
      </dgm:prSet>
      <dgm:spPr/>
    </dgm:pt>
    <dgm:pt modelId="{76E5631C-E743-44A2-B759-DCEF38312282}" type="pres">
      <dgm:prSet presAssocID="{70F113B3-0B83-49A7-B02F-2091E915AD26}" presName="hierChild3" presStyleCnt="0"/>
      <dgm:spPr/>
    </dgm:pt>
    <dgm:pt modelId="{E72AB7DD-3E88-4FB0-BAE7-DBCE70CBC74D}" type="pres">
      <dgm:prSet presAssocID="{B7D9A717-9BA1-4A35-9708-D399FB8E6E98}" presName="Name17" presStyleLbl="parChTrans1D3" presStyleIdx="0" presStyleCnt="3"/>
      <dgm:spPr/>
    </dgm:pt>
    <dgm:pt modelId="{01ED46B2-FDEA-457A-8A71-37DCD534E929}" type="pres">
      <dgm:prSet presAssocID="{ED74A6FC-D874-48C1-9E4E-166DB274636F}" presName="hierRoot3" presStyleCnt="0"/>
      <dgm:spPr/>
    </dgm:pt>
    <dgm:pt modelId="{B59F459E-592E-4AF6-A816-B78971659A65}" type="pres">
      <dgm:prSet presAssocID="{ED74A6FC-D874-48C1-9E4E-166DB274636F}" presName="composite3" presStyleCnt="0"/>
      <dgm:spPr/>
    </dgm:pt>
    <dgm:pt modelId="{F8AF5F54-3EDE-4BE0-85ED-7D5866A83646}" type="pres">
      <dgm:prSet presAssocID="{ED74A6FC-D874-48C1-9E4E-166DB274636F}" presName="background3" presStyleLbl="node3" presStyleIdx="0" presStyleCnt="3"/>
      <dgm:spPr/>
    </dgm:pt>
    <dgm:pt modelId="{5614AF8D-3273-45BB-B726-374789C5373D}" type="pres">
      <dgm:prSet presAssocID="{ED74A6FC-D874-48C1-9E4E-166DB274636F}" presName="text3" presStyleLbl="fgAcc3" presStyleIdx="0" presStyleCnt="3">
        <dgm:presLayoutVars>
          <dgm:chPref val="3"/>
        </dgm:presLayoutVars>
      </dgm:prSet>
      <dgm:spPr/>
    </dgm:pt>
    <dgm:pt modelId="{C38F2B32-5268-4B3B-A473-51D5E33238E5}" type="pres">
      <dgm:prSet presAssocID="{ED74A6FC-D874-48C1-9E4E-166DB274636F}" presName="hierChild4" presStyleCnt="0"/>
      <dgm:spPr/>
    </dgm:pt>
    <dgm:pt modelId="{51E81A34-978B-4AB2-8CA1-D0D9DBF8C98B}" type="pres">
      <dgm:prSet presAssocID="{09AA3B56-8407-474D-8F54-9A498AB6926E}" presName="Name10" presStyleLbl="parChTrans1D2" presStyleIdx="1" presStyleCnt="3"/>
      <dgm:spPr/>
    </dgm:pt>
    <dgm:pt modelId="{2252611C-10BE-408E-B58A-FDAF3EFD7622}" type="pres">
      <dgm:prSet presAssocID="{A496D1D8-BF6D-4AE7-8304-EEA2DF4DBDD0}" presName="hierRoot2" presStyleCnt="0"/>
      <dgm:spPr/>
    </dgm:pt>
    <dgm:pt modelId="{D456C252-EA77-40B5-8EC3-CF6B5EF4ADDB}" type="pres">
      <dgm:prSet presAssocID="{A496D1D8-BF6D-4AE7-8304-EEA2DF4DBDD0}" presName="composite2" presStyleCnt="0"/>
      <dgm:spPr/>
    </dgm:pt>
    <dgm:pt modelId="{15F72ADD-B4A0-4113-833E-21B9AAE56B6D}" type="pres">
      <dgm:prSet presAssocID="{A496D1D8-BF6D-4AE7-8304-EEA2DF4DBDD0}" presName="background2" presStyleLbl="node2" presStyleIdx="1" presStyleCnt="3"/>
      <dgm:spPr/>
    </dgm:pt>
    <dgm:pt modelId="{326CAC57-B7FC-43B1-819A-FB71E256B19E}" type="pres">
      <dgm:prSet presAssocID="{A496D1D8-BF6D-4AE7-8304-EEA2DF4DBDD0}" presName="text2" presStyleLbl="fgAcc2" presStyleIdx="1" presStyleCnt="3">
        <dgm:presLayoutVars>
          <dgm:chPref val="3"/>
        </dgm:presLayoutVars>
      </dgm:prSet>
      <dgm:spPr/>
    </dgm:pt>
    <dgm:pt modelId="{852B4447-4D1B-4BBB-84B7-E20454166C51}" type="pres">
      <dgm:prSet presAssocID="{A496D1D8-BF6D-4AE7-8304-EEA2DF4DBDD0}" presName="hierChild3" presStyleCnt="0"/>
      <dgm:spPr/>
    </dgm:pt>
    <dgm:pt modelId="{B2435C29-CA66-491A-BCB0-6C6EEE4ED312}" type="pres">
      <dgm:prSet presAssocID="{F8CBFB65-27DB-44E7-97B7-81620AF2C524}" presName="Name17" presStyleLbl="parChTrans1D3" presStyleIdx="1" presStyleCnt="3"/>
      <dgm:spPr/>
    </dgm:pt>
    <dgm:pt modelId="{06479AA2-E99D-4113-BF48-607A4BDFB1DC}" type="pres">
      <dgm:prSet presAssocID="{4447AEF4-8924-4C7A-AC7C-4A233DC58F59}" presName="hierRoot3" presStyleCnt="0"/>
      <dgm:spPr/>
    </dgm:pt>
    <dgm:pt modelId="{522047BD-13D2-437A-8925-D23B04B2ACD6}" type="pres">
      <dgm:prSet presAssocID="{4447AEF4-8924-4C7A-AC7C-4A233DC58F59}" presName="composite3" presStyleCnt="0"/>
      <dgm:spPr/>
    </dgm:pt>
    <dgm:pt modelId="{E218DA27-B74D-459A-BED1-D0157E7B8D74}" type="pres">
      <dgm:prSet presAssocID="{4447AEF4-8924-4C7A-AC7C-4A233DC58F59}" presName="background3" presStyleLbl="node3" presStyleIdx="1" presStyleCnt="3"/>
      <dgm:spPr/>
    </dgm:pt>
    <dgm:pt modelId="{0701E47A-E56F-4635-8FC5-0CC1DEB435FE}" type="pres">
      <dgm:prSet presAssocID="{4447AEF4-8924-4C7A-AC7C-4A233DC58F59}" presName="text3" presStyleLbl="fgAcc3" presStyleIdx="1" presStyleCnt="3">
        <dgm:presLayoutVars>
          <dgm:chPref val="3"/>
        </dgm:presLayoutVars>
      </dgm:prSet>
      <dgm:spPr/>
    </dgm:pt>
    <dgm:pt modelId="{F0B14631-4CE1-42CA-984D-C5DDD4F7B8D5}" type="pres">
      <dgm:prSet presAssocID="{4447AEF4-8924-4C7A-AC7C-4A233DC58F59}" presName="hierChild4" presStyleCnt="0"/>
      <dgm:spPr/>
    </dgm:pt>
    <dgm:pt modelId="{4D54B929-6250-40E8-A837-BC5D78E6C010}" type="pres">
      <dgm:prSet presAssocID="{FF6E8CB0-5BEC-45C5-B1E1-BD4D9EA42AD7}" presName="Name10" presStyleLbl="parChTrans1D2" presStyleIdx="2" presStyleCnt="3"/>
      <dgm:spPr/>
    </dgm:pt>
    <dgm:pt modelId="{FC620FE3-74DB-4551-8B5D-788E68A64104}" type="pres">
      <dgm:prSet presAssocID="{8BA6199A-C0EA-4B96-B1B8-E9ADD5290EE8}" presName="hierRoot2" presStyleCnt="0"/>
      <dgm:spPr/>
    </dgm:pt>
    <dgm:pt modelId="{2AE152E1-F853-4CE3-B82D-BE2CCDE4791C}" type="pres">
      <dgm:prSet presAssocID="{8BA6199A-C0EA-4B96-B1B8-E9ADD5290EE8}" presName="composite2" presStyleCnt="0"/>
      <dgm:spPr/>
    </dgm:pt>
    <dgm:pt modelId="{12A35265-7CCF-4DF9-A542-94D117CDBAA9}" type="pres">
      <dgm:prSet presAssocID="{8BA6199A-C0EA-4B96-B1B8-E9ADD5290EE8}" presName="background2" presStyleLbl="node2" presStyleIdx="2" presStyleCnt="3"/>
      <dgm:spPr/>
    </dgm:pt>
    <dgm:pt modelId="{51C25F71-480D-46EE-B801-EED0EF6E6DEE}" type="pres">
      <dgm:prSet presAssocID="{8BA6199A-C0EA-4B96-B1B8-E9ADD5290EE8}" presName="text2" presStyleLbl="fgAcc2" presStyleIdx="2" presStyleCnt="3">
        <dgm:presLayoutVars>
          <dgm:chPref val="3"/>
        </dgm:presLayoutVars>
      </dgm:prSet>
      <dgm:spPr/>
    </dgm:pt>
    <dgm:pt modelId="{520D2E67-1599-4C1C-AE72-82A6A5DE9E27}" type="pres">
      <dgm:prSet presAssocID="{8BA6199A-C0EA-4B96-B1B8-E9ADD5290EE8}" presName="hierChild3" presStyleCnt="0"/>
      <dgm:spPr/>
    </dgm:pt>
    <dgm:pt modelId="{CA020964-1F32-43E6-B936-81CF13074EC0}" type="pres">
      <dgm:prSet presAssocID="{48D52240-7A30-4191-9527-942DB7B5D68D}" presName="Name17" presStyleLbl="parChTrans1D3" presStyleIdx="2" presStyleCnt="3"/>
      <dgm:spPr/>
    </dgm:pt>
    <dgm:pt modelId="{680F926F-FE59-4259-8996-6F681B7738AF}" type="pres">
      <dgm:prSet presAssocID="{E590E0FA-045D-4288-9DBD-2951FB61E03A}" presName="hierRoot3" presStyleCnt="0"/>
      <dgm:spPr/>
    </dgm:pt>
    <dgm:pt modelId="{21B95B94-D4F3-4E29-B295-CCA1666B19AF}" type="pres">
      <dgm:prSet presAssocID="{E590E0FA-045D-4288-9DBD-2951FB61E03A}" presName="composite3" presStyleCnt="0"/>
      <dgm:spPr/>
    </dgm:pt>
    <dgm:pt modelId="{A7B36EF6-0531-4D88-AD91-884F6FA7718E}" type="pres">
      <dgm:prSet presAssocID="{E590E0FA-045D-4288-9DBD-2951FB61E03A}" presName="background3" presStyleLbl="node3" presStyleIdx="2" presStyleCnt="3"/>
      <dgm:spPr/>
    </dgm:pt>
    <dgm:pt modelId="{793AB332-C099-4DCD-8E34-D245DB6FEE42}" type="pres">
      <dgm:prSet presAssocID="{E590E0FA-045D-4288-9DBD-2951FB61E03A}" presName="text3" presStyleLbl="fgAcc3" presStyleIdx="2" presStyleCnt="3">
        <dgm:presLayoutVars>
          <dgm:chPref val="3"/>
        </dgm:presLayoutVars>
      </dgm:prSet>
      <dgm:spPr/>
    </dgm:pt>
    <dgm:pt modelId="{88C8880F-AB43-419F-BC50-F83790B9E255}" type="pres">
      <dgm:prSet presAssocID="{E590E0FA-045D-4288-9DBD-2951FB61E03A}" presName="hierChild4" presStyleCnt="0"/>
      <dgm:spPr/>
    </dgm:pt>
  </dgm:ptLst>
  <dgm:cxnLst>
    <dgm:cxn modelId="{0C554102-CBCA-41B1-B41D-5C5251093629}" type="presOf" srcId="{B7D9A717-9BA1-4A35-9708-D399FB8E6E98}" destId="{E72AB7DD-3E88-4FB0-BAE7-DBCE70CBC74D}" srcOrd="0" destOrd="0" presId="urn:microsoft.com/office/officeart/2005/8/layout/hierarchy1"/>
    <dgm:cxn modelId="{CE816102-1B6E-4BC5-BB1F-10A35D8D5FD7}" type="presOf" srcId="{2752F86E-4CB9-481C-A8A1-3F0945BD8406}" destId="{591E6E50-1F6D-498C-94B5-EEC48007B585}" srcOrd="0" destOrd="0" presId="urn:microsoft.com/office/officeart/2005/8/layout/hierarchy1"/>
    <dgm:cxn modelId="{28508F05-285E-49AA-A5A7-71317DD2F142}" srcId="{677958AC-2397-4AF2-BE18-11F76DFA274E}" destId="{8BA6199A-C0EA-4B96-B1B8-E9ADD5290EE8}" srcOrd="2" destOrd="0" parTransId="{FF6E8CB0-5BEC-45C5-B1E1-BD4D9EA42AD7}" sibTransId="{73FC42D4-6B27-46FF-A380-755C0D7D52D7}"/>
    <dgm:cxn modelId="{1882440A-DFB3-46B2-A793-4935797446B3}" type="presOf" srcId="{677958AC-2397-4AF2-BE18-11F76DFA274E}" destId="{30B83D9B-1FEE-4BE2-BAE4-465F4A8939B4}" srcOrd="0" destOrd="0" presId="urn:microsoft.com/office/officeart/2005/8/layout/hierarchy1"/>
    <dgm:cxn modelId="{B86E481B-DFAE-4198-9FCD-8A7E3454F966}" srcId="{677958AC-2397-4AF2-BE18-11F76DFA274E}" destId="{70F113B3-0B83-49A7-B02F-2091E915AD26}" srcOrd="0" destOrd="0" parTransId="{D9F77954-8504-4F72-B1E6-BF0A62A77F72}" sibTransId="{F28B01A6-5B8F-4CE9-85B5-5A02CBEEF73F}"/>
    <dgm:cxn modelId="{6C62FD5F-8012-4061-B158-B8493F929E5E}" type="presOf" srcId="{FF6E8CB0-5BEC-45C5-B1E1-BD4D9EA42AD7}" destId="{4D54B929-6250-40E8-A837-BC5D78E6C010}" srcOrd="0" destOrd="0" presId="urn:microsoft.com/office/officeart/2005/8/layout/hierarchy1"/>
    <dgm:cxn modelId="{BFD75970-2EF6-40AF-9955-90BFA2E1F0CE}" type="presOf" srcId="{48D52240-7A30-4191-9527-942DB7B5D68D}" destId="{CA020964-1F32-43E6-B936-81CF13074EC0}" srcOrd="0" destOrd="0" presId="urn:microsoft.com/office/officeart/2005/8/layout/hierarchy1"/>
    <dgm:cxn modelId="{EAD23653-8ABE-4B7A-8422-7F6DFEA8EC7D}" srcId="{A496D1D8-BF6D-4AE7-8304-EEA2DF4DBDD0}" destId="{4447AEF4-8924-4C7A-AC7C-4A233DC58F59}" srcOrd="0" destOrd="0" parTransId="{F8CBFB65-27DB-44E7-97B7-81620AF2C524}" sibTransId="{18765BB9-9A7C-42C4-A4A2-6FA8602EF3D2}"/>
    <dgm:cxn modelId="{07D06581-9656-4421-8695-60201B0CE71B}" type="presOf" srcId="{8BA6199A-C0EA-4B96-B1B8-E9ADD5290EE8}" destId="{51C25F71-480D-46EE-B801-EED0EF6E6DEE}" srcOrd="0" destOrd="0" presId="urn:microsoft.com/office/officeart/2005/8/layout/hierarchy1"/>
    <dgm:cxn modelId="{A0185498-18BF-4547-A83A-D09656330312}" srcId="{8BA6199A-C0EA-4B96-B1B8-E9ADD5290EE8}" destId="{E590E0FA-045D-4288-9DBD-2951FB61E03A}" srcOrd="0" destOrd="0" parTransId="{48D52240-7A30-4191-9527-942DB7B5D68D}" sibTransId="{044FA4BA-7D0B-4FCF-A927-6D3A5E86A466}"/>
    <dgm:cxn modelId="{F6654E9A-17F0-4F00-87F8-D7E8E8915071}" type="presOf" srcId="{E590E0FA-045D-4288-9DBD-2951FB61E03A}" destId="{793AB332-C099-4DCD-8E34-D245DB6FEE42}" srcOrd="0" destOrd="0" presId="urn:microsoft.com/office/officeart/2005/8/layout/hierarchy1"/>
    <dgm:cxn modelId="{53D3F99A-3299-45DA-9603-66A17D9A0FBC}" type="presOf" srcId="{4447AEF4-8924-4C7A-AC7C-4A233DC58F59}" destId="{0701E47A-E56F-4635-8FC5-0CC1DEB435FE}" srcOrd="0" destOrd="0" presId="urn:microsoft.com/office/officeart/2005/8/layout/hierarchy1"/>
    <dgm:cxn modelId="{754F6B9B-FA27-45CE-A649-0978137DC7AC}" srcId="{2752F86E-4CB9-481C-A8A1-3F0945BD8406}" destId="{677958AC-2397-4AF2-BE18-11F76DFA274E}" srcOrd="0" destOrd="0" parTransId="{68E0D891-DE3E-460D-8D6C-DBF9D5F95F2F}" sibTransId="{AFE0A892-61BA-4B59-AC4E-B65FE78C1ACE}"/>
    <dgm:cxn modelId="{7281DDA2-5219-4A81-8272-85C3D4868201}" type="presOf" srcId="{D9F77954-8504-4F72-B1E6-BF0A62A77F72}" destId="{B9BDA5B8-F102-4B52-AE2D-94EC873612AF}" srcOrd="0" destOrd="0" presId="urn:microsoft.com/office/officeart/2005/8/layout/hierarchy1"/>
    <dgm:cxn modelId="{5768BBBC-F081-44C8-BE1D-5492B270F895}" srcId="{677958AC-2397-4AF2-BE18-11F76DFA274E}" destId="{A496D1D8-BF6D-4AE7-8304-EEA2DF4DBDD0}" srcOrd="1" destOrd="0" parTransId="{09AA3B56-8407-474D-8F54-9A498AB6926E}" sibTransId="{A495D8AF-6480-474C-9A9E-33EF5B576DE8}"/>
    <dgm:cxn modelId="{17892FC0-2196-498D-9B60-2A22CEEC79A7}" type="presOf" srcId="{70F113B3-0B83-49A7-B02F-2091E915AD26}" destId="{24417B8C-CC34-417B-AB18-9914BB45085D}" srcOrd="0" destOrd="0" presId="urn:microsoft.com/office/officeart/2005/8/layout/hierarchy1"/>
    <dgm:cxn modelId="{C20F04CD-8A59-4415-B00D-0754E80CE990}" type="presOf" srcId="{ED74A6FC-D874-48C1-9E4E-166DB274636F}" destId="{5614AF8D-3273-45BB-B726-374789C5373D}" srcOrd="0" destOrd="0" presId="urn:microsoft.com/office/officeart/2005/8/layout/hierarchy1"/>
    <dgm:cxn modelId="{D86168D2-DAD3-4671-968E-74B9946AA6CB}" srcId="{70F113B3-0B83-49A7-B02F-2091E915AD26}" destId="{ED74A6FC-D874-48C1-9E4E-166DB274636F}" srcOrd="0" destOrd="0" parTransId="{B7D9A717-9BA1-4A35-9708-D399FB8E6E98}" sibTransId="{3EF3B43B-056A-47A9-AD9A-2C80109EA275}"/>
    <dgm:cxn modelId="{F7E01EDA-0649-4F2D-A860-1B9C2E3A659B}" type="presOf" srcId="{F8CBFB65-27DB-44E7-97B7-81620AF2C524}" destId="{B2435C29-CA66-491A-BCB0-6C6EEE4ED312}" srcOrd="0" destOrd="0" presId="urn:microsoft.com/office/officeart/2005/8/layout/hierarchy1"/>
    <dgm:cxn modelId="{79E1F5DE-2CA3-4C87-9384-8034802208CF}" type="presOf" srcId="{09AA3B56-8407-474D-8F54-9A498AB6926E}" destId="{51E81A34-978B-4AB2-8CA1-D0D9DBF8C98B}" srcOrd="0" destOrd="0" presId="urn:microsoft.com/office/officeart/2005/8/layout/hierarchy1"/>
    <dgm:cxn modelId="{3E214AE9-1374-4B14-A235-161B64610227}" type="presOf" srcId="{A496D1D8-BF6D-4AE7-8304-EEA2DF4DBDD0}" destId="{326CAC57-B7FC-43B1-819A-FB71E256B19E}" srcOrd="0" destOrd="0" presId="urn:microsoft.com/office/officeart/2005/8/layout/hierarchy1"/>
    <dgm:cxn modelId="{C9904EB9-6E98-483A-B7D8-94BE02937D1B}" type="presParOf" srcId="{591E6E50-1F6D-498C-94B5-EEC48007B585}" destId="{4013A1F8-C8E6-4692-8C2C-23B671CB5CBA}" srcOrd="0" destOrd="0" presId="urn:microsoft.com/office/officeart/2005/8/layout/hierarchy1"/>
    <dgm:cxn modelId="{38D1E843-B1A7-4AD0-B2D3-56D4A3E5A950}" type="presParOf" srcId="{4013A1F8-C8E6-4692-8C2C-23B671CB5CBA}" destId="{AED26C37-9AD9-43A8-AEA3-C8ED11031CE0}" srcOrd="0" destOrd="0" presId="urn:microsoft.com/office/officeart/2005/8/layout/hierarchy1"/>
    <dgm:cxn modelId="{98E06F25-4ABB-414D-8BAD-08141023FA02}" type="presParOf" srcId="{AED26C37-9AD9-43A8-AEA3-C8ED11031CE0}" destId="{41921C13-D17F-465D-B4B9-54B68712ED10}" srcOrd="0" destOrd="0" presId="urn:microsoft.com/office/officeart/2005/8/layout/hierarchy1"/>
    <dgm:cxn modelId="{3E4EECED-D151-48CA-99A5-76CFCA844F10}" type="presParOf" srcId="{AED26C37-9AD9-43A8-AEA3-C8ED11031CE0}" destId="{30B83D9B-1FEE-4BE2-BAE4-465F4A8939B4}" srcOrd="1" destOrd="0" presId="urn:microsoft.com/office/officeart/2005/8/layout/hierarchy1"/>
    <dgm:cxn modelId="{38182156-B390-41D5-AC86-8AB0B627C1EB}" type="presParOf" srcId="{4013A1F8-C8E6-4692-8C2C-23B671CB5CBA}" destId="{436B3C00-0E59-47A3-ADDE-1BE3A5F275E8}" srcOrd="1" destOrd="0" presId="urn:microsoft.com/office/officeart/2005/8/layout/hierarchy1"/>
    <dgm:cxn modelId="{A3A540D6-74AE-4266-8A93-42692D5EDDE7}" type="presParOf" srcId="{436B3C00-0E59-47A3-ADDE-1BE3A5F275E8}" destId="{B9BDA5B8-F102-4B52-AE2D-94EC873612AF}" srcOrd="0" destOrd="0" presId="urn:microsoft.com/office/officeart/2005/8/layout/hierarchy1"/>
    <dgm:cxn modelId="{15B23DB8-1F0E-4AF1-BF96-7C15E4374B15}" type="presParOf" srcId="{436B3C00-0E59-47A3-ADDE-1BE3A5F275E8}" destId="{F1DA2C67-9ED0-4F22-B4A8-5267E7CF067D}" srcOrd="1" destOrd="0" presId="urn:microsoft.com/office/officeart/2005/8/layout/hierarchy1"/>
    <dgm:cxn modelId="{B4B1C78A-0299-4F39-B869-0321795B8897}" type="presParOf" srcId="{F1DA2C67-9ED0-4F22-B4A8-5267E7CF067D}" destId="{535B78ED-E2E1-4F20-93A9-AFF1E48838DE}" srcOrd="0" destOrd="0" presId="urn:microsoft.com/office/officeart/2005/8/layout/hierarchy1"/>
    <dgm:cxn modelId="{DE9C59C9-2951-4C79-9445-A659A61B7AE6}" type="presParOf" srcId="{535B78ED-E2E1-4F20-93A9-AFF1E48838DE}" destId="{593626B4-A60B-46CD-B163-C9ED25C44C2A}" srcOrd="0" destOrd="0" presId="urn:microsoft.com/office/officeart/2005/8/layout/hierarchy1"/>
    <dgm:cxn modelId="{976F6108-8338-4CAB-B9CB-CC3EAECF1CA9}" type="presParOf" srcId="{535B78ED-E2E1-4F20-93A9-AFF1E48838DE}" destId="{24417B8C-CC34-417B-AB18-9914BB45085D}" srcOrd="1" destOrd="0" presId="urn:microsoft.com/office/officeart/2005/8/layout/hierarchy1"/>
    <dgm:cxn modelId="{4303A1F9-7D4A-4DF2-8D82-E4145918F43A}" type="presParOf" srcId="{F1DA2C67-9ED0-4F22-B4A8-5267E7CF067D}" destId="{76E5631C-E743-44A2-B759-DCEF38312282}" srcOrd="1" destOrd="0" presId="urn:microsoft.com/office/officeart/2005/8/layout/hierarchy1"/>
    <dgm:cxn modelId="{0D1F6C27-143E-4D33-B4E9-6F05E6004457}" type="presParOf" srcId="{76E5631C-E743-44A2-B759-DCEF38312282}" destId="{E72AB7DD-3E88-4FB0-BAE7-DBCE70CBC74D}" srcOrd="0" destOrd="0" presId="urn:microsoft.com/office/officeart/2005/8/layout/hierarchy1"/>
    <dgm:cxn modelId="{3426E5C1-A3B5-4056-9281-679D2A755AF5}" type="presParOf" srcId="{76E5631C-E743-44A2-B759-DCEF38312282}" destId="{01ED46B2-FDEA-457A-8A71-37DCD534E929}" srcOrd="1" destOrd="0" presId="urn:microsoft.com/office/officeart/2005/8/layout/hierarchy1"/>
    <dgm:cxn modelId="{DE4B12A1-D5AC-47E2-9397-DCA7254EE65B}" type="presParOf" srcId="{01ED46B2-FDEA-457A-8A71-37DCD534E929}" destId="{B59F459E-592E-4AF6-A816-B78971659A65}" srcOrd="0" destOrd="0" presId="urn:microsoft.com/office/officeart/2005/8/layout/hierarchy1"/>
    <dgm:cxn modelId="{B86E656A-5112-4983-9C48-69AB3CD4A1AC}" type="presParOf" srcId="{B59F459E-592E-4AF6-A816-B78971659A65}" destId="{F8AF5F54-3EDE-4BE0-85ED-7D5866A83646}" srcOrd="0" destOrd="0" presId="urn:microsoft.com/office/officeart/2005/8/layout/hierarchy1"/>
    <dgm:cxn modelId="{833662D6-DCDB-43C8-8BE5-7CF9754E1767}" type="presParOf" srcId="{B59F459E-592E-4AF6-A816-B78971659A65}" destId="{5614AF8D-3273-45BB-B726-374789C5373D}" srcOrd="1" destOrd="0" presId="urn:microsoft.com/office/officeart/2005/8/layout/hierarchy1"/>
    <dgm:cxn modelId="{8516F30B-30B8-4CAB-92E3-CDB3F3D35785}" type="presParOf" srcId="{01ED46B2-FDEA-457A-8A71-37DCD534E929}" destId="{C38F2B32-5268-4B3B-A473-51D5E33238E5}" srcOrd="1" destOrd="0" presId="urn:microsoft.com/office/officeart/2005/8/layout/hierarchy1"/>
    <dgm:cxn modelId="{B2197B57-990E-428A-82EB-E40D44156517}" type="presParOf" srcId="{436B3C00-0E59-47A3-ADDE-1BE3A5F275E8}" destId="{51E81A34-978B-4AB2-8CA1-D0D9DBF8C98B}" srcOrd="2" destOrd="0" presId="urn:microsoft.com/office/officeart/2005/8/layout/hierarchy1"/>
    <dgm:cxn modelId="{F295189D-CAF9-4AEA-A294-8F26A85D4806}" type="presParOf" srcId="{436B3C00-0E59-47A3-ADDE-1BE3A5F275E8}" destId="{2252611C-10BE-408E-B58A-FDAF3EFD7622}" srcOrd="3" destOrd="0" presId="urn:microsoft.com/office/officeart/2005/8/layout/hierarchy1"/>
    <dgm:cxn modelId="{1F7C6B28-0163-4144-804F-06405425B48C}" type="presParOf" srcId="{2252611C-10BE-408E-B58A-FDAF3EFD7622}" destId="{D456C252-EA77-40B5-8EC3-CF6B5EF4ADDB}" srcOrd="0" destOrd="0" presId="urn:microsoft.com/office/officeart/2005/8/layout/hierarchy1"/>
    <dgm:cxn modelId="{A1B17FC4-3E38-4241-A907-6758A9A6F388}" type="presParOf" srcId="{D456C252-EA77-40B5-8EC3-CF6B5EF4ADDB}" destId="{15F72ADD-B4A0-4113-833E-21B9AAE56B6D}" srcOrd="0" destOrd="0" presId="urn:microsoft.com/office/officeart/2005/8/layout/hierarchy1"/>
    <dgm:cxn modelId="{2587937A-5B98-475C-BA7D-D81A3ED093E3}" type="presParOf" srcId="{D456C252-EA77-40B5-8EC3-CF6B5EF4ADDB}" destId="{326CAC57-B7FC-43B1-819A-FB71E256B19E}" srcOrd="1" destOrd="0" presId="urn:microsoft.com/office/officeart/2005/8/layout/hierarchy1"/>
    <dgm:cxn modelId="{F5230DB7-5312-4024-9018-8C7F5970E0BE}" type="presParOf" srcId="{2252611C-10BE-408E-B58A-FDAF3EFD7622}" destId="{852B4447-4D1B-4BBB-84B7-E20454166C51}" srcOrd="1" destOrd="0" presId="urn:microsoft.com/office/officeart/2005/8/layout/hierarchy1"/>
    <dgm:cxn modelId="{AAE6A47C-D705-4CA3-BE5C-40A8D1C8D6AB}" type="presParOf" srcId="{852B4447-4D1B-4BBB-84B7-E20454166C51}" destId="{B2435C29-CA66-491A-BCB0-6C6EEE4ED312}" srcOrd="0" destOrd="0" presId="urn:microsoft.com/office/officeart/2005/8/layout/hierarchy1"/>
    <dgm:cxn modelId="{0301AF27-A6D5-47CE-904A-C260F6D05328}" type="presParOf" srcId="{852B4447-4D1B-4BBB-84B7-E20454166C51}" destId="{06479AA2-E99D-4113-BF48-607A4BDFB1DC}" srcOrd="1" destOrd="0" presId="urn:microsoft.com/office/officeart/2005/8/layout/hierarchy1"/>
    <dgm:cxn modelId="{8ABED34C-8114-4643-A9BE-6ABD25C4BA50}" type="presParOf" srcId="{06479AA2-E99D-4113-BF48-607A4BDFB1DC}" destId="{522047BD-13D2-437A-8925-D23B04B2ACD6}" srcOrd="0" destOrd="0" presId="urn:microsoft.com/office/officeart/2005/8/layout/hierarchy1"/>
    <dgm:cxn modelId="{56B5A487-460F-47CE-BAA5-E1E044AE1424}" type="presParOf" srcId="{522047BD-13D2-437A-8925-D23B04B2ACD6}" destId="{E218DA27-B74D-459A-BED1-D0157E7B8D74}" srcOrd="0" destOrd="0" presId="urn:microsoft.com/office/officeart/2005/8/layout/hierarchy1"/>
    <dgm:cxn modelId="{BE82B64C-5AF8-4521-B161-477B03C36617}" type="presParOf" srcId="{522047BD-13D2-437A-8925-D23B04B2ACD6}" destId="{0701E47A-E56F-4635-8FC5-0CC1DEB435FE}" srcOrd="1" destOrd="0" presId="urn:microsoft.com/office/officeart/2005/8/layout/hierarchy1"/>
    <dgm:cxn modelId="{451D31BF-57E3-41AA-84D2-6DC0CAB88C94}" type="presParOf" srcId="{06479AA2-E99D-4113-BF48-607A4BDFB1DC}" destId="{F0B14631-4CE1-42CA-984D-C5DDD4F7B8D5}" srcOrd="1" destOrd="0" presId="urn:microsoft.com/office/officeart/2005/8/layout/hierarchy1"/>
    <dgm:cxn modelId="{9E4EE34B-7137-48D2-9D27-05BF2121BCA7}" type="presParOf" srcId="{436B3C00-0E59-47A3-ADDE-1BE3A5F275E8}" destId="{4D54B929-6250-40E8-A837-BC5D78E6C010}" srcOrd="4" destOrd="0" presId="urn:microsoft.com/office/officeart/2005/8/layout/hierarchy1"/>
    <dgm:cxn modelId="{6B5DD27A-6757-4C8D-A054-4FD44A96D7E3}" type="presParOf" srcId="{436B3C00-0E59-47A3-ADDE-1BE3A5F275E8}" destId="{FC620FE3-74DB-4551-8B5D-788E68A64104}" srcOrd="5" destOrd="0" presId="urn:microsoft.com/office/officeart/2005/8/layout/hierarchy1"/>
    <dgm:cxn modelId="{4081C4BB-1B80-44C8-BE9F-4B795DA6E4CD}" type="presParOf" srcId="{FC620FE3-74DB-4551-8B5D-788E68A64104}" destId="{2AE152E1-F853-4CE3-B82D-BE2CCDE4791C}" srcOrd="0" destOrd="0" presId="urn:microsoft.com/office/officeart/2005/8/layout/hierarchy1"/>
    <dgm:cxn modelId="{656DD474-7907-42AA-BBB6-E37453130D06}" type="presParOf" srcId="{2AE152E1-F853-4CE3-B82D-BE2CCDE4791C}" destId="{12A35265-7CCF-4DF9-A542-94D117CDBAA9}" srcOrd="0" destOrd="0" presId="urn:microsoft.com/office/officeart/2005/8/layout/hierarchy1"/>
    <dgm:cxn modelId="{53E79FB0-05F5-4BB1-918B-F71C2962F65D}" type="presParOf" srcId="{2AE152E1-F853-4CE3-B82D-BE2CCDE4791C}" destId="{51C25F71-480D-46EE-B801-EED0EF6E6DEE}" srcOrd="1" destOrd="0" presId="urn:microsoft.com/office/officeart/2005/8/layout/hierarchy1"/>
    <dgm:cxn modelId="{A09F4309-C9A5-4A91-BE38-36208045C839}" type="presParOf" srcId="{FC620FE3-74DB-4551-8B5D-788E68A64104}" destId="{520D2E67-1599-4C1C-AE72-82A6A5DE9E27}" srcOrd="1" destOrd="0" presId="urn:microsoft.com/office/officeart/2005/8/layout/hierarchy1"/>
    <dgm:cxn modelId="{09EFE975-A136-4A2E-968E-6A10741387F6}" type="presParOf" srcId="{520D2E67-1599-4C1C-AE72-82A6A5DE9E27}" destId="{CA020964-1F32-43E6-B936-81CF13074EC0}" srcOrd="0" destOrd="0" presId="urn:microsoft.com/office/officeart/2005/8/layout/hierarchy1"/>
    <dgm:cxn modelId="{4E83808B-7332-4F32-B9E2-37C77702C602}" type="presParOf" srcId="{520D2E67-1599-4C1C-AE72-82A6A5DE9E27}" destId="{680F926F-FE59-4259-8996-6F681B7738AF}" srcOrd="1" destOrd="0" presId="urn:microsoft.com/office/officeart/2005/8/layout/hierarchy1"/>
    <dgm:cxn modelId="{0593A7F9-411D-4F14-8554-4AF020169A19}" type="presParOf" srcId="{680F926F-FE59-4259-8996-6F681B7738AF}" destId="{21B95B94-D4F3-4E29-B295-CCA1666B19AF}" srcOrd="0" destOrd="0" presId="urn:microsoft.com/office/officeart/2005/8/layout/hierarchy1"/>
    <dgm:cxn modelId="{EA4A58F6-E0B0-4FB8-9772-542F5612598D}" type="presParOf" srcId="{21B95B94-D4F3-4E29-B295-CCA1666B19AF}" destId="{A7B36EF6-0531-4D88-AD91-884F6FA7718E}" srcOrd="0" destOrd="0" presId="urn:microsoft.com/office/officeart/2005/8/layout/hierarchy1"/>
    <dgm:cxn modelId="{C97A393A-78AB-449A-9B66-6284DA132A3D}" type="presParOf" srcId="{21B95B94-D4F3-4E29-B295-CCA1666B19AF}" destId="{793AB332-C099-4DCD-8E34-D245DB6FEE42}" srcOrd="1" destOrd="0" presId="urn:microsoft.com/office/officeart/2005/8/layout/hierarchy1"/>
    <dgm:cxn modelId="{8B5D9FA3-3FFE-4AC2-809F-0CD463072272}" type="presParOf" srcId="{680F926F-FE59-4259-8996-6F681B7738AF}" destId="{88C8880F-AB43-419F-BC50-F83790B9E255}"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3B191E51-9B39-424C-BC1F-862C55D8ACBE}"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FC81B20B-BFC0-4569-9E36-4D1D9376DFE3}">
      <dgm:prSet/>
      <dgm:spPr/>
      <dgm:t>
        <a:bodyPr/>
        <a:lstStyle/>
        <a:p>
          <a:pPr>
            <a:lnSpc>
              <a:spcPct val="100000"/>
            </a:lnSpc>
          </a:pPr>
          <a:r>
            <a:rPr lang="en-GB"/>
            <a:t>Money Loosing Firm</a:t>
          </a:r>
          <a:endParaRPr lang="en-US"/>
        </a:p>
      </dgm:t>
    </dgm:pt>
    <dgm:pt modelId="{71AA6F82-D20B-4E2D-8CD6-F3922D613B68}" type="parTrans" cxnId="{EF8F22CB-4423-4959-B219-7EBD3B584CC1}">
      <dgm:prSet/>
      <dgm:spPr/>
      <dgm:t>
        <a:bodyPr/>
        <a:lstStyle/>
        <a:p>
          <a:endParaRPr lang="en-US"/>
        </a:p>
      </dgm:t>
    </dgm:pt>
    <dgm:pt modelId="{83DA97D3-D553-43F2-A865-20F47999C831}" type="sibTrans" cxnId="{EF8F22CB-4423-4959-B219-7EBD3B584CC1}">
      <dgm:prSet/>
      <dgm:spPr/>
      <dgm:t>
        <a:bodyPr/>
        <a:lstStyle/>
        <a:p>
          <a:endParaRPr lang="en-US"/>
        </a:p>
      </dgm:t>
    </dgm:pt>
    <dgm:pt modelId="{08F0CDB3-C9EF-4ADE-A3B0-21895A69F705}">
      <dgm:prSet/>
      <dgm:spPr/>
      <dgm:t>
        <a:bodyPr/>
        <a:lstStyle/>
        <a:p>
          <a:pPr>
            <a:lnSpc>
              <a:spcPct val="100000"/>
            </a:lnSpc>
          </a:pPr>
          <a:r>
            <a:rPr lang="en-GB"/>
            <a:t>Example Operating Leases</a:t>
          </a:r>
          <a:endParaRPr lang="en-US"/>
        </a:p>
      </dgm:t>
    </dgm:pt>
    <dgm:pt modelId="{08FF124B-B4A0-423D-AE55-87C10B51FA36}" type="parTrans" cxnId="{454A2FBE-B0C8-4DB7-811D-063C793A14C8}">
      <dgm:prSet/>
      <dgm:spPr/>
      <dgm:t>
        <a:bodyPr/>
        <a:lstStyle/>
        <a:p>
          <a:endParaRPr lang="en-US"/>
        </a:p>
      </dgm:t>
    </dgm:pt>
    <dgm:pt modelId="{1CFBA7EB-FE4F-43A7-B60F-510E27BF4ABB}" type="sibTrans" cxnId="{454A2FBE-B0C8-4DB7-811D-063C793A14C8}">
      <dgm:prSet/>
      <dgm:spPr/>
      <dgm:t>
        <a:bodyPr/>
        <a:lstStyle/>
        <a:p>
          <a:endParaRPr lang="en-US"/>
        </a:p>
      </dgm:t>
    </dgm:pt>
    <dgm:pt modelId="{7236C395-26D9-4289-A694-94FF9906746C}">
      <dgm:prSet/>
      <dgm:spPr/>
      <dgm:t>
        <a:bodyPr/>
        <a:lstStyle/>
        <a:p>
          <a:pPr>
            <a:lnSpc>
              <a:spcPct val="100000"/>
            </a:lnSpc>
          </a:pPr>
          <a:r>
            <a:rPr lang="en-GB"/>
            <a:t>Example R&amp;D Capitalization </a:t>
          </a:r>
          <a:endParaRPr lang="en-US"/>
        </a:p>
      </dgm:t>
    </dgm:pt>
    <dgm:pt modelId="{0BE1273A-4FFE-4535-9C94-7C6ADD255559}" type="parTrans" cxnId="{05C2B98F-BB7E-428A-960C-C79863E4388E}">
      <dgm:prSet/>
      <dgm:spPr/>
      <dgm:t>
        <a:bodyPr/>
        <a:lstStyle/>
        <a:p>
          <a:endParaRPr lang="en-US"/>
        </a:p>
      </dgm:t>
    </dgm:pt>
    <dgm:pt modelId="{A991A131-BA23-4DB3-88FC-E8C8DE43816D}" type="sibTrans" cxnId="{05C2B98F-BB7E-428A-960C-C79863E4388E}">
      <dgm:prSet/>
      <dgm:spPr/>
      <dgm:t>
        <a:bodyPr/>
        <a:lstStyle/>
        <a:p>
          <a:endParaRPr lang="en-US"/>
        </a:p>
      </dgm:t>
    </dgm:pt>
    <dgm:pt modelId="{0018731C-46CD-4FFA-98F9-A9E3EE5C30A3}" type="pres">
      <dgm:prSet presAssocID="{3B191E51-9B39-424C-BC1F-862C55D8ACBE}" presName="root" presStyleCnt="0">
        <dgm:presLayoutVars>
          <dgm:dir/>
          <dgm:resizeHandles val="exact"/>
        </dgm:presLayoutVars>
      </dgm:prSet>
      <dgm:spPr/>
    </dgm:pt>
    <dgm:pt modelId="{D8A12A60-2605-4223-9530-1FA23365AE32}" type="pres">
      <dgm:prSet presAssocID="{FC81B20B-BFC0-4569-9E36-4D1D9376DFE3}" presName="compNode" presStyleCnt="0"/>
      <dgm:spPr/>
    </dgm:pt>
    <dgm:pt modelId="{5A7CCBD7-75F1-446B-B155-522B7C1B15EF}" type="pres">
      <dgm:prSet presAssocID="{FC81B20B-BFC0-4569-9E36-4D1D9376DFE3}"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Money"/>
        </a:ext>
      </dgm:extLst>
    </dgm:pt>
    <dgm:pt modelId="{DD017D63-FD29-450A-A30A-0A4A4C3AFCED}" type="pres">
      <dgm:prSet presAssocID="{FC81B20B-BFC0-4569-9E36-4D1D9376DFE3}" presName="spaceRect" presStyleCnt="0"/>
      <dgm:spPr/>
    </dgm:pt>
    <dgm:pt modelId="{7C49D5B0-91D8-4E77-97E6-5906E439BA7B}" type="pres">
      <dgm:prSet presAssocID="{FC81B20B-BFC0-4569-9E36-4D1D9376DFE3}" presName="textRect" presStyleLbl="revTx" presStyleIdx="0" presStyleCnt="3">
        <dgm:presLayoutVars>
          <dgm:chMax val="1"/>
          <dgm:chPref val="1"/>
        </dgm:presLayoutVars>
      </dgm:prSet>
      <dgm:spPr/>
    </dgm:pt>
    <dgm:pt modelId="{320E3E1B-BE97-471A-9F3C-DD0CA0C834D7}" type="pres">
      <dgm:prSet presAssocID="{83DA97D3-D553-43F2-A865-20F47999C831}" presName="sibTrans" presStyleCnt="0"/>
      <dgm:spPr/>
    </dgm:pt>
    <dgm:pt modelId="{3E09FCA4-0F57-4856-AEF0-99788C78D964}" type="pres">
      <dgm:prSet presAssocID="{08F0CDB3-C9EF-4ADE-A3B0-21895A69F705}" presName="compNode" presStyleCnt="0"/>
      <dgm:spPr/>
    </dgm:pt>
    <dgm:pt modelId="{AECB483A-73A1-48DE-AD90-50B4F44E6032}" type="pres">
      <dgm:prSet presAssocID="{08F0CDB3-C9EF-4ADE-A3B0-21895A69F705}"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cument"/>
        </a:ext>
      </dgm:extLst>
    </dgm:pt>
    <dgm:pt modelId="{57491353-B20B-4EE3-A55A-91F128B352D7}" type="pres">
      <dgm:prSet presAssocID="{08F0CDB3-C9EF-4ADE-A3B0-21895A69F705}" presName="spaceRect" presStyleCnt="0"/>
      <dgm:spPr/>
    </dgm:pt>
    <dgm:pt modelId="{3D2DFD80-C357-4ED8-8C7E-626F5AA57986}" type="pres">
      <dgm:prSet presAssocID="{08F0CDB3-C9EF-4ADE-A3B0-21895A69F705}" presName="textRect" presStyleLbl="revTx" presStyleIdx="1" presStyleCnt="3">
        <dgm:presLayoutVars>
          <dgm:chMax val="1"/>
          <dgm:chPref val="1"/>
        </dgm:presLayoutVars>
      </dgm:prSet>
      <dgm:spPr/>
    </dgm:pt>
    <dgm:pt modelId="{282D66CE-B52F-49B7-95DD-14954D692EE9}" type="pres">
      <dgm:prSet presAssocID="{1CFBA7EB-FE4F-43A7-B60F-510E27BF4ABB}" presName="sibTrans" presStyleCnt="0"/>
      <dgm:spPr/>
    </dgm:pt>
    <dgm:pt modelId="{DF3B0FD7-0E55-4C58-AF95-010C5C9F902E}" type="pres">
      <dgm:prSet presAssocID="{7236C395-26D9-4289-A694-94FF9906746C}" presName="compNode" presStyleCnt="0"/>
      <dgm:spPr/>
    </dgm:pt>
    <dgm:pt modelId="{C2006855-F484-4627-A799-682EABB985F5}" type="pres">
      <dgm:prSet presAssocID="{7236C395-26D9-4289-A694-94FF9906746C}"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Coins"/>
        </a:ext>
      </dgm:extLst>
    </dgm:pt>
    <dgm:pt modelId="{4932653C-FCC2-40C5-85B1-A23A43272C20}" type="pres">
      <dgm:prSet presAssocID="{7236C395-26D9-4289-A694-94FF9906746C}" presName="spaceRect" presStyleCnt="0"/>
      <dgm:spPr/>
    </dgm:pt>
    <dgm:pt modelId="{D0BFE932-DFAA-468A-A4FB-BDEA0A387223}" type="pres">
      <dgm:prSet presAssocID="{7236C395-26D9-4289-A694-94FF9906746C}" presName="textRect" presStyleLbl="revTx" presStyleIdx="2" presStyleCnt="3">
        <dgm:presLayoutVars>
          <dgm:chMax val="1"/>
          <dgm:chPref val="1"/>
        </dgm:presLayoutVars>
      </dgm:prSet>
      <dgm:spPr/>
    </dgm:pt>
  </dgm:ptLst>
  <dgm:cxnLst>
    <dgm:cxn modelId="{F6DDFB2F-7031-481E-B73A-642378F141B4}" type="presOf" srcId="{7236C395-26D9-4289-A694-94FF9906746C}" destId="{D0BFE932-DFAA-468A-A4FB-BDEA0A387223}" srcOrd="0" destOrd="0" presId="urn:microsoft.com/office/officeart/2018/2/layout/IconLabelList"/>
    <dgm:cxn modelId="{2C864F3E-CCC3-4167-8351-4426FD51FC40}" type="presOf" srcId="{3B191E51-9B39-424C-BC1F-862C55D8ACBE}" destId="{0018731C-46CD-4FFA-98F9-A9E3EE5C30A3}" srcOrd="0" destOrd="0" presId="urn:microsoft.com/office/officeart/2018/2/layout/IconLabelList"/>
    <dgm:cxn modelId="{702E1E86-14B7-430D-9D69-0A6C75C5A1EA}" type="presOf" srcId="{08F0CDB3-C9EF-4ADE-A3B0-21895A69F705}" destId="{3D2DFD80-C357-4ED8-8C7E-626F5AA57986}" srcOrd="0" destOrd="0" presId="urn:microsoft.com/office/officeart/2018/2/layout/IconLabelList"/>
    <dgm:cxn modelId="{05C2B98F-BB7E-428A-960C-C79863E4388E}" srcId="{3B191E51-9B39-424C-BC1F-862C55D8ACBE}" destId="{7236C395-26D9-4289-A694-94FF9906746C}" srcOrd="2" destOrd="0" parTransId="{0BE1273A-4FFE-4535-9C94-7C6ADD255559}" sibTransId="{A991A131-BA23-4DB3-88FC-E8C8DE43816D}"/>
    <dgm:cxn modelId="{454A2FBE-B0C8-4DB7-811D-063C793A14C8}" srcId="{3B191E51-9B39-424C-BC1F-862C55D8ACBE}" destId="{08F0CDB3-C9EF-4ADE-A3B0-21895A69F705}" srcOrd="1" destOrd="0" parTransId="{08FF124B-B4A0-423D-AE55-87C10B51FA36}" sibTransId="{1CFBA7EB-FE4F-43A7-B60F-510E27BF4ABB}"/>
    <dgm:cxn modelId="{8F34AFBE-134B-4E64-9AF5-9DB7024239FC}" type="presOf" srcId="{FC81B20B-BFC0-4569-9E36-4D1D9376DFE3}" destId="{7C49D5B0-91D8-4E77-97E6-5906E439BA7B}" srcOrd="0" destOrd="0" presId="urn:microsoft.com/office/officeart/2018/2/layout/IconLabelList"/>
    <dgm:cxn modelId="{EF8F22CB-4423-4959-B219-7EBD3B584CC1}" srcId="{3B191E51-9B39-424C-BC1F-862C55D8ACBE}" destId="{FC81B20B-BFC0-4569-9E36-4D1D9376DFE3}" srcOrd="0" destOrd="0" parTransId="{71AA6F82-D20B-4E2D-8CD6-F3922D613B68}" sibTransId="{83DA97D3-D553-43F2-A865-20F47999C831}"/>
    <dgm:cxn modelId="{4BF7FC19-71B6-458B-A7C1-B025E3DABDFD}" type="presParOf" srcId="{0018731C-46CD-4FFA-98F9-A9E3EE5C30A3}" destId="{D8A12A60-2605-4223-9530-1FA23365AE32}" srcOrd="0" destOrd="0" presId="urn:microsoft.com/office/officeart/2018/2/layout/IconLabelList"/>
    <dgm:cxn modelId="{5E677376-71CF-43AA-8184-3F0AE2363FF2}" type="presParOf" srcId="{D8A12A60-2605-4223-9530-1FA23365AE32}" destId="{5A7CCBD7-75F1-446B-B155-522B7C1B15EF}" srcOrd="0" destOrd="0" presId="urn:microsoft.com/office/officeart/2018/2/layout/IconLabelList"/>
    <dgm:cxn modelId="{28154132-72C2-4FA8-AD93-EEB9C5CAB515}" type="presParOf" srcId="{D8A12A60-2605-4223-9530-1FA23365AE32}" destId="{DD017D63-FD29-450A-A30A-0A4A4C3AFCED}" srcOrd="1" destOrd="0" presId="urn:microsoft.com/office/officeart/2018/2/layout/IconLabelList"/>
    <dgm:cxn modelId="{BDB17453-7F4B-4A4B-8C03-BF1E7889D077}" type="presParOf" srcId="{D8A12A60-2605-4223-9530-1FA23365AE32}" destId="{7C49D5B0-91D8-4E77-97E6-5906E439BA7B}" srcOrd="2" destOrd="0" presId="urn:microsoft.com/office/officeart/2018/2/layout/IconLabelList"/>
    <dgm:cxn modelId="{7259181C-F68A-466A-A147-9BD4DA56E9CF}" type="presParOf" srcId="{0018731C-46CD-4FFA-98F9-A9E3EE5C30A3}" destId="{320E3E1B-BE97-471A-9F3C-DD0CA0C834D7}" srcOrd="1" destOrd="0" presId="urn:microsoft.com/office/officeart/2018/2/layout/IconLabelList"/>
    <dgm:cxn modelId="{7F40D135-5EB3-4180-BD2F-8C98D9786A09}" type="presParOf" srcId="{0018731C-46CD-4FFA-98F9-A9E3EE5C30A3}" destId="{3E09FCA4-0F57-4856-AEF0-99788C78D964}" srcOrd="2" destOrd="0" presId="urn:microsoft.com/office/officeart/2018/2/layout/IconLabelList"/>
    <dgm:cxn modelId="{C69DD8D9-155E-41C7-96E4-781AE40CEB5C}" type="presParOf" srcId="{3E09FCA4-0F57-4856-AEF0-99788C78D964}" destId="{AECB483A-73A1-48DE-AD90-50B4F44E6032}" srcOrd="0" destOrd="0" presId="urn:microsoft.com/office/officeart/2018/2/layout/IconLabelList"/>
    <dgm:cxn modelId="{A54B92E6-2675-48CF-8C3E-800F2555F614}" type="presParOf" srcId="{3E09FCA4-0F57-4856-AEF0-99788C78D964}" destId="{57491353-B20B-4EE3-A55A-91F128B352D7}" srcOrd="1" destOrd="0" presId="urn:microsoft.com/office/officeart/2018/2/layout/IconLabelList"/>
    <dgm:cxn modelId="{C0F47808-07CD-4813-8239-3D05FC9C3594}" type="presParOf" srcId="{3E09FCA4-0F57-4856-AEF0-99788C78D964}" destId="{3D2DFD80-C357-4ED8-8C7E-626F5AA57986}" srcOrd="2" destOrd="0" presId="urn:microsoft.com/office/officeart/2018/2/layout/IconLabelList"/>
    <dgm:cxn modelId="{1A51CB63-0E3A-48F9-AD9D-95BB1F48AD04}" type="presParOf" srcId="{0018731C-46CD-4FFA-98F9-A9E3EE5C30A3}" destId="{282D66CE-B52F-49B7-95DD-14954D692EE9}" srcOrd="3" destOrd="0" presId="urn:microsoft.com/office/officeart/2018/2/layout/IconLabelList"/>
    <dgm:cxn modelId="{A2E1AE7C-A45D-4B59-82AA-E93BF2264474}" type="presParOf" srcId="{0018731C-46CD-4FFA-98F9-A9E3EE5C30A3}" destId="{DF3B0FD7-0E55-4C58-AF95-010C5C9F902E}" srcOrd="4" destOrd="0" presId="urn:microsoft.com/office/officeart/2018/2/layout/IconLabelList"/>
    <dgm:cxn modelId="{25811C58-86DB-45DA-95FB-EC21A7F251BA}" type="presParOf" srcId="{DF3B0FD7-0E55-4C58-AF95-010C5C9F902E}" destId="{C2006855-F484-4627-A799-682EABB985F5}" srcOrd="0" destOrd="0" presId="urn:microsoft.com/office/officeart/2018/2/layout/IconLabelList"/>
    <dgm:cxn modelId="{5A79847C-0505-43E4-A88A-0BE71F8503A1}" type="presParOf" srcId="{DF3B0FD7-0E55-4C58-AF95-010C5C9F902E}" destId="{4932653C-FCC2-40C5-85B1-A23A43272C20}" srcOrd="1" destOrd="0" presId="urn:microsoft.com/office/officeart/2018/2/layout/IconLabelList"/>
    <dgm:cxn modelId="{E45BE9E2-D040-41F6-8086-160452D2CB47}" type="presParOf" srcId="{DF3B0FD7-0E55-4C58-AF95-010C5C9F902E}" destId="{D0BFE932-DFAA-468A-A4FB-BDEA0A387223}"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42E82414-CD06-4CF0-9870-50189350880B}" type="doc">
      <dgm:prSet loTypeId="urn:microsoft.com/office/officeart/2005/8/layout/vList2" loCatId="list" qsTypeId="urn:microsoft.com/office/officeart/2005/8/quickstyle/3d1" qsCatId="3D" csTypeId="urn:microsoft.com/office/officeart/2005/8/colors/accent1_2" csCatId="accent1" phldr="1"/>
      <dgm:spPr/>
      <dgm:t>
        <a:bodyPr/>
        <a:lstStyle/>
        <a:p>
          <a:endParaRPr lang="en-GB"/>
        </a:p>
      </dgm:t>
    </dgm:pt>
    <dgm:pt modelId="{4F406FC9-A612-4FD1-8671-B3EDAAA9947E}">
      <dgm:prSet/>
      <dgm:spPr/>
      <dgm:t>
        <a:bodyPr/>
        <a:lstStyle/>
        <a:p>
          <a:pPr rtl="0"/>
          <a:r>
            <a:rPr lang="en-US" dirty="0"/>
            <a:t>Step 1: Estimate growth rates in revenues over time</a:t>
          </a:r>
          <a:endParaRPr lang="en-GB" dirty="0"/>
        </a:p>
      </dgm:t>
    </dgm:pt>
    <dgm:pt modelId="{5125CDC7-5E3A-4E64-AEA9-979BA0266D3D}" type="parTrans" cxnId="{A129EDC0-5434-4D43-AF83-E9D70690C73F}">
      <dgm:prSet/>
      <dgm:spPr/>
      <dgm:t>
        <a:bodyPr/>
        <a:lstStyle/>
        <a:p>
          <a:endParaRPr lang="en-GB"/>
        </a:p>
      </dgm:t>
    </dgm:pt>
    <dgm:pt modelId="{CC050B08-187A-4D87-B6BC-912C1D56282B}" type="sibTrans" cxnId="{A129EDC0-5434-4D43-AF83-E9D70690C73F}">
      <dgm:prSet/>
      <dgm:spPr/>
      <dgm:t>
        <a:bodyPr/>
        <a:lstStyle/>
        <a:p>
          <a:endParaRPr lang="en-GB"/>
        </a:p>
      </dgm:t>
    </dgm:pt>
    <dgm:pt modelId="{3571475C-E89C-4BA6-B312-83443D4E8FD1}">
      <dgm:prSet/>
      <dgm:spPr/>
      <dgm:t>
        <a:bodyPr/>
        <a:lstStyle/>
        <a:p>
          <a:pPr rtl="0"/>
          <a:r>
            <a:rPr lang="en-US" dirty="0"/>
            <a:t>Use historical revenue growth to get estimates of revenue growth in the near future</a:t>
          </a:r>
          <a:endParaRPr lang="en-GB" dirty="0"/>
        </a:p>
      </dgm:t>
    </dgm:pt>
    <dgm:pt modelId="{635A781E-4A91-4335-99DC-1B29440261C4}" type="parTrans" cxnId="{6DFFA03F-74D1-4882-830D-F248B98BA94F}">
      <dgm:prSet/>
      <dgm:spPr/>
      <dgm:t>
        <a:bodyPr/>
        <a:lstStyle/>
        <a:p>
          <a:endParaRPr lang="en-GB"/>
        </a:p>
      </dgm:t>
    </dgm:pt>
    <dgm:pt modelId="{49491C32-2A2A-4840-8203-58568ABFE547}" type="sibTrans" cxnId="{6DFFA03F-74D1-4882-830D-F248B98BA94F}">
      <dgm:prSet/>
      <dgm:spPr/>
      <dgm:t>
        <a:bodyPr/>
        <a:lstStyle/>
        <a:p>
          <a:endParaRPr lang="en-GB"/>
        </a:p>
      </dgm:t>
    </dgm:pt>
    <dgm:pt modelId="{EF66B607-52BC-4B42-A52E-0207E792C3F5}">
      <dgm:prSet/>
      <dgm:spPr/>
      <dgm:t>
        <a:bodyPr/>
        <a:lstStyle/>
        <a:p>
          <a:pPr rtl="0"/>
          <a:r>
            <a:rPr lang="en-US"/>
            <a:t>Decrease the growth rate as the firm becomes larger</a:t>
          </a:r>
          <a:endParaRPr lang="en-GB"/>
        </a:p>
      </dgm:t>
    </dgm:pt>
    <dgm:pt modelId="{B88C8BCB-52B1-4056-AC01-42882028E7DE}" type="parTrans" cxnId="{6823EDC2-3AA4-4365-8ED3-B556987CD0E7}">
      <dgm:prSet/>
      <dgm:spPr/>
      <dgm:t>
        <a:bodyPr/>
        <a:lstStyle/>
        <a:p>
          <a:endParaRPr lang="en-GB"/>
        </a:p>
      </dgm:t>
    </dgm:pt>
    <dgm:pt modelId="{0494E0B9-40B2-444F-B930-27D0E3E8885C}" type="sibTrans" cxnId="{6823EDC2-3AA4-4365-8ED3-B556987CD0E7}">
      <dgm:prSet/>
      <dgm:spPr/>
      <dgm:t>
        <a:bodyPr/>
        <a:lstStyle/>
        <a:p>
          <a:endParaRPr lang="en-GB"/>
        </a:p>
      </dgm:t>
    </dgm:pt>
    <dgm:pt modelId="{476E90FA-7248-4CF4-A492-0EDFA8B014E1}">
      <dgm:prSet/>
      <dgm:spPr/>
      <dgm:t>
        <a:bodyPr/>
        <a:lstStyle/>
        <a:p>
          <a:pPr rtl="0"/>
          <a:r>
            <a:rPr lang="en-US"/>
            <a:t>Keep track of absolute revenues to make sure that the growth is feasible</a:t>
          </a:r>
          <a:endParaRPr lang="en-GB"/>
        </a:p>
      </dgm:t>
    </dgm:pt>
    <dgm:pt modelId="{5E31DC6F-DF37-4BDD-9913-81A1D7D329F3}" type="parTrans" cxnId="{74FA6221-4FEF-4591-91EF-A1A4C4369775}">
      <dgm:prSet/>
      <dgm:spPr/>
      <dgm:t>
        <a:bodyPr/>
        <a:lstStyle/>
        <a:p>
          <a:endParaRPr lang="en-GB"/>
        </a:p>
      </dgm:t>
    </dgm:pt>
    <dgm:pt modelId="{20169046-F5AA-4DF4-BEB9-B50DD2AFE28D}" type="sibTrans" cxnId="{74FA6221-4FEF-4591-91EF-A1A4C4369775}">
      <dgm:prSet/>
      <dgm:spPr/>
      <dgm:t>
        <a:bodyPr/>
        <a:lstStyle/>
        <a:p>
          <a:endParaRPr lang="en-GB"/>
        </a:p>
      </dgm:t>
    </dgm:pt>
    <dgm:pt modelId="{07CB1501-822C-4DBC-A437-4AE761DA3C02}">
      <dgm:prSet/>
      <dgm:spPr/>
      <dgm:t>
        <a:bodyPr/>
        <a:lstStyle/>
        <a:p>
          <a:pPr rtl="0"/>
          <a:r>
            <a:rPr lang="en-US" dirty="0"/>
            <a:t>Step 2: Estimate expected operating margins each year</a:t>
          </a:r>
          <a:endParaRPr lang="en-GB" dirty="0"/>
        </a:p>
      </dgm:t>
    </dgm:pt>
    <dgm:pt modelId="{8F4193A8-4C74-466B-9073-A904FC5327CC}" type="parTrans" cxnId="{A3E32641-D458-4CCF-8872-00C4B4F151E4}">
      <dgm:prSet/>
      <dgm:spPr/>
      <dgm:t>
        <a:bodyPr/>
        <a:lstStyle/>
        <a:p>
          <a:endParaRPr lang="en-GB"/>
        </a:p>
      </dgm:t>
    </dgm:pt>
    <dgm:pt modelId="{69EA888E-DD19-42B3-B873-D8FA20E31DE0}" type="sibTrans" cxnId="{A3E32641-D458-4CCF-8872-00C4B4F151E4}">
      <dgm:prSet/>
      <dgm:spPr/>
      <dgm:t>
        <a:bodyPr/>
        <a:lstStyle/>
        <a:p>
          <a:endParaRPr lang="en-GB"/>
        </a:p>
      </dgm:t>
    </dgm:pt>
    <dgm:pt modelId="{928BBA2B-A51C-4EC0-A394-B9575F977506}">
      <dgm:prSet/>
      <dgm:spPr/>
      <dgm:t>
        <a:bodyPr/>
        <a:lstStyle/>
        <a:p>
          <a:pPr rtl="0"/>
          <a:r>
            <a:rPr lang="en-US"/>
            <a:t>Set a target margin that the firm will move towards</a:t>
          </a:r>
          <a:endParaRPr lang="en-GB"/>
        </a:p>
      </dgm:t>
    </dgm:pt>
    <dgm:pt modelId="{AC58268A-DF9A-41D4-A5E2-22409EA797F5}" type="parTrans" cxnId="{6A9BD2EE-ECA1-4564-8A7F-CA02D966218E}">
      <dgm:prSet/>
      <dgm:spPr/>
      <dgm:t>
        <a:bodyPr/>
        <a:lstStyle/>
        <a:p>
          <a:endParaRPr lang="en-GB"/>
        </a:p>
      </dgm:t>
    </dgm:pt>
    <dgm:pt modelId="{77E27535-DECE-458A-8A06-25153CA0B739}" type="sibTrans" cxnId="{6A9BD2EE-ECA1-4564-8A7F-CA02D966218E}">
      <dgm:prSet/>
      <dgm:spPr/>
      <dgm:t>
        <a:bodyPr/>
        <a:lstStyle/>
        <a:p>
          <a:endParaRPr lang="en-GB"/>
        </a:p>
      </dgm:t>
    </dgm:pt>
    <dgm:pt modelId="{6BCF0F3C-55A7-4B29-9EB1-A80D0D6C7C98}">
      <dgm:prSet/>
      <dgm:spPr/>
      <dgm:t>
        <a:bodyPr/>
        <a:lstStyle/>
        <a:p>
          <a:pPr rtl="0"/>
          <a:r>
            <a:rPr lang="en-US"/>
            <a:t>Adjust the current margin towards the target margin</a:t>
          </a:r>
          <a:endParaRPr lang="en-GB"/>
        </a:p>
      </dgm:t>
    </dgm:pt>
    <dgm:pt modelId="{AB51F00B-87BE-492B-B3D2-CB89B9B8B58A}" type="parTrans" cxnId="{D289CCEC-2DDA-43EE-894D-10FD378BAD04}">
      <dgm:prSet/>
      <dgm:spPr/>
      <dgm:t>
        <a:bodyPr/>
        <a:lstStyle/>
        <a:p>
          <a:endParaRPr lang="en-GB"/>
        </a:p>
      </dgm:t>
    </dgm:pt>
    <dgm:pt modelId="{76F174E4-E22E-463C-8DA1-003B2D0A9CB2}" type="sibTrans" cxnId="{D289CCEC-2DDA-43EE-894D-10FD378BAD04}">
      <dgm:prSet/>
      <dgm:spPr/>
      <dgm:t>
        <a:bodyPr/>
        <a:lstStyle/>
        <a:p>
          <a:endParaRPr lang="en-GB"/>
        </a:p>
      </dgm:t>
    </dgm:pt>
    <dgm:pt modelId="{05FE6F4B-B3E7-4A74-9875-6F1DF08F2F31}">
      <dgm:prSet/>
      <dgm:spPr/>
      <dgm:t>
        <a:bodyPr/>
        <a:lstStyle/>
        <a:p>
          <a:pPr rtl="0"/>
          <a:r>
            <a:rPr lang="en-US" dirty="0"/>
            <a:t>Step 3: Estimate the capital that needs to be invested to generate revenue growth and expected margins</a:t>
          </a:r>
          <a:endParaRPr lang="en-GB" dirty="0"/>
        </a:p>
      </dgm:t>
    </dgm:pt>
    <dgm:pt modelId="{AD91005E-D1AB-4E94-AB6E-6E28A7C20E2E}" type="parTrans" cxnId="{C2A292B0-014F-4B70-8645-9473B86E6068}">
      <dgm:prSet/>
      <dgm:spPr/>
      <dgm:t>
        <a:bodyPr/>
        <a:lstStyle/>
        <a:p>
          <a:endParaRPr lang="en-GB"/>
        </a:p>
      </dgm:t>
    </dgm:pt>
    <dgm:pt modelId="{F315C21D-4C0F-4944-9003-12BD950C24E2}" type="sibTrans" cxnId="{C2A292B0-014F-4B70-8645-9473B86E6068}">
      <dgm:prSet/>
      <dgm:spPr/>
      <dgm:t>
        <a:bodyPr/>
        <a:lstStyle/>
        <a:p>
          <a:endParaRPr lang="en-GB"/>
        </a:p>
      </dgm:t>
    </dgm:pt>
    <dgm:pt modelId="{4E4D2D02-91AA-410D-B897-C5025B186D8F}">
      <dgm:prSet/>
      <dgm:spPr/>
      <dgm:t>
        <a:bodyPr/>
        <a:lstStyle/>
        <a:p>
          <a:pPr rtl="0"/>
          <a:r>
            <a:rPr lang="en-US"/>
            <a:t>Estimate a sales to capital ratio that you will use to generate reinvestment needs each year.</a:t>
          </a:r>
          <a:endParaRPr lang="en-GB"/>
        </a:p>
      </dgm:t>
    </dgm:pt>
    <dgm:pt modelId="{D98DE8F2-4219-42D3-A1FE-3CCFC896DE43}" type="parTrans" cxnId="{303479F7-5BF4-465B-BF5D-0D08B967956B}">
      <dgm:prSet/>
      <dgm:spPr/>
      <dgm:t>
        <a:bodyPr/>
        <a:lstStyle/>
        <a:p>
          <a:endParaRPr lang="en-GB"/>
        </a:p>
      </dgm:t>
    </dgm:pt>
    <dgm:pt modelId="{84A45580-0565-46D2-BD46-E24A08758235}" type="sibTrans" cxnId="{303479F7-5BF4-465B-BF5D-0D08B967956B}">
      <dgm:prSet/>
      <dgm:spPr/>
      <dgm:t>
        <a:bodyPr/>
        <a:lstStyle/>
        <a:p>
          <a:endParaRPr lang="en-GB"/>
        </a:p>
      </dgm:t>
    </dgm:pt>
    <dgm:pt modelId="{5F742D11-6123-4BA0-A27D-F3BBC1450F72}" type="pres">
      <dgm:prSet presAssocID="{42E82414-CD06-4CF0-9870-50189350880B}" presName="linear" presStyleCnt="0">
        <dgm:presLayoutVars>
          <dgm:animLvl val="lvl"/>
          <dgm:resizeHandles val="exact"/>
        </dgm:presLayoutVars>
      </dgm:prSet>
      <dgm:spPr/>
    </dgm:pt>
    <dgm:pt modelId="{B2F4150E-623D-482E-AFB2-AAE80EE888A9}" type="pres">
      <dgm:prSet presAssocID="{4F406FC9-A612-4FD1-8671-B3EDAAA9947E}" presName="parentText" presStyleLbl="node1" presStyleIdx="0" presStyleCnt="3">
        <dgm:presLayoutVars>
          <dgm:chMax val="0"/>
          <dgm:bulletEnabled val="1"/>
        </dgm:presLayoutVars>
      </dgm:prSet>
      <dgm:spPr/>
    </dgm:pt>
    <dgm:pt modelId="{8DAE57B5-B9BD-4464-B625-CE8CD6CA87E4}" type="pres">
      <dgm:prSet presAssocID="{4F406FC9-A612-4FD1-8671-B3EDAAA9947E}" presName="childText" presStyleLbl="revTx" presStyleIdx="0" presStyleCnt="3">
        <dgm:presLayoutVars>
          <dgm:bulletEnabled val="1"/>
        </dgm:presLayoutVars>
      </dgm:prSet>
      <dgm:spPr/>
    </dgm:pt>
    <dgm:pt modelId="{998F4E6A-3923-4318-95F4-0657F72253DA}" type="pres">
      <dgm:prSet presAssocID="{07CB1501-822C-4DBC-A437-4AE761DA3C02}" presName="parentText" presStyleLbl="node1" presStyleIdx="1" presStyleCnt="3">
        <dgm:presLayoutVars>
          <dgm:chMax val="0"/>
          <dgm:bulletEnabled val="1"/>
        </dgm:presLayoutVars>
      </dgm:prSet>
      <dgm:spPr/>
    </dgm:pt>
    <dgm:pt modelId="{5E5A9B12-0AC0-422F-BB5F-459723DBEB34}" type="pres">
      <dgm:prSet presAssocID="{07CB1501-822C-4DBC-A437-4AE761DA3C02}" presName="childText" presStyleLbl="revTx" presStyleIdx="1" presStyleCnt="3">
        <dgm:presLayoutVars>
          <dgm:bulletEnabled val="1"/>
        </dgm:presLayoutVars>
      </dgm:prSet>
      <dgm:spPr/>
    </dgm:pt>
    <dgm:pt modelId="{97F2A894-F0B0-4A2C-9C8C-52CDDA94D2C8}" type="pres">
      <dgm:prSet presAssocID="{05FE6F4B-B3E7-4A74-9875-6F1DF08F2F31}" presName="parentText" presStyleLbl="node1" presStyleIdx="2" presStyleCnt="3">
        <dgm:presLayoutVars>
          <dgm:chMax val="0"/>
          <dgm:bulletEnabled val="1"/>
        </dgm:presLayoutVars>
      </dgm:prSet>
      <dgm:spPr/>
    </dgm:pt>
    <dgm:pt modelId="{96252132-9845-4E1D-BF7C-C6104D8561F6}" type="pres">
      <dgm:prSet presAssocID="{05FE6F4B-B3E7-4A74-9875-6F1DF08F2F31}" presName="childText" presStyleLbl="revTx" presStyleIdx="2" presStyleCnt="3">
        <dgm:presLayoutVars>
          <dgm:bulletEnabled val="1"/>
        </dgm:presLayoutVars>
      </dgm:prSet>
      <dgm:spPr/>
    </dgm:pt>
  </dgm:ptLst>
  <dgm:cxnLst>
    <dgm:cxn modelId="{EA5A620B-C318-4629-B022-AD2D0B592E53}" type="presOf" srcId="{05FE6F4B-B3E7-4A74-9875-6F1DF08F2F31}" destId="{97F2A894-F0B0-4A2C-9C8C-52CDDA94D2C8}" srcOrd="0" destOrd="0" presId="urn:microsoft.com/office/officeart/2005/8/layout/vList2"/>
    <dgm:cxn modelId="{93C3430C-E551-49CB-BC97-B2E36406E735}" type="presOf" srcId="{6BCF0F3C-55A7-4B29-9EB1-A80D0D6C7C98}" destId="{5E5A9B12-0AC0-422F-BB5F-459723DBEB34}" srcOrd="0" destOrd="1" presId="urn:microsoft.com/office/officeart/2005/8/layout/vList2"/>
    <dgm:cxn modelId="{74FA6221-4FEF-4591-91EF-A1A4C4369775}" srcId="{4F406FC9-A612-4FD1-8671-B3EDAAA9947E}" destId="{476E90FA-7248-4CF4-A492-0EDFA8B014E1}" srcOrd="2" destOrd="0" parTransId="{5E31DC6F-DF37-4BDD-9913-81A1D7D329F3}" sibTransId="{20169046-F5AA-4DF4-BEB9-B50DD2AFE28D}"/>
    <dgm:cxn modelId="{68FBEF36-A264-4517-BAE3-2FAC89FB0EE2}" type="presOf" srcId="{3571475C-E89C-4BA6-B312-83443D4E8FD1}" destId="{8DAE57B5-B9BD-4464-B625-CE8CD6CA87E4}" srcOrd="0" destOrd="0" presId="urn:microsoft.com/office/officeart/2005/8/layout/vList2"/>
    <dgm:cxn modelId="{762BA83D-5640-4418-890E-B0D784C5B801}" type="presOf" srcId="{4E4D2D02-91AA-410D-B897-C5025B186D8F}" destId="{96252132-9845-4E1D-BF7C-C6104D8561F6}" srcOrd="0" destOrd="0" presId="urn:microsoft.com/office/officeart/2005/8/layout/vList2"/>
    <dgm:cxn modelId="{6DFFA03F-74D1-4882-830D-F248B98BA94F}" srcId="{4F406FC9-A612-4FD1-8671-B3EDAAA9947E}" destId="{3571475C-E89C-4BA6-B312-83443D4E8FD1}" srcOrd="0" destOrd="0" parTransId="{635A781E-4A91-4335-99DC-1B29440261C4}" sibTransId="{49491C32-2A2A-4840-8203-58568ABFE547}"/>
    <dgm:cxn modelId="{A3E32641-D458-4CCF-8872-00C4B4F151E4}" srcId="{42E82414-CD06-4CF0-9870-50189350880B}" destId="{07CB1501-822C-4DBC-A437-4AE761DA3C02}" srcOrd="1" destOrd="0" parTransId="{8F4193A8-4C74-466B-9073-A904FC5327CC}" sibTransId="{69EA888E-DD19-42B3-B873-D8FA20E31DE0}"/>
    <dgm:cxn modelId="{CA3C164F-6EF0-40F6-8967-10DFACB3C80B}" type="presOf" srcId="{42E82414-CD06-4CF0-9870-50189350880B}" destId="{5F742D11-6123-4BA0-A27D-F3BBC1450F72}" srcOrd="0" destOrd="0" presId="urn:microsoft.com/office/officeart/2005/8/layout/vList2"/>
    <dgm:cxn modelId="{56420653-57E6-47B9-B178-CC2FBBB8FDA3}" type="presOf" srcId="{4F406FC9-A612-4FD1-8671-B3EDAAA9947E}" destId="{B2F4150E-623D-482E-AFB2-AAE80EE888A9}" srcOrd="0" destOrd="0" presId="urn:microsoft.com/office/officeart/2005/8/layout/vList2"/>
    <dgm:cxn modelId="{760554A0-BC1F-4683-A29C-2C600A46854F}" type="presOf" srcId="{EF66B607-52BC-4B42-A52E-0207E792C3F5}" destId="{8DAE57B5-B9BD-4464-B625-CE8CD6CA87E4}" srcOrd="0" destOrd="1" presId="urn:microsoft.com/office/officeart/2005/8/layout/vList2"/>
    <dgm:cxn modelId="{C2A292B0-014F-4B70-8645-9473B86E6068}" srcId="{42E82414-CD06-4CF0-9870-50189350880B}" destId="{05FE6F4B-B3E7-4A74-9875-6F1DF08F2F31}" srcOrd="2" destOrd="0" parTransId="{AD91005E-D1AB-4E94-AB6E-6E28A7C20E2E}" sibTransId="{F315C21D-4C0F-4944-9003-12BD950C24E2}"/>
    <dgm:cxn modelId="{58CB73BE-F36B-4431-BAF0-AA4192447599}" type="presOf" srcId="{07CB1501-822C-4DBC-A437-4AE761DA3C02}" destId="{998F4E6A-3923-4318-95F4-0657F72253DA}" srcOrd="0" destOrd="0" presId="urn:microsoft.com/office/officeart/2005/8/layout/vList2"/>
    <dgm:cxn modelId="{CF185EC0-1D7A-4728-864E-2E0B225CBA05}" type="presOf" srcId="{476E90FA-7248-4CF4-A492-0EDFA8B014E1}" destId="{8DAE57B5-B9BD-4464-B625-CE8CD6CA87E4}" srcOrd="0" destOrd="2" presId="urn:microsoft.com/office/officeart/2005/8/layout/vList2"/>
    <dgm:cxn modelId="{A129EDC0-5434-4D43-AF83-E9D70690C73F}" srcId="{42E82414-CD06-4CF0-9870-50189350880B}" destId="{4F406FC9-A612-4FD1-8671-B3EDAAA9947E}" srcOrd="0" destOrd="0" parTransId="{5125CDC7-5E3A-4E64-AEA9-979BA0266D3D}" sibTransId="{CC050B08-187A-4D87-B6BC-912C1D56282B}"/>
    <dgm:cxn modelId="{6823EDC2-3AA4-4365-8ED3-B556987CD0E7}" srcId="{4F406FC9-A612-4FD1-8671-B3EDAAA9947E}" destId="{EF66B607-52BC-4B42-A52E-0207E792C3F5}" srcOrd="1" destOrd="0" parTransId="{B88C8BCB-52B1-4056-AC01-42882028E7DE}" sibTransId="{0494E0B9-40B2-444F-B930-27D0E3E8885C}"/>
    <dgm:cxn modelId="{312417DE-390A-4BC2-9643-5FBEC11095BF}" type="presOf" srcId="{928BBA2B-A51C-4EC0-A394-B9575F977506}" destId="{5E5A9B12-0AC0-422F-BB5F-459723DBEB34}" srcOrd="0" destOrd="0" presId="urn:microsoft.com/office/officeart/2005/8/layout/vList2"/>
    <dgm:cxn modelId="{D289CCEC-2DDA-43EE-894D-10FD378BAD04}" srcId="{07CB1501-822C-4DBC-A437-4AE761DA3C02}" destId="{6BCF0F3C-55A7-4B29-9EB1-A80D0D6C7C98}" srcOrd="1" destOrd="0" parTransId="{AB51F00B-87BE-492B-B3D2-CB89B9B8B58A}" sibTransId="{76F174E4-E22E-463C-8DA1-003B2D0A9CB2}"/>
    <dgm:cxn modelId="{6A9BD2EE-ECA1-4564-8A7F-CA02D966218E}" srcId="{07CB1501-822C-4DBC-A437-4AE761DA3C02}" destId="{928BBA2B-A51C-4EC0-A394-B9575F977506}" srcOrd="0" destOrd="0" parTransId="{AC58268A-DF9A-41D4-A5E2-22409EA797F5}" sibTransId="{77E27535-DECE-458A-8A06-25153CA0B739}"/>
    <dgm:cxn modelId="{303479F7-5BF4-465B-BF5D-0D08B967956B}" srcId="{05FE6F4B-B3E7-4A74-9875-6F1DF08F2F31}" destId="{4E4D2D02-91AA-410D-B897-C5025B186D8F}" srcOrd="0" destOrd="0" parTransId="{D98DE8F2-4219-42D3-A1FE-3CCFC896DE43}" sibTransId="{84A45580-0565-46D2-BD46-E24A08758235}"/>
    <dgm:cxn modelId="{07B29A9E-A5BB-4B00-ABD1-178A6A009445}" type="presParOf" srcId="{5F742D11-6123-4BA0-A27D-F3BBC1450F72}" destId="{B2F4150E-623D-482E-AFB2-AAE80EE888A9}" srcOrd="0" destOrd="0" presId="urn:microsoft.com/office/officeart/2005/8/layout/vList2"/>
    <dgm:cxn modelId="{AC0E5C84-A3B9-47B9-889A-D8FE1D5876CF}" type="presParOf" srcId="{5F742D11-6123-4BA0-A27D-F3BBC1450F72}" destId="{8DAE57B5-B9BD-4464-B625-CE8CD6CA87E4}" srcOrd="1" destOrd="0" presId="urn:microsoft.com/office/officeart/2005/8/layout/vList2"/>
    <dgm:cxn modelId="{AD9B9530-6527-4D9C-B98A-C4F7296A6C80}" type="presParOf" srcId="{5F742D11-6123-4BA0-A27D-F3BBC1450F72}" destId="{998F4E6A-3923-4318-95F4-0657F72253DA}" srcOrd="2" destOrd="0" presId="urn:microsoft.com/office/officeart/2005/8/layout/vList2"/>
    <dgm:cxn modelId="{375D2965-A31A-49C3-B071-15D053FD0404}" type="presParOf" srcId="{5F742D11-6123-4BA0-A27D-F3BBC1450F72}" destId="{5E5A9B12-0AC0-422F-BB5F-459723DBEB34}" srcOrd="3" destOrd="0" presId="urn:microsoft.com/office/officeart/2005/8/layout/vList2"/>
    <dgm:cxn modelId="{535ED3E9-4FB6-4815-94F3-7F33CE5EAA32}" type="presParOf" srcId="{5F742D11-6123-4BA0-A27D-F3BBC1450F72}" destId="{97F2A894-F0B0-4A2C-9C8C-52CDDA94D2C8}" srcOrd="4" destOrd="0" presId="urn:microsoft.com/office/officeart/2005/8/layout/vList2"/>
    <dgm:cxn modelId="{E7DE723D-B086-4CCE-B3A8-548A899093D8}" type="presParOf" srcId="{5F742D11-6123-4BA0-A27D-F3BBC1450F72}" destId="{96252132-9845-4E1D-BF7C-C6104D8561F6}"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43AA89-C318-440A-9F16-2919F17370E9}">
      <dsp:nvSpPr>
        <dsp:cNvPr id="0" name=""/>
        <dsp:cNvSpPr/>
      </dsp:nvSpPr>
      <dsp:spPr>
        <a:xfrm>
          <a:off x="3251131" y="1880727"/>
          <a:ext cx="2252451" cy="1088782"/>
        </a:xfrm>
        <a:prstGeom prst="ellipse">
          <a:avLst/>
        </a:prstGeom>
        <a:solidFill>
          <a:schemeClr val="accent1">
            <a:hueOff val="0"/>
            <a:satOff val="0"/>
            <a:lumOff val="0"/>
            <a:alphaOff val="0"/>
          </a:schemeClr>
        </a:solidFill>
        <a:ln>
          <a:noFill/>
        </a:ln>
        <a:effectLst>
          <a:outerShdw blurRad="50800" dist="254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dirty="0"/>
            <a:t>Company Valuation</a:t>
          </a:r>
        </a:p>
      </dsp:txBody>
      <dsp:txXfrm>
        <a:off x="3580995" y="2040175"/>
        <a:ext cx="1592723" cy="769886"/>
      </dsp:txXfrm>
    </dsp:sp>
    <dsp:sp modelId="{BF8CE21D-0E26-4BEE-9B67-B4DB59AC6557}">
      <dsp:nvSpPr>
        <dsp:cNvPr id="0" name=""/>
        <dsp:cNvSpPr/>
      </dsp:nvSpPr>
      <dsp:spPr>
        <a:xfrm rot="8824501">
          <a:off x="1112370" y="3564959"/>
          <a:ext cx="2675448" cy="216308"/>
        </a:xfrm>
        <a:prstGeom prst="lef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A3B6F484-CADE-451A-B03F-CE3246E32F6B}">
      <dsp:nvSpPr>
        <dsp:cNvPr id="0" name=""/>
        <dsp:cNvSpPr/>
      </dsp:nvSpPr>
      <dsp:spPr>
        <a:xfrm>
          <a:off x="59409" y="3399847"/>
          <a:ext cx="2535644" cy="2000747"/>
        </a:xfrm>
        <a:prstGeom prst="roundRect">
          <a:avLst>
            <a:gd name="adj" fmla="val 10000"/>
          </a:avLst>
        </a:prstGeom>
        <a:solidFill>
          <a:schemeClr val="accent1">
            <a:hueOff val="0"/>
            <a:satOff val="0"/>
            <a:lumOff val="0"/>
            <a:alphaOff val="0"/>
          </a:schemeClr>
        </a:solidFill>
        <a:ln>
          <a:noFill/>
        </a:ln>
        <a:effectLst>
          <a:outerShdw blurRad="508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1422400">
            <a:lnSpc>
              <a:spcPct val="90000"/>
            </a:lnSpc>
            <a:spcBef>
              <a:spcPct val="0"/>
            </a:spcBef>
            <a:spcAft>
              <a:spcPct val="35000"/>
            </a:spcAft>
            <a:buNone/>
          </a:pPr>
          <a:r>
            <a:rPr lang="en-GB" sz="3200" b="1" kern="1200" dirty="0">
              <a:solidFill>
                <a:srgbClr val="002060"/>
              </a:solidFill>
            </a:rPr>
            <a:t>DCF</a:t>
          </a:r>
          <a:endParaRPr lang="en-GB" sz="1900" b="1" kern="1200" dirty="0">
            <a:solidFill>
              <a:srgbClr val="002060"/>
            </a:solidFill>
          </a:endParaRPr>
        </a:p>
        <a:p>
          <a:pPr marL="0" lvl="0" indent="0" algn="ctr" defTabSz="1422400">
            <a:lnSpc>
              <a:spcPct val="90000"/>
            </a:lnSpc>
            <a:spcBef>
              <a:spcPct val="0"/>
            </a:spcBef>
            <a:spcAft>
              <a:spcPct val="35000"/>
            </a:spcAft>
            <a:buNone/>
          </a:pPr>
          <a:r>
            <a:rPr lang="en-GB" sz="1900" kern="1200" dirty="0"/>
            <a:t>Intrinsic Value</a:t>
          </a:r>
        </a:p>
        <a:p>
          <a:pPr marL="0" lvl="0" indent="0" algn="ctr" defTabSz="1422400">
            <a:lnSpc>
              <a:spcPct val="90000"/>
            </a:lnSpc>
            <a:spcBef>
              <a:spcPct val="0"/>
            </a:spcBef>
            <a:spcAft>
              <a:spcPct val="35000"/>
            </a:spcAft>
            <a:buNone/>
          </a:pPr>
          <a:r>
            <a:rPr lang="en-GB" sz="1900" kern="1200" dirty="0"/>
            <a:t>Business Oriented</a:t>
          </a:r>
        </a:p>
      </dsp:txBody>
      <dsp:txXfrm>
        <a:off x="118009" y="3458447"/>
        <a:ext cx="2418444" cy="1883547"/>
      </dsp:txXfrm>
    </dsp:sp>
    <dsp:sp modelId="{10E2E671-1D52-4928-A1C6-E0C23DB2954A}">
      <dsp:nvSpPr>
        <dsp:cNvPr id="0" name=""/>
        <dsp:cNvSpPr/>
      </dsp:nvSpPr>
      <dsp:spPr>
        <a:xfrm rot="5386792">
          <a:off x="3709470" y="3612536"/>
          <a:ext cx="1345728" cy="216308"/>
        </a:xfrm>
        <a:prstGeom prst="lef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114F5292-13FE-4767-9405-4B369DB9253A}">
      <dsp:nvSpPr>
        <dsp:cNvPr id="0" name=""/>
        <dsp:cNvSpPr/>
      </dsp:nvSpPr>
      <dsp:spPr>
        <a:xfrm>
          <a:off x="3117098" y="3361698"/>
          <a:ext cx="2535644" cy="2063703"/>
        </a:xfrm>
        <a:prstGeom prst="roundRect">
          <a:avLst>
            <a:gd name="adj" fmla="val 10000"/>
          </a:avLst>
        </a:prstGeom>
        <a:solidFill>
          <a:schemeClr val="accent1">
            <a:hueOff val="0"/>
            <a:satOff val="0"/>
            <a:lumOff val="0"/>
            <a:alphaOff val="0"/>
          </a:schemeClr>
        </a:solidFill>
        <a:ln>
          <a:noFill/>
        </a:ln>
        <a:effectLst>
          <a:outerShdw blurRad="508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1422400">
            <a:lnSpc>
              <a:spcPct val="90000"/>
            </a:lnSpc>
            <a:spcBef>
              <a:spcPct val="0"/>
            </a:spcBef>
            <a:spcAft>
              <a:spcPct val="35000"/>
            </a:spcAft>
            <a:buNone/>
          </a:pPr>
          <a:r>
            <a:rPr lang="en-GB" sz="3200" b="1" kern="1200" dirty="0">
              <a:solidFill>
                <a:srgbClr val="002060"/>
              </a:solidFill>
            </a:rPr>
            <a:t>Relative Valuation</a:t>
          </a:r>
        </a:p>
        <a:p>
          <a:pPr marL="0" lvl="0" indent="0" algn="ctr" defTabSz="1422400">
            <a:lnSpc>
              <a:spcPct val="90000"/>
            </a:lnSpc>
            <a:spcBef>
              <a:spcPct val="0"/>
            </a:spcBef>
            <a:spcAft>
              <a:spcPct val="35000"/>
            </a:spcAft>
            <a:buNone/>
          </a:pPr>
          <a:r>
            <a:rPr lang="en-GB" sz="2000" kern="1200" dirty="0"/>
            <a:t>Other Assets</a:t>
          </a:r>
        </a:p>
        <a:p>
          <a:pPr marL="0" lvl="0" indent="0" algn="ctr" defTabSz="1422400">
            <a:lnSpc>
              <a:spcPct val="90000"/>
            </a:lnSpc>
            <a:spcBef>
              <a:spcPct val="0"/>
            </a:spcBef>
            <a:spcAft>
              <a:spcPct val="35000"/>
            </a:spcAft>
            <a:buNone/>
          </a:pPr>
          <a:r>
            <a:rPr lang="en-GB" sz="2000" kern="1200" dirty="0"/>
            <a:t>Market Oriented</a:t>
          </a:r>
        </a:p>
      </dsp:txBody>
      <dsp:txXfrm>
        <a:off x="3177542" y="3422142"/>
        <a:ext cx="2414756" cy="1942815"/>
      </dsp:txXfrm>
    </dsp:sp>
    <dsp:sp modelId="{5D121F3F-34E4-486C-BA24-B52ED92D021D}">
      <dsp:nvSpPr>
        <dsp:cNvPr id="0" name=""/>
        <dsp:cNvSpPr/>
      </dsp:nvSpPr>
      <dsp:spPr>
        <a:xfrm rot="1940625">
          <a:off x="4982671" y="3570231"/>
          <a:ext cx="2747624" cy="216308"/>
        </a:xfrm>
        <a:prstGeom prst="lef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FE98681D-D65F-4600-8482-7940DF1B513C}">
      <dsp:nvSpPr>
        <dsp:cNvPr id="0" name=""/>
        <dsp:cNvSpPr/>
      </dsp:nvSpPr>
      <dsp:spPr>
        <a:xfrm>
          <a:off x="6249331" y="3381520"/>
          <a:ext cx="2535644" cy="2063703"/>
        </a:xfrm>
        <a:prstGeom prst="roundRect">
          <a:avLst>
            <a:gd name="adj" fmla="val 10000"/>
          </a:avLst>
        </a:prstGeom>
        <a:solidFill>
          <a:schemeClr val="accent1">
            <a:hueOff val="0"/>
            <a:satOff val="0"/>
            <a:lumOff val="0"/>
            <a:alphaOff val="0"/>
          </a:schemeClr>
        </a:solidFill>
        <a:ln>
          <a:noFill/>
        </a:ln>
        <a:effectLst>
          <a:outerShdw blurRad="508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1422400">
            <a:lnSpc>
              <a:spcPct val="90000"/>
            </a:lnSpc>
            <a:spcBef>
              <a:spcPct val="0"/>
            </a:spcBef>
            <a:spcAft>
              <a:spcPct val="35000"/>
            </a:spcAft>
            <a:buNone/>
          </a:pPr>
          <a:r>
            <a:rPr lang="en-GB" sz="3200" b="1" kern="1200" dirty="0">
              <a:solidFill>
                <a:srgbClr val="002060"/>
              </a:solidFill>
            </a:rPr>
            <a:t>Real Options</a:t>
          </a:r>
        </a:p>
        <a:p>
          <a:pPr marL="0" lvl="0" indent="0" algn="ctr" defTabSz="1422400">
            <a:lnSpc>
              <a:spcPct val="90000"/>
            </a:lnSpc>
            <a:spcBef>
              <a:spcPct val="0"/>
            </a:spcBef>
            <a:spcAft>
              <a:spcPct val="35000"/>
            </a:spcAft>
            <a:buNone/>
          </a:pPr>
          <a:r>
            <a:rPr lang="en-GB" sz="2100" kern="1200" dirty="0"/>
            <a:t>Derivatives</a:t>
          </a:r>
        </a:p>
        <a:p>
          <a:pPr marL="0" lvl="0" indent="0" algn="ctr" defTabSz="1422400">
            <a:lnSpc>
              <a:spcPct val="90000"/>
            </a:lnSpc>
            <a:spcBef>
              <a:spcPct val="0"/>
            </a:spcBef>
            <a:spcAft>
              <a:spcPct val="35000"/>
            </a:spcAft>
            <a:buNone/>
          </a:pPr>
          <a:r>
            <a:rPr lang="en-GB" sz="2100" kern="1200" dirty="0"/>
            <a:t>Flexibility</a:t>
          </a:r>
        </a:p>
      </dsp:txBody>
      <dsp:txXfrm>
        <a:off x="6309775" y="3441964"/>
        <a:ext cx="2414756" cy="1942815"/>
      </dsp:txXfrm>
    </dsp:sp>
    <dsp:sp modelId="{36AF84C6-66BE-483D-996B-A7FBCFFAD9B3}">
      <dsp:nvSpPr>
        <dsp:cNvPr id="0" name=""/>
        <dsp:cNvSpPr/>
      </dsp:nvSpPr>
      <dsp:spPr>
        <a:xfrm rot="16221238">
          <a:off x="3807403" y="1128089"/>
          <a:ext cx="1154598" cy="216308"/>
        </a:xfrm>
        <a:prstGeom prst="lef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B5DD2568-723C-4242-93BA-BAEFE068095E}">
      <dsp:nvSpPr>
        <dsp:cNvPr id="0" name=""/>
        <dsp:cNvSpPr/>
      </dsp:nvSpPr>
      <dsp:spPr>
        <a:xfrm>
          <a:off x="3564574" y="0"/>
          <a:ext cx="1647388" cy="1317911"/>
        </a:xfrm>
        <a:prstGeom prst="roundRect">
          <a:avLst>
            <a:gd name="adj" fmla="val 10000"/>
          </a:avLst>
        </a:prstGeom>
        <a:solidFill>
          <a:schemeClr val="accent1">
            <a:hueOff val="0"/>
            <a:satOff val="0"/>
            <a:lumOff val="0"/>
            <a:alphaOff val="0"/>
          </a:schemeClr>
        </a:solidFill>
        <a:ln>
          <a:noFill/>
        </a:ln>
        <a:effectLst>
          <a:outerShdw blurRad="508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977900">
            <a:lnSpc>
              <a:spcPct val="90000"/>
            </a:lnSpc>
            <a:spcBef>
              <a:spcPct val="0"/>
            </a:spcBef>
            <a:spcAft>
              <a:spcPct val="35000"/>
            </a:spcAft>
            <a:buNone/>
          </a:pPr>
          <a:r>
            <a:rPr lang="en-GB" sz="2200" kern="1200" dirty="0"/>
            <a:t>Uncertainty</a:t>
          </a:r>
        </a:p>
      </dsp:txBody>
      <dsp:txXfrm>
        <a:off x="3603174" y="38600"/>
        <a:ext cx="1570188" cy="1240711"/>
      </dsp:txXfrm>
    </dsp:sp>
    <dsp:sp modelId="{15226B39-7ECE-457F-BF8B-2AFBADEE0B9B}">
      <dsp:nvSpPr>
        <dsp:cNvPr id="0" name=""/>
        <dsp:cNvSpPr/>
      </dsp:nvSpPr>
      <dsp:spPr>
        <a:xfrm rot="12643210">
          <a:off x="1230759" y="1185770"/>
          <a:ext cx="2485951" cy="216308"/>
        </a:xfrm>
        <a:prstGeom prst="lef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09361335-4AAD-442A-B10C-E1849C562F66}">
      <dsp:nvSpPr>
        <dsp:cNvPr id="0" name=""/>
        <dsp:cNvSpPr/>
      </dsp:nvSpPr>
      <dsp:spPr>
        <a:xfrm>
          <a:off x="581488" y="0"/>
          <a:ext cx="1647388" cy="1317911"/>
        </a:xfrm>
        <a:prstGeom prst="roundRect">
          <a:avLst>
            <a:gd name="adj" fmla="val 10000"/>
          </a:avLst>
        </a:prstGeom>
        <a:solidFill>
          <a:schemeClr val="accent1">
            <a:hueOff val="0"/>
            <a:satOff val="0"/>
            <a:lumOff val="0"/>
            <a:alphaOff val="0"/>
          </a:schemeClr>
        </a:solidFill>
        <a:ln>
          <a:noFill/>
        </a:ln>
        <a:effectLst>
          <a:outerShdw blurRad="508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977900">
            <a:lnSpc>
              <a:spcPct val="90000"/>
            </a:lnSpc>
            <a:spcBef>
              <a:spcPct val="0"/>
            </a:spcBef>
            <a:spcAft>
              <a:spcPct val="35000"/>
            </a:spcAft>
            <a:buNone/>
          </a:pPr>
          <a:r>
            <a:rPr lang="en-GB" sz="2200" kern="1200" dirty="0"/>
            <a:t>Bias</a:t>
          </a:r>
        </a:p>
      </dsp:txBody>
      <dsp:txXfrm>
        <a:off x="620088" y="38600"/>
        <a:ext cx="1570188" cy="1240711"/>
      </dsp:txXfrm>
    </dsp:sp>
    <dsp:sp modelId="{31E1642A-C702-409F-AEA9-2A52F27EC1F3}">
      <dsp:nvSpPr>
        <dsp:cNvPr id="0" name=""/>
        <dsp:cNvSpPr/>
      </dsp:nvSpPr>
      <dsp:spPr>
        <a:xfrm rot="19804617">
          <a:off x="5060221" y="1188339"/>
          <a:ext cx="2556098" cy="216308"/>
        </a:xfrm>
        <a:prstGeom prst="lef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528F45F9-A1BB-44D0-910D-5B51B2457ED1}">
      <dsp:nvSpPr>
        <dsp:cNvPr id="0" name=""/>
        <dsp:cNvSpPr/>
      </dsp:nvSpPr>
      <dsp:spPr>
        <a:xfrm>
          <a:off x="6622256" y="0"/>
          <a:ext cx="1647388" cy="1317911"/>
        </a:xfrm>
        <a:prstGeom prst="roundRect">
          <a:avLst>
            <a:gd name="adj" fmla="val 10000"/>
          </a:avLst>
        </a:prstGeom>
        <a:solidFill>
          <a:schemeClr val="accent1">
            <a:hueOff val="0"/>
            <a:satOff val="0"/>
            <a:lumOff val="0"/>
            <a:alphaOff val="0"/>
          </a:schemeClr>
        </a:solidFill>
        <a:ln>
          <a:noFill/>
        </a:ln>
        <a:effectLst>
          <a:outerShdw blurRad="508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977900">
            <a:lnSpc>
              <a:spcPct val="90000"/>
            </a:lnSpc>
            <a:spcBef>
              <a:spcPct val="0"/>
            </a:spcBef>
            <a:spcAft>
              <a:spcPct val="35000"/>
            </a:spcAft>
            <a:buNone/>
          </a:pPr>
          <a:r>
            <a:rPr lang="en-GB" sz="2200" kern="1200" dirty="0"/>
            <a:t>Complexity</a:t>
          </a:r>
        </a:p>
      </dsp:txBody>
      <dsp:txXfrm>
        <a:off x="6660856" y="38600"/>
        <a:ext cx="1570188" cy="12407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D51FF-83EE-4E3C-8E3C-F402F2EB5509}">
      <dsp:nvSpPr>
        <dsp:cNvPr id="0" name=""/>
        <dsp:cNvSpPr/>
      </dsp:nvSpPr>
      <dsp:spPr>
        <a:xfrm>
          <a:off x="0" y="312559"/>
          <a:ext cx="2196244" cy="1407656"/>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99136" tIns="71120" rIns="199136" bIns="71120" numCol="1" spcCol="1270" anchor="ctr" anchorCtr="0">
          <a:noAutofit/>
        </a:bodyPr>
        <a:lstStyle/>
        <a:p>
          <a:pPr marL="0" lvl="0" indent="0" algn="r" defTabSz="1244600" rtl="0">
            <a:lnSpc>
              <a:spcPct val="90000"/>
            </a:lnSpc>
            <a:spcBef>
              <a:spcPct val="0"/>
            </a:spcBef>
            <a:spcAft>
              <a:spcPct val="35000"/>
            </a:spcAft>
            <a:buNone/>
          </a:pPr>
          <a:r>
            <a:rPr lang="en-GB" sz="2800" kern="1200" dirty="0"/>
            <a:t>DCF Input I: </a:t>
          </a:r>
        </a:p>
        <a:p>
          <a:pPr marL="0" lvl="0" indent="0" algn="ctr" defTabSz="1244600" rtl="0">
            <a:lnSpc>
              <a:spcPct val="90000"/>
            </a:lnSpc>
            <a:spcBef>
              <a:spcPct val="0"/>
            </a:spcBef>
            <a:spcAft>
              <a:spcPct val="35000"/>
            </a:spcAft>
            <a:buNone/>
          </a:pPr>
          <a:r>
            <a:rPr lang="en-GB" sz="2800" kern="1200" dirty="0"/>
            <a:t>Cash Flow</a:t>
          </a:r>
        </a:p>
      </dsp:txBody>
      <dsp:txXfrm>
        <a:off x="0" y="312559"/>
        <a:ext cx="2196244" cy="1407656"/>
      </dsp:txXfrm>
    </dsp:sp>
    <dsp:sp modelId="{F6A0D81E-191C-4A02-B990-F849E4C68825}">
      <dsp:nvSpPr>
        <dsp:cNvPr id="0" name=""/>
        <dsp:cNvSpPr/>
      </dsp:nvSpPr>
      <dsp:spPr>
        <a:xfrm>
          <a:off x="2196243" y="290565"/>
          <a:ext cx="439248" cy="1451645"/>
        </a:xfrm>
        <a:prstGeom prst="leftBrace">
          <a:avLst>
            <a:gd name="adj1" fmla="val 35000"/>
            <a:gd name="adj2" fmla="val 50000"/>
          </a:avLst>
        </a:prstGeom>
        <a:noFill/>
        <a:ln w="11429" cap="flat" cmpd="sng" algn="ctr">
          <a:solidFill>
            <a:schemeClr val="accent1">
              <a:hueOff val="0"/>
              <a:satOff val="0"/>
              <a:lumOff val="0"/>
              <a:alphaOff val="0"/>
            </a:schemeClr>
          </a:solidFill>
          <a:prstDash val="sysDash"/>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4D71A39B-6DF1-4FCD-88F0-98401CB51C7D}">
      <dsp:nvSpPr>
        <dsp:cNvPr id="0" name=""/>
        <dsp:cNvSpPr/>
      </dsp:nvSpPr>
      <dsp:spPr>
        <a:xfrm>
          <a:off x="2811192" y="290565"/>
          <a:ext cx="5973783" cy="1451645"/>
        </a:xfrm>
        <a:prstGeom prst="rect">
          <a:avLst/>
        </a:prstGeom>
        <a:solidFill>
          <a:schemeClr val="accent2">
            <a:hueOff val="0"/>
            <a:satOff val="0"/>
            <a:lumOff val="0"/>
            <a:alphaOff val="0"/>
          </a:schemeClr>
        </a:solidFill>
        <a:ln>
          <a:noFill/>
        </a:ln>
        <a:effectLst>
          <a:outerShdw blurRad="508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285750" lvl="1" indent="-285750" algn="l" defTabSz="1244600" rtl="0">
            <a:lnSpc>
              <a:spcPct val="90000"/>
            </a:lnSpc>
            <a:spcBef>
              <a:spcPct val="0"/>
            </a:spcBef>
            <a:spcAft>
              <a:spcPct val="15000"/>
            </a:spcAft>
            <a:buChar char="•"/>
          </a:pPr>
          <a:r>
            <a:rPr lang="en-GB" sz="2800" kern="1200"/>
            <a:t>From Earnings to Cash flows</a:t>
          </a:r>
          <a:endParaRPr lang="en-GB" sz="2800" kern="1200" dirty="0"/>
        </a:p>
        <a:p>
          <a:pPr marL="285750" lvl="1" indent="-285750" algn="l" defTabSz="1244600" rtl="0">
            <a:lnSpc>
              <a:spcPct val="90000"/>
            </a:lnSpc>
            <a:spcBef>
              <a:spcPct val="0"/>
            </a:spcBef>
            <a:spcAft>
              <a:spcPct val="15000"/>
            </a:spcAft>
            <a:buChar char="•"/>
          </a:pPr>
          <a:r>
            <a:rPr lang="en-GB" sz="2800" kern="1200"/>
            <a:t>Earnings Adjustments</a:t>
          </a:r>
          <a:endParaRPr lang="en-GB" sz="2800" kern="1200" dirty="0"/>
        </a:p>
        <a:p>
          <a:pPr marL="285750" lvl="1" indent="-285750" algn="l" defTabSz="1244600" rtl="0">
            <a:lnSpc>
              <a:spcPct val="90000"/>
            </a:lnSpc>
            <a:spcBef>
              <a:spcPct val="0"/>
            </a:spcBef>
            <a:spcAft>
              <a:spcPct val="15000"/>
            </a:spcAft>
            <a:buChar char="•"/>
          </a:pPr>
          <a:r>
            <a:rPr lang="en-GB" sz="2800" kern="1200"/>
            <a:t>Re-Investment</a:t>
          </a:r>
          <a:endParaRPr lang="en-GB" sz="2800" kern="1200" dirty="0"/>
        </a:p>
      </dsp:txBody>
      <dsp:txXfrm>
        <a:off x="2811192" y="290565"/>
        <a:ext cx="5973783" cy="1451645"/>
      </dsp:txXfrm>
    </dsp:sp>
    <dsp:sp modelId="{35DD4545-1939-4C74-9DE7-2560C0B22AF4}">
      <dsp:nvSpPr>
        <dsp:cNvPr id="0" name=""/>
        <dsp:cNvSpPr/>
      </dsp:nvSpPr>
      <dsp:spPr>
        <a:xfrm>
          <a:off x="0" y="1998205"/>
          <a:ext cx="2196244" cy="1407656"/>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99136" tIns="71120" rIns="199136" bIns="71120" numCol="1" spcCol="1270" anchor="ctr" anchorCtr="0">
          <a:noAutofit/>
        </a:bodyPr>
        <a:lstStyle/>
        <a:p>
          <a:pPr marL="0" lvl="0" indent="0" algn="r" defTabSz="1244600" rtl="0">
            <a:lnSpc>
              <a:spcPct val="90000"/>
            </a:lnSpc>
            <a:spcBef>
              <a:spcPct val="0"/>
            </a:spcBef>
            <a:spcAft>
              <a:spcPct val="35000"/>
            </a:spcAft>
            <a:buNone/>
          </a:pPr>
          <a:r>
            <a:rPr lang="en-GB" sz="2800" kern="1200" dirty="0"/>
            <a:t>DCF Input II:</a:t>
          </a:r>
        </a:p>
        <a:p>
          <a:pPr marL="0" lvl="0" indent="0" algn="ctr" defTabSz="1244600" rtl="0">
            <a:lnSpc>
              <a:spcPct val="90000"/>
            </a:lnSpc>
            <a:spcBef>
              <a:spcPct val="0"/>
            </a:spcBef>
            <a:spcAft>
              <a:spcPct val="35000"/>
            </a:spcAft>
            <a:buNone/>
          </a:pPr>
          <a:r>
            <a:rPr lang="en-GB" sz="2800" kern="1200" dirty="0"/>
            <a:t> Growth</a:t>
          </a:r>
        </a:p>
      </dsp:txBody>
      <dsp:txXfrm>
        <a:off x="0" y="1998205"/>
        <a:ext cx="2196244" cy="1407656"/>
      </dsp:txXfrm>
    </dsp:sp>
    <dsp:sp modelId="{247C77D1-0978-4F59-8DFC-D61B9E774A22}">
      <dsp:nvSpPr>
        <dsp:cNvPr id="0" name=""/>
        <dsp:cNvSpPr/>
      </dsp:nvSpPr>
      <dsp:spPr>
        <a:xfrm>
          <a:off x="2196243" y="1976210"/>
          <a:ext cx="439248" cy="1451645"/>
        </a:xfrm>
        <a:prstGeom prst="leftBrace">
          <a:avLst>
            <a:gd name="adj1" fmla="val 35000"/>
            <a:gd name="adj2" fmla="val 50000"/>
          </a:avLst>
        </a:prstGeom>
        <a:noFill/>
        <a:ln w="11429" cap="flat" cmpd="sng" algn="ctr">
          <a:solidFill>
            <a:schemeClr val="accent1">
              <a:hueOff val="0"/>
              <a:satOff val="0"/>
              <a:lumOff val="0"/>
              <a:alphaOff val="0"/>
            </a:schemeClr>
          </a:solidFill>
          <a:prstDash val="sysDash"/>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A6735F09-E23E-418A-8DCE-C64578502936}">
      <dsp:nvSpPr>
        <dsp:cNvPr id="0" name=""/>
        <dsp:cNvSpPr/>
      </dsp:nvSpPr>
      <dsp:spPr>
        <a:xfrm>
          <a:off x="2811192" y="1976210"/>
          <a:ext cx="5973783" cy="1451645"/>
        </a:xfrm>
        <a:prstGeom prst="rect">
          <a:avLst/>
        </a:prstGeom>
        <a:solidFill>
          <a:schemeClr val="accent3">
            <a:hueOff val="0"/>
            <a:satOff val="0"/>
            <a:lumOff val="0"/>
            <a:alphaOff val="0"/>
          </a:schemeClr>
        </a:solidFill>
        <a:ln>
          <a:noFill/>
        </a:ln>
        <a:effectLst>
          <a:outerShdw blurRad="508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285750" lvl="1" indent="-285750" algn="l" defTabSz="1244600" rtl="0">
            <a:lnSpc>
              <a:spcPct val="90000"/>
            </a:lnSpc>
            <a:spcBef>
              <a:spcPct val="0"/>
            </a:spcBef>
            <a:spcAft>
              <a:spcPct val="15000"/>
            </a:spcAft>
            <a:buChar char="•"/>
          </a:pPr>
          <a:r>
            <a:rPr lang="en-GB" sz="2800" kern="1200" dirty="0"/>
            <a:t>How fast do you expect CF to grow</a:t>
          </a:r>
        </a:p>
        <a:p>
          <a:pPr marL="285750" lvl="1" indent="-285750" algn="l" defTabSz="1244600" rtl="0">
            <a:lnSpc>
              <a:spcPct val="90000"/>
            </a:lnSpc>
            <a:spcBef>
              <a:spcPct val="0"/>
            </a:spcBef>
            <a:spcAft>
              <a:spcPct val="15000"/>
            </a:spcAft>
            <a:buChar char="•"/>
          </a:pPr>
          <a:r>
            <a:rPr lang="en-GB" sz="2800" kern="1200"/>
            <a:t>For how long?</a:t>
          </a:r>
          <a:endParaRPr lang="en-GB" sz="2800" kern="1200" dirty="0"/>
        </a:p>
        <a:p>
          <a:pPr marL="285750" lvl="1" indent="-285750" algn="l" defTabSz="1244600" rtl="0">
            <a:lnSpc>
              <a:spcPct val="90000"/>
            </a:lnSpc>
            <a:spcBef>
              <a:spcPct val="0"/>
            </a:spcBef>
            <a:spcAft>
              <a:spcPct val="15000"/>
            </a:spcAft>
            <a:buChar char="•"/>
          </a:pPr>
          <a:r>
            <a:rPr lang="en-GB" sz="2800" kern="1200"/>
            <a:t>How many stages?</a:t>
          </a:r>
          <a:endParaRPr lang="en-GB" sz="2800" kern="1200" dirty="0"/>
        </a:p>
      </dsp:txBody>
      <dsp:txXfrm>
        <a:off x="2811192" y="1976210"/>
        <a:ext cx="5973783" cy="1451645"/>
      </dsp:txXfrm>
    </dsp:sp>
    <dsp:sp modelId="{742B64F6-490C-46C0-B944-79F38B424822}">
      <dsp:nvSpPr>
        <dsp:cNvPr id="0" name=""/>
        <dsp:cNvSpPr/>
      </dsp:nvSpPr>
      <dsp:spPr>
        <a:xfrm>
          <a:off x="0" y="3717157"/>
          <a:ext cx="2196244" cy="1769625"/>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99136" tIns="71120" rIns="199136" bIns="71120" numCol="1" spcCol="1270" anchor="ctr" anchorCtr="0">
          <a:noAutofit/>
        </a:bodyPr>
        <a:lstStyle/>
        <a:p>
          <a:pPr marL="0" lvl="0" indent="0" algn="r" defTabSz="1244600" rtl="0">
            <a:lnSpc>
              <a:spcPct val="90000"/>
            </a:lnSpc>
            <a:spcBef>
              <a:spcPct val="0"/>
            </a:spcBef>
            <a:spcAft>
              <a:spcPct val="35000"/>
            </a:spcAft>
            <a:buNone/>
          </a:pPr>
          <a:r>
            <a:rPr lang="en-GB" sz="2800" kern="1200" dirty="0"/>
            <a:t>DCF Input III: </a:t>
          </a:r>
        </a:p>
        <a:p>
          <a:pPr marL="0" lvl="0" indent="0" algn="ctr" defTabSz="1244600" rtl="0">
            <a:lnSpc>
              <a:spcPct val="90000"/>
            </a:lnSpc>
            <a:spcBef>
              <a:spcPct val="0"/>
            </a:spcBef>
            <a:spcAft>
              <a:spcPct val="35000"/>
            </a:spcAft>
            <a:buNone/>
          </a:pPr>
          <a:r>
            <a:rPr lang="en-GB" sz="2800" kern="1200" dirty="0"/>
            <a:t>Discount Rate</a:t>
          </a:r>
        </a:p>
      </dsp:txBody>
      <dsp:txXfrm>
        <a:off x="0" y="3717157"/>
        <a:ext cx="2196244" cy="1769625"/>
      </dsp:txXfrm>
    </dsp:sp>
    <dsp:sp modelId="{62FF817B-9802-4299-B01E-CD02FD9F8F68}">
      <dsp:nvSpPr>
        <dsp:cNvPr id="0" name=""/>
        <dsp:cNvSpPr/>
      </dsp:nvSpPr>
      <dsp:spPr>
        <a:xfrm>
          <a:off x="2196243" y="3661856"/>
          <a:ext cx="439248" cy="1880226"/>
        </a:xfrm>
        <a:prstGeom prst="leftBrace">
          <a:avLst>
            <a:gd name="adj1" fmla="val 35000"/>
            <a:gd name="adj2" fmla="val 50000"/>
          </a:avLst>
        </a:prstGeom>
        <a:noFill/>
        <a:ln w="11429" cap="flat" cmpd="sng" algn="ctr">
          <a:solidFill>
            <a:schemeClr val="accent1">
              <a:hueOff val="0"/>
              <a:satOff val="0"/>
              <a:lumOff val="0"/>
              <a:alphaOff val="0"/>
            </a:schemeClr>
          </a:solidFill>
          <a:prstDash val="sysDash"/>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09C02A45-D89D-4D30-9D92-A2E4BDEF4C67}">
      <dsp:nvSpPr>
        <dsp:cNvPr id="0" name=""/>
        <dsp:cNvSpPr/>
      </dsp:nvSpPr>
      <dsp:spPr>
        <a:xfrm>
          <a:off x="2811192" y="3661856"/>
          <a:ext cx="5973783" cy="1880226"/>
        </a:xfrm>
        <a:prstGeom prst="rect">
          <a:avLst/>
        </a:prstGeom>
        <a:solidFill>
          <a:schemeClr val="accent4">
            <a:hueOff val="0"/>
            <a:satOff val="0"/>
            <a:lumOff val="0"/>
            <a:alphaOff val="0"/>
          </a:schemeClr>
        </a:solidFill>
        <a:ln>
          <a:noFill/>
        </a:ln>
        <a:effectLst>
          <a:outerShdw blurRad="508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285750" lvl="1" indent="-285750" algn="just" defTabSz="1244600" rtl="0">
            <a:lnSpc>
              <a:spcPct val="90000"/>
            </a:lnSpc>
            <a:spcBef>
              <a:spcPct val="0"/>
            </a:spcBef>
            <a:spcAft>
              <a:spcPct val="15000"/>
            </a:spcAft>
            <a:buChar char="•"/>
          </a:pPr>
          <a:r>
            <a:rPr lang="en-US" sz="2800" kern="1200" dirty="0"/>
            <a:t>What rate reflects risk?</a:t>
          </a:r>
          <a:endParaRPr lang="en-GB" sz="2800" kern="1200" dirty="0"/>
        </a:p>
        <a:p>
          <a:pPr marL="285750" lvl="1" indent="-285750" algn="just" defTabSz="1244600" rtl="0">
            <a:lnSpc>
              <a:spcPct val="90000"/>
            </a:lnSpc>
            <a:spcBef>
              <a:spcPct val="0"/>
            </a:spcBef>
            <a:spcAft>
              <a:spcPct val="15000"/>
            </a:spcAft>
            <a:buChar char="•"/>
          </a:pPr>
          <a:r>
            <a:rPr lang="en-GB" sz="2800" kern="1200" dirty="0"/>
            <a:t>Equity or firm?</a:t>
          </a:r>
        </a:p>
        <a:p>
          <a:pPr marL="285750" lvl="1" indent="-285750" algn="just" defTabSz="1244600" rtl="0">
            <a:lnSpc>
              <a:spcPct val="90000"/>
            </a:lnSpc>
            <a:spcBef>
              <a:spcPct val="0"/>
            </a:spcBef>
            <a:spcAft>
              <a:spcPct val="15000"/>
            </a:spcAft>
            <a:buChar char="•"/>
          </a:pPr>
          <a:r>
            <a:rPr lang="en-GB" sz="2800" kern="1200" dirty="0"/>
            <a:t>Adjustments (inflation, risk)</a:t>
          </a:r>
        </a:p>
        <a:p>
          <a:pPr marL="285750" lvl="1" indent="-285750" algn="just" defTabSz="1244600" rtl="0">
            <a:lnSpc>
              <a:spcPct val="90000"/>
            </a:lnSpc>
            <a:spcBef>
              <a:spcPct val="0"/>
            </a:spcBef>
            <a:spcAft>
              <a:spcPct val="15000"/>
            </a:spcAft>
            <a:buChar char="•"/>
          </a:pPr>
          <a:r>
            <a:rPr lang="en-GB" sz="2800" kern="1200" dirty="0"/>
            <a:t>dr can vary over time</a:t>
          </a:r>
        </a:p>
      </dsp:txBody>
      <dsp:txXfrm>
        <a:off x="2811192" y="3661856"/>
        <a:ext cx="5973783" cy="188022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6572FF-8D3F-4CB9-ACFD-5B79A10A0950}">
      <dsp:nvSpPr>
        <dsp:cNvPr id="0" name=""/>
        <dsp:cNvSpPr/>
      </dsp:nvSpPr>
      <dsp:spPr>
        <a:xfrm>
          <a:off x="0" y="39326"/>
          <a:ext cx="8291264" cy="935414"/>
        </a:xfrm>
        <a:prstGeom prst="roundRect">
          <a:avLst/>
        </a:prstGeom>
        <a:gradFill rotWithShape="0">
          <a:gsLst>
            <a:gs pos="0">
              <a:schemeClr val="accent2">
                <a:hueOff val="0"/>
                <a:satOff val="0"/>
                <a:lumOff val="0"/>
                <a:alphaOff val="0"/>
                <a:shade val="63000"/>
                <a:satMod val="165000"/>
              </a:schemeClr>
            </a:gs>
            <a:gs pos="30000">
              <a:schemeClr val="accent2">
                <a:hueOff val="0"/>
                <a:satOff val="0"/>
                <a:lumOff val="0"/>
                <a:alphaOff val="0"/>
                <a:shade val="58000"/>
                <a:satMod val="165000"/>
              </a:schemeClr>
            </a:gs>
            <a:gs pos="75000">
              <a:schemeClr val="accent2">
                <a:hueOff val="0"/>
                <a:satOff val="0"/>
                <a:lumOff val="0"/>
                <a:alphaOff val="0"/>
                <a:shade val="30000"/>
                <a:satMod val="175000"/>
              </a:schemeClr>
            </a:gs>
            <a:gs pos="100000">
              <a:schemeClr val="accent2">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kern="1200"/>
            <a:t>Estimate the current earnings of the firm</a:t>
          </a:r>
          <a:endParaRPr lang="en-GB" sz="2400" kern="1200"/>
        </a:p>
      </dsp:txBody>
      <dsp:txXfrm>
        <a:off x="45663" y="84989"/>
        <a:ext cx="8199938" cy="844088"/>
      </dsp:txXfrm>
    </dsp:sp>
    <dsp:sp modelId="{ED282DAC-4B5A-4A48-8BA6-C8D1D23E2942}">
      <dsp:nvSpPr>
        <dsp:cNvPr id="0" name=""/>
        <dsp:cNvSpPr/>
      </dsp:nvSpPr>
      <dsp:spPr>
        <a:xfrm>
          <a:off x="0" y="974741"/>
          <a:ext cx="8291264" cy="1167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3248" tIns="30480" rIns="170688" bIns="30480" numCol="1" spcCol="1270" anchor="t" anchorCtr="0">
          <a:noAutofit/>
        </a:bodyPr>
        <a:lstStyle/>
        <a:p>
          <a:pPr marL="171450" lvl="1" indent="-171450" algn="l" defTabSz="844550" rtl="0">
            <a:lnSpc>
              <a:spcPct val="90000"/>
            </a:lnSpc>
            <a:spcBef>
              <a:spcPct val="0"/>
            </a:spcBef>
            <a:spcAft>
              <a:spcPct val="20000"/>
            </a:spcAft>
            <a:buChar char="•"/>
          </a:pPr>
          <a:r>
            <a:rPr lang="en-US" sz="1900" kern="1200"/>
            <a:t>If looking at cash flows to equity, look at earnings after interest expenses - i.e. net income</a:t>
          </a:r>
          <a:endParaRPr lang="en-GB" sz="1900" kern="1200"/>
        </a:p>
        <a:p>
          <a:pPr marL="171450" lvl="1" indent="-171450" algn="l" defTabSz="844550" rtl="0">
            <a:lnSpc>
              <a:spcPct val="90000"/>
            </a:lnSpc>
            <a:spcBef>
              <a:spcPct val="0"/>
            </a:spcBef>
            <a:spcAft>
              <a:spcPct val="20000"/>
            </a:spcAft>
            <a:buChar char="•"/>
          </a:pPr>
          <a:r>
            <a:rPr lang="en-US" sz="1900" kern="1200" dirty="0"/>
            <a:t>If looking at cash flows to the firm, look at operating earnings after taxes</a:t>
          </a:r>
          <a:endParaRPr lang="en-GB" sz="1900" kern="1200" dirty="0"/>
        </a:p>
      </dsp:txBody>
      <dsp:txXfrm>
        <a:off x="0" y="974741"/>
        <a:ext cx="8291264" cy="1167480"/>
      </dsp:txXfrm>
    </dsp:sp>
    <dsp:sp modelId="{B7ECDA4B-822E-44A0-914F-38F5F2EC6809}">
      <dsp:nvSpPr>
        <dsp:cNvPr id="0" name=""/>
        <dsp:cNvSpPr/>
      </dsp:nvSpPr>
      <dsp:spPr>
        <a:xfrm>
          <a:off x="0" y="2142221"/>
          <a:ext cx="8291264" cy="935414"/>
        </a:xfrm>
        <a:prstGeom prst="roundRect">
          <a:avLst/>
        </a:prstGeom>
        <a:gradFill rotWithShape="0">
          <a:gsLst>
            <a:gs pos="0">
              <a:schemeClr val="accent2">
                <a:hueOff val="-6317677"/>
                <a:satOff val="10648"/>
                <a:lumOff val="-13040"/>
                <a:alphaOff val="0"/>
                <a:shade val="63000"/>
                <a:satMod val="165000"/>
              </a:schemeClr>
            </a:gs>
            <a:gs pos="30000">
              <a:schemeClr val="accent2">
                <a:hueOff val="-6317677"/>
                <a:satOff val="10648"/>
                <a:lumOff val="-13040"/>
                <a:alphaOff val="0"/>
                <a:shade val="58000"/>
                <a:satMod val="165000"/>
              </a:schemeClr>
            </a:gs>
            <a:gs pos="75000">
              <a:schemeClr val="accent2">
                <a:hueOff val="-6317677"/>
                <a:satOff val="10648"/>
                <a:lumOff val="-13040"/>
                <a:alphaOff val="0"/>
                <a:shade val="30000"/>
                <a:satMod val="175000"/>
              </a:schemeClr>
            </a:gs>
            <a:gs pos="100000">
              <a:schemeClr val="accent2">
                <a:hueOff val="-6317677"/>
                <a:satOff val="10648"/>
                <a:lumOff val="-1304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kern="1200"/>
            <a:t>Consider how much the firm invested to create future growth</a:t>
          </a:r>
          <a:endParaRPr lang="en-GB" sz="2400" kern="1200"/>
        </a:p>
      </dsp:txBody>
      <dsp:txXfrm>
        <a:off x="45663" y="2187884"/>
        <a:ext cx="8199938" cy="844088"/>
      </dsp:txXfrm>
    </dsp:sp>
    <dsp:sp modelId="{8F8A653C-E669-4570-BDD7-5BA860E3FBA6}">
      <dsp:nvSpPr>
        <dsp:cNvPr id="0" name=""/>
        <dsp:cNvSpPr/>
      </dsp:nvSpPr>
      <dsp:spPr>
        <a:xfrm>
          <a:off x="0" y="3077636"/>
          <a:ext cx="8291264" cy="1440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3248" tIns="30480" rIns="170688" bIns="30480" numCol="1" spcCol="1270" anchor="t" anchorCtr="0">
          <a:noAutofit/>
        </a:bodyPr>
        <a:lstStyle/>
        <a:p>
          <a:pPr marL="171450" lvl="1" indent="-171450" algn="l" defTabSz="844550" rtl="0">
            <a:lnSpc>
              <a:spcPct val="90000"/>
            </a:lnSpc>
            <a:spcBef>
              <a:spcPct val="0"/>
            </a:spcBef>
            <a:spcAft>
              <a:spcPct val="20000"/>
            </a:spcAft>
            <a:buChar char="•"/>
          </a:pPr>
          <a:r>
            <a:rPr lang="en-US" sz="1900" kern="1200"/>
            <a:t>If the investment is not expensed, it will be categorized as capital expenditures. To the extent that depreciation provides a cash flow, it will cover some of these expenditures.</a:t>
          </a:r>
          <a:endParaRPr lang="en-GB" sz="1900" kern="1200"/>
        </a:p>
        <a:p>
          <a:pPr marL="171450" lvl="1" indent="-171450" algn="l" defTabSz="844550" rtl="0">
            <a:lnSpc>
              <a:spcPct val="90000"/>
            </a:lnSpc>
            <a:spcBef>
              <a:spcPct val="0"/>
            </a:spcBef>
            <a:spcAft>
              <a:spcPct val="20000"/>
            </a:spcAft>
            <a:buChar char="•"/>
          </a:pPr>
          <a:r>
            <a:rPr lang="en-US" sz="1900" kern="1200"/>
            <a:t>Increasing working capital needs are also investments for future growth</a:t>
          </a:r>
          <a:endParaRPr lang="en-GB" sz="1900" kern="1200"/>
        </a:p>
      </dsp:txBody>
      <dsp:txXfrm>
        <a:off x="0" y="3077636"/>
        <a:ext cx="8291264" cy="1440720"/>
      </dsp:txXfrm>
    </dsp:sp>
    <dsp:sp modelId="{45DD733C-85CF-41DD-B98E-FF4F0F1BC573}">
      <dsp:nvSpPr>
        <dsp:cNvPr id="0" name=""/>
        <dsp:cNvSpPr/>
      </dsp:nvSpPr>
      <dsp:spPr>
        <a:xfrm>
          <a:off x="0" y="4518356"/>
          <a:ext cx="8291264" cy="935414"/>
        </a:xfrm>
        <a:prstGeom prst="roundRect">
          <a:avLst/>
        </a:prstGeom>
        <a:gradFill rotWithShape="0">
          <a:gsLst>
            <a:gs pos="0">
              <a:schemeClr val="accent2">
                <a:hueOff val="-12635355"/>
                <a:satOff val="21297"/>
                <a:lumOff val="-26079"/>
                <a:alphaOff val="0"/>
                <a:shade val="63000"/>
                <a:satMod val="165000"/>
              </a:schemeClr>
            </a:gs>
            <a:gs pos="30000">
              <a:schemeClr val="accent2">
                <a:hueOff val="-12635355"/>
                <a:satOff val="21297"/>
                <a:lumOff val="-26079"/>
                <a:alphaOff val="0"/>
                <a:shade val="58000"/>
                <a:satMod val="165000"/>
              </a:schemeClr>
            </a:gs>
            <a:gs pos="75000">
              <a:schemeClr val="accent2">
                <a:hueOff val="-12635355"/>
                <a:satOff val="21297"/>
                <a:lumOff val="-26079"/>
                <a:alphaOff val="0"/>
                <a:shade val="30000"/>
                <a:satMod val="175000"/>
              </a:schemeClr>
            </a:gs>
            <a:gs pos="100000">
              <a:schemeClr val="accent2">
                <a:hueOff val="-12635355"/>
                <a:satOff val="21297"/>
                <a:lumOff val="-26079"/>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kern="1200"/>
            <a:t>If looking at cash flows to equity, consider the cash flows from net debt issues (debt issued - debt repaid)</a:t>
          </a:r>
          <a:endParaRPr lang="en-GB" sz="2400" kern="1200"/>
        </a:p>
      </dsp:txBody>
      <dsp:txXfrm>
        <a:off x="45663" y="4564019"/>
        <a:ext cx="8199938" cy="84408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F36137-5149-490B-AB2C-45F3E2A37990}">
      <dsp:nvSpPr>
        <dsp:cNvPr id="0" name=""/>
        <dsp:cNvSpPr/>
      </dsp:nvSpPr>
      <dsp:spPr>
        <a:xfrm>
          <a:off x="1054" y="0"/>
          <a:ext cx="2742492" cy="5637113"/>
        </a:xfrm>
        <a:prstGeom prst="roundRect">
          <a:avLst>
            <a:gd name="adj" fmla="val 10000"/>
          </a:avLst>
        </a:prstGeom>
        <a:gradFill rotWithShape="0">
          <a:gsLst>
            <a:gs pos="0">
              <a:schemeClr val="accent2">
                <a:tint val="40000"/>
                <a:hueOff val="0"/>
                <a:satOff val="0"/>
                <a:lumOff val="0"/>
                <a:alphaOff val="0"/>
                <a:shade val="63000"/>
                <a:satMod val="165000"/>
              </a:schemeClr>
            </a:gs>
            <a:gs pos="30000">
              <a:schemeClr val="accent2">
                <a:tint val="40000"/>
                <a:hueOff val="0"/>
                <a:satOff val="0"/>
                <a:lumOff val="0"/>
                <a:alphaOff val="0"/>
                <a:shade val="58000"/>
                <a:satMod val="165000"/>
              </a:schemeClr>
            </a:gs>
            <a:gs pos="75000">
              <a:schemeClr val="accent2">
                <a:tint val="40000"/>
                <a:hueOff val="0"/>
                <a:satOff val="0"/>
                <a:lumOff val="0"/>
                <a:alphaOff val="0"/>
                <a:shade val="30000"/>
                <a:satMod val="175000"/>
              </a:schemeClr>
            </a:gs>
            <a:gs pos="100000">
              <a:schemeClr val="accent2">
                <a:tint val="40000"/>
                <a:hueOff val="0"/>
                <a:satOff val="0"/>
                <a:lumOff val="0"/>
                <a:alphaOff val="0"/>
                <a:shade val="15000"/>
                <a:satMod val="175000"/>
              </a:schemeClr>
            </a:gs>
          </a:gsLst>
          <a:path path="circle">
            <a:fillToRect l="5000" t="100000" r="120000" b="10000"/>
          </a:path>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GB" sz="3400" kern="1200" dirty="0"/>
            <a:t>Measuring Earnings</a:t>
          </a:r>
        </a:p>
      </dsp:txBody>
      <dsp:txXfrm>
        <a:off x="1054" y="0"/>
        <a:ext cx="2742492" cy="1691133"/>
      </dsp:txXfrm>
    </dsp:sp>
    <dsp:sp modelId="{23A4B866-70DF-47BC-951D-7A0EC941D5B6}">
      <dsp:nvSpPr>
        <dsp:cNvPr id="0" name=""/>
        <dsp:cNvSpPr/>
      </dsp:nvSpPr>
      <dsp:spPr>
        <a:xfrm>
          <a:off x="275304" y="1691615"/>
          <a:ext cx="2193993" cy="1107466"/>
        </a:xfrm>
        <a:prstGeom prst="roundRect">
          <a:avLst>
            <a:gd name="adj" fmla="val 10000"/>
          </a:avLst>
        </a:prstGeom>
        <a:gradFill rotWithShape="0">
          <a:gsLst>
            <a:gs pos="0">
              <a:schemeClr val="accent2">
                <a:hueOff val="0"/>
                <a:satOff val="0"/>
                <a:lumOff val="0"/>
                <a:alphaOff val="0"/>
                <a:shade val="63000"/>
                <a:satMod val="165000"/>
              </a:schemeClr>
            </a:gs>
            <a:gs pos="30000">
              <a:schemeClr val="accent2">
                <a:hueOff val="0"/>
                <a:satOff val="0"/>
                <a:lumOff val="0"/>
                <a:alphaOff val="0"/>
                <a:shade val="58000"/>
                <a:satMod val="165000"/>
              </a:schemeClr>
            </a:gs>
            <a:gs pos="75000">
              <a:schemeClr val="accent2">
                <a:hueOff val="0"/>
                <a:satOff val="0"/>
                <a:lumOff val="0"/>
                <a:alphaOff val="0"/>
                <a:shade val="30000"/>
                <a:satMod val="175000"/>
              </a:schemeClr>
            </a:gs>
            <a:gs pos="100000">
              <a:schemeClr val="accent2">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GB" sz="1600" kern="1200" dirty="0"/>
            <a:t>Normalize Earnings (Cyclicality-Variability)</a:t>
          </a:r>
        </a:p>
      </dsp:txBody>
      <dsp:txXfrm>
        <a:off x="307741" y="1724052"/>
        <a:ext cx="2129119" cy="1042592"/>
      </dsp:txXfrm>
    </dsp:sp>
    <dsp:sp modelId="{BB0876B2-F3C8-4CDF-9A6D-3839BBA9B554}">
      <dsp:nvSpPr>
        <dsp:cNvPr id="0" name=""/>
        <dsp:cNvSpPr/>
      </dsp:nvSpPr>
      <dsp:spPr>
        <a:xfrm>
          <a:off x="275304" y="2969462"/>
          <a:ext cx="2193993" cy="1107466"/>
        </a:xfrm>
        <a:prstGeom prst="roundRect">
          <a:avLst>
            <a:gd name="adj" fmla="val 10000"/>
          </a:avLst>
        </a:prstGeom>
        <a:gradFill rotWithShape="0">
          <a:gsLst>
            <a:gs pos="0">
              <a:schemeClr val="accent2">
                <a:hueOff val="-1403928"/>
                <a:satOff val="2366"/>
                <a:lumOff val="-2898"/>
                <a:alphaOff val="0"/>
                <a:shade val="63000"/>
                <a:satMod val="165000"/>
              </a:schemeClr>
            </a:gs>
            <a:gs pos="30000">
              <a:schemeClr val="accent2">
                <a:hueOff val="-1403928"/>
                <a:satOff val="2366"/>
                <a:lumOff val="-2898"/>
                <a:alphaOff val="0"/>
                <a:shade val="58000"/>
                <a:satMod val="165000"/>
              </a:schemeClr>
            </a:gs>
            <a:gs pos="75000">
              <a:schemeClr val="accent2">
                <a:hueOff val="-1403928"/>
                <a:satOff val="2366"/>
                <a:lumOff val="-2898"/>
                <a:alphaOff val="0"/>
                <a:shade val="30000"/>
                <a:satMod val="175000"/>
              </a:schemeClr>
            </a:gs>
            <a:gs pos="100000">
              <a:schemeClr val="accent2">
                <a:hueOff val="-1403928"/>
                <a:satOff val="2366"/>
                <a:lumOff val="-2898"/>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t" anchorCtr="0">
          <a:noAutofit/>
        </a:bodyPr>
        <a:lstStyle/>
        <a:p>
          <a:pPr marL="0" lvl="0" indent="0" algn="l" defTabSz="711200">
            <a:lnSpc>
              <a:spcPct val="90000"/>
            </a:lnSpc>
            <a:spcBef>
              <a:spcPct val="0"/>
            </a:spcBef>
            <a:spcAft>
              <a:spcPct val="35000"/>
            </a:spcAft>
            <a:buNone/>
          </a:pPr>
          <a:r>
            <a:rPr lang="en-GB" sz="1600" kern="1200" dirty="0"/>
            <a:t>Correcting Earnings</a:t>
          </a:r>
        </a:p>
        <a:p>
          <a:pPr marL="114300" lvl="1" indent="-114300" algn="l" defTabSz="533400">
            <a:lnSpc>
              <a:spcPct val="90000"/>
            </a:lnSpc>
            <a:spcBef>
              <a:spcPct val="0"/>
            </a:spcBef>
            <a:spcAft>
              <a:spcPct val="15000"/>
            </a:spcAft>
            <a:buChar char="•"/>
          </a:pPr>
          <a:r>
            <a:rPr lang="en-GB" sz="1200" kern="1200" dirty="0"/>
            <a:t>Abnormal Expenses-Negative Earnings</a:t>
          </a:r>
        </a:p>
        <a:p>
          <a:pPr marL="114300" lvl="1" indent="-114300" algn="l" defTabSz="533400">
            <a:lnSpc>
              <a:spcPct val="90000"/>
            </a:lnSpc>
            <a:spcBef>
              <a:spcPct val="0"/>
            </a:spcBef>
            <a:spcAft>
              <a:spcPct val="15000"/>
            </a:spcAft>
            <a:buChar char="•"/>
          </a:pPr>
          <a:r>
            <a:rPr lang="en-GB" sz="1200" kern="1200" dirty="0"/>
            <a:t>Adjusting Operating Costs</a:t>
          </a:r>
        </a:p>
      </dsp:txBody>
      <dsp:txXfrm>
        <a:off x="307741" y="3001899"/>
        <a:ext cx="2129119" cy="1042592"/>
      </dsp:txXfrm>
    </dsp:sp>
    <dsp:sp modelId="{1FCF82C7-0367-4D24-BB41-BD55F34DF8D9}">
      <dsp:nvSpPr>
        <dsp:cNvPr id="0" name=""/>
        <dsp:cNvSpPr/>
      </dsp:nvSpPr>
      <dsp:spPr>
        <a:xfrm>
          <a:off x="275304" y="4247308"/>
          <a:ext cx="2193993" cy="1107466"/>
        </a:xfrm>
        <a:prstGeom prst="roundRect">
          <a:avLst>
            <a:gd name="adj" fmla="val 10000"/>
          </a:avLst>
        </a:prstGeom>
        <a:gradFill rotWithShape="0">
          <a:gsLst>
            <a:gs pos="0">
              <a:schemeClr val="accent2">
                <a:hueOff val="-2807857"/>
                <a:satOff val="4733"/>
                <a:lumOff val="-5795"/>
                <a:alphaOff val="0"/>
                <a:shade val="63000"/>
                <a:satMod val="165000"/>
              </a:schemeClr>
            </a:gs>
            <a:gs pos="30000">
              <a:schemeClr val="accent2">
                <a:hueOff val="-2807857"/>
                <a:satOff val="4733"/>
                <a:lumOff val="-5795"/>
                <a:alphaOff val="0"/>
                <a:shade val="58000"/>
                <a:satMod val="165000"/>
              </a:schemeClr>
            </a:gs>
            <a:gs pos="75000">
              <a:schemeClr val="accent2">
                <a:hueOff val="-2807857"/>
                <a:satOff val="4733"/>
                <a:lumOff val="-5795"/>
                <a:alphaOff val="0"/>
                <a:shade val="30000"/>
                <a:satMod val="175000"/>
              </a:schemeClr>
            </a:gs>
            <a:gs pos="100000">
              <a:schemeClr val="accent2">
                <a:hueOff val="-2807857"/>
                <a:satOff val="4733"/>
                <a:lumOff val="-5795"/>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GB" sz="1600" kern="1200" dirty="0"/>
            <a:t>Updating Earnings</a:t>
          </a:r>
        </a:p>
      </dsp:txBody>
      <dsp:txXfrm>
        <a:off x="307741" y="4279745"/>
        <a:ext cx="2129119" cy="1042592"/>
      </dsp:txXfrm>
    </dsp:sp>
    <dsp:sp modelId="{C4FB9EFB-215B-479E-B643-53E28EB82633}">
      <dsp:nvSpPr>
        <dsp:cNvPr id="0" name=""/>
        <dsp:cNvSpPr/>
      </dsp:nvSpPr>
      <dsp:spPr>
        <a:xfrm>
          <a:off x="2949233" y="0"/>
          <a:ext cx="2742492" cy="5637113"/>
        </a:xfrm>
        <a:prstGeom prst="roundRect">
          <a:avLst>
            <a:gd name="adj" fmla="val 10000"/>
          </a:avLst>
        </a:prstGeom>
        <a:gradFill rotWithShape="0">
          <a:gsLst>
            <a:gs pos="0">
              <a:schemeClr val="accent2">
                <a:tint val="40000"/>
                <a:hueOff val="0"/>
                <a:satOff val="0"/>
                <a:lumOff val="0"/>
                <a:alphaOff val="0"/>
                <a:shade val="63000"/>
                <a:satMod val="165000"/>
              </a:schemeClr>
            </a:gs>
            <a:gs pos="30000">
              <a:schemeClr val="accent2">
                <a:tint val="40000"/>
                <a:hueOff val="0"/>
                <a:satOff val="0"/>
                <a:lumOff val="0"/>
                <a:alphaOff val="0"/>
                <a:shade val="58000"/>
                <a:satMod val="165000"/>
              </a:schemeClr>
            </a:gs>
            <a:gs pos="75000">
              <a:schemeClr val="accent2">
                <a:tint val="40000"/>
                <a:hueOff val="0"/>
                <a:satOff val="0"/>
                <a:lumOff val="0"/>
                <a:alphaOff val="0"/>
                <a:shade val="30000"/>
                <a:satMod val="175000"/>
              </a:schemeClr>
            </a:gs>
            <a:gs pos="100000">
              <a:schemeClr val="accent2">
                <a:tint val="40000"/>
                <a:hueOff val="0"/>
                <a:satOff val="0"/>
                <a:lumOff val="0"/>
                <a:alphaOff val="0"/>
                <a:shade val="15000"/>
                <a:satMod val="175000"/>
              </a:schemeClr>
            </a:gs>
          </a:gsLst>
          <a:path path="circle">
            <a:fillToRect l="5000" t="100000" r="120000" b="10000"/>
          </a:path>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GB" sz="3400" kern="1200" dirty="0"/>
            <a:t>From Earnings to Cash Flows</a:t>
          </a:r>
        </a:p>
      </dsp:txBody>
      <dsp:txXfrm>
        <a:off x="2949233" y="0"/>
        <a:ext cx="2742492" cy="1691133"/>
      </dsp:txXfrm>
    </dsp:sp>
    <dsp:sp modelId="{E2CDD9BE-7E09-4191-AE0E-9ECB3CFE49AF}">
      <dsp:nvSpPr>
        <dsp:cNvPr id="0" name=""/>
        <dsp:cNvSpPr/>
      </dsp:nvSpPr>
      <dsp:spPr>
        <a:xfrm>
          <a:off x="3223483" y="1691271"/>
          <a:ext cx="2193993" cy="821207"/>
        </a:xfrm>
        <a:prstGeom prst="roundRect">
          <a:avLst>
            <a:gd name="adj" fmla="val 10000"/>
          </a:avLst>
        </a:prstGeom>
        <a:gradFill rotWithShape="0">
          <a:gsLst>
            <a:gs pos="0">
              <a:schemeClr val="accent2">
                <a:hueOff val="-4211785"/>
                <a:satOff val="7099"/>
                <a:lumOff val="-8693"/>
                <a:alphaOff val="0"/>
                <a:shade val="63000"/>
                <a:satMod val="165000"/>
              </a:schemeClr>
            </a:gs>
            <a:gs pos="30000">
              <a:schemeClr val="accent2">
                <a:hueOff val="-4211785"/>
                <a:satOff val="7099"/>
                <a:lumOff val="-8693"/>
                <a:alphaOff val="0"/>
                <a:shade val="58000"/>
                <a:satMod val="165000"/>
              </a:schemeClr>
            </a:gs>
            <a:gs pos="75000">
              <a:schemeClr val="accent2">
                <a:hueOff val="-4211785"/>
                <a:satOff val="7099"/>
                <a:lumOff val="-8693"/>
                <a:alphaOff val="0"/>
                <a:shade val="30000"/>
                <a:satMod val="175000"/>
              </a:schemeClr>
            </a:gs>
            <a:gs pos="100000">
              <a:schemeClr val="accent2">
                <a:hueOff val="-4211785"/>
                <a:satOff val="7099"/>
                <a:lumOff val="-8693"/>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GB" sz="1600" kern="1200" dirty="0"/>
            <a:t>Tax</a:t>
          </a:r>
        </a:p>
      </dsp:txBody>
      <dsp:txXfrm>
        <a:off x="3247535" y="1715323"/>
        <a:ext cx="2145889" cy="773103"/>
      </dsp:txXfrm>
    </dsp:sp>
    <dsp:sp modelId="{69C26275-3039-4434-B964-543B2DEFE86F}">
      <dsp:nvSpPr>
        <dsp:cNvPr id="0" name=""/>
        <dsp:cNvSpPr/>
      </dsp:nvSpPr>
      <dsp:spPr>
        <a:xfrm>
          <a:off x="3223483" y="2638818"/>
          <a:ext cx="2193993" cy="821207"/>
        </a:xfrm>
        <a:prstGeom prst="roundRect">
          <a:avLst>
            <a:gd name="adj" fmla="val 10000"/>
          </a:avLst>
        </a:prstGeom>
        <a:gradFill rotWithShape="0">
          <a:gsLst>
            <a:gs pos="0">
              <a:schemeClr val="accent2">
                <a:hueOff val="-5615713"/>
                <a:satOff val="9465"/>
                <a:lumOff val="-11591"/>
                <a:alphaOff val="0"/>
                <a:shade val="63000"/>
                <a:satMod val="165000"/>
              </a:schemeClr>
            </a:gs>
            <a:gs pos="30000">
              <a:schemeClr val="accent2">
                <a:hueOff val="-5615713"/>
                <a:satOff val="9465"/>
                <a:lumOff val="-11591"/>
                <a:alphaOff val="0"/>
                <a:shade val="58000"/>
                <a:satMod val="165000"/>
              </a:schemeClr>
            </a:gs>
            <a:gs pos="75000">
              <a:schemeClr val="accent2">
                <a:hueOff val="-5615713"/>
                <a:satOff val="9465"/>
                <a:lumOff val="-11591"/>
                <a:alphaOff val="0"/>
                <a:shade val="30000"/>
                <a:satMod val="175000"/>
              </a:schemeClr>
            </a:gs>
            <a:gs pos="100000">
              <a:schemeClr val="accent2">
                <a:hueOff val="-5615713"/>
                <a:satOff val="9465"/>
                <a:lumOff val="-11591"/>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GB" sz="1600" kern="1200" dirty="0"/>
            <a:t>Investment Activities-Capital Expenses</a:t>
          </a:r>
        </a:p>
      </dsp:txBody>
      <dsp:txXfrm>
        <a:off x="3247535" y="2662870"/>
        <a:ext cx="2145889" cy="773103"/>
      </dsp:txXfrm>
    </dsp:sp>
    <dsp:sp modelId="{53A2FEDB-F5F9-4FA4-AF92-046CE2CCF92E}">
      <dsp:nvSpPr>
        <dsp:cNvPr id="0" name=""/>
        <dsp:cNvSpPr/>
      </dsp:nvSpPr>
      <dsp:spPr>
        <a:xfrm>
          <a:off x="3223483" y="3586365"/>
          <a:ext cx="2193993" cy="821207"/>
        </a:xfrm>
        <a:prstGeom prst="roundRect">
          <a:avLst>
            <a:gd name="adj" fmla="val 10000"/>
          </a:avLst>
        </a:prstGeom>
        <a:gradFill rotWithShape="0">
          <a:gsLst>
            <a:gs pos="0">
              <a:schemeClr val="accent2">
                <a:hueOff val="-7019642"/>
                <a:satOff val="11832"/>
                <a:lumOff val="-14488"/>
                <a:alphaOff val="0"/>
                <a:shade val="63000"/>
                <a:satMod val="165000"/>
              </a:schemeClr>
            </a:gs>
            <a:gs pos="30000">
              <a:schemeClr val="accent2">
                <a:hueOff val="-7019642"/>
                <a:satOff val="11832"/>
                <a:lumOff val="-14488"/>
                <a:alphaOff val="0"/>
                <a:shade val="58000"/>
                <a:satMod val="165000"/>
              </a:schemeClr>
            </a:gs>
            <a:gs pos="75000">
              <a:schemeClr val="accent2">
                <a:hueOff val="-7019642"/>
                <a:satOff val="11832"/>
                <a:lumOff val="-14488"/>
                <a:alphaOff val="0"/>
                <a:shade val="30000"/>
                <a:satMod val="175000"/>
              </a:schemeClr>
            </a:gs>
            <a:gs pos="100000">
              <a:schemeClr val="accent2">
                <a:hueOff val="-7019642"/>
                <a:satOff val="11832"/>
                <a:lumOff val="-14488"/>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GB" sz="1600" kern="1200" dirty="0"/>
            <a:t>Financing Activities</a:t>
          </a:r>
        </a:p>
      </dsp:txBody>
      <dsp:txXfrm>
        <a:off x="3247535" y="3610417"/>
        <a:ext cx="2145889" cy="773103"/>
      </dsp:txXfrm>
    </dsp:sp>
    <dsp:sp modelId="{7D53205E-F54B-4707-95F3-7F0887A80650}">
      <dsp:nvSpPr>
        <dsp:cNvPr id="0" name=""/>
        <dsp:cNvSpPr/>
      </dsp:nvSpPr>
      <dsp:spPr>
        <a:xfrm>
          <a:off x="3223483" y="4533912"/>
          <a:ext cx="2193993" cy="821207"/>
        </a:xfrm>
        <a:prstGeom prst="roundRect">
          <a:avLst>
            <a:gd name="adj" fmla="val 10000"/>
          </a:avLst>
        </a:prstGeom>
        <a:gradFill rotWithShape="0">
          <a:gsLst>
            <a:gs pos="0">
              <a:schemeClr val="accent2">
                <a:hueOff val="-8423570"/>
                <a:satOff val="14198"/>
                <a:lumOff val="-17386"/>
                <a:alphaOff val="0"/>
                <a:shade val="63000"/>
                <a:satMod val="165000"/>
              </a:schemeClr>
            </a:gs>
            <a:gs pos="30000">
              <a:schemeClr val="accent2">
                <a:hueOff val="-8423570"/>
                <a:satOff val="14198"/>
                <a:lumOff val="-17386"/>
                <a:alphaOff val="0"/>
                <a:shade val="58000"/>
                <a:satMod val="165000"/>
              </a:schemeClr>
            </a:gs>
            <a:gs pos="75000">
              <a:schemeClr val="accent2">
                <a:hueOff val="-8423570"/>
                <a:satOff val="14198"/>
                <a:lumOff val="-17386"/>
                <a:alphaOff val="0"/>
                <a:shade val="30000"/>
                <a:satMod val="175000"/>
              </a:schemeClr>
            </a:gs>
            <a:gs pos="100000">
              <a:schemeClr val="accent2">
                <a:hueOff val="-8423570"/>
                <a:satOff val="14198"/>
                <a:lumOff val="-17386"/>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GB" sz="1600" kern="1200" dirty="0"/>
            <a:t>NWC Investments</a:t>
          </a:r>
        </a:p>
      </dsp:txBody>
      <dsp:txXfrm>
        <a:off x="3247535" y="4557964"/>
        <a:ext cx="2145889" cy="773103"/>
      </dsp:txXfrm>
    </dsp:sp>
    <dsp:sp modelId="{4C9D6635-E3EF-4F45-9F11-88781E797BAB}">
      <dsp:nvSpPr>
        <dsp:cNvPr id="0" name=""/>
        <dsp:cNvSpPr/>
      </dsp:nvSpPr>
      <dsp:spPr>
        <a:xfrm>
          <a:off x="5897413" y="0"/>
          <a:ext cx="2742492" cy="5637113"/>
        </a:xfrm>
        <a:prstGeom prst="roundRect">
          <a:avLst>
            <a:gd name="adj" fmla="val 10000"/>
          </a:avLst>
        </a:prstGeom>
        <a:gradFill rotWithShape="0">
          <a:gsLst>
            <a:gs pos="0">
              <a:schemeClr val="accent2">
                <a:tint val="40000"/>
                <a:hueOff val="0"/>
                <a:satOff val="0"/>
                <a:lumOff val="0"/>
                <a:alphaOff val="0"/>
                <a:shade val="63000"/>
                <a:satMod val="165000"/>
              </a:schemeClr>
            </a:gs>
            <a:gs pos="30000">
              <a:schemeClr val="accent2">
                <a:tint val="40000"/>
                <a:hueOff val="0"/>
                <a:satOff val="0"/>
                <a:lumOff val="0"/>
                <a:alphaOff val="0"/>
                <a:shade val="58000"/>
                <a:satMod val="165000"/>
              </a:schemeClr>
            </a:gs>
            <a:gs pos="75000">
              <a:schemeClr val="accent2">
                <a:tint val="40000"/>
                <a:hueOff val="0"/>
                <a:satOff val="0"/>
                <a:lumOff val="0"/>
                <a:alphaOff val="0"/>
                <a:shade val="30000"/>
                <a:satMod val="175000"/>
              </a:schemeClr>
            </a:gs>
            <a:gs pos="100000">
              <a:schemeClr val="accent2">
                <a:tint val="40000"/>
                <a:hueOff val="0"/>
                <a:satOff val="0"/>
                <a:lumOff val="0"/>
                <a:alphaOff val="0"/>
                <a:shade val="15000"/>
                <a:satMod val="175000"/>
              </a:schemeClr>
            </a:gs>
          </a:gsLst>
          <a:path path="circle">
            <a:fillToRect l="5000" t="100000" r="120000" b="10000"/>
          </a:path>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GB" sz="3400" kern="1200" dirty="0"/>
            <a:t>Estimating Growth of Earnings</a:t>
          </a:r>
        </a:p>
      </dsp:txBody>
      <dsp:txXfrm>
        <a:off x="5897413" y="0"/>
        <a:ext cx="2742492" cy="1691133"/>
      </dsp:txXfrm>
    </dsp:sp>
    <dsp:sp modelId="{267A8AD5-B288-46D6-83FD-2AC51D93AC6E}">
      <dsp:nvSpPr>
        <dsp:cNvPr id="0" name=""/>
        <dsp:cNvSpPr/>
      </dsp:nvSpPr>
      <dsp:spPr>
        <a:xfrm>
          <a:off x="6171662" y="1691615"/>
          <a:ext cx="2193993" cy="1107466"/>
        </a:xfrm>
        <a:prstGeom prst="roundRect">
          <a:avLst>
            <a:gd name="adj" fmla="val 10000"/>
          </a:avLst>
        </a:prstGeom>
        <a:gradFill rotWithShape="0">
          <a:gsLst>
            <a:gs pos="0">
              <a:schemeClr val="accent2">
                <a:hueOff val="-9827498"/>
                <a:satOff val="16564"/>
                <a:lumOff val="-20284"/>
                <a:alphaOff val="0"/>
                <a:shade val="63000"/>
                <a:satMod val="165000"/>
              </a:schemeClr>
            </a:gs>
            <a:gs pos="30000">
              <a:schemeClr val="accent2">
                <a:hueOff val="-9827498"/>
                <a:satOff val="16564"/>
                <a:lumOff val="-20284"/>
                <a:alphaOff val="0"/>
                <a:shade val="58000"/>
                <a:satMod val="165000"/>
              </a:schemeClr>
            </a:gs>
            <a:gs pos="75000">
              <a:schemeClr val="accent2">
                <a:hueOff val="-9827498"/>
                <a:satOff val="16564"/>
                <a:lumOff val="-20284"/>
                <a:alphaOff val="0"/>
                <a:shade val="30000"/>
                <a:satMod val="175000"/>
              </a:schemeClr>
            </a:gs>
            <a:gs pos="100000">
              <a:schemeClr val="accent2">
                <a:hueOff val="-9827498"/>
                <a:satOff val="16564"/>
                <a:lumOff val="-20284"/>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GB" sz="1600" kern="1200" dirty="0"/>
            <a:t>Equity Income</a:t>
          </a:r>
        </a:p>
      </dsp:txBody>
      <dsp:txXfrm>
        <a:off x="6204099" y="1724052"/>
        <a:ext cx="2129119" cy="1042592"/>
      </dsp:txXfrm>
    </dsp:sp>
    <dsp:sp modelId="{EABD8300-71DB-4FFC-A722-3D99C5ABD7E2}">
      <dsp:nvSpPr>
        <dsp:cNvPr id="0" name=""/>
        <dsp:cNvSpPr/>
      </dsp:nvSpPr>
      <dsp:spPr>
        <a:xfrm>
          <a:off x="6171662" y="2969462"/>
          <a:ext cx="2193993" cy="1107466"/>
        </a:xfrm>
        <a:prstGeom prst="roundRect">
          <a:avLst>
            <a:gd name="adj" fmla="val 10000"/>
          </a:avLst>
        </a:prstGeom>
        <a:gradFill rotWithShape="0">
          <a:gsLst>
            <a:gs pos="0">
              <a:schemeClr val="accent2">
                <a:hueOff val="-11231427"/>
                <a:satOff val="18931"/>
                <a:lumOff val="-23181"/>
                <a:alphaOff val="0"/>
                <a:shade val="63000"/>
                <a:satMod val="165000"/>
              </a:schemeClr>
            </a:gs>
            <a:gs pos="30000">
              <a:schemeClr val="accent2">
                <a:hueOff val="-11231427"/>
                <a:satOff val="18931"/>
                <a:lumOff val="-23181"/>
                <a:alphaOff val="0"/>
                <a:shade val="58000"/>
                <a:satMod val="165000"/>
              </a:schemeClr>
            </a:gs>
            <a:gs pos="75000">
              <a:schemeClr val="accent2">
                <a:hueOff val="-11231427"/>
                <a:satOff val="18931"/>
                <a:lumOff val="-23181"/>
                <a:alphaOff val="0"/>
                <a:shade val="30000"/>
                <a:satMod val="175000"/>
              </a:schemeClr>
            </a:gs>
            <a:gs pos="100000">
              <a:schemeClr val="accent2">
                <a:hueOff val="-11231427"/>
                <a:satOff val="18931"/>
                <a:lumOff val="-23181"/>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GB" sz="1600" kern="1200" dirty="0"/>
            <a:t>Firm CF</a:t>
          </a:r>
        </a:p>
      </dsp:txBody>
      <dsp:txXfrm>
        <a:off x="6204099" y="3001899"/>
        <a:ext cx="2129119" cy="1042592"/>
      </dsp:txXfrm>
    </dsp:sp>
    <dsp:sp modelId="{70E67A16-41EC-4A59-AF0B-40B839E63CC7}">
      <dsp:nvSpPr>
        <dsp:cNvPr id="0" name=""/>
        <dsp:cNvSpPr/>
      </dsp:nvSpPr>
      <dsp:spPr>
        <a:xfrm>
          <a:off x="6171662" y="4247308"/>
          <a:ext cx="2193993" cy="1107466"/>
        </a:xfrm>
        <a:prstGeom prst="roundRect">
          <a:avLst>
            <a:gd name="adj" fmla="val 10000"/>
          </a:avLst>
        </a:prstGeom>
        <a:gradFill rotWithShape="0">
          <a:gsLst>
            <a:gs pos="0">
              <a:schemeClr val="accent2">
                <a:hueOff val="-12635355"/>
                <a:satOff val="21297"/>
                <a:lumOff val="-26079"/>
                <a:alphaOff val="0"/>
                <a:shade val="63000"/>
                <a:satMod val="165000"/>
              </a:schemeClr>
            </a:gs>
            <a:gs pos="30000">
              <a:schemeClr val="accent2">
                <a:hueOff val="-12635355"/>
                <a:satOff val="21297"/>
                <a:lumOff val="-26079"/>
                <a:alphaOff val="0"/>
                <a:shade val="58000"/>
                <a:satMod val="165000"/>
              </a:schemeClr>
            </a:gs>
            <a:gs pos="75000">
              <a:schemeClr val="accent2">
                <a:hueOff val="-12635355"/>
                <a:satOff val="21297"/>
                <a:lumOff val="-26079"/>
                <a:alphaOff val="0"/>
                <a:shade val="30000"/>
                <a:satMod val="175000"/>
              </a:schemeClr>
            </a:gs>
            <a:gs pos="100000">
              <a:schemeClr val="accent2">
                <a:hueOff val="-12635355"/>
                <a:satOff val="21297"/>
                <a:lumOff val="-26079"/>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GB" sz="1600" kern="1200" dirty="0"/>
            <a:t>Terminal Value</a:t>
          </a:r>
        </a:p>
      </dsp:txBody>
      <dsp:txXfrm>
        <a:off x="6204099" y="4279745"/>
        <a:ext cx="2129119" cy="104259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79F83D-2B04-4EA0-A36B-752E2867A041}">
      <dsp:nvSpPr>
        <dsp:cNvPr id="0" name=""/>
        <dsp:cNvSpPr/>
      </dsp:nvSpPr>
      <dsp:spPr>
        <a:xfrm>
          <a:off x="6071959" y="1737902"/>
          <a:ext cx="1546443" cy="652762"/>
        </a:xfrm>
        <a:custGeom>
          <a:avLst/>
          <a:gdLst/>
          <a:ahLst/>
          <a:cxnLst/>
          <a:rect l="0" t="0" r="0" b="0"/>
          <a:pathLst>
            <a:path>
              <a:moveTo>
                <a:pt x="0" y="0"/>
              </a:moveTo>
              <a:lnTo>
                <a:pt x="0" y="444838"/>
              </a:lnTo>
              <a:lnTo>
                <a:pt x="1546443" y="444838"/>
              </a:lnTo>
              <a:lnTo>
                <a:pt x="1546443" y="652762"/>
              </a:lnTo>
            </a:path>
          </a:pathLst>
        </a:custGeom>
        <a:noFill/>
        <a:ln w="25400" cap="flat" cmpd="sng" algn="ctr">
          <a:solidFill>
            <a:schemeClr val="accent1">
              <a:shade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D3241072-E826-4CE7-A20B-84F046A9F605}">
      <dsp:nvSpPr>
        <dsp:cNvPr id="0" name=""/>
        <dsp:cNvSpPr/>
      </dsp:nvSpPr>
      <dsp:spPr>
        <a:xfrm>
          <a:off x="4969334" y="1737902"/>
          <a:ext cx="1102624" cy="652762"/>
        </a:xfrm>
        <a:custGeom>
          <a:avLst/>
          <a:gdLst/>
          <a:ahLst/>
          <a:cxnLst/>
          <a:rect l="0" t="0" r="0" b="0"/>
          <a:pathLst>
            <a:path>
              <a:moveTo>
                <a:pt x="1102624" y="0"/>
              </a:moveTo>
              <a:lnTo>
                <a:pt x="1102624" y="444838"/>
              </a:lnTo>
              <a:lnTo>
                <a:pt x="0" y="444838"/>
              </a:lnTo>
              <a:lnTo>
                <a:pt x="0" y="652762"/>
              </a:lnTo>
            </a:path>
          </a:pathLst>
        </a:custGeom>
        <a:noFill/>
        <a:ln w="25400" cap="flat" cmpd="sng" algn="ctr">
          <a:solidFill>
            <a:schemeClr val="accent1">
              <a:shade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97331BF4-7854-463F-AC54-0C1843109EF4}">
      <dsp:nvSpPr>
        <dsp:cNvPr id="0" name=""/>
        <dsp:cNvSpPr/>
      </dsp:nvSpPr>
      <dsp:spPr>
        <a:xfrm>
          <a:off x="4001215" y="472134"/>
          <a:ext cx="2070744" cy="652762"/>
        </a:xfrm>
        <a:custGeom>
          <a:avLst/>
          <a:gdLst/>
          <a:ahLst/>
          <a:cxnLst/>
          <a:rect l="0" t="0" r="0" b="0"/>
          <a:pathLst>
            <a:path>
              <a:moveTo>
                <a:pt x="0" y="0"/>
              </a:moveTo>
              <a:lnTo>
                <a:pt x="0" y="444838"/>
              </a:lnTo>
              <a:lnTo>
                <a:pt x="2070744" y="444838"/>
              </a:lnTo>
              <a:lnTo>
                <a:pt x="2070744" y="652762"/>
              </a:lnTo>
            </a:path>
          </a:pathLst>
        </a:custGeom>
        <a:noFill/>
        <a:ln w="25400" cap="flat" cmpd="sng" algn="ctr">
          <a:solidFill>
            <a:schemeClr val="accent1">
              <a:shade val="6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6FCA1159-801B-45EF-BEE4-B5219A8AB2C7}">
      <dsp:nvSpPr>
        <dsp:cNvPr id="0" name=""/>
        <dsp:cNvSpPr/>
      </dsp:nvSpPr>
      <dsp:spPr>
        <a:xfrm>
          <a:off x="1610030" y="1737902"/>
          <a:ext cx="320440" cy="652762"/>
        </a:xfrm>
        <a:custGeom>
          <a:avLst/>
          <a:gdLst/>
          <a:ahLst/>
          <a:cxnLst/>
          <a:rect l="0" t="0" r="0" b="0"/>
          <a:pathLst>
            <a:path>
              <a:moveTo>
                <a:pt x="320440" y="0"/>
              </a:moveTo>
              <a:lnTo>
                <a:pt x="320440" y="444838"/>
              </a:lnTo>
              <a:lnTo>
                <a:pt x="0" y="444838"/>
              </a:lnTo>
              <a:lnTo>
                <a:pt x="0" y="652762"/>
              </a:lnTo>
            </a:path>
          </a:pathLst>
        </a:custGeom>
        <a:noFill/>
        <a:ln w="25400" cap="flat" cmpd="sng" algn="ctr">
          <a:solidFill>
            <a:schemeClr val="accent1">
              <a:shade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6501446E-FB32-4734-863B-E89443CA245F}">
      <dsp:nvSpPr>
        <dsp:cNvPr id="0" name=""/>
        <dsp:cNvSpPr/>
      </dsp:nvSpPr>
      <dsp:spPr>
        <a:xfrm>
          <a:off x="1930471" y="472134"/>
          <a:ext cx="2070744" cy="652762"/>
        </a:xfrm>
        <a:custGeom>
          <a:avLst/>
          <a:gdLst/>
          <a:ahLst/>
          <a:cxnLst/>
          <a:rect l="0" t="0" r="0" b="0"/>
          <a:pathLst>
            <a:path>
              <a:moveTo>
                <a:pt x="2070744" y="0"/>
              </a:moveTo>
              <a:lnTo>
                <a:pt x="2070744" y="444838"/>
              </a:lnTo>
              <a:lnTo>
                <a:pt x="0" y="444838"/>
              </a:lnTo>
              <a:lnTo>
                <a:pt x="0" y="652762"/>
              </a:lnTo>
            </a:path>
          </a:pathLst>
        </a:custGeom>
        <a:noFill/>
        <a:ln w="25400" cap="flat" cmpd="sng" algn="ctr">
          <a:solidFill>
            <a:schemeClr val="accent1">
              <a:shade val="6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81FCE9F7-6584-46F8-B635-39307CDD990B}">
      <dsp:nvSpPr>
        <dsp:cNvPr id="0" name=""/>
        <dsp:cNvSpPr/>
      </dsp:nvSpPr>
      <dsp:spPr>
        <a:xfrm>
          <a:off x="402937" y="3932"/>
          <a:ext cx="7196555" cy="468202"/>
        </a:xfrm>
        <a:prstGeom prst="roundRect">
          <a:avLst>
            <a:gd name="adj" fmla="val 10000"/>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1985D908-05DA-4853-9A1A-C57E0DDCC801}">
      <dsp:nvSpPr>
        <dsp:cNvPr id="0" name=""/>
        <dsp:cNvSpPr/>
      </dsp:nvSpPr>
      <dsp:spPr>
        <a:xfrm>
          <a:off x="652321" y="240847"/>
          <a:ext cx="7196555" cy="46820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a:outerShdw blurRad="50800" dist="20000" dir="5400000" rotWithShape="0">
            <a:srgbClr val="000000">
              <a:alpha val="42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b="1" kern="1200" dirty="0"/>
            <a:t>Cash Flows can be measured to</a:t>
          </a:r>
        </a:p>
      </dsp:txBody>
      <dsp:txXfrm>
        <a:off x="666034" y="254560"/>
        <a:ext cx="7169129" cy="440776"/>
      </dsp:txXfrm>
    </dsp:sp>
    <dsp:sp modelId="{1980C046-78FC-4684-B752-C4F2277DE730}">
      <dsp:nvSpPr>
        <dsp:cNvPr id="0" name=""/>
        <dsp:cNvSpPr/>
      </dsp:nvSpPr>
      <dsp:spPr>
        <a:xfrm>
          <a:off x="261987" y="1124897"/>
          <a:ext cx="3336966" cy="613005"/>
        </a:xfrm>
        <a:prstGeom prst="roundRect">
          <a:avLst>
            <a:gd name="adj" fmla="val 10000"/>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AF46156F-4790-4A8E-B921-B569EB58DA6E}">
      <dsp:nvSpPr>
        <dsp:cNvPr id="0" name=""/>
        <dsp:cNvSpPr/>
      </dsp:nvSpPr>
      <dsp:spPr>
        <a:xfrm>
          <a:off x="511371" y="1361811"/>
          <a:ext cx="3336966" cy="61300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a:outerShdw blurRad="50800" dist="20000" dir="5400000" rotWithShape="0">
            <a:srgbClr val="000000">
              <a:alpha val="42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All claimholders in the firm</a:t>
          </a:r>
        </a:p>
      </dsp:txBody>
      <dsp:txXfrm>
        <a:off x="529325" y="1379765"/>
        <a:ext cx="3301058" cy="577097"/>
      </dsp:txXfrm>
    </dsp:sp>
    <dsp:sp modelId="{E5A98936-892A-461C-9C4B-7C701DCAB985}">
      <dsp:nvSpPr>
        <dsp:cNvPr id="0" name=""/>
        <dsp:cNvSpPr/>
      </dsp:nvSpPr>
      <dsp:spPr>
        <a:xfrm>
          <a:off x="312970" y="2390664"/>
          <a:ext cx="2594119" cy="3777199"/>
        </a:xfrm>
        <a:prstGeom prst="roundRect">
          <a:avLst>
            <a:gd name="adj" fmla="val 10000"/>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CECCF544-A506-47DB-A415-AC749CA0D220}">
      <dsp:nvSpPr>
        <dsp:cNvPr id="0" name=""/>
        <dsp:cNvSpPr/>
      </dsp:nvSpPr>
      <dsp:spPr>
        <a:xfrm>
          <a:off x="562354" y="2627579"/>
          <a:ext cx="2594119" cy="377719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a:outerShdw blurRad="50800" dist="20000" dir="5400000" rotWithShape="0">
            <a:srgbClr val="000000">
              <a:alpha val="42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EBIT(1-Tax) </a:t>
          </a:r>
        </a:p>
        <a:p>
          <a:pPr marL="0" lvl="0" indent="0" algn="ctr" defTabSz="800100">
            <a:lnSpc>
              <a:spcPct val="90000"/>
            </a:lnSpc>
            <a:spcBef>
              <a:spcPct val="0"/>
            </a:spcBef>
            <a:spcAft>
              <a:spcPct val="35000"/>
            </a:spcAft>
            <a:buNone/>
          </a:pPr>
          <a:r>
            <a:rPr lang="en-GB" sz="1800" kern="1200" dirty="0"/>
            <a:t>– (Cap Expend-Depreciation) </a:t>
          </a:r>
        </a:p>
        <a:p>
          <a:pPr marL="0" lvl="0" indent="0" algn="ctr" defTabSz="800100">
            <a:lnSpc>
              <a:spcPct val="90000"/>
            </a:lnSpc>
            <a:spcBef>
              <a:spcPct val="0"/>
            </a:spcBef>
            <a:spcAft>
              <a:spcPct val="35000"/>
            </a:spcAft>
            <a:buNone/>
          </a:pPr>
          <a:r>
            <a:rPr lang="en-GB" sz="1800" kern="1200" dirty="0"/>
            <a:t>– Change in non-cash WC</a:t>
          </a:r>
        </a:p>
        <a:p>
          <a:pPr marL="0" lvl="0" indent="0" algn="ctr" defTabSz="800100">
            <a:lnSpc>
              <a:spcPct val="90000"/>
            </a:lnSpc>
            <a:spcBef>
              <a:spcPct val="0"/>
            </a:spcBef>
            <a:spcAft>
              <a:spcPct val="35000"/>
            </a:spcAft>
            <a:buNone/>
          </a:pPr>
          <a:r>
            <a:rPr lang="en-GB" sz="1800" kern="1200" dirty="0"/>
            <a:t>=Free CF to Firm (FCFF)</a:t>
          </a:r>
        </a:p>
      </dsp:txBody>
      <dsp:txXfrm>
        <a:off x="638333" y="2703558"/>
        <a:ext cx="2442161" cy="3625241"/>
      </dsp:txXfrm>
    </dsp:sp>
    <dsp:sp modelId="{29AEE9C1-CF9E-40CF-99F8-0DA3F3EC8CA6}">
      <dsp:nvSpPr>
        <dsp:cNvPr id="0" name=""/>
        <dsp:cNvSpPr/>
      </dsp:nvSpPr>
      <dsp:spPr>
        <a:xfrm>
          <a:off x="4403476" y="1124897"/>
          <a:ext cx="3336966" cy="613005"/>
        </a:xfrm>
        <a:prstGeom prst="roundRect">
          <a:avLst>
            <a:gd name="adj" fmla="val 10000"/>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E09FF8A5-6F84-4387-BA6B-E25F622E9EC4}">
      <dsp:nvSpPr>
        <dsp:cNvPr id="0" name=""/>
        <dsp:cNvSpPr/>
      </dsp:nvSpPr>
      <dsp:spPr>
        <a:xfrm>
          <a:off x="4652860" y="1361811"/>
          <a:ext cx="3336966" cy="61300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a:outerShdw blurRad="50800" dist="20000" dir="5400000" rotWithShape="0">
            <a:srgbClr val="000000">
              <a:alpha val="42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Equity Investors</a:t>
          </a:r>
        </a:p>
      </dsp:txBody>
      <dsp:txXfrm>
        <a:off x="4670814" y="1379765"/>
        <a:ext cx="3301058" cy="577097"/>
      </dsp:txXfrm>
    </dsp:sp>
    <dsp:sp modelId="{F0DE682D-2E63-46AC-A075-3CB16823D04A}">
      <dsp:nvSpPr>
        <dsp:cNvPr id="0" name=""/>
        <dsp:cNvSpPr/>
      </dsp:nvSpPr>
      <dsp:spPr>
        <a:xfrm>
          <a:off x="3672274" y="2390664"/>
          <a:ext cx="2594119" cy="3777199"/>
        </a:xfrm>
        <a:prstGeom prst="roundRect">
          <a:avLst>
            <a:gd name="adj" fmla="val 10000"/>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2CF1B970-0EC5-4C46-9997-05C22B18B0C1}">
      <dsp:nvSpPr>
        <dsp:cNvPr id="0" name=""/>
        <dsp:cNvSpPr/>
      </dsp:nvSpPr>
      <dsp:spPr>
        <a:xfrm>
          <a:off x="3921658" y="2627579"/>
          <a:ext cx="2594119" cy="377719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a:outerShdw blurRad="50800" dist="20000" dir="5400000" rotWithShape="0">
            <a:srgbClr val="000000">
              <a:alpha val="42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Net Income </a:t>
          </a:r>
        </a:p>
        <a:p>
          <a:pPr marL="0" lvl="0" indent="0" algn="ctr" defTabSz="800100">
            <a:lnSpc>
              <a:spcPct val="90000"/>
            </a:lnSpc>
            <a:spcBef>
              <a:spcPct val="0"/>
            </a:spcBef>
            <a:spcAft>
              <a:spcPct val="35000"/>
            </a:spcAft>
            <a:buNone/>
          </a:pPr>
          <a:r>
            <a:rPr lang="en-GB" sz="1800" kern="1200" dirty="0"/>
            <a:t>– (Cap Expend – Depreciation) </a:t>
          </a:r>
        </a:p>
        <a:p>
          <a:pPr marL="0" lvl="0" indent="0" algn="ctr" defTabSz="800100">
            <a:lnSpc>
              <a:spcPct val="90000"/>
            </a:lnSpc>
            <a:spcBef>
              <a:spcPct val="0"/>
            </a:spcBef>
            <a:spcAft>
              <a:spcPct val="35000"/>
            </a:spcAft>
            <a:buNone/>
          </a:pPr>
          <a:r>
            <a:rPr lang="en-GB" sz="1800" kern="1200" dirty="0"/>
            <a:t>–Change in non-cash WC </a:t>
          </a:r>
        </a:p>
        <a:p>
          <a:pPr marL="0" lvl="0" indent="0" algn="ctr" defTabSz="800100">
            <a:lnSpc>
              <a:spcPct val="90000"/>
            </a:lnSpc>
            <a:spcBef>
              <a:spcPct val="0"/>
            </a:spcBef>
            <a:spcAft>
              <a:spcPct val="35000"/>
            </a:spcAft>
            <a:buNone/>
          </a:pPr>
          <a:r>
            <a:rPr lang="en-GB" sz="1800" kern="1200" dirty="0"/>
            <a:t>– (Principal Repaid –New Debt Issues) </a:t>
          </a:r>
        </a:p>
        <a:p>
          <a:pPr marL="0" lvl="0" indent="0" algn="ctr" defTabSz="800100">
            <a:lnSpc>
              <a:spcPct val="90000"/>
            </a:lnSpc>
            <a:spcBef>
              <a:spcPct val="0"/>
            </a:spcBef>
            <a:spcAft>
              <a:spcPct val="35000"/>
            </a:spcAft>
            <a:buNone/>
          </a:pPr>
          <a:r>
            <a:rPr lang="en-GB" sz="1800" kern="1200" dirty="0"/>
            <a:t>– Preferred Dividend</a:t>
          </a:r>
        </a:p>
        <a:p>
          <a:pPr marL="0" lvl="0" indent="0" algn="ctr" defTabSz="800100">
            <a:lnSpc>
              <a:spcPct val="90000"/>
            </a:lnSpc>
            <a:spcBef>
              <a:spcPct val="0"/>
            </a:spcBef>
            <a:spcAft>
              <a:spcPct val="35000"/>
            </a:spcAft>
            <a:buNone/>
          </a:pPr>
          <a:r>
            <a:rPr lang="en-GB" sz="1800" kern="1200" dirty="0"/>
            <a:t>= Free CF to Equity</a:t>
          </a:r>
        </a:p>
        <a:p>
          <a:pPr marL="0" lvl="0" indent="0" algn="ctr" defTabSz="800100">
            <a:lnSpc>
              <a:spcPct val="90000"/>
            </a:lnSpc>
            <a:spcBef>
              <a:spcPct val="0"/>
            </a:spcBef>
            <a:spcAft>
              <a:spcPct val="35000"/>
            </a:spcAft>
            <a:buNone/>
          </a:pPr>
          <a:r>
            <a:rPr lang="en-GB" sz="1800" kern="1200" dirty="0"/>
            <a:t>(FCFE)</a:t>
          </a:r>
        </a:p>
      </dsp:txBody>
      <dsp:txXfrm>
        <a:off x="3997637" y="2703558"/>
        <a:ext cx="2442161" cy="3625241"/>
      </dsp:txXfrm>
    </dsp:sp>
    <dsp:sp modelId="{8154CC8E-A2CD-4D08-BBBF-7C749868A1EF}">
      <dsp:nvSpPr>
        <dsp:cNvPr id="0" name=""/>
        <dsp:cNvSpPr/>
      </dsp:nvSpPr>
      <dsp:spPr>
        <a:xfrm>
          <a:off x="6819186" y="2390664"/>
          <a:ext cx="1598433" cy="3777199"/>
        </a:xfrm>
        <a:prstGeom prst="roundRect">
          <a:avLst>
            <a:gd name="adj" fmla="val 10000"/>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0B35F89D-0B27-468F-80EF-E08305F4E7A6}">
      <dsp:nvSpPr>
        <dsp:cNvPr id="0" name=""/>
        <dsp:cNvSpPr/>
      </dsp:nvSpPr>
      <dsp:spPr>
        <a:xfrm>
          <a:off x="7068570" y="2627579"/>
          <a:ext cx="1598433" cy="377719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a:outerShdw blurRad="50800" dist="20000" dir="5400000" rotWithShape="0">
            <a:srgbClr val="000000">
              <a:alpha val="42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Dividends </a:t>
          </a:r>
        </a:p>
        <a:p>
          <a:pPr marL="0" lvl="0" indent="0" algn="ctr" defTabSz="800100">
            <a:lnSpc>
              <a:spcPct val="90000"/>
            </a:lnSpc>
            <a:spcBef>
              <a:spcPct val="0"/>
            </a:spcBef>
            <a:spcAft>
              <a:spcPct val="35000"/>
            </a:spcAft>
            <a:buNone/>
          </a:pPr>
          <a:r>
            <a:rPr lang="en-GB" sz="1800" kern="1200" dirty="0"/>
            <a:t>+ Stock Buybacks</a:t>
          </a:r>
        </a:p>
      </dsp:txBody>
      <dsp:txXfrm>
        <a:off x="7115387" y="2674396"/>
        <a:ext cx="1504799" cy="368356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AA8A87-810A-47AD-AFF3-EA43EF8603F5}">
      <dsp:nvSpPr>
        <dsp:cNvPr id="0" name=""/>
        <dsp:cNvSpPr/>
      </dsp:nvSpPr>
      <dsp:spPr>
        <a:xfrm rot="5400000">
          <a:off x="5434255" y="-2077484"/>
          <a:ext cx="1225261" cy="5691187"/>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a:outerShdw blurRad="50800" dist="20000" dir="5400000" rotWithShape="0">
            <a:srgbClr val="000000">
              <a:alpha val="42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rtl="0">
            <a:lnSpc>
              <a:spcPct val="90000"/>
            </a:lnSpc>
            <a:spcBef>
              <a:spcPct val="0"/>
            </a:spcBef>
            <a:spcAft>
              <a:spcPct val="15000"/>
            </a:spcAft>
            <a:buChar char="•"/>
          </a:pPr>
          <a:r>
            <a:rPr lang="en-GB" sz="2200" kern="1200" dirty="0"/>
            <a:t>Trailing Earnings</a:t>
          </a:r>
        </a:p>
        <a:p>
          <a:pPr marL="228600" lvl="1" indent="-228600" algn="l" defTabSz="977900" rtl="0">
            <a:lnSpc>
              <a:spcPct val="90000"/>
            </a:lnSpc>
            <a:spcBef>
              <a:spcPct val="0"/>
            </a:spcBef>
            <a:spcAft>
              <a:spcPct val="15000"/>
            </a:spcAft>
            <a:buChar char="•"/>
          </a:pPr>
          <a:r>
            <a:rPr lang="en-GB" sz="2200" kern="1200" dirty="0"/>
            <a:t>Last available information</a:t>
          </a:r>
        </a:p>
      </dsp:txBody>
      <dsp:txXfrm rot="-5400000">
        <a:off x="3201292" y="215291"/>
        <a:ext cx="5631375" cy="1105637"/>
      </dsp:txXfrm>
    </dsp:sp>
    <dsp:sp modelId="{FB32828E-F1E5-41EB-BD05-04CC32180775}">
      <dsp:nvSpPr>
        <dsp:cNvPr id="0" name=""/>
        <dsp:cNvSpPr/>
      </dsp:nvSpPr>
      <dsp:spPr>
        <a:xfrm>
          <a:off x="0" y="2320"/>
          <a:ext cx="3201292" cy="1531576"/>
        </a:xfrm>
        <a:prstGeom prst="roundRect">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rtl="0">
            <a:lnSpc>
              <a:spcPct val="90000"/>
            </a:lnSpc>
            <a:spcBef>
              <a:spcPct val="0"/>
            </a:spcBef>
            <a:spcAft>
              <a:spcPct val="35000"/>
            </a:spcAft>
            <a:buNone/>
          </a:pPr>
          <a:r>
            <a:rPr lang="en-GB" sz="2300" kern="1200" dirty="0"/>
            <a:t>I. </a:t>
          </a:r>
        </a:p>
        <a:p>
          <a:pPr marL="0" lvl="0" indent="0" algn="ctr" defTabSz="1022350" rtl="0">
            <a:lnSpc>
              <a:spcPct val="90000"/>
            </a:lnSpc>
            <a:spcBef>
              <a:spcPct val="0"/>
            </a:spcBef>
            <a:spcAft>
              <a:spcPct val="35000"/>
            </a:spcAft>
            <a:buNone/>
          </a:pPr>
          <a:r>
            <a:rPr lang="en-GB" sz="2300" kern="1200" dirty="0"/>
            <a:t>Updating Earnings</a:t>
          </a:r>
        </a:p>
      </dsp:txBody>
      <dsp:txXfrm>
        <a:off x="74765" y="77085"/>
        <a:ext cx="3051762" cy="1382046"/>
      </dsp:txXfrm>
    </dsp:sp>
    <dsp:sp modelId="{EA204D05-8F05-4CE9-B01B-B48490A958DF}">
      <dsp:nvSpPr>
        <dsp:cNvPr id="0" name=""/>
        <dsp:cNvSpPr/>
      </dsp:nvSpPr>
      <dsp:spPr>
        <a:xfrm rot="5400000">
          <a:off x="5434255" y="-469329"/>
          <a:ext cx="1225261" cy="5691187"/>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a:outerShdw blurRad="50800" dist="20000" dir="5400000" rotWithShape="0">
            <a:srgbClr val="000000">
              <a:alpha val="42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rtl="0">
            <a:lnSpc>
              <a:spcPct val="90000"/>
            </a:lnSpc>
            <a:spcBef>
              <a:spcPct val="0"/>
            </a:spcBef>
            <a:spcAft>
              <a:spcPct val="15000"/>
            </a:spcAft>
            <a:buChar char="•"/>
          </a:pPr>
          <a:r>
            <a:rPr lang="en-GB" sz="2200" kern="1200" dirty="0"/>
            <a:t>One Time</a:t>
          </a:r>
        </a:p>
        <a:p>
          <a:pPr marL="228600" lvl="1" indent="-228600" algn="l" defTabSz="977900" rtl="0">
            <a:lnSpc>
              <a:spcPct val="90000"/>
            </a:lnSpc>
            <a:spcBef>
              <a:spcPct val="0"/>
            </a:spcBef>
            <a:spcAft>
              <a:spcPct val="15000"/>
            </a:spcAft>
            <a:buChar char="•"/>
          </a:pPr>
          <a:r>
            <a:rPr lang="en-GB" sz="2200" kern="1200" dirty="0"/>
            <a:t>Non Recurring</a:t>
          </a:r>
        </a:p>
        <a:p>
          <a:pPr marL="228600" lvl="1" indent="-228600" algn="l" defTabSz="977900" rtl="0">
            <a:lnSpc>
              <a:spcPct val="90000"/>
            </a:lnSpc>
            <a:spcBef>
              <a:spcPct val="0"/>
            </a:spcBef>
            <a:spcAft>
              <a:spcPct val="15000"/>
            </a:spcAft>
            <a:buChar char="•"/>
          </a:pPr>
          <a:r>
            <a:rPr lang="en-GB" sz="2200" kern="1200" dirty="0"/>
            <a:t>Negative or Abnormal</a:t>
          </a:r>
        </a:p>
      </dsp:txBody>
      <dsp:txXfrm rot="-5400000">
        <a:off x="3201292" y="1823446"/>
        <a:ext cx="5631375" cy="1105637"/>
      </dsp:txXfrm>
    </dsp:sp>
    <dsp:sp modelId="{17DBC40D-E8A7-4CFD-8363-D9D28CAA3638}">
      <dsp:nvSpPr>
        <dsp:cNvPr id="0" name=""/>
        <dsp:cNvSpPr/>
      </dsp:nvSpPr>
      <dsp:spPr>
        <a:xfrm>
          <a:off x="0" y="1610475"/>
          <a:ext cx="3201292" cy="1531576"/>
        </a:xfrm>
        <a:prstGeom prst="roundRect">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rtl="0">
            <a:lnSpc>
              <a:spcPct val="90000"/>
            </a:lnSpc>
            <a:spcBef>
              <a:spcPct val="0"/>
            </a:spcBef>
            <a:spcAft>
              <a:spcPct val="35000"/>
            </a:spcAft>
            <a:buNone/>
          </a:pPr>
          <a:r>
            <a:rPr lang="en-GB" sz="2300" kern="1200" dirty="0"/>
            <a:t>II.</a:t>
          </a:r>
        </a:p>
        <a:p>
          <a:pPr marL="0" lvl="0" indent="0" algn="ctr" defTabSz="1022350" rtl="0">
            <a:lnSpc>
              <a:spcPct val="90000"/>
            </a:lnSpc>
            <a:spcBef>
              <a:spcPct val="0"/>
            </a:spcBef>
            <a:spcAft>
              <a:spcPct val="35000"/>
            </a:spcAft>
            <a:buNone/>
          </a:pPr>
          <a:r>
            <a:rPr lang="en-GB" sz="2300" kern="1200" dirty="0"/>
            <a:t> Unusual items</a:t>
          </a:r>
        </a:p>
      </dsp:txBody>
      <dsp:txXfrm>
        <a:off x="74765" y="1685240"/>
        <a:ext cx="3051762" cy="1382046"/>
      </dsp:txXfrm>
    </dsp:sp>
    <dsp:sp modelId="{A48B6553-0883-42DA-8712-75281ED78300}">
      <dsp:nvSpPr>
        <dsp:cNvPr id="0" name=""/>
        <dsp:cNvSpPr/>
      </dsp:nvSpPr>
      <dsp:spPr>
        <a:xfrm rot="5400000">
          <a:off x="5434255" y="1138825"/>
          <a:ext cx="1225261" cy="5691187"/>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a:outerShdw blurRad="50800" dist="20000" dir="5400000" rotWithShape="0">
            <a:srgbClr val="000000">
              <a:alpha val="42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rtl="0">
            <a:lnSpc>
              <a:spcPct val="90000"/>
            </a:lnSpc>
            <a:spcBef>
              <a:spcPct val="0"/>
            </a:spcBef>
            <a:spcAft>
              <a:spcPct val="15000"/>
            </a:spcAft>
            <a:buChar char="•"/>
          </a:pPr>
          <a:r>
            <a:rPr lang="en-GB" sz="2200" kern="1200" dirty="0"/>
            <a:t>Operating Leases/Pension Contributions</a:t>
          </a:r>
        </a:p>
        <a:p>
          <a:pPr marL="228600" lvl="1" indent="-228600" algn="l" defTabSz="977900" rtl="0">
            <a:lnSpc>
              <a:spcPct val="90000"/>
            </a:lnSpc>
            <a:spcBef>
              <a:spcPct val="0"/>
            </a:spcBef>
            <a:spcAft>
              <a:spcPct val="15000"/>
            </a:spcAft>
            <a:buChar char="•"/>
          </a:pPr>
          <a:r>
            <a:rPr lang="en-GB" sz="2200" kern="1200" dirty="0"/>
            <a:t>R&amp;D Expenses</a:t>
          </a:r>
        </a:p>
      </dsp:txBody>
      <dsp:txXfrm rot="-5400000">
        <a:off x="3201292" y="3431600"/>
        <a:ext cx="5631375" cy="1105637"/>
      </dsp:txXfrm>
    </dsp:sp>
    <dsp:sp modelId="{31B07EFC-AC5C-4275-B9AB-9D3816D05ADE}">
      <dsp:nvSpPr>
        <dsp:cNvPr id="0" name=""/>
        <dsp:cNvSpPr/>
      </dsp:nvSpPr>
      <dsp:spPr>
        <a:xfrm>
          <a:off x="0" y="3218631"/>
          <a:ext cx="3201292" cy="1531576"/>
        </a:xfrm>
        <a:prstGeom prst="roundRect">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rtl="0">
            <a:lnSpc>
              <a:spcPct val="90000"/>
            </a:lnSpc>
            <a:spcBef>
              <a:spcPct val="0"/>
            </a:spcBef>
            <a:spcAft>
              <a:spcPct val="35000"/>
            </a:spcAft>
            <a:buNone/>
          </a:pPr>
          <a:r>
            <a:rPr lang="en-GB" sz="2300" kern="1200" dirty="0"/>
            <a:t>III. </a:t>
          </a:r>
        </a:p>
        <a:p>
          <a:pPr marL="0" lvl="0" indent="0" algn="ctr" defTabSz="1022350" rtl="0">
            <a:lnSpc>
              <a:spcPct val="90000"/>
            </a:lnSpc>
            <a:spcBef>
              <a:spcPct val="0"/>
            </a:spcBef>
            <a:spcAft>
              <a:spcPct val="35000"/>
            </a:spcAft>
            <a:buNone/>
          </a:pPr>
          <a:r>
            <a:rPr lang="en-GB" sz="2300" kern="1200" dirty="0"/>
            <a:t>Correcting Accounting Earnings</a:t>
          </a:r>
        </a:p>
      </dsp:txBody>
      <dsp:txXfrm>
        <a:off x="74765" y="3293396"/>
        <a:ext cx="3051762" cy="138204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2B58DD-D748-4CDE-A7FD-B91DEC218CF2}">
      <dsp:nvSpPr>
        <dsp:cNvPr id="0" name=""/>
        <dsp:cNvSpPr/>
      </dsp:nvSpPr>
      <dsp:spPr>
        <a:xfrm>
          <a:off x="61558" y="0"/>
          <a:ext cx="8939436" cy="2014679"/>
        </a:xfrm>
        <a:prstGeom prst="rect">
          <a:avLst/>
        </a:prstGeom>
        <a:gradFill rotWithShape="0">
          <a:gsLst>
            <a:gs pos="0">
              <a:schemeClr val="accent3">
                <a:hueOff val="0"/>
                <a:satOff val="0"/>
                <a:lumOff val="0"/>
                <a:alphaOff val="0"/>
                <a:shade val="63000"/>
                <a:satMod val="165000"/>
              </a:schemeClr>
            </a:gs>
            <a:gs pos="30000">
              <a:schemeClr val="accent3">
                <a:hueOff val="0"/>
                <a:satOff val="0"/>
                <a:lumOff val="0"/>
                <a:alphaOff val="0"/>
                <a:shade val="58000"/>
                <a:satMod val="165000"/>
              </a:schemeClr>
            </a:gs>
            <a:gs pos="75000">
              <a:schemeClr val="accent3">
                <a:hueOff val="0"/>
                <a:satOff val="0"/>
                <a:lumOff val="0"/>
                <a:alphaOff val="0"/>
                <a:shade val="30000"/>
                <a:satMod val="175000"/>
              </a:schemeClr>
            </a:gs>
            <a:gs pos="100000">
              <a:schemeClr val="accent3">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en-US" sz="4100" kern="1200" dirty="0"/>
            <a:t>Difficulties in Measuring Earnings:</a:t>
          </a:r>
          <a:br>
            <a:rPr lang="en-US" sz="4100" kern="1200" dirty="0"/>
          </a:br>
          <a:r>
            <a:rPr lang="en-US" sz="4100" kern="1200" dirty="0"/>
            <a:t>From Reported to Actual Earnings</a:t>
          </a:r>
          <a:endParaRPr lang="en-GB" sz="4100" kern="1200" dirty="0"/>
        </a:p>
      </dsp:txBody>
      <dsp:txXfrm>
        <a:off x="61558" y="0"/>
        <a:ext cx="8939436" cy="201467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F1434D-4C55-43C5-916D-C11F3465DE30}">
      <dsp:nvSpPr>
        <dsp:cNvPr id="0" name=""/>
        <dsp:cNvSpPr/>
      </dsp:nvSpPr>
      <dsp:spPr>
        <a:xfrm>
          <a:off x="4360" y="0"/>
          <a:ext cx="4194817" cy="576064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rtl="0">
            <a:lnSpc>
              <a:spcPct val="90000"/>
            </a:lnSpc>
            <a:spcBef>
              <a:spcPct val="0"/>
            </a:spcBef>
            <a:spcAft>
              <a:spcPct val="35000"/>
            </a:spcAft>
            <a:buNone/>
          </a:pPr>
          <a:r>
            <a:rPr lang="en-GB" sz="3300" kern="1200"/>
            <a:t>I believe it is temporary</a:t>
          </a:r>
          <a:endParaRPr lang="en-US" sz="3300" kern="1200"/>
        </a:p>
      </dsp:txBody>
      <dsp:txXfrm>
        <a:off x="4360" y="0"/>
        <a:ext cx="4194817" cy="1728192"/>
      </dsp:txXfrm>
    </dsp:sp>
    <dsp:sp modelId="{F49C4B54-0FDA-4577-A9DD-826FDB571F7B}">
      <dsp:nvSpPr>
        <dsp:cNvPr id="0" name=""/>
        <dsp:cNvSpPr/>
      </dsp:nvSpPr>
      <dsp:spPr>
        <a:xfrm>
          <a:off x="423842" y="1729879"/>
          <a:ext cx="3355854" cy="17369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420" tIns="43815" rIns="58420" bIns="43815" numCol="1" spcCol="1270" anchor="ctr" anchorCtr="0">
          <a:noAutofit/>
        </a:bodyPr>
        <a:lstStyle/>
        <a:p>
          <a:pPr marL="0" lvl="0" indent="0" algn="ctr" defTabSz="1022350" rtl="0">
            <a:lnSpc>
              <a:spcPct val="90000"/>
            </a:lnSpc>
            <a:spcBef>
              <a:spcPct val="0"/>
            </a:spcBef>
            <a:spcAft>
              <a:spcPct val="35000"/>
            </a:spcAft>
            <a:buNone/>
          </a:pPr>
          <a:r>
            <a:rPr lang="en-GB" sz="2300" u="sng" kern="1200"/>
            <a:t>Average Earnings</a:t>
          </a:r>
          <a:r>
            <a:rPr lang="en-GB" sz="2300" kern="1200"/>
            <a:t> if size is stable</a:t>
          </a:r>
          <a:endParaRPr lang="en-US" sz="2300" kern="1200"/>
        </a:p>
      </dsp:txBody>
      <dsp:txXfrm>
        <a:off x="474714" y="1780751"/>
        <a:ext cx="3254110" cy="1635167"/>
      </dsp:txXfrm>
    </dsp:sp>
    <dsp:sp modelId="{541B65DC-328E-44DA-937C-F45A7B0E6E39}">
      <dsp:nvSpPr>
        <dsp:cNvPr id="0" name=""/>
        <dsp:cNvSpPr/>
      </dsp:nvSpPr>
      <dsp:spPr>
        <a:xfrm>
          <a:off x="423842" y="3734008"/>
          <a:ext cx="3355854" cy="17369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420" tIns="43815" rIns="58420" bIns="43815" numCol="1" spcCol="1270" anchor="ctr" anchorCtr="0">
          <a:noAutofit/>
        </a:bodyPr>
        <a:lstStyle/>
        <a:p>
          <a:pPr marL="0" lvl="0" indent="0" algn="ctr" defTabSz="1022350" rtl="0">
            <a:lnSpc>
              <a:spcPct val="90000"/>
            </a:lnSpc>
            <a:spcBef>
              <a:spcPct val="0"/>
            </a:spcBef>
            <a:spcAft>
              <a:spcPct val="35000"/>
            </a:spcAft>
            <a:buNone/>
          </a:pPr>
          <a:r>
            <a:rPr lang="en-GB" sz="2300" kern="1200"/>
            <a:t>ROE or ROC: </a:t>
          </a:r>
          <a14:m xmlns:a14="http://schemas.microsoft.com/office/drawing/2010/main">
            <m:oMath xmlns:m="http://schemas.openxmlformats.org/officeDocument/2006/math">
              <m:sSub>
                <m:sSubPr>
                  <m:ctrlPr>
                    <a:rPr lang="en-GB" sz="2300" b="0" i="1" kern="1200">
                      <a:latin typeface="Cambria Math" panose="02040503050406030204" pitchFamily="18" charset="0"/>
                    </a:rPr>
                  </m:ctrlPr>
                </m:sSubPr>
                <m:e>
                  <m:r>
                    <a:rPr lang="en-GB" sz="2300" b="0" i="1" kern="1200">
                      <a:latin typeface="Cambria Math" panose="02040503050406030204" pitchFamily="18" charset="0"/>
                    </a:rPr>
                    <m:t>𝐸𝑎𝑟𝑛𝑖𝑛𝑔𝑠</m:t>
                  </m:r>
                </m:e>
                <m:sub>
                  <m:r>
                    <a:rPr lang="en-GB" sz="2300" b="0" i="1" kern="1200">
                      <a:latin typeface="Cambria Math" panose="02040503050406030204" pitchFamily="18" charset="0"/>
                    </a:rPr>
                    <m:t>𝑡</m:t>
                  </m:r>
                </m:sub>
              </m:sSub>
              <m:r>
                <a:rPr lang="en-GB" sz="2300" b="0" i="1" kern="1200">
                  <a:latin typeface="Cambria Math" panose="02040503050406030204" pitchFamily="18" charset="0"/>
                </a:rPr>
                <m:t>=</m:t>
              </m:r>
              <m:sSub>
                <m:sSubPr>
                  <m:ctrlPr>
                    <a:rPr lang="en-GB" sz="2300" b="0" i="1" kern="1200">
                      <a:latin typeface="Cambria Math" panose="02040503050406030204" pitchFamily="18" charset="0"/>
                    </a:rPr>
                  </m:ctrlPr>
                </m:sSubPr>
                <m:e>
                  <m:r>
                    <a:rPr lang="en-GB" sz="2300" b="0" i="1" kern="1200">
                      <a:latin typeface="Cambria Math" panose="02040503050406030204" pitchFamily="18" charset="0"/>
                    </a:rPr>
                    <m:t>𝑅𝑂𝐸</m:t>
                  </m:r>
                </m:e>
                <m:sub>
                  <m:r>
                    <a:rPr lang="en-GB" sz="2300" b="0" i="1" kern="1200">
                      <a:latin typeface="Cambria Math" panose="02040503050406030204" pitchFamily="18" charset="0"/>
                    </a:rPr>
                    <m:t>𝑟𝑒𝑓𝑒𝑟𝑒𝑛𝑒</m:t>
                  </m:r>
                </m:sub>
              </m:sSub>
              <m:r>
                <a:rPr lang="en-GB" sz="2300" b="0" i="1" kern="1200">
                  <a:latin typeface="Cambria Math" panose="02040503050406030204" pitchFamily="18" charset="0"/>
                </a:rPr>
                <m:t>∗</m:t>
              </m:r>
              <m:sSub>
                <m:sSubPr>
                  <m:ctrlPr>
                    <a:rPr lang="en-GB" sz="2300" i="1" kern="1200">
                      <a:latin typeface="Cambria Math" panose="02040503050406030204" pitchFamily="18" charset="0"/>
                    </a:rPr>
                  </m:ctrlPr>
                </m:sSubPr>
                <m:e>
                  <m:r>
                    <a:rPr lang="en-GB" sz="2300" i="1" kern="1200">
                      <a:latin typeface="Cambria Math" panose="02040503050406030204" pitchFamily="18" charset="0"/>
                    </a:rPr>
                    <m:t>𝐸𝑞𝑢𝑖𝑡𝑦</m:t>
                  </m:r>
                </m:e>
                <m:sub>
                  <m:r>
                    <a:rPr lang="en-GB" sz="2300" b="0" i="1" kern="1200">
                      <a:latin typeface="Cambria Math" panose="02040503050406030204" pitchFamily="18" charset="0"/>
                    </a:rPr>
                    <m:t>𝑡</m:t>
                  </m:r>
                </m:sub>
              </m:sSub>
            </m:oMath>
          </a14:m>
          <a:r>
            <a:rPr lang="en-US" sz="2300" kern="1200"/>
            <a:t> if size is not stable</a:t>
          </a:r>
        </a:p>
      </dsp:txBody>
      <dsp:txXfrm>
        <a:off x="474714" y="3784880"/>
        <a:ext cx="3254110" cy="1635167"/>
      </dsp:txXfrm>
    </dsp:sp>
    <dsp:sp modelId="{C9DB5F4F-261C-491B-8E76-1445C6EB646F}">
      <dsp:nvSpPr>
        <dsp:cNvPr id="0" name=""/>
        <dsp:cNvSpPr/>
      </dsp:nvSpPr>
      <dsp:spPr>
        <a:xfrm>
          <a:off x="4513789" y="0"/>
          <a:ext cx="4194817" cy="576064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rtl="0">
            <a:lnSpc>
              <a:spcPct val="90000"/>
            </a:lnSpc>
            <a:spcBef>
              <a:spcPct val="0"/>
            </a:spcBef>
            <a:spcAft>
              <a:spcPct val="35000"/>
            </a:spcAft>
            <a:buNone/>
          </a:pPr>
          <a:r>
            <a:rPr lang="en-GB" sz="3300" kern="1200"/>
            <a:t>I believe it is not temporary </a:t>
          </a:r>
          <a:r>
            <a:rPr lang="en-GB" sz="3300" kern="1200">
              <a:sym typeface="Wingdings" panose="05000000000000000000" pitchFamily="2" charset="2"/>
            </a:rPr>
            <a:t></a:t>
          </a:r>
          <a:r>
            <a:rPr lang="en-GB" sz="3300" kern="1200"/>
            <a:t> Explicit Cash Flows</a:t>
          </a:r>
          <a:endParaRPr lang="en-US" sz="3300" kern="1200"/>
        </a:p>
      </dsp:txBody>
      <dsp:txXfrm>
        <a:off x="4513789" y="0"/>
        <a:ext cx="4194817" cy="1728192"/>
      </dsp:txXfrm>
    </dsp:sp>
    <dsp:sp modelId="{14910E77-7793-4B8A-859E-B3757AE456B7}">
      <dsp:nvSpPr>
        <dsp:cNvPr id="0" name=""/>
        <dsp:cNvSpPr/>
      </dsp:nvSpPr>
      <dsp:spPr>
        <a:xfrm>
          <a:off x="4933271" y="1728684"/>
          <a:ext cx="3355854" cy="113173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420" tIns="43815" rIns="58420" bIns="43815" numCol="1" spcCol="1270" anchor="ctr" anchorCtr="0">
          <a:noAutofit/>
        </a:bodyPr>
        <a:lstStyle/>
        <a:p>
          <a:pPr marL="0" lvl="0" indent="0" algn="ctr" defTabSz="1022350" rtl="0">
            <a:lnSpc>
              <a:spcPct val="90000"/>
            </a:lnSpc>
            <a:spcBef>
              <a:spcPct val="0"/>
            </a:spcBef>
            <a:spcAft>
              <a:spcPct val="35000"/>
            </a:spcAft>
            <a:buNone/>
          </a:pPr>
          <a:r>
            <a:rPr lang="en-GB" sz="2300" u="sng" kern="1200"/>
            <a:t>Target Profit Margin</a:t>
          </a:r>
          <a:r>
            <a:rPr lang="en-GB" sz="2300" kern="1200"/>
            <a:t>: if the problem is Structural</a:t>
          </a:r>
          <a:endParaRPr lang="en-US" sz="2300" kern="1200"/>
        </a:p>
      </dsp:txBody>
      <dsp:txXfrm>
        <a:off x="4966418" y="1761831"/>
        <a:ext cx="3289560" cy="1065441"/>
      </dsp:txXfrm>
    </dsp:sp>
    <dsp:sp modelId="{282EE335-BD3E-4241-83DC-1D1C5AC4E4F8}">
      <dsp:nvSpPr>
        <dsp:cNvPr id="0" name=""/>
        <dsp:cNvSpPr/>
      </dsp:nvSpPr>
      <dsp:spPr>
        <a:xfrm>
          <a:off x="4933271" y="3034532"/>
          <a:ext cx="3355854" cy="113173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420" tIns="43815" rIns="58420" bIns="43815" numCol="1" spcCol="1270" anchor="ctr" anchorCtr="0">
          <a:noAutofit/>
        </a:bodyPr>
        <a:lstStyle/>
        <a:p>
          <a:pPr marL="0" lvl="0" indent="0" algn="ctr" defTabSz="1022350" rtl="0">
            <a:lnSpc>
              <a:spcPct val="90000"/>
            </a:lnSpc>
            <a:spcBef>
              <a:spcPct val="0"/>
            </a:spcBef>
            <a:spcAft>
              <a:spcPct val="35000"/>
            </a:spcAft>
            <a:buNone/>
          </a:pPr>
          <a:r>
            <a:rPr lang="en-GB" sz="2300" u="sng" kern="1200"/>
            <a:t>Target Debt Ratio</a:t>
          </a:r>
          <a:r>
            <a:rPr lang="en-GB" sz="2300" kern="1200"/>
            <a:t>: if Leverage is the problem</a:t>
          </a:r>
          <a:endParaRPr lang="en-US" sz="2300" kern="1200"/>
        </a:p>
      </dsp:txBody>
      <dsp:txXfrm>
        <a:off x="4966418" y="3067679"/>
        <a:ext cx="3289560" cy="1065441"/>
      </dsp:txXfrm>
    </dsp:sp>
    <dsp:sp modelId="{A182FB55-BCE9-4F46-9ED4-B02EE7E3F849}">
      <dsp:nvSpPr>
        <dsp:cNvPr id="0" name=""/>
        <dsp:cNvSpPr/>
      </dsp:nvSpPr>
      <dsp:spPr>
        <a:xfrm>
          <a:off x="4933271" y="4340380"/>
          <a:ext cx="3355854" cy="113173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420" tIns="43815" rIns="58420" bIns="43815" numCol="1" spcCol="1270" anchor="ctr" anchorCtr="0">
          <a:noAutofit/>
        </a:bodyPr>
        <a:lstStyle/>
        <a:p>
          <a:pPr marL="0" lvl="0" indent="0" algn="ctr" defTabSz="1022350" rtl="0">
            <a:lnSpc>
              <a:spcPct val="90000"/>
            </a:lnSpc>
            <a:spcBef>
              <a:spcPct val="0"/>
            </a:spcBef>
            <a:spcAft>
              <a:spcPct val="35000"/>
            </a:spcAft>
            <a:buNone/>
          </a:pPr>
          <a:r>
            <a:rPr lang="en-GB" sz="2300" u="sng" kern="1200"/>
            <a:t>Industry Profit margin</a:t>
          </a:r>
          <a:r>
            <a:rPr lang="en-GB" sz="2300" kern="1200"/>
            <a:t>: if there are operating problems</a:t>
          </a:r>
          <a:endParaRPr lang="en-US" sz="2300" kern="1200"/>
        </a:p>
      </dsp:txBody>
      <dsp:txXfrm>
        <a:off x="4966418" y="4373527"/>
        <a:ext cx="3289560" cy="106544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8C279F-F125-4F7F-A7AC-E4533B0F8260}">
      <dsp:nvSpPr>
        <dsp:cNvPr id="0" name=""/>
        <dsp:cNvSpPr/>
      </dsp:nvSpPr>
      <dsp:spPr>
        <a:xfrm>
          <a:off x="72004" y="29005"/>
          <a:ext cx="3057540" cy="2521831"/>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228600" lvl="1" indent="-228600" algn="l" defTabSz="1066800">
            <a:lnSpc>
              <a:spcPct val="90000"/>
            </a:lnSpc>
            <a:spcBef>
              <a:spcPct val="0"/>
            </a:spcBef>
            <a:spcAft>
              <a:spcPct val="15000"/>
            </a:spcAft>
            <a:buChar char="•"/>
          </a:pPr>
          <a:r>
            <a:rPr lang="en-US" sz="2400" b="1" kern="1200" dirty="0"/>
            <a:t>They Change Operating Income</a:t>
          </a:r>
        </a:p>
        <a:p>
          <a:pPr marL="171450" lvl="1" indent="-171450" algn="l" defTabSz="755650">
            <a:lnSpc>
              <a:spcPct val="90000"/>
            </a:lnSpc>
            <a:spcBef>
              <a:spcPct val="0"/>
            </a:spcBef>
            <a:spcAft>
              <a:spcPct val="15000"/>
            </a:spcAft>
            <a:buChar char="•"/>
          </a:pPr>
          <a:r>
            <a:rPr lang="en-US" sz="1700" kern="1200" dirty="0"/>
            <a:t>Net Income does not change due to depreciation and the increased interest payments</a:t>
          </a:r>
        </a:p>
      </dsp:txBody>
      <dsp:txXfrm>
        <a:off x="130038" y="87039"/>
        <a:ext cx="2941472" cy="1865370"/>
      </dsp:txXfrm>
    </dsp:sp>
    <dsp:sp modelId="{4A657CBE-3EA4-4D49-A61F-189BC86219D8}">
      <dsp:nvSpPr>
        <dsp:cNvPr id="0" name=""/>
        <dsp:cNvSpPr/>
      </dsp:nvSpPr>
      <dsp:spPr>
        <a:xfrm>
          <a:off x="2003564" y="1248244"/>
          <a:ext cx="5300444" cy="5300444"/>
        </a:xfrm>
        <a:prstGeom prst="leftCircularArrow">
          <a:avLst>
            <a:gd name="adj1" fmla="val 1420"/>
            <a:gd name="adj2" fmla="val 167953"/>
            <a:gd name="adj3" fmla="val 4201339"/>
            <a:gd name="adj4" fmla="val 11282364"/>
            <a:gd name="adj5" fmla="val 165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5DA587F-F56A-4D99-BA91-81AF5FBAE31D}">
      <dsp:nvSpPr>
        <dsp:cNvPr id="0" name=""/>
        <dsp:cNvSpPr/>
      </dsp:nvSpPr>
      <dsp:spPr>
        <a:xfrm>
          <a:off x="751464" y="2458444"/>
          <a:ext cx="2717813" cy="108078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Financial Expenses (Off-Balance Sheet Liabilities)</a:t>
          </a:r>
        </a:p>
      </dsp:txBody>
      <dsp:txXfrm>
        <a:off x="783119" y="2490099"/>
        <a:ext cx="2654503" cy="1017474"/>
      </dsp:txXfrm>
    </dsp:sp>
    <dsp:sp modelId="{DC3BDF6D-A669-469F-8B0D-9A6F39202726}">
      <dsp:nvSpPr>
        <dsp:cNvPr id="0" name=""/>
        <dsp:cNvSpPr/>
      </dsp:nvSpPr>
      <dsp:spPr>
        <a:xfrm>
          <a:off x="3764405" y="3204596"/>
          <a:ext cx="5092578" cy="2521831"/>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228600" lvl="1" indent="-228600" algn="l" defTabSz="889000">
            <a:lnSpc>
              <a:spcPct val="90000"/>
            </a:lnSpc>
            <a:spcBef>
              <a:spcPct val="0"/>
            </a:spcBef>
            <a:spcAft>
              <a:spcPct val="15000"/>
            </a:spcAft>
            <a:buChar char="•"/>
          </a:pPr>
          <a:r>
            <a:rPr lang="en-US" sz="2000" kern="1200" dirty="0"/>
            <a:t>This increases Debt, but also creates an equivalent asset</a:t>
          </a:r>
        </a:p>
        <a:p>
          <a:pPr marL="228600" lvl="1" indent="-228600" algn="l" defTabSz="1066800">
            <a:lnSpc>
              <a:spcPct val="90000"/>
            </a:lnSpc>
            <a:spcBef>
              <a:spcPct val="0"/>
            </a:spcBef>
            <a:spcAft>
              <a:spcPct val="15000"/>
            </a:spcAft>
            <a:buChar char="•"/>
          </a:pPr>
          <a:r>
            <a:rPr lang="en-US" sz="2400" b="1" kern="1200" dirty="0"/>
            <a:t>Cost of Capital Changes</a:t>
          </a:r>
        </a:p>
        <a:p>
          <a:pPr marL="228600" lvl="1" indent="-228600" algn="l" defTabSz="1066800">
            <a:lnSpc>
              <a:spcPct val="90000"/>
            </a:lnSpc>
            <a:spcBef>
              <a:spcPct val="0"/>
            </a:spcBef>
            <a:spcAft>
              <a:spcPct val="15000"/>
            </a:spcAft>
            <a:buChar char="•"/>
          </a:pPr>
          <a:r>
            <a:rPr lang="en-US" sz="2400" b="1" kern="1200" dirty="0"/>
            <a:t>Return on Capital Changes</a:t>
          </a:r>
        </a:p>
      </dsp:txBody>
      <dsp:txXfrm>
        <a:off x="3822439" y="3803023"/>
        <a:ext cx="4976510" cy="1865370"/>
      </dsp:txXfrm>
    </dsp:sp>
    <dsp:sp modelId="{823D338F-5443-4445-A681-1B7CC59DFAAC}">
      <dsp:nvSpPr>
        <dsp:cNvPr id="0" name=""/>
        <dsp:cNvSpPr/>
      </dsp:nvSpPr>
      <dsp:spPr>
        <a:xfrm>
          <a:off x="5303538" y="2664297"/>
          <a:ext cx="3330082" cy="108078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They should be considered as Debt</a:t>
          </a:r>
        </a:p>
      </dsp:txBody>
      <dsp:txXfrm>
        <a:off x="5335193" y="2695952"/>
        <a:ext cx="3266772" cy="101747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8C279F-F125-4F7F-A7AC-E4533B0F8260}">
      <dsp:nvSpPr>
        <dsp:cNvPr id="0" name=""/>
        <dsp:cNvSpPr/>
      </dsp:nvSpPr>
      <dsp:spPr>
        <a:xfrm>
          <a:off x="101130" y="535633"/>
          <a:ext cx="2683992" cy="1809308"/>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71450" lvl="1" indent="-171450" algn="l" defTabSz="711200">
            <a:lnSpc>
              <a:spcPct val="90000"/>
            </a:lnSpc>
            <a:spcBef>
              <a:spcPct val="0"/>
            </a:spcBef>
            <a:spcAft>
              <a:spcPct val="15000"/>
            </a:spcAft>
            <a:buChar char="•"/>
          </a:pPr>
          <a:r>
            <a:rPr lang="en-US" sz="1600" b="1" kern="1200" dirty="0"/>
            <a:t>They Change Operating Income</a:t>
          </a:r>
        </a:p>
        <a:p>
          <a:pPr marL="171450" lvl="1" indent="-171450" algn="l" defTabSz="711200">
            <a:lnSpc>
              <a:spcPct val="90000"/>
            </a:lnSpc>
            <a:spcBef>
              <a:spcPct val="0"/>
            </a:spcBef>
            <a:spcAft>
              <a:spcPct val="15000"/>
            </a:spcAft>
            <a:buChar char="•"/>
          </a:pPr>
          <a:r>
            <a:rPr lang="en-US" sz="1600" b="1" kern="1200" dirty="0"/>
            <a:t>They Change Net Income </a:t>
          </a:r>
          <a:r>
            <a:rPr lang="en-US" sz="1600" b="0" kern="1200" dirty="0"/>
            <a:t>(The asset increases Equity. No Interest Payments)</a:t>
          </a:r>
          <a:endParaRPr lang="en-US" sz="1600" b="1" kern="1200" dirty="0"/>
        </a:p>
      </dsp:txBody>
      <dsp:txXfrm>
        <a:off x="142767" y="577270"/>
        <a:ext cx="2600718" cy="1338325"/>
      </dsp:txXfrm>
    </dsp:sp>
    <dsp:sp modelId="{4A657CBE-3EA4-4D49-A61F-189BC86219D8}">
      <dsp:nvSpPr>
        <dsp:cNvPr id="0" name=""/>
        <dsp:cNvSpPr/>
      </dsp:nvSpPr>
      <dsp:spPr>
        <a:xfrm>
          <a:off x="739696" y="2013055"/>
          <a:ext cx="3717899" cy="3717899"/>
        </a:xfrm>
        <a:prstGeom prst="leftCircularArrow">
          <a:avLst>
            <a:gd name="adj1" fmla="val 1237"/>
            <a:gd name="adj2" fmla="val 145694"/>
            <a:gd name="adj3" fmla="val 5551981"/>
            <a:gd name="adj4" fmla="val 12655265"/>
            <a:gd name="adj5" fmla="val 144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5DA587F-F56A-4D99-BA91-81AF5FBAE31D}">
      <dsp:nvSpPr>
        <dsp:cNvPr id="0" name=""/>
        <dsp:cNvSpPr/>
      </dsp:nvSpPr>
      <dsp:spPr>
        <a:xfrm>
          <a:off x="712110" y="2181475"/>
          <a:ext cx="2046261" cy="134691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Capital Investments (Off-Balance Sheet Assets)</a:t>
          </a:r>
        </a:p>
      </dsp:txBody>
      <dsp:txXfrm>
        <a:off x="751560" y="2220925"/>
        <a:ext cx="1967361" cy="1268017"/>
      </dsp:txXfrm>
    </dsp:sp>
    <dsp:sp modelId="{CB28B580-0A53-4B00-AE8D-7417BA232AF4}">
      <dsp:nvSpPr>
        <dsp:cNvPr id="0" name=""/>
        <dsp:cNvSpPr/>
      </dsp:nvSpPr>
      <dsp:spPr>
        <a:xfrm>
          <a:off x="2309987" y="4257636"/>
          <a:ext cx="2757390" cy="181397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71450" lvl="1" indent="-171450" algn="l" defTabSz="711200">
            <a:lnSpc>
              <a:spcPct val="90000"/>
            </a:lnSpc>
            <a:spcBef>
              <a:spcPct val="0"/>
            </a:spcBef>
            <a:spcAft>
              <a:spcPct val="15000"/>
            </a:spcAft>
            <a:buChar char="•"/>
          </a:pPr>
          <a:r>
            <a:rPr lang="en-US" sz="1600" b="1" kern="1200" dirty="0"/>
            <a:t>They increase </a:t>
          </a:r>
          <a:r>
            <a:rPr lang="en-US" sz="1600" b="1" kern="1200" dirty="0" err="1"/>
            <a:t>CapEx</a:t>
          </a:r>
          <a:endParaRPr lang="en-US" sz="1600" b="1" kern="1200" dirty="0"/>
        </a:p>
        <a:p>
          <a:pPr marL="171450" lvl="1" indent="-171450" algn="l" defTabSz="711200">
            <a:lnSpc>
              <a:spcPct val="90000"/>
            </a:lnSpc>
            <a:spcBef>
              <a:spcPct val="0"/>
            </a:spcBef>
            <a:spcAft>
              <a:spcPct val="15000"/>
            </a:spcAft>
            <a:buChar char="•"/>
          </a:pPr>
          <a:r>
            <a:rPr lang="en-US" sz="1600" b="1" kern="1200" dirty="0"/>
            <a:t>They Increase growth</a:t>
          </a:r>
        </a:p>
      </dsp:txBody>
      <dsp:txXfrm>
        <a:off x="2351732" y="4688091"/>
        <a:ext cx="2673900" cy="1341777"/>
      </dsp:txXfrm>
    </dsp:sp>
    <dsp:sp modelId="{FB2B7D9D-B806-4B31-887B-230EB455C1F1}">
      <dsp:nvSpPr>
        <dsp:cNvPr id="0" name=""/>
        <dsp:cNvSpPr/>
      </dsp:nvSpPr>
      <dsp:spPr>
        <a:xfrm>
          <a:off x="3951928" y="1074355"/>
          <a:ext cx="4748006" cy="4748006"/>
        </a:xfrm>
        <a:prstGeom prst="circularArrow">
          <a:avLst>
            <a:gd name="adj1" fmla="val 969"/>
            <a:gd name="adj2" fmla="val 113404"/>
            <a:gd name="adj3" fmla="val 17335421"/>
            <a:gd name="adj4" fmla="val 10199846"/>
            <a:gd name="adj5" fmla="val 113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6B1B8E4-39FC-4E4B-81A0-EA9821F13287}">
      <dsp:nvSpPr>
        <dsp:cNvPr id="0" name=""/>
        <dsp:cNvSpPr/>
      </dsp:nvSpPr>
      <dsp:spPr>
        <a:xfrm>
          <a:off x="3013958" y="3852049"/>
          <a:ext cx="2046261" cy="88059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They Are Investments</a:t>
          </a:r>
        </a:p>
      </dsp:txBody>
      <dsp:txXfrm>
        <a:off x="3039750" y="3877841"/>
        <a:ext cx="1994677" cy="829012"/>
      </dsp:txXfrm>
    </dsp:sp>
    <dsp:sp modelId="{E532DE92-9CAE-49A5-BA68-B9BCE90B36E8}">
      <dsp:nvSpPr>
        <dsp:cNvPr id="0" name=""/>
        <dsp:cNvSpPr/>
      </dsp:nvSpPr>
      <dsp:spPr>
        <a:xfrm>
          <a:off x="5863718" y="1262370"/>
          <a:ext cx="2970501" cy="2238061"/>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71450" lvl="1" indent="-171450" algn="l" defTabSz="711200">
            <a:lnSpc>
              <a:spcPct val="90000"/>
            </a:lnSpc>
            <a:spcBef>
              <a:spcPct val="0"/>
            </a:spcBef>
            <a:spcAft>
              <a:spcPct val="15000"/>
            </a:spcAft>
            <a:buChar char="•"/>
          </a:pPr>
          <a:r>
            <a:rPr lang="en-US" sz="1600" kern="1200" dirty="0"/>
            <a:t>This increases Fixed Assets, but also creates an equivalent value for Equity</a:t>
          </a:r>
        </a:p>
        <a:p>
          <a:pPr marL="171450" lvl="1" indent="-171450" algn="l" defTabSz="711200">
            <a:lnSpc>
              <a:spcPct val="90000"/>
            </a:lnSpc>
            <a:spcBef>
              <a:spcPct val="0"/>
            </a:spcBef>
            <a:spcAft>
              <a:spcPct val="15000"/>
            </a:spcAft>
            <a:buChar char="•"/>
          </a:pPr>
          <a:r>
            <a:rPr lang="en-US" sz="1600" b="1" kern="1200" dirty="0"/>
            <a:t>Cost of Capital Changes</a:t>
          </a:r>
        </a:p>
        <a:p>
          <a:pPr marL="171450" lvl="1" indent="-171450" algn="l" defTabSz="711200">
            <a:lnSpc>
              <a:spcPct val="90000"/>
            </a:lnSpc>
            <a:spcBef>
              <a:spcPct val="0"/>
            </a:spcBef>
            <a:spcAft>
              <a:spcPct val="15000"/>
            </a:spcAft>
            <a:buChar char="•"/>
          </a:pPr>
          <a:r>
            <a:rPr lang="en-US" sz="1600" b="1" kern="1200" dirty="0"/>
            <a:t>Return on Capital Changes</a:t>
          </a:r>
        </a:p>
      </dsp:txBody>
      <dsp:txXfrm>
        <a:off x="5915222" y="1313874"/>
        <a:ext cx="2867493" cy="1655469"/>
      </dsp:txXfrm>
    </dsp:sp>
    <dsp:sp modelId="{CD0E7210-7BAF-4E18-8CBE-197988778374}">
      <dsp:nvSpPr>
        <dsp:cNvPr id="0" name=""/>
        <dsp:cNvSpPr/>
      </dsp:nvSpPr>
      <dsp:spPr>
        <a:xfrm>
          <a:off x="6499145" y="3312371"/>
          <a:ext cx="2046261" cy="133483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They should be considered as an Intangible Asset</a:t>
          </a:r>
        </a:p>
      </dsp:txBody>
      <dsp:txXfrm>
        <a:off x="6538241" y="3351467"/>
        <a:ext cx="1968069" cy="125664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603516-0C9F-4758-85FD-A45413C58CB1}">
      <dsp:nvSpPr>
        <dsp:cNvPr id="0" name=""/>
        <dsp:cNvSpPr/>
      </dsp:nvSpPr>
      <dsp:spPr>
        <a:xfrm>
          <a:off x="4212468" y="2874606"/>
          <a:ext cx="3033670" cy="457319"/>
        </a:xfrm>
        <a:custGeom>
          <a:avLst/>
          <a:gdLst/>
          <a:ahLst/>
          <a:cxnLst/>
          <a:rect l="0" t="0" r="0" b="0"/>
          <a:pathLst>
            <a:path>
              <a:moveTo>
                <a:pt x="0" y="0"/>
              </a:moveTo>
              <a:lnTo>
                <a:pt x="0" y="228659"/>
              </a:lnTo>
              <a:lnTo>
                <a:pt x="3033670" y="228659"/>
              </a:lnTo>
              <a:lnTo>
                <a:pt x="3033670" y="457319"/>
              </a:lnTo>
            </a:path>
          </a:pathLst>
        </a:custGeom>
        <a:noFill/>
        <a:ln w="25400" cap="flat" cmpd="sng" algn="ctr">
          <a:solidFill>
            <a:schemeClr val="accent6">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E89D80A4-0037-47D2-97ED-B3D139351BB5}">
      <dsp:nvSpPr>
        <dsp:cNvPr id="0" name=""/>
        <dsp:cNvSpPr/>
      </dsp:nvSpPr>
      <dsp:spPr>
        <a:xfrm>
          <a:off x="4166748" y="2874606"/>
          <a:ext cx="91440" cy="457319"/>
        </a:xfrm>
        <a:custGeom>
          <a:avLst/>
          <a:gdLst/>
          <a:ahLst/>
          <a:cxnLst/>
          <a:rect l="0" t="0" r="0" b="0"/>
          <a:pathLst>
            <a:path>
              <a:moveTo>
                <a:pt x="45720" y="0"/>
              </a:moveTo>
              <a:lnTo>
                <a:pt x="45720" y="457319"/>
              </a:lnTo>
            </a:path>
          </a:pathLst>
        </a:custGeom>
        <a:noFill/>
        <a:ln w="25400" cap="flat" cmpd="sng" algn="ctr">
          <a:solidFill>
            <a:schemeClr val="accent6">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FADC4AE9-70A3-4336-A80C-B5EA50E7F69D}">
      <dsp:nvSpPr>
        <dsp:cNvPr id="0" name=""/>
        <dsp:cNvSpPr/>
      </dsp:nvSpPr>
      <dsp:spPr>
        <a:xfrm>
          <a:off x="1178797" y="2874606"/>
          <a:ext cx="3033670" cy="457319"/>
        </a:xfrm>
        <a:custGeom>
          <a:avLst/>
          <a:gdLst/>
          <a:ahLst/>
          <a:cxnLst/>
          <a:rect l="0" t="0" r="0" b="0"/>
          <a:pathLst>
            <a:path>
              <a:moveTo>
                <a:pt x="3033670" y="0"/>
              </a:moveTo>
              <a:lnTo>
                <a:pt x="3033670" y="228659"/>
              </a:lnTo>
              <a:lnTo>
                <a:pt x="0" y="228659"/>
              </a:lnTo>
              <a:lnTo>
                <a:pt x="0" y="457319"/>
              </a:lnTo>
            </a:path>
          </a:pathLst>
        </a:custGeom>
        <a:noFill/>
        <a:ln w="25400" cap="flat" cmpd="sng" algn="ctr">
          <a:solidFill>
            <a:schemeClr val="accent6">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8CEF45EA-DCD5-4D4B-807C-A09E4F930379}">
      <dsp:nvSpPr>
        <dsp:cNvPr id="0" name=""/>
        <dsp:cNvSpPr/>
      </dsp:nvSpPr>
      <dsp:spPr>
        <a:xfrm>
          <a:off x="615413" y="664568"/>
          <a:ext cx="7194109" cy="2210038"/>
        </a:xfrm>
        <a:prstGeom prst="rect">
          <a:avLst/>
        </a:prstGeom>
        <a:gradFill rotWithShape="0">
          <a:gsLst>
            <a:gs pos="0">
              <a:schemeClr val="accent4">
                <a:hueOff val="0"/>
                <a:satOff val="0"/>
                <a:lumOff val="0"/>
                <a:alphaOff val="0"/>
                <a:shade val="63000"/>
                <a:satMod val="165000"/>
              </a:schemeClr>
            </a:gs>
            <a:gs pos="30000">
              <a:schemeClr val="accent4">
                <a:hueOff val="0"/>
                <a:satOff val="0"/>
                <a:lumOff val="0"/>
                <a:alphaOff val="0"/>
                <a:shade val="58000"/>
                <a:satMod val="165000"/>
              </a:schemeClr>
            </a:gs>
            <a:gs pos="75000">
              <a:schemeClr val="accent4">
                <a:hueOff val="0"/>
                <a:satOff val="0"/>
                <a:lumOff val="0"/>
                <a:alphaOff val="0"/>
                <a:shade val="30000"/>
                <a:satMod val="175000"/>
              </a:schemeClr>
            </a:gs>
            <a:gs pos="100000">
              <a:schemeClr val="accent4">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1955800" rtl="0">
            <a:lnSpc>
              <a:spcPct val="90000"/>
            </a:lnSpc>
            <a:spcBef>
              <a:spcPct val="0"/>
            </a:spcBef>
            <a:spcAft>
              <a:spcPct val="35000"/>
            </a:spcAft>
            <a:buNone/>
          </a:pPr>
          <a:r>
            <a:rPr lang="en-GB" sz="4400" kern="1200" dirty="0"/>
            <a:t>From Earnings To </a:t>
          </a:r>
        </a:p>
        <a:p>
          <a:pPr marL="0" lvl="0" indent="0" algn="ctr" defTabSz="1955800" rtl="0">
            <a:lnSpc>
              <a:spcPct val="90000"/>
            </a:lnSpc>
            <a:spcBef>
              <a:spcPct val="0"/>
            </a:spcBef>
            <a:spcAft>
              <a:spcPct val="35000"/>
            </a:spcAft>
            <a:buNone/>
          </a:pPr>
          <a:r>
            <a:rPr lang="en-GB" sz="4400" kern="1200" dirty="0"/>
            <a:t>Actual Cash Flows</a:t>
          </a:r>
        </a:p>
      </dsp:txBody>
      <dsp:txXfrm>
        <a:off x="615413" y="664568"/>
        <a:ext cx="7194109" cy="2210038"/>
      </dsp:txXfrm>
    </dsp:sp>
    <dsp:sp modelId="{7C77A335-BDC8-494E-830D-3EEFBD0989BD}">
      <dsp:nvSpPr>
        <dsp:cNvPr id="0" name=""/>
        <dsp:cNvSpPr/>
      </dsp:nvSpPr>
      <dsp:spPr>
        <a:xfrm>
          <a:off x="1005" y="3331925"/>
          <a:ext cx="2355585" cy="1980170"/>
        </a:xfrm>
        <a:prstGeom prst="rect">
          <a:avLst/>
        </a:prstGeom>
        <a:gradFill rotWithShape="0">
          <a:gsLst>
            <a:gs pos="0">
              <a:schemeClr val="accent6">
                <a:hueOff val="0"/>
                <a:satOff val="0"/>
                <a:lumOff val="0"/>
                <a:alphaOff val="0"/>
                <a:shade val="63000"/>
                <a:satMod val="165000"/>
              </a:schemeClr>
            </a:gs>
            <a:gs pos="30000">
              <a:schemeClr val="accent6">
                <a:hueOff val="0"/>
                <a:satOff val="0"/>
                <a:lumOff val="0"/>
                <a:alphaOff val="0"/>
                <a:shade val="58000"/>
                <a:satMod val="165000"/>
              </a:schemeClr>
            </a:gs>
            <a:gs pos="75000">
              <a:schemeClr val="accent6">
                <a:hueOff val="0"/>
                <a:satOff val="0"/>
                <a:lumOff val="0"/>
                <a:alphaOff val="0"/>
                <a:shade val="30000"/>
                <a:satMod val="175000"/>
              </a:schemeClr>
            </a:gs>
            <a:gs pos="100000">
              <a:schemeClr val="accent6">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9685" tIns="19685" rIns="19685" bIns="19685" numCol="1" spcCol="1270" anchor="ctr" anchorCtr="0">
          <a:noAutofit/>
        </a:bodyPr>
        <a:lstStyle/>
        <a:p>
          <a:pPr marL="0" lvl="0" indent="0" algn="ctr" defTabSz="1377950" rtl="0">
            <a:lnSpc>
              <a:spcPct val="90000"/>
            </a:lnSpc>
            <a:spcBef>
              <a:spcPct val="0"/>
            </a:spcBef>
            <a:spcAft>
              <a:spcPct val="35000"/>
            </a:spcAft>
            <a:buNone/>
          </a:pPr>
          <a:r>
            <a:rPr lang="en-GB" sz="3100" kern="1200" dirty="0"/>
            <a:t>A.</a:t>
          </a:r>
        </a:p>
        <a:p>
          <a:pPr marL="0" lvl="0" indent="0" algn="ctr" defTabSz="1377950" rtl="0">
            <a:lnSpc>
              <a:spcPct val="90000"/>
            </a:lnSpc>
            <a:spcBef>
              <a:spcPct val="0"/>
            </a:spcBef>
            <a:spcAft>
              <a:spcPct val="35000"/>
            </a:spcAft>
            <a:buNone/>
          </a:pPr>
          <a:r>
            <a:rPr lang="en-GB" sz="3100" kern="1200" dirty="0"/>
            <a:t>Tax</a:t>
          </a:r>
        </a:p>
      </dsp:txBody>
      <dsp:txXfrm>
        <a:off x="1005" y="3331925"/>
        <a:ext cx="2355585" cy="1980170"/>
      </dsp:txXfrm>
    </dsp:sp>
    <dsp:sp modelId="{29B16F8C-F484-406E-87BA-F96E8004EA98}">
      <dsp:nvSpPr>
        <dsp:cNvPr id="0" name=""/>
        <dsp:cNvSpPr/>
      </dsp:nvSpPr>
      <dsp:spPr>
        <a:xfrm>
          <a:off x="2813909" y="3331925"/>
          <a:ext cx="2797116" cy="1980170"/>
        </a:xfrm>
        <a:prstGeom prst="rect">
          <a:avLst/>
        </a:prstGeom>
        <a:gradFill rotWithShape="0">
          <a:gsLst>
            <a:gs pos="0">
              <a:schemeClr val="accent6">
                <a:hueOff val="0"/>
                <a:satOff val="0"/>
                <a:lumOff val="0"/>
                <a:alphaOff val="0"/>
                <a:shade val="63000"/>
                <a:satMod val="165000"/>
              </a:schemeClr>
            </a:gs>
            <a:gs pos="30000">
              <a:schemeClr val="accent6">
                <a:hueOff val="0"/>
                <a:satOff val="0"/>
                <a:lumOff val="0"/>
                <a:alphaOff val="0"/>
                <a:shade val="58000"/>
                <a:satMod val="165000"/>
              </a:schemeClr>
            </a:gs>
            <a:gs pos="75000">
              <a:schemeClr val="accent6">
                <a:hueOff val="0"/>
                <a:satOff val="0"/>
                <a:lumOff val="0"/>
                <a:alphaOff val="0"/>
                <a:shade val="30000"/>
                <a:satMod val="175000"/>
              </a:schemeClr>
            </a:gs>
            <a:gs pos="100000">
              <a:schemeClr val="accent6">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9685" tIns="19685" rIns="19685" bIns="19685" numCol="1" spcCol="1270" anchor="ctr" anchorCtr="0">
          <a:noAutofit/>
        </a:bodyPr>
        <a:lstStyle/>
        <a:p>
          <a:pPr marL="0" lvl="0" indent="0" algn="ctr" defTabSz="1377950" rtl="0">
            <a:lnSpc>
              <a:spcPct val="90000"/>
            </a:lnSpc>
            <a:spcBef>
              <a:spcPct val="0"/>
            </a:spcBef>
            <a:spcAft>
              <a:spcPct val="35000"/>
            </a:spcAft>
            <a:buNone/>
          </a:pPr>
          <a:r>
            <a:rPr lang="en-GB" sz="3100" kern="1200" dirty="0"/>
            <a:t>B.</a:t>
          </a:r>
        </a:p>
        <a:p>
          <a:pPr marL="0" lvl="0" indent="0" algn="ctr" defTabSz="1377950" rtl="0">
            <a:lnSpc>
              <a:spcPct val="90000"/>
            </a:lnSpc>
            <a:spcBef>
              <a:spcPct val="0"/>
            </a:spcBef>
            <a:spcAft>
              <a:spcPct val="35000"/>
            </a:spcAft>
            <a:buNone/>
          </a:pPr>
          <a:r>
            <a:rPr lang="en-GB" sz="3100" kern="1200" dirty="0"/>
            <a:t>Net Capital Expenditures</a:t>
          </a:r>
        </a:p>
      </dsp:txBody>
      <dsp:txXfrm>
        <a:off x="2813909" y="3331925"/>
        <a:ext cx="2797116" cy="1980170"/>
      </dsp:txXfrm>
    </dsp:sp>
    <dsp:sp modelId="{FB4035BF-E5EF-4368-B0CF-74344B3703F0}">
      <dsp:nvSpPr>
        <dsp:cNvPr id="0" name=""/>
        <dsp:cNvSpPr/>
      </dsp:nvSpPr>
      <dsp:spPr>
        <a:xfrm>
          <a:off x="6068345" y="3331925"/>
          <a:ext cx="2355585" cy="1980170"/>
        </a:xfrm>
        <a:prstGeom prst="rect">
          <a:avLst/>
        </a:prstGeom>
        <a:gradFill rotWithShape="0">
          <a:gsLst>
            <a:gs pos="0">
              <a:schemeClr val="accent6">
                <a:hueOff val="0"/>
                <a:satOff val="0"/>
                <a:lumOff val="0"/>
                <a:alphaOff val="0"/>
                <a:shade val="63000"/>
                <a:satMod val="165000"/>
              </a:schemeClr>
            </a:gs>
            <a:gs pos="30000">
              <a:schemeClr val="accent6">
                <a:hueOff val="0"/>
                <a:satOff val="0"/>
                <a:lumOff val="0"/>
                <a:alphaOff val="0"/>
                <a:shade val="58000"/>
                <a:satMod val="165000"/>
              </a:schemeClr>
            </a:gs>
            <a:gs pos="75000">
              <a:schemeClr val="accent6">
                <a:hueOff val="0"/>
                <a:satOff val="0"/>
                <a:lumOff val="0"/>
                <a:alphaOff val="0"/>
                <a:shade val="30000"/>
                <a:satMod val="175000"/>
              </a:schemeClr>
            </a:gs>
            <a:gs pos="100000">
              <a:schemeClr val="accent6">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9685" tIns="19685" rIns="19685" bIns="19685" numCol="1" spcCol="1270" anchor="ctr" anchorCtr="0">
          <a:noAutofit/>
        </a:bodyPr>
        <a:lstStyle/>
        <a:p>
          <a:pPr marL="0" lvl="0" indent="0" algn="ctr" defTabSz="1377950" rtl="0">
            <a:lnSpc>
              <a:spcPct val="90000"/>
            </a:lnSpc>
            <a:spcBef>
              <a:spcPct val="0"/>
            </a:spcBef>
            <a:spcAft>
              <a:spcPct val="35000"/>
            </a:spcAft>
            <a:buNone/>
          </a:pPr>
          <a:r>
            <a:rPr lang="en-GB" sz="3100" kern="1200" dirty="0"/>
            <a:t>C. </a:t>
          </a:r>
        </a:p>
        <a:p>
          <a:pPr marL="0" lvl="0" indent="0" algn="ctr" defTabSz="1377950" rtl="0">
            <a:lnSpc>
              <a:spcPct val="90000"/>
            </a:lnSpc>
            <a:spcBef>
              <a:spcPct val="0"/>
            </a:spcBef>
            <a:spcAft>
              <a:spcPct val="35000"/>
            </a:spcAft>
            <a:buNone/>
          </a:pPr>
          <a:r>
            <a:rPr lang="en-GB" sz="3100" kern="1200" dirty="0"/>
            <a:t>NWC Investments</a:t>
          </a:r>
        </a:p>
      </dsp:txBody>
      <dsp:txXfrm>
        <a:off x="6068345" y="3331925"/>
        <a:ext cx="2355585" cy="198017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2D582B-878B-4DD4-B637-A54B1D254E82}">
      <dsp:nvSpPr>
        <dsp:cNvPr id="0" name=""/>
        <dsp:cNvSpPr/>
      </dsp:nvSpPr>
      <dsp:spPr>
        <a:xfrm>
          <a:off x="2076114" y="0"/>
          <a:ext cx="1850820" cy="1028233"/>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a:outerShdw blurRad="50800" dist="20000" dir="5400000" rotWithShape="0">
            <a:srgbClr val="000000">
              <a:alpha val="42000"/>
            </a:srgbClr>
          </a:outerShdw>
        </a:effectLst>
      </dsp:spPr>
      <dsp:style>
        <a:lnRef idx="1">
          <a:scrgbClr r="0" g="0" b="0"/>
        </a:lnRef>
        <a:fillRef idx="1">
          <a:scrgbClr r="0" g="0" b="0"/>
        </a:fillRef>
        <a:effectRef idx="2">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dirty="0"/>
            <a:t>Marginal</a:t>
          </a:r>
        </a:p>
      </dsp:txBody>
      <dsp:txXfrm>
        <a:off x="2106230" y="30116"/>
        <a:ext cx="1790588" cy="968001"/>
      </dsp:txXfrm>
    </dsp:sp>
    <dsp:sp modelId="{118D56C1-C382-4CED-86C3-57F1AD9DB28E}">
      <dsp:nvSpPr>
        <dsp:cNvPr id="0" name=""/>
        <dsp:cNvSpPr/>
      </dsp:nvSpPr>
      <dsp:spPr>
        <a:xfrm>
          <a:off x="4749521" y="0"/>
          <a:ext cx="1850820" cy="1028233"/>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a:outerShdw blurRad="50800" dist="20000" dir="5400000" rotWithShape="0">
            <a:srgbClr val="000000">
              <a:alpha val="42000"/>
            </a:srgbClr>
          </a:outerShdw>
        </a:effectLst>
      </dsp:spPr>
      <dsp:style>
        <a:lnRef idx="1">
          <a:scrgbClr r="0" g="0" b="0"/>
        </a:lnRef>
        <a:fillRef idx="1">
          <a:scrgbClr r="0" g="0" b="0"/>
        </a:fillRef>
        <a:effectRef idx="2">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dirty="0"/>
            <a:t>Effective</a:t>
          </a:r>
        </a:p>
      </dsp:txBody>
      <dsp:txXfrm>
        <a:off x="4779637" y="30116"/>
        <a:ext cx="1790588" cy="968001"/>
      </dsp:txXfrm>
    </dsp:sp>
    <dsp:sp modelId="{974279A2-B8FC-4728-9A14-BD43A4873D62}">
      <dsp:nvSpPr>
        <dsp:cNvPr id="0" name=""/>
        <dsp:cNvSpPr/>
      </dsp:nvSpPr>
      <dsp:spPr>
        <a:xfrm>
          <a:off x="3952640" y="4369992"/>
          <a:ext cx="771175" cy="771175"/>
        </a:xfrm>
        <a:prstGeom prst="triangl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a:outerShdw blurRad="50800" dist="20000" dir="5400000" rotWithShape="0">
            <a:srgbClr val="000000">
              <a:alpha val="42000"/>
            </a:srgbClr>
          </a:outerShdw>
        </a:effectLst>
      </dsp:spPr>
      <dsp:style>
        <a:lnRef idx="1">
          <a:scrgbClr r="0" g="0" b="0"/>
        </a:lnRef>
        <a:fillRef idx="1">
          <a:scrgbClr r="0" g="0" b="0"/>
        </a:fillRef>
        <a:effectRef idx="2">
          <a:scrgbClr r="0" g="0" b="0"/>
        </a:effectRef>
        <a:fontRef idx="minor"/>
      </dsp:style>
    </dsp:sp>
    <dsp:sp modelId="{C7F331B4-869A-4542-B6EA-8C53A971C1A9}">
      <dsp:nvSpPr>
        <dsp:cNvPr id="0" name=""/>
        <dsp:cNvSpPr/>
      </dsp:nvSpPr>
      <dsp:spPr>
        <a:xfrm rot="240000">
          <a:off x="2023995" y="4039535"/>
          <a:ext cx="4628464" cy="323653"/>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a:outerShdw blurRad="50800" dist="20000" dir="5400000" rotWithShape="0">
            <a:srgbClr val="000000">
              <a:alpha val="42000"/>
            </a:srgbClr>
          </a:outerShdw>
        </a:effectLst>
      </dsp:spPr>
      <dsp:style>
        <a:lnRef idx="1">
          <a:scrgbClr r="0" g="0" b="0"/>
        </a:lnRef>
        <a:fillRef idx="1">
          <a:scrgbClr r="0" g="0" b="0"/>
        </a:fillRef>
        <a:effectRef idx="2">
          <a:scrgbClr r="0" g="0" b="0"/>
        </a:effectRef>
        <a:fontRef idx="minor"/>
      </dsp:style>
    </dsp:sp>
    <dsp:sp modelId="{2C02AB47-C471-4392-A618-9FCC144F5239}">
      <dsp:nvSpPr>
        <dsp:cNvPr id="0" name=""/>
        <dsp:cNvSpPr/>
      </dsp:nvSpPr>
      <dsp:spPr>
        <a:xfrm rot="240000">
          <a:off x="4807966" y="3456461"/>
          <a:ext cx="1836753" cy="634312"/>
        </a:xfrm>
        <a:prstGeom prst="roundRect">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t>Forecastable</a:t>
          </a:r>
        </a:p>
      </dsp:txBody>
      <dsp:txXfrm>
        <a:off x="4838931" y="3487426"/>
        <a:ext cx="1774823" cy="572382"/>
      </dsp:txXfrm>
    </dsp:sp>
    <dsp:sp modelId="{5B97B534-5295-4EE1-8025-6280E5964948}">
      <dsp:nvSpPr>
        <dsp:cNvPr id="0" name=""/>
        <dsp:cNvSpPr/>
      </dsp:nvSpPr>
      <dsp:spPr>
        <a:xfrm rot="240000">
          <a:off x="4859378" y="2777826"/>
          <a:ext cx="1836753" cy="634312"/>
        </a:xfrm>
        <a:prstGeom prst="roundRect">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t>Actual CF</a:t>
          </a:r>
        </a:p>
      </dsp:txBody>
      <dsp:txXfrm>
        <a:off x="4890343" y="2808791"/>
        <a:ext cx="1774823" cy="572382"/>
      </dsp:txXfrm>
    </dsp:sp>
    <dsp:sp modelId="{062E4373-A8A3-4BBB-AA3A-E2565F1A1576}">
      <dsp:nvSpPr>
        <dsp:cNvPr id="0" name=""/>
        <dsp:cNvSpPr/>
      </dsp:nvSpPr>
      <dsp:spPr>
        <a:xfrm rot="240000">
          <a:off x="4910790" y="2099192"/>
          <a:ext cx="1836753" cy="634312"/>
        </a:xfrm>
        <a:prstGeom prst="roundRect">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t>Tax optimization</a:t>
          </a:r>
        </a:p>
      </dsp:txBody>
      <dsp:txXfrm>
        <a:off x="4941755" y="2130157"/>
        <a:ext cx="1774823" cy="572382"/>
      </dsp:txXfrm>
    </dsp:sp>
    <dsp:sp modelId="{1CA2D0CA-3896-4102-95D1-FDB732776859}">
      <dsp:nvSpPr>
        <dsp:cNvPr id="0" name=""/>
        <dsp:cNvSpPr/>
      </dsp:nvSpPr>
      <dsp:spPr>
        <a:xfrm rot="240000">
          <a:off x="4962201" y="1420558"/>
          <a:ext cx="1836753" cy="634312"/>
        </a:xfrm>
        <a:prstGeom prst="roundRect">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a:t>Reported in statements</a:t>
          </a:r>
          <a:endParaRPr lang="en-GB" sz="1600" kern="1200" dirty="0"/>
        </a:p>
      </dsp:txBody>
      <dsp:txXfrm>
        <a:off x="4993166" y="1451523"/>
        <a:ext cx="1774823" cy="572382"/>
      </dsp:txXfrm>
    </dsp:sp>
    <dsp:sp modelId="{A547E5F9-753D-4E1D-A494-271418764846}">
      <dsp:nvSpPr>
        <dsp:cNvPr id="0" name=""/>
        <dsp:cNvSpPr/>
      </dsp:nvSpPr>
      <dsp:spPr>
        <a:xfrm rot="240000">
          <a:off x="2134559" y="3271378"/>
          <a:ext cx="1836753" cy="634312"/>
        </a:xfrm>
        <a:prstGeom prst="roundRect">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t>Cost of next $</a:t>
          </a:r>
        </a:p>
      </dsp:txBody>
      <dsp:txXfrm>
        <a:off x="2165524" y="3302343"/>
        <a:ext cx="1774823" cy="572382"/>
      </dsp:txXfrm>
    </dsp:sp>
    <dsp:sp modelId="{B73E0F17-5DCE-4E50-A0D2-3B9B820B805A}">
      <dsp:nvSpPr>
        <dsp:cNvPr id="0" name=""/>
        <dsp:cNvSpPr/>
      </dsp:nvSpPr>
      <dsp:spPr>
        <a:xfrm rot="240000">
          <a:off x="2185971" y="2592744"/>
          <a:ext cx="1836753" cy="634312"/>
        </a:xfrm>
        <a:prstGeom prst="roundRect">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t>Regulation</a:t>
          </a:r>
        </a:p>
      </dsp:txBody>
      <dsp:txXfrm>
        <a:off x="2216936" y="2623709"/>
        <a:ext cx="1774823" cy="572382"/>
      </dsp:txXfrm>
    </dsp:sp>
    <dsp:sp modelId="{AA0AFB59-62A1-4A5C-A8FE-22D4ECF1079F}">
      <dsp:nvSpPr>
        <dsp:cNvPr id="0" name=""/>
        <dsp:cNvSpPr/>
      </dsp:nvSpPr>
      <dsp:spPr>
        <a:xfrm rot="240000">
          <a:off x="2237382" y="1914110"/>
          <a:ext cx="1836753" cy="634312"/>
        </a:xfrm>
        <a:prstGeom prst="roundRect">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a:t>Reported by government</a:t>
          </a:r>
          <a:endParaRPr lang="en-GB" sz="1600" kern="1200" dirty="0"/>
        </a:p>
      </dsp:txBody>
      <dsp:txXfrm>
        <a:off x="2268347" y="1945075"/>
        <a:ext cx="1774823" cy="57238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3B0889-8F01-4A48-83CC-E49F24DAB954}">
      <dsp:nvSpPr>
        <dsp:cNvPr id="0" name=""/>
        <dsp:cNvSpPr/>
      </dsp:nvSpPr>
      <dsp:spPr>
        <a:xfrm>
          <a:off x="-6999346" y="-1070542"/>
          <a:ext cx="8333772" cy="8333772"/>
        </a:xfrm>
        <a:prstGeom prst="blockArc">
          <a:avLst>
            <a:gd name="adj1" fmla="val 18900000"/>
            <a:gd name="adj2" fmla="val 2700000"/>
            <a:gd name="adj3" fmla="val 259"/>
          </a:avLst>
        </a:pr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D7A76AC-D0A7-442E-ACBF-2F84A9889C57}">
      <dsp:nvSpPr>
        <dsp:cNvPr id="0" name=""/>
        <dsp:cNvSpPr/>
      </dsp:nvSpPr>
      <dsp:spPr>
        <a:xfrm>
          <a:off x="859545" y="619268"/>
          <a:ext cx="6842203" cy="1238537"/>
        </a:xfrm>
        <a:prstGeom prst="rect">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83089" tIns="38100" rIns="38100" bIns="38100" numCol="1" spcCol="1270" anchor="ctr" anchorCtr="0">
          <a:noAutofit/>
        </a:bodyPr>
        <a:lstStyle/>
        <a:p>
          <a:pPr marL="0" lvl="0" indent="0" algn="l" defTabSz="666750">
            <a:lnSpc>
              <a:spcPct val="90000"/>
            </a:lnSpc>
            <a:spcBef>
              <a:spcPct val="0"/>
            </a:spcBef>
            <a:spcAft>
              <a:spcPct val="35000"/>
            </a:spcAft>
            <a:buNone/>
          </a:pPr>
          <a:r>
            <a:rPr lang="en-US" sz="1500" kern="1200" dirty="0"/>
            <a:t>NCE’s represent the difference between capital expenditures and depreciation. </a:t>
          </a:r>
        </a:p>
        <a:p>
          <a:pPr marL="0" lvl="0" indent="0" algn="l" defTabSz="666750">
            <a:lnSpc>
              <a:spcPct val="90000"/>
            </a:lnSpc>
            <a:spcBef>
              <a:spcPct val="0"/>
            </a:spcBef>
            <a:spcAft>
              <a:spcPct val="35000"/>
            </a:spcAft>
            <a:buNone/>
          </a:pPr>
          <a:r>
            <a:rPr lang="en-US" sz="1500" kern="1200" dirty="0"/>
            <a:t>Depreciation is a cash inflow that pays for some CAPEX.</a:t>
          </a:r>
          <a:endParaRPr lang="fr-FR" sz="1500" kern="1200" dirty="0"/>
        </a:p>
      </dsp:txBody>
      <dsp:txXfrm>
        <a:off x="859545" y="619268"/>
        <a:ext cx="6842203" cy="1238537"/>
      </dsp:txXfrm>
    </dsp:sp>
    <dsp:sp modelId="{6463573F-108A-4C0B-BB28-F036216D9CFE}">
      <dsp:nvSpPr>
        <dsp:cNvPr id="0" name=""/>
        <dsp:cNvSpPr/>
      </dsp:nvSpPr>
      <dsp:spPr>
        <a:xfrm>
          <a:off x="85459" y="464451"/>
          <a:ext cx="1548172" cy="1548172"/>
        </a:xfrm>
        <a:prstGeom prst="ellipse">
          <a:avLst/>
        </a:prstGeom>
        <a:blipFill rotWithShape="0">
          <a:blip xmlns:r="http://schemas.openxmlformats.org/officeDocument/2006/relationships" r:embed="rId1" cstate="print">
            <a:extLst>
              <a:ext uri="{28A0092B-C50C-407E-A947-70E740481C1C}">
                <a14:useLocalDpi xmlns:a14="http://schemas.microsoft.com/office/drawing/2010/main" val="0"/>
              </a:ext>
            </a:extLst>
          </a:blip>
          <a:srcRect/>
          <a:stretch>
            <a:fillRect l="-25000" r="-25000"/>
          </a:stretch>
        </a:blip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3B754078-F34D-4A55-B89A-F8B9FD767B24}">
      <dsp:nvSpPr>
        <dsp:cNvPr id="0" name=""/>
        <dsp:cNvSpPr/>
      </dsp:nvSpPr>
      <dsp:spPr>
        <a:xfrm>
          <a:off x="1309753" y="2477075"/>
          <a:ext cx="6391995" cy="1238537"/>
        </a:xfrm>
        <a:prstGeom prst="rect">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83089" tIns="38100" rIns="38100" bIns="38100" numCol="1" spcCol="1270" anchor="ctr" anchorCtr="0">
          <a:noAutofit/>
        </a:bodyPr>
        <a:lstStyle/>
        <a:p>
          <a:pPr marL="0" lvl="0" indent="0" algn="l" defTabSz="666750">
            <a:lnSpc>
              <a:spcPct val="90000"/>
            </a:lnSpc>
            <a:spcBef>
              <a:spcPct val="0"/>
            </a:spcBef>
            <a:spcAft>
              <a:spcPct val="35000"/>
            </a:spcAft>
            <a:buNone/>
          </a:pPr>
          <a:r>
            <a:rPr lang="en-US" sz="1500" kern="1200" dirty="0"/>
            <a:t>In general, the net capital expenditures will be a function of how fast a firm is growing or expecting to grow</a:t>
          </a:r>
          <a:r>
            <a:rPr lang="en-US" sz="1500" b="1" kern="1200" dirty="0"/>
            <a:t>. </a:t>
          </a:r>
        </a:p>
        <a:p>
          <a:pPr marL="0" lvl="0" indent="0" algn="l" defTabSz="666750">
            <a:lnSpc>
              <a:spcPct val="90000"/>
            </a:lnSpc>
            <a:spcBef>
              <a:spcPct val="0"/>
            </a:spcBef>
            <a:spcAft>
              <a:spcPct val="35000"/>
            </a:spcAft>
            <a:buNone/>
          </a:pPr>
          <a:r>
            <a:rPr lang="en-US" sz="1500" b="1" kern="1200" dirty="0"/>
            <a:t>High growth firms will have much higher net capital expenditures than low growth firms. </a:t>
          </a:r>
          <a:endParaRPr lang="fr-FR" sz="1500" kern="1200" dirty="0"/>
        </a:p>
      </dsp:txBody>
      <dsp:txXfrm>
        <a:off x="1309753" y="2477075"/>
        <a:ext cx="6391995" cy="1238537"/>
      </dsp:txXfrm>
    </dsp:sp>
    <dsp:sp modelId="{90A6CC63-42D5-41C3-8C2A-B689F769213F}">
      <dsp:nvSpPr>
        <dsp:cNvPr id="0" name=""/>
        <dsp:cNvSpPr/>
      </dsp:nvSpPr>
      <dsp:spPr>
        <a:xfrm>
          <a:off x="535667" y="2322258"/>
          <a:ext cx="1548172" cy="1548172"/>
        </a:xfrm>
        <a:prstGeom prst="ellipse">
          <a:avLst/>
        </a:prstGeom>
        <a:blipFill rotWithShape="0">
          <a:blip xmlns:r="http://schemas.openxmlformats.org/officeDocument/2006/relationships" r:embed="rId2" cstate="print">
            <a:extLst>
              <a:ext uri="{28A0092B-C50C-407E-A947-70E740481C1C}">
                <a14:useLocalDpi xmlns:a14="http://schemas.microsoft.com/office/drawing/2010/main" val="0"/>
              </a:ext>
            </a:extLst>
          </a:blip>
          <a:srcRect/>
          <a:stretch>
            <a:fillRect l="-25000" r="-25000"/>
          </a:stretch>
        </a:blip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CEA139D-EA6F-4E5C-B27B-B7558E307793}">
      <dsp:nvSpPr>
        <dsp:cNvPr id="0" name=""/>
        <dsp:cNvSpPr/>
      </dsp:nvSpPr>
      <dsp:spPr>
        <a:xfrm>
          <a:off x="859545" y="4334881"/>
          <a:ext cx="6842203" cy="1238537"/>
        </a:xfrm>
        <a:prstGeom prst="rect">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83089" tIns="50800" rIns="50800" bIns="50800" numCol="1" spcCol="1270" anchor="ctr" anchorCtr="0">
          <a:noAutofit/>
        </a:bodyPr>
        <a:lstStyle/>
        <a:p>
          <a:pPr marL="0" lvl="0" indent="0" algn="ctr" defTabSz="889000">
            <a:lnSpc>
              <a:spcPct val="90000"/>
            </a:lnSpc>
            <a:spcBef>
              <a:spcPct val="0"/>
            </a:spcBef>
            <a:spcAft>
              <a:spcPct val="35000"/>
            </a:spcAft>
            <a:buNone/>
          </a:pPr>
          <a:r>
            <a:rPr lang="en-US" sz="2000" b="1" kern="1200" dirty="0"/>
            <a:t>Assumptions about net capital expenditures can never be made independently of assumptions about growth in the future.</a:t>
          </a:r>
          <a:endParaRPr lang="fr-FR" sz="2000" b="1" kern="1200" dirty="0"/>
        </a:p>
      </dsp:txBody>
      <dsp:txXfrm>
        <a:off x="859545" y="4334881"/>
        <a:ext cx="6842203" cy="1238537"/>
      </dsp:txXfrm>
    </dsp:sp>
    <dsp:sp modelId="{47166102-B88F-42D1-B3A5-565484A280F2}">
      <dsp:nvSpPr>
        <dsp:cNvPr id="0" name=""/>
        <dsp:cNvSpPr/>
      </dsp:nvSpPr>
      <dsp:spPr>
        <a:xfrm>
          <a:off x="85459" y="4180064"/>
          <a:ext cx="1548172" cy="1548172"/>
        </a:xfrm>
        <a:prstGeom prst="ellipse">
          <a:avLst/>
        </a:prstGeom>
        <a:blipFill rotWithShape="0">
          <a:blip xmlns:r="http://schemas.openxmlformats.org/officeDocument/2006/relationships" r:embed="rId3" cstate="print">
            <a:extLst>
              <a:ext uri="{28A0092B-C50C-407E-A947-70E740481C1C}">
                <a14:useLocalDpi xmlns:a14="http://schemas.microsoft.com/office/drawing/2010/main" val="0"/>
              </a:ext>
            </a:extLst>
          </a:blip>
          <a:srcRect/>
          <a:stretch>
            <a:fillRect l="-24000" r="-24000"/>
          </a:stretch>
        </a:blip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9E812E-E005-4FDD-BA43-FFC7CEAFF1E3}">
      <dsp:nvSpPr>
        <dsp:cNvPr id="0" name=""/>
        <dsp:cNvSpPr/>
      </dsp:nvSpPr>
      <dsp:spPr>
        <a:xfrm>
          <a:off x="-6856391" y="-1048770"/>
          <a:ext cx="8163651" cy="8163651"/>
        </a:xfrm>
        <a:prstGeom prst="blockArc">
          <a:avLst>
            <a:gd name="adj1" fmla="val 18900000"/>
            <a:gd name="adj2" fmla="val 2700000"/>
            <a:gd name="adj3" fmla="val 265"/>
          </a:avLst>
        </a:pr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D9AA13A-AD8D-44B9-B9B6-391135A7D1F7}">
      <dsp:nvSpPr>
        <dsp:cNvPr id="0" name=""/>
        <dsp:cNvSpPr/>
      </dsp:nvSpPr>
      <dsp:spPr>
        <a:xfrm>
          <a:off x="841976" y="606611"/>
          <a:ext cx="7884439" cy="1213222"/>
        </a:xfrm>
        <a:prstGeom prst="rect">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62995" tIns="38100" rIns="38100" bIns="38100" numCol="1" spcCol="1270" anchor="ctr" anchorCtr="0">
          <a:noAutofit/>
        </a:bodyPr>
        <a:lstStyle/>
        <a:p>
          <a:pPr marL="0" lvl="0" indent="0" algn="l" defTabSz="666750">
            <a:lnSpc>
              <a:spcPct val="90000"/>
            </a:lnSpc>
            <a:spcBef>
              <a:spcPct val="0"/>
            </a:spcBef>
            <a:spcAft>
              <a:spcPct val="35000"/>
            </a:spcAft>
            <a:buNone/>
          </a:pPr>
          <a:r>
            <a:rPr lang="en-US" sz="1500" u="sng" kern="1200" dirty="0"/>
            <a:t>Increase in Sales needs financing.</a:t>
          </a:r>
          <a:r>
            <a:rPr lang="en-US" sz="1500" kern="1200" dirty="0"/>
            <a:t> </a:t>
          </a:r>
        </a:p>
        <a:p>
          <a:pPr marL="0" lvl="0" indent="0" algn="l" defTabSz="666750">
            <a:lnSpc>
              <a:spcPct val="90000"/>
            </a:lnSpc>
            <a:spcBef>
              <a:spcPct val="0"/>
            </a:spcBef>
            <a:spcAft>
              <a:spcPct val="35000"/>
            </a:spcAft>
            <a:buNone/>
          </a:pPr>
          <a:r>
            <a:rPr lang="en-US" sz="1500" kern="1200" dirty="0"/>
            <a:t>Short term financing is provided by investments in NWC</a:t>
          </a:r>
          <a:endParaRPr lang="fr-FR" sz="1500" kern="1200" dirty="0"/>
        </a:p>
      </dsp:txBody>
      <dsp:txXfrm>
        <a:off x="841976" y="606611"/>
        <a:ext cx="7884439" cy="1213222"/>
      </dsp:txXfrm>
    </dsp:sp>
    <dsp:sp modelId="{BEAFBAA6-25F7-4912-BE8B-424A7B671D8D}">
      <dsp:nvSpPr>
        <dsp:cNvPr id="0" name=""/>
        <dsp:cNvSpPr/>
      </dsp:nvSpPr>
      <dsp:spPr>
        <a:xfrm>
          <a:off x="83712" y="454958"/>
          <a:ext cx="1516527" cy="1516527"/>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413370F3-0E95-4212-A1DE-E11EC97A8A43}">
      <dsp:nvSpPr>
        <dsp:cNvPr id="0" name=""/>
        <dsp:cNvSpPr/>
      </dsp:nvSpPr>
      <dsp:spPr>
        <a:xfrm>
          <a:off x="1282982" y="2426444"/>
          <a:ext cx="7443433" cy="1213222"/>
        </a:xfrm>
        <a:prstGeom prst="rect">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62995" tIns="38100" rIns="38100" bIns="38100" numCol="1" spcCol="1270" anchor="ctr" anchorCtr="0">
          <a:noAutofit/>
        </a:bodyPr>
        <a:lstStyle/>
        <a:p>
          <a:pPr marL="0" lvl="0" indent="0" algn="l" defTabSz="666750">
            <a:lnSpc>
              <a:spcPct val="90000"/>
            </a:lnSpc>
            <a:spcBef>
              <a:spcPct val="0"/>
            </a:spcBef>
            <a:spcAft>
              <a:spcPct val="35000"/>
            </a:spcAft>
            <a:buNone/>
          </a:pPr>
          <a:r>
            <a:rPr lang="en-US" sz="1500" u="sng" kern="1200" dirty="0"/>
            <a:t>Changes in non-cash working capital from year to year are volatile</a:t>
          </a:r>
          <a:r>
            <a:rPr lang="en-US" sz="1500" kern="1200" dirty="0"/>
            <a:t>. </a:t>
          </a:r>
        </a:p>
        <a:p>
          <a:pPr marL="0" lvl="0" indent="0" algn="l" defTabSz="666750">
            <a:lnSpc>
              <a:spcPct val="90000"/>
            </a:lnSpc>
            <a:spcBef>
              <a:spcPct val="0"/>
            </a:spcBef>
            <a:spcAft>
              <a:spcPct val="35000"/>
            </a:spcAft>
            <a:buNone/>
          </a:pPr>
          <a:r>
            <a:rPr lang="en-US" sz="1500" kern="1200" dirty="0"/>
            <a:t>A far better estimate of non-cash working capital needs, is a rate of</a:t>
          </a:r>
          <a:r>
            <a:rPr lang="en-US" sz="1500" b="1" kern="1200" dirty="0"/>
            <a:t> non-cash </a:t>
          </a:r>
          <a:r>
            <a:rPr lang="el-GR" sz="1500" b="1" kern="1200" dirty="0"/>
            <a:t>Δ</a:t>
          </a:r>
          <a:r>
            <a:rPr lang="en-GB" sz="1500" b="1" kern="1200" dirty="0"/>
            <a:t>NWC</a:t>
          </a:r>
          <a:r>
            <a:rPr lang="en-US" sz="1500" b="1" kern="1200" dirty="0"/>
            <a:t> as a proportion of revenues</a:t>
          </a:r>
          <a:endParaRPr lang="fr-FR" sz="1500" kern="1200" dirty="0"/>
        </a:p>
      </dsp:txBody>
      <dsp:txXfrm>
        <a:off x="1282982" y="2426444"/>
        <a:ext cx="7443433" cy="1213222"/>
      </dsp:txXfrm>
    </dsp:sp>
    <dsp:sp modelId="{A10E4DE6-5F93-4CBA-A1DD-87C9F79E2886}">
      <dsp:nvSpPr>
        <dsp:cNvPr id="0" name=""/>
        <dsp:cNvSpPr/>
      </dsp:nvSpPr>
      <dsp:spPr>
        <a:xfrm>
          <a:off x="524718" y="2274791"/>
          <a:ext cx="1516527" cy="1516527"/>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65ED611D-B399-46EB-B76D-9F73C8242AC5}">
      <dsp:nvSpPr>
        <dsp:cNvPr id="0" name=""/>
        <dsp:cNvSpPr/>
      </dsp:nvSpPr>
      <dsp:spPr>
        <a:xfrm>
          <a:off x="841976" y="4246277"/>
          <a:ext cx="7884439" cy="1213222"/>
        </a:xfrm>
        <a:prstGeom prst="rect">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62995" tIns="38100" rIns="38100" bIns="38100" numCol="1" spcCol="1270" anchor="ctr" anchorCtr="0">
          <a:noAutofit/>
        </a:bodyPr>
        <a:lstStyle/>
        <a:p>
          <a:pPr marL="0" lvl="0" indent="0" algn="l" defTabSz="666750">
            <a:lnSpc>
              <a:spcPct val="90000"/>
            </a:lnSpc>
            <a:spcBef>
              <a:spcPct val="0"/>
            </a:spcBef>
            <a:spcAft>
              <a:spcPct val="35000"/>
            </a:spcAft>
            <a:buNone/>
          </a:pPr>
          <a:r>
            <a:rPr lang="en-US" sz="1500" u="sng" kern="1200" dirty="0"/>
            <a:t>Some firms have negative non-cash working capital</a:t>
          </a:r>
          <a:r>
            <a:rPr lang="en-US" sz="1500" kern="1200" dirty="0"/>
            <a:t>. (Tesco) Assuming that this will continue into the future will generate positive cash flows for the firm. </a:t>
          </a:r>
        </a:p>
        <a:p>
          <a:pPr marL="0" lvl="0" indent="0" algn="l" defTabSz="666750">
            <a:lnSpc>
              <a:spcPct val="90000"/>
            </a:lnSpc>
            <a:spcBef>
              <a:spcPct val="0"/>
            </a:spcBef>
            <a:spcAft>
              <a:spcPct val="35000"/>
            </a:spcAft>
            <a:buNone/>
          </a:pPr>
          <a:r>
            <a:rPr lang="en-US" sz="1500" kern="1200" dirty="0"/>
            <a:t>While this is indeed feasible for a period of time, it is not forever. Thus, it is better that non-cash working capital needs be set to </a:t>
          </a:r>
          <a:r>
            <a:rPr lang="en-US" sz="1500" b="1" kern="1200" dirty="0"/>
            <a:t>zero</a:t>
          </a:r>
          <a:r>
            <a:rPr lang="en-US" sz="1500" kern="1200" dirty="0"/>
            <a:t>, when it is negative.</a:t>
          </a:r>
          <a:endParaRPr lang="fr-FR" sz="1500" kern="1200" dirty="0"/>
        </a:p>
      </dsp:txBody>
      <dsp:txXfrm>
        <a:off x="841976" y="4246277"/>
        <a:ext cx="7884439" cy="1213222"/>
      </dsp:txXfrm>
    </dsp:sp>
    <dsp:sp modelId="{46D8AB76-8552-49EE-A294-07DAFC027C45}">
      <dsp:nvSpPr>
        <dsp:cNvPr id="0" name=""/>
        <dsp:cNvSpPr/>
      </dsp:nvSpPr>
      <dsp:spPr>
        <a:xfrm>
          <a:off x="83712" y="4094624"/>
          <a:ext cx="1516527" cy="1516527"/>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9088ED-3FC2-4C3F-8259-967553F2137B}">
      <dsp:nvSpPr>
        <dsp:cNvPr id="0" name=""/>
        <dsp:cNvSpPr/>
      </dsp:nvSpPr>
      <dsp:spPr>
        <a:xfrm>
          <a:off x="0" y="139566"/>
          <a:ext cx="8712968" cy="1681948"/>
        </a:xfrm>
        <a:prstGeom prst="roundRect">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kern="1200" dirty="0"/>
            <a:t>Some analysts assume that the earnings of a firm represent its potential dividends. This cannot be true for several reasons:</a:t>
          </a:r>
          <a:endParaRPr lang="en-GB" sz="2400" kern="1200" dirty="0"/>
        </a:p>
      </dsp:txBody>
      <dsp:txXfrm>
        <a:off x="82106" y="221672"/>
        <a:ext cx="8548756" cy="1517736"/>
      </dsp:txXfrm>
    </dsp:sp>
    <dsp:sp modelId="{B47162A2-88B5-4174-BCB5-8E9741C759FA}">
      <dsp:nvSpPr>
        <dsp:cNvPr id="0" name=""/>
        <dsp:cNvSpPr/>
      </dsp:nvSpPr>
      <dsp:spPr>
        <a:xfrm>
          <a:off x="0" y="1821515"/>
          <a:ext cx="8712968" cy="1593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6637" tIns="27940" rIns="156464" bIns="27940" numCol="1" spcCol="1270" anchor="t" anchorCtr="0">
          <a:noAutofit/>
        </a:bodyPr>
        <a:lstStyle/>
        <a:p>
          <a:pPr marL="171450" lvl="1" indent="-171450" algn="l" defTabSz="755650" rtl="0">
            <a:lnSpc>
              <a:spcPct val="90000"/>
            </a:lnSpc>
            <a:spcBef>
              <a:spcPct val="0"/>
            </a:spcBef>
            <a:spcAft>
              <a:spcPct val="20000"/>
            </a:spcAft>
            <a:buChar char="•"/>
          </a:pPr>
          <a:r>
            <a:rPr lang="en-US" sz="1700" kern="1200" dirty="0"/>
            <a:t>Earnings are not cash flows, since there are both non-cash revenues and expenses in the earnings calculation</a:t>
          </a:r>
          <a:endParaRPr lang="en-GB" sz="1700" kern="1200" dirty="0"/>
        </a:p>
        <a:p>
          <a:pPr marL="171450" lvl="1" indent="-171450" algn="l" defTabSz="755650" rtl="0">
            <a:lnSpc>
              <a:spcPct val="90000"/>
            </a:lnSpc>
            <a:spcBef>
              <a:spcPct val="0"/>
            </a:spcBef>
            <a:spcAft>
              <a:spcPct val="20000"/>
            </a:spcAft>
            <a:buChar char="•"/>
          </a:pPr>
          <a:r>
            <a:rPr lang="en-US" sz="1700" kern="1200"/>
            <a:t>Even if earnings were cash flows, a firm that paid its earnings out as dividends would not be investing in new assets and thus could not grow</a:t>
          </a:r>
          <a:endParaRPr lang="en-GB" sz="1700" kern="1200"/>
        </a:p>
        <a:p>
          <a:pPr marL="171450" lvl="1" indent="-171450" algn="l" defTabSz="755650" rtl="0">
            <a:lnSpc>
              <a:spcPct val="90000"/>
            </a:lnSpc>
            <a:spcBef>
              <a:spcPct val="0"/>
            </a:spcBef>
            <a:spcAft>
              <a:spcPct val="20000"/>
            </a:spcAft>
            <a:buChar char="•"/>
          </a:pPr>
          <a:r>
            <a:rPr lang="en-US" sz="1700" kern="1200"/>
            <a:t>Valuation models, where earnings are discounted back to the present, will over estimate the value of the equity in the firm</a:t>
          </a:r>
          <a:endParaRPr lang="en-GB" sz="1700" kern="1200"/>
        </a:p>
      </dsp:txBody>
      <dsp:txXfrm>
        <a:off x="0" y="1821515"/>
        <a:ext cx="8712968" cy="1593900"/>
      </dsp:txXfrm>
    </dsp:sp>
    <dsp:sp modelId="{0C02ABC0-A92D-48FF-B87B-E694F1F4A771}">
      <dsp:nvSpPr>
        <dsp:cNvPr id="0" name=""/>
        <dsp:cNvSpPr/>
      </dsp:nvSpPr>
      <dsp:spPr>
        <a:xfrm>
          <a:off x="0" y="3415415"/>
          <a:ext cx="8712968" cy="1681948"/>
        </a:xfrm>
        <a:prstGeom prst="roundRect">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kern="1200" dirty="0"/>
            <a:t>The potential dividends of a firm are the cash flows left over after the firm has made any “investments” to create future growth and net debt repayments (debt repayments - new debt issues)</a:t>
          </a:r>
          <a:endParaRPr lang="en-GB" sz="2400" kern="1200" dirty="0"/>
        </a:p>
      </dsp:txBody>
      <dsp:txXfrm>
        <a:off x="82106" y="3497521"/>
        <a:ext cx="8548756" cy="1517736"/>
      </dsp:txXfrm>
    </dsp:sp>
    <dsp:sp modelId="{D7E22659-8587-4F4F-9EEA-D8C886A4FC8A}">
      <dsp:nvSpPr>
        <dsp:cNvPr id="0" name=""/>
        <dsp:cNvSpPr/>
      </dsp:nvSpPr>
      <dsp:spPr>
        <a:xfrm>
          <a:off x="0" y="5097363"/>
          <a:ext cx="8712968" cy="523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6637" tIns="27940" rIns="156464" bIns="27940" numCol="1" spcCol="1270" anchor="t" anchorCtr="0">
          <a:noAutofit/>
        </a:bodyPr>
        <a:lstStyle/>
        <a:p>
          <a:pPr marL="171450" lvl="1" indent="-171450" algn="l" defTabSz="755650" rtl="0">
            <a:lnSpc>
              <a:spcPct val="90000"/>
            </a:lnSpc>
            <a:spcBef>
              <a:spcPct val="0"/>
            </a:spcBef>
            <a:spcAft>
              <a:spcPct val="20000"/>
            </a:spcAft>
            <a:buChar char="•"/>
          </a:pPr>
          <a:r>
            <a:rPr lang="en-US" sz="1700" kern="1200"/>
            <a:t>The common categorization of capital expenditures into discretionary and non-discretionary loses its basis when there is future growth built into the valuation.</a:t>
          </a:r>
          <a:endParaRPr lang="en-GB" sz="1700" kern="1200"/>
        </a:p>
      </dsp:txBody>
      <dsp:txXfrm>
        <a:off x="0" y="5097363"/>
        <a:ext cx="8712968" cy="52371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BB832D-156E-4DE5-9E99-4D1CDA069066}">
      <dsp:nvSpPr>
        <dsp:cNvPr id="0" name=""/>
        <dsp:cNvSpPr/>
      </dsp:nvSpPr>
      <dsp:spPr>
        <a:xfrm>
          <a:off x="0" y="951855"/>
          <a:ext cx="2745304" cy="164718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kern="1200"/>
            <a:t>Actual Figures</a:t>
          </a:r>
          <a:endParaRPr lang="fr-FR" sz="3200" kern="1200"/>
        </a:p>
      </dsp:txBody>
      <dsp:txXfrm>
        <a:off x="0" y="951855"/>
        <a:ext cx="2745304" cy="1647182"/>
      </dsp:txXfrm>
    </dsp:sp>
    <dsp:sp modelId="{1E726181-EEF0-45B7-9E46-9527DD3B50B7}">
      <dsp:nvSpPr>
        <dsp:cNvPr id="0" name=""/>
        <dsp:cNvSpPr/>
      </dsp:nvSpPr>
      <dsp:spPr>
        <a:xfrm>
          <a:off x="3019835" y="951855"/>
          <a:ext cx="2745304" cy="164718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kern="1200"/>
            <a:t>Industry Multiple (Damodaran)</a:t>
          </a:r>
          <a:endParaRPr lang="fr-FR" sz="3200" kern="1200"/>
        </a:p>
      </dsp:txBody>
      <dsp:txXfrm>
        <a:off x="3019835" y="951855"/>
        <a:ext cx="2745304" cy="1647182"/>
      </dsp:txXfrm>
    </dsp:sp>
    <dsp:sp modelId="{45AD2006-B4F7-41F7-A5D1-DC12B1325106}">
      <dsp:nvSpPr>
        <dsp:cNvPr id="0" name=""/>
        <dsp:cNvSpPr/>
      </dsp:nvSpPr>
      <dsp:spPr>
        <a:xfrm>
          <a:off x="6039670" y="951855"/>
          <a:ext cx="2745304" cy="164718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kern="1200"/>
            <a:t>Average Multiple</a:t>
          </a:r>
          <a:endParaRPr lang="fr-FR" sz="3200" kern="1200"/>
        </a:p>
      </dsp:txBody>
      <dsp:txXfrm>
        <a:off x="6039670" y="951855"/>
        <a:ext cx="2745304" cy="1647182"/>
      </dsp:txXfrm>
    </dsp:sp>
    <dsp:sp modelId="{D1A1D2D5-71C3-4E7F-BCF2-DBB76F879ED6}">
      <dsp:nvSpPr>
        <dsp:cNvPr id="0" name=""/>
        <dsp:cNvSpPr/>
      </dsp:nvSpPr>
      <dsp:spPr>
        <a:xfrm>
          <a:off x="1509917" y="2873569"/>
          <a:ext cx="2745304" cy="164718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kern="1200"/>
            <a:t>Forecast/normalize figures</a:t>
          </a:r>
          <a:endParaRPr lang="fr-FR" sz="3200" kern="1200"/>
        </a:p>
      </dsp:txBody>
      <dsp:txXfrm>
        <a:off x="1509917" y="2873569"/>
        <a:ext cx="2745304" cy="1647182"/>
      </dsp:txXfrm>
    </dsp:sp>
    <dsp:sp modelId="{F0668259-A783-4207-918B-3D4A3F47C4CF}">
      <dsp:nvSpPr>
        <dsp:cNvPr id="0" name=""/>
        <dsp:cNvSpPr/>
      </dsp:nvSpPr>
      <dsp:spPr>
        <a:xfrm>
          <a:off x="4529753" y="2873569"/>
          <a:ext cx="2745304" cy="164718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kern="1200"/>
            <a:t>Forecast/normalize multiples</a:t>
          </a:r>
          <a:endParaRPr lang="fr-FR" sz="3200" kern="1200"/>
        </a:p>
      </dsp:txBody>
      <dsp:txXfrm>
        <a:off x="4529753" y="2873569"/>
        <a:ext cx="2745304" cy="1647182"/>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E8F4E4-A9A6-4963-82AA-3495444EC8F9}">
      <dsp:nvSpPr>
        <dsp:cNvPr id="0" name=""/>
        <dsp:cNvSpPr/>
      </dsp:nvSpPr>
      <dsp:spPr>
        <a:xfrm>
          <a:off x="0" y="446984"/>
          <a:ext cx="8712968" cy="11907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a:outerShdw blurRad="50800" dist="20000" dir="5400000" rotWithShape="0">
            <a:srgbClr val="000000">
              <a:alpha val="42000"/>
            </a:srgbClr>
          </a:outerShdw>
        </a:effectLst>
      </dsp:spPr>
      <dsp:style>
        <a:lnRef idx="1">
          <a:scrgbClr r="0" g="0" b="0"/>
        </a:lnRef>
        <a:fillRef idx="1">
          <a:scrgbClr r="0" g="0" b="0"/>
        </a:fillRef>
        <a:effectRef idx="2">
          <a:scrgbClr r="0" g="0" b="0"/>
        </a:effectRef>
        <a:fontRef idx="minor"/>
      </dsp:style>
      <dsp:txBody>
        <a:bodyPr spcFirstLastPara="0" vert="horz" wrap="square" lIns="676223" tIns="437388" rIns="676223" bIns="149352" numCol="1" spcCol="1270" anchor="t" anchorCtr="0">
          <a:noAutofit/>
        </a:bodyPr>
        <a:lstStyle/>
        <a:p>
          <a:pPr marL="228600" lvl="1" indent="-228600" algn="l" defTabSz="933450" rtl="0">
            <a:lnSpc>
              <a:spcPct val="90000"/>
            </a:lnSpc>
            <a:spcBef>
              <a:spcPct val="0"/>
            </a:spcBef>
            <a:spcAft>
              <a:spcPct val="15000"/>
            </a:spcAft>
            <a:buChar char="•"/>
          </a:pPr>
          <a:r>
            <a:rPr lang="en-US" sz="2100" kern="1200"/>
            <a:t>The historical growth in earnings per share is usually a good starting point for growth estimation</a:t>
          </a:r>
          <a:endParaRPr lang="en-GB" sz="2100" kern="1200"/>
        </a:p>
      </dsp:txBody>
      <dsp:txXfrm>
        <a:off x="0" y="446984"/>
        <a:ext cx="8712968" cy="1190700"/>
      </dsp:txXfrm>
    </dsp:sp>
    <dsp:sp modelId="{6950BBBE-DF2D-4F53-A478-19B375A261C1}">
      <dsp:nvSpPr>
        <dsp:cNvPr id="0" name=""/>
        <dsp:cNvSpPr/>
      </dsp:nvSpPr>
      <dsp:spPr>
        <a:xfrm>
          <a:off x="435648" y="137024"/>
          <a:ext cx="6099077" cy="619920"/>
        </a:xfrm>
        <a:prstGeom prst="roundRect">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dsp:spPr>
      <dsp:style>
        <a:lnRef idx="0">
          <a:scrgbClr r="0" g="0" b="0"/>
        </a:lnRef>
        <a:fillRef idx="3">
          <a:scrgbClr r="0" g="0" b="0"/>
        </a:fillRef>
        <a:effectRef idx="3">
          <a:scrgbClr r="0" g="0" b="0"/>
        </a:effectRef>
        <a:fontRef idx="minor">
          <a:schemeClr val="lt1"/>
        </a:fontRef>
      </dsp:style>
      <dsp:txBody>
        <a:bodyPr spcFirstLastPara="0" vert="horz" wrap="square" lIns="230531" tIns="0" rIns="230531" bIns="0" numCol="1" spcCol="1270" anchor="ctr" anchorCtr="0">
          <a:noAutofit/>
        </a:bodyPr>
        <a:lstStyle/>
        <a:p>
          <a:pPr marL="0" lvl="0" indent="0" algn="l" defTabSz="933450" rtl="0">
            <a:lnSpc>
              <a:spcPct val="90000"/>
            </a:lnSpc>
            <a:spcBef>
              <a:spcPct val="0"/>
            </a:spcBef>
            <a:spcAft>
              <a:spcPct val="35000"/>
            </a:spcAft>
            <a:buNone/>
          </a:pPr>
          <a:r>
            <a:rPr lang="en-US" sz="2100" kern="1200"/>
            <a:t>Look at the past</a:t>
          </a:r>
          <a:endParaRPr lang="en-GB" sz="2100" kern="1200"/>
        </a:p>
      </dsp:txBody>
      <dsp:txXfrm>
        <a:off x="465910" y="167286"/>
        <a:ext cx="6038553" cy="559396"/>
      </dsp:txXfrm>
    </dsp:sp>
    <dsp:sp modelId="{4954A4A2-426A-468C-AEEE-EDA7D19E4358}">
      <dsp:nvSpPr>
        <dsp:cNvPr id="0" name=""/>
        <dsp:cNvSpPr/>
      </dsp:nvSpPr>
      <dsp:spPr>
        <a:xfrm>
          <a:off x="0" y="2061045"/>
          <a:ext cx="8712968" cy="11907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a:outerShdw blurRad="50800" dist="20000" dir="5400000" rotWithShape="0">
            <a:srgbClr val="000000">
              <a:alpha val="42000"/>
            </a:srgbClr>
          </a:outerShdw>
        </a:effectLst>
      </dsp:spPr>
      <dsp:style>
        <a:lnRef idx="1">
          <a:scrgbClr r="0" g="0" b="0"/>
        </a:lnRef>
        <a:fillRef idx="1">
          <a:scrgbClr r="0" g="0" b="0"/>
        </a:fillRef>
        <a:effectRef idx="2">
          <a:scrgbClr r="0" g="0" b="0"/>
        </a:effectRef>
        <a:fontRef idx="minor"/>
      </dsp:style>
      <dsp:txBody>
        <a:bodyPr spcFirstLastPara="0" vert="horz" wrap="square" lIns="676223" tIns="437388" rIns="676223" bIns="149352" numCol="1" spcCol="1270" anchor="t" anchorCtr="0">
          <a:noAutofit/>
        </a:bodyPr>
        <a:lstStyle/>
        <a:p>
          <a:pPr marL="228600" lvl="1" indent="-228600" algn="l" defTabSz="933450" rtl="0">
            <a:lnSpc>
              <a:spcPct val="90000"/>
            </a:lnSpc>
            <a:spcBef>
              <a:spcPct val="0"/>
            </a:spcBef>
            <a:spcAft>
              <a:spcPct val="15000"/>
            </a:spcAft>
            <a:buChar char="•"/>
          </a:pPr>
          <a:r>
            <a:rPr lang="en-US" sz="2100" kern="1200"/>
            <a:t>Analysts estimate growth in earnings per share for many firms. It is useful to know what their estimates are.</a:t>
          </a:r>
          <a:endParaRPr lang="en-GB" sz="2100" kern="1200"/>
        </a:p>
      </dsp:txBody>
      <dsp:txXfrm>
        <a:off x="0" y="2061045"/>
        <a:ext cx="8712968" cy="1190700"/>
      </dsp:txXfrm>
    </dsp:sp>
    <dsp:sp modelId="{4C6B2F55-C9E6-4E92-B40A-ADA88CCE11E1}">
      <dsp:nvSpPr>
        <dsp:cNvPr id="0" name=""/>
        <dsp:cNvSpPr/>
      </dsp:nvSpPr>
      <dsp:spPr>
        <a:xfrm>
          <a:off x="435648" y="1751084"/>
          <a:ext cx="6099077" cy="619920"/>
        </a:xfrm>
        <a:prstGeom prst="roundRect">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dsp:spPr>
      <dsp:style>
        <a:lnRef idx="0">
          <a:scrgbClr r="0" g="0" b="0"/>
        </a:lnRef>
        <a:fillRef idx="3">
          <a:scrgbClr r="0" g="0" b="0"/>
        </a:fillRef>
        <a:effectRef idx="3">
          <a:scrgbClr r="0" g="0" b="0"/>
        </a:effectRef>
        <a:fontRef idx="minor">
          <a:schemeClr val="lt1"/>
        </a:fontRef>
      </dsp:style>
      <dsp:txBody>
        <a:bodyPr spcFirstLastPara="0" vert="horz" wrap="square" lIns="230531" tIns="0" rIns="230531" bIns="0" numCol="1" spcCol="1270" anchor="ctr" anchorCtr="0">
          <a:noAutofit/>
        </a:bodyPr>
        <a:lstStyle/>
        <a:p>
          <a:pPr marL="0" lvl="0" indent="0" algn="l" defTabSz="933450" rtl="0">
            <a:lnSpc>
              <a:spcPct val="90000"/>
            </a:lnSpc>
            <a:spcBef>
              <a:spcPct val="0"/>
            </a:spcBef>
            <a:spcAft>
              <a:spcPct val="35000"/>
            </a:spcAft>
            <a:buNone/>
          </a:pPr>
          <a:r>
            <a:rPr lang="en-US" sz="2100" kern="1200"/>
            <a:t>Look at what others are estimating</a:t>
          </a:r>
          <a:endParaRPr lang="en-GB" sz="2100" kern="1200"/>
        </a:p>
      </dsp:txBody>
      <dsp:txXfrm>
        <a:off x="465910" y="1781346"/>
        <a:ext cx="6038553" cy="559396"/>
      </dsp:txXfrm>
    </dsp:sp>
    <dsp:sp modelId="{42FC9D60-10F3-432D-9716-7CF8139A8988}">
      <dsp:nvSpPr>
        <dsp:cNvPr id="0" name=""/>
        <dsp:cNvSpPr/>
      </dsp:nvSpPr>
      <dsp:spPr>
        <a:xfrm>
          <a:off x="0" y="3675105"/>
          <a:ext cx="8712968" cy="175297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a:outerShdw blurRad="50800" dist="20000" dir="5400000" rotWithShape="0">
            <a:srgbClr val="000000">
              <a:alpha val="42000"/>
            </a:srgbClr>
          </a:outerShdw>
        </a:effectLst>
      </dsp:spPr>
      <dsp:style>
        <a:lnRef idx="1">
          <a:scrgbClr r="0" g="0" b="0"/>
        </a:lnRef>
        <a:fillRef idx="1">
          <a:scrgbClr r="0" g="0" b="0"/>
        </a:fillRef>
        <a:effectRef idx="2">
          <a:scrgbClr r="0" g="0" b="0"/>
        </a:effectRef>
        <a:fontRef idx="minor"/>
      </dsp:style>
      <dsp:txBody>
        <a:bodyPr spcFirstLastPara="0" vert="horz" wrap="square" lIns="676223" tIns="437388" rIns="676223" bIns="149352" numCol="1" spcCol="1270" anchor="t" anchorCtr="0">
          <a:noAutofit/>
        </a:bodyPr>
        <a:lstStyle/>
        <a:p>
          <a:pPr marL="228600" lvl="1" indent="-228600" algn="l" defTabSz="933450" rtl="0">
            <a:lnSpc>
              <a:spcPct val="90000"/>
            </a:lnSpc>
            <a:spcBef>
              <a:spcPct val="0"/>
            </a:spcBef>
            <a:spcAft>
              <a:spcPct val="15000"/>
            </a:spcAft>
            <a:buChar char="•"/>
          </a:pPr>
          <a:r>
            <a:rPr lang="en-US" sz="2100" kern="1200"/>
            <a:t>Ultimately, all growth in earnings can be traced to two fundamentals - how much the firm is investing in new projects, and what returns these projects are making for the firm.</a:t>
          </a:r>
          <a:endParaRPr lang="en-GB" sz="2100" kern="1200"/>
        </a:p>
      </dsp:txBody>
      <dsp:txXfrm>
        <a:off x="0" y="3675105"/>
        <a:ext cx="8712968" cy="1752975"/>
      </dsp:txXfrm>
    </dsp:sp>
    <dsp:sp modelId="{FB2D7965-8713-4C11-AC57-FA3EC7B4DECF}">
      <dsp:nvSpPr>
        <dsp:cNvPr id="0" name=""/>
        <dsp:cNvSpPr/>
      </dsp:nvSpPr>
      <dsp:spPr>
        <a:xfrm>
          <a:off x="435648" y="3365145"/>
          <a:ext cx="6099077" cy="619920"/>
        </a:xfrm>
        <a:prstGeom prst="roundRect">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dsp:spPr>
      <dsp:style>
        <a:lnRef idx="0">
          <a:scrgbClr r="0" g="0" b="0"/>
        </a:lnRef>
        <a:fillRef idx="3">
          <a:scrgbClr r="0" g="0" b="0"/>
        </a:fillRef>
        <a:effectRef idx="3">
          <a:scrgbClr r="0" g="0" b="0"/>
        </a:effectRef>
        <a:fontRef idx="minor">
          <a:schemeClr val="lt1"/>
        </a:fontRef>
      </dsp:style>
      <dsp:txBody>
        <a:bodyPr spcFirstLastPara="0" vert="horz" wrap="square" lIns="230531" tIns="0" rIns="230531" bIns="0" numCol="1" spcCol="1270" anchor="ctr" anchorCtr="0">
          <a:noAutofit/>
        </a:bodyPr>
        <a:lstStyle/>
        <a:p>
          <a:pPr marL="0" lvl="0" indent="0" algn="l" defTabSz="933450" rtl="0">
            <a:lnSpc>
              <a:spcPct val="90000"/>
            </a:lnSpc>
            <a:spcBef>
              <a:spcPct val="0"/>
            </a:spcBef>
            <a:spcAft>
              <a:spcPct val="35000"/>
            </a:spcAft>
            <a:buNone/>
          </a:pPr>
          <a:r>
            <a:rPr lang="en-US" sz="2100" kern="1200"/>
            <a:t>Look at fundamentals</a:t>
          </a:r>
          <a:endParaRPr lang="en-GB" sz="2100" kern="1200"/>
        </a:p>
      </dsp:txBody>
      <dsp:txXfrm>
        <a:off x="465910" y="3395407"/>
        <a:ext cx="6038553" cy="559396"/>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A10200-9BEE-46E6-B1F3-44896AD9D80A}">
      <dsp:nvSpPr>
        <dsp:cNvPr id="0" name=""/>
        <dsp:cNvSpPr/>
      </dsp:nvSpPr>
      <dsp:spPr>
        <a:xfrm>
          <a:off x="1046" y="0"/>
          <a:ext cx="2719638" cy="5565105"/>
        </a:xfrm>
        <a:prstGeom prst="roundRect">
          <a:avLst>
            <a:gd name="adj" fmla="val 10000"/>
          </a:avLst>
        </a:prstGeom>
        <a:gradFill rotWithShape="0">
          <a:gsLst>
            <a:gs pos="0">
              <a:schemeClr val="accent1">
                <a:tint val="40000"/>
                <a:hueOff val="0"/>
                <a:satOff val="0"/>
                <a:lumOff val="0"/>
                <a:alphaOff val="0"/>
                <a:shade val="63000"/>
                <a:satMod val="165000"/>
              </a:schemeClr>
            </a:gs>
            <a:gs pos="30000">
              <a:schemeClr val="accent1">
                <a:tint val="40000"/>
                <a:hueOff val="0"/>
                <a:satOff val="0"/>
                <a:lumOff val="0"/>
                <a:alphaOff val="0"/>
                <a:shade val="58000"/>
                <a:satMod val="165000"/>
              </a:schemeClr>
            </a:gs>
            <a:gs pos="75000">
              <a:schemeClr val="accent1">
                <a:tint val="40000"/>
                <a:hueOff val="0"/>
                <a:satOff val="0"/>
                <a:lumOff val="0"/>
                <a:alphaOff val="0"/>
                <a:shade val="30000"/>
                <a:satMod val="175000"/>
              </a:schemeClr>
            </a:gs>
            <a:gs pos="100000">
              <a:schemeClr val="accent1">
                <a:tint val="40000"/>
                <a:hueOff val="0"/>
                <a:satOff val="0"/>
                <a:lumOff val="0"/>
                <a:alphaOff val="0"/>
                <a:shade val="15000"/>
                <a:satMod val="175000"/>
              </a:schemeClr>
            </a:gs>
          </a:gsLst>
          <a:path path="circle">
            <a:fillToRect l="5000" t="100000" r="120000" b="10000"/>
          </a:path>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rtl="0">
            <a:lnSpc>
              <a:spcPct val="90000"/>
            </a:lnSpc>
            <a:spcBef>
              <a:spcPct val="0"/>
            </a:spcBef>
            <a:spcAft>
              <a:spcPct val="35000"/>
            </a:spcAft>
            <a:buNone/>
          </a:pPr>
          <a:r>
            <a:rPr lang="en-US" sz="3700" kern="1200" dirty="0">
              <a:solidFill>
                <a:schemeClr val="bg1">
                  <a:lumMod val="95000"/>
                </a:schemeClr>
              </a:solidFill>
            </a:rPr>
            <a:t>Estimation</a:t>
          </a:r>
          <a:endParaRPr lang="en-GB" sz="3700" kern="1200" dirty="0">
            <a:solidFill>
              <a:schemeClr val="bg1">
                <a:lumMod val="95000"/>
              </a:schemeClr>
            </a:solidFill>
          </a:endParaRPr>
        </a:p>
      </dsp:txBody>
      <dsp:txXfrm>
        <a:off x="1046" y="0"/>
        <a:ext cx="2719638" cy="1669531"/>
      </dsp:txXfrm>
    </dsp:sp>
    <dsp:sp modelId="{5C61D3BF-BEAF-40C6-A393-F50CCCF59BEC}">
      <dsp:nvSpPr>
        <dsp:cNvPr id="0" name=""/>
        <dsp:cNvSpPr/>
      </dsp:nvSpPr>
      <dsp:spPr>
        <a:xfrm>
          <a:off x="273009" y="1671161"/>
          <a:ext cx="2175710" cy="1677955"/>
        </a:xfrm>
        <a:prstGeom prst="roundRect">
          <a:avLst>
            <a:gd name="adj" fmla="val 10000"/>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ctr" defTabSz="1155700" rtl="0">
            <a:lnSpc>
              <a:spcPct val="90000"/>
            </a:lnSpc>
            <a:spcBef>
              <a:spcPct val="0"/>
            </a:spcBef>
            <a:spcAft>
              <a:spcPct val="35000"/>
            </a:spcAft>
            <a:buNone/>
          </a:pPr>
          <a:r>
            <a:rPr lang="en-US" sz="2600" kern="1200">
              <a:solidFill>
                <a:schemeClr val="bg1"/>
              </a:solidFill>
            </a:rPr>
            <a:t>Arithmetic versus Geometric Averages</a:t>
          </a:r>
          <a:endParaRPr lang="en-GB" sz="2600" kern="1200">
            <a:solidFill>
              <a:schemeClr val="bg1"/>
            </a:solidFill>
          </a:endParaRPr>
        </a:p>
      </dsp:txBody>
      <dsp:txXfrm>
        <a:off x="322155" y="1720307"/>
        <a:ext cx="2077418" cy="1579663"/>
      </dsp:txXfrm>
    </dsp:sp>
    <dsp:sp modelId="{EEEE09A0-BCCD-496F-8812-DB164849CD5E}">
      <dsp:nvSpPr>
        <dsp:cNvPr id="0" name=""/>
        <dsp:cNvSpPr/>
      </dsp:nvSpPr>
      <dsp:spPr>
        <a:xfrm>
          <a:off x="273009" y="3607264"/>
          <a:ext cx="2175710" cy="1677955"/>
        </a:xfrm>
        <a:prstGeom prst="roundRect">
          <a:avLst>
            <a:gd name="adj" fmla="val 10000"/>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ctr" defTabSz="1155700" rtl="0">
            <a:lnSpc>
              <a:spcPct val="90000"/>
            </a:lnSpc>
            <a:spcBef>
              <a:spcPct val="0"/>
            </a:spcBef>
            <a:spcAft>
              <a:spcPct val="35000"/>
            </a:spcAft>
            <a:buNone/>
          </a:pPr>
          <a:r>
            <a:rPr lang="en-US" sz="2600" kern="1200">
              <a:solidFill>
                <a:schemeClr val="bg1"/>
              </a:solidFill>
            </a:rPr>
            <a:t>Simple versus Regression Models</a:t>
          </a:r>
          <a:endParaRPr lang="en-GB" sz="2600" kern="1200">
            <a:solidFill>
              <a:schemeClr val="bg1"/>
            </a:solidFill>
          </a:endParaRPr>
        </a:p>
      </dsp:txBody>
      <dsp:txXfrm>
        <a:off x="322155" y="3656410"/>
        <a:ext cx="2077418" cy="1579663"/>
      </dsp:txXfrm>
    </dsp:sp>
    <dsp:sp modelId="{5A300AF4-110F-4942-8F32-B21624101A12}">
      <dsp:nvSpPr>
        <dsp:cNvPr id="0" name=""/>
        <dsp:cNvSpPr/>
      </dsp:nvSpPr>
      <dsp:spPr>
        <a:xfrm>
          <a:off x="2924656" y="0"/>
          <a:ext cx="2719638" cy="5565105"/>
        </a:xfrm>
        <a:prstGeom prst="roundRect">
          <a:avLst>
            <a:gd name="adj" fmla="val 10000"/>
          </a:avLst>
        </a:prstGeom>
        <a:gradFill rotWithShape="0">
          <a:gsLst>
            <a:gs pos="0">
              <a:schemeClr val="accent1">
                <a:tint val="40000"/>
                <a:hueOff val="0"/>
                <a:satOff val="0"/>
                <a:lumOff val="0"/>
                <a:alphaOff val="0"/>
                <a:shade val="63000"/>
                <a:satMod val="165000"/>
              </a:schemeClr>
            </a:gs>
            <a:gs pos="30000">
              <a:schemeClr val="accent1">
                <a:tint val="40000"/>
                <a:hueOff val="0"/>
                <a:satOff val="0"/>
                <a:lumOff val="0"/>
                <a:alphaOff val="0"/>
                <a:shade val="58000"/>
                <a:satMod val="165000"/>
              </a:schemeClr>
            </a:gs>
            <a:gs pos="75000">
              <a:schemeClr val="accent1">
                <a:tint val="40000"/>
                <a:hueOff val="0"/>
                <a:satOff val="0"/>
                <a:lumOff val="0"/>
                <a:alphaOff val="0"/>
                <a:shade val="30000"/>
                <a:satMod val="175000"/>
              </a:schemeClr>
            </a:gs>
            <a:gs pos="100000">
              <a:schemeClr val="accent1">
                <a:tint val="40000"/>
                <a:hueOff val="0"/>
                <a:satOff val="0"/>
                <a:lumOff val="0"/>
                <a:alphaOff val="0"/>
                <a:shade val="15000"/>
                <a:satMod val="175000"/>
              </a:schemeClr>
            </a:gs>
          </a:gsLst>
          <a:path path="circle">
            <a:fillToRect l="5000" t="100000" r="120000" b="10000"/>
          </a:path>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rtl="0">
            <a:lnSpc>
              <a:spcPct val="90000"/>
            </a:lnSpc>
            <a:spcBef>
              <a:spcPct val="0"/>
            </a:spcBef>
            <a:spcAft>
              <a:spcPct val="35000"/>
            </a:spcAft>
            <a:buNone/>
          </a:pPr>
          <a:r>
            <a:rPr lang="en-US" sz="3700" kern="1200" dirty="0">
              <a:solidFill>
                <a:schemeClr val="bg1"/>
              </a:solidFill>
            </a:rPr>
            <a:t>Sensitive to</a:t>
          </a:r>
          <a:endParaRPr lang="en-GB" sz="3700" kern="1200" dirty="0">
            <a:solidFill>
              <a:schemeClr val="bg1"/>
            </a:solidFill>
          </a:endParaRPr>
        </a:p>
      </dsp:txBody>
      <dsp:txXfrm>
        <a:off x="2924656" y="0"/>
        <a:ext cx="2719638" cy="1669531"/>
      </dsp:txXfrm>
    </dsp:sp>
    <dsp:sp modelId="{D18B5130-0F44-43FB-812D-1E0EA8BC72B3}">
      <dsp:nvSpPr>
        <dsp:cNvPr id="0" name=""/>
        <dsp:cNvSpPr/>
      </dsp:nvSpPr>
      <dsp:spPr>
        <a:xfrm>
          <a:off x="3196620" y="1669531"/>
          <a:ext cx="2175710" cy="3617318"/>
        </a:xfrm>
        <a:prstGeom prst="roundRect">
          <a:avLst>
            <a:gd name="adj" fmla="val 10000"/>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ctr" defTabSz="1155700" rtl="0">
            <a:lnSpc>
              <a:spcPct val="90000"/>
            </a:lnSpc>
            <a:spcBef>
              <a:spcPct val="0"/>
            </a:spcBef>
            <a:spcAft>
              <a:spcPct val="35000"/>
            </a:spcAft>
            <a:buNone/>
          </a:pPr>
          <a:r>
            <a:rPr lang="en-US" sz="2600" kern="1200">
              <a:solidFill>
                <a:schemeClr val="bg1"/>
              </a:solidFill>
            </a:rPr>
            <a:t>the period used in the estimation</a:t>
          </a:r>
          <a:endParaRPr lang="en-GB" sz="2600" kern="1200">
            <a:solidFill>
              <a:schemeClr val="bg1"/>
            </a:solidFill>
          </a:endParaRPr>
        </a:p>
      </dsp:txBody>
      <dsp:txXfrm>
        <a:off x="3260344" y="1733255"/>
        <a:ext cx="2048262" cy="3489870"/>
      </dsp:txXfrm>
    </dsp:sp>
    <dsp:sp modelId="{BF098BAC-00E7-47AB-BE44-16D2FA4693E5}">
      <dsp:nvSpPr>
        <dsp:cNvPr id="0" name=""/>
        <dsp:cNvSpPr/>
      </dsp:nvSpPr>
      <dsp:spPr>
        <a:xfrm>
          <a:off x="5848267" y="0"/>
          <a:ext cx="2719638" cy="5565105"/>
        </a:xfrm>
        <a:prstGeom prst="roundRect">
          <a:avLst>
            <a:gd name="adj" fmla="val 10000"/>
          </a:avLst>
        </a:prstGeom>
        <a:gradFill rotWithShape="0">
          <a:gsLst>
            <a:gs pos="0">
              <a:schemeClr val="accent1">
                <a:tint val="40000"/>
                <a:hueOff val="0"/>
                <a:satOff val="0"/>
                <a:lumOff val="0"/>
                <a:alphaOff val="0"/>
                <a:shade val="63000"/>
                <a:satMod val="165000"/>
              </a:schemeClr>
            </a:gs>
            <a:gs pos="30000">
              <a:schemeClr val="accent1">
                <a:tint val="40000"/>
                <a:hueOff val="0"/>
                <a:satOff val="0"/>
                <a:lumOff val="0"/>
                <a:alphaOff val="0"/>
                <a:shade val="58000"/>
                <a:satMod val="165000"/>
              </a:schemeClr>
            </a:gs>
            <a:gs pos="75000">
              <a:schemeClr val="accent1">
                <a:tint val="40000"/>
                <a:hueOff val="0"/>
                <a:satOff val="0"/>
                <a:lumOff val="0"/>
                <a:alphaOff val="0"/>
                <a:shade val="30000"/>
                <a:satMod val="175000"/>
              </a:schemeClr>
            </a:gs>
            <a:gs pos="100000">
              <a:schemeClr val="accent1">
                <a:tint val="40000"/>
                <a:hueOff val="0"/>
                <a:satOff val="0"/>
                <a:lumOff val="0"/>
                <a:alphaOff val="0"/>
                <a:shade val="15000"/>
                <a:satMod val="175000"/>
              </a:schemeClr>
            </a:gs>
          </a:gsLst>
          <a:path path="circle">
            <a:fillToRect l="5000" t="100000" r="120000" b="10000"/>
          </a:path>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rtl="0">
            <a:lnSpc>
              <a:spcPct val="90000"/>
            </a:lnSpc>
            <a:spcBef>
              <a:spcPct val="0"/>
            </a:spcBef>
            <a:spcAft>
              <a:spcPct val="35000"/>
            </a:spcAft>
            <a:buNone/>
          </a:pPr>
          <a:r>
            <a:rPr lang="en-US" sz="3700" kern="1200" dirty="0">
              <a:solidFill>
                <a:schemeClr val="bg1"/>
              </a:solidFill>
            </a:rPr>
            <a:t>Other Factors</a:t>
          </a:r>
          <a:endParaRPr lang="en-GB" sz="3700" kern="1200" dirty="0">
            <a:solidFill>
              <a:schemeClr val="bg1"/>
            </a:solidFill>
          </a:endParaRPr>
        </a:p>
      </dsp:txBody>
      <dsp:txXfrm>
        <a:off x="5848267" y="0"/>
        <a:ext cx="2719638" cy="1669531"/>
      </dsp:txXfrm>
    </dsp:sp>
    <dsp:sp modelId="{867DB91A-1C45-4127-8864-BA1067FD2102}">
      <dsp:nvSpPr>
        <dsp:cNvPr id="0" name=""/>
        <dsp:cNvSpPr/>
      </dsp:nvSpPr>
      <dsp:spPr>
        <a:xfrm>
          <a:off x="6120231" y="1671161"/>
          <a:ext cx="2175710" cy="1677955"/>
        </a:xfrm>
        <a:prstGeom prst="roundRect">
          <a:avLst>
            <a:gd name="adj" fmla="val 10000"/>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ctr" defTabSz="1155700" rtl="0">
            <a:lnSpc>
              <a:spcPct val="90000"/>
            </a:lnSpc>
            <a:spcBef>
              <a:spcPct val="0"/>
            </a:spcBef>
            <a:spcAft>
              <a:spcPct val="35000"/>
            </a:spcAft>
            <a:buNone/>
          </a:pPr>
          <a:r>
            <a:rPr lang="en-US" sz="2600" kern="1200">
              <a:solidFill>
                <a:schemeClr val="bg1"/>
              </a:solidFill>
            </a:rPr>
            <a:t>how to deal with negative earnings</a:t>
          </a:r>
          <a:endParaRPr lang="en-GB" sz="2600" kern="1200">
            <a:solidFill>
              <a:schemeClr val="bg1"/>
            </a:solidFill>
          </a:endParaRPr>
        </a:p>
      </dsp:txBody>
      <dsp:txXfrm>
        <a:off x="6169377" y="1720307"/>
        <a:ext cx="2077418" cy="1579663"/>
      </dsp:txXfrm>
    </dsp:sp>
    <dsp:sp modelId="{C71F42E5-D43F-4CF3-B5FE-36B9561A6A17}">
      <dsp:nvSpPr>
        <dsp:cNvPr id="0" name=""/>
        <dsp:cNvSpPr/>
      </dsp:nvSpPr>
      <dsp:spPr>
        <a:xfrm>
          <a:off x="6120231" y="3607264"/>
          <a:ext cx="2175710" cy="1677955"/>
        </a:xfrm>
        <a:prstGeom prst="roundRect">
          <a:avLst>
            <a:gd name="adj" fmla="val 10000"/>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6040" tIns="49530" rIns="66040" bIns="49530" numCol="1" spcCol="1270" anchor="ctr" anchorCtr="0">
          <a:noAutofit/>
        </a:bodyPr>
        <a:lstStyle/>
        <a:p>
          <a:pPr marL="0" lvl="0" indent="0" algn="ctr" defTabSz="1155700" rtl="0">
            <a:lnSpc>
              <a:spcPct val="90000"/>
            </a:lnSpc>
            <a:spcBef>
              <a:spcPct val="0"/>
            </a:spcBef>
            <a:spcAft>
              <a:spcPct val="35000"/>
            </a:spcAft>
            <a:buNone/>
          </a:pPr>
          <a:r>
            <a:rPr lang="en-US" sz="2600" kern="1200">
              <a:solidFill>
                <a:schemeClr val="bg1"/>
              </a:solidFill>
            </a:rPr>
            <a:t>the effect of changing size</a:t>
          </a:r>
          <a:endParaRPr lang="en-GB" sz="2600" kern="1200">
            <a:solidFill>
              <a:schemeClr val="bg1"/>
            </a:solidFill>
          </a:endParaRPr>
        </a:p>
      </dsp:txBody>
      <dsp:txXfrm>
        <a:off x="6169377" y="3656410"/>
        <a:ext cx="2077418" cy="1579663"/>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A42168-DAB7-4FBC-8BF3-487BA82E6A36}">
      <dsp:nvSpPr>
        <dsp:cNvPr id="0" name=""/>
        <dsp:cNvSpPr/>
      </dsp:nvSpPr>
      <dsp:spPr>
        <a:xfrm>
          <a:off x="1046" y="0"/>
          <a:ext cx="2719638" cy="290891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t>Growth comes from quality and magnitude of investments</a:t>
          </a:r>
          <a:endParaRPr lang="fr-FR" sz="1700" kern="1200"/>
        </a:p>
      </dsp:txBody>
      <dsp:txXfrm>
        <a:off x="1046" y="0"/>
        <a:ext cx="2719638" cy="872676"/>
      </dsp:txXfrm>
    </dsp:sp>
    <dsp:sp modelId="{5038B60A-ABE1-4D09-9096-DDBD50A0B7E6}">
      <dsp:nvSpPr>
        <dsp:cNvPr id="0" name=""/>
        <dsp:cNvSpPr/>
      </dsp:nvSpPr>
      <dsp:spPr>
        <a:xfrm>
          <a:off x="273009" y="872676"/>
          <a:ext cx="2175710" cy="189079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14:m xmlns:a14="http://schemas.microsoft.com/office/drawing/2010/main">
            <m:oMathPara xmlns:m="http://schemas.openxmlformats.org/officeDocument/2006/math">
              <m:oMath>
                <m:r>
                  <a:rPr lang="fr-FR" sz="1600" b="0" i="1" kern="1200" smtClean="0">
                    <a:latin typeface="Cambria Math" panose="02040503050406030204" pitchFamily="18" charset="0"/>
                  </a:rPr>
                  <m:t>𝑔</m:t>
                </m:r>
                <m:r>
                  <a:rPr lang="fr-FR" sz="1600" b="0" i="1" kern="1200" smtClean="0">
                    <a:latin typeface="Cambria Math" panose="02040503050406030204" pitchFamily="18" charset="0"/>
                  </a:rPr>
                  <m:t>=</m:t>
                </m:r>
              </m:oMath>
            </m:oMathPara>
          </a14:m>
          <a:endParaRPr lang="en-GB" sz="1600" b="0" i="1" kern="1200" dirty="0"/>
        </a:p>
        <a:p>
          <a:pPr marL="0" lvl="0" indent="0" algn="ctr" defTabSz="711200">
            <a:lnSpc>
              <a:spcPct val="90000"/>
            </a:lnSpc>
            <a:spcBef>
              <a:spcPct val="0"/>
            </a:spcBef>
            <a:spcAft>
              <a:spcPct val="35000"/>
            </a:spcAft>
            <a:buNone/>
          </a:pPr>
          <a14:m xmlns:a14="http://schemas.microsoft.com/office/drawing/2010/main">
            <m:oMathPara xmlns:m="http://schemas.openxmlformats.org/officeDocument/2006/math">
              <m:oMath>
                <m:limUpp>
                  <m:limUppPr>
                    <m:ctrlPr>
                      <a:rPr lang="fr-FR" sz="1600" b="0" i="1" kern="1200">
                        <a:latin typeface="Cambria Math" panose="02040503050406030204" pitchFamily="18" charset="0"/>
                      </a:rPr>
                    </m:ctrlPr>
                  </m:limUppPr>
                  <m:e>
                    <m:groupChr>
                      <m:groupChrPr>
                        <m:chr m:val="⏞"/>
                        <m:pos m:val="top"/>
                        <m:vertJc m:val="bot"/>
                        <m:ctrlPr>
                          <a:rPr lang="fr-FR" sz="1600" b="0" i="1" kern="1200">
                            <a:latin typeface="Cambria Math" panose="02040503050406030204" pitchFamily="18" charset="0"/>
                          </a:rPr>
                        </m:ctrlPr>
                      </m:groupChrPr>
                      <m:e>
                        <m:r>
                          <m:rPr>
                            <m:brk/>
                          </m:rPr>
                          <a:rPr lang="fr-FR" sz="1600" b="0" i="1" kern="1200">
                            <a:latin typeface="Cambria Math" panose="02040503050406030204" pitchFamily="18" charset="0"/>
                          </a:rPr>
                          <m:t>𝑅</m:t>
                        </m:r>
                      </m:e>
                    </m:groupChr>
                  </m:e>
                  <m:lim>
                    <m:eqArr>
                      <m:eqArrPr>
                        <m:ctrlPr>
                          <a:rPr lang="fr-FR" sz="1600" b="0" i="1" kern="1200">
                            <a:latin typeface="Cambria Math" panose="02040503050406030204" pitchFamily="18" charset="0"/>
                          </a:rPr>
                        </m:ctrlPr>
                      </m:eqArrPr>
                      <m:e>
                        <m:r>
                          <a:rPr lang="fr-FR" sz="1600" b="0" i="1" kern="1200">
                            <a:latin typeface="Cambria Math" panose="02040503050406030204" pitchFamily="18" charset="0"/>
                          </a:rPr>
                          <m:t>𝑅</m:t>
                        </m:r>
                        <m:r>
                          <a:rPr lang="fr-FR" sz="1600" b="0" i="1" kern="1200">
                            <a:latin typeface="Cambria Math" panose="02040503050406030204" pitchFamily="18" charset="0"/>
                          </a:rPr>
                          <m:t>:</m:t>
                        </m:r>
                      </m:e>
                      <m:e>
                        <m:r>
                          <a:rPr lang="fr-FR" sz="1600" b="0" i="1" kern="1200">
                            <a:latin typeface="Cambria Math" panose="02040503050406030204" pitchFamily="18" charset="0"/>
                          </a:rPr>
                          <m:t>𝑅𝑒𝑡𝑢𝑟𝑛</m:t>
                        </m:r>
                      </m:e>
                      <m:e>
                        <m:r>
                          <a:rPr lang="fr-FR" sz="1600" b="0" i="1" kern="1200">
                            <a:latin typeface="Cambria Math" panose="02040503050406030204" pitchFamily="18" charset="0"/>
                          </a:rPr>
                          <m:t>(</m:t>
                        </m:r>
                        <m:r>
                          <a:rPr lang="fr-FR" sz="1600" b="0" i="1" kern="1200">
                            <a:latin typeface="Cambria Math" panose="02040503050406030204" pitchFamily="18" charset="0"/>
                          </a:rPr>
                          <m:t>𝑄𝑢𝑎𝑙𝑖𝑡𝑦</m:t>
                        </m:r>
                        <m:r>
                          <a:rPr lang="fr-FR" sz="1600" b="0" i="1" kern="1200">
                            <a:latin typeface="Cambria Math" panose="02040503050406030204" pitchFamily="18" charset="0"/>
                          </a:rPr>
                          <m:t>)</m:t>
                        </m:r>
                      </m:e>
                    </m:eqArr>
                  </m:lim>
                </m:limUpp>
                <m:r>
                  <a:rPr lang="fr-FR" sz="1600" b="0" i="1" kern="1200">
                    <a:latin typeface="Cambria Math" panose="02040503050406030204" pitchFamily="18" charset="0"/>
                  </a:rPr>
                  <m:t>∗</m:t>
                </m:r>
                <m:limLow>
                  <m:limLowPr>
                    <m:ctrlPr>
                      <a:rPr lang="fr-FR" sz="1600" i="1" kern="1200">
                        <a:latin typeface="Cambria Math" panose="02040503050406030204" pitchFamily="18" charset="0"/>
                      </a:rPr>
                    </m:ctrlPr>
                  </m:limLowPr>
                  <m:e>
                    <m:groupChr>
                      <m:groupChrPr>
                        <m:chr m:val="⏟"/>
                        <m:pos m:val="bot"/>
                        <m:vertJc m:val="top"/>
                        <m:ctrlPr>
                          <a:rPr lang="fr-FR" sz="1600" i="1" kern="1200">
                            <a:latin typeface="Cambria Math" panose="02040503050406030204" pitchFamily="18" charset="0"/>
                          </a:rPr>
                        </m:ctrlPr>
                      </m:groupChrPr>
                      <m:e>
                        <m:r>
                          <a:rPr lang="fr-FR" sz="1600" i="1" kern="1200">
                            <a:latin typeface="Cambria Math" panose="02040503050406030204" pitchFamily="18" charset="0"/>
                          </a:rPr>
                          <m:t>𝑅𝑅</m:t>
                        </m:r>
                      </m:e>
                    </m:groupChr>
                  </m:e>
                  <m:lim>
                    <m:eqArr>
                      <m:eqArrPr>
                        <m:ctrlPr>
                          <a:rPr lang="fr-FR" sz="1600" b="0" i="1" kern="1200">
                            <a:latin typeface="Cambria Math" panose="02040503050406030204" pitchFamily="18" charset="0"/>
                          </a:rPr>
                        </m:ctrlPr>
                      </m:eqArrPr>
                      <m:e>
                        <m:r>
                          <a:rPr lang="fr-FR" sz="1600" b="0" i="1" kern="1200">
                            <a:latin typeface="Cambria Math" panose="02040503050406030204" pitchFamily="18" charset="0"/>
                          </a:rPr>
                          <m:t>𝑅𝑅</m:t>
                        </m:r>
                        <m:r>
                          <a:rPr lang="fr-FR" sz="1600" b="0" i="1" kern="1200">
                            <a:latin typeface="Cambria Math" panose="02040503050406030204" pitchFamily="18" charset="0"/>
                          </a:rPr>
                          <m:t>:</m:t>
                        </m:r>
                      </m:e>
                      <m:e>
                        <m:r>
                          <a:rPr lang="fr-FR" sz="1600" b="0" i="1" kern="1200">
                            <a:latin typeface="Cambria Math" panose="02040503050406030204" pitchFamily="18" charset="0"/>
                          </a:rPr>
                          <m:t>𝑅𝑒</m:t>
                        </m:r>
                        <m:r>
                          <a:rPr lang="fr-FR" sz="1600" b="0" i="1" kern="1200">
                            <a:latin typeface="Cambria Math" panose="02040503050406030204" pitchFamily="18" charset="0"/>
                          </a:rPr>
                          <m:t>−</m:t>
                        </m:r>
                        <m:r>
                          <a:rPr lang="fr-FR" sz="1600" b="0" i="1" kern="1200">
                            <a:latin typeface="Cambria Math" panose="02040503050406030204" pitchFamily="18" charset="0"/>
                          </a:rPr>
                          <m:t>𝐼𝑛𝑣𝑒𝑠𝑡𝑚𝑒𝑛𝑡</m:t>
                        </m:r>
                      </m:e>
                      <m:e>
                        <m:r>
                          <a:rPr lang="fr-FR" sz="1600" b="0" i="1" kern="1200">
                            <a:latin typeface="Cambria Math" panose="02040503050406030204" pitchFamily="18" charset="0"/>
                          </a:rPr>
                          <m:t>(</m:t>
                        </m:r>
                        <m:r>
                          <a:rPr lang="fr-FR" sz="1600" b="0" i="1" kern="1200">
                            <a:latin typeface="Cambria Math" panose="02040503050406030204" pitchFamily="18" charset="0"/>
                          </a:rPr>
                          <m:t>𝑀𝑎𝑔𝑛𝑖𝑡𝑢𝑑𝑒</m:t>
                        </m:r>
                        <m:r>
                          <a:rPr lang="fr-FR" sz="1600" b="0" i="1" kern="1200">
                            <a:latin typeface="Cambria Math" panose="02040503050406030204" pitchFamily="18" charset="0"/>
                          </a:rPr>
                          <m:t>)</m:t>
                        </m:r>
                      </m:e>
                    </m:eqArr>
                  </m:lim>
                </m:limLow>
              </m:oMath>
            </m:oMathPara>
          </a14:m>
          <a:endParaRPr lang="fr-FR" sz="1600" kern="1200" dirty="0"/>
        </a:p>
      </dsp:txBody>
      <dsp:txXfrm>
        <a:off x="328389" y="928056"/>
        <a:ext cx="2064950" cy="1780038"/>
      </dsp:txXfrm>
    </dsp:sp>
    <dsp:sp modelId="{F21F0AC5-0A89-4CE0-BA28-82268E4B11B9}">
      <dsp:nvSpPr>
        <dsp:cNvPr id="0" name=""/>
        <dsp:cNvSpPr/>
      </dsp:nvSpPr>
      <dsp:spPr>
        <a:xfrm>
          <a:off x="2924656" y="0"/>
          <a:ext cx="2719638" cy="290891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t>The magnitude of investments should be inline with growth</a:t>
          </a:r>
          <a:endParaRPr lang="fr-FR" sz="1700" kern="1200"/>
        </a:p>
      </dsp:txBody>
      <dsp:txXfrm>
        <a:off x="2924656" y="0"/>
        <a:ext cx="2719638" cy="872676"/>
      </dsp:txXfrm>
    </dsp:sp>
    <dsp:sp modelId="{5D0652FB-6021-46E1-B444-AA3D0F6DDD91}">
      <dsp:nvSpPr>
        <dsp:cNvPr id="0" name=""/>
        <dsp:cNvSpPr/>
      </dsp:nvSpPr>
      <dsp:spPr>
        <a:xfrm>
          <a:off x="3196620" y="872676"/>
          <a:ext cx="2175710" cy="189079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14:m xmlns:a14="http://schemas.microsoft.com/office/drawing/2010/main">
            <m:oMathPara xmlns:m="http://schemas.openxmlformats.org/officeDocument/2006/math">
              <m:oMath>
                <m:r>
                  <a:rPr lang="fr-FR" sz="1600" b="0" i="1" kern="1200" smtClean="0">
                    <a:latin typeface="Cambria Math" panose="02040503050406030204" pitchFamily="18" charset="0"/>
                  </a:rPr>
                  <m:t>𝑅𝑅</m:t>
                </m:r>
                <m:r>
                  <a:rPr lang="fr-FR" sz="1600" b="0" i="1" kern="1200" smtClean="0">
                    <a:latin typeface="Cambria Math" panose="02040503050406030204" pitchFamily="18" charset="0"/>
                  </a:rPr>
                  <m:t>=</m:t>
                </m:r>
                <m:f>
                  <m:fPr>
                    <m:ctrlPr>
                      <a:rPr lang="fr-FR" sz="1600" b="0" i="1" kern="1200">
                        <a:latin typeface="Cambria Math" panose="02040503050406030204" pitchFamily="18" charset="0"/>
                      </a:rPr>
                    </m:ctrlPr>
                  </m:fPr>
                  <m:num>
                    <m:r>
                      <a:rPr lang="fr-FR" sz="1600" b="0" i="1" kern="1200">
                        <a:latin typeface="Cambria Math" panose="02040503050406030204" pitchFamily="18" charset="0"/>
                      </a:rPr>
                      <m:t>𝑅</m:t>
                    </m:r>
                  </m:num>
                  <m:den>
                    <m:r>
                      <a:rPr lang="fr-FR" sz="1600" b="0" i="1" kern="1200">
                        <a:latin typeface="Cambria Math" panose="02040503050406030204" pitchFamily="18" charset="0"/>
                      </a:rPr>
                      <m:t>𝑔</m:t>
                    </m:r>
                  </m:den>
                </m:f>
              </m:oMath>
            </m:oMathPara>
          </a14:m>
          <a:endParaRPr lang="fr-FR" sz="1600" kern="1200" dirty="0"/>
        </a:p>
      </dsp:txBody>
      <dsp:txXfrm>
        <a:off x="3252000" y="928056"/>
        <a:ext cx="2064950" cy="1780038"/>
      </dsp:txXfrm>
    </dsp:sp>
    <dsp:sp modelId="{35E469D7-FCEC-44E1-8092-8BF0B1D8A135}">
      <dsp:nvSpPr>
        <dsp:cNvPr id="0" name=""/>
        <dsp:cNvSpPr/>
      </dsp:nvSpPr>
      <dsp:spPr>
        <a:xfrm>
          <a:off x="5848267" y="0"/>
          <a:ext cx="2719638" cy="290891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t>You cannot expect growth unless your return reaches a certain level</a:t>
          </a:r>
          <a:endParaRPr lang="fr-FR" sz="1700" kern="1200"/>
        </a:p>
      </dsp:txBody>
      <dsp:txXfrm>
        <a:off x="5848267" y="0"/>
        <a:ext cx="2719638" cy="872676"/>
      </dsp:txXfrm>
    </dsp:sp>
    <dsp:sp modelId="{23452B9E-409F-46E0-8CB1-CBFF28887526}">
      <dsp:nvSpPr>
        <dsp:cNvPr id="0" name=""/>
        <dsp:cNvSpPr/>
      </dsp:nvSpPr>
      <dsp:spPr>
        <a:xfrm>
          <a:off x="6120231" y="872676"/>
          <a:ext cx="2175710" cy="189079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14:m xmlns:a14="http://schemas.microsoft.com/office/drawing/2010/main">
            <m:oMathPara xmlns:m="http://schemas.openxmlformats.org/officeDocument/2006/math">
              <m:oMath>
                <m:r>
                  <a:rPr lang="fr-FR" sz="1600" i="1" kern="1200" smtClean="0">
                    <a:latin typeface="Cambria Math" panose="02040503050406030204" pitchFamily="18" charset="0"/>
                  </a:rPr>
                  <m:t>𝑅</m:t>
                </m:r>
                <m:r>
                  <a:rPr lang="fr-FR" sz="1600" i="1" kern="1200" smtClean="0">
                    <a:latin typeface="Cambria Math" panose="02040503050406030204" pitchFamily="18" charset="0"/>
                  </a:rPr>
                  <m:t>=</m:t>
                </m:r>
                <m:f>
                  <m:fPr>
                    <m:ctrlPr>
                      <a:rPr lang="fr-FR" sz="1600" i="1" kern="1200">
                        <a:latin typeface="Cambria Math" panose="02040503050406030204" pitchFamily="18" charset="0"/>
                      </a:rPr>
                    </m:ctrlPr>
                  </m:fPr>
                  <m:num>
                    <m:r>
                      <a:rPr lang="fr-FR" sz="1600" i="1" kern="1200">
                        <a:latin typeface="Cambria Math" panose="02040503050406030204" pitchFamily="18" charset="0"/>
                      </a:rPr>
                      <m:t>𝑅</m:t>
                    </m:r>
                    <m:r>
                      <a:rPr lang="fr-FR" sz="1600" b="0" i="1" kern="1200">
                        <a:latin typeface="Cambria Math" panose="02040503050406030204" pitchFamily="18" charset="0"/>
                      </a:rPr>
                      <m:t>𝑅</m:t>
                    </m:r>
                  </m:num>
                  <m:den>
                    <m:r>
                      <a:rPr lang="fr-FR" sz="1600" i="1" kern="1200">
                        <a:latin typeface="Cambria Math" panose="02040503050406030204" pitchFamily="18" charset="0"/>
                      </a:rPr>
                      <m:t>𝑔</m:t>
                    </m:r>
                  </m:den>
                </m:f>
              </m:oMath>
            </m:oMathPara>
          </a14:m>
          <a:endParaRPr lang="fr-FR" sz="1600" kern="1200" dirty="0"/>
        </a:p>
      </dsp:txBody>
      <dsp:txXfrm>
        <a:off x="6175611" y="928056"/>
        <a:ext cx="2064950" cy="1780038"/>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020964-1F32-43E6-B936-81CF13074EC0}">
      <dsp:nvSpPr>
        <dsp:cNvPr id="0" name=""/>
        <dsp:cNvSpPr/>
      </dsp:nvSpPr>
      <dsp:spPr>
        <a:xfrm>
          <a:off x="6701219" y="3677172"/>
          <a:ext cx="91440" cy="666419"/>
        </a:xfrm>
        <a:custGeom>
          <a:avLst/>
          <a:gdLst/>
          <a:ahLst/>
          <a:cxnLst/>
          <a:rect l="0" t="0" r="0" b="0"/>
          <a:pathLst>
            <a:path>
              <a:moveTo>
                <a:pt x="45720" y="0"/>
              </a:moveTo>
              <a:lnTo>
                <a:pt x="45720" y="666419"/>
              </a:lnTo>
            </a:path>
          </a:pathLst>
        </a:custGeom>
        <a:noFill/>
        <a:ln w="25400" cap="flat" cmpd="sng" algn="ctr">
          <a:solidFill>
            <a:schemeClr val="accent3">
              <a:shade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4D54B929-6250-40E8-A837-BC5D78E6C010}">
      <dsp:nvSpPr>
        <dsp:cNvPr id="0" name=""/>
        <dsp:cNvSpPr/>
      </dsp:nvSpPr>
      <dsp:spPr>
        <a:xfrm>
          <a:off x="3946323" y="1555705"/>
          <a:ext cx="2800616" cy="666419"/>
        </a:xfrm>
        <a:custGeom>
          <a:avLst/>
          <a:gdLst/>
          <a:ahLst/>
          <a:cxnLst/>
          <a:rect l="0" t="0" r="0" b="0"/>
          <a:pathLst>
            <a:path>
              <a:moveTo>
                <a:pt x="0" y="0"/>
              </a:moveTo>
              <a:lnTo>
                <a:pt x="0" y="454145"/>
              </a:lnTo>
              <a:lnTo>
                <a:pt x="2800616" y="454145"/>
              </a:lnTo>
              <a:lnTo>
                <a:pt x="2800616" y="666419"/>
              </a:lnTo>
            </a:path>
          </a:pathLst>
        </a:custGeom>
        <a:noFill/>
        <a:ln w="25400" cap="flat" cmpd="sng" algn="ctr">
          <a:solidFill>
            <a:schemeClr val="accent3">
              <a:shade val="6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B2435C29-CA66-491A-BCB0-6C6EEE4ED312}">
      <dsp:nvSpPr>
        <dsp:cNvPr id="0" name=""/>
        <dsp:cNvSpPr/>
      </dsp:nvSpPr>
      <dsp:spPr>
        <a:xfrm>
          <a:off x="3900603" y="3677172"/>
          <a:ext cx="91440" cy="666419"/>
        </a:xfrm>
        <a:custGeom>
          <a:avLst/>
          <a:gdLst/>
          <a:ahLst/>
          <a:cxnLst/>
          <a:rect l="0" t="0" r="0" b="0"/>
          <a:pathLst>
            <a:path>
              <a:moveTo>
                <a:pt x="45720" y="0"/>
              </a:moveTo>
              <a:lnTo>
                <a:pt x="45720" y="666419"/>
              </a:lnTo>
            </a:path>
          </a:pathLst>
        </a:custGeom>
        <a:noFill/>
        <a:ln w="25400" cap="flat" cmpd="sng" algn="ctr">
          <a:solidFill>
            <a:schemeClr val="accent3">
              <a:shade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51E81A34-978B-4AB2-8CA1-D0D9DBF8C98B}">
      <dsp:nvSpPr>
        <dsp:cNvPr id="0" name=""/>
        <dsp:cNvSpPr/>
      </dsp:nvSpPr>
      <dsp:spPr>
        <a:xfrm>
          <a:off x="3900603" y="1555705"/>
          <a:ext cx="91440" cy="666419"/>
        </a:xfrm>
        <a:custGeom>
          <a:avLst/>
          <a:gdLst/>
          <a:ahLst/>
          <a:cxnLst/>
          <a:rect l="0" t="0" r="0" b="0"/>
          <a:pathLst>
            <a:path>
              <a:moveTo>
                <a:pt x="45720" y="0"/>
              </a:moveTo>
              <a:lnTo>
                <a:pt x="45720" y="666419"/>
              </a:lnTo>
            </a:path>
          </a:pathLst>
        </a:custGeom>
        <a:noFill/>
        <a:ln w="25400" cap="flat" cmpd="sng" algn="ctr">
          <a:solidFill>
            <a:schemeClr val="accent3">
              <a:shade val="6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E72AB7DD-3E88-4FB0-BAE7-DBCE70CBC74D}">
      <dsp:nvSpPr>
        <dsp:cNvPr id="0" name=""/>
        <dsp:cNvSpPr/>
      </dsp:nvSpPr>
      <dsp:spPr>
        <a:xfrm>
          <a:off x="1099986" y="3677172"/>
          <a:ext cx="91440" cy="666419"/>
        </a:xfrm>
        <a:custGeom>
          <a:avLst/>
          <a:gdLst/>
          <a:ahLst/>
          <a:cxnLst/>
          <a:rect l="0" t="0" r="0" b="0"/>
          <a:pathLst>
            <a:path>
              <a:moveTo>
                <a:pt x="45720" y="0"/>
              </a:moveTo>
              <a:lnTo>
                <a:pt x="45720" y="666419"/>
              </a:lnTo>
            </a:path>
          </a:pathLst>
        </a:custGeom>
        <a:noFill/>
        <a:ln w="25400" cap="flat" cmpd="sng" algn="ctr">
          <a:solidFill>
            <a:schemeClr val="accent3">
              <a:shade val="8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B9BDA5B8-F102-4B52-AE2D-94EC873612AF}">
      <dsp:nvSpPr>
        <dsp:cNvPr id="0" name=""/>
        <dsp:cNvSpPr/>
      </dsp:nvSpPr>
      <dsp:spPr>
        <a:xfrm>
          <a:off x="1145706" y="1555705"/>
          <a:ext cx="2800616" cy="666419"/>
        </a:xfrm>
        <a:custGeom>
          <a:avLst/>
          <a:gdLst/>
          <a:ahLst/>
          <a:cxnLst/>
          <a:rect l="0" t="0" r="0" b="0"/>
          <a:pathLst>
            <a:path>
              <a:moveTo>
                <a:pt x="2800616" y="0"/>
              </a:moveTo>
              <a:lnTo>
                <a:pt x="2800616" y="454145"/>
              </a:lnTo>
              <a:lnTo>
                <a:pt x="0" y="454145"/>
              </a:lnTo>
              <a:lnTo>
                <a:pt x="0" y="666419"/>
              </a:lnTo>
            </a:path>
          </a:pathLst>
        </a:custGeom>
        <a:noFill/>
        <a:ln w="25400" cap="flat" cmpd="sng" algn="ctr">
          <a:solidFill>
            <a:schemeClr val="accent3">
              <a:shade val="6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41921C13-D17F-465D-B4B9-54B68712ED10}">
      <dsp:nvSpPr>
        <dsp:cNvPr id="0" name=""/>
        <dsp:cNvSpPr/>
      </dsp:nvSpPr>
      <dsp:spPr>
        <a:xfrm>
          <a:off x="2800616" y="100658"/>
          <a:ext cx="2291413" cy="1455047"/>
        </a:xfrm>
        <a:prstGeom prst="roundRect">
          <a:avLst>
            <a:gd name="adj" fmla="val 10000"/>
          </a:avLst>
        </a:prstGeom>
        <a:gradFill rotWithShape="0">
          <a:gsLst>
            <a:gs pos="0">
              <a:schemeClr val="lt1">
                <a:hueOff val="0"/>
                <a:satOff val="0"/>
                <a:lumOff val="0"/>
                <a:alphaOff val="0"/>
                <a:shade val="63000"/>
                <a:satMod val="165000"/>
              </a:schemeClr>
            </a:gs>
            <a:gs pos="30000">
              <a:schemeClr val="lt1">
                <a:hueOff val="0"/>
                <a:satOff val="0"/>
                <a:lumOff val="0"/>
                <a:alphaOff val="0"/>
                <a:shade val="58000"/>
                <a:satMod val="165000"/>
              </a:schemeClr>
            </a:gs>
            <a:gs pos="75000">
              <a:schemeClr val="lt1">
                <a:hueOff val="0"/>
                <a:satOff val="0"/>
                <a:lumOff val="0"/>
                <a:alphaOff val="0"/>
                <a:shade val="30000"/>
                <a:satMod val="175000"/>
              </a:schemeClr>
            </a:gs>
            <a:gs pos="100000">
              <a:schemeClr val="l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30B83D9B-1FEE-4BE2-BAE4-465F4A8939B4}">
      <dsp:nvSpPr>
        <dsp:cNvPr id="0" name=""/>
        <dsp:cNvSpPr/>
      </dsp:nvSpPr>
      <dsp:spPr>
        <a:xfrm>
          <a:off x="3055218" y="342529"/>
          <a:ext cx="2291413" cy="1455047"/>
        </a:xfrm>
        <a:prstGeom prst="roundRect">
          <a:avLst>
            <a:gd name="adj" fmla="val 10000"/>
          </a:avLst>
        </a:prstGeom>
        <a:solidFill>
          <a:schemeClr val="accent3">
            <a:alpha val="90000"/>
            <a:tint val="40000"/>
            <a:hueOff val="0"/>
            <a:satOff val="0"/>
            <a:lumOff val="0"/>
            <a:alphaOff val="0"/>
          </a:schemeClr>
        </a:solidFill>
        <a:ln w="12700" cap="flat" cmpd="sng" algn="ctr">
          <a:solidFill>
            <a:schemeClr val="accent3">
              <a:hueOff val="0"/>
              <a:satOff val="0"/>
              <a:lumOff val="0"/>
              <a:alphaOff val="0"/>
            </a:schemeClr>
          </a:solidFill>
          <a:prstDash val="solid"/>
        </a:ln>
        <a:effectLst>
          <a:outerShdw blurRad="50800" dist="20000" dir="5400000" rotWithShape="0">
            <a:srgbClr val="000000">
              <a:alpha val="42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kern="1200" dirty="0"/>
            <a:t>Estimate Growth</a:t>
          </a:r>
        </a:p>
      </dsp:txBody>
      <dsp:txXfrm>
        <a:off x="3097835" y="385146"/>
        <a:ext cx="2206179" cy="1369813"/>
      </dsp:txXfrm>
    </dsp:sp>
    <dsp:sp modelId="{593626B4-A60B-46CD-B163-C9ED25C44C2A}">
      <dsp:nvSpPr>
        <dsp:cNvPr id="0" name=""/>
        <dsp:cNvSpPr/>
      </dsp:nvSpPr>
      <dsp:spPr>
        <a:xfrm>
          <a:off x="0" y="2222125"/>
          <a:ext cx="2291413" cy="1455047"/>
        </a:xfrm>
        <a:prstGeom prst="roundRect">
          <a:avLst>
            <a:gd name="adj" fmla="val 10000"/>
          </a:avLst>
        </a:prstGeom>
        <a:gradFill rotWithShape="0">
          <a:gsLst>
            <a:gs pos="0">
              <a:schemeClr val="lt1">
                <a:hueOff val="0"/>
                <a:satOff val="0"/>
                <a:lumOff val="0"/>
                <a:alphaOff val="0"/>
                <a:shade val="63000"/>
                <a:satMod val="165000"/>
              </a:schemeClr>
            </a:gs>
            <a:gs pos="30000">
              <a:schemeClr val="lt1">
                <a:hueOff val="0"/>
                <a:satOff val="0"/>
                <a:lumOff val="0"/>
                <a:alphaOff val="0"/>
                <a:shade val="58000"/>
                <a:satMod val="165000"/>
              </a:schemeClr>
            </a:gs>
            <a:gs pos="75000">
              <a:schemeClr val="lt1">
                <a:hueOff val="0"/>
                <a:satOff val="0"/>
                <a:lumOff val="0"/>
                <a:alphaOff val="0"/>
                <a:shade val="30000"/>
                <a:satMod val="175000"/>
              </a:schemeClr>
            </a:gs>
            <a:gs pos="100000">
              <a:schemeClr val="l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24417B8C-CC34-417B-AB18-9914BB45085D}">
      <dsp:nvSpPr>
        <dsp:cNvPr id="0" name=""/>
        <dsp:cNvSpPr/>
      </dsp:nvSpPr>
      <dsp:spPr>
        <a:xfrm>
          <a:off x="254601" y="2463996"/>
          <a:ext cx="2291413" cy="1455047"/>
        </a:xfrm>
        <a:prstGeom prst="roundRect">
          <a:avLst>
            <a:gd name="adj" fmla="val 10000"/>
          </a:avLst>
        </a:prstGeom>
        <a:solidFill>
          <a:schemeClr val="accent3">
            <a:alpha val="90000"/>
            <a:tint val="40000"/>
            <a:hueOff val="0"/>
            <a:satOff val="0"/>
            <a:lumOff val="0"/>
            <a:alphaOff val="0"/>
          </a:schemeClr>
        </a:solidFill>
        <a:ln w="12700" cap="flat" cmpd="sng" algn="ctr">
          <a:solidFill>
            <a:schemeClr val="accent3">
              <a:hueOff val="0"/>
              <a:satOff val="0"/>
              <a:lumOff val="0"/>
              <a:alphaOff val="0"/>
            </a:schemeClr>
          </a:solidFill>
          <a:prstDash val="solid"/>
        </a:ln>
        <a:effectLst>
          <a:outerShdw blurRad="50800" dist="20000" dir="5400000" rotWithShape="0">
            <a:srgbClr val="000000">
              <a:alpha val="42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kern="1200" dirty="0"/>
            <a:t>Dividends</a:t>
          </a:r>
        </a:p>
      </dsp:txBody>
      <dsp:txXfrm>
        <a:off x="297218" y="2506613"/>
        <a:ext cx="2206179" cy="1369813"/>
      </dsp:txXfrm>
    </dsp:sp>
    <dsp:sp modelId="{F8AF5F54-3EDE-4BE0-85ED-7D5866A83646}">
      <dsp:nvSpPr>
        <dsp:cNvPr id="0" name=""/>
        <dsp:cNvSpPr/>
      </dsp:nvSpPr>
      <dsp:spPr>
        <a:xfrm>
          <a:off x="0" y="4343592"/>
          <a:ext cx="2291413" cy="1455047"/>
        </a:xfrm>
        <a:prstGeom prst="roundRect">
          <a:avLst>
            <a:gd name="adj" fmla="val 10000"/>
          </a:avLst>
        </a:prstGeom>
        <a:gradFill rotWithShape="0">
          <a:gsLst>
            <a:gs pos="0">
              <a:schemeClr val="lt1">
                <a:hueOff val="0"/>
                <a:satOff val="0"/>
                <a:lumOff val="0"/>
                <a:alphaOff val="0"/>
                <a:shade val="63000"/>
                <a:satMod val="165000"/>
              </a:schemeClr>
            </a:gs>
            <a:gs pos="30000">
              <a:schemeClr val="lt1">
                <a:hueOff val="0"/>
                <a:satOff val="0"/>
                <a:lumOff val="0"/>
                <a:alphaOff val="0"/>
                <a:shade val="58000"/>
                <a:satMod val="165000"/>
              </a:schemeClr>
            </a:gs>
            <a:gs pos="75000">
              <a:schemeClr val="lt1">
                <a:hueOff val="0"/>
                <a:satOff val="0"/>
                <a:lumOff val="0"/>
                <a:alphaOff val="0"/>
                <a:shade val="30000"/>
                <a:satMod val="175000"/>
              </a:schemeClr>
            </a:gs>
            <a:gs pos="100000">
              <a:schemeClr val="l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5614AF8D-3273-45BB-B726-374789C5373D}">
      <dsp:nvSpPr>
        <dsp:cNvPr id="0" name=""/>
        <dsp:cNvSpPr/>
      </dsp:nvSpPr>
      <dsp:spPr>
        <a:xfrm>
          <a:off x="254601" y="4585463"/>
          <a:ext cx="2291413" cy="1455047"/>
        </a:xfrm>
        <a:prstGeom prst="roundRect">
          <a:avLst>
            <a:gd name="adj" fmla="val 10000"/>
          </a:avLst>
        </a:prstGeom>
        <a:solidFill>
          <a:schemeClr val="accent3">
            <a:alpha val="90000"/>
            <a:tint val="40000"/>
            <a:hueOff val="0"/>
            <a:satOff val="0"/>
            <a:lumOff val="0"/>
            <a:alphaOff val="0"/>
          </a:schemeClr>
        </a:solidFill>
        <a:ln w="12700" cap="flat" cmpd="sng" algn="ctr">
          <a:solidFill>
            <a:schemeClr val="accent3">
              <a:hueOff val="0"/>
              <a:satOff val="0"/>
              <a:lumOff val="0"/>
              <a:alphaOff val="0"/>
            </a:schemeClr>
          </a:solidFill>
          <a:prstDash val="solid"/>
        </a:ln>
        <a:effectLst>
          <a:outerShdw blurRad="50800" dist="20000" dir="5400000" rotWithShape="0">
            <a:srgbClr val="000000">
              <a:alpha val="42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kern="1200" dirty="0"/>
            <a:t>Retention Ratio*ROE</a:t>
          </a:r>
        </a:p>
      </dsp:txBody>
      <dsp:txXfrm>
        <a:off x="297218" y="4628080"/>
        <a:ext cx="2206179" cy="1369813"/>
      </dsp:txXfrm>
    </dsp:sp>
    <dsp:sp modelId="{15F72ADD-B4A0-4113-833E-21B9AAE56B6D}">
      <dsp:nvSpPr>
        <dsp:cNvPr id="0" name=""/>
        <dsp:cNvSpPr/>
      </dsp:nvSpPr>
      <dsp:spPr>
        <a:xfrm>
          <a:off x="2800616" y="2222125"/>
          <a:ext cx="2291413" cy="1455047"/>
        </a:xfrm>
        <a:prstGeom prst="roundRect">
          <a:avLst>
            <a:gd name="adj" fmla="val 10000"/>
          </a:avLst>
        </a:prstGeom>
        <a:gradFill rotWithShape="0">
          <a:gsLst>
            <a:gs pos="0">
              <a:schemeClr val="lt1">
                <a:hueOff val="0"/>
                <a:satOff val="0"/>
                <a:lumOff val="0"/>
                <a:alphaOff val="0"/>
                <a:shade val="63000"/>
                <a:satMod val="165000"/>
              </a:schemeClr>
            </a:gs>
            <a:gs pos="30000">
              <a:schemeClr val="lt1">
                <a:hueOff val="0"/>
                <a:satOff val="0"/>
                <a:lumOff val="0"/>
                <a:alphaOff val="0"/>
                <a:shade val="58000"/>
                <a:satMod val="165000"/>
              </a:schemeClr>
            </a:gs>
            <a:gs pos="75000">
              <a:schemeClr val="lt1">
                <a:hueOff val="0"/>
                <a:satOff val="0"/>
                <a:lumOff val="0"/>
                <a:alphaOff val="0"/>
                <a:shade val="30000"/>
                <a:satMod val="175000"/>
              </a:schemeClr>
            </a:gs>
            <a:gs pos="100000">
              <a:schemeClr val="l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326CAC57-B7FC-43B1-819A-FB71E256B19E}">
      <dsp:nvSpPr>
        <dsp:cNvPr id="0" name=""/>
        <dsp:cNvSpPr/>
      </dsp:nvSpPr>
      <dsp:spPr>
        <a:xfrm>
          <a:off x="3055218" y="2463996"/>
          <a:ext cx="2291413" cy="1455047"/>
        </a:xfrm>
        <a:prstGeom prst="roundRect">
          <a:avLst>
            <a:gd name="adj" fmla="val 10000"/>
          </a:avLst>
        </a:prstGeom>
        <a:solidFill>
          <a:schemeClr val="accent3">
            <a:alpha val="90000"/>
            <a:tint val="40000"/>
            <a:hueOff val="0"/>
            <a:satOff val="0"/>
            <a:lumOff val="0"/>
            <a:alphaOff val="0"/>
          </a:schemeClr>
        </a:solidFill>
        <a:ln w="12700" cap="flat" cmpd="sng" algn="ctr">
          <a:solidFill>
            <a:schemeClr val="accent3">
              <a:hueOff val="0"/>
              <a:satOff val="0"/>
              <a:lumOff val="0"/>
              <a:alphaOff val="0"/>
            </a:schemeClr>
          </a:solidFill>
          <a:prstDash val="solid"/>
        </a:ln>
        <a:effectLst>
          <a:outerShdw blurRad="50800" dist="20000" dir="5400000" rotWithShape="0">
            <a:srgbClr val="000000">
              <a:alpha val="42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kern="1200" dirty="0"/>
            <a:t>Net Income</a:t>
          </a:r>
        </a:p>
      </dsp:txBody>
      <dsp:txXfrm>
        <a:off x="3097835" y="2506613"/>
        <a:ext cx="2206179" cy="1369813"/>
      </dsp:txXfrm>
    </dsp:sp>
    <dsp:sp modelId="{E218DA27-B74D-459A-BED1-D0157E7B8D74}">
      <dsp:nvSpPr>
        <dsp:cNvPr id="0" name=""/>
        <dsp:cNvSpPr/>
      </dsp:nvSpPr>
      <dsp:spPr>
        <a:xfrm>
          <a:off x="2800616" y="4343592"/>
          <a:ext cx="2291413" cy="1455047"/>
        </a:xfrm>
        <a:prstGeom prst="roundRect">
          <a:avLst>
            <a:gd name="adj" fmla="val 10000"/>
          </a:avLst>
        </a:prstGeom>
        <a:gradFill rotWithShape="0">
          <a:gsLst>
            <a:gs pos="0">
              <a:schemeClr val="lt1">
                <a:hueOff val="0"/>
                <a:satOff val="0"/>
                <a:lumOff val="0"/>
                <a:alphaOff val="0"/>
                <a:shade val="63000"/>
                <a:satMod val="165000"/>
              </a:schemeClr>
            </a:gs>
            <a:gs pos="30000">
              <a:schemeClr val="lt1">
                <a:hueOff val="0"/>
                <a:satOff val="0"/>
                <a:lumOff val="0"/>
                <a:alphaOff val="0"/>
                <a:shade val="58000"/>
                <a:satMod val="165000"/>
              </a:schemeClr>
            </a:gs>
            <a:gs pos="75000">
              <a:schemeClr val="lt1">
                <a:hueOff val="0"/>
                <a:satOff val="0"/>
                <a:lumOff val="0"/>
                <a:alphaOff val="0"/>
                <a:shade val="30000"/>
                <a:satMod val="175000"/>
              </a:schemeClr>
            </a:gs>
            <a:gs pos="100000">
              <a:schemeClr val="l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0701E47A-E56F-4635-8FC5-0CC1DEB435FE}">
      <dsp:nvSpPr>
        <dsp:cNvPr id="0" name=""/>
        <dsp:cNvSpPr/>
      </dsp:nvSpPr>
      <dsp:spPr>
        <a:xfrm>
          <a:off x="3055218" y="4585463"/>
          <a:ext cx="2291413" cy="1455047"/>
        </a:xfrm>
        <a:prstGeom prst="roundRect">
          <a:avLst>
            <a:gd name="adj" fmla="val 10000"/>
          </a:avLst>
        </a:prstGeom>
        <a:solidFill>
          <a:schemeClr val="accent3">
            <a:alpha val="90000"/>
            <a:tint val="40000"/>
            <a:hueOff val="0"/>
            <a:satOff val="0"/>
            <a:lumOff val="0"/>
            <a:alphaOff val="0"/>
          </a:schemeClr>
        </a:solidFill>
        <a:ln w="12700" cap="flat" cmpd="sng" algn="ctr">
          <a:solidFill>
            <a:schemeClr val="accent3">
              <a:hueOff val="0"/>
              <a:satOff val="0"/>
              <a:lumOff val="0"/>
              <a:alphaOff val="0"/>
            </a:schemeClr>
          </a:solidFill>
          <a:prstDash val="solid"/>
        </a:ln>
        <a:effectLst>
          <a:outerShdw blurRad="50800" dist="20000" dir="5400000" rotWithShape="0">
            <a:srgbClr val="000000">
              <a:alpha val="42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kern="1200" dirty="0" err="1"/>
            <a:t>Eq</a:t>
          </a:r>
          <a:r>
            <a:rPr lang="en-GB" sz="2500" kern="1200" dirty="0"/>
            <a:t>-Re-investment </a:t>
          </a:r>
        </a:p>
        <a:p>
          <a:pPr marL="0" lvl="0" indent="0" algn="ctr" defTabSz="1111250">
            <a:lnSpc>
              <a:spcPct val="90000"/>
            </a:lnSpc>
            <a:spcBef>
              <a:spcPct val="0"/>
            </a:spcBef>
            <a:spcAft>
              <a:spcPct val="35000"/>
            </a:spcAft>
            <a:buNone/>
          </a:pPr>
          <a:r>
            <a:rPr lang="en-GB" sz="2500" kern="1200" dirty="0"/>
            <a:t>Rate*ROE</a:t>
          </a:r>
        </a:p>
      </dsp:txBody>
      <dsp:txXfrm>
        <a:off x="3097835" y="4628080"/>
        <a:ext cx="2206179" cy="1369813"/>
      </dsp:txXfrm>
    </dsp:sp>
    <dsp:sp modelId="{12A35265-7CCF-4DF9-A542-94D117CDBAA9}">
      <dsp:nvSpPr>
        <dsp:cNvPr id="0" name=""/>
        <dsp:cNvSpPr/>
      </dsp:nvSpPr>
      <dsp:spPr>
        <a:xfrm>
          <a:off x="5601233" y="2222125"/>
          <a:ext cx="2291413" cy="1455047"/>
        </a:xfrm>
        <a:prstGeom prst="roundRect">
          <a:avLst>
            <a:gd name="adj" fmla="val 10000"/>
          </a:avLst>
        </a:prstGeom>
        <a:gradFill rotWithShape="0">
          <a:gsLst>
            <a:gs pos="0">
              <a:schemeClr val="lt1">
                <a:hueOff val="0"/>
                <a:satOff val="0"/>
                <a:lumOff val="0"/>
                <a:alphaOff val="0"/>
                <a:shade val="63000"/>
                <a:satMod val="165000"/>
              </a:schemeClr>
            </a:gs>
            <a:gs pos="30000">
              <a:schemeClr val="lt1">
                <a:hueOff val="0"/>
                <a:satOff val="0"/>
                <a:lumOff val="0"/>
                <a:alphaOff val="0"/>
                <a:shade val="58000"/>
                <a:satMod val="165000"/>
              </a:schemeClr>
            </a:gs>
            <a:gs pos="75000">
              <a:schemeClr val="lt1">
                <a:hueOff val="0"/>
                <a:satOff val="0"/>
                <a:lumOff val="0"/>
                <a:alphaOff val="0"/>
                <a:shade val="30000"/>
                <a:satMod val="175000"/>
              </a:schemeClr>
            </a:gs>
            <a:gs pos="100000">
              <a:schemeClr val="l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51C25F71-480D-46EE-B801-EED0EF6E6DEE}">
      <dsp:nvSpPr>
        <dsp:cNvPr id="0" name=""/>
        <dsp:cNvSpPr/>
      </dsp:nvSpPr>
      <dsp:spPr>
        <a:xfrm>
          <a:off x="5855834" y="2463996"/>
          <a:ext cx="2291413" cy="1455047"/>
        </a:xfrm>
        <a:prstGeom prst="roundRect">
          <a:avLst>
            <a:gd name="adj" fmla="val 10000"/>
          </a:avLst>
        </a:prstGeom>
        <a:solidFill>
          <a:schemeClr val="accent3">
            <a:alpha val="90000"/>
            <a:tint val="40000"/>
            <a:hueOff val="0"/>
            <a:satOff val="0"/>
            <a:lumOff val="0"/>
            <a:alphaOff val="0"/>
          </a:schemeClr>
        </a:solidFill>
        <a:ln w="12700" cap="flat" cmpd="sng" algn="ctr">
          <a:solidFill>
            <a:schemeClr val="accent3">
              <a:hueOff val="0"/>
              <a:satOff val="0"/>
              <a:lumOff val="0"/>
              <a:alphaOff val="0"/>
            </a:schemeClr>
          </a:solidFill>
          <a:prstDash val="solid"/>
        </a:ln>
        <a:effectLst>
          <a:outerShdw blurRad="50800" dist="20000" dir="5400000" rotWithShape="0">
            <a:srgbClr val="000000">
              <a:alpha val="42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kern="1200" dirty="0"/>
            <a:t>EBIT</a:t>
          </a:r>
        </a:p>
      </dsp:txBody>
      <dsp:txXfrm>
        <a:off x="5898451" y="2506613"/>
        <a:ext cx="2206179" cy="1369813"/>
      </dsp:txXfrm>
    </dsp:sp>
    <dsp:sp modelId="{A7B36EF6-0531-4D88-AD91-884F6FA7718E}">
      <dsp:nvSpPr>
        <dsp:cNvPr id="0" name=""/>
        <dsp:cNvSpPr/>
      </dsp:nvSpPr>
      <dsp:spPr>
        <a:xfrm>
          <a:off x="5601233" y="4343592"/>
          <a:ext cx="2291413" cy="1455047"/>
        </a:xfrm>
        <a:prstGeom prst="roundRect">
          <a:avLst>
            <a:gd name="adj" fmla="val 10000"/>
          </a:avLst>
        </a:prstGeom>
        <a:gradFill rotWithShape="0">
          <a:gsLst>
            <a:gs pos="0">
              <a:schemeClr val="lt1">
                <a:hueOff val="0"/>
                <a:satOff val="0"/>
                <a:lumOff val="0"/>
                <a:alphaOff val="0"/>
                <a:shade val="63000"/>
                <a:satMod val="165000"/>
              </a:schemeClr>
            </a:gs>
            <a:gs pos="30000">
              <a:schemeClr val="lt1">
                <a:hueOff val="0"/>
                <a:satOff val="0"/>
                <a:lumOff val="0"/>
                <a:alphaOff val="0"/>
                <a:shade val="58000"/>
                <a:satMod val="165000"/>
              </a:schemeClr>
            </a:gs>
            <a:gs pos="75000">
              <a:schemeClr val="lt1">
                <a:hueOff val="0"/>
                <a:satOff val="0"/>
                <a:lumOff val="0"/>
                <a:alphaOff val="0"/>
                <a:shade val="30000"/>
                <a:satMod val="175000"/>
              </a:schemeClr>
            </a:gs>
            <a:gs pos="100000">
              <a:schemeClr val="l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793AB332-C099-4DCD-8E34-D245DB6FEE42}">
      <dsp:nvSpPr>
        <dsp:cNvPr id="0" name=""/>
        <dsp:cNvSpPr/>
      </dsp:nvSpPr>
      <dsp:spPr>
        <a:xfrm>
          <a:off x="5855834" y="4585463"/>
          <a:ext cx="2291413" cy="1455047"/>
        </a:xfrm>
        <a:prstGeom prst="roundRect">
          <a:avLst>
            <a:gd name="adj" fmla="val 10000"/>
          </a:avLst>
        </a:prstGeom>
        <a:solidFill>
          <a:schemeClr val="accent3">
            <a:alpha val="90000"/>
            <a:tint val="40000"/>
            <a:hueOff val="0"/>
            <a:satOff val="0"/>
            <a:lumOff val="0"/>
            <a:alphaOff val="0"/>
          </a:schemeClr>
        </a:solidFill>
        <a:ln w="12700" cap="flat" cmpd="sng" algn="ctr">
          <a:solidFill>
            <a:schemeClr val="accent3">
              <a:hueOff val="0"/>
              <a:satOff val="0"/>
              <a:lumOff val="0"/>
              <a:alphaOff val="0"/>
            </a:schemeClr>
          </a:solidFill>
          <a:prstDash val="solid"/>
        </a:ln>
        <a:effectLst>
          <a:outerShdw blurRad="50800" dist="20000" dir="5400000" rotWithShape="0">
            <a:srgbClr val="000000">
              <a:alpha val="42000"/>
            </a:srgbClr>
          </a:outerShdw>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kern="1200" dirty="0"/>
            <a:t>Re-investment Rate*ROC</a:t>
          </a:r>
        </a:p>
      </dsp:txBody>
      <dsp:txXfrm>
        <a:off x="5898451" y="4628080"/>
        <a:ext cx="2206179" cy="1369813"/>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7CCBD7-75F1-446B-B155-522B7C1B15EF}">
      <dsp:nvSpPr>
        <dsp:cNvPr id="0" name=""/>
        <dsp:cNvSpPr/>
      </dsp:nvSpPr>
      <dsp:spPr>
        <a:xfrm>
          <a:off x="717884" y="1443107"/>
          <a:ext cx="969401" cy="9694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C49D5B0-91D8-4E77-97E6-5906E439BA7B}">
      <dsp:nvSpPr>
        <dsp:cNvPr id="0" name=""/>
        <dsp:cNvSpPr/>
      </dsp:nvSpPr>
      <dsp:spPr>
        <a:xfrm>
          <a:off x="125473" y="2710644"/>
          <a:ext cx="215422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GB" sz="2000" kern="1200"/>
            <a:t>Money Loosing Firm</a:t>
          </a:r>
          <a:endParaRPr lang="en-US" sz="2000" kern="1200"/>
        </a:p>
      </dsp:txBody>
      <dsp:txXfrm>
        <a:off x="125473" y="2710644"/>
        <a:ext cx="2154225" cy="720000"/>
      </dsp:txXfrm>
    </dsp:sp>
    <dsp:sp modelId="{AECB483A-73A1-48DE-AD90-50B4F44E6032}">
      <dsp:nvSpPr>
        <dsp:cNvPr id="0" name=""/>
        <dsp:cNvSpPr/>
      </dsp:nvSpPr>
      <dsp:spPr>
        <a:xfrm>
          <a:off x="3249099" y="1443107"/>
          <a:ext cx="969401" cy="9694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D2DFD80-C357-4ED8-8C7E-626F5AA57986}">
      <dsp:nvSpPr>
        <dsp:cNvPr id="0" name=""/>
        <dsp:cNvSpPr/>
      </dsp:nvSpPr>
      <dsp:spPr>
        <a:xfrm>
          <a:off x="2656687" y="2710644"/>
          <a:ext cx="215422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GB" sz="2000" kern="1200"/>
            <a:t>Example Operating Leases</a:t>
          </a:r>
          <a:endParaRPr lang="en-US" sz="2000" kern="1200"/>
        </a:p>
      </dsp:txBody>
      <dsp:txXfrm>
        <a:off x="2656687" y="2710644"/>
        <a:ext cx="2154225" cy="720000"/>
      </dsp:txXfrm>
    </dsp:sp>
    <dsp:sp modelId="{C2006855-F484-4627-A799-682EABB985F5}">
      <dsp:nvSpPr>
        <dsp:cNvPr id="0" name=""/>
        <dsp:cNvSpPr/>
      </dsp:nvSpPr>
      <dsp:spPr>
        <a:xfrm>
          <a:off x="5780313" y="1443107"/>
          <a:ext cx="969401" cy="9694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0BFE932-DFAA-468A-A4FB-BDEA0A387223}">
      <dsp:nvSpPr>
        <dsp:cNvPr id="0" name=""/>
        <dsp:cNvSpPr/>
      </dsp:nvSpPr>
      <dsp:spPr>
        <a:xfrm>
          <a:off x="5187901" y="2710644"/>
          <a:ext cx="215422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GB" sz="2000" kern="1200"/>
            <a:t>Example R&amp;D Capitalization </a:t>
          </a:r>
          <a:endParaRPr lang="en-US" sz="2000" kern="1200"/>
        </a:p>
      </dsp:txBody>
      <dsp:txXfrm>
        <a:off x="5187901" y="2710644"/>
        <a:ext cx="2154225" cy="720000"/>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F4150E-623D-482E-AFB2-AAE80EE888A9}">
      <dsp:nvSpPr>
        <dsp:cNvPr id="0" name=""/>
        <dsp:cNvSpPr/>
      </dsp:nvSpPr>
      <dsp:spPr>
        <a:xfrm>
          <a:off x="0" y="179644"/>
          <a:ext cx="8712968" cy="935414"/>
        </a:xfrm>
        <a:prstGeom prst="roundRect">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kern="1200" dirty="0"/>
            <a:t>Step 1: Estimate growth rates in revenues over time</a:t>
          </a:r>
          <a:endParaRPr lang="en-GB" sz="2400" kern="1200" dirty="0"/>
        </a:p>
      </dsp:txBody>
      <dsp:txXfrm>
        <a:off x="45663" y="225307"/>
        <a:ext cx="8621642" cy="844088"/>
      </dsp:txXfrm>
    </dsp:sp>
    <dsp:sp modelId="{8DAE57B5-B9BD-4464-B625-CE8CD6CA87E4}">
      <dsp:nvSpPr>
        <dsp:cNvPr id="0" name=""/>
        <dsp:cNvSpPr/>
      </dsp:nvSpPr>
      <dsp:spPr>
        <a:xfrm>
          <a:off x="0" y="1115059"/>
          <a:ext cx="8712968" cy="1242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6637" tIns="30480" rIns="170688" bIns="30480" numCol="1" spcCol="1270" anchor="t" anchorCtr="0">
          <a:noAutofit/>
        </a:bodyPr>
        <a:lstStyle/>
        <a:p>
          <a:pPr marL="171450" lvl="1" indent="-171450" algn="l" defTabSz="844550" rtl="0">
            <a:lnSpc>
              <a:spcPct val="90000"/>
            </a:lnSpc>
            <a:spcBef>
              <a:spcPct val="0"/>
            </a:spcBef>
            <a:spcAft>
              <a:spcPct val="20000"/>
            </a:spcAft>
            <a:buChar char="•"/>
          </a:pPr>
          <a:r>
            <a:rPr lang="en-US" sz="1900" kern="1200" dirty="0"/>
            <a:t>Use historical revenue growth to get estimates of revenue growth in the near future</a:t>
          </a:r>
          <a:endParaRPr lang="en-GB" sz="1900" kern="1200" dirty="0"/>
        </a:p>
        <a:p>
          <a:pPr marL="171450" lvl="1" indent="-171450" algn="l" defTabSz="844550" rtl="0">
            <a:lnSpc>
              <a:spcPct val="90000"/>
            </a:lnSpc>
            <a:spcBef>
              <a:spcPct val="0"/>
            </a:spcBef>
            <a:spcAft>
              <a:spcPct val="20000"/>
            </a:spcAft>
            <a:buChar char="•"/>
          </a:pPr>
          <a:r>
            <a:rPr lang="en-US" sz="1900" kern="1200"/>
            <a:t>Decrease the growth rate as the firm becomes larger</a:t>
          </a:r>
          <a:endParaRPr lang="en-GB" sz="1900" kern="1200"/>
        </a:p>
        <a:p>
          <a:pPr marL="171450" lvl="1" indent="-171450" algn="l" defTabSz="844550" rtl="0">
            <a:lnSpc>
              <a:spcPct val="90000"/>
            </a:lnSpc>
            <a:spcBef>
              <a:spcPct val="0"/>
            </a:spcBef>
            <a:spcAft>
              <a:spcPct val="20000"/>
            </a:spcAft>
            <a:buChar char="•"/>
          </a:pPr>
          <a:r>
            <a:rPr lang="en-US" sz="1900" kern="1200"/>
            <a:t>Keep track of absolute revenues to make sure that the growth is feasible</a:t>
          </a:r>
          <a:endParaRPr lang="en-GB" sz="1900" kern="1200"/>
        </a:p>
      </dsp:txBody>
      <dsp:txXfrm>
        <a:off x="0" y="1115059"/>
        <a:ext cx="8712968" cy="1242000"/>
      </dsp:txXfrm>
    </dsp:sp>
    <dsp:sp modelId="{998F4E6A-3923-4318-95F4-0657F72253DA}">
      <dsp:nvSpPr>
        <dsp:cNvPr id="0" name=""/>
        <dsp:cNvSpPr/>
      </dsp:nvSpPr>
      <dsp:spPr>
        <a:xfrm>
          <a:off x="0" y="2357059"/>
          <a:ext cx="8712968" cy="935414"/>
        </a:xfrm>
        <a:prstGeom prst="roundRect">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kern="1200" dirty="0"/>
            <a:t>Step 2: Estimate expected operating margins each year</a:t>
          </a:r>
          <a:endParaRPr lang="en-GB" sz="2400" kern="1200" dirty="0"/>
        </a:p>
      </dsp:txBody>
      <dsp:txXfrm>
        <a:off x="45663" y="2402722"/>
        <a:ext cx="8621642" cy="844088"/>
      </dsp:txXfrm>
    </dsp:sp>
    <dsp:sp modelId="{5E5A9B12-0AC0-422F-BB5F-459723DBEB34}">
      <dsp:nvSpPr>
        <dsp:cNvPr id="0" name=""/>
        <dsp:cNvSpPr/>
      </dsp:nvSpPr>
      <dsp:spPr>
        <a:xfrm>
          <a:off x="0" y="3292474"/>
          <a:ext cx="8712968" cy="645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6637" tIns="30480" rIns="170688" bIns="30480" numCol="1" spcCol="1270" anchor="t" anchorCtr="0">
          <a:noAutofit/>
        </a:bodyPr>
        <a:lstStyle/>
        <a:p>
          <a:pPr marL="171450" lvl="1" indent="-171450" algn="l" defTabSz="844550" rtl="0">
            <a:lnSpc>
              <a:spcPct val="90000"/>
            </a:lnSpc>
            <a:spcBef>
              <a:spcPct val="0"/>
            </a:spcBef>
            <a:spcAft>
              <a:spcPct val="20000"/>
            </a:spcAft>
            <a:buChar char="•"/>
          </a:pPr>
          <a:r>
            <a:rPr lang="en-US" sz="1900" kern="1200"/>
            <a:t>Set a target margin that the firm will move towards</a:t>
          </a:r>
          <a:endParaRPr lang="en-GB" sz="1900" kern="1200"/>
        </a:p>
        <a:p>
          <a:pPr marL="171450" lvl="1" indent="-171450" algn="l" defTabSz="844550" rtl="0">
            <a:lnSpc>
              <a:spcPct val="90000"/>
            </a:lnSpc>
            <a:spcBef>
              <a:spcPct val="0"/>
            </a:spcBef>
            <a:spcAft>
              <a:spcPct val="20000"/>
            </a:spcAft>
            <a:buChar char="•"/>
          </a:pPr>
          <a:r>
            <a:rPr lang="en-US" sz="1900" kern="1200"/>
            <a:t>Adjust the current margin towards the target margin</a:t>
          </a:r>
          <a:endParaRPr lang="en-GB" sz="1900" kern="1200"/>
        </a:p>
      </dsp:txBody>
      <dsp:txXfrm>
        <a:off x="0" y="3292474"/>
        <a:ext cx="8712968" cy="645840"/>
      </dsp:txXfrm>
    </dsp:sp>
    <dsp:sp modelId="{97F2A894-F0B0-4A2C-9C8C-52CDDA94D2C8}">
      <dsp:nvSpPr>
        <dsp:cNvPr id="0" name=""/>
        <dsp:cNvSpPr/>
      </dsp:nvSpPr>
      <dsp:spPr>
        <a:xfrm>
          <a:off x="0" y="3938314"/>
          <a:ext cx="8712968" cy="935414"/>
        </a:xfrm>
        <a:prstGeom prst="roundRect">
          <a:avLst/>
        </a:prstGeom>
        <a:gradFill rotWithShape="0">
          <a:gsLst>
            <a:gs pos="0">
              <a:schemeClr val="accent1">
                <a:hueOff val="0"/>
                <a:satOff val="0"/>
                <a:lumOff val="0"/>
                <a:alphaOff val="0"/>
                <a:shade val="63000"/>
                <a:satMod val="165000"/>
              </a:schemeClr>
            </a:gs>
            <a:gs pos="30000">
              <a:schemeClr val="accent1">
                <a:hueOff val="0"/>
                <a:satOff val="0"/>
                <a:lumOff val="0"/>
                <a:alphaOff val="0"/>
                <a:shade val="58000"/>
                <a:satMod val="165000"/>
              </a:schemeClr>
            </a:gs>
            <a:gs pos="75000">
              <a:schemeClr val="accent1">
                <a:hueOff val="0"/>
                <a:satOff val="0"/>
                <a:lumOff val="0"/>
                <a:alphaOff val="0"/>
                <a:shade val="30000"/>
                <a:satMod val="175000"/>
              </a:schemeClr>
            </a:gs>
            <a:gs pos="100000">
              <a:schemeClr val="accent1">
                <a:hueOff val="0"/>
                <a:satOff val="0"/>
                <a:lumOff val="0"/>
                <a:alphaOff val="0"/>
                <a:shade val="15000"/>
                <a:satMod val="175000"/>
              </a:schemeClr>
            </a:gs>
          </a:gsLst>
          <a:path path="circle">
            <a:fillToRect l="5000" t="100000" r="120000" b="10000"/>
          </a:path>
        </a:gradFill>
        <a:ln>
          <a:noFill/>
        </a:ln>
        <a:effectLst>
          <a:outerShdw blurRad="50800" dist="20000" dir="5400000" rotWithShape="0">
            <a:srgbClr val="000000">
              <a:alpha val="42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kern="1200" dirty="0"/>
            <a:t>Step 3: Estimate the capital that needs to be invested to generate revenue growth and expected margins</a:t>
          </a:r>
          <a:endParaRPr lang="en-GB" sz="2400" kern="1200" dirty="0"/>
        </a:p>
      </dsp:txBody>
      <dsp:txXfrm>
        <a:off x="45663" y="3983977"/>
        <a:ext cx="8621642" cy="844088"/>
      </dsp:txXfrm>
    </dsp:sp>
    <dsp:sp modelId="{96252132-9845-4E1D-BF7C-C6104D8561F6}">
      <dsp:nvSpPr>
        <dsp:cNvPr id="0" name=""/>
        <dsp:cNvSpPr/>
      </dsp:nvSpPr>
      <dsp:spPr>
        <a:xfrm>
          <a:off x="0" y="4873729"/>
          <a:ext cx="8712968" cy="5837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6637" tIns="30480" rIns="170688" bIns="30480" numCol="1" spcCol="1270" anchor="t" anchorCtr="0">
          <a:noAutofit/>
        </a:bodyPr>
        <a:lstStyle/>
        <a:p>
          <a:pPr marL="171450" lvl="1" indent="-171450" algn="l" defTabSz="844550" rtl="0">
            <a:lnSpc>
              <a:spcPct val="90000"/>
            </a:lnSpc>
            <a:spcBef>
              <a:spcPct val="0"/>
            </a:spcBef>
            <a:spcAft>
              <a:spcPct val="20000"/>
            </a:spcAft>
            <a:buChar char="•"/>
          </a:pPr>
          <a:r>
            <a:rPr lang="en-US" sz="1900" kern="1200"/>
            <a:t>Estimate a sales to capital ratio that you will use to generate reinvestment needs each year.</a:t>
          </a:r>
          <a:endParaRPr lang="en-GB" sz="1900" kern="1200"/>
        </a:p>
      </dsp:txBody>
      <dsp:txXfrm>
        <a:off x="0" y="4873729"/>
        <a:ext cx="8712968" cy="583740"/>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10.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1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1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0.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90.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1">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4">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A91B905-6FB6-479B-9D6F-96D795310F11}" type="datetimeFigureOut">
              <a:rPr lang="en-GB" smtClean="0"/>
              <a:t>28/09/2026</a:t>
            </a:fld>
            <a:endParaRPr lang="en-GB"/>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60B7E19-C9DB-43C0-88D1-0A7D44AF6311}" type="slidenum">
              <a:rPr lang="en-GB" smtClean="0"/>
              <a:t>‹Nº›</a:t>
            </a:fld>
            <a:endParaRPr lang="en-GB"/>
          </a:p>
        </p:txBody>
      </p:sp>
    </p:spTree>
    <p:extLst>
      <p:ext uri="{BB962C8B-B14F-4D97-AF65-F5344CB8AC3E}">
        <p14:creationId xmlns:p14="http://schemas.microsoft.com/office/powerpoint/2010/main" val="11506502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4C5B3757-540E-47BE-B79F-23D66DB919D8}" type="datetimeFigureOut">
              <a:rPr lang="en-GB"/>
              <a:pPr>
                <a:defRPr/>
              </a:pPr>
              <a:t>28/09/2026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7B2A8712-D9C4-4A57-8EFC-F418FF8F9E97}" type="slidenum">
              <a:rPr lang="en-GB"/>
              <a:pPr>
                <a:defRPr/>
              </a:pPr>
              <a:t>‹Nº›</a:t>
            </a:fld>
            <a:endParaRPr lang="en-GB"/>
          </a:p>
        </p:txBody>
      </p:sp>
    </p:spTree>
    <p:extLst>
      <p:ext uri="{BB962C8B-B14F-4D97-AF65-F5344CB8AC3E}">
        <p14:creationId xmlns:p14="http://schemas.microsoft.com/office/powerpoint/2010/main" val="370445861"/>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www.nasdaq.com/earnings/report/bp#ixzz40tTDKaQA"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people.stern.nyu.edu/adamodar/New_Home_Page/articles/analystgrowth.htm" TargetMode="External"/><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9318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Tree>
    <p:extLst>
      <p:ext uri="{BB962C8B-B14F-4D97-AF65-F5344CB8AC3E}">
        <p14:creationId xmlns:p14="http://schemas.microsoft.com/office/powerpoint/2010/main" val="12636739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Tree>
    <p:extLst>
      <p:ext uri="{BB962C8B-B14F-4D97-AF65-F5344CB8AC3E}">
        <p14:creationId xmlns:p14="http://schemas.microsoft.com/office/powerpoint/2010/main" val="13254716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Rectangle 2"/>
          <p:cNvSpPr>
            <a:spLocks noGrp="1" noRot="1" noChangeAspect="1" noChangeArrowheads="1" noTextEdit="1"/>
          </p:cNvSpPr>
          <p:nvPr>
            <p:ph type="sldImg"/>
          </p:nvPr>
        </p:nvSpPr>
        <p:spPr>
          <a:xfrm>
            <a:off x="3243263" y="514350"/>
            <a:ext cx="3386137" cy="2540000"/>
          </a:xfrm>
          <a:ln/>
        </p:spPr>
      </p:sp>
      <p:sp>
        <p:nvSpPr>
          <p:cNvPr id="378883" name="Rectangle 3"/>
          <p:cNvSpPr>
            <a:spLocks noGrp="1" noChangeArrowheads="1"/>
          </p:cNvSpPr>
          <p:nvPr>
            <p:ph type="body" idx="1"/>
          </p:nvPr>
        </p:nvSpPr>
        <p:spPr/>
        <p:txBody>
          <a:bodyPr/>
          <a:lstStyle/>
          <a:p>
            <a:r>
              <a:rPr lang="en-US"/>
              <a:t>The process is not always sequential. It may seem irrational to pick the DCF model after you have estimated the inputs, but you have to get a sense of the cash flows and growth potential before you pick a model.</a:t>
            </a:r>
          </a:p>
        </p:txBody>
      </p:sp>
    </p:spTree>
    <p:extLst>
      <p:ext uri="{BB962C8B-B14F-4D97-AF65-F5344CB8AC3E}">
        <p14:creationId xmlns:p14="http://schemas.microsoft.com/office/powerpoint/2010/main" val="17746321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9523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Sets up the process. Much as we do not trust accounting statements, that is where we go for the information. Accounting earnings are not cash flows. </a:t>
            </a:r>
          </a:p>
          <a:p>
            <a:pPr eaLnBrk="1" hangingPunct="1">
              <a:spcBef>
                <a:spcPct val="0"/>
              </a:spcBef>
            </a:pPr>
            <a:r>
              <a:rPr lang="en-US" dirty="0"/>
              <a:t>We do not draw a distinction between discretionary and required capital expenditures. Once you introduce growth in earnings, the distinction becomes largely symbolic. </a:t>
            </a:r>
          </a:p>
          <a:p>
            <a:pPr eaLnBrk="1" hangingPunct="1">
              <a:spcBef>
                <a:spcPct val="0"/>
              </a:spcBef>
            </a:pPr>
            <a:r>
              <a:rPr lang="en-US" dirty="0"/>
              <a:t>Draws a distinction between </a:t>
            </a:r>
            <a:r>
              <a:rPr lang="en-US" dirty="0" err="1"/>
              <a:t>cashflows</a:t>
            </a:r>
            <a:r>
              <a:rPr lang="en-US" dirty="0"/>
              <a:t> to equity and the firm again.</a:t>
            </a:r>
          </a:p>
        </p:txBody>
      </p:sp>
    </p:spTree>
    <p:extLst>
      <p:ext uri="{BB962C8B-B14F-4D97-AF65-F5344CB8AC3E}">
        <p14:creationId xmlns:p14="http://schemas.microsoft.com/office/powerpoint/2010/main" val="42760773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9625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Lays out the three definitions of </a:t>
            </a:r>
            <a:r>
              <a:rPr lang="en-US" dirty="0" err="1"/>
              <a:t>cashflows</a:t>
            </a:r>
            <a:r>
              <a:rPr lang="en-US" dirty="0"/>
              <a:t>. The strictest measure is the dividend measure. (In fact, there are some who do not count stock buybacks.) The more expansive equity measure is the free </a:t>
            </a:r>
            <a:r>
              <a:rPr lang="en-US" dirty="0" err="1"/>
              <a:t>cashflow</a:t>
            </a:r>
            <a:r>
              <a:rPr lang="en-US" dirty="0"/>
              <a:t> to equity, which you can think off as potential dividends. The free </a:t>
            </a:r>
            <a:r>
              <a:rPr lang="en-US" dirty="0" err="1"/>
              <a:t>cashflow</a:t>
            </a:r>
            <a:r>
              <a:rPr lang="en-US" dirty="0"/>
              <a:t> to the firm is the cash available for all claimholders in the firm - it is before </a:t>
            </a:r>
            <a:r>
              <a:rPr lang="en-US" dirty="0" err="1"/>
              <a:t>cashflows</a:t>
            </a:r>
            <a:r>
              <a:rPr lang="en-US" dirty="0"/>
              <a:t> to any of the claimholders in the firm - debt or equity. </a:t>
            </a:r>
          </a:p>
          <a:p>
            <a:pPr eaLnBrk="1" hangingPunct="1">
              <a:spcBef>
                <a:spcPct val="0"/>
              </a:spcBef>
            </a:pPr>
            <a:endParaRPr lang="en-US" dirty="0"/>
          </a:p>
          <a:p>
            <a:pPr eaLnBrk="1" hangingPunct="1">
              <a:spcBef>
                <a:spcPct val="0"/>
              </a:spcBef>
            </a:pPr>
            <a:r>
              <a:rPr lang="en-US" dirty="0"/>
              <a:t>How to calculate Cash</a:t>
            </a:r>
            <a:r>
              <a:rPr lang="en-US" baseline="0" dirty="0"/>
              <a:t> flows. An example</a:t>
            </a:r>
          </a:p>
          <a:p>
            <a:pPr eaLnBrk="1" hangingPunct="1">
              <a:spcBef>
                <a:spcPct val="0"/>
              </a:spcBef>
            </a:pPr>
            <a:endParaRPr lang="en-US" baseline="0" dirty="0"/>
          </a:p>
          <a:p>
            <a:pPr eaLnBrk="1" hangingPunct="1">
              <a:spcBef>
                <a:spcPct val="0"/>
              </a:spcBef>
            </a:pPr>
            <a:r>
              <a:rPr lang="en-US" dirty="0"/>
              <a:t>http://www.wikihow.com/Calculate-Free-Cash-Flow-to-Equity</a:t>
            </a:r>
          </a:p>
          <a:p>
            <a:pPr eaLnBrk="1" hangingPunct="1">
              <a:spcBef>
                <a:spcPct val="0"/>
              </a:spcBef>
            </a:pPr>
            <a:endParaRPr lang="en-US" dirty="0"/>
          </a:p>
          <a:p>
            <a:pPr eaLnBrk="1" hangingPunct="1">
              <a:spcBef>
                <a:spcPct val="0"/>
              </a:spcBef>
            </a:pPr>
            <a:endParaRPr lang="en-US" dirty="0"/>
          </a:p>
          <a:p>
            <a:pPr eaLnBrk="1" hangingPunct="1">
              <a:spcBef>
                <a:spcPct val="0"/>
              </a:spcBef>
            </a:pPr>
            <a:endParaRPr lang="en-US" dirty="0"/>
          </a:p>
          <a:p>
            <a:pPr eaLnBrk="1" hangingPunct="1">
              <a:spcBef>
                <a:spcPct val="0"/>
              </a:spcBef>
            </a:pPr>
            <a:r>
              <a:rPr lang="en-US" dirty="0"/>
              <a:t>And a nice poem inspired by cash flows</a:t>
            </a:r>
          </a:p>
          <a:p>
            <a:pPr eaLnBrk="1" hangingPunct="1">
              <a:spcBef>
                <a:spcPct val="0"/>
              </a:spcBef>
            </a:pPr>
            <a:endParaRPr lang="en-US" dirty="0"/>
          </a:p>
          <a:p>
            <a:pPr eaLnBrk="1" hangingPunct="1">
              <a:spcBef>
                <a:spcPct val="0"/>
              </a:spcBef>
            </a:pPr>
            <a:r>
              <a:rPr lang="en-US" dirty="0"/>
              <a:t>http://www.irdu.nus.edu.sg/~edward/pages1/cashflow.html</a:t>
            </a:r>
          </a:p>
        </p:txBody>
      </p:sp>
    </p:spTree>
    <p:extLst>
      <p:ext uri="{BB962C8B-B14F-4D97-AF65-F5344CB8AC3E}">
        <p14:creationId xmlns:p14="http://schemas.microsoft.com/office/powerpoint/2010/main" val="10349216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9830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marL="228600" indent="-228600" eaLnBrk="1" hangingPunct="1">
              <a:spcBef>
                <a:spcPct val="0"/>
              </a:spcBef>
            </a:pPr>
            <a:r>
              <a:rPr lang="en-US" dirty="0"/>
              <a:t>Very seldom can you use the reported earnings in the annual report in valuation. This lays out the three adjustments that you usually have to make before you start doing valuation:</a:t>
            </a:r>
          </a:p>
          <a:p>
            <a:pPr marL="228600" indent="-228600" eaLnBrk="1" hangingPunct="1">
              <a:spcBef>
                <a:spcPct val="0"/>
              </a:spcBef>
              <a:buFontTx/>
              <a:buAutoNum type="arabicPeriod"/>
            </a:pPr>
            <a:r>
              <a:rPr lang="en-US" dirty="0"/>
              <a:t>You might need to update the accounting information for most recent reports that have come from the firm or other sources.</a:t>
            </a:r>
          </a:p>
          <a:p>
            <a:pPr marL="228600" indent="-228600" eaLnBrk="1" hangingPunct="1">
              <a:spcBef>
                <a:spcPct val="0"/>
              </a:spcBef>
              <a:buFontTx/>
              <a:buAutoNum type="arabicPeriod"/>
            </a:pPr>
            <a:r>
              <a:rPr lang="en-US" dirty="0"/>
              <a:t>If you have a cyclical or commodity firm, you have to adjust the earnings for where in the cycle (of the economy, for a cyclical firm, or for the commodity price, for a commodity firm) you are currently.</a:t>
            </a:r>
          </a:p>
          <a:p>
            <a:pPr marL="228600" indent="-228600" eaLnBrk="1" hangingPunct="1">
              <a:spcBef>
                <a:spcPct val="0"/>
              </a:spcBef>
              <a:buFontTx/>
              <a:buAutoNum type="arabicPeriod"/>
            </a:pPr>
            <a:r>
              <a:rPr lang="en-US" dirty="0"/>
              <a:t>You have to clean up for obvious shortcomings in accounting rules. </a:t>
            </a:r>
          </a:p>
          <a:p>
            <a:pPr marL="228600" indent="-228600" eaLnBrk="1" hangingPunct="1">
              <a:spcBef>
                <a:spcPct val="0"/>
              </a:spcBef>
              <a:buFontTx/>
              <a:buAutoNum type="arabicPeriod"/>
            </a:pPr>
            <a:endParaRPr lang="en-US" dirty="0"/>
          </a:p>
        </p:txBody>
      </p:sp>
    </p:spTree>
    <p:extLst>
      <p:ext uri="{BB962C8B-B14F-4D97-AF65-F5344CB8AC3E}">
        <p14:creationId xmlns:p14="http://schemas.microsoft.com/office/powerpoint/2010/main" val="3549105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9933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For larger and more mature firms, you can get away with using the most recent annual report. The younger the firm and the more tumultuous the times (the economy entering a recession, for instance), the more you have to worry about using dated information.</a:t>
            </a:r>
          </a:p>
          <a:p>
            <a:pPr eaLnBrk="1" hangingPunct="1">
              <a:spcBef>
                <a:spcPct val="0"/>
              </a:spcBef>
            </a:pPr>
            <a:r>
              <a:rPr lang="en-US"/>
              <a:t>Your objective in valuation is simple. You want to use the most recent information you can get for every input, even if it means that your inputs are observed at different points in time - the market values may be from today and the accounting information from the most recent quarterly report.</a:t>
            </a:r>
          </a:p>
        </p:txBody>
      </p:sp>
    </p:spTree>
    <p:extLst>
      <p:ext uri="{BB962C8B-B14F-4D97-AF65-F5344CB8AC3E}">
        <p14:creationId xmlns:p14="http://schemas.microsoft.com/office/powerpoint/2010/main" val="29800478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a:t>The information was</a:t>
            </a:r>
            <a:r>
              <a:rPr lang="en-GB" baseline="0" dirty="0"/>
              <a:t> retrieved directly from NASDAQ.</a:t>
            </a:r>
          </a:p>
          <a:p>
            <a:endParaRPr lang="en-GB" baseline="0" dirty="0"/>
          </a:p>
          <a:p>
            <a:endParaRPr lang="en-GB" dirty="0"/>
          </a:p>
          <a:p>
            <a:r>
              <a:rPr lang="en-GB" dirty="0"/>
              <a:t>https://www.macrotrends.net/stocks/charts/DIS/disney/eps-earnings-per-share-diluted</a:t>
            </a:r>
          </a:p>
          <a:p>
            <a:endParaRPr lang="en-GB" dirty="0"/>
          </a:p>
          <a:p>
            <a:endParaRPr lang="en-GB" dirty="0"/>
          </a:p>
          <a:p>
            <a:r>
              <a:rPr lang="en-GB" dirty="0"/>
              <a:t>The last reported annual earnings</a:t>
            </a:r>
            <a:r>
              <a:rPr lang="en-GB" baseline="0" dirty="0"/>
              <a:t> (October 2024) were $2.72 per share. This is a particularly challenging period for Disney. But it seems to be doing particularly well lately. The Q2 EPS (2.92)  and Q1(1.81) is significantly higher than the last annual, as well as from the last year’s Q2 (1.43) and Q1(-0.01). There for this year we do expect a significantly higher EPS. At least equal to trailing earnings</a:t>
            </a:r>
          </a:p>
          <a:p>
            <a:endParaRPr lang="en-GB" baseline="0" dirty="0"/>
          </a:p>
          <a:p>
            <a:r>
              <a:rPr lang="en-GB" baseline="0" dirty="0"/>
              <a:t>With Q2: 2.92+2.72-1.43=3.21</a:t>
            </a:r>
          </a:p>
          <a:p>
            <a:r>
              <a:rPr lang="en-GB" baseline="0" dirty="0"/>
              <a:t>With Q1: 1.81+2.72-(-0.01)=4.54</a:t>
            </a:r>
          </a:p>
          <a:p>
            <a:endParaRPr lang="en-GB" baseline="0" dirty="0"/>
          </a:p>
          <a:p>
            <a:r>
              <a:rPr lang="en-GB" dirty="0"/>
              <a:t>Instead Q1 or June, you can use the most important. For example for APPL that would be </a:t>
            </a:r>
            <a:r>
              <a:rPr lang="en-GB" dirty="0" err="1"/>
              <a:t>X’mas</a:t>
            </a:r>
            <a:r>
              <a:rPr lang="en-GB" dirty="0"/>
              <a:t>.</a:t>
            </a:r>
          </a:p>
        </p:txBody>
      </p:sp>
      <p:sp>
        <p:nvSpPr>
          <p:cNvPr id="4" name="Slide Number Placeholder 3"/>
          <p:cNvSpPr>
            <a:spLocks noGrp="1"/>
          </p:cNvSpPr>
          <p:nvPr>
            <p:ph type="sldNum" sz="quarter" idx="10"/>
          </p:nvPr>
        </p:nvSpPr>
        <p:spPr/>
        <p:txBody>
          <a:bodyPr/>
          <a:lstStyle/>
          <a:p>
            <a:pPr>
              <a:defRPr/>
            </a:pPr>
            <a:fld id="{7B2A8712-D9C4-4A57-8EFC-F418FF8F9E97}" type="slidenum">
              <a:rPr lang="en-GB" smtClean="0"/>
              <a:pPr>
                <a:defRPr/>
              </a:pPr>
              <a:t>10</a:t>
            </a:fld>
            <a:endParaRPr lang="en-GB"/>
          </a:p>
        </p:txBody>
      </p:sp>
    </p:spTree>
    <p:extLst>
      <p:ext uri="{BB962C8B-B14F-4D97-AF65-F5344CB8AC3E}">
        <p14:creationId xmlns:p14="http://schemas.microsoft.com/office/powerpoint/2010/main" val="3077135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final decision is up to you and depends on your view of the company. </a:t>
            </a:r>
          </a:p>
          <a:p>
            <a:endParaRPr lang="en-GB" dirty="0"/>
          </a:p>
          <a:p>
            <a:r>
              <a:rPr lang="en-GB" dirty="0"/>
              <a:t>My view is that Disney, after some challenging years seems to be doing particularly well and earnings seem to be growing exponentially. Maybe back to the long term (pre-2020) trend. So the 4.54 might not be that unrealistic. I would go with that.</a:t>
            </a:r>
          </a:p>
        </p:txBody>
      </p:sp>
      <p:sp>
        <p:nvSpPr>
          <p:cNvPr id="4" name="Slide Number Placeholder 3"/>
          <p:cNvSpPr>
            <a:spLocks noGrp="1"/>
          </p:cNvSpPr>
          <p:nvPr>
            <p:ph type="sldNum" sz="quarter" idx="10"/>
          </p:nvPr>
        </p:nvSpPr>
        <p:spPr/>
        <p:txBody>
          <a:bodyPr/>
          <a:lstStyle/>
          <a:p>
            <a:pPr>
              <a:defRPr/>
            </a:pPr>
            <a:fld id="{7B2A8712-D9C4-4A57-8EFC-F418FF8F9E97}" type="slidenum">
              <a:rPr lang="en-GB" smtClean="0"/>
              <a:pPr>
                <a:defRPr/>
              </a:pPr>
              <a:t>11</a:t>
            </a:fld>
            <a:endParaRPr lang="en-GB"/>
          </a:p>
        </p:txBody>
      </p:sp>
    </p:spTree>
    <p:extLst>
      <p:ext uri="{BB962C8B-B14F-4D97-AF65-F5344CB8AC3E}">
        <p14:creationId xmlns:p14="http://schemas.microsoft.com/office/powerpoint/2010/main" val="14127779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0957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If it is truly a one-time change, you should use a profit of $ 500 million.</a:t>
            </a:r>
          </a:p>
          <a:p>
            <a:pPr eaLnBrk="1" hangingPunct="1">
              <a:spcBef>
                <a:spcPct val="0"/>
              </a:spcBef>
            </a:pPr>
            <a:r>
              <a:rPr lang="en-US" dirty="0"/>
              <a:t>If the firm is playing games (consolidating expenses and reporting them as one-time charges every five years), you should take the average annual expense of $ 200 million  (1/5 of $ 1 billion) and estimate a profit of $ 300 million.</a:t>
            </a:r>
          </a:p>
          <a:p>
            <a:pPr eaLnBrk="1" hangingPunct="1">
              <a:spcBef>
                <a:spcPct val="0"/>
              </a:spcBef>
            </a:pPr>
            <a:r>
              <a:rPr lang="en-US" dirty="0"/>
              <a:t>Don’t take company characterizations of non-recurring charges at face value. Look at the firm’s history.</a:t>
            </a:r>
          </a:p>
          <a:p>
            <a:pPr eaLnBrk="1" hangingPunct="1">
              <a:spcBef>
                <a:spcPct val="0"/>
              </a:spcBef>
            </a:pPr>
            <a:endParaRPr lang="en-US" dirty="0"/>
          </a:p>
          <a:p>
            <a:pPr eaLnBrk="1" hangingPunct="1">
              <a:spcBef>
                <a:spcPct val="0"/>
              </a:spcBef>
            </a:pPr>
            <a:r>
              <a:rPr lang="en-US" dirty="0"/>
              <a:t>Some worrying signs in</a:t>
            </a:r>
            <a:r>
              <a:rPr lang="en-US" baseline="0" dirty="0"/>
              <a:t> the financial statements p.248 in the book</a:t>
            </a:r>
          </a:p>
          <a:p>
            <a:pPr eaLnBrk="1" hangingPunct="1">
              <a:spcBef>
                <a:spcPct val="0"/>
              </a:spcBef>
            </a:pPr>
            <a:endParaRPr lang="en-US" baseline="0" dirty="0"/>
          </a:p>
          <a:p>
            <a:pPr eaLnBrk="1" hangingPunct="1">
              <a:spcBef>
                <a:spcPct val="0"/>
              </a:spcBef>
            </a:pPr>
            <a:endParaRPr lang="en-US" dirty="0"/>
          </a:p>
        </p:txBody>
      </p:sp>
    </p:spTree>
    <p:extLst>
      <p:ext uri="{BB962C8B-B14F-4D97-AF65-F5344CB8AC3E}">
        <p14:creationId xmlns:p14="http://schemas.microsoft.com/office/powerpoint/2010/main" val="25587289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Is it really?</a:t>
            </a:r>
          </a:p>
          <a:p>
            <a:endParaRPr lang="en-GB" baseline="0" dirty="0"/>
          </a:p>
          <a:p>
            <a:r>
              <a:rPr lang="en-GB" baseline="0" dirty="0"/>
              <a:t>Some more data from Nasdaq reveal that the surprise in eps is really high. </a:t>
            </a:r>
            <a:r>
              <a:rPr lang="en-GB" sz="1200" u="none" strike="noStrike" kern="1200" dirty="0">
                <a:solidFill>
                  <a:schemeClr val="tx1"/>
                </a:solidFill>
                <a:effectLst/>
                <a:latin typeface="+mn-lt"/>
                <a:ea typeface="+mn-ea"/>
                <a:cs typeface="+mn-cs"/>
              </a:rPr>
              <a:t>Read more: </a:t>
            </a:r>
            <a:r>
              <a:rPr lang="en-GB" sz="1200" u="none" strike="noStrike" kern="1200" dirty="0">
                <a:solidFill>
                  <a:schemeClr val="tx1"/>
                </a:solidFill>
                <a:effectLst/>
                <a:latin typeface="+mn-lt"/>
                <a:ea typeface="+mn-ea"/>
                <a:cs typeface="+mn-cs"/>
                <a:hlinkClick r:id="rId3"/>
              </a:rPr>
              <a:t>http://www.nasdaq.com/earnings/report/bp#ixzz40tTDKaQA</a:t>
            </a:r>
            <a:br>
              <a:rPr lang="en-GB" sz="1200" u="none" strike="noStrike" kern="1200" dirty="0">
                <a:solidFill>
                  <a:schemeClr val="tx1"/>
                </a:solidFill>
                <a:effectLst/>
                <a:latin typeface="+mn-lt"/>
                <a:ea typeface="+mn-ea"/>
                <a:cs typeface="+mn-cs"/>
              </a:rPr>
            </a:br>
            <a:endParaRPr lang="en-GB" sz="1200" u="none" strike="noStrike" kern="1200" dirty="0">
              <a:solidFill>
                <a:schemeClr val="tx1"/>
              </a:solidFill>
              <a:effectLst/>
              <a:latin typeface="+mn-lt"/>
              <a:ea typeface="+mn-ea"/>
              <a:cs typeface="+mn-cs"/>
            </a:endParaRPr>
          </a:p>
          <a:p>
            <a:endParaRPr lang="en-GB" baseline="0" dirty="0"/>
          </a:p>
          <a:p>
            <a:endParaRPr lang="en-GB" baseline="0" dirty="0"/>
          </a:p>
        </p:txBody>
      </p:sp>
      <p:sp>
        <p:nvSpPr>
          <p:cNvPr id="4" name="Slide Number Placeholder 3"/>
          <p:cNvSpPr>
            <a:spLocks noGrp="1"/>
          </p:cNvSpPr>
          <p:nvPr>
            <p:ph type="sldNum" sz="quarter" idx="10"/>
          </p:nvPr>
        </p:nvSpPr>
        <p:spPr/>
        <p:txBody>
          <a:bodyPr/>
          <a:lstStyle/>
          <a:p>
            <a:pPr>
              <a:defRPr/>
            </a:pPr>
            <a:fld id="{7B2A8712-D9C4-4A57-8EFC-F418FF8F9E97}" type="slidenum">
              <a:rPr lang="en-GB" smtClean="0"/>
              <a:pPr>
                <a:defRPr/>
              </a:pPr>
              <a:t>17</a:t>
            </a:fld>
            <a:endParaRPr lang="en-GB"/>
          </a:p>
        </p:txBody>
      </p:sp>
    </p:spTree>
    <p:extLst>
      <p:ext uri="{BB962C8B-B14F-4D97-AF65-F5344CB8AC3E}">
        <p14:creationId xmlns:p14="http://schemas.microsoft.com/office/powerpoint/2010/main" val="37946931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dirty="0"/>
              <a:t>To decide what to do when you firm is losing money, you first have to diagnose the problem. If the problem is transitory (a short recession, a loss caused by a strike), you can normalize earnings </a:t>
            </a:r>
            <a:r>
              <a:rPr lang="en-US" dirty="0" err="1"/>
              <a:t>instaneously</a:t>
            </a:r>
            <a:r>
              <a:rPr lang="en-US" dirty="0"/>
              <a:t> and use the normalized earnings in valuation</a:t>
            </a:r>
            <a:r>
              <a:rPr lang="en-US" baseline="0" dirty="0"/>
              <a:t> (Note that this might have already been done in the databases you use. Both Bloomberg and EIKON report both the raw data and the normalized data).</a:t>
            </a:r>
            <a:endParaRPr lang="en-US" dirty="0"/>
          </a:p>
          <a:p>
            <a:pPr eaLnBrk="1" hangingPunct="1">
              <a:spcBef>
                <a:spcPct val="0"/>
              </a:spcBef>
            </a:pPr>
            <a:endParaRPr lang="en-US" dirty="0"/>
          </a:p>
          <a:p>
            <a:pPr marL="171450" indent="-171450" eaLnBrk="1" hangingPunct="1">
              <a:spcBef>
                <a:spcPct val="0"/>
              </a:spcBef>
              <a:buFont typeface="Arial" pitchFamily="34" charset="0"/>
              <a:buChar char="•"/>
            </a:pPr>
            <a:r>
              <a:rPr lang="en-US" dirty="0"/>
              <a:t>In a stable mature</a:t>
            </a:r>
            <a:r>
              <a:rPr lang="en-US" baseline="0" dirty="0"/>
              <a:t> firm like Microsoft or BP, which have experienced on off negative earnings, we have reasons to believe that this will not be observed again, at least not to this extend. Therefore, we can either forecast (e.g., </a:t>
            </a:r>
            <a:r>
              <a:rPr lang="en-US" baseline="0" dirty="0" err="1"/>
              <a:t>trendline</a:t>
            </a:r>
            <a:r>
              <a:rPr lang="en-US" baseline="0" dirty="0"/>
              <a:t>) or take the average figure for earnings. This will be our measurement of earnings, which we expect to evolve.</a:t>
            </a:r>
          </a:p>
          <a:p>
            <a:pPr marL="171450" indent="-171450" eaLnBrk="1" hangingPunct="1">
              <a:spcBef>
                <a:spcPct val="0"/>
              </a:spcBef>
              <a:buFont typeface="Arial" pitchFamily="34" charset="0"/>
              <a:buChar char="•"/>
            </a:pPr>
            <a:r>
              <a:rPr lang="en-US" baseline="0" dirty="0"/>
              <a:t>In contrast, when the firm is on a developing stage, like high growth (wine distribution in China), or shrinking business (</a:t>
            </a:r>
            <a:r>
              <a:rPr lang="en-US" baseline="0" dirty="0" err="1"/>
              <a:t>Ipod</a:t>
            </a:r>
            <a:r>
              <a:rPr lang="en-US" baseline="0" dirty="0"/>
              <a:t>), then it would be better to identify a representative ROE or ROC ratio (this could be the average or the expected) and estimate earnings based on this. For example if </a:t>
            </a:r>
            <a:r>
              <a:rPr lang="en-US" baseline="0" dirty="0" err="1"/>
              <a:t>BVequity</a:t>
            </a:r>
            <a:r>
              <a:rPr lang="en-US" baseline="0" dirty="0"/>
              <a:t> is 100, ROE=10% and current EPS is -50, we can use an estimate of 10. This will be the base which we expect to evolve over time.</a:t>
            </a:r>
          </a:p>
          <a:p>
            <a:pPr eaLnBrk="1" hangingPunct="1">
              <a:spcBef>
                <a:spcPct val="0"/>
              </a:spcBef>
            </a:pPr>
            <a:endParaRPr lang="en-US" dirty="0"/>
          </a:p>
          <a:p>
            <a:pPr eaLnBrk="1" hangingPunct="1">
              <a:spcBef>
                <a:spcPct val="0"/>
              </a:spcBef>
            </a:pPr>
            <a:endParaRPr lang="en-US" dirty="0"/>
          </a:p>
          <a:p>
            <a:pPr eaLnBrk="1" hangingPunct="1">
              <a:spcBef>
                <a:spcPct val="0"/>
              </a:spcBef>
            </a:pPr>
            <a:r>
              <a:rPr lang="en-US" dirty="0"/>
              <a:t>If it is long term, you have to first figure out what the long term problem is. </a:t>
            </a:r>
          </a:p>
          <a:p>
            <a:pPr eaLnBrk="1" hangingPunct="1">
              <a:spcBef>
                <a:spcPct val="0"/>
              </a:spcBef>
            </a:pPr>
            <a:endParaRPr lang="en-US" dirty="0"/>
          </a:p>
          <a:p>
            <a:pPr marL="171450" indent="-171450" eaLnBrk="1" hangingPunct="1">
              <a:spcBef>
                <a:spcPct val="0"/>
              </a:spcBef>
              <a:buFont typeface="Arial" pitchFamily="34" charset="0"/>
              <a:buChar char="•"/>
            </a:pPr>
            <a:r>
              <a:rPr lang="en-US" dirty="0"/>
              <a:t>If it is financial - the firm has too much debt - you have to consider whether the firm can pay down its debt and survive. If you believe it can, lower the debt ratio each year and compute a cost of capital. </a:t>
            </a:r>
          </a:p>
          <a:p>
            <a:pPr marL="171450" indent="-171450" eaLnBrk="1" hangingPunct="1">
              <a:spcBef>
                <a:spcPct val="0"/>
              </a:spcBef>
              <a:buFont typeface="Arial" pitchFamily="34" charset="0"/>
              <a:buChar char="•"/>
            </a:pPr>
            <a:r>
              <a:rPr lang="en-US" dirty="0"/>
              <a:t>If it is operating or strategic - you have to work out what it will cost the firm to fix these problems- and build the expected improvement in margins over time. </a:t>
            </a:r>
          </a:p>
          <a:p>
            <a:pPr marL="171450" indent="-171450" eaLnBrk="1" hangingPunct="1">
              <a:spcBef>
                <a:spcPct val="0"/>
              </a:spcBef>
              <a:buFont typeface="Arial" pitchFamily="34" charset="0"/>
              <a:buChar char="•"/>
            </a:pPr>
            <a:r>
              <a:rPr lang="en-US" dirty="0"/>
              <a:t>If it is life cycle related - the firm is in early stage of its life cycle and it is normal to lose money at that stage - you have to build in the expectations of the improvements that will occur as the firm moves up the life cycle (with a healthy dose of skepticism about whether the firm will make it).</a:t>
            </a:r>
          </a:p>
          <a:p>
            <a:pPr marL="171450" indent="-171450" eaLnBrk="1" hangingPunct="1">
              <a:spcBef>
                <a:spcPct val="0"/>
              </a:spcBef>
              <a:buFont typeface="Arial" pitchFamily="34" charset="0"/>
              <a:buChar char="•"/>
            </a:pPr>
            <a:endParaRPr lang="en-US" dirty="0"/>
          </a:p>
          <a:p>
            <a:pPr marL="171450" indent="-171450" eaLnBrk="1" hangingPunct="1">
              <a:spcBef>
                <a:spcPct val="0"/>
              </a:spcBef>
              <a:buFont typeface="Arial" pitchFamily="34" charset="0"/>
              <a:buChar char="•"/>
            </a:pPr>
            <a:endParaRPr lang="en-US" dirty="0"/>
          </a:p>
          <a:p>
            <a:pPr marL="171450" indent="-171450" eaLnBrk="1" hangingPunct="1">
              <a:spcBef>
                <a:spcPct val="0"/>
              </a:spcBef>
              <a:buFont typeface="Arial" pitchFamily="34" charset="0"/>
              <a:buChar char="•"/>
            </a:pPr>
            <a:endParaRPr lang="en-US" dirty="0"/>
          </a:p>
          <a:p>
            <a:pPr marL="0" indent="0" eaLnBrk="1" hangingPunct="1">
              <a:spcBef>
                <a:spcPct val="0"/>
              </a:spcBef>
              <a:buFont typeface="Arial" pitchFamily="34" charset="0"/>
              <a:buNone/>
            </a:pPr>
            <a:r>
              <a:rPr lang="en-US" u="sng" dirty="0"/>
              <a:t>FOOD FOR THOUGHT</a:t>
            </a:r>
          </a:p>
          <a:p>
            <a:pPr marL="0" indent="0" eaLnBrk="1" hangingPunct="1">
              <a:spcBef>
                <a:spcPct val="0"/>
              </a:spcBef>
              <a:buFont typeface="Arial" pitchFamily="34" charset="0"/>
              <a:buNone/>
            </a:pPr>
            <a:r>
              <a:rPr lang="en-US" dirty="0"/>
              <a:t>For</a:t>
            </a:r>
            <a:r>
              <a:rPr lang="en-US" baseline="0" dirty="0"/>
              <a:t> further practice try to identify what is the issue with SNCF. We have seen the annual report and that it is loosing money. Do you think that it is exceptional and that it could be reversed? Do you think that we could derive a more fair estimate of earnings? In 2017 they reported positive earnings for the first time after a long time. Is this exceptional too?????</a:t>
            </a:r>
            <a:endParaRPr lang="en-US" dirty="0"/>
          </a:p>
        </p:txBody>
      </p:sp>
      <p:sp>
        <p:nvSpPr>
          <p:cNvPr id="4" name="Slide Number Placeholder 3"/>
          <p:cNvSpPr>
            <a:spLocks noGrp="1"/>
          </p:cNvSpPr>
          <p:nvPr>
            <p:ph type="sldNum" sz="quarter" idx="10"/>
          </p:nvPr>
        </p:nvSpPr>
        <p:spPr/>
        <p:txBody>
          <a:bodyPr/>
          <a:lstStyle/>
          <a:p>
            <a:pPr>
              <a:defRPr/>
            </a:pPr>
            <a:fld id="{7B2A8712-D9C4-4A57-8EFC-F418FF8F9E97}" type="slidenum">
              <a:rPr lang="en-GB" smtClean="0"/>
              <a:pPr>
                <a:defRPr/>
              </a:pPr>
              <a:t>18</a:t>
            </a:fld>
            <a:endParaRPr lang="en-GB"/>
          </a:p>
        </p:txBody>
      </p:sp>
    </p:spTree>
    <p:extLst>
      <p:ext uri="{BB962C8B-B14F-4D97-AF65-F5344CB8AC3E}">
        <p14:creationId xmlns:p14="http://schemas.microsoft.com/office/powerpoint/2010/main" val="1134770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0035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Financial expense: Any commitment that is tax deductible that you have to meet no matter what your operating results: Failure to meet it leads to loss of control of the business.</a:t>
            </a:r>
          </a:p>
          <a:p>
            <a:pPr eaLnBrk="1" hangingPunct="1">
              <a:spcBef>
                <a:spcPct val="0"/>
              </a:spcBef>
            </a:pPr>
            <a:r>
              <a:rPr lang="en-US" dirty="0"/>
              <a:t>Capital expense: Any expense that is expected to generate benefits over multiple periods.</a:t>
            </a:r>
          </a:p>
          <a:p>
            <a:pPr eaLnBrk="1" hangingPunct="1">
              <a:spcBef>
                <a:spcPct val="0"/>
              </a:spcBef>
            </a:pPr>
            <a:r>
              <a:rPr lang="en-US" dirty="0"/>
              <a:t>These are two fairly standard adjustments you have to make to almost every firm that you encounter though the consequences are going to be larger for some firms than others.</a:t>
            </a:r>
          </a:p>
        </p:txBody>
      </p:sp>
    </p:spTree>
    <p:extLst>
      <p:ext uri="{BB962C8B-B14F-4D97-AF65-F5344CB8AC3E}">
        <p14:creationId xmlns:p14="http://schemas.microsoft.com/office/powerpoint/2010/main" val="4184677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0240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From an intuitive standpoint, there is little difference between a term loan (where you pay off a loan in equal annual installments) and an operating lease. It may be more like unsecured debt than secured debt but it is debt.</a:t>
            </a:r>
          </a:p>
          <a:p>
            <a:pPr eaLnBrk="1" hangingPunct="1">
              <a:spcBef>
                <a:spcPct val="0"/>
              </a:spcBef>
            </a:pPr>
            <a:r>
              <a:rPr lang="en-US" dirty="0"/>
              <a:t>It is not just debt that is affected when you convert operating leases to debt. The operating income also will change.</a:t>
            </a:r>
          </a:p>
          <a:p>
            <a:pPr eaLnBrk="1" hangingPunct="1">
              <a:spcBef>
                <a:spcPct val="0"/>
              </a:spcBef>
            </a:pPr>
            <a:endParaRPr lang="en-US" dirty="0"/>
          </a:p>
          <a:p>
            <a:pPr marL="0" marR="0" indent="0" algn="l" defTabSz="914400" rtl="0" eaLnBrk="1" fontAlgn="base" latinLnBrk="0" hangingPunct="1">
              <a:lnSpc>
                <a:spcPct val="100000"/>
              </a:lnSpc>
              <a:spcBef>
                <a:spcPct val="0"/>
              </a:spcBef>
              <a:spcAft>
                <a:spcPct val="0"/>
              </a:spcAft>
              <a:buClrTx/>
              <a:buSzTx/>
              <a:buFontTx/>
              <a:buNone/>
              <a:tabLst/>
              <a:defRPr/>
            </a:pPr>
            <a:r>
              <a:rPr lang="en-US" dirty="0">
                <a:latin typeface="Times" pitchFamily="3" charset="0"/>
              </a:rPr>
              <a:t>The firms where operating leases matter the most are retail firms…</a:t>
            </a:r>
          </a:p>
          <a:p>
            <a:pPr eaLnBrk="1" hangingPunct="1">
              <a:spcBef>
                <a:spcPct val="0"/>
              </a:spcBef>
            </a:pPr>
            <a:endParaRPr lang="en-US" dirty="0"/>
          </a:p>
        </p:txBody>
      </p:sp>
    </p:spTree>
    <p:extLst>
      <p:ext uri="{BB962C8B-B14F-4D97-AF65-F5344CB8AC3E}">
        <p14:creationId xmlns:p14="http://schemas.microsoft.com/office/powerpoint/2010/main" val="26065316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annual Report for </a:t>
            </a:r>
            <a:r>
              <a:rPr lang="en-GB" dirty="0" err="1"/>
              <a:t>Easyjet</a:t>
            </a:r>
            <a:r>
              <a:rPr lang="en-GB" dirty="0"/>
              <a:t> can be found here</a:t>
            </a:r>
          </a:p>
          <a:p>
            <a:endParaRPr lang="en-GB" dirty="0"/>
          </a:p>
          <a:p>
            <a:r>
              <a:rPr lang="en-GB" dirty="0"/>
              <a:t>http://corporate.easyjet.com/~/media/Files/E/Easyjet-Plc-V2/pdf/investors/result-center-investor/annual-report-2013.pdf</a:t>
            </a:r>
          </a:p>
          <a:p>
            <a:endParaRPr lang="en-GB" dirty="0"/>
          </a:p>
          <a:p>
            <a:r>
              <a:rPr lang="en-GB" dirty="0"/>
              <a:t>Income</a:t>
            </a:r>
            <a:r>
              <a:rPr lang="en-GB" baseline="0" dirty="0"/>
              <a:t> statement p. 96</a:t>
            </a:r>
          </a:p>
          <a:p>
            <a:endParaRPr lang="en-GB" baseline="0" dirty="0"/>
          </a:p>
          <a:p>
            <a:r>
              <a:rPr lang="en-GB" baseline="0" dirty="0"/>
              <a:t>Tax p. 33. Explanation about effective and marginal tax rate and tax rate changes. We will assume a 23.5% tax rate for simplicity.</a:t>
            </a:r>
          </a:p>
          <a:p>
            <a:endParaRPr lang="en-GB" baseline="0" dirty="0"/>
          </a:p>
          <a:p>
            <a:r>
              <a:rPr lang="en-GB" baseline="0" dirty="0"/>
              <a:t>Operating Leases, note 23, p 126 and notes 8, 14 and 16.</a:t>
            </a:r>
            <a:endParaRPr lang="en-GB" dirty="0"/>
          </a:p>
        </p:txBody>
      </p:sp>
      <p:sp>
        <p:nvSpPr>
          <p:cNvPr id="4" name="Slide Number Placeholder 3"/>
          <p:cNvSpPr>
            <a:spLocks noGrp="1"/>
          </p:cNvSpPr>
          <p:nvPr>
            <p:ph type="sldNum" sz="quarter" idx="10"/>
          </p:nvPr>
        </p:nvSpPr>
        <p:spPr/>
        <p:txBody>
          <a:bodyPr/>
          <a:lstStyle/>
          <a:p>
            <a:pPr>
              <a:defRPr/>
            </a:pPr>
            <a:fld id="{7B2A8712-D9C4-4A57-8EFC-F418FF8F9E97}" type="slidenum">
              <a:rPr lang="en-GB" smtClean="0"/>
              <a:pPr>
                <a:defRPr/>
              </a:pPr>
              <a:t>22</a:t>
            </a:fld>
            <a:endParaRPr lang="en-GB"/>
          </a:p>
        </p:txBody>
      </p:sp>
    </p:spTree>
    <p:extLst>
      <p:ext uri="{BB962C8B-B14F-4D97-AF65-F5344CB8AC3E}">
        <p14:creationId xmlns:p14="http://schemas.microsoft.com/office/powerpoint/2010/main" val="40327497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0649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The argument used by accountants - that R&amp;D yields uncertain benefits - is specious. You could make the same argument about other investments - investing in a factory in an emerging market, deciding to build a concept car - and you are forced to treat these as capital expenditures.</a:t>
            </a:r>
          </a:p>
          <a:p>
            <a:pPr eaLnBrk="1" hangingPunct="1">
              <a:spcBef>
                <a:spcPct val="0"/>
              </a:spcBef>
            </a:pPr>
            <a:r>
              <a:rPr lang="en-US" dirty="0"/>
              <a:t>To capitalize R&amp;D, you need to specify</a:t>
            </a:r>
          </a:p>
          <a:p>
            <a:pPr lvl="1" eaLnBrk="1" hangingPunct="1">
              <a:spcBef>
                <a:spcPct val="0"/>
              </a:spcBef>
              <a:buFontTx/>
              <a:buChar char="•"/>
            </a:pPr>
            <a:r>
              <a:rPr lang="en-US" dirty="0"/>
              <a:t>On average, how long it takes between the time you do research and a commercial product </a:t>
            </a:r>
            <a:r>
              <a:rPr lang="en-US" u="sng" dirty="0"/>
              <a:t>emerges</a:t>
            </a:r>
            <a:r>
              <a:rPr lang="en-US" dirty="0"/>
              <a:t> from the research. (This is the amortizable life)</a:t>
            </a:r>
          </a:p>
          <a:p>
            <a:pPr lvl="1" eaLnBrk="1" hangingPunct="1">
              <a:spcBef>
                <a:spcPct val="0"/>
              </a:spcBef>
              <a:buFontTx/>
              <a:buChar char="•"/>
            </a:pPr>
            <a:r>
              <a:rPr lang="en-US" dirty="0"/>
              <a:t>R&amp;D expenses from the past (for a period equivalent to the amortizable life). If your firm has not been in existence for that long, you would go back for as many years as you can.</a:t>
            </a:r>
          </a:p>
          <a:p>
            <a:pPr lvl="1" eaLnBrk="1" hangingPunct="1">
              <a:spcBef>
                <a:spcPct val="0"/>
              </a:spcBef>
              <a:buFontTx/>
              <a:buChar char="•"/>
            </a:pPr>
            <a:r>
              <a:rPr lang="en-US" dirty="0"/>
              <a:t>Depreciation schedules - stick with the simplest which is straight line depreciation.</a:t>
            </a:r>
          </a:p>
          <a:p>
            <a:pPr lvl="0" eaLnBrk="1" hangingPunct="1">
              <a:spcBef>
                <a:spcPct val="0"/>
              </a:spcBef>
              <a:buFontTx/>
              <a:buNone/>
            </a:pPr>
            <a:endParaRPr lang="en-US" dirty="0"/>
          </a:p>
          <a:p>
            <a:pPr lvl="0" eaLnBrk="1" hangingPunct="1">
              <a:spcBef>
                <a:spcPct val="0"/>
              </a:spcBef>
              <a:buFontTx/>
              <a:buNone/>
            </a:pPr>
            <a:r>
              <a:rPr lang="en-US" dirty="0"/>
              <a:t>For</a:t>
            </a:r>
            <a:r>
              <a:rPr lang="en-US" baseline="0" dirty="0"/>
              <a:t> example assuming that the amortizable life is 5 </a:t>
            </a:r>
            <a:r>
              <a:rPr lang="en-US" baseline="0" dirty="0" err="1"/>
              <a:t>y</a:t>
            </a:r>
            <a:r>
              <a:rPr lang="en-US" dirty="0" err="1"/>
              <a:t>s</a:t>
            </a:r>
            <a:r>
              <a:rPr lang="en-US" dirty="0"/>
              <a:t>, the research asset can be obtained by adding up 1/5th of the R&amp;D expense from five years ago, 2/5th of the R&amp;D expense from four years ago...: for</a:t>
            </a:r>
            <a:r>
              <a:rPr lang="en-US" baseline="0" dirty="0"/>
              <a:t> details check the net slide.</a:t>
            </a:r>
            <a:endParaRPr lang="en-US" dirty="0"/>
          </a:p>
          <a:p>
            <a:pPr lvl="1" eaLnBrk="1" hangingPunct="1">
              <a:spcBef>
                <a:spcPct val="0"/>
              </a:spcBef>
              <a:buFontTx/>
              <a:buChar char="•"/>
            </a:pPr>
            <a:endParaRPr lang="en-US" dirty="0"/>
          </a:p>
        </p:txBody>
      </p:sp>
    </p:spTree>
    <p:extLst>
      <p:ext uri="{BB962C8B-B14F-4D97-AF65-F5344CB8AC3E}">
        <p14:creationId xmlns:p14="http://schemas.microsoft.com/office/powerpoint/2010/main" val="6152196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9728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The tax savings from interest payments do not show up in the </a:t>
            </a:r>
            <a:r>
              <a:rPr lang="en-US" dirty="0" err="1"/>
              <a:t>cashflows</a:t>
            </a:r>
            <a:r>
              <a:rPr lang="en-US" dirty="0"/>
              <a:t> because they have already been counted in the cost of capital (in the use of the after-tax cost of debt). If you add the interest tax benefits to the </a:t>
            </a:r>
            <a:r>
              <a:rPr lang="en-US" dirty="0" err="1"/>
              <a:t>cashflows</a:t>
            </a:r>
            <a:r>
              <a:rPr lang="en-US" dirty="0"/>
              <a:t>, you will double count the benefit.</a:t>
            </a:r>
          </a:p>
          <a:p>
            <a:pPr eaLnBrk="1" hangingPunct="1">
              <a:spcBef>
                <a:spcPct val="0"/>
              </a:spcBef>
            </a:pPr>
            <a:endParaRPr lang="en-US" dirty="0"/>
          </a:p>
          <a:p>
            <a:pPr eaLnBrk="1" hangingPunct="1">
              <a:spcBef>
                <a:spcPct val="0"/>
              </a:spcBef>
            </a:pPr>
            <a:r>
              <a:rPr lang="en-US" dirty="0"/>
              <a:t>Please read</a:t>
            </a:r>
            <a:r>
              <a:rPr lang="en-US" baseline="0" dirty="0"/>
              <a:t> this short definition that might help</a:t>
            </a:r>
          </a:p>
          <a:p>
            <a:pPr eaLnBrk="1" hangingPunct="1">
              <a:spcBef>
                <a:spcPct val="0"/>
              </a:spcBef>
            </a:pPr>
            <a:endParaRPr lang="en-US" baseline="0" dirty="0"/>
          </a:p>
          <a:p>
            <a:pPr eaLnBrk="1" hangingPunct="1">
              <a:spcBef>
                <a:spcPct val="0"/>
              </a:spcBef>
            </a:pPr>
            <a:r>
              <a:rPr lang="en-US" dirty="0"/>
              <a:t>http://www.investinganswers.com/financial-dictionary/financial-statement-analysis/net-operating-profit-after-tax-nopat-2820</a:t>
            </a:r>
          </a:p>
        </p:txBody>
      </p:sp>
    </p:spTree>
    <p:extLst>
      <p:ext uri="{BB962C8B-B14F-4D97-AF65-F5344CB8AC3E}">
        <p14:creationId xmlns:p14="http://schemas.microsoft.com/office/powerpoint/2010/main" val="23735641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marL="274320" lvl="0" indent="-274320" eaLnBrk="1" fontAlgn="auto" hangingPunct="1">
              <a:spcAft>
                <a:spcPts val="0"/>
              </a:spcAft>
              <a:buClr>
                <a:schemeClr val="accent1"/>
              </a:buClr>
              <a:buSzPct val="70000"/>
              <a:buFont typeface="Wingdings"/>
              <a:buChar char=""/>
              <a:defRPr/>
            </a:pPr>
            <a:r>
              <a:rPr lang="en-US" dirty="0"/>
              <a:t>The choice is between the effective and the marginal tax rate. In doing projections, it is far safer to use the marginal tax rate since the effective tax rate is really a reflection of the difference between the accounting and the tax books.</a:t>
            </a:r>
          </a:p>
          <a:p>
            <a:pPr marL="274320" lvl="0" indent="-274320" eaLnBrk="1" fontAlgn="auto" hangingPunct="1">
              <a:spcAft>
                <a:spcPts val="0"/>
              </a:spcAft>
              <a:buClr>
                <a:schemeClr val="accent1"/>
              </a:buClr>
              <a:buSzPct val="70000"/>
              <a:buFont typeface="Wingdings"/>
              <a:buChar char=""/>
              <a:defRPr/>
            </a:pPr>
            <a:r>
              <a:rPr lang="en-US" dirty="0"/>
              <a:t>By using the marginal tax rate, we tend to understate the after-tax operating income in the earlier years, but the after-tax tax operating income is more accurate in later years</a:t>
            </a:r>
          </a:p>
          <a:p>
            <a:pPr marL="274320" lvl="0" indent="-274320" eaLnBrk="1" fontAlgn="auto" hangingPunct="1">
              <a:spcAft>
                <a:spcPts val="0"/>
              </a:spcAft>
              <a:buClr>
                <a:schemeClr val="accent1"/>
              </a:buClr>
              <a:buSzPct val="70000"/>
              <a:buFont typeface="Wingdings"/>
              <a:buChar char=""/>
              <a:defRPr/>
            </a:pPr>
            <a:r>
              <a:rPr lang="en-US" dirty="0"/>
              <a:t>If you choose to use the effective tax rate, </a:t>
            </a:r>
            <a:r>
              <a:rPr lang="en-US" b="1" dirty="0"/>
              <a:t>adjust </a:t>
            </a:r>
            <a:r>
              <a:rPr lang="en-US" dirty="0"/>
              <a:t>the tax rate towards the marginal tax rate over time. </a:t>
            </a:r>
          </a:p>
          <a:p>
            <a:pPr marL="640080" lvl="1" indent="-274320" eaLnBrk="1" fontAlgn="auto" hangingPunct="1">
              <a:spcAft>
                <a:spcPts val="0"/>
              </a:spcAft>
              <a:buClr>
                <a:schemeClr val="accent1"/>
              </a:buClr>
              <a:buSzPct val="80000"/>
              <a:buFont typeface="Wingdings 2"/>
              <a:buChar char=""/>
              <a:defRPr/>
            </a:pPr>
            <a:r>
              <a:rPr lang="en-US" dirty="0"/>
              <a:t>While an argument can be made for using a weighted average marginal tax rate, it is safest to use the marginal tax rate of the country  </a:t>
            </a:r>
          </a:p>
          <a:p>
            <a:endParaRPr lang="en-GB" dirty="0"/>
          </a:p>
          <a:p>
            <a:endParaRPr lang="en-GB" dirty="0"/>
          </a:p>
          <a:p>
            <a:endParaRPr lang="en-GB" dirty="0"/>
          </a:p>
          <a:p>
            <a:pPr eaLnBrk="1" hangingPunct="1">
              <a:spcBef>
                <a:spcPct val="0"/>
              </a:spcBef>
            </a:pPr>
            <a:r>
              <a:rPr lang="en-US" dirty="0"/>
              <a:t>If you have a choice, you would prefer to do valuation with the tax books in front of you, but since you do not have that choice as an outsider you have to choose between the effective tax rate and the marginal tax rate.</a:t>
            </a:r>
          </a:p>
          <a:p>
            <a:pPr eaLnBrk="1" hangingPunct="1">
              <a:spcBef>
                <a:spcPct val="0"/>
              </a:spcBef>
            </a:pPr>
            <a:r>
              <a:rPr lang="en-US" dirty="0"/>
              <a:t>If you use the effective tax rate all the way through, you are assuming that taxes can be deferred forever. This is unrealistic - tax deferrals catch up with you as your growth flags - and will result in an overvaluation of your firm.</a:t>
            </a:r>
          </a:p>
          <a:p>
            <a:pPr eaLnBrk="1" hangingPunct="1">
              <a:spcBef>
                <a:spcPct val="0"/>
              </a:spcBef>
            </a:pPr>
            <a:r>
              <a:rPr lang="en-US" dirty="0"/>
              <a:t>If you use a marginal tax rate, you are assuming that you cannot defer taxes from this point on. This is far too conservative and will yield too low a value for your firm.</a:t>
            </a:r>
          </a:p>
          <a:p>
            <a:pPr eaLnBrk="1" hangingPunct="1">
              <a:spcBef>
                <a:spcPct val="0"/>
              </a:spcBef>
            </a:pPr>
            <a:r>
              <a:rPr lang="en-US" dirty="0"/>
              <a:t>Suggestion: Start with the effective tax rate in the early years and move towards the marginal tax rate in the terminal year.</a:t>
            </a:r>
          </a:p>
          <a:p>
            <a:pPr eaLnBrk="1" hangingPunct="1">
              <a:spcBef>
                <a:spcPct val="0"/>
              </a:spcBef>
            </a:pPr>
            <a:endParaRPr lang="en-US" dirty="0"/>
          </a:p>
          <a:p>
            <a:pPr eaLnBrk="1" hangingPunct="1">
              <a:spcBef>
                <a:spcPct val="0"/>
              </a:spcBef>
            </a:pPr>
            <a:endParaRPr lang="en-US" dirty="0"/>
          </a:p>
          <a:p>
            <a:pPr eaLnBrk="1" hangingPunct="1">
              <a:spcBef>
                <a:spcPct val="0"/>
              </a:spcBef>
            </a:pPr>
            <a:r>
              <a:rPr lang="en-US" dirty="0"/>
              <a:t>From</a:t>
            </a:r>
            <a:r>
              <a:rPr lang="en-US" baseline="0" dirty="0"/>
              <a:t> a theory point of view the most appropriate is the marginal tax rate because it represents the tax liability on each additional dollar (assuming that the firm is growing).</a:t>
            </a:r>
          </a:p>
          <a:p>
            <a:pPr eaLnBrk="1" hangingPunct="1">
              <a:spcBef>
                <a:spcPct val="0"/>
              </a:spcBef>
            </a:pPr>
            <a:r>
              <a:rPr lang="en-US" baseline="0" dirty="0"/>
              <a:t>However, this might be highly complicated in various situations, such as:</a:t>
            </a:r>
          </a:p>
          <a:p>
            <a:pPr marL="285750" lvl="0" indent="-285750" eaLnBrk="1" hangingPunct="1">
              <a:spcBef>
                <a:spcPct val="0"/>
              </a:spcBef>
              <a:buAutoNum type="romanLcPeriod"/>
            </a:pPr>
            <a:r>
              <a:rPr lang="en-US" baseline="0" dirty="0"/>
              <a:t>Countries with complicated structure of tax liabilities and credits, such as Germany or France</a:t>
            </a:r>
          </a:p>
          <a:p>
            <a:pPr marL="285750" lvl="0" indent="-285750" eaLnBrk="1" hangingPunct="1">
              <a:spcBef>
                <a:spcPct val="0"/>
              </a:spcBef>
              <a:buAutoNum type="romanLcPeriod"/>
            </a:pPr>
            <a:r>
              <a:rPr lang="en-US" baseline="0" dirty="0"/>
              <a:t>Small firms, with income below the top tax bracket. The marginal rate should be expected to change</a:t>
            </a:r>
          </a:p>
          <a:p>
            <a:pPr marL="285750" lvl="0" indent="-285750" eaLnBrk="1" hangingPunct="1">
              <a:spcBef>
                <a:spcPct val="0"/>
              </a:spcBef>
              <a:buAutoNum type="romanLcPeriod"/>
            </a:pPr>
            <a:r>
              <a:rPr lang="en-US" baseline="0" dirty="0"/>
              <a:t>Firms that pursue an active tax optimization policy, such as deferring earnings.</a:t>
            </a:r>
          </a:p>
          <a:p>
            <a:pPr marL="285750" lvl="0" indent="-285750" eaLnBrk="1" hangingPunct="1">
              <a:spcBef>
                <a:spcPct val="0"/>
              </a:spcBef>
              <a:buAutoNum type="romanLcPeriod"/>
            </a:pPr>
            <a:r>
              <a:rPr lang="en-US" baseline="0" dirty="0"/>
              <a:t>Firms with past large operating losses</a:t>
            </a:r>
          </a:p>
          <a:p>
            <a:pPr marL="285750" lvl="0" indent="-285750" eaLnBrk="1" hangingPunct="1">
              <a:spcBef>
                <a:spcPct val="0"/>
              </a:spcBef>
              <a:buAutoNum type="romanLcPeriod"/>
            </a:pPr>
            <a:r>
              <a:rPr lang="en-US" baseline="0" dirty="0"/>
              <a:t>Firms with large operating leases.</a:t>
            </a:r>
          </a:p>
          <a:p>
            <a:pPr marL="285750" lvl="0" indent="-285750" eaLnBrk="1" hangingPunct="1">
              <a:spcBef>
                <a:spcPct val="0"/>
              </a:spcBef>
              <a:buAutoNum type="romanLcPeriod"/>
            </a:pPr>
            <a:endParaRPr lang="en-US" baseline="0" dirty="0"/>
          </a:p>
          <a:p>
            <a:pPr marL="0" indent="0" eaLnBrk="1" hangingPunct="1">
              <a:spcBef>
                <a:spcPct val="0"/>
              </a:spcBef>
              <a:buNone/>
            </a:pPr>
            <a:r>
              <a:rPr lang="en-US" baseline="0" dirty="0"/>
              <a:t>In these cases, it might be better to use a proxy of the marginal rate that better reflects the current situation (the effective rate) and adjust it (if necessary) over the years towards the marginal rate.</a:t>
            </a:r>
            <a:endParaRPr lang="en-US" dirty="0"/>
          </a:p>
          <a:p>
            <a:pPr eaLnBrk="1" hangingPunct="1">
              <a:spcBef>
                <a:spcPct val="0"/>
              </a:spcBef>
            </a:pPr>
            <a:endParaRPr lang="en-US" dirty="0"/>
          </a:p>
          <a:p>
            <a:pPr eaLnBrk="1" hangingPunct="1">
              <a:spcBef>
                <a:spcPct val="0"/>
              </a:spcBef>
            </a:pPr>
            <a:endParaRPr lang="en-US" dirty="0"/>
          </a:p>
          <a:p>
            <a:endParaRPr lang="en-GB" dirty="0"/>
          </a:p>
        </p:txBody>
      </p:sp>
      <p:sp>
        <p:nvSpPr>
          <p:cNvPr id="4" name="Slide Number Placeholder 3"/>
          <p:cNvSpPr>
            <a:spLocks noGrp="1"/>
          </p:cNvSpPr>
          <p:nvPr>
            <p:ph type="sldNum" sz="quarter" idx="5"/>
          </p:nvPr>
        </p:nvSpPr>
        <p:spPr/>
        <p:txBody>
          <a:bodyPr/>
          <a:lstStyle/>
          <a:p>
            <a:pPr>
              <a:defRPr/>
            </a:pPr>
            <a:fld id="{7B2A8712-D9C4-4A57-8EFC-F418FF8F9E97}" type="slidenum">
              <a:rPr lang="en-GB" smtClean="0"/>
              <a:pPr>
                <a:defRPr/>
              </a:pPr>
              <a:t>28</a:t>
            </a:fld>
            <a:endParaRPr lang="en-GB"/>
          </a:p>
        </p:txBody>
      </p:sp>
    </p:spTree>
    <p:extLst>
      <p:ext uri="{BB962C8B-B14F-4D97-AF65-F5344CB8AC3E}">
        <p14:creationId xmlns:p14="http://schemas.microsoft.com/office/powerpoint/2010/main" val="4397130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Data</a:t>
            </a:r>
            <a:r>
              <a:rPr lang="en-GB" baseline="0" dirty="0"/>
              <a:t> taken from</a:t>
            </a:r>
          </a:p>
          <a:p>
            <a:endParaRPr lang="en-GB" baseline="0" dirty="0"/>
          </a:p>
          <a:p>
            <a:r>
              <a:rPr lang="en-GB" baseline="0" dirty="0"/>
              <a:t>Annual Report </a:t>
            </a:r>
            <a:r>
              <a:rPr lang="en-GB" baseline="0" dirty="0" err="1"/>
              <a:t>Easyjet</a:t>
            </a:r>
            <a:r>
              <a:rPr lang="en-GB" baseline="0" dirty="0"/>
              <a:t> 2013 p. 94 and 31</a:t>
            </a:r>
          </a:p>
          <a:p>
            <a:endParaRPr lang="en-GB" baseline="0" dirty="0"/>
          </a:p>
          <a:p>
            <a:r>
              <a:rPr lang="en-GB" baseline="0" dirty="0"/>
              <a:t>http://corporate.easyjet.com/~/media/Files/E/Easyjet-Plc-V2/pdf/investors/result-center-investor/annual-report-2013.pdf</a:t>
            </a:r>
          </a:p>
          <a:p>
            <a:endParaRPr lang="en-GB" baseline="0" dirty="0"/>
          </a:p>
          <a:p>
            <a:r>
              <a:rPr lang="en-GB" baseline="0" dirty="0"/>
              <a:t>And</a:t>
            </a:r>
          </a:p>
          <a:p>
            <a:endParaRPr lang="en-GB" baseline="0" dirty="0"/>
          </a:p>
          <a:p>
            <a:r>
              <a:rPr lang="en-GB" dirty="0"/>
              <a:t>http://www.hmrc.gov.uk/rates/corp.htm</a:t>
            </a:r>
          </a:p>
        </p:txBody>
      </p:sp>
      <p:sp>
        <p:nvSpPr>
          <p:cNvPr id="4" name="Slide Number Placeholder 3"/>
          <p:cNvSpPr>
            <a:spLocks noGrp="1"/>
          </p:cNvSpPr>
          <p:nvPr>
            <p:ph type="sldNum" sz="quarter" idx="10"/>
          </p:nvPr>
        </p:nvSpPr>
        <p:spPr/>
        <p:txBody>
          <a:bodyPr/>
          <a:lstStyle/>
          <a:p>
            <a:pPr>
              <a:defRPr/>
            </a:pPr>
            <a:fld id="{7B2A8712-D9C4-4A57-8EFC-F418FF8F9E97}" type="slidenum">
              <a:rPr lang="en-GB" smtClean="0"/>
              <a:pPr>
                <a:defRPr/>
              </a:pPr>
              <a:t>29</a:t>
            </a:fld>
            <a:endParaRPr lang="en-GB"/>
          </a:p>
        </p:txBody>
      </p:sp>
    </p:spTree>
    <p:extLst>
      <p:ext uri="{BB962C8B-B14F-4D97-AF65-F5344CB8AC3E}">
        <p14:creationId xmlns:p14="http://schemas.microsoft.com/office/powerpoint/2010/main" val="41981072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1469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Emphasizes the importance of NOLs. The tax rate will be zero in the first two years and will be 40% in the third year.</a:t>
            </a:r>
          </a:p>
          <a:p>
            <a:pPr eaLnBrk="1" hangingPunct="1">
              <a:spcBef>
                <a:spcPct val="0"/>
              </a:spcBef>
            </a:pPr>
            <a:r>
              <a:rPr lang="en-US" dirty="0"/>
              <a:t>(Suggestion: Change the first year to a loss of $ 500 million, the third year to a profit of $ 1 billion  and work out the solution. The NOL will increase to $1.5 billion after year 1 and cover income in years 2 and 3.)</a:t>
            </a:r>
          </a:p>
        </p:txBody>
      </p:sp>
    </p:spTree>
    <p:extLst>
      <p:ext uri="{BB962C8B-B14F-4D97-AF65-F5344CB8AC3E}">
        <p14:creationId xmlns:p14="http://schemas.microsoft.com/office/powerpoint/2010/main" val="18942411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15715" name="Rectangle 3"/>
          <p:cNvSpPr>
            <a:spLocks noGrp="1" noChangeArrowheads="1"/>
          </p:cNvSpPr>
          <p:nvPr>
            <p:ph type="body" idx="1"/>
          </p:nvPr>
        </p:nvSpPr>
        <p:spPr bwMode="auto">
          <a:noFill/>
        </p:spPr>
        <p:txBody>
          <a:bodyPr wrap="square" numCol="1" anchor="t" anchorCtr="0" compatLnSpc="1">
            <a:prstTxWarp prst="textNoShape">
              <a:avLst/>
            </a:prstTxWarp>
            <a:normAutofit fontScale="70000" lnSpcReduction="20000"/>
          </a:bodyPr>
          <a:lstStyle/>
          <a:p>
            <a:pPr eaLnBrk="1" hangingPunct="1">
              <a:spcBef>
                <a:spcPct val="0"/>
              </a:spcBef>
            </a:pPr>
            <a:r>
              <a:rPr lang="en-US" dirty="0"/>
              <a:t>It is dangerous to have three separate (and unconnected) line items for capital expenditures, depreciation and growth in a valuation. Analysts very quickly discover the secret of value creation (at least on paper) - decrease cap ex, increase depreciation and increase growth.</a:t>
            </a:r>
          </a:p>
          <a:p>
            <a:pPr eaLnBrk="1" hangingPunct="1">
              <a:spcBef>
                <a:spcPct val="0"/>
              </a:spcBef>
            </a:pPr>
            <a:endParaRPr lang="en-US" dirty="0"/>
          </a:p>
          <a:p>
            <a:pPr eaLnBrk="1" fontAlgn="auto" hangingPunct="1">
              <a:spcAft>
                <a:spcPts val="0"/>
              </a:spcAft>
              <a:defRPr/>
            </a:pPr>
            <a:r>
              <a:rPr lang="en-US" dirty="0"/>
              <a:t>Capital expenditures should include</a:t>
            </a:r>
            <a:br>
              <a:rPr lang="en-US" dirty="0"/>
            </a:br>
            <a:r>
              <a:rPr lang="en-US" dirty="0"/>
              <a:t>Tangible and Intangible</a:t>
            </a:r>
          </a:p>
          <a:p>
            <a:pPr marL="274320" indent="-274320" eaLnBrk="1" fontAlgn="auto" hangingPunct="1">
              <a:lnSpc>
                <a:spcPct val="90000"/>
              </a:lnSpc>
              <a:spcAft>
                <a:spcPts val="0"/>
              </a:spcAft>
              <a:buFont typeface="Wingdings"/>
              <a:buChar char=""/>
              <a:defRPr/>
            </a:pPr>
            <a:r>
              <a:rPr lang="en-US" u="sng" dirty="0"/>
              <a:t>Research and development expenses</a:t>
            </a:r>
            <a:r>
              <a:rPr lang="en-US" dirty="0"/>
              <a:t>, once they have been re-categorized as capital expenses. The adjusted net cap ex will be</a:t>
            </a:r>
          </a:p>
          <a:p>
            <a:pPr marL="640080" lvl="1" indent="-274320" eaLnBrk="1" fontAlgn="auto" hangingPunct="1">
              <a:lnSpc>
                <a:spcPct val="90000"/>
              </a:lnSpc>
              <a:spcAft>
                <a:spcPts val="0"/>
              </a:spcAft>
              <a:buFontTx/>
              <a:buNone/>
              <a:defRPr/>
            </a:pPr>
            <a:r>
              <a:rPr lang="en-US" dirty="0"/>
              <a:t>Adjusted Net Capital Expenditures = Net Capital Expenditures + Current year’s R&amp;D expenses - Amortization of Research Asset</a:t>
            </a:r>
          </a:p>
          <a:p>
            <a:pPr marL="274320" indent="-274320" eaLnBrk="1" fontAlgn="auto" hangingPunct="1">
              <a:lnSpc>
                <a:spcPct val="90000"/>
              </a:lnSpc>
              <a:spcAft>
                <a:spcPts val="0"/>
              </a:spcAft>
              <a:buFont typeface="Wingdings"/>
              <a:buChar char=""/>
              <a:defRPr/>
            </a:pPr>
            <a:r>
              <a:rPr lang="en-US" u="sng" dirty="0"/>
              <a:t>Acquisitions of other firms</a:t>
            </a:r>
            <a:r>
              <a:rPr lang="en-US" dirty="0"/>
              <a:t>, since these are like capital expenditures. The adjusted net cap ex will be</a:t>
            </a:r>
          </a:p>
          <a:p>
            <a:pPr marL="640080" lvl="1" indent="-274320" eaLnBrk="1" fontAlgn="auto" hangingPunct="1">
              <a:lnSpc>
                <a:spcPct val="90000"/>
              </a:lnSpc>
              <a:spcAft>
                <a:spcPts val="0"/>
              </a:spcAft>
              <a:buFontTx/>
              <a:buNone/>
              <a:defRPr/>
            </a:pPr>
            <a:r>
              <a:rPr lang="en-US" dirty="0"/>
              <a:t>Adjusted Net Cap Ex = Net Capital Expenditures + Acquisitions of other firms - Amortization of such acquisitions</a:t>
            </a:r>
          </a:p>
          <a:p>
            <a:pPr marL="640080" lvl="1" indent="-274320" eaLnBrk="1" fontAlgn="auto" hangingPunct="1">
              <a:lnSpc>
                <a:spcPct val="90000"/>
              </a:lnSpc>
              <a:spcAft>
                <a:spcPts val="0"/>
              </a:spcAft>
              <a:buFontTx/>
              <a:buNone/>
              <a:defRPr/>
            </a:pPr>
            <a:r>
              <a:rPr lang="en-US" dirty="0"/>
              <a:t>Two caveats:</a:t>
            </a:r>
          </a:p>
          <a:p>
            <a:pPr marL="640080" lvl="1" indent="-274320" eaLnBrk="1" fontAlgn="auto" hangingPunct="1">
              <a:lnSpc>
                <a:spcPct val="90000"/>
              </a:lnSpc>
              <a:spcAft>
                <a:spcPts val="0"/>
              </a:spcAft>
              <a:buFontTx/>
              <a:buNone/>
              <a:defRPr/>
            </a:pPr>
            <a:r>
              <a:rPr lang="en-US" dirty="0"/>
              <a:t>1. Most firms do not do acquisitions every year. Hence, a </a:t>
            </a:r>
            <a:r>
              <a:rPr lang="en-US" u="sng" dirty="0"/>
              <a:t>normalized measure of acquisitions</a:t>
            </a:r>
            <a:r>
              <a:rPr lang="en-US" dirty="0"/>
              <a:t> (looking at an average over time) should be used</a:t>
            </a:r>
          </a:p>
          <a:p>
            <a:pPr marL="640080" lvl="1" indent="-274320" eaLnBrk="1" fontAlgn="auto" hangingPunct="1">
              <a:lnSpc>
                <a:spcPct val="90000"/>
              </a:lnSpc>
              <a:spcAft>
                <a:spcPts val="0"/>
              </a:spcAft>
              <a:buFontTx/>
              <a:buNone/>
              <a:defRPr/>
            </a:pPr>
            <a:r>
              <a:rPr lang="en-US" dirty="0"/>
              <a:t>2. The best place to find acquisitions is in the statement of cash flows, usually categorized under </a:t>
            </a:r>
            <a:r>
              <a:rPr lang="en-US" u="sng" dirty="0"/>
              <a:t>other investment activities</a:t>
            </a:r>
            <a:endParaRPr lang="en-US" dirty="0"/>
          </a:p>
          <a:p>
            <a:pPr marL="640080" lvl="1" indent="-274320" eaLnBrk="1" fontAlgn="auto" hangingPunct="1">
              <a:lnSpc>
                <a:spcPct val="90000"/>
              </a:lnSpc>
              <a:spcAft>
                <a:spcPts val="0"/>
              </a:spcAft>
              <a:buFont typeface="Wingdings 2"/>
              <a:buChar char=""/>
              <a:defRPr/>
            </a:pPr>
            <a:endParaRPr lang="en-US" dirty="0"/>
          </a:p>
          <a:p>
            <a:pPr eaLnBrk="1" hangingPunct="1">
              <a:spcBef>
                <a:spcPct val="0"/>
              </a:spcBef>
            </a:pPr>
            <a:r>
              <a:rPr lang="en-US" dirty="0"/>
              <a:t>The accounting definition of cap ex is too narrow. It excludes external cap ex (which is what acquisitions are) and intangible cap ex (which is what R&amp;D is).</a:t>
            </a:r>
          </a:p>
          <a:p>
            <a:pPr eaLnBrk="1" hangingPunct="1">
              <a:spcBef>
                <a:spcPct val="0"/>
              </a:spcBef>
            </a:pPr>
            <a:r>
              <a:rPr lang="en-US" dirty="0"/>
              <a:t>We would include all acquisitions, including stock swaps acquisitions. To those who would argue that there is no </a:t>
            </a:r>
            <a:r>
              <a:rPr lang="en-US" dirty="0" err="1"/>
              <a:t>cashflow</a:t>
            </a:r>
            <a:r>
              <a:rPr lang="en-US" dirty="0"/>
              <a:t> associated with stock swaps, we would suggest that all that has occurred is that the firm has just skipped a step - the firm could have issued the stock to the market and used the cash on the acquisitions. </a:t>
            </a:r>
          </a:p>
          <a:p>
            <a:pPr eaLnBrk="1" hangingPunct="1">
              <a:spcBef>
                <a:spcPct val="0"/>
              </a:spcBef>
            </a:pPr>
            <a:r>
              <a:rPr lang="en-US" dirty="0"/>
              <a:t>It is true that incorporating acquisitions into valuation can be messy for firms that do relatively few and very diverse acquisitions over time. You have the option of ignoring these acquisitions when you do valuation but make sure that the expected growth rate in earnings does not then include the expected growth from acquisitions. You are implicitly assuming that acquisitions in the future will be done at fair value and hence have no value impact.</a:t>
            </a:r>
          </a:p>
          <a:p>
            <a:pPr eaLnBrk="1" hangingPunct="1">
              <a:spcBef>
                <a:spcPct val="0"/>
              </a:spcBef>
            </a:pPr>
            <a:endParaRPr lang="en-US" dirty="0"/>
          </a:p>
          <a:p>
            <a:pPr eaLnBrk="1" hangingPunct="1">
              <a:spcBef>
                <a:spcPct val="0"/>
              </a:spcBef>
            </a:pPr>
            <a:endParaRPr lang="en-US" dirty="0"/>
          </a:p>
          <a:p>
            <a:pPr eaLnBrk="1" hangingPunct="1">
              <a:spcBef>
                <a:spcPct val="0"/>
              </a:spcBef>
            </a:pPr>
            <a:endParaRPr lang="en-US" dirty="0"/>
          </a:p>
          <a:p>
            <a:r>
              <a:rPr lang="en-GB" dirty="0"/>
              <a:t>Disney p. 42 and 43. This is an excellent example</a:t>
            </a:r>
            <a:r>
              <a:rPr lang="en-GB" baseline="0" dirty="0"/>
              <a:t> of annual reports, where the company reports the figures segment in different sectors.</a:t>
            </a:r>
            <a:endParaRPr lang="en-GB" dirty="0"/>
          </a:p>
          <a:p>
            <a:endParaRPr lang="en-GB" dirty="0"/>
          </a:p>
          <a:p>
            <a:r>
              <a:rPr lang="en-GB" dirty="0"/>
              <a:t>http://cdn.media.ir.thewaltdisneycompany.com/2011/annual/WDC-10kwrap-2011.pdf</a:t>
            </a:r>
          </a:p>
          <a:p>
            <a:pPr eaLnBrk="1" hangingPunct="1">
              <a:spcBef>
                <a:spcPct val="0"/>
              </a:spcBef>
            </a:pPr>
            <a:endParaRPr lang="en-US" dirty="0"/>
          </a:p>
          <a:p>
            <a:pPr eaLnBrk="1" hangingPunct="1">
              <a:spcBef>
                <a:spcPct val="0"/>
              </a:spcBef>
            </a:pPr>
            <a:endParaRPr lang="en-US" dirty="0"/>
          </a:p>
        </p:txBody>
      </p:sp>
    </p:spTree>
    <p:extLst>
      <p:ext uri="{BB962C8B-B14F-4D97-AF65-F5344CB8AC3E}">
        <p14:creationId xmlns:p14="http://schemas.microsoft.com/office/powerpoint/2010/main" val="23966200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20835" name="Rectangle 3"/>
          <p:cNvSpPr>
            <a:spLocks noGrp="1" noChangeArrowheads="1"/>
          </p:cNvSpPr>
          <p:nvPr>
            <p:ph type="body" idx="1"/>
          </p:nvPr>
        </p:nvSpPr>
        <p:spPr bwMode="auto">
          <a:noFill/>
        </p:spPr>
        <p:txBody>
          <a:bodyPr wrap="square" numCol="1" anchor="t" anchorCtr="0" compatLnSpc="1">
            <a:prstTxWarp prst="textNoShape">
              <a:avLst/>
            </a:prstTxWarp>
            <a:normAutofit fontScale="92500" lnSpcReduction="20000"/>
          </a:bodyPr>
          <a:lstStyle/>
          <a:p>
            <a:pPr eaLnBrk="1" fontAlgn="auto" hangingPunct="1">
              <a:spcAft>
                <a:spcPts val="0"/>
              </a:spcAft>
              <a:defRPr/>
            </a:pPr>
            <a:r>
              <a:rPr lang="en-US" dirty="0"/>
              <a:t>Working Capital Investments</a:t>
            </a:r>
          </a:p>
          <a:p>
            <a:pPr marL="274320" indent="-274320" eaLnBrk="1" fontAlgn="auto" hangingPunct="1">
              <a:spcAft>
                <a:spcPts val="0"/>
              </a:spcAft>
              <a:buFont typeface="Wingdings"/>
              <a:buChar char=""/>
              <a:defRPr/>
            </a:pPr>
            <a:r>
              <a:rPr lang="en-US" dirty="0"/>
              <a:t>In accounting terms, the working capital is the difference between current assets (inventory, cash and accounts receivable) and current liabilities (accounts payables, short term debt and debt due within the next year)</a:t>
            </a:r>
          </a:p>
          <a:p>
            <a:pPr marL="274320" indent="-274320" eaLnBrk="1" fontAlgn="auto" hangingPunct="1">
              <a:spcAft>
                <a:spcPts val="0"/>
              </a:spcAft>
              <a:buFont typeface="Wingdings"/>
              <a:buChar char=""/>
              <a:defRPr/>
            </a:pPr>
            <a:r>
              <a:rPr lang="en-US" dirty="0"/>
              <a:t>A cleaner definition of working capital from a cash flow perspective is the difference between </a:t>
            </a:r>
            <a:r>
              <a:rPr lang="en-US" u="sng" dirty="0"/>
              <a:t>non-cash current assets</a:t>
            </a:r>
            <a:r>
              <a:rPr lang="en-US" dirty="0"/>
              <a:t> (inventory and accounts receivable) and </a:t>
            </a:r>
            <a:r>
              <a:rPr lang="en-US" u="sng" dirty="0"/>
              <a:t>non-debt current liabilities</a:t>
            </a:r>
            <a:r>
              <a:rPr lang="en-US" dirty="0"/>
              <a:t> (accounts payable)</a:t>
            </a:r>
          </a:p>
          <a:p>
            <a:pPr marL="274320" indent="-274320" eaLnBrk="1" fontAlgn="auto" hangingPunct="1">
              <a:spcAft>
                <a:spcPts val="0"/>
              </a:spcAft>
              <a:buFont typeface="Wingdings"/>
              <a:buChar char=""/>
              <a:defRPr/>
            </a:pPr>
            <a:r>
              <a:rPr lang="en-US" dirty="0"/>
              <a:t>Any investment in this measure of working capital ties up cash. Therefore, any increases (decreases) in working capital will reduce (increase) cash flows in that period.</a:t>
            </a:r>
          </a:p>
          <a:p>
            <a:pPr marL="274320" indent="-274320" eaLnBrk="1" fontAlgn="auto" hangingPunct="1">
              <a:spcAft>
                <a:spcPts val="0"/>
              </a:spcAft>
              <a:buFont typeface="Wingdings"/>
              <a:buChar char=""/>
              <a:defRPr/>
            </a:pPr>
            <a:r>
              <a:rPr lang="en-US" dirty="0"/>
              <a:t>When forecasting future growth, it is important to forecast the effects of such growth on working capital needs, and building these effects into the cash flows.</a:t>
            </a:r>
          </a:p>
          <a:p>
            <a:pPr eaLnBrk="1" hangingPunct="1">
              <a:spcBef>
                <a:spcPct val="0"/>
              </a:spcBef>
            </a:pPr>
            <a:endParaRPr lang="en-US" dirty="0"/>
          </a:p>
          <a:p>
            <a:pPr eaLnBrk="1" hangingPunct="1">
              <a:spcBef>
                <a:spcPct val="0"/>
              </a:spcBef>
            </a:pPr>
            <a:endParaRPr lang="en-US" dirty="0"/>
          </a:p>
          <a:p>
            <a:pPr eaLnBrk="1" hangingPunct="1">
              <a:spcBef>
                <a:spcPct val="0"/>
              </a:spcBef>
            </a:pPr>
            <a:r>
              <a:rPr lang="en-US" dirty="0"/>
              <a:t>We remove cash from current assets because cash is not a wasting asset for most firms with substantial cash balances. Cash today tends to be invested in treasuries or commercial paper which yields a fair return for the risk taken (which is little or none). There are some analysts who still use operating cash (which they estimate as a percent of revenues) as part of working capital, but we believe that this is no longer appropriate for firms in markets with well developed banking systems and investment alternatives.</a:t>
            </a:r>
          </a:p>
          <a:p>
            <a:pPr eaLnBrk="1" hangingPunct="1">
              <a:spcBef>
                <a:spcPct val="0"/>
              </a:spcBef>
            </a:pPr>
            <a:r>
              <a:rPr lang="en-US" dirty="0"/>
              <a:t>The debt in current liabilities is included in the debt used for cost of capital.</a:t>
            </a:r>
          </a:p>
          <a:p>
            <a:pPr eaLnBrk="1" hangingPunct="1">
              <a:spcBef>
                <a:spcPct val="0"/>
              </a:spcBef>
            </a:pPr>
            <a:endParaRPr lang="en-US" dirty="0"/>
          </a:p>
          <a:p>
            <a:pPr eaLnBrk="1" hangingPunct="1">
              <a:spcBef>
                <a:spcPct val="0"/>
              </a:spcBef>
            </a:pPr>
            <a:endParaRPr lang="en-US" dirty="0"/>
          </a:p>
          <a:p>
            <a:pPr eaLnBrk="1" hangingPunct="1">
              <a:spcBef>
                <a:spcPct val="0"/>
              </a:spcBef>
            </a:pPr>
            <a:endParaRPr lang="en-US" dirty="0"/>
          </a:p>
          <a:p>
            <a:pPr eaLnBrk="1" hangingPunct="1">
              <a:spcBef>
                <a:spcPct val="0"/>
              </a:spcBef>
            </a:pPr>
            <a:r>
              <a:rPr lang="en-US" dirty="0"/>
              <a:t>Firms like </a:t>
            </a:r>
            <a:r>
              <a:rPr lang="en-US" dirty="0" err="1"/>
              <a:t>Walmart</a:t>
            </a:r>
            <a:r>
              <a:rPr lang="en-US" dirty="0"/>
              <a:t> have been able to generate </a:t>
            </a:r>
            <a:r>
              <a:rPr lang="en-US" dirty="0" err="1"/>
              <a:t>cashflows</a:t>
            </a:r>
            <a:r>
              <a:rPr lang="en-US" dirty="0"/>
              <a:t> by keeping non-cash working capital low or negative - in a sense, supplier credit is being used a source of capital. The possible downside is that you can increase credit risk if it gets out of control. That is why you should not assume negative non-cash working capital in perpetuity.</a:t>
            </a:r>
          </a:p>
        </p:txBody>
      </p:sp>
    </p:spTree>
    <p:extLst>
      <p:ext uri="{BB962C8B-B14F-4D97-AF65-F5344CB8AC3E}">
        <p14:creationId xmlns:p14="http://schemas.microsoft.com/office/powerpoint/2010/main" val="6692407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2185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In each case, we have used both the company’s history and the industry averages as the basis for our forecasts for the future. The advantage of linking working capital to revenues is that eliminates the need to estimate working capital as a separate line item.</a:t>
            </a:r>
          </a:p>
          <a:p>
            <a:pPr eaLnBrk="1" hangingPunct="1">
              <a:spcBef>
                <a:spcPct val="0"/>
              </a:spcBef>
            </a:pPr>
            <a:r>
              <a:rPr lang="en-US"/>
              <a:t>There are some analysts who prefer to estimate each item in working capital separately - inventory, accounts receivable and accounts payable. We would do this only</a:t>
            </a:r>
          </a:p>
          <a:p>
            <a:pPr lvl="1" eaLnBrk="1" hangingPunct="1">
              <a:spcBef>
                <a:spcPct val="0"/>
              </a:spcBef>
            </a:pPr>
            <a:r>
              <a:rPr lang="en-US"/>
              <a:t>If we had a strong basis for separating the items and a way of forecasting each individually.</a:t>
            </a:r>
          </a:p>
          <a:p>
            <a:pPr lvl="1" eaLnBrk="1" hangingPunct="1">
              <a:spcBef>
                <a:spcPct val="0"/>
              </a:spcBef>
            </a:pPr>
            <a:r>
              <a:rPr lang="en-US"/>
              <a:t>For the short term. As you push out into future years, you are better off estimating aggregate rather than individual numbers.</a:t>
            </a:r>
          </a:p>
        </p:txBody>
      </p:sp>
    </p:spTree>
    <p:extLst>
      <p:ext uri="{BB962C8B-B14F-4D97-AF65-F5344CB8AC3E}">
        <p14:creationId xmlns:p14="http://schemas.microsoft.com/office/powerpoint/2010/main" val="3027549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several cases it is hard to</a:t>
            </a:r>
            <a:r>
              <a:rPr lang="en-GB" baseline="0" dirty="0"/>
              <a:t> estimate the investments in either </a:t>
            </a:r>
            <a:r>
              <a:rPr lang="en-GB" baseline="0" dirty="0" err="1"/>
              <a:t>CapEx</a:t>
            </a:r>
            <a:r>
              <a:rPr lang="en-GB" baseline="0" dirty="0"/>
              <a:t> or NWC because they are volatile or because we have partial information. A workaround for this is to use some standardized measures. For example, some times it is more rational to assume that a firm will continue to invest (let s say) 30% of sales in new projects, rather than saying that they will always invest $1m (can be assumed to grow). </a:t>
            </a:r>
          </a:p>
          <a:p>
            <a:endParaRPr lang="en-GB" baseline="0" dirty="0"/>
          </a:p>
          <a:p>
            <a:r>
              <a:rPr lang="en-GB" baseline="0" dirty="0"/>
              <a:t>The first case is more homogenous on an industry level and </a:t>
            </a:r>
            <a:r>
              <a:rPr lang="en-GB" baseline="0" dirty="0" err="1"/>
              <a:t>timewise</a:t>
            </a:r>
            <a:r>
              <a:rPr lang="en-GB" baseline="0" dirty="0"/>
              <a:t>. It is like saying that I aspire achieving a target figure for sales. For this I need to make an investment. How much should I invest? An average estimate over the last years, or a reference from a “normal” period, or an industry average/target, etc.</a:t>
            </a:r>
          </a:p>
          <a:p>
            <a:endParaRPr lang="en-GB" baseline="0" dirty="0"/>
          </a:p>
          <a:p>
            <a:r>
              <a:rPr lang="en-GB" baseline="0" dirty="0"/>
              <a:t>After we estimate the reference ration (for example total investments are 50% of sales), then I should consider for every annual figure of sales (in the future) a 50% total investment.</a:t>
            </a:r>
          </a:p>
          <a:p>
            <a:endParaRPr lang="en-GB" baseline="0" dirty="0"/>
          </a:p>
          <a:p>
            <a:endParaRPr lang="en-US" dirty="0"/>
          </a:p>
        </p:txBody>
      </p:sp>
      <p:sp>
        <p:nvSpPr>
          <p:cNvPr id="4" name="Slide Number Placeholder 3"/>
          <p:cNvSpPr>
            <a:spLocks noGrp="1"/>
          </p:cNvSpPr>
          <p:nvPr>
            <p:ph type="sldNum" sz="quarter" idx="10"/>
          </p:nvPr>
        </p:nvSpPr>
        <p:spPr/>
        <p:txBody>
          <a:bodyPr/>
          <a:lstStyle/>
          <a:p>
            <a:pPr>
              <a:defRPr/>
            </a:pPr>
            <a:fld id="{7B2A8712-D9C4-4A57-8EFC-F418FF8F9E97}" type="slidenum">
              <a:rPr lang="en-GB" smtClean="0"/>
              <a:pPr>
                <a:defRPr/>
              </a:pPr>
              <a:t>36</a:t>
            </a:fld>
            <a:endParaRPr lang="en-GB"/>
          </a:p>
        </p:txBody>
      </p:sp>
    </p:spTree>
    <p:extLst>
      <p:ext uri="{BB962C8B-B14F-4D97-AF65-F5344CB8AC3E}">
        <p14:creationId xmlns:p14="http://schemas.microsoft.com/office/powerpoint/2010/main" val="19773080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2288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In the strict view of the world, even stock buybacks are not cashflows to equity investors because they go to someone else - a person cannot sell their stock back to the company and hold it for dividends at the same time.</a:t>
            </a:r>
          </a:p>
          <a:p>
            <a:pPr eaLnBrk="1" hangingPunct="1">
              <a:spcBef>
                <a:spcPct val="0"/>
              </a:spcBef>
            </a:pPr>
            <a:r>
              <a:rPr lang="en-US"/>
              <a:t>In 2000, US companies paid out about 60% of what was available to be paid out (after reinvestment and debt payments) in dividends. Historically, the unwillingness of managers to cut dividends has also made them more reluctant to increase dividends as earnings increase.</a:t>
            </a:r>
          </a:p>
        </p:txBody>
      </p:sp>
    </p:spTree>
    <p:extLst>
      <p:ext uri="{BB962C8B-B14F-4D97-AF65-F5344CB8AC3E}">
        <p14:creationId xmlns:p14="http://schemas.microsoft.com/office/powerpoint/2010/main" val="15774300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figures are taken from the annual report p.</a:t>
            </a:r>
            <a:r>
              <a:rPr lang="en-GB" baseline="0" dirty="0"/>
              <a:t> 24 and the cash flow statement p. 63</a:t>
            </a:r>
          </a:p>
          <a:p>
            <a:endParaRPr lang="en-GB" baseline="0" dirty="0"/>
          </a:p>
          <a:p>
            <a:r>
              <a:rPr lang="en-GB" dirty="0"/>
              <a:t>http://cdn.media.ir.thewaltdisneycompany.com/2011/annual/WDC-10kwrap-2011.pdf</a:t>
            </a:r>
          </a:p>
        </p:txBody>
      </p:sp>
      <p:sp>
        <p:nvSpPr>
          <p:cNvPr id="4" name="Slide Number Placeholder 3"/>
          <p:cNvSpPr>
            <a:spLocks noGrp="1"/>
          </p:cNvSpPr>
          <p:nvPr>
            <p:ph type="sldNum" sz="quarter" idx="10"/>
          </p:nvPr>
        </p:nvSpPr>
        <p:spPr/>
        <p:txBody>
          <a:bodyPr/>
          <a:lstStyle/>
          <a:p>
            <a:pPr>
              <a:defRPr/>
            </a:pPr>
            <a:fld id="{7B2A8712-D9C4-4A57-8EFC-F418FF8F9E97}" type="slidenum">
              <a:rPr lang="en-GB" smtClean="0"/>
              <a:pPr>
                <a:defRPr/>
              </a:pPr>
              <a:t>38</a:t>
            </a:fld>
            <a:endParaRPr lang="en-GB"/>
          </a:p>
        </p:txBody>
      </p:sp>
    </p:spTree>
    <p:extLst>
      <p:ext uri="{BB962C8B-B14F-4D97-AF65-F5344CB8AC3E}">
        <p14:creationId xmlns:p14="http://schemas.microsoft.com/office/powerpoint/2010/main" val="2741780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2390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b="1" dirty="0"/>
              <a:t>Important note</a:t>
            </a:r>
          </a:p>
          <a:p>
            <a:pPr eaLnBrk="1" hangingPunct="1">
              <a:spcBef>
                <a:spcPct val="0"/>
              </a:spcBef>
            </a:pPr>
            <a:endParaRPr lang="en-US" b="1" dirty="0"/>
          </a:p>
          <a:p>
            <a:pPr eaLnBrk="1" hangingPunct="1">
              <a:spcBef>
                <a:spcPct val="0"/>
              </a:spcBef>
            </a:pPr>
            <a:r>
              <a:rPr lang="en-US" b="1" dirty="0"/>
              <a:t>Models that discount earnings and assume a growth rate in earnings at the same time will systematically overvalue companies because they assume that firms can grow earnings without any reinvestment. (Glassman and </a:t>
            </a:r>
            <a:r>
              <a:rPr lang="en-US" b="1" dirty="0" err="1"/>
              <a:t>Hassett</a:t>
            </a:r>
            <a:r>
              <a:rPr lang="en-US" b="1" dirty="0"/>
              <a:t> made this mistake in their book </a:t>
            </a:r>
            <a:r>
              <a:rPr lang="en-US" b="1" i="1" dirty="0"/>
              <a:t>Dow 36000</a:t>
            </a:r>
            <a:r>
              <a:rPr lang="en-US" b="1" dirty="0"/>
              <a:t>, where the discounted earnings at close to the </a:t>
            </a:r>
            <a:r>
              <a:rPr lang="en-US" b="1" dirty="0" err="1"/>
              <a:t>riskfree</a:t>
            </a:r>
            <a:r>
              <a:rPr lang="en-US" b="1" dirty="0"/>
              <a:t> rate and assumed real growth in perpetuity.)</a:t>
            </a:r>
          </a:p>
        </p:txBody>
      </p:sp>
    </p:spTree>
    <p:extLst>
      <p:ext uri="{BB962C8B-B14F-4D97-AF65-F5344CB8AC3E}">
        <p14:creationId xmlns:p14="http://schemas.microsoft.com/office/powerpoint/2010/main" val="34361523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24931" name="Rectangle 3"/>
          <p:cNvSpPr>
            <a:spLocks noGrp="1" noChangeArrowheads="1"/>
          </p:cNvSpPr>
          <p:nvPr>
            <p:ph type="body" idx="1"/>
          </p:nvPr>
        </p:nvSpPr>
        <p:spPr bwMode="auto">
          <a:noFill/>
        </p:spPr>
        <p:txBody>
          <a:bodyPr wrap="square" numCol="1" anchor="t" anchorCtr="0" compatLnSpc="1">
            <a:prstTxWarp prst="textNoShape">
              <a:avLst/>
            </a:prstTxWarp>
            <a:normAutofit fontScale="40000" lnSpcReduction="20000"/>
          </a:bodyPr>
          <a:lstStyle/>
          <a:p>
            <a:pPr eaLnBrk="1" hangingPunct="1">
              <a:spcBef>
                <a:spcPct val="0"/>
              </a:spcBef>
            </a:pPr>
            <a:r>
              <a:rPr lang="en-US" b="1" dirty="0"/>
              <a:t>General Approach</a:t>
            </a:r>
          </a:p>
          <a:p>
            <a:pPr eaLnBrk="1" hangingPunct="1">
              <a:spcBef>
                <a:spcPct val="0"/>
              </a:spcBef>
            </a:pPr>
            <a:endParaRPr lang="en-US" dirty="0"/>
          </a:p>
          <a:p>
            <a:pPr eaLnBrk="1" hangingPunct="1">
              <a:spcBef>
                <a:spcPct val="0"/>
              </a:spcBef>
            </a:pPr>
            <a:r>
              <a:rPr lang="en-US" dirty="0"/>
              <a:t>Note the differences between this and Free </a:t>
            </a:r>
            <a:r>
              <a:rPr lang="en-US" dirty="0" err="1"/>
              <a:t>cashflow</a:t>
            </a:r>
            <a:r>
              <a:rPr lang="en-US" dirty="0"/>
              <a:t> to firm:</a:t>
            </a:r>
          </a:p>
          <a:p>
            <a:pPr lvl="1" eaLnBrk="1" hangingPunct="1">
              <a:spcBef>
                <a:spcPct val="0"/>
              </a:spcBef>
            </a:pPr>
            <a:r>
              <a:rPr lang="en-US" dirty="0"/>
              <a:t>Start with net income (equity earnings) rather than operating earnings. Interest expenses are subtracted out from earnings and the tax benefits are reflected.</a:t>
            </a:r>
          </a:p>
          <a:p>
            <a:pPr lvl="1" eaLnBrk="1" hangingPunct="1">
              <a:spcBef>
                <a:spcPct val="0"/>
              </a:spcBef>
            </a:pPr>
            <a:r>
              <a:rPr lang="en-US" dirty="0"/>
              <a:t>Net out net debt payments. If a firm raises more new debt than it pays off, this can be a positive number which, if large enough can make the free </a:t>
            </a:r>
            <a:r>
              <a:rPr lang="en-US" dirty="0" err="1"/>
              <a:t>cashflow</a:t>
            </a:r>
            <a:r>
              <a:rPr lang="en-US" dirty="0"/>
              <a:t> to equity higher than the free </a:t>
            </a:r>
            <a:r>
              <a:rPr lang="en-US" dirty="0" err="1"/>
              <a:t>cashflow</a:t>
            </a:r>
            <a:r>
              <a:rPr lang="en-US" dirty="0"/>
              <a:t> to the firm.</a:t>
            </a:r>
          </a:p>
          <a:p>
            <a:pPr eaLnBrk="1" hangingPunct="1">
              <a:spcBef>
                <a:spcPct val="0"/>
              </a:spcBef>
            </a:pPr>
            <a:endParaRPr lang="en-US" dirty="0"/>
          </a:p>
          <a:p>
            <a:pPr eaLnBrk="1" hangingPunct="1">
              <a:spcBef>
                <a:spcPct val="0"/>
              </a:spcBef>
            </a:pPr>
            <a:r>
              <a:rPr lang="en-US" b="1" dirty="0"/>
              <a:t>Important Note</a:t>
            </a:r>
          </a:p>
          <a:p>
            <a:pPr marL="0" marR="0" lvl="1" indent="0" algn="l" defTabSz="914400" rtl="0" eaLnBrk="1" fontAlgn="base" latinLnBrk="0" hangingPunct="1">
              <a:lnSpc>
                <a:spcPct val="100000"/>
              </a:lnSpc>
              <a:spcBef>
                <a:spcPct val="0"/>
              </a:spcBef>
              <a:spcAft>
                <a:spcPct val="0"/>
              </a:spcAft>
              <a:buClrTx/>
              <a:buSzTx/>
              <a:buFontTx/>
              <a:buNone/>
              <a:tabLst/>
              <a:defRPr/>
            </a:pPr>
            <a:endParaRPr lang="en-US" dirty="0"/>
          </a:p>
          <a:p>
            <a:pPr marL="0" marR="0" lvl="1" indent="0" algn="l" defTabSz="914400" rtl="0" eaLnBrk="1" fontAlgn="base" latinLnBrk="0" hangingPunct="1">
              <a:lnSpc>
                <a:spcPct val="100000"/>
              </a:lnSpc>
              <a:spcBef>
                <a:spcPct val="0"/>
              </a:spcBef>
              <a:spcAft>
                <a:spcPct val="0"/>
              </a:spcAft>
              <a:buClrTx/>
              <a:buSzTx/>
              <a:buFontTx/>
              <a:buNone/>
              <a:tabLst/>
              <a:defRPr/>
            </a:pPr>
            <a:r>
              <a:rPr lang="en-US" b="1" dirty="0"/>
              <a:t>I have ignored preferred dividends. If preferred stock exist, preferred dividends will also need to be netted out after Financing</a:t>
            </a:r>
            <a:r>
              <a:rPr lang="en-US" b="1" baseline="0" dirty="0"/>
              <a:t> activities</a:t>
            </a:r>
            <a:endParaRPr lang="en-US" b="1" dirty="0"/>
          </a:p>
          <a:p>
            <a:pPr eaLnBrk="1" hangingPunct="1">
              <a:spcBef>
                <a:spcPct val="0"/>
              </a:spcBef>
            </a:pPr>
            <a:endParaRPr lang="en-US" dirty="0"/>
          </a:p>
          <a:p>
            <a:pPr eaLnBrk="1" hangingPunct="1">
              <a:spcBef>
                <a:spcPct val="0"/>
              </a:spcBef>
            </a:pPr>
            <a:endParaRPr lang="en-US" dirty="0"/>
          </a:p>
          <a:p>
            <a:pPr eaLnBrk="1" hangingPunct="1">
              <a:spcBef>
                <a:spcPct val="0"/>
              </a:spcBef>
            </a:pPr>
            <a:endParaRPr lang="en-US" dirty="0"/>
          </a:p>
          <a:p>
            <a:pPr eaLnBrk="1" hangingPunct="1">
              <a:spcBef>
                <a:spcPct val="0"/>
              </a:spcBef>
            </a:pPr>
            <a:r>
              <a:rPr lang="en-US" b="1" dirty="0"/>
              <a:t>When leverage is steady:</a:t>
            </a:r>
          </a:p>
          <a:p>
            <a:pPr eaLnBrk="1" hangingPunct="1">
              <a:spcBef>
                <a:spcPct val="0"/>
              </a:spcBef>
            </a:pPr>
            <a:endParaRPr lang="en-US" dirty="0"/>
          </a:p>
          <a:p>
            <a:pPr marL="0" marR="0" indent="0" algn="l" defTabSz="914400" rtl="0" eaLnBrk="1" fontAlgn="base" latinLnBrk="0" hangingPunct="1">
              <a:lnSpc>
                <a:spcPct val="100000"/>
              </a:lnSpc>
              <a:spcBef>
                <a:spcPct val="0"/>
              </a:spcBef>
              <a:spcAft>
                <a:spcPct val="0"/>
              </a:spcAft>
              <a:buClrTx/>
              <a:buSzTx/>
              <a:buFontTx/>
              <a:buNone/>
              <a:tabLst/>
              <a:defRPr/>
            </a:pPr>
            <a:r>
              <a:rPr lang="en-US" dirty="0"/>
              <a:t>In computing FCFE, the book value debt to capital ratio should be used when looking back in time but can be replaced with the market value debt to capital ratio, looking forward.</a:t>
            </a:r>
          </a:p>
          <a:p>
            <a:pPr eaLnBrk="1" hangingPunct="1">
              <a:spcBef>
                <a:spcPct val="0"/>
              </a:spcBef>
            </a:pPr>
            <a:endParaRPr lang="en-US" dirty="0"/>
          </a:p>
          <a:p>
            <a:pPr eaLnBrk="1" hangingPunct="1">
              <a:spcBef>
                <a:spcPct val="0"/>
              </a:spcBef>
            </a:pPr>
            <a:r>
              <a:rPr lang="en-US" dirty="0"/>
              <a:t>This is a steady state equation and works if the firm is at a debt ratio that it feels that it can maintain for the foreseeable future. </a:t>
            </a:r>
          </a:p>
          <a:p>
            <a:pPr eaLnBrk="1" hangingPunct="1">
              <a:spcBef>
                <a:spcPct val="0"/>
              </a:spcBef>
            </a:pPr>
            <a:r>
              <a:rPr lang="en-US" dirty="0"/>
              <a:t>When this equation is used to estimate free </a:t>
            </a:r>
            <a:r>
              <a:rPr lang="en-US" dirty="0" err="1"/>
              <a:t>cashflows</a:t>
            </a:r>
            <a:r>
              <a:rPr lang="en-US" dirty="0"/>
              <a:t> to equity in the past, the average book debt to capital ratio has to be used. The free </a:t>
            </a:r>
            <a:r>
              <a:rPr lang="en-US" dirty="0" err="1"/>
              <a:t>cashflows</a:t>
            </a:r>
            <a:r>
              <a:rPr lang="en-US" dirty="0"/>
              <a:t> to equity each year will be different from the actual numbers, but the averages will converge.</a:t>
            </a:r>
          </a:p>
          <a:p>
            <a:pPr eaLnBrk="1" hangingPunct="1">
              <a:spcBef>
                <a:spcPct val="0"/>
              </a:spcBef>
            </a:pPr>
            <a:endParaRPr lang="en-US" dirty="0"/>
          </a:p>
          <a:p>
            <a:pPr marL="274320" indent="-274320" eaLnBrk="1" fontAlgn="auto" hangingPunct="1">
              <a:spcAft>
                <a:spcPts val="0"/>
              </a:spcAft>
              <a:buFont typeface="Monotype Sorts" charset="2"/>
              <a:buNone/>
              <a:defRPr/>
            </a:pPr>
            <a:r>
              <a:rPr lang="en-US" dirty="0"/>
              <a:t>For this firm, </a:t>
            </a:r>
          </a:p>
          <a:p>
            <a:pPr marL="640080" lvl="1" indent="-274320" eaLnBrk="1" fontAlgn="auto" hangingPunct="1">
              <a:spcAft>
                <a:spcPts val="0"/>
              </a:spcAft>
              <a:buFont typeface="Wingdings 2"/>
              <a:buChar char=""/>
              <a:defRPr/>
            </a:pPr>
            <a:r>
              <a:rPr lang="en-US" dirty="0"/>
              <a:t>Proceeds from new debt issues  = Principal Repayments + (Capital Expenditures - Depreciation + Working Capital Needs)</a:t>
            </a:r>
          </a:p>
          <a:p>
            <a:pPr marL="365760" lvl="1" indent="0" eaLnBrk="1" fontAlgn="auto" hangingPunct="1">
              <a:spcAft>
                <a:spcPts val="0"/>
              </a:spcAft>
              <a:buFont typeface="Wingdings 2"/>
              <a:buNone/>
              <a:defRPr/>
            </a:pPr>
            <a:endParaRPr lang="en-US" dirty="0"/>
          </a:p>
          <a:p>
            <a:pPr marL="0" lvl="0" indent="-91440" eaLnBrk="1" fontAlgn="auto" hangingPunct="1">
              <a:spcAft>
                <a:spcPts val="0"/>
              </a:spcAft>
              <a:buFont typeface="Wingdings 2"/>
              <a:buNone/>
              <a:defRPr/>
            </a:pPr>
            <a:endParaRPr lang="en-US" dirty="0"/>
          </a:p>
          <a:p>
            <a:pPr marL="0" lvl="0" indent="-91440" eaLnBrk="1" fontAlgn="auto" hangingPunct="1">
              <a:spcAft>
                <a:spcPts val="0"/>
              </a:spcAft>
              <a:buFont typeface="Wingdings 2"/>
              <a:buNone/>
              <a:defRPr/>
            </a:pPr>
            <a:endParaRPr lang="en-US" dirty="0"/>
          </a:p>
          <a:p>
            <a:pPr marL="0" lvl="0" indent="-91440" eaLnBrk="1" fontAlgn="auto" hangingPunct="1">
              <a:spcAft>
                <a:spcPts val="0"/>
              </a:spcAft>
              <a:buFont typeface="Wingdings 2"/>
              <a:buNone/>
              <a:defRPr/>
            </a:pPr>
            <a:r>
              <a:rPr lang="en-US" sz="1600" b="1" dirty="0"/>
              <a:t>Leverage</a:t>
            </a:r>
            <a:r>
              <a:rPr lang="en-US" sz="1600" b="1" baseline="0" dirty="0"/>
              <a:t> and Cash Flows</a:t>
            </a:r>
            <a:endParaRPr lang="en-US" sz="1600" b="1" dirty="0"/>
          </a:p>
          <a:p>
            <a:pPr marL="0" lvl="0" indent="-91440" eaLnBrk="1" fontAlgn="auto" hangingPunct="1">
              <a:spcAft>
                <a:spcPts val="0"/>
              </a:spcAft>
              <a:buFont typeface="Wingdings 2"/>
              <a:buNone/>
              <a:defRPr/>
            </a:pPr>
            <a:endParaRPr lang="en-US" dirty="0"/>
          </a:p>
          <a:p>
            <a:pPr eaLnBrk="1" fontAlgn="auto" hangingPunct="1">
              <a:spcAft>
                <a:spcPts val="0"/>
              </a:spcAft>
              <a:defRPr/>
            </a:pPr>
            <a:r>
              <a:rPr lang="en-US" dirty="0"/>
              <a:t>Let</a:t>
            </a:r>
            <a:r>
              <a:rPr lang="en-US" baseline="0" dirty="0"/>
              <a:t> s remind ourselves what happens to cost of capital when D/E ratio increases.</a:t>
            </a:r>
            <a:endParaRPr lang="en-US" dirty="0"/>
          </a:p>
          <a:p>
            <a:pPr eaLnBrk="1" fontAlgn="auto" hangingPunct="1">
              <a:spcAft>
                <a:spcPts val="0"/>
              </a:spcAft>
              <a:defRPr/>
            </a:pPr>
            <a:endParaRPr lang="en-US" dirty="0"/>
          </a:p>
          <a:p>
            <a:pPr eaLnBrk="1" fontAlgn="auto" hangingPunct="1">
              <a:spcAft>
                <a:spcPts val="0"/>
              </a:spcAft>
              <a:defRPr/>
            </a:pPr>
            <a:endParaRPr lang="en-US" dirty="0"/>
          </a:p>
          <a:p>
            <a:pPr eaLnBrk="1" fontAlgn="auto" hangingPunct="1">
              <a:spcAft>
                <a:spcPts val="0"/>
              </a:spcAft>
              <a:defRPr/>
            </a:pPr>
            <a:r>
              <a:rPr lang="en-US" dirty="0"/>
              <a:t>Leverage, FCFE and Value</a:t>
            </a:r>
          </a:p>
          <a:p>
            <a:pPr marL="171450" indent="-171450" eaLnBrk="1" fontAlgn="auto" hangingPunct="1">
              <a:spcAft>
                <a:spcPts val="0"/>
              </a:spcAft>
              <a:buFont typeface="Arial" panose="020B0604020202020204" pitchFamily="34" charset="0"/>
              <a:buChar char="•"/>
              <a:defRPr/>
            </a:pPr>
            <a:r>
              <a:rPr lang="en-US" dirty="0"/>
              <a:t>In a discounted cash flow model, increasing the debt/equity ratio will generally increase the expected free cash flows to equity investors over future time periods and also the cost of equity applied in discounting these cash flows. Which of the following statements relating leverage to value would you subscribe to?</a:t>
            </a:r>
          </a:p>
          <a:p>
            <a:pPr marL="171450" indent="-171450" eaLnBrk="1" fontAlgn="auto" hangingPunct="1">
              <a:spcAft>
                <a:spcPts val="0"/>
              </a:spcAft>
              <a:buFont typeface="Arial" panose="020B0604020202020204" pitchFamily="34" charset="0"/>
              <a:buChar char="•"/>
              <a:defRPr/>
            </a:pPr>
            <a:r>
              <a:rPr lang="en-US" dirty="0"/>
              <a:t>Increasing leverage will increase value because the cash flow effects will dominate the discount rate effects</a:t>
            </a:r>
          </a:p>
          <a:p>
            <a:pPr marL="171450" indent="-171450" eaLnBrk="1" fontAlgn="auto" hangingPunct="1">
              <a:spcAft>
                <a:spcPts val="0"/>
              </a:spcAft>
              <a:buFont typeface="Arial" panose="020B0604020202020204" pitchFamily="34" charset="0"/>
              <a:buChar char="•"/>
              <a:defRPr/>
            </a:pPr>
            <a:r>
              <a:rPr lang="en-US" dirty="0"/>
              <a:t>Increasing leverage will decrease value because the risk effect will be greater than the cash flow effects</a:t>
            </a:r>
          </a:p>
          <a:p>
            <a:pPr marL="171450" indent="-171450" eaLnBrk="1" fontAlgn="auto" hangingPunct="1">
              <a:spcAft>
                <a:spcPts val="0"/>
              </a:spcAft>
              <a:buFont typeface="Arial" panose="020B0604020202020204" pitchFamily="34" charset="0"/>
              <a:buChar char="•"/>
              <a:defRPr/>
            </a:pPr>
            <a:r>
              <a:rPr lang="en-US" dirty="0"/>
              <a:t>Increasing leverage will not affect value because the risk effect will exactly offset the cash flow effect</a:t>
            </a:r>
          </a:p>
          <a:p>
            <a:pPr marL="171450" indent="-171450" eaLnBrk="1" fontAlgn="auto" hangingPunct="1">
              <a:spcAft>
                <a:spcPts val="0"/>
              </a:spcAft>
              <a:buFont typeface="Arial" panose="020B0604020202020204" pitchFamily="34" charset="0"/>
              <a:buChar char="•"/>
              <a:defRPr/>
            </a:pPr>
            <a:r>
              <a:rPr lang="en-US" dirty="0"/>
              <a:t>Any of the above, depending upon what company you are looking at and where it is in terms of current leverage</a:t>
            </a:r>
          </a:p>
          <a:p>
            <a:pPr eaLnBrk="1" hangingPunct="1">
              <a:spcBef>
                <a:spcPct val="0"/>
              </a:spcBef>
            </a:pPr>
            <a:endParaRPr lang="en-US" dirty="0"/>
          </a:p>
          <a:p>
            <a:pPr eaLnBrk="1" hangingPunct="1">
              <a:spcBef>
                <a:spcPct val="0"/>
              </a:spcBef>
            </a:pPr>
            <a:endParaRPr lang="en-US" dirty="0"/>
          </a:p>
          <a:p>
            <a:pPr eaLnBrk="1" hangingPunct="1">
              <a:spcBef>
                <a:spcPct val="0"/>
              </a:spcBef>
            </a:pPr>
            <a:endParaRPr lang="en-US" dirty="0"/>
          </a:p>
          <a:p>
            <a:pPr eaLnBrk="1" hangingPunct="1">
              <a:spcBef>
                <a:spcPct val="0"/>
              </a:spcBef>
            </a:pPr>
            <a:r>
              <a:rPr lang="en-US" dirty="0"/>
              <a:t>Any of the above, if you believe that value can be affected by leverage and that there is an optimal debt ratio.</a:t>
            </a:r>
          </a:p>
          <a:p>
            <a:pPr eaLnBrk="1" hangingPunct="1">
              <a:spcBef>
                <a:spcPct val="0"/>
              </a:spcBef>
            </a:pPr>
            <a:r>
              <a:rPr lang="en-US" dirty="0"/>
              <a:t>The third choice if you are a true believer in Miller-Modigliani.</a:t>
            </a:r>
          </a:p>
          <a:p>
            <a:pPr eaLnBrk="1" hangingPunct="1">
              <a:spcBef>
                <a:spcPct val="0"/>
              </a:spcBef>
            </a:pPr>
            <a:endParaRPr lang="en-US" dirty="0"/>
          </a:p>
          <a:p>
            <a:pPr eaLnBrk="1" hangingPunct="1">
              <a:spcBef>
                <a:spcPct val="0"/>
              </a:spcBef>
            </a:pPr>
            <a:endParaRPr lang="en-US" dirty="0"/>
          </a:p>
          <a:p>
            <a:pPr marL="0" marR="0" indent="0" algn="l" defTabSz="914400" rtl="0" eaLnBrk="1" fontAlgn="base" latinLnBrk="0" hangingPunct="1">
              <a:lnSpc>
                <a:spcPct val="100000"/>
              </a:lnSpc>
              <a:spcBef>
                <a:spcPct val="0"/>
              </a:spcBef>
              <a:spcAft>
                <a:spcPct val="0"/>
              </a:spcAft>
              <a:buClrTx/>
              <a:buSzTx/>
              <a:buFontTx/>
              <a:buNone/>
              <a:tabLst/>
              <a:defRPr/>
            </a:pPr>
            <a:r>
              <a:rPr lang="en-US" dirty="0">
                <a:latin typeface="Times" pitchFamily="3" charset="0"/>
              </a:rPr>
              <a:t>As the debt ratio increases, equity investors are putting in less of the required reinvestment each year, which will push up the free </a:t>
            </a:r>
            <a:r>
              <a:rPr lang="en-US" dirty="0" err="1">
                <a:latin typeface="Times" pitchFamily="3" charset="0"/>
              </a:rPr>
              <a:t>cashflow</a:t>
            </a:r>
            <a:r>
              <a:rPr lang="en-US" dirty="0">
                <a:latin typeface="Times" pitchFamily="3" charset="0"/>
              </a:rPr>
              <a:t> to equity. This is based upon changing the debt ratio only on new investment. If you change the total debt ratio for the firm on existing assets, there will be higher interest expense and lower net income (but also fewer shares outstanding).</a:t>
            </a:r>
          </a:p>
          <a:p>
            <a:pPr eaLnBrk="1" hangingPunct="1">
              <a:spcBef>
                <a:spcPct val="0"/>
              </a:spcBef>
            </a:pPr>
            <a:endParaRPr lang="en-US" dirty="0"/>
          </a:p>
          <a:p>
            <a:pPr eaLnBrk="1" hangingPunct="1">
              <a:spcBef>
                <a:spcPct val="0"/>
              </a:spcBef>
            </a:pPr>
            <a:endParaRPr lang="en-US" dirty="0"/>
          </a:p>
          <a:p>
            <a:pPr eaLnBrk="1" hangingPunct="1">
              <a:spcBef>
                <a:spcPct val="0"/>
              </a:spcBef>
            </a:pPr>
            <a:r>
              <a:rPr lang="en-US" dirty="0">
                <a:latin typeface="Times" pitchFamily="3" charset="0"/>
              </a:rPr>
              <a:t>But the higher leverage increases the beta (levered) for the firm as well.</a:t>
            </a:r>
            <a:endParaRPr lang="en-US" dirty="0"/>
          </a:p>
          <a:p>
            <a:pPr marL="0" lvl="0" indent="-91440" eaLnBrk="1" fontAlgn="auto" hangingPunct="1">
              <a:spcAft>
                <a:spcPts val="0"/>
              </a:spcAft>
              <a:buFont typeface="Wingdings 2"/>
              <a:buNone/>
              <a:defRPr/>
            </a:pPr>
            <a:endParaRPr lang="en-US" dirty="0"/>
          </a:p>
          <a:p>
            <a:pPr eaLnBrk="1" hangingPunct="1">
              <a:spcBef>
                <a:spcPct val="0"/>
              </a:spcBef>
            </a:pPr>
            <a:endParaRPr lang="en-US" dirty="0"/>
          </a:p>
          <a:p>
            <a:pPr eaLnBrk="1" hangingPunct="1">
              <a:spcBef>
                <a:spcPct val="0"/>
              </a:spcBef>
            </a:pPr>
            <a:endParaRPr lang="en-US" dirty="0"/>
          </a:p>
        </p:txBody>
      </p:sp>
    </p:spTree>
    <p:extLst>
      <p:ext uri="{BB962C8B-B14F-4D97-AF65-F5344CB8AC3E}">
        <p14:creationId xmlns:p14="http://schemas.microsoft.com/office/powerpoint/2010/main" val="8686642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2697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baseline="0" dirty="0"/>
          </a:p>
        </p:txBody>
      </p:sp>
    </p:spTree>
    <p:extLst>
      <p:ext uri="{BB962C8B-B14F-4D97-AF65-F5344CB8AC3E}">
        <p14:creationId xmlns:p14="http://schemas.microsoft.com/office/powerpoint/2010/main" val="718386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Dividend</a:t>
            </a:r>
            <a:r>
              <a:rPr lang="en-GB" baseline="0" dirty="0"/>
              <a:t> cuts</a:t>
            </a:r>
          </a:p>
          <a:p>
            <a:endParaRPr lang="en-GB" baseline="0" dirty="0"/>
          </a:p>
          <a:p>
            <a:r>
              <a:rPr lang="en-GB" baseline="0" dirty="0"/>
              <a:t>A blessing or a curse?</a:t>
            </a:r>
          </a:p>
          <a:p>
            <a:endParaRPr lang="en-GB" baseline="0" dirty="0"/>
          </a:p>
          <a:p>
            <a:r>
              <a:rPr lang="en-GB" dirty="0"/>
              <a:t>http://www.bankrate.com/finance/investing/what-to-do-when-companies-cut-dividends-1.aspx</a:t>
            </a:r>
          </a:p>
          <a:p>
            <a:endParaRPr lang="en-GB" dirty="0"/>
          </a:p>
          <a:p>
            <a:r>
              <a:rPr lang="en-GB" dirty="0"/>
              <a:t>http://people.opposingviews.com/happens-company-cuts-its-dividends-8208.html</a:t>
            </a:r>
          </a:p>
          <a:p>
            <a:endParaRPr lang="en-GB" dirty="0"/>
          </a:p>
          <a:p>
            <a:r>
              <a:rPr lang="en-GB" dirty="0"/>
              <a:t>http://www.telegraph.co.uk/finance/personalfinance/investing/shares/12129790/In-charts-what-happens-to-share-prices-after-a-dividend-cut.html</a:t>
            </a:r>
          </a:p>
        </p:txBody>
      </p:sp>
      <p:sp>
        <p:nvSpPr>
          <p:cNvPr id="4" name="Slide Number Placeholder 3"/>
          <p:cNvSpPr>
            <a:spLocks noGrp="1"/>
          </p:cNvSpPr>
          <p:nvPr>
            <p:ph type="sldNum" sz="quarter" idx="10"/>
          </p:nvPr>
        </p:nvSpPr>
        <p:spPr/>
        <p:txBody>
          <a:bodyPr/>
          <a:lstStyle/>
          <a:p>
            <a:pPr>
              <a:defRPr/>
            </a:pPr>
            <a:fld id="{7B2A8712-D9C4-4A57-8EFC-F418FF8F9E97}" type="slidenum">
              <a:rPr lang="en-GB" smtClean="0"/>
              <a:pPr>
                <a:defRPr/>
              </a:pPr>
              <a:t>42</a:t>
            </a:fld>
            <a:endParaRPr lang="en-GB"/>
          </a:p>
        </p:txBody>
      </p:sp>
    </p:spTree>
    <p:extLst>
      <p:ext uri="{BB962C8B-B14F-4D97-AF65-F5344CB8AC3E}">
        <p14:creationId xmlns:p14="http://schemas.microsoft.com/office/powerpoint/2010/main" val="20609019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Annual Report can be found</a:t>
            </a:r>
            <a:r>
              <a:rPr lang="en-GB" baseline="0" dirty="0"/>
              <a:t> here</a:t>
            </a:r>
          </a:p>
          <a:p>
            <a:endParaRPr lang="en-GB" baseline="0" dirty="0"/>
          </a:p>
          <a:p>
            <a:r>
              <a:rPr lang="en-GB" dirty="0"/>
              <a:t>http://annual-report2012.bmwgroup.com/bmwgroup/annual/2012/gb/English/pdf/report2012.pdf</a:t>
            </a:r>
          </a:p>
          <a:p>
            <a:endParaRPr lang="en-GB" dirty="0"/>
          </a:p>
          <a:p>
            <a:r>
              <a:rPr lang="en-GB" dirty="0"/>
              <a:t>Debt</a:t>
            </a:r>
            <a:r>
              <a:rPr lang="en-GB" baseline="0" dirty="0"/>
              <a:t> = Short term and long term financial liabilities. </a:t>
            </a:r>
            <a:r>
              <a:rPr lang="en-GB" baseline="0"/>
              <a:t>Pages 80.</a:t>
            </a:r>
            <a:endParaRPr lang="en-GB" dirty="0"/>
          </a:p>
          <a:p>
            <a:r>
              <a:rPr lang="en-GB" dirty="0"/>
              <a:t>Information about the company p.5</a:t>
            </a:r>
            <a:r>
              <a:rPr lang="en-GB" baseline="0" dirty="0"/>
              <a:t> and 178 (Cap EX, EBIT, </a:t>
            </a:r>
            <a:r>
              <a:rPr lang="en-GB" baseline="0" dirty="0" err="1"/>
              <a:t>Dep</a:t>
            </a:r>
            <a:r>
              <a:rPr lang="en-GB" baseline="0" dirty="0"/>
              <a:t>)</a:t>
            </a:r>
          </a:p>
          <a:p>
            <a:endParaRPr lang="en-GB" baseline="0" dirty="0"/>
          </a:p>
          <a:p>
            <a:r>
              <a:rPr lang="en-GB" baseline="0" dirty="0"/>
              <a:t>p.82 changes in NWC</a:t>
            </a:r>
          </a:p>
          <a:p>
            <a:endParaRPr lang="en-GB" baseline="0" dirty="0"/>
          </a:p>
          <a:p>
            <a:r>
              <a:rPr lang="en-GB" baseline="0" dirty="0"/>
              <a:t>p. 102 Tax</a:t>
            </a:r>
          </a:p>
          <a:p>
            <a:endParaRPr lang="en-GB" baseline="0" dirty="0"/>
          </a:p>
        </p:txBody>
      </p:sp>
      <p:sp>
        <p:nvSpPr>
          <p:cNvPr id="4" name="Slide Number Placeholder 3"/>
          <p:cNvSpPr>
            <a:spLocks noGrp="1"/>
          </p:cNvSpPr>
          <p:nvPr>
            <p:ph type="sldNum" sz="quarter" idx="10"/>
          </p:nvPr>
        </p:nvSpPr>
        <p:spPr/>
        <p:txBody>
          <a:bodyPr/>
          <a:lstStyle/>
          <a:p>
            <a:pPr>
              <a:defRPr/>
            </a:pPr>
            <a:fld id="{7B2A8712-D9C4-4A57-8EFC-F418FF8F9E97}" type="slidenum">
              <a:rPr lang="en-GB" smtClean="0"/>
              <a:pPr>
                <a:defRPr/>
              </a:pPr>
              <a:t>43</a:t>
            </a:fld>
            <a:endParaRPr lang="en-GB"/>
          </a:p>
        </p:txBody>
      </p:sp>
    </p:spTree>
    <p:extLst>
      <p:ext uri="{BB962C8B-B14F-4D97-AF65-F5344CB8AC3E}">
        <p14:creationId xmlns:p14="http://schemas.microsoft.com/office/powerpoint/2010/main" val="40821777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3209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Three basic approaches for estimating growth. We tend to use all three but the degree to which we weight each in will depend upon the company that we are looking at.</a:t>
            </a:r>
          </a:p>
        </p:txBody>
      </p:sp>
    </p:spTree>
    <p:extLst>
      <p:ext uri="{BB962C8B-B14F-4D97-AF65-F5344CB8AC3E}">
        <p14:creationId xmlns:p14="http://schemas.microsoft.com/office/powerpoint/2010/main" val="8376920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33123" name="Rectangle 3"/>
          <p:cNvSpPr>
            <a:spLocks noGrp="1" noChangeArrowheads="1"/>
          </p:cNvSpPr>
          <p:nvPr>
            <p:ph type="body" idx="1"/>
          </p:nvPr>
        </p:nvSpPr>
        <p:spPr bwMode="auto">
          <a:noFill/>
        </p:spPr>
        <p:txBody>
          <a:bodyPr wrap="square" numCol="1" anchor="t" anchorCtr="0" compatLnSpc="1">
            <a:prstTxWarp prst="textNoShape">
              <a:avLst/>
            </a:prstTxWarp>
            <a:normAutofit fontScale="92500" lnSpcReduction="20000"/>
          </a:bodyPr>
          <a:lstStyle/>
          <a:p>
            <a:pPr eaLnBrk="1" hangingPunct="1">
              <a:spcBef>
                <a:spcPct val="0"/>
              </a:spcBef>
            </a:pPr>
            <a:r>
              <a:rPr lang="en-US" dirty="0"/>
              <a:t>The</a:t>
            </a:r>
            <a:r>
              <a:rPr lang="en-US" baseline="0" dirty="0"/>
              <a:t> discussion here is similar to the market risk premium. Forecasting of figures, based on past information, is always based on the assumption that past will repeat its self.</a:t>
            </a:r>
            <a:endParaRPr lang="en-US" dirty="0"/>
          </a:p>
          <a:p>
            <a:pPr eaLnBrk="1" hangingPunct="1">
              <a:spcBef>
                <a:spcPct val="0"/>
              </a:spcBef>
            </a:pPr>
            <a:endParaRPr lang="en-US" dirty="0"/>
          </a:p>
          <a:p>
            <a:pPr eaLnBrk="1" hangingPunct="1">
              <a:spcBef>
                <a:spcPct val="0"/>
              </a:spcBef>
            </a:pPr>
            <a:r>
              <a:rPr lang="en-US" dirty="0"/>
              <a:t>Estimating historical growth rates may seem to be trivial, but there are a number of estimation issues that can lead different analysts to estimate different historical growth rates for the same firm.</a:t>
            </a:r>
          </a:p>
          <a:p>
            <a:pPr eaLnBrk="1" hangingPunct="1">
              <a:spcBef>
                <a:spcPct val="0"/>
              </a:spcBef>
            </a:pPr>
            <a:endParaRPr lang="en-US" dirty="0"/>
          </a:p>
          <a:p>
            <a:pPr eaLnBrk="1" hangingPunct="1">
              <a:spcBef>
                <a:spcPct val="0"/>
              </a:spcBef>
            </a:pPr>
            <a:r>
              <a:rPr lang="en-US" dirty="0"/>
              <a:t>Arithmetic</a:t>
            </a:r>
            <a:r>
              <a:rPr lang="en-US" baseline="0" dirty="0"/>
              <a:t> Average and Regression</a:t>
            </a:r>
          </a:p>
          <a:p>
            <a:pPr eaLnBrk="1" hangingPunct="1">
              <a:spcBef>
                <a:spcPct val="0"/>
              </a:spcBef>
            </a:pPr>
            <a:endParaRPr lang="en-US" baseline="0" dirty="0"/>
          </a:p>
          <a:p>
            <a:pPr eaLnBrk="1" hangingPunct="1">
              <a:spcBef>
                <a:spcPct val="0"/>
              </a:spcBef>
            </a:pPr>
            <a:r>
              <a:rPr lang="en-US" dirty="0"/>
              <a:t>Arithmetic and geometric growth rates can be very different. However, the differences are widest when there is significant volatility in the year-to-year numbers - compare net income to EBIT to revenues.</a:t>
            </a:r>
          </a:p>
          <a:p>
            <a:pPr eaLnBrk="1" hangingPunct="1">
              <a:spcBef>
                <a:spcPct val="0"/>
              </a:spcBef>
            </a:pPr>
            <a:r>
              <a:rPr lang="en-US" i="1" dirty="0"/>
              <a:t>When will the two converge?</a:t>
            </a:r>
            <a:endParaRPr lang="en-US" dirty="0"/>
          </a:p>
          <a:p>
            <a:pPr eaLnBrk="1" hangingPunct="1">
              <a:spcBef>
                <a:spcPct val="0"/>
              </a:spcBef>
            </a:pPr>
            <a:r>
              <a:rPr lang="en-US" dirty="0"/>
              <a:t>Where there is no standard deviation in percent changes.</a:t>
            </a:r>
          </a:p>
          <a:p>
            <a:pPr eaLnBrk="1" hangingPunct="1">
              <a:spcBef>
                <a:spcPct val="0"/>
              </a:spcBef>
            </a:pPr>
            <a:endParaRPr lang="en-US" dirty="0"/>
          </a:p>
          <a:p>
            <a:pPr eaLnBrk="1" hangingPunct="1">
              <a:spcBef>
                <a:spcPct val="0"/>
              </a:spcBef>
            </a:pPr>
            <a:r>
              <a:rPr lang="en-US" dirty="0"/>
              <a:t>In addition, the regression approaches look more sophisticated than the arithmetic and geometric averages. You can think of the regression as yielding the arithmetic average growth rate and the second (using natural logs) as yielding the geometric average growth rate.</a:t>
            </a:r>
          </a:p>
          <a:p>
            <a:pPr eaLnBrk="1" hangingPunct="1">
              <a:spcBef>
                <a:spcPct val="0"/>
              </a:spcBef>
            </a:pPr>
            <a:endParaRPr lang="en-US" dirty="0"/>
          </a:p>
          <a:p>
            <a:pPr eaLnBrk="1" hangingPunct="1">
              <a:spcBef>
                <a:spcPct val="0"/>
              </a:spcBef>
            </a:pPr>
            <a:r>
              <a:rPr lang="en-US" dirty="0"/>
              <a:t>Depending on the figure</a:t>
            </a:r>
            <a:r>
              <a:rPr lang="en-US" baseline="0" dirty="0"/>
              <a:t> you want to forecast, the trends in the data and the market characteristics, each method can be preferred in various situations. Simple averages are simpler to estimated and better when figures tend to return to the same value on the long term. Geometric means are more sophisticated and work better when there are seasonal trends. Finally, regressions are even more sophisticated and complicated and try to incorporate both approaches described above. They should be the preferred choice when there are many foreseeable factors that are known to affect forecasted values.</a:t>
            </a:r>
            <a:endParaRPr lang="en-US" dirty="0"/>
          </a:p>
          <a:p>
            <a:pPr eaLnBrk="1" hangingPunct="1">
              <a:spcBef>
                <a:spcPct val="0"/>
              </a:spcBef>
            </a:pPr>
            <a:endParaRPr lang="en-US" dirty="0"/>
          </a:p>
        </p:txBody>
      </p:sp>
    </p:spTree>
    <p:extLst>
      <p:ext uri="{BB962C8B-B14F-4D97-AF65-F5344CB8AC3E}">
        <p14:creationId xmlns:p14="http://schemas.microsoft.com/office/powerpoint/2010/main" val="25655169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Data</a:t>
            </a:r>
            <a:r>
              <a:rPr lang="en-GB" baseline="0" dirty="0"/>
              <a:t> taken from Nasdaq. Details on the same file with Disney and Microsoft.</a:t>
            </a:r>
            <a:endParaRPr lang="en-US" dirty="0"/>
          </a:p>
        </p:txBody>
      </p:sp>
      <p:sp>
        <p:nvSpPr>
          <p:cNvPr id="4" name="Slide Number Placeholder 3"/>
          <p:cNvSpPr>
            <a:spLocks noGrp="1"/>
          </p:cNvSpPr>
          <p:nvPr>
            <p:ph type="sldNum" sz="quarter" idx="10"/>
          </p:nvPr>
        </p:nvSpPr>
        <p:spPr/>
        <p:txBody>
          <a:bodyPr/>
          <a:lstStyle/>
          <a:p>
            <a:pPr>
              <a:defRPr/>
            </a:pPr>
            <a:fld id="{7B2A8712-D9C4-4A57-8EFC-F418FF8F9E97}" type="slidenum">
              <a:rPr lang="en-GB" smtClean="0"/>
              <a:pPr>
                <a:defRPr/>
              </a:pPr>
              <a:t>48</a:t>
            </a:fld>
            <a:endParaRPr lang="en-GB"/>
          </a:p>
        </p:txBody>
      </p:sp>
    </p:spTree>
    <p:extLst>
      <p:ext uri="{BB962C8B-B14F-4D97-AF65-F5344CB8AC3E}">
        <p14:creationId xmlns:p14="http://schemas.microsoft.com/office/powerpoint/2010/main" val="17791904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36195" name="Rectangle 3"/>
          <p:cNvSpPr>
            <a:spLocks noGrp="1" noChangeArrowheads="1"/>
          </p:cNvSpPr>
          <p:nvPr>
            <p:ph type="body" idx="1"/>
          </p:nvPr>
        </p:nvSpPr>
        <p:spPr bwMode="auto">
          <a:noFill/>
        </p:spPr>
        <p:txBody>
          <a:bodyPr wrap="square" numCol="1" anchor="t" anchorCtr="0" compatLnSpc="1">
            <a:prstTxWarp prst="textNoShape">
              <a:avLst/>
            </a:prstTxWarp>
            <a:normAutofit lnSpcReduction="10000"/>
          </a:bodyPr>
          <a:lstStyle/>
          <a:p>
            <a:pPr eaLnBrk="1" hangingPunct="1">
              <a:spcBef>
                <a:spcPct val="0"/>
              </a:spcBef>
            </a:pPr>
            <a:r>
              <a:rPr lang="en-US" dirty="0"/>
              <a:t>It cannot be estimated. You can modify the equation to yield a number - see next page - but it would be meaningless for making forecasts.</a:t>
            </a:r>
          </a:p>
          <a:p>
            <a:pPr eaLnBrk="1" hangingPunct="1">
              <a:spcBef>
                <a:spcPct val="0"/>
              </a:spcBef>
            </a:pPr>
            <a:endParaRPr lang="en-US" dirty="0"/>
          </a:p>
          <a:p>
            <a:pPr eaLnBrk="1" hangingPunct="1">
              <a:spcBef>
                <a:spcPct val="0"/>
              </a:spcBef>
            </a:pPr>
            <a:endParaRPr lang="en-US" dirty="0"/>
          </a:p>
          <a:p>
            <a:pPr eaLnBrk="1" hangingPunct="1">
              <a:spcBef>
                <a:spcPct val="0"/>
              </a:spcBef>
            </a:pPr>
            <a:endParaRPr lang="en-US" dirty="0"/>
          </a:p>
          <a:p>
            <a:pPr eaLnBrk="1" fontAlgn="auto" hangingPunct="1">
              <a:spcAft>
                <a:spcPts val="0"/>
              </a:spcAft>
              <a:defRPr/>
            </a:pPr>
            <a:r>
              <a:rPr lang="en-US" b="1" dirty="0"/>
              <a:t>Dealing with Negative Earnings</a:t>
            </a:r>
          </a:p>
          <a:p>
            <a:pPr marL="274320" indent="-274320" eaLnBrk="1" fontAlgn="auto" hangingPunct="1">
              <a:spcAft>
                <a:spcPts val="0"/>
              </a:spcAft>
              <a:buFont typeface="Wingdings"/>
              <a:buChar char=""/>
              <a:defRPr/>
            </a:pPr>
            <a:r>
              <a:rPr lang="en-US" dirty="0"/>
              <a:t>When the earnings in the starting period are negative, the growth rate cannot be estimated. (0.30/-0.05 = -600%)		</a:t>
            </a:r>
          </a:p>
          <a:p>
            <a:pPr marL="274320" indent="-274320" eaLnBrk="1" fontAlgn="auto" hangingPunct="1">
              <a:spcAft>
                <a:spcPts val="0"/>
              </a:spcAft>
              <a:buFont typeface="Wingdings"/>
              <a:buChar char=""/>
              <a:defRPr/>
            </a:pPr>
            <a:r>
              <a:rPr lang="en-US" dirty="0"/>
              <a:t>There are three solutions:</a:t>
            </a:r>
          </a:p>
          <a:p>
            <a:pPr marL="640080" lvl="1" indent="-274320" eaLnBrk="1" fontAlgn="auto" hangingPunct="1">
              <a:spcAft>
                <a:spcPts val="0"/>
              </a:spcAft>
              <a:buFont typeface="Wingdings 2"/>
              <a:buChar char=""/>
              <a:defRPr/>
            </a:pPr>
            <a:r>
              <a:rPr lang="en-US" dirty="0"/>
              <a:t>Use the higher of the two numbers as the denominator (0.30/0.25 = 120%)</a:t>
            </a:r>
          </a:p>
          <a:p>
            <a:pPr marL="640080" lvl="1" indent="-274320" eaLnBrk="1" fontAlgn="auto" hangingPunct="1">
              <a:spcAft>
                <a:spcPts val="0"/>
              </a:spcAft>
              <a:buFont typeface="Wingdings 2"/>
              <a:buChar char=""/>
              <a:defRPr/>
            </a:pPr>
            <a:r>
              <a:rPr lang="en-US" dirty="0"/>
              <a:t>Use the absolute value of earnings in the starting period as the denominator (0.30/0.05=600%)</a:t>
            </a:r>
          </a:p>
          <a:p>
            <a:pPr marL="640080" lvl="1" indent="-274320" eaLnBrk="1" fontAlgn="auto" hangingPunct="1">
              <a:spcAft>
                <a:spcPts val="0"/>
              </a:spcAft>
              <a:buFont typeface="Wingdings 2"/>
              <a:buChar char=""/>
              <a:defRPr/>
            </a:pPr>
            <a:r>
              <a:rPr lang="en-US" dirty="0"/>
              <a:t>Use a linear regression model and divide the coefficient by the average earnings.</a:t>
            </a:r>
          </a:p>
          <a:p>
            <a:pPr marL="274320" indent="-274320" eaLnBrk="1" fontAlgn="auto" hangingPunct="1">
              <a:spcAft>
                <a:spcPts val="0"/>
              </a:spcAft>
              <a:buFont typeface="Wingdings"/>
              <a:buChar char=""/>
              <a:defRPr/>
            </a:pPr>
            <a:r>
              <a:rPr lang="en-US" dirty="0"/>
              <a:t>When earnings are negative, the growth rate is meaningless. Thus, while the growth rate can be estimated, it does not tell you much about the future.</a:t>
            </a:r>
          </a:p>
          <a:p>
            <a:pPr eaLnBrk="1" hangingPunct="1">
              <a:spcBef>
                <a:spcPct val="0"/>
              </a:spcBef>
            </a:pPr>
            <a:endParaRPr lang="en-US" dirty="0"/>
          </a:p>
          <a:p>
            <a:pPr eaLnBrk="1" hangingPunct="1">
              <a:spcBef>
                <a:spcPct val="0"/>
              </a:spcBef>
            </a:pPr>
            <a:endParaRPr lang="en-US" dirty="0"/>
          </a:p>
          <a:p>
            <a:pPr eaLnBrk="1" hangingPunct="1">
              <a:spcBef>
                <a:spcPct val="0"/>
              </a:spcBef>
            </a:pPr>
            <a:endParaRPr lang="en-US" dirty="0"/>
          </a:p>
          <a:p>
            <a:pPr eaLnBrk="1" hangingPunct="1">
              <a:spcBef>
                <a:spcPct val="0"/>
              </a:spcBef>
            </a:pPr>
            <a:r>
              <a:rPr lang="en-US" dirty="0"/>
              <a:t>There are mechanical fixes that might need to be employed to come up with a number, but you should not read too much into that number.</a:t>
            </a:r>
          </a:p>
          <a:p>
            <a:pPr eaLnBrk="1" hangingPunct="1">
              <a:spcBef>
                <a:spcPct val="0"/>
              </a:spcBef>
            </a:pPr>
            <a:endParaRPr lang="en-US" dirty="0"/>
          </a:p>
        </p:txBody>
      </p:sp>
    </p:spTree>
    <p:extLst>
      <p:ext uri="{BB962C8B-B14F-4D97-AF65-F5344CB8AC3E}">
        <p14:creationId xmlns:p14="http://schemas.microsoft.com/office/powerpoint/2010/main" val="30198806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4029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Analysts spend a disproportionate amount of time forecasting next quarter’s earnings per share - disproportionate because next quarter’s earnings per share has a relatively small impact on the value of a firm. </a:t>
            </a:r>
          </a:p>
          <a:p>
            <a:pPr eaLnBrk="1" hangingPunct="1">
              <a:spcBef>
                <a:spcPct val="0"/>
              </a:spcBef>
            </a:pPr>
            <a:r>
              <a:rPr lang="en-US" dirty="0"/>
              <a:t>Analyst forecasts are easy to get. Thus, they are used in a large number of valuations to arrive at expected growth in earnings.#</a:t>
            </a:r>
          </a:p>
          <a:p>
            <a:pPr eaLnBrk="1" hangingPunct="1">
              <a:spcBef>
                <a:spcPct val="0"/>
              </a:spcBef>
            </a:pPr>
            <a:endParaRPr lang="en-US" dirty="0"/>
          </a:p>
          <a:p>
            <a:pPr marL="0" marR="0" indent="0" algn="l" defTabSz="914400" rtl="0" eaLnBrk="1" fontAlgn="base" latinLnBrk="0" hangingPunct="1">
              <a:lnSpc>
                <a:spcPct val="100000"/>
              </a:lnSpc>
              <a:spcBef>
                <a:spcPct val="0"/>
              </a:spcBef>
              <a:spcAft>
                <a:spcPct val="0"/>
              </a:spcAft>
              <a:buClrTx/>
              <a:buSzTx/>
              <a:buFontTx/>
              <a:buNone/>
              <a:tabLst/>
              <a:defRPr/>
            </a:pPr>
            <a:r>
              <a:rPr lang="en-US" dirty="0"/>
              <a:t>Analyst forecasts of earnings per share and expected growth are widely disseminated by services such as </a:t>
            </a:r>
            <a:r>
              <a:rPr lang="en-US" dirty="0" err="1"/>
              <a:t>Zacks</a:t>
            </a:r>
            <a:r>
              <a:rPr lang="en-US" dirty="0"/>
              <a:t> and IBES, at least for U.S companies.</a:t>
            </a:r>
          </a:p>
          <a:p>
            <a:pPr eaLnBrk="1" hangingPunct="1">
              <a:spcBef>
                <a:spcPct val="0"/>
              </a:spcBef>
            </a:pPr>
            <a:endParaRPr lang="en-US" dirty="0"/>
          </a:p>
        </p:txBody>
      </p:sp>
    </p:spTree>
    <p:extLst>
      <p:ext uri="{BB962C8B-B14F-4D97-AF65-F5344CB8AC3E}">
        <p14:creationId xmlns:p14="http://schemas.microsoft.com/office/powerpoint/2010/main" val="2414523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Up</a:t>
            </a:r>
            <a:r>
              <a:rPr lang="en-GB" baseline="0" dirty="0"/>
              <a:t> to date data can be found here</a:t>
            </a:r>
          </a:p>
          <a:p>
            <a:endParaRPr lang="en-GB" baseline="0" dirty="0"/>
          </a:p>
          <a:p>
            <a:r>
              <a:rPr lang="en-GB" dirty="0"/>
              <a:t>https://www.nasdaq.com/symbol/aapl/analyst-research</a:t>
            </a:r>
          </a:p>
          <a:p>
            <a:endParaRPr lang="en-GB" dirty="0"/>
          </a:p>
          <a:p>
            <a:endParaRPr lang="en-GB" dirty="0"/>
          </a:p>
          <a:p>
            <a:r>
              <a:rPr lang="en-GB" dirty="0"/>
              <a:t>Like</a:t>
            </a:r>
            <a:r>
              <a:rPr lang="en-GB" baseline="0" dirty="0"/>
              <a:t> in any other case there seems to be a diverse palette of opinions with regards to the future of EPS and Share Price of Apple. If we do not have our own information set, we might need to reserve to other peoples opinions. There is no rule of thumb for choosing which one is ore reliable</a:t>
            </a:r>
          </a:p>
          <a:p>
            <a:br>
              <a:rPr lang="en-GB" baseline="0" dirty="0"/>
            </a:br>
            <a:r>
              <a:rPr lang="en-GB" baseline="0" dirty="0"/>
              <a:t>To add a bit more to the debate, some more opinions can be found below</a:t>
            </a:r>
          </a:p>
          <a:p>
            <a:endParaRPr lang="en-GB" baseline="0" dirty="0"/>
          </a:p>
          <a:p>
            <a:r>
              <a:rPr lang="en-GB" dirty="0"/>
              <a:t>http://www.telegraph.co.uk/finance/markets/questor/11375500/Questor-share-tip-Apple-remains-a-sell.html</a:t>
            </a:r>
            <a:endParaRPr lang="en-GB" baseline="0" dirty="0"/>
          </a:p>
        </p:txBody>
      </p:sp>
      <p:sp>
        <p:nvSpPr>
          <p:cNvPr id="4" name="Slide Number Placeholder 3"/>
          <p:cNvSpPr>
            <a:spLocks noGrp="1"/>
          </p:cNvSpPr>
          <p:nvPr>
            <p:ph type="sldNum" sz="quarter" idx="10"/>
          </p:nvPr>
        </p:nvSpPr>
        <p:spPr/>
        <p:txBody>
          <a:bodyPr/>
          <a:lstStyle/>
          <a:p>
            <a:pPr>
              <a:defRPr/>
            </a:pPr>
            <a:fld id="{7B2A8712-D9C4-4A57-8EFC-F418FF8F9E97}" type="slidenum">
              <a:rPr lang="en-GB" smtClean="0"/>
              <a:pPr>
                <a:defRPr/>
              </a:pPr>
              <a:t>52</a:t>
            </a:fld>
            <a:endParaRPr lang="en-GB"/>
          </a:p>
        </p:txBody>
      </p:sp>
    </p:spTree>
    <p:extLst>
      <p:ext uri="{BB962C8B-B14F-4D97-AF65-F5344CB8AC3E}">
        <p14:creationId xmlns:p14="http://schemas.microsoft.com/office/powerpoint/2010/main" val="23692820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41315" name="Rectangle 3"/>
          <p:cNvSpPr>
            <a:spLocks noGrp="1" noChangeArrowheads="1"/>
          </p:cNvSpPr>
          <p:nvPr>
            <p:ph type="body" idx="1"/>
          </p:nvPr>
        </p:nvSpPr>
        <p:spPr bwMode="auto">
          <a:noFill/>
        </p:spPr>
        <p:txBody>
          <a:bodyPr wrap="square" numCol="1" anchor="t" anchorCtr="0" compatLnSpc="1">
            <a:prstTxWarp prst="textNoShape">
              <a:avLst/>
            </a:prstTxWarp>
            <a:normAutofit fontScale="55000" lnSpcReduction="20000"/>
          </a:bodyPr>
          <a:lstStyle/>
          <a:p>
            <a:pPr eaLnBrk="1" hangingPunct="1">
              <a:spcBef>
                <a:spcPct val="0"/>
              </a:spcBef>
            </a:pPr>
            <a:r>
              <a:rPr lang="en-US" dirty="0"/>
              <a:t>While analyst estimates tend to be more precise than historical growth based estimates, the improvement in accuracy seems small relative to the resources expended on analysts….</a:t>
            </a:r>
          </a:p>
          <a:p>
            <a:pPr eaLnBrk="1" hangingPunct="1">
              <a:spcBef>
                <a:spcPct val="0"/>
              </a:spcBef>
            </a:pPr>
            <a:r>
              <a:rPr lang="en-US" dirty="0"/>
              <a:t>Analysts also tend to move in herds… an upgrade by one often leads to upgrades by others…</a:t>
            </a:r>
          </a:p>
          <a:p>
            <a:pPr eaLnBrk="1" hangingPunct="1">
              <a:spcBef>
                <a:spcPct val="0"/>
              </a:spcBef>
            </a:pPr>
            <a:endParaRPr lang="en-US" dirty="0"/>
          </a:p>
          <a:p>
            <a:pPr eaLnBrk="1" fontAlgn="auto" hangingPunct="1">
              <a:spcAft>
                <a:spcPts val="0"/>
              </a:spcAft>
              <a:defRPr/>
            </a:pPr>
            <a:r>
              <a:rPr lang="en-US" dirty="0">
                <a:hlinkClick r:id="rId3"/>
              </a:rPr>
              <a:t>The Five Deadly Sins of an Analyst</a:t>
            </a:r>
            <a:endParaRPr lang="en-US" dirty="0"/>
          </a:p>
          <a:p>
            <a:pPr marL="274320" indent="-274320" eaLnBrk="1" fontAlgn="auto" hangingPunct="1">
              <a:spcAft>
                <a:spcPts val="0"/>
              </a:spcAft>
              <a:buFont typeface="Wingdings"/>
              <a:buChar char=""/>
              <a:defRPr/>
            </a:pPr>
            <a:r>
              <a:rPr lang="en-US" b="1" dirty="0"/>
              <a:t>Tunnel Vision</a:t>
            </a:r>
            <a:r>
              <a:rPr lang="en-US" dirty="0"/>
              <a:t>: Becoming so focused on the sector and valuations within the sector that you lose sight of the bigger picture.</a:t>
            </a:r>
          </a:p>
          <a:p>
            <a:pPr marL="274320" indent="-274320" eaLnBrk="1" fontAlgn="auto" hangingPunct="1">
              <a:spcAft>
                <a:spcPts val="0"/>
              </a:spcAft>
              <a:buFont typeface="Wingdings"/>
              <a:buChar char=""/>
              <a:defRPr/>
            </a:pPr>
            <a:r>
              <a:rPr lang="en-US" b="1" dirty="0" err="1"/>
              <a:t>Lemmingitis</a:t>
            </a:r>
            <a:r>
              <a:rPr lang="en-US" dirty="0" err="1"/>
              <a:t>:Strong</a:t>
            </a:r>
            <a:r>
              <a:rPr lang="en-US" dirty="0"/>
              <a:t> urge felt to change recommendations &amp; revise earnings estimates when other analysts do the same.</a:t>
            </a:r>
          </a:p>
          <a:p>
            <a:pPr marL="274320" indent="-274320" eaLnBrk="1" fontAlgn="auto" hangingPunct="1">
              <a:spcAft>
                <a:spcPts val="0"/>
              </a:spcAft>
              <a:buFont typeface="Wingdings"/>
              <a:buChar char=""/>
              <a:defRPr/>
            </a:pPr>
            <a:r>
              <a:rPr lang="en-US" b="1" dirty="0"/>
              <a:t>Stockholm Syndrome</a:t>
            </a:r>
            <a:r>
              <a:rPr lang="en-US" dirty="0"/>
              <a:t>: Refers to analysts who start identifying with the managers of the firms that they are supposed to follow.</a:t>
            </a:r>
          </a:p>
          <a:p>
            <a:pPr marL="274320" indent="-274320" eaLnBrk="1" fontAlgn="auto" hangingPunct="1">
              <a:spcAft>
                <a:spcPts val="0"/>
              </a:spcAft>
              <a:buFont typeface="Wingdings"/>
              <a:buChar char=""/>
              <a:defRPr/>
            </a:pPr>
            <a:r>
              <a:rPr lang="en-US" b="1" dirty="0" err="1"/>
              <a:t>Factophobia</a:t>
            </a:r>
            <a:r>
              <a:rPr lang="en-US" dirty="0"/>
              <a:t> (generally is coupled with delusions of being a famous story teller): Tendency to base a recommendation on a “story” coupled with a refusal to face the facts.</a:t>
            </a:r>
          </a:p>
          <a:p>
            <a:pPr marL="274320" indent="-274320" eaLnBrk="1" fontAlgn="auto" hangingPunct="1">
              <a:spcAft>
                <a:spcPts val="0"/>
              </a:spcAft>
              <a:buFont typeface="Wingdings"/>
              <a:buChar char=""/>
              <a:defRPr/>
            </a:pPr>
            <a:r>
              <a:rPr lang="en-US" b="1" dirty="0"/>
              <a:t>Dr. Jekyll/</a:t>
            </a:r>
            <a:r>
              <a:rPr lang="en-US" b="1" dirty="0" err="1"/>
              <a:t>Mr.Hyde</a:t>
            </a:r>
            <a:r>
              <a:rPr lang="en-US" dirty="0"/>
              <a:t>: Analyst who thinks his primary job is to bring in investment banking business to the firm.</a:t>
            </a:r>
          </a:p>
          <a:p>
            <a:pPr eaLnBrk="1" hangingPunct="1">
              <a:spcBef>
                <a:spcPct val="0"/>
              </a:spcBef>
            </a:pPr>
            <a:endParaRPr lang="en-US" dirty="0"/>
          </a:p>
          <a:p>
            <a:pPr eaLnBrk="1" hangingPunct="1">
              <a:spcBef>
                <a:spcPct val="0"/>
              </a:spcBef>
            </a:pPr>
            <a:endParaRPr lang="en-US" dirty="0"/>
          </a:p>
          <a:p>
            <a:pPr eaLnBrk="1" fontAlgn="auto" hangingPunct="1">
              <a:spcAft>
                <a:spcPts val="0"/>
              </a:spcAft>
              <a:defRPr/>
            </a:pPr>
            <a:r>
              <a:rPr lang="en-US" dirty="0"/>
              <a:t>Are some analysts more equal than others?</a:t>
            </a:r>
          </a:p>
          <a:p>
            <a:pPr marL="274320" indent="-274320" eaLnBrk="1" fontAlgn="auto" hangingPunct="1">
              <a:lnSpc>
                <a:spcPct val="90000"/>
              </a:lnSpc>
              <a:spcAft>
                <a:spcPts val="0"/>
              </a:spcAft>
              <a:buFont typeface="Wingdings"/>
              <a:buChar char=""/>
              <a:defRPr/>
            </a:pPr>
            <a:r>
              <a:rPr lang="en-US" dirty="0"/>
              <a:t>A study of All-America Analysts (chosen by Institutional Investor) found that</a:t>
            </a:r>
          </a:p>
          <a:p>
            <a:pPr marL="640080" lvl="1" indent="-274320" eaLnBrk="1" fontAlgn="auto" hangingPunct="1">
              <a:lnSpc>
                <a:spcPct val="90000"/>
              </a:lnSpc>
              <a:spcAft>
                <a:spcPts val="0"/>
              </a:spcAft>
              <a:buFont typeface="Wingdings 2"/>
              <a:buChar char=""/>
              <a:defRPr/>
            </a:pPr>
            <a:r>
              <a:rPr lang="en-US" dirty="0"/>
              <a:t>There is</a:t>
            </a:r>
            <a:r>
              <a:rPr lang="en-US" u="sng" dirty="0"/>
              <a:t> no evidence </a:t>
            </a:r>
            <a:r>
              <a:rPr lang="en-US" dirty="0"/>
              <a:t>that analysts who are chosen for the All-America Analyst team were chosen </a:t>
            </a:r>
            <a:r>
              <a:rPr lang="en-US" u="sng" dirty="0"/>
              <a:t>because they were better forecasters </a:t>
            </a:r>
            <a:r>
              <a:rPr lang="en-US" dirty="0"/>
              <a:t>of earnings. (Their median forecast error in the quarter prior to being chosen was 30%; the median forecast error of other analysts was 28%)</a:t>
            </a:r>
          </a:p>
          <a:p>
            <a:pPr marL="640080" lvl="1" indent="-274320" eaLnBrk="1" fontAlgn="auto" hangingPunct="1">
              <a:lnSpc>
                <a:spcPct val="90000"/>
              </a:lnSpc>
              <a:spcAft>
                <a:spcPts val="0"/>
              </a:spcAft>
              <a:buFont typeface="Wingdings 2"/>
              <a:buChar char=""/>
              <a:defRPr/>
            </a:pPr>
            <a:r>
              <a:rPr lang="en-US" dirty="0"/>
              <a:t>However, in the calendar year following being chosen as All-America analysts, these analysts become </a:t>
            </a:r>
            <a:r>
              <a:rPr lang="en-US" u="sng" dirty="0"/>
              <a:t>slightly better forecasters </a:t>
            </a:r>
            <a:r>
              <a:rPr lang="en-US" dirty="0"/>
              <a:t>than their less fortunate brethren. (The median forecast error for All-America analysts is 2% lower than the median forecast error for other analysts)</a:t>
            </a:r>
          </a:p>
          <a:p>
            <a:pPr marL="640080" lvl="1" indent="-274320" eaLnBrk="1" fontAlgn="auto" hangingPunct="1">
              <a:lnSpc>
                <a:spcPct val="90000"/>
              </a:lnSpc>
              <a:spcAft>
                <a:spcPts val="0"/>
              </a:spcAft>
              <a:buFont typeface="Wingdings 2"/>
              <a:buChar char=""/>
              <a:defRPr/>
            </a:pPr>
            <a:r>
              <a:rPr lang="en-US" dirty="0"/>
              <a:t>Earnings revisions made by All-America analysts </a:t>
            </a:r>
            <a:r>
              <a:rPr lang="en-US" u="sng" dirty="0"/>
              <a:t>tend to have a much greater impact </a:t>
            </a:r>
            <a:r>
              <a:rPr lang="en-US" dirty="0"/>
              <a:t>on the stock price than revisions from other analysts</a:t>
            </a:r>
          </a:p>
          <a:p>
            <a:pPr marL="640080" lvl="1" indent="-274320" eaLnBrk="1" fontAlgn="auto" hangingPunct="1">
              <a:lnSpc>
                <a:spcPct val="90000"/>
              </a:lnSpc>
              <a:spcAft>
                <a:spcPts val="0"/>
              </a:spcAft>
              <a:buFont typeface="Wingdings 2"/>
              <a:buChar char=""/>
              <a:defRPr/>
            </a:pPr>
            <a:r>
              <a:rPr lang="en-US" dirty="0"/>
              <a:t>The recommendations made by the All America analysts have a </a:t>
            </a:r>
            <a:r>
              <a:rPr lang="en-US" u="sng" dirty="0"/>
              <a:t>greater impact on stock prices </a:t>
            </a:r>
            <a:r>
              <a:rPr lang="en-US" dirty="0"/>
              <a:t>(3% on buys; 4.7% on sells). For these recommendations the price changes are sustained, and they continue to rise in the following period (2.4% for buys; 13.8% for the sells).</a:t>
            </a:r>
          </a:p>
          <a:p>
            <a:pPr eaLnBrk="1" fontAlgn="auto" hangingPunct="1">
              <a:spcAft>
                <a:spcPts val="0"/>
              </a:spcAft>
              <a:defRPr/>
            </a:pPr>
            <a:endParaRPr lang="en-US" dirty="0"/>
          </a:p>
          <a:p>
            <a:pPr eaLnBrk="1" fontAlgn="auto" hangingPunct="1">
              <a:spcAft>
                <a:spcPts val="0"/>
              </a:spcAft>
              <a:defRPr/>
            </a:pPr>
            <a:endParaRPr lang="en-US" dirty="0"/>
          </a:p>
          <a:p>
            <a:pPr eaLnBrk="1" fontAlgn="auto" hangingPunct="1">
              <a:spcAft>
                <a:spcPts val="0"/>
              </a:spcAft>
              <a:defRPr/>
            </a:pPr>
            <a:r>
              <a:rPr lang="en-US" dirty="0"/>
              <a:t>Propositions about Analyst Growth Rates</a:t>
            </a:r>
          </a:p>
          <a:p>
            <a:pPr marL="274320" indent="-274320" eaLnBrk="1" fontAlgn="auto" hangingPunct="1">
              <a:lnSpc>
                <a:spcPct val="90000"/>
              </a:lnSpc>
              <a:spcAft>
                <a:spcPts val="0"/>
              </a:spcAft>
              <a:buFont typeface="Wingdings"/>
              <a:buChar char=""/>
              <a:defRPr/>
            </a:pPr>
            <a:r>
              <a:rPr lang="en-US" b="1" dirty="0"/>
              <a:t>Proposition 1</a:t>
            </a:r>
            <a:r>
              <a:rPr lang="en-US" dirty="0"/>
              <a:t>: There if far less private information and far more public information in most analyst forecasts than is generally claimed.</a:t>
            </a:r>
          </a:p>
          <a:p>
            <a:pPr marL="274320" indent="-274320" eaLnBrk="1" fontAlgn="auto" hangingPunct="1">
              <a:lnSpc>
                <a:spcPct val="90000"/>
              </a:lnSpc>
              <a:spcAft>
                <a:spcPts val="0"/>
              </a:spcAft>
              <a:buFont typeface="Wingdings"/>
              <a:buChar char=""/>
              <a:defRPr/>
            </a:pPr>
            <a:r>
              <a:rPr lang="en-US" b="1" dirty="0"/>
              <a:t>Proposition 2</a:t>
            </a:r>
            <a:r>
              <a:rPr lang="en-US" dirty="0"/>
              <a:t>: The biggest source of private information for analysts remains the company itself which might explain</a:t>
            </a:r>
          </a:p>
          <a:p>
            <a:pPr marL="640080" lvl="1" indent="-274320" eaLnBrk="1" fontAlgn="auto" hangingPunct="1">
              <a:lnSpc>
                <a:spcPct val="90000"/>
              </a:lnSpc>
              <a:spcAft>
                <a:spcPts val="0"/>
              </a:spcAft>
              <a:buFont typeface="Wingdings 2"/>
              <a:buChar char=""/>
              <a:defRPr/>
            </a:pPr>
            <a:r>
              <a:rPr lang="en-US" dirty="0"/>
              <a:t>why there are more buy recommendations than sell recommendations (information bias and the need to preserve sources)</a:t>
            </a:r>
          </a:p>
          <a:p>
            <a:pPr marL="640080" lvl="1" indent="-274320" eaLnBrk="1" fontAlgn="auto" hangingPunct="1">
              <a:lnSpc>
                <a:spcPct val="90000"/>
              </a:lnSpc>
              <a:spcAft>
                <a:spcPts val="0"/>
              </a:spcAft>
              <a:buFont typeface="Wingdings 2"/>
              <a:buChar char=""/>
              <a:defRPr/>
            </a:pPr>
            <a:r>
              <a:rPr lang="en-US" dirty="0"/>
              <a:t>why there is such a high correlation across analysts forecasts and revisions</a:t>
            </a:r>
          </a:p>
          <a:p>
            <a:pPr marL="640080" lvl="1" indent="-274320" eaLnBrk="1" fontAlgn="auto" hangingPunct="1">
              <a:lnSpc>
                <a:spcPct val="90000"/>
              </a:lnSpc>
              <a:spcAft>
                <a:spcPts val="0"/>
              </a:spcAft>
              <a:buFont typeface="Wingdings 2"/>
              <a:buChar char=""/>
              <a:defRPr/>
            </a:pPr>
            <a:r>
              <a:rPr lang="en-US" dirty="0"/>
              <a:t>why All-America analysts become better forecasters than other analysts after they are chosen to be part of the team.</a:t>
            </a:r>
          </a:p>
          <a:p>
            <a:pPr marL="274320" indent="-274320" eaLnBrk="1" fontAlgn="auto" hangingPunct="1">
              <a:lnSpc>
                <a:spcPct val="90000"/>
              </a:lnSpc>
              <a:spcAft>
                <a:spcPts val="0"/>
              </a:spcAft>
              <a:buFont typeface="Wingdings"/>
              <a:buChar char=""/>
              <a:defRPr/>
            </a:pPr>
            <a:r>
              <a:rPr lang="en-US" b="1" dirty="0"/>
              <a:t>Proposition 3</a:t>
            </a:r>
            <a:r>
              <a:rPr lang="en-US" dirty="0"/>
              <a:t>: There is value to knowing what analysts are forecasting as earnings growth for a firm. There is, however, danger when they agree too much (</a:t>
            </a:r>
            <a:r>
              <a:rPr lang="en-US" dirty="0" err="1"/>
              <a:t>lemmingitis</a:t>
            </a:r>
            <a:r>
              <a:rPr lang="en-US" dirty="0"/>
              <a:t>) and when they agree to little (in which case the information that they have is so noisy as to be useless).</a:t>
            </a:r>
          </a:p>
          <a:p>
            <a:pPr eaLnBrk="1" hangingPunct="1">
              <a:spcBef>
                <a:spcPct val="0"/>
              </a:spcBef>
            </a:pPr>
            <a:endParaRPr lang="en-US" dirty="0"/>
          </a:p>
        </p:txBody>
      </p:sp>
    </p:spTree>
    <p:extLst>
      <p:ext uri="{BB962C8B-B14F-4D97-AF65-F5344CB8AC3E}">
        <p14:creationId xmlns:p14="http://schemas.microsoft.com/office/powerpoint/2010/main" val="346280120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dirty="0"/>
              <a:t>Simple set-up to illustrate that earnings growth comes from how much you reinvest and how well you reinvest…</a:t>
            </a:r>
          </a:p>
          <a:p>
            <a:pPr eaLnBrk="1" hangingPunct="1">
              <a:spcBef>
                <a:spcPct val="0"/>
              </a:spcBef>
            </a:pPr>
            <a:endParaRPr lang="en-US" dirty="0"/>
          </a:p>
          <a:p>
            <a:pPr eaLnBrk="1" hangingPunct="1">
              <a:spcBef>
                <a:spcPct val="0"/>
              </a:spcBef>
            </a:pPr>
            <a:r>
              <a:rPr lang="en-US" dirty="0"/>
              <a:t>Change in earnings comes from two sources:</a:t>
            </a:r>
          </a:p>
          <a:p>
            <a:pPr eaLnBrk="1" hangingPunct="1">
              <a:spcBef>
                <a:spcPct val="0"/>
              </a:spcBef>
            </a:pPr>
            <a:endParaRPr lang="en-US" dirty="0"/>
          </a:p>
          <a:p>
            <a:pPr eaLnBrk="1" hangingPunct="1">
              <a:spcBef>
                <a:spcPct val="0"/>
              </a:spcBef>
            </a:pPr>
            <a:r>
              <a:rPr lang="en-US" dirty="0"/>
              <a:t>Investment</a:t>
            </a:r>
          </a:p>
          <a:p>
            <a:pPr eaLnBrk="1" hangingPunct="1">
              <a:spcBef>
                <a:spcPct val="0"/>
              </a:spcBef>
            </a:pPr>
            <a:r>
              <a:rPr lang="en-US" dirty="0"/>
              <a:t>When we invest in more projects,</a:t>
            </a:r>
            <a:r>
              <a:rPr lang="en-US" baseline="0" dirty="0"/>
              <a:t> we can expect higher future earnings, even if the ROI stays the same. This is one way to achieve growth, by investing more (and keep return per project stable)</a:t>
            </a:r>
            <a:endParaRPr lang="en-US" dirty="0"/>
          </a:p>
          <a:p>
            <a:pPr eaLnBrk="1" hangingPunct="1">
              <a:spcBef>
                <a:spcPct val="0"/>
              </a:spcBef>
            </a:pPr>
            <a:endParaRPr lang="en-US" dirty="0"/>
          </a:p>
          <a:p>
            <a:pPr eaLnBrk="1" hangingPunct="1">
              <a:spcBef>
                <a:spcPct val="0"/>
              </a:spcBef>
            </a:pPr>
            <a:r>
              <a:rPr lang="en-US" dirty="0"/>
              <a:t>Change</a:t>
            </a:r>
            <a:r>
              <a:rPr lang="en-US" baseline="0" dirty="0"/>
              <a:t> in ROI</a:t>
            </a:r>
          </a:p>
          <a:p>
            <a:pPr eaLnBrk="1" hangingPunct="1">
              <a:spcBef>
                <a:spcPct val="0"/>
              </a:spcBef>
            </a:pPr>
            <a:r>
              <a:rPr lang="en-US" baseline="0" dirty="0"/>
              <a:t>We can achieve growth even if we do not invest more, as long as we can achieve higher ROI for (new and) existing projects. </a:t>
            </a:r>
            <a:r>
              <a:rPr lang="en-US" baseline="0" dirty="0" err="1"/>
              <a:t>F.e</a:t>
            </a:r>
            <a:r>
              <a:rPr lang="en-US" baseline="0" dirty="0"/>
              <a:t>. we can change a material or a supplier and achieve lower cost of goods sold. Consequently, the return on investment increases for existing projects. Earnings go up and this way we can create </a:t>
            </a:r>
            <a:r>
              <a:rPr lang="en-US" baseline="0" dirty="0" err="1"/>
              <a:t>growt</a:t>
            </a:r>
            <a:r>
              <a:rPr lang="en-US" baseline="0" dirty="0"/>
              <a:t>.</a:t>
            </a:r>
          </a:p>
          <a:p>
            <a:pPr eaLnBrk="1" hangingPunct="1">
              <a:spcBef>
                <a:spcPct val="0"/>
              </a:spcBef>
            </a:pPr>
            <a:endParaRPr lang="en-US" baseline="0" dirty="0"/>
          </a:p>
          <a:p>
            <a:pPr eaLnBrk="1" hangingPunct="1">
              <a:spcBef>
                <a:spcPct val="0"/>
              </a:spcBef>
            </a:pPr>
            <a:r>
              <a:rPr lang="en-US" baseline="0" dirty="0"/>
              <a:t>Combination of the two</a:t>
            </a:r>
          </a:p>
          <a:p>
            <a:pPr eaLnBrk="1" hangingPunct="1">
              <a:spcBef>
                <a:spcPct val="0"/>
              </a:spcBef>
            </a:pPr>
            <a:r>
              <a:rPr lang="en-US" baseline="0" dirty="0"/>
              <a:t>Another way of achieving growth is by investing more on projects that can increase ROI. For example, an investment in a new, more efficient machine, will increase ROI (for existing and new projects) and the invested capital, and consequently we can expect higher earnings and thus, growth.</a:t>
            </a:r>
            <a:endParaRPr lang="en-US" dirty="0"/>
          </a:p>
          <a:p>
            <a:endParaRPr lang="en-GB" dirty="0"/>
          </a:p>
        </p:txBody>
      </p:sp>
      <p:sp>
        <p:nvSpPr>
          <p:cNvPr id="4" name="Slide Number Placeholder 3"/>
          <p:cNvSpPr>
            <a:spLocks noGrp="1"/>
          </p:cNvSpPr>
          <p:nvPr>
            <p:ph type="sldNum" sz="quarter" idx="10"/>
          </p:nvPr>
        </p:nvSpPr>
        <p:spPr/>
        <p:txBody>
          <a:bodyPr/>
          <a:lstStyle/>
          <a:p>
            <a:pPr>
              <a:defRPr/>
            </a:pPr>
            <a:fld id="{7B2A8712-D9C4-4A57-8EFC-F418FF8F9E97}" type="slidenum">
              <a:rPr lang="en-GB" smtClean="0"/>
              <a:pPr>
                <a:defRPr/>
              </a:pPr>
              <a:t>54</a:t>
            </a:fld>
            <a:endParaRPr lang="en-GB"/>
          </a:p>
        </p:txBody>
      </p:sp>
    </p:spTree>
    <p:extLst>
      <p:ext uri="{BB962C8B-B14F-4D97-AF65-F5344CB8AC3E}">
        <p14:creationId xmlns:p14="http://schemas.microsoft.com/office/powerpoint/2010/main" val="30000962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dirty="0"/>
              <a:t>Consequently growth</a:t>
            </a:r>
            <a:r>
              <a:rPr lang="en-US" baseline="0" dirty="0"/>
              <a:t> comes from re-investments and extra returns coming from these investments. The questions we ask are:</a:t>
            </a:r>
          </a:p>
          <a:p>
            <a:pPr eaLnBrk="1" hangingPunct="1">
              <a:spcBef>
                <a:spcPct val="0"/>
              </a:spcBef>
            </a:pPr>
            <a:r>
              <a:rPr lang="en-US" baseline="0" dirty="0"/>
              <a:t>How much (from a measure of earnings) do we invest back?</a:t>
            </a:r>
          </a:p>
          <a:p>
            <a:pPr eaLnBrk="1" hangingPunct="1">
              <a:spcBef>
                <a:spcPct val="0"/>
              </a:spcBef>
            </a:pPr>
            <a:r>
              <a:rPr lang="en-US" baseline="0" dirty="0"/>
              <a:t>How much do we expect to earn (based on where do the cash flows go) from these investments?</a:t>
            </a:r>
          </a:p>
          <a:p>
            <a:pPr eaLnBrk="1" hangingPunct="1">
              <a:spcBef>
                <a:spcPct val="0"/>
              </a:spcBef>
            </a:pPr>
            <a:endParaRPr lang="en-US" baseline="0" dirty="0"/>
          </a:p>
          <a:p>
            <a:pPr eaLnBrk="1" hangingPunct="1">
              <a:spcBef>
                <a:spcPct val="0"/>
              </a:spcBef>
            </a:pPr>
            <a:endParaRPr lang="en-US" dirty="0"/>
          </a:p>
          <a:p>
            <a:pPr eaLnBrk="1" hangingPunct="1">
              <a:spcBef>
                <a:spcPct val="0"/>
              </a:spcBef>
            </a:pPr>
            <a:r>
              <a:rPr lang="en-US" dirty="0"/>
              <a:t>Sets up the relationship between growth in earnings and the two determinants of this growth - reinvestment rate and return on equity.</a:t>
            </a:r>
          </a:p>
          <a:p>
            <a:pPr eaLnBrk="1" hangingPunct="1">
              <a:spcBef>
                <a:spcPct val="0"/>
              </a:spcBef>
            </a:pPr>
            <a:r>
              <a:rPr lang="en-US" dirty="0"/>
              <a:t>Opens the door to the second source of earnings growth - improvement in returns on assets in place.</a:t>
            </a:r>
          </a:p>
          <a:p>
            <a:pPr eaLnBrk="1" hangingPunct="1">
              <a:spcBef>
                <a:spcPct val="0"/>
              </a:spcBef>
            </a:pPr>
            <a:endParaRPr lang="en-US" dirty="0"/>
          </a:p>
          <a:p>
            <a:pPr eaLnBrk="1" hangingPunct="1">
              <a:spcBef>
                <a:spcPct val="0"/>
              </a:spcBef>
            </a:pPr>
            <a:r>
              <a:rPr lang="en-US" dirty="0"/>
              <a:t>The last formula</a:t>
            </a:r>
            <a:r>
              <a:rPr lang="en-US" baseline="0" dirty="0"/>
              <a:t> shows how we can find the growth rate when there is an improvement in ROI and future investments. For example, assume that ROI increases to 13%. Then the growth rate is:</a:t>
            </a:r>
          </a:p>
          <a:p>
            <a:pPr eaLnBrk="1" hangingPunct="1">
              <a:spcBef>
                <a:spcPct val="0"/>
              </a:spcBef>
            </a:pPr>
            <a:endParaRPr lang="en-US" baseline="0" dirty="0"/>
          </a:p>
          <a:p>
            <a:pPr eaLnBrk="1" hangingPunct="1">
              <a:spcBef>
                <a:spcPct val="0"/>
              </a:spcBef>
            </a:pPr>
            <a:r>
              <a:rPr lang="en-US" baseline="0" dirty="0"/>
              <a:t>g={1,000*(13%-12%)+100*13%} / {1,000*12%)=23/120=19.17%</a:t>
            </a:r>
          </a:p>
          <a:p>
            <a:pPr eaLnBrk="1" hangingPunct="1">
              <a:spcBef>
                <a:spcPct val="0"/>
              </a:spcBef>
            </a:pPr>
            <a:endParaRPr lang="en-US" dirty="0"/>
          </a:p>
          <a:p>
            <a:endParaRPr lang="en-GB" dirty="0"/>
          </a:p>
        </p:txBody>
      </p:sp>
      <p:sp>
        <p:nvSpPr>
          <p:cNvPr id="4" name="Slide Number Placeholder 3"/>
          <p:cNvSpPr>
            <a:spLocks noGrp="1"/>
          </p:cNvSpPr>
          <p:nvPr>
            <p:ph type="sldNum" sz="quarter" idx="10"/>
          </p:nvPr>
        </p:nvSpPr>
        <p:spPr/>
        <p:txBody>
          <a:bodyPr/>
          <a:lstStyle/>
          <a:p>
            <a:pPr>
              <a:defRPr/>
            </a:pPr>
            <a:fld id="{7B2A8712-D9C4-4A57-8EFC-F418FF8F9E97}" type="slidenum">
              <a:rPr lang="en-GB" smtClean="0"/>
              <a:pPr>
                <a:defRPr/>
              </a:pPr>
              <a:t>55</a:t>
            </a:fld>
            <a:endParaRPr lang="en-GB"/>
          </a:p>
        </p:txBody>
      </p:sp>
    </p:spTree>
    <p:extLst>
      <p:ext uri="{BB962C8B-B14F-4D97-AF65-F5344CB8AC3E}">
        <p14:creationId xmlns:p14="http://schemas.microsoft.com/office/powerpoint/2010/main" val="243526901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GB" b="1" dirty="0"/>
              <a:t>This is something that you need to remember</a:t>
            </a:r>
          </a:p>
          <a:p>
            <a:endParaRPr lang="en-GB" dirty="0"/>
          </a:p>
          <a:p>
            <a:r>
              <a:rPr lang="en-GB" dirty="0"/>
              <a:t>When we want to</a:t>
            </a:r>
            <a:r>
              <a:rPr lang="en-GB" baseline="0" dirty="0"/>
              <a:t> estimate the growth of earnings (and part of earnings=dividends), part of earnings is re-invested (Retention Ratio, RR) and can earn a return (ROE), which refers only to equity.</a:t>
            </a:r>
          </a:p>
          <a:p>
            <a:endParaRPr lang="en-GB" baseline="0" dirty="0"/>
          </a:p>
          <a:p>
            <a:r>
              <a:rPr lang="en-GB" baseline="0" dirty="0"/>
              <a:t>In contrast, when we take into account FCFF, the starting point is EBIT. Thus, we need to estimate a growth rate for EBIT. The question here is, how much do we invest from available EBIT (Re-investment Ratio) and the return we can expect refers to both equity and debt and is ROC</a:t>
            </a:r>
          </a:p>
          <a:p>
            <a:endParaRPr lang="en-GB" baseline="0" dirty="0"/>
          </a:p>
          <a:p>
            <a:r>
              <a:rPr lang="en-GB" baseline="0" dirty="0"/>
              <a:t>When are we supposed to use either of them.</a:t>
            </a:r>
          </a:p>
          <a:p>
            <a:endParaRPr lang="en-GB" baseline="0" dirty="0"/>
          </a:p>
          <a:p>
            <a:r>
              <a:rPr lang="en-GB" baseline="0" dirty="0"/>
              <a:t>When we contact a dividend valuation we need the growth in EPS. However, this assumes that the maximum re-investment is the available income (EPS), without debt being considered as an option. However, there are firms that can and want to invest more than the available income and thus, they borrow. In this case we should probably consider the growth of NI (as a whole) rather than per share (EPS). Finally, both approaches above consider stable financing and/or positive net income. If we cannot assume either, then we d better contact a FCFF valuation and for this we need to estimate growth of EBIT.</a:t>
            </a:r>
          </a:p>
        </p:txBody>
      </p:sp>
      <p:sp>
        <p:nvSpPr>
          <p:cNvPr id="4" name="Slide Number Placeholder 3"/>
          <p:cNvSpPr>
            <a:spLocks noGrp="1"/>
          </p:cNvSpPr>
          <p:nvPr>
            <p:ph type="sldNum" sz="quarter" idx="10"/>
          </p:nvPr>
        </p:nvSpPr>
        <p:spPr/>
        <p:txBody>
          <a:bodyPr/>
          <a:lstStyle/>
          <a:p>
            <a:pPr>
              <a:defRPr/>
            </a:pPr>
            <a:fld id="{7B2A8712-D9C4-4A57-8EFC-F418FF8F9E97}" type="slidenum">
              <a:rPr lang="en-GB" smtClean="0"/>
              <a:pPr>
                <a:defRPr/>
              </a:pPr>
              <a:t>57</a:t>
            </a:fld>
            <a:endParaRPr lang="en-GB"/>
          </a:p>
        </p:txBody>
      </p:sp>
    </p:spTree>
    <p:extLst>
      <p:ext uri="{BB962C8B-B14F-4D97-AF65-F5344CB8AC3E}">
        <p14:creationId xmlns:p14="http://schemas.microsoft.com/office/powerpoint/2010/main" val="69453523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4745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In an equity analysis, the return on investment becomes return on equity and the reinvestment rate is measured as the percent of net income that gets reinvested back into the firm (which is the retention ratio).</a:t>
            </a:r>
          </a:p>
          <a:p>
            <a:pPr eaLnBrk="1" hangingPunct="1">
              <a:spcBef>
                <a:spcPct val="0"/>
              </a:spcBef>
            </a:pPr>
            <a:r>
              <a:rPr lang="en-US" dirty="0"/>
              <a:t>Proposition 1 should have the caveat that this applies because the return on equity on existing assets cannot keep going up each year in the long term….</a:t>
            </a:r>
          </a:p>
          <a:p>
            <a:pPr eaLnBrk="1" hangingPunct="1">
              <a:spcBef>
                <a:spcPct val="0"/>
              </a:spcBef>
            </a:pPr>
            <a:endParaRPr lang="en-US" dirty="0"/>
          </a:p>
          <a:p>
            <a:pPr eaLnBrk="1" hangingPunct="1">
              <a:spcBef>
                <a:spcPct val="0"/>
              </a:spcBef>
            </a:pPr>
            <a:endParaRPr lang="en-US" dirty="0"/>
          </a:p>
        </p:txBody>
      </p:sp>
    </p:spTree>
    <p:extLst>
      <p:ext uri="{BB962C8B-B14F-4D97-AF65-F5344CB8AC3E}">
        <p14:creationId xmlns:p14="http://schemas.microsoft.com/office/powerpoint/2010/main" val="77289143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endParaRPr lang="en-US" dirty="0"/>
          </a:p>
          <a:p>
            <a:pPr eaLnBrk="1" hangingPunct="1">
              <a:spcBef>
                <a:spcPct val="0"/>
              </a:spcBef>
            </a:pPr>
            <a:r>
              <a:rPr lang="en-US" dirty="0"/>
              <a:t>Implicitly, we are assuming that the current return on equity applies not only to existing investments but to marginal investments as well… In this case, the expected growth in earnings per share will be 8.51%.</a:t>
            </a:r>
          </a:p>
          <a:p>
            <a:pPr eaLnBrk="1" hangingPunct="1">
              <a:spcBef>
                <a:spcPct val="0"/>
              </a:spcBef>
            </a:pPr>
            <a:endParaRPr lang="en-US" dirty="0"/>
          </a:p>
          <a:p>
            <a:pPr eaLnBrk="1" hangingPunct="1">
              <a:spcBef>
                <a:spcPct val="0"/>
              </a:spcBef>
            </a:pPr>
            <a:endParaRPr lang="en-US" dirty="0"/>
          </a:p>
          <a:p>
            <a:pPr eaLnBrk="1" hangingPunct="1">
              <a:spcBef>
                <a:spcPct val="0"/>
              </a:spcBef>
            </a:pPr>
            <a:endParaRPr lang="en-US" dirty="0"/>
          </a:p>
          <a:p>
            <a:endParaRPr lang="en-GB" dirty="0"/>
          </a:p>
        </p:txBody>
      </p:sp>
      <p:sp>
        <p:nvSpPr>
          <p:cNvPr id="4" name="Slide Number Placeholder 3"/>
          <p:cNvSpPr>
            <a:spLocks noGrp="1"/>
          </p:cNvSpPr>
          <p:nvPr>
            <p:ph type="sldNum" sz="quarter" idx="10"/>
          </p:nvPr>
        </p:nvSpPr>
        <p:spPr/>
        <p:txBody>
          <a:bodyPr/>
          <a:lstStyle/>
          <a:p>
            <a:pPr>
              <a:defRPr/>
            </a:pPr>
            <a:fld id="{7B2A8712-D9C4-4A57-8EFC-F418FF8F9E97}" type="slidenum">
              <a:rPr lang="en-GB" smtClean="0"/>
              <a:pPr>
                <a:defRPr/>
              </a:pPr>
              <a:t>59</a:t>
            </a:fld>
            <a:endParaRPr lang="en-GB"/>
          </a:p>
        </p:txBody>
      </p:sp>
    </p:spTree>
    <p:extLst>
      <p:ext uri="{BB962C8B-B14F-4D97-AF65-F5344CB8AC3E}">
        <p14:creationId xmlns:p14="http://schemas.microsoft.com/office/powerpoint/2010/main" val="21326419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5565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While earnings per share cannot grow faster than the return on equity, net income can, if the firm goes out and raises additional equity to expand. In such a scenario, the equity reinvestment rate can be higher than 100%.</a:t>
            </a:r>
          </a:p>
          <a:p>
            <a:pPr eaLnBrk="1" hangingPunct="1">
              <a:spcBef>
                <a:spcPct val="0"/>
              </a:spcBef>
            </a:pPr>
            <a:r>
              <a:rPr lang="en-US" dirty="0"/>
              <a:t>If you are forecasting net income, you should probably use this approach, rather than the more conventional growth equation.</a:t>
            </a:r>
          </a:p>
          <a:p>
            <a:pPr eaLnBrk="1" hangingPunct="1">
              <a:spcBef>
                <a:spcPct val="0"/>
              </a:spcBef>
            </a:pPr>
            <a:endParaRPr lang="en-US" dirty="0"/>
          </a:p>
          <a:p>
            <a:pPr eaLnBrk="1" hangingPunct="1">
              <a:spcBef>
                <a:spcPct val="0"/>
              </a:spcBef>
            </a:pPr>
            <a:r>
              <a:rPr lang="en-US" dirty="0"/>
              <a:t>The idea is still the same. We have net</a:t>
            </a:r>
            <a:r>
              <a:rPr lang="en-US" baseline="0" dirty="0"/>
              <a:t> income. Part of it will be re-invested. </a:t>
            </a:r>
          </a:p>
          <a:p>
            <a:pPr eaLnBrk="1" hangingPunct="1">
              <a:spcBef>
                <a:spcPct val="0"/>
              </a:spcBef>
            </a:pPr>
            <a:endParaRPr lang="en-US" baseline="0" dirty="0"/>
          </a:p>
          <a:p>
            <a:pPr eaLnBrk="1" hangingPunct="1">
              <a:spcBef>
                <a:spcPct val="0"/>
              </a:spcBef>
            </a:pPr>
            <a:r>
              <a:rPr lang="en-US" baseline="0" dirty="0"/>
              <a:t>Remember that FCFE=NI-(</a:t>
            </a:r>
            <a:r>
              <a:rPr lang="el-GR" baseline="0" dirty="0"/>
              <a:t>Δ</a:t>
            </a:r>
            <a:r>
              <a:rPr lang="en-GB" baseline="0" dirty="0" err="1"/>
              <a:t>CapEx</a:t>
            </a:r>
            <a:r>
              <a:rPr lang="en-GB" baseline="0" dirty="0"/>
              <a:t>+</a:t>
            </a:r>
            <a:r>
              <a:rPr lang="el-GR" baseline="0" dirty="0"/>
              <a:t>Δ</a:t>
            </a:r>
            <a:r>
              <a:rPr lang="en-GB" baseline="0" dirty="0"/>
              <a:t>NWC</a:t>
            </a:r>
            <a:r>
              <a:rPr lang="en-US" baseline="0" dirty="0"/>
              <a:t>)*(1-</a:t>
            </a:r>
            <a:r>
              <a:rPr lang="el-GR" baseline="0" dirty="0"/>
              <a:t>δ</a:t>
            </a:r>
            <a:r>
              <a:rPr lang="en-GB" baseline="0" dirty="0"/>
              <a:t>).</a:t>
            </a:r>
          </a:p>
          <a:p>
            <a:pPr eaLnBrk="1" hangingPunct="1">
              <a:spcBef>
                <a:spcPct val="0"/>
              </a:spcBef>
            </a:pPr>
            <a:endParaRPr lang="en-GB" baseline="0" dirty="0"/>
          </a:p>
          <a:p>
            <a:pPr eaLnBrk="1" hangingPunct="1">
              <a:spcBef>
                <a:spcPct val="0"/>
              </a:spcBef>
            </a:pPr>
            <a:r>
              <a:rPr lang="en-US" baseline="0" dirty="0"/>
              <a:t>(</a:t>
            </a:r>
            <a:r>
              <a:rPr lang="el-GR" baseline="0" dirty="0"/>
              <a:t>Δ</a:t>
            </a:r>
            <a:r>
              <a:rPr lang="en-GB" baseline="0" dirty="0" err="1"/>
              <a:t>CapEx</a:t>
            </a:r>
            <a:r>
              <a:rPr lang="en-GB" baseline="0" dirty="0"/>
              <a:t>+</a:t>
            </a:r>
            <a:r>
              <a:rPr lang="el-GR" baseline="0" dirty="0"/>
              <a:t>Δ</a:t>
            </a:r>
            <a:r>
              <a:rPr lang="en-GB" baseline="0" dirty="0"/>
              <a:t>NWC</a:t>
            </a:r>
            <a:r>
              <a:rPr lang="en-US" baseline="0" dirty="0"/>
              <a:t>)*(1-</a:t>
            </a:r>
            <a:r>
              <a:rPr lang="el-GR" baseline="0" dirty="0"/>
              <a:t>δ</a:t>
            </a:r>
            <a:r>
              <a:rPr lang="en-GB" baseline="0" dirty="0"/>
              <a:t>) is the part of NI that is re-invested</a:t>
            </a:r>
          </a:p>
          <a:p>
            <a:pPr eaLnBrk="1" hangingPunct="1">
              <a:spcBef>
                <a:spcPct val="0"/>
              </a:spcBef>
            </a:pPr>
            <a:endParaRPr lang="en-GB" baseline="0" dirty="0"/>
          </a:p>
          <a:p>
            <a:pPr eaLnBrk="1" hangingPunct="1">
              <a:spcBef>
                <a:spcPct val="0"/>
              </a:spcBef>
            </a:pPr>
            <a:r>
              <a:rPr lang="en-GB" baseline="0" dirty="0"/>
              <a:t>We call the ratio (</a:t>
            </a:r>
            <a:r>
              <a:rPr lang="en-US" baseline="0" dirty="0"/>
              <a:t>(</a:t>
            </a:r>
            <a:r>
              <a:rPr lang="el-GR" baseline="0" dirty="0"/>
              <a:t>Δ</a:t>
            </a:r>
            <a:r>
              <a:rPr lang="en-GB" baseline="0" dirty="0" err="1"/>
              <a:t>CapEx</a:t>
            </a:r>
            <a:r>
              <a:rPr lang="en-GB" baseline="0" dirty="0"/>
              <a:t>+</a:t>
            </a:r>
            <a:r>
              <a:rPr lang="el-GR" baseline="0" dirty="0"/>
              <a:t>Δ</a:t>
            </a:r>
            <a:r>
              <a:rPr lang="en-GB" baseline="0" dirty="0"/>
              <a:t>NWC</a:t>
            </a:r>
            <a:r>
              <a:rPr lang="en-US" baseline="0" dirty="0"/>
              <a:t>)*(1-</a:t>
            </a:r>
            <a:r>
              <a:rPr lang="el-GR" baseline="0" dirty="0"/>
              <a:t>δ</a:t>
            </a:r>
            <a:r>
              <a:rPr lang="en-GB" baseline="0" dirty="0"/>
              <a:t>)) / NI  Equity Re-investment Rate</a:t>
            </a:r>
          </a:p>
          <a:p>
            <a:pPr eaLnBrk="1" hangingPunct="1">
              <a:spcBef>
                <a:spcPct val="0"/>
              </a:spcBef>
            </a:pPr>
            <a:endParaRPr lang="en-GB" baseline="0" dirty="0"/>
          </a:p>
          <a:p>
            <a:pPr eaLnBrk="1" hangingPunct="1">
              <a:spcBef>
                <a:spcPct val="0"/>
              </a:spcBef>
            </a:pPr>
            <a:r>
              <a:rPr lang="en-GB" baseline="0" dirty="0"/>
              <a:t>Growth comes from how much we re-invest (ERR) and Return on these investments (still refers only to equity (NI), ROE)</a:t>
            </a:r>
            <a:endParaRPr lang="en-US" dirty="0"/>
          </a:p>
        </p:txBody>
      </p:sp>
    </p:spTree>
    <p:extLst>
      <p:ext uri="{BB962C8B-B14F-4D97-AF65-F5344CB8AC3E}">
        <p14:creationId xmlns:p14="http://schemas.microsoft.com/office/powerpoint/2010/main" val="308432308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56675" name="Rectangle 3"/>
          <p:cNvSpPr>
            <a:spLocks noGrp="1" noChangeArrowheads="1"/>
          </p:cNvSpPr>
          <p:nvPr>
            <p:ph type="body" idx="1"/>
          </p:nvPr>
        </p:nvSpPr>
        <p:spPr bwMode="auto">
          <a:noFill/>
        </p:spPr>
        <p:txBody>
          <a:bodyPr wrap="square" numCol="1" anchor="t" anchorCtr="0" compatLnSpc="1">
            <a:prstTxWarp prst="textNoShape">
              <a:avLst/>
            </a:prstTxWarp>
            <a:normAutofit fontScale="70000" lnSpcReduction="20000"/>
          </a:bodyPr>
          <a:lstStyle/>
          <a:p>
            <a:pPr eaLnBrk="1" hangingPunct="1">
              <a:spcBef>
                <a:spcPct val="0"/>
              </a:spcBef>
            </a:pPr>
            <a:r>
              <a:rPr lang="en-US" dirty="0"/>
              <a:t>When looking at free cash flows to the firm and operating income, you need to define reinvestment rates and returns consistently. The reinvestment rate is stated as a percent of after-tax operating income (rather than net income) and the return is the return on capital(rather than return on equity).</a:t>
            </a:r>
          </a:p>
          <a:p>
            <a:pPr eaLnBrk="1" hangingPunct="1">
              <a:spcBef>
                <a:spcPct val="0"/>
              </a:spcBef>
            </a:pPr>
            <a:endParaRPr lang="en-US" dirty="0"/>
          </a:p>
          <a:p>
            <a:pPr eaLnBrk="1" hangingPunct="1">
              <a:spcBef>
                <a:spcPct val="0"/>
              </a:spcBef>
            </a:pPr>
            <a:r>
              <a:rPr lang="en-US" dirty="0"/>
              <a:t>Still</a:t>
            </a:r>
            <a:r>
              <a:rPr lang="en-US" baseline="0" dirty="0"/>
              <a:t> the same. Growth comes from re-investment and return.</a:t>
            </a:r>
          </a:p>
          <a:p>
            <a:pPr eaLnBrk="1" hangingPunct="1">
              <a:spcBef>
                <a:spcPct val="0"/>
              </a:spcBef>
            </a:pPr>
            <a:endParaRPr lang="en-US" baseline="0" dirty="0"/>
          </a:p>
          <a:p>
            <a:pPr eaLnBrk="1" hangingPunct="1">
              <a:spcBef>
                <a:spcPct val="0"/>
              </a:spcBef>
            </a:pPr>
            <a:r>
              <a:rPr lang="en-US" baseline="0" dirty="0"/>
              <a:t>g=reinvestment rate*return</a:t>
            </a:r>
          </a:p>
          <a:p>
            <a:pPr eaLnBrk="1" hangingPunct="1">
              <a:spcBef>
                <a:spcPct val="0"/>
              </a:spcBef>
            </a:pPr>
            <a:endParaRPr lang="en-US" baseline="0" dirty="0"/>
          </a:p>
          <a:p>
            <a:pPr eaLnBrk="1" hangingPunct="1">
              <a:spcBef>
                <a:spcPct val="0"/>
              </a:spcBef>
            </a:pPr>
            <a:r>
              <a:rPr lang="en-US" baseline="0" dirty="0"/>
              <a:t>The difference is that we are interested in FCFF.</a:t>
            </a:r>
          </a:p>
          <a:p>
            <a:pPr eaLnBrk="1" hangingPunct="1">
              <a:spcBef>
                <a:spcPct val="0"/>
              </a:spcBef>
            </a:pPr>
            <a:endParaRPr lang="en-US" baseline="0" dirty="0"/>
          </a:p>
          <a:p>
            <a:pPr eaLnBrk="1" hangingPunct="1">
              <a:spcBef>
                <a:spcPct val="0"/>
              </a:spcBef>
            </a:pPr>
            <a:r>
              <a:rPr lang="en-US" baseline="0" dirty="0"/>
              <a:t>Remember FCFF=EBIT(1-T)-(</a:t>
            </a:r>
            <a:r>
              <a:rPr lang="el-GR" baseline="0" dirty="0"/>
              <a:t>Δ</a:t>
            </a:r>
            <a:r>
              <a:rPr lang="en-GB" baseline="0" dirty="0" err="1"/>
              <a:t>CapEx</a:t>
            </a:r>
            <a:r>
              <a:rPr lang="en-GB" baseline="0" dirty="0"/>
              <a:t>+</a:t>
            </a:r>
            <a:r>
              <a:rPr lang="el-GR" baseline="0" dirty="0"/>
              <a:t>Δ</a:t>
            </a:r>
            <a:r>
              <a:rPr lang="en-GB" baseline="0" dirty="0"/>
              <a:t>NWC</a:t>
            </a:r>
            <a:r>
              <a:rPr lang="en-US" baseline="0" dirty="0"/>
              <a:t>)</a:t>
            </a:r>
          </a:p>
          <a:p>
            <a:pPr eaLnBrk="1" hangingPunct="1">
              <a:spcBef>
                <a:spcPct val="0"/>
              </a:spcBef>
            </a:pPr>
            <a:endParaRPr lang="en-US" baseline="0" dirty="0"/>
          </a:p>
          <a:p>
            <a:pPr eaLnBrk="1" hangingPunct="1">
              <a:spcBef>
                <a:spcPct val="0"/>
              </a:spcBef>
            </a:pPr>
            <a:r>
              <a:rPr lang="en-US" baseline="0" dirty="0"/>
              <a:t>(</a:t>
            </a:r>
            <a:r>
              <a:rPr lang="el-GR" baseline="0" dirty="0"/>
              <a:t>Δ</a:t>
            </a:r>
            <a:r>
              <a:rPr lang="en-GB" baseline="0" dirty="0" err="1"/>
              <a:t>CapEx</a:t>
            </a:r>
            <a:r>
              <a:rPr lang="en-GB" baseline="0" dirty="0"/>
              <a:t>+</a:t>
            </a:r>
            <a:r>
              <a:rPr lang="el-GR" baseline="0" dirty="0"/>
              <a:t>Δ</a:t>
            </a:r>
            <a:r>
              <a:rPr lang="en-GB" baseline="0" dirty="0"/>
              <a:t>NWC</a:t>
            </a:r>
            <a:r>
              <a:rPr lang="en-US" baseline="0" dirty="0"/>
              <a:t>) is the part of EBIT*(1-T) that we re-invest</a:t>
            </a:r>
          </a:p>
          <a:p>
            <a:pPr eaLnBrk="1" hangingPunct="1">
              <a:spcBef>
                <a:spcPct val="0"/>
              </a:spcBef>
            </a:pPr>
            <a:endParaRPr lang="en-US" baseline="0" dirty="0"/>
          </a:p>
          <a:p>
            <a:pPr eaLnBrk="1" hangingPunct="1">
              <a:spcBef>
                <a:spcPct val="0"/>
              </a:spcBef>
            </a:pPr>
            <a:r>
              <a:rPr lang="en-US" baseline="0" dirty="0"/>
              <a:t>We call the ratio  (</a:t>
            </a:r>
            <a:r>
              <a:rPr lang="el-GR" baseline="0" dirty="0"/>
              <a:t>Δ</a:t>
            </a:r>
            <a:r>
              <a:rPr lang="en-GB" baseline="0" dirty="0" err="1"/>
              <a:t>CapEx</a:t>
            </a:r>
            <a:r>
              <a:rPr lang="en-GB" baseline="0" dirty="0"/>
              <a:t>+</a:t>
            </a:r>
            <a:r>
              <a:rPr lang="el-GR" baseline="0" dirty="0"/>
              <a:t>Δ</a:t>
            </a:r>
            <a:r>
              <a:rPr lang="en-GB" baseline="0" dirty="0"/>
              <a:t>NWC</a:t>
            </a:r>
            <a:r>
              <a:rPr lang="en-US" baseline="0" dirty="0"/>
              <a:t>)/EBIT*(1-T) Re-investment rate</a:t>
            </a:r>
          </a:p>
          <a:p>
            <a:pPr eaLnBrk="1" hangingPunct="1">
              <a:spcBef>
                <a:spcPct val="0"/>
              </a:spcBef>
            </a:pPr>
            <a:endParaRPr lang="en-US" baseline="0" dirty="0"/>
          </a:p>
          <a:p>
            <a:pPr eaLnBrk="1" hangingPunct="1">
              <a:spcBef>
                <a:spcPct val="0"/>
              </a:spcBef>
            </a:pPr>
            <a:r>
              <a:rPr lang="en-US" baseline="0" dirty="0"/>
              <a:t>The return we need refers to both equity and bond holders. Therefore we need ROC</a:t>
            </a:r>
          </a:p>
          <a:p>
            <a:pPr eaLnBrk="1" hangingPunct="1">
              <a:spcBef>
                <a:spcPct val="0"/>
              </a:spcBef>
            </a:pPr>
            <a:endParaRPr lang="en-US" baseline="0" dirty="0"/>
          </a:p>
          <a:p>
            <a:pPr eaLnBrk="1" hangingPunct="1">
              <a:spcBef>
                <a:spcPct val="0"/>
              </a:spcBef>
            </a:pPr>
            <a:r>
              <a:rPr lang="en-US" baseline="0" dirty="0"/>
              <a:t>Consequently, </a:t>
            </a:r>
            <a:r>
              <a:rPr lang="en-US" baseline="0"/>
              <a:t>g=Re-investment Rate*ROC</a:t>
            </a:r>
          </a:p>
          <a:p>
            <a:pPr eaLnBrk="1" hangingPunct="1">
              <a:spcBef>
                <a:spcPct val="0"/>
              </a:spcBef>
            </a:pPr>
            <a:endParaRPr lang="en-US" baseline="0"/>
          </a:p>
          <a:p>
            <a:pPr eaLnBrk="1" hangingPunct="1">
              <a:spcBef>
                <a:spcPct val="0"/>
              </a:spcBef>
            </a:pPr>
            <a:endParaRPr lang="en-US" baseline="0"/>
          </a:p>
          <a:p>
            <a:pPr eaLnBrk="1" hangingPunct="1">
              <a:spcBef>
                <a:spcPct val="0"/>
              </a:spcBef>
            </a:pPr>
            <a:endParaRPr lang="en-US" baseline="0"/>
          </a:p>
          <a:p>
            <a:pPr eaLnBrk="1" hangingPunct="1">
              <a:spcBef>
                <a:spcPct val="0"/>
              </a:spcBef>
            </a:pPr>
            <a:r>
              <a:rPr lang="en-US"/>
              <a:t>Some Examples</a:t>
            </a:r>
          </a:p>
          <a:p>
            <a:pPr eaLnBrk="1" hangingPunct="1">
              <a:spcBef>
                <a:spcPct val="0"/>
              </a:spcBef>
            </a:pPr>
            <a:endParaRPr lang="en-US"/>
          </a:p>
          <a:p>
            <a:pPr eaLnBrk="1" hangingPunct="1">
              <a:buFont typeface="Monotype Sorts" charset="2"/>
              <a:buNone/>
            </a:pPr>
            <a:r>
              <a:rPr lang="en-US" sz="1200" i="1"/>
              <a:t>Cisco’s Fundamentals</a:t>
            </a:r>
            <a:endParaRPr lang="en-US" sz="1200"/>
          </a:p>
          <a:p>
            <a:pPr eaLnBrk="1" hangingPunct="1"/>
            <a:r>
              <a:rPr lang="en-US" sz="1200"/>
              <a:t>Reinvestment Rate = 106.81%</a:t>
            </a:r>
          </a:p>
          <a:p>
            <a:pPr eaLnBrk="1" hangingPunct="1"/>
            <a:r>
              <a:rPr lang="en-US" sz="1200"/>
              <a:t>Return on Capital =34.07%</a:t>
            </a:r>
          </a:p>
          <a:p>
            <a:pPr eaLnBrk="1" hangingPunct="1"/>
            <a:r>
              <a:rPr lang="en-US" sz="1200"/>
              <a:t>Expected Growth in EBIT =(1.0681)(.3407) = 36.39%</a:t>
            </a:r>
          </a:p>
          <a:p>
            <a:pPr eaLnBrk="1" hangingPunct="1">
              <a:buFont typeface="Monotype Sorts" charset="2"/>
              <a:buNone/>
            </a:pPr>
            <a:r>
              <a:rPr lang="en-US" sz="1200" i="1"/>
              <a:t>Motorola’s Fundamentals</a:t>
            </a:r>
          </a:p>
          <a:p>
            <a:pPr eaLnBrk="1" hangingPunct="1"/>
            <a:r>
              <a:rPr lang="en-US" sz="1200"/>
              <a:t>Reinvestment Rate = 52.99%</a:t>
            </a:r>
          </a:p>
          <a:p>
            <a:pPr eaLnBrk="1" hangingPunct="1"/>
            <a:r>
              <a:rPr lang="en-US" sz="1200"/>
              <a:t>Return on Capital = 12.18%</a:t>
            </a:r>
          </a:p>
          <a:p>
            <a:pPr eaLnBrk="1" hangingPunct="1"/>
            <a:r>
              <a:rPr lang="en-US" sz="1200"/>
              <a:t>Expected Growth in EBIT = (.5299)(.1218) = 6.45%</a:t>
            </a:r>
          </a:p>
          <a:p>
            <a:pPr eaLnBrk="1" hangingPunct="1">
              <a:spcBef>
                <a:spcPct val="0"/>
              </a:spcBef>
            </a:pPr>
            <a:endParaRPr lang="en-US"/>
          </a:p>
          <a:p>
            <a:pPr eaLnBrk="1" hangingPunct="1">
              <a:spcBef>
                <a:spcPct val="0"/>
              </a:spcBef>
            </a:pPr>
            <a:endParaRPr lang="en-US"/>
          </a:p>
          <a:p>
            <a:pPr eaLnBrk="1" hangingPunct="1">
              <a:spcBef>
                <a:spcPct val="0"/>
              </a:spcBef>
            </a:pPr>
            <a:r>
              <a:rPr lang="en-US"/>
              <a:t>Growth is earned. Cisco had a high growth because it reinvested a lot and reinvested well. Motorola had a low growth rate because it reinvested less and earned a much lower return on capital.</a:t>
            </a:r>
          </a:p>
          <a:p>
            <a:pPr eaLnBrk="1" hangingPunct="1">
              <a:spcBef>
                <a:spcPct val="0"/>
              </a:spcBef>
            </a:pPr>
            <a:endParaRPr lang="en-US" dirty="0"/>
          </a:p>
        </p:txBody>
      </p:sp>
    </p:spTree>
    <p:extLst>
      <p:ext uri="{BB962C8B-B14F-4D97-AF65-F5344CB8AC3E}">
        <p14:creationId xmlns:p14="http://schemas.microsoft.com/office/powerpoint/2010/main" val="86336925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5257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Companies can end up with high returns on equity either because they take great projects (high ROC) or use a lot of leverage…. </a:t>
            </a:r>
          </a:p>
          <a:p>
            <a:pPr eaLnBrk="1" hangingPunct="1">
              <a:spcBef>
                <a:spcPct val="0"/>
              </a:spcBef>
            </a:pPr>
            <a:r>
              <a:rPr lang="en-US" dirty="0"/>
              <a:t>Everything has to be done in book value terms, because both ROE and ROC are based on </a:t>
            </a:r>
            <a:r>
              <a:rPr lang="en-US" dirty="0" err="1"/>
              <a:t>on</a:t>
            </a:r>
            <a:r>
              <a:rPr lang="en-US" dirty="0"/>
              <a:t> book value… This is because market value includes expected future growth potential and cannot be used as the denominator in computing the return on equity or capital… it is not fair to ask companies to earn returns on projects they have not taken yet.</a:t>
            </a:r>
          </a:p>
        </p:txBody>
      </p:sp>
    </p:spTree>
    <p:extLst>
      <p:ext uri="{BB962C8B-B14F-4D97-AF65-F5344CB8AC3E}">
        <p14:creationId xmlns:p14="http://schemas.microsoft.com/office/powerpoint/2010/main" val="412007664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Disclaimer: This is the estimate for 2014-5.</a:t>
            </a:r>
            <a:r>
              <a:rPr lang="en-GB" baseline="0" dirty="0"/>
              <a:t> The data source and discussion is given below. Go to Nasdaq and try to estimate the rate yourselves. </a:t>
            </a:r>
            <a:endParaRPr lang="en-GB" dirty="0"/>
          </a:p>
          <a:p>
            <a:endParaRPr lang="en-GB" dirty="0"/>
          </a:p>
          <a:p>
            <a:r>
              <a:rPr lang="en-GB" dirty="0"/>
              <a:t>Source</a:t>
            </a:r>
          </a:p>
          <a:p>
            <a:endParaRPr lang="en-GB" dirty="0"/>
          </a:p>
          <a:p>
            <a:r>
              <a:rPr lang="en-GB" dirty="0"/>
              <a:t>http://www.nasdaq.com/symbol/dis/financials?query=income-statement</a:t>
            </a:r>
          </a:p>
          <a:p>
            <a:endParaRPr lang="en-GB" dirty="0"/>
          </a:p>
          <a:p>
            <a:endParaRPr lang="en-GB" dirty="0"/>
          </a:p>
          <a:p>
            <a:r>
              <a:rPr lang="en-GB" dirty="0"/>
              <a:t>There are plenty</a:t>
            </a:r>
            <a:r>
              <a:rPr lang="en-GB" baseline="0" dirty="0"/>
              <a:t> of estimates for growth of EPS. The final input on the valuation model needs to be our own estimate. It could be our personal opinion (disregarding all these), it might be based on inside information or intuition, it might be an average of all these, it might be closer to a source because we trust it more etc. etc. etc.</a:t>
            </a:r>
            <a:endParaRPr lang="en-GB" dirty="0"/>
          </a:p>
        </p:txBody>
      </p:sp>
      <p:sp>
        <p:nvSpPr>
          <p:cNvPr id="4" name="Slide Number Placeholder 3"/>
          <p:cNvSpPr>
            <a:spLocks noGrp="1"/>
          </p:cNvSpPr>
          <p:nvPr>
            <p:ph type="sldNum" sz="quarter" idx="10"/>
          </p:nvPr>
        </p:nvSpPr>
        <p:spPr/>
        <p:txBody>
          <a:bodyPr/>
          <a:lstStyle/>
          <a:p>
            <a:pPr>
              <a:defRPr/>
            </a:pPr>
            <a:fld id="{7B2A8712-D9C4-4A57-8EFC-F418FF8F9E97}" type="slidenum">
              <a:rPr lang="en-GB" smtClean="0"/>
              <a:pPr>
                <a:defRPr/>
              </a:pPr>
              <a:t>63</a:t>
            </a:fld>
            <a:endParaRPr lang="en-GB"/>
          </a:p>
        </p:txBody>
      </p:sp>
    </p:spTree>
    <p:extLst>
      <p:ext uri="{BB962C8B-B14F-4D97-AF65-F5344CB8AC3E}">
        <p14:creationId xmlns:p14="http://schemas.microsoft.com/office/powerpoint/2010/main" val="338544286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Source</a:t>
            </a:r>
          </a:p>
          <a:p>
            <a:endParaRPr lang="en-GB" dirty="0"/>
          </a:p>
          <a:p>
            <a:r>
              <a:rPr lang="en-GB" dirty="0"/>
              <a:t>http://www.nasdaq.com/symbol/msft/financials?query=balance-sheet</a:t>
            </a:r>
          </a:p>
          <a:p>
            <a:endParaRPr lang="en-GB" dirty="0"/>
          </a:p>
          <a:p>
            <a:r>
              <a:rPr lang="en-GB" dirty="0"/>
              <a:t>The effective tax rate is (5,746/27,820)=20.65%</a:t>
            </a:r>
          </a:p>
        </p:txBody>
      </p:sp>
      <p:sp>
        <p:nvSpPr>
          <p:cNvPr id="4" name="Slide Number Placeholder 3"/>
          <p:cNvSpPr>
            <a:spLocks noGrp="1"/>
          </p:cNvSpPr>
          <p:nvPr>
            <p:ph type="sldNum" sz="quarter" idx="10"/>
          </p:nvPr>
        </p:nvSpPr>
        <p:spPr/>
        <p:txBody>
          <a:bodyPr/>
          <a:lstStyle/>
          <a:p>
            <a:pPr>
              <a:defRPr/>
            </a:pPr>
            <a:fld id="{7B2A8712-D9C4-4A57-8EFC-F418FF8F9E97}" type="slidenum">
              <a:rPr lang="en-GB" smtClean="0"/>
              <a:pPr>
                <a:defRPr/>
              </a:pPr>
              <a:t>64</a:t>
            </a:fld>
            <a:endParaRPr lang="en-GB"/>
          </a:p>
        </p:txBody>
      </p:sp>
    </p:spTree>
    <p:extLst>
      <p:ext uri="{BB962C8B-B14F-4D97-AF65-F5344CB8AC3E}">
        <p14:creationId xmlns:p14="http://schemas.microsoft.com/office/powerpoint/2010/main" val="198469299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6179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When a firm has negative operating income and low revenues, the sequence changes. Instead of assuming a reinvestment rate and return on capital first, and obtaining growth from these inputs, you should consider estimating revenue growth first and then asking what you would need to reinvest to generate this revenue growth. In conjunction, you will need to assume that your margins will improve over time towards stable (and positive) levels.</a:t>
            </a:r>
          </a:p>
        </p:txBody>
      </p:sp>
    </p:spTree>
    <p:extLst>
      <p:ext uri="{BB962C8B-B14F-4D97-AF65-F5344CB8AC3E}">
        <p14:creationId xmlns:p14="http://schemas.microsoft.com/office/powerpoint/2010/main" val="4205620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6281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The growth rate in year 1 was set lower to reflect the fact that the economy had slowed down at the time of this forecast. As Commerce One gets larger, revenue growth rates become smaller. The initial year’s estimates were based upon looking at the recent past. We estimated the expected revenues in 10 years first (by making assumptions about market share and total market size) and then adjusted the growth rate in the intermediate years to get to these revenues. (Making year-to-year estimates becomes just about impossible with firms like these…)</a:t>
            </a:r>
          </a:p>
        </p:txBody>
      </p:sp>
    </p:spTree>
    <p:extLst>
      <p:ext uri="{BB962C8B-B14F-4D97-AF65-F5344CB8AC3E}">
        <p14:creationId xmlns:p14="http://schemas.microsoft.com/office/powerpoint/2010/main" val="342675486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6384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p>
        </p:txBody>
      </p:sp>
    </p:spTree>
    <p:extLst>
      <p:ext uri="{BB962C8B-B14F-4D97-AF65-F5344CB8AC3E}">
        <p14:creationId xmlns:p14="http://schemas.microsoft.com/office/powerpoint/2010/main" val="199463943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0342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The Gap reports its lease commitments in its financial statements. The present value of operating lease expenses is computed using the pre-tax cost of debt. (An argument can be made that the unsecured cost of debt should be used.)</a:t>
            </a:r>
          </a:p>
        </p:txBody>
      </p:sp>
    </p:spTree>
    <p:extLst>
      <p:ext uri="{BB962C8B-B14F-4D97-AF65-F5344CB8AC3E}">
        <p14:creationId xmlns:p14="http://schemas.microsoft.com/office/powerpoint/2010/main" val="182829437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0445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Traces the effect of converting operating leases to debt. Both operating income and capital invested increase. The net effect on return on capital will depend upon which increases more.</a:t>
            </a:r>
          </a:p>
        </p:txBody>
      </p:sp>
    </p:spTree>
    <p:extLst>
      <p:ext uri="{BB962C8B-B14F-4D97-AF65-F5344CB8AC3E}">
        <p14:creationId xmlns:p14="http://schemas.microsoft.com/office/powerpoint/2010/main" val="171647891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0752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The amortizable life is an assumption based upon Cisco’s business (telecom equipment and software). It would be shorter in other businesses (such as computer chips) and longer in businesses that need regulatory approval (such as pharmaceuticals).</a:t>
            </a:r>
          </a:p>
          <a:p>
            <a:pPr eaLnBrk="1" hangingPunct="1">
              <a:spcBef>
                <a:spcPct val="0"/>
              </a:spcBef>
            </a:pPr>
            <a:r>
              <a:rPr lang="en-US"/>
              <a:t>Note that the amortization is 1/5 of the R&amp;D expense each year.</a:t>
            </a:r>
          </a:p>
          <a:p>
            <a:pPr eaLnBrk="1" hangingPunct="1">
              <a:spcBef>
                <a:spcPct val="0"/>
              </a:spcBef>
            </a:pPr>
            <a:r>
              <a:rPr lang="en-US"/>
              <a:t>We are also assuming that R&amp;D expenses are spent at the end of each year - not realistic, but simplifies analysis - that is why there is no amortization of the current year’s expense.</a:t>
            </a:r>
          </a:p>
          <a:p>
            <a:pPr eaLnBrk="1" hangingPunct="1">
              <a:spcBef>
                <a:spcPct val="0"/>
              </a:spcBef>
            </a:pPr>
            <a:r>
              <a:rPr lang="en-US"/>
              <a:t>The effect of capitalizing R&amp;D will be greatest at firms where R&amp;D is growing over time and be non-existent at firms with flat R&amp;D.</a:t>
            </a:r>
          </a:p>
        </p:txBody>
      </p:sp>
    </p:spTree>
    <p:extLst>
      <p:ext uri="{BB962C8B-B14F-4D97-AF65-F5344CB8AC3E}">
        <p14:creationId xmlns:p14="http://schemas.microsoft.com/office/powerpoint/2010/main" val="234532139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0752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The amortizable life is an assumption based upon Cisco’s business (telecom equipment and software). It would be shorter in other businesses (such as computer chips) and longer in businesses that need regulatory approval (such as pharmaceuticals).</a:t>
            </a:r>
          </a:p>
          <a:p>
            <a:pPr eaLnBrk="1" hangingPunct="1">
              <a:spcBef>
                <a:spcPct val="0"/>
              </a:spcBef>
            </a:pPr>
            <a:r>
              <a:rPr lang="en-US"/>
              <a:t>Note that the amortization is 1/5 of the R&amp;D expense each year.</a:t>
            </a:r>
          </a:p>
          <a:p>
            <a:pPr eaLnBrk="1" hangingPunct="1">
              <a:spcBef>
                <a:spcPct val="0"/>
              </a:spcBef>
            </a:pPr>
            <a:r>
              <a:rPr lang="en-US"/>
              <a:t>We are also assuming that R&amp;D expenses are spent at the end of each year - not realistic, but simplifies analysis - that is why there is no amortization of the current year’s expense.</a:t>
            </a:r>
          </a:p>
          <a:p>
            <a:pPr eaLnBrk="1" hangingPunct="1">
              <a:spcBef>
                <a:spcPct val="0"/>
              </a:spcBef>
            </a:pPr>
            <a:r>
              <a:rPr lang="en-US"/>
              <a:t>The effect of capitalizing R&amp;D will be greatest at firms where R&amp;D is growing over time and be non-existent at firms with flat R&amp;D.</a:t>
            </a:r>
          </a:p>
        </p:txBody>
      </p:sp>
    </p:spTree>
    <p:extLst>
      <p:ext uri="{BB962C8B-B14F-4D97-AF65-F5344CB8AC3E}">
        <p14:creationId xmlns:p14="http://schemas.microsoft.com/office/powerpoint/2010/main" val="70333341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0854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Traces out the effects of capitalizing R&amp;D. The key aspect is that operating income will be increased by exactly the same amount that net capital expenditures will be increased, with the increase being:</a:t>
            </a:r>
          </a:p>
          <a:p>
            <a:pPr eaLnBrk="1" hangingPunct="1">
              <a:spcBef>
                <a:spcPct val="0"/>
              </a:spcBef>
            </a:pPr>
            <a:r>
              <a:rPr lang="en-US" dirty="0"/>
              <a:t>Change in operating income and net cap ex = Current year’s R&amp;D expense - R&amp;D amortization</a:t>
            </a:r>
          </a:p>
          <a:p>
            <a:pPr eaLnBrk="1" hangingPunct="1">
              <a:spcBef>
                <a:spcPct val="0"/>
              </a:spcBef>
            </a:pPr>
            <a:r>
              <a:rPr lang="en-US" dirty="0"/>
              <a:t>In other words, the free </a:t>
            </a:r>
            <a:r>
              <a:rPr lang="en-US" dirty="0" err="1"/>
              <a:t>cashflow</a:t>
            </a:r>
            <a:r>
              <a:rPr lang="en-US" dirty="0"/>
              <a:t> to the firm will not change as a result of this capitalization. So why do it? It allows us to</a:t>
            </a:r>
          </a:p>
          <a:p>
            <a:pPr lvl="1" eaLnBrk="1" hangingPunct="1">
              <a:spcBef>
                <a:spcPct val="0"/>
              </a:spcBef>
              <a:buFontTx/>
              <a:buChar char="•"/>
            </a:pPr>
            <a:r>
              <a:rPr lang="en-US" dirty="0"/>
              <a:t>Get a better sense of the profitability of the firm (operating income and return on capital.</a:t>
            </a:r>
          </a:p>
          <a:p>
            <a:pPr lvl="1" eaLnBrk="1" hangingPunct="1">
              <a:spcBef>
                <a:spcPct val="0"/>
              </a:spcBef>
              <a:buFontTx/>
              <a:buChar char="•"/>
            </a:pPr>
            <a:r>
              <a:rPr lang="en-US" dirty="0"/>
              <a:t>Better estimate how much the firm is reinvesting for future growth.</a:t>
            </a:r>
          </a:p>
          <a:p>
            <a:pPr lvl="1" eaLnBrk="1" hangingPunct="1">
              <a:spcBef>
                <a:spcPct val="0"/>
              </a:spcBef>
              <a:buFontTx/>
              <a:buChar char="•"/>
            </a:pPr>
            <a:endParaRPr lang="en-US" dirty="0"/>
          </a:p>
          <a:p>
            <a:pPr lvl="1" eaLnBrk="1" hangingPunct="1">
              <a:spcBef>
                <a:spcPct val="0"/>
              </a:spcBef>
            </a:pPr>
            <a:endParaRPr lang="en-US" dirty="0"/>
          </a:p>
        </p:txBody>
      </p:sp>
    </p:spTree>
    <p:extLst>
      <p:ext uri="{BB962C8B-B14F-4D97-AF65-F5344CB8AC3E}">
        <p14:creationId xmlns:p14="http://schemas.microsoft.com/office/powerpoint/2010/main" val="27270577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Straight Connector 9"/>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1" name="Straight Connector 10"/>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2" name="Straight Connector 11"/>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3" name="Straight Connector 12"/>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4" name="Straight Connector 13"/>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5" name="Straight Connector 14"/>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6" name="Rectangle 15"/>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7" name="Oval 16"/>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 name="Oval 17"/>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9" name="Oval 18"/>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0" name="Oval 19"/>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1" name="Oval 20"/>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 name="Title 7"/>
          <p:cNvSpPr>
            <a:spLocks noGrp="1"/>
          </p:cNvSpPr>
          <p:nvPr>
            <p:ph type="ctrTitle"/>
          </p:nvPr>
        </p:nvSpPr>
        <p:spPr>
          <a:xfrm>
            <a:off x="2286000" y="3124200"/>
            <a:ext cx="6172200" cy="1894362"/>
          </a:xfrm>
        </p:spPr>
        <p:txBody>
          <a:bodyPr/>
          <a:lstStyle>
            <a:lvl1pPr>
              <a:defRPr b="1"/>
            </a:lvl1pPr>
          </a:lstStyle>
          <a:p>
            <a:r>
              <a:rPr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22" name="Date Placeholder 27"/>
          <p:cNvSpPr>
            <a:spLocks noGrp="1"/>
          </p:cNvSpPr>
          <p:nvPr>
            <p:ph type="dt" sz="half" idx="10"/>
          </p:nvPr>
        </p:nvSpPr>
        <p:spPr bwMode="auto">
          <a:xfrm rot="5400000">
            <a:off x="7764463" y="1174750"/>
            <a:ext cx="2286000" cy="381000"/>
          </a:xfrm>
        </p:spPr>
        <p:txBody>
          <a:bodyPr/>
          <a:lstStyle>
            <a:lvl1pPr>
              <a:defRPr/>
            </a:lvl1pPr>
          </a:lstStyle>
          <a:p>
            <a:pPr>
              <a:defRPr/>
            </a:pPr>
            <a:fld id="{34E1548F-1CA9-4DEA-940F-89C75856D920}" type="datetime1">
              <a:rPr lang="en-GB" smtClean="0"/>
              <a:t>28/09/2026</a:t>
            </a:fld>
            <a:endParaRPr lang="en-GB"/>
          </a:p>
        </p:txBody>
      </p:sp>
      <p:sp>
        <p:nvSpPr>
          <p:cNvPr id="23" name="Footer Placeholder 16"/>
          <p:cNvSpPr>
            <a:spLocks noGrp="1"/>
          </p:cNvSpPr>
          <p:nvPr>
            <p:ph type="ftr" sz="quarter" idx="11"/>
          </p:nvPr>
        </p:nvSpPr>
        <p:spPr bwMode="auto">
          <a:xfrm rot="5400000">
            <a:off x="7077076" y="4181475"/>
            <a:ext cx="3657600" cy="384175"/>
          </a:xfrm>
        </p:spPr>
        <p:txBody>
          <a:bodyPr/>
          <a:lstStyle>
            <a:lvl1pPr>
              <a:defRPr/>
            </a:lvl1pPr>
          </a:lstStyle>
          <a:p>
            <a:pPr>
              <a:defRPr/>
            </a:pPr>
            <a:endParaRPr lang="en-GB"/>
          </a:p>
        </p:txBody>
      </p:sp>
      <p:sp>
        <p:nvSpPr>
          <p:cNvPr id="24" name="Slide Number Placeholder 28"/>
          <p:cNvSpPr>
            <a:spLocks noGrp="1"/>
          </p:cNvSpPr>
          <p:nvPr>
            <p:ph type="sldNum" sz="quarter" idx="12"/>
          </p:nvPr>
        </p:nvSpPr>
        <p:spPr bwMode="auto">
          <a:xfrm>
            <a:off x="1325563" y="4929188"/>
            <a:ext cx="609600" cy="517525"/>
          </a:xfrm>
        </p:spPr>
        <p:txBody>
          <a:bodyPr/>
          <a:lstStyle>
            <a:lvl1pPr>
              <a:defRPr/>
            </a:lvl1pPr>
          </a:lstStyle>
          <a:p>
            <a:pPr>
              <a:defRPr/>
            </a:pPr>
            <a:fld id="{F6DE7525-602C-4B2D-9656-37F186FF1596}" type="slidenum">
              <a:rPr lang="en-GB"/>
              <a:pPr>
                <a:defRPr/>
              </a:pPr>
              <a:t>‹Nº›</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p:cNvSpPr>
            <a:spLocks noGrp="1"/>
          </p:cNvSpPr>
          <p:nvPr>
            <p:ph type="dt" sz="half" idx="10"/>
          </p:nvPr>
        </p:nvSpPr>
        <p:spPr/>
        <p:txBody>
          <a:bodyPr rtlCol="0"/>
          <a:lstStyle>
            <a:lvl1pPr>
              <a:defRPr/>
            </a:lvl1pPr>
          </a:lstStyle>
          <a:p>
            <a:pPr>
              <a:defRPr/>
            </a:pPr>
            <a:fld id="{8CBFF7AA-DED8-4CD5-ACF6-00CDF20C14E0}" type="datetime1">
              <a:rPr lang="en-GB" smtClean="0"/>
              <a:t>28/09/2026</a:t>
            </a:fld>
            <a:endParaRPr lang="en-GB"/>
          </a:p>
        </p:txBody>
      </p:sp>
      <p:sp>
        <p:nvSpPr>
          <p:cNvPr id="5" name="Slide Number Placeholder 8"/>
          <p:cNvSpPr>
            <a:spLocks noGrp="1"/>
          </p:cNvSpPr>
          <p:nvPr>
            <p:ph type="sldNum" sz="quarter" idx="11"/>
          </p:nvPr>
        </p:nvSpPr>
        <p:spPr/>
        <p:txBody>
          <a:bodyPr rtlCol="0"/>
          <a:lstStyle>
            <a:lvl1pPr>
              <a:defRPr/>
            </a:lvl1pPr>
          </a:lstStyle>
          <a:p>
            <a:pPr>
              <a:defRPr/>
            </a:pPr>
            <a:fld id="{C3168C1A-0F73-4148-A9C6-17783D0D792E}" type="slidenum">
              <a:rPr lang="en-GB"/>
              <a:pPr>
                <a:defRPr/>
              </a:pPr>
              <a:t>‹Nº›</a:t>
            </a:fld>
            <a:endParaRPr lang="en-GB"/>
          </a:p>
        </p:txBody>
      </p:sp>
      <p:sp>
        <p:nvSpPr>
          <p:cNvPr id="6" name="Footer Placeholder 9"/>
          <p:cNvSpPr>
            <a:spLocks noGrp="1"/>
          </p:cNvSpPr>
          <p:nvPr>
            <p:ph type="ftr" sz="quarter" idx="12"/>
          </p:nvPr>
        </p:nvSpPr>
        <p:spPr/>
        <p:txBody>
          <a:bodyPr rtlCol="0"/>
          <a:lstStyle>
            <a:lvl1pPr>
              <a:defRPr/>
            </a:lvl1pPr>
          </a:lstStyle>
          <a:p>
            <a:pPr>
              <a:defRPr/>
            </a:pPr>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4" name="Rectangle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Straight Connector 7"/>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9" name="Straight Connector 8"/>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0" name="Straight Connector 9"/>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1" name="Straight Connector 10"/>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2" name="Straight Connector 11"/>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3" name="Rectangle 12"/>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 name="Oval 13"/>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 name="Oval 14"/>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6" name="Oval 15"/>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7" name="Oval 16"/>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 name="Oval 17"/>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9" name="Straight Connector 18"/>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lang="en-US"/>
              <a:t>Click to edit Master title style</a:t>
            </a:r>
          </a:p>
        </p:txBody>
      </p:sp>
      <p:sp>
        <p:nvSpPr>
          <p:cNvPr id="3" name="Text Placeholder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0" name="Date Placeholder 3"/>
          <p:cNvSpPr>
            <a:spLocks noGrp="1"/>
          </p:cNvSpPr>
          <p:nvPr>
            <p:ph type="dt" sz="half" idx="10"/>
          </p:nvPr>
        </p:nvSpPr>
        <p:spPr bwMode="auto">
          <a:xfrm rot="5400000">
            <a:off x="7762875" y="1169988"/>
            <a:ext cx="2286000" cy="381000"/>
          </a:xfrm>
        </p:spPr>
        <p:txBody>
          <a:bodyPr/>
          <a:lstStyle>
            <a:lvl1pPr>
              <a:defRPr/>
            </a:lvl1pPr>
          </a:lstStyle>
          <a:p>
            <a:pPr>
              <a:defRPr/>
            </a:pPr>
            <a:fld id="{76A8AB01-285C-4AAD-B09D-A8C09A429A7B}" type="datetime1">
              <a:rPr lang="en-GB" smtClean="0"/>
              <a:t>28/09/2026</a:t>
            </a:fld>
            <a:endParaRPr lang="en-GB"/>
          </a:p>
        </p:txBody>
      </p:sp>
      <p:sp>
        <p:nvSpPr>
          <p:cNvPr id="21" name="Footer Placeholder 4"/>
          <p:cNvSpPr>
            <a:spLocks noGrp="1"/>
          </p:cNvSpPr>
          <p:nvPr>
            <p:ph type="ftr" sz="quarter" idx="11"/>
          </p:nvPr>
        </p:nvSpPr>
        <p:spPr bwMode="auto">
          <a:xfrm rot="5400000">
            <a:off x="7077076" y="4178300"/>
            <a:ext cx="3657600" cy="384175"/>
          </a:xfrm>
        </p:spPr>
        <p:txBody>
          <a:bodyPr/>
          <a:lstStyle>
            <a:lvl1pPr>
              <a:defRPr/>
            </a:lvl1pPr>
          </a:lstStyle>
          <a:p>
            <a:pPr>
              <a:defRPr/>
            </a:pPr>
            <a:endParaRPr lang="en-GB"/>
          </a:p>
        </p:txBody>
      </p:sp>
      <p:sp>
        <p:nvSpPr>
          <p:cNvPr id="22" name="Slide Number Placeholder 5"/>
          <p:cNvSpPr>
            <a:spLocks noGrp="1"/>
          </p:cNvSpPr>
          <p:nvPr>
            <p:ph type="sldNum" sz="quarter" idx="12"/>
          </p:nvPr>
        </p:nvSpPr>
        <p:spPr bwMode="auto">
          <a:xfrm>
            <a:off x="1339850" y="4929188"/>
            <a:ext cx="609600" cy="517525"/>
          </a:xfrm>
        </p:spPr>
        <p:txBody>
          <a:bodyPr/>
          <a:lstStyle>
            <a:lvl1pPr>
              <a:defRPr/>
            </a:lvl1pPr>
          </a:lstStyle>
          <a:p>
            <a:pPr>
              <a:defRPr/>
            </a:pPr>
            <a:fld id="{E8225E83-16DF-40F0-AEBA-ABE01451A15E}" type="slidenum">
              <a:rPr lang="en-GB"/>
              <a:pPr>
                <a:defRPr/>
              </a:pPr>
              <a:t>‹Nº›</a:t>
            </a:fld>
            <a:endParaRPr lang="en-GB"/>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457200" y="1600200"/>
            <a:ext cx="3657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270248" y="1600200"/>
            <a:ext cx="3657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fld id="{FFAAD819-05B9-488C-85B2-EFE5E317387E}" type="datetime1">
              <a:rPr lang="en-GB" smtClean="0"/>
              <a:t>28/09/2026</a:t>
            </a:fld>
            <a:endParaRPr lang="en-GB"/>
          </a:p>
        </p:txBody>
      </p:sp>
      <p:sp>
        <p:nvSpPr>
          <p:cNvPr id="6" name="Footer Placeholder 2"/>
          <p:cNvSpPr>
            <a:spLocks noGrp="1"/>
          </p:cNvSpPr>
          <p:nvPr>
            <p:ph type="ftr" sz="quarter" idx="11"/>
          </p:nvPr>
        </p:nvSpPr>
        <p:spPr/>
        <p:txBody>
          <a:bodyPr/>
          <a:lstStyle>
            <a:lvl1pPr>
              <a:defRPr/>
            </a:lvl1pPr>
          </a:lstStyle>
          <a:p>
            <a:pPr>
              <a:defRPr/>
            </a:pPr>
            <a:endParaRPr lang="en-GB"/>
          </a:p>
        </p:txBody>
      </p:sp>
      <p:sp>
        <p:nvSpPr>
          <p:cNvPr id="7" name="Slide Number Placeholder 22"/>
          <p:cNvSpPr>
            <a:spLocks noGrp="1"/>
          </p:cNvSpPr>
          <p:nvPr>
            <p:ph type="sldNum" sz="quarter" idx="12"/>
          </p:nvPr>
        </p:nvSpPr>
        <p:spPr/>
        <p:txBody>
          <a:bodyPr/>
          <a:lstStyle>
            <a:lvl1pPr>
              <a:defRPr/>
            </a:lvl1pPr>
          </a:lstStyle>
          <a:p>
            <a:pPr>
              <a:defRPr/>
            </a:pPr>
            <a:fld id="{254E116A-9DDA-4579-A3A4-28D3EB2D2AE9}" type="slidenum">
              <a:rPr lang="en-GB"/>
              <a:pPr>
                <a:defRPr/>
              </a:pPr>
              <a:t>‹Nº›</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457200"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371975"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a:t>Click to edit Master text styles</a:t>
            </a:r>
          </a:p>
        </p:txBody>
      </p:sp>
      <p:sp>
        <p:nvSpPr>
          <p:cNvPr id="7" name="Date Placeholder 13"/>
          <p:cNvSpPr>
            <a:spLocks noGrp="1"/>
          </p:cNvSpPr>
          <p:nvPr>
            <p:ph type="dt" sz="half" idx="10"/>
          </p:nvPr>
        </p:nvSpPr>
        <p:spPr/>
        <p:txBody>
          <a:bodyPr/>
          <a:lstStyle>
            <a:lvl1pPr>
              <a:defRPr/>
            </a:lvl1pPr>
          </a:lstStyle>
          <a:p>
            <a:pPr>
              <a:defRPr/>
            </a:pPr>
            <a:fld id="{066DEAFF-CA9C-413B-A3CD-935A10A5A7EA}" type="datetime1">
              <a:rPr lang="en-GB" smtClean="0"/>
              <a:t>28/09/2026</a:t>
            </a:fld>
            <a:endParaRPr lang="en-GB"/>
          </a:p>
        </p:txBody>
      </p:sp>
      <p:sp>
        <p:nvSpPr>
          <p:cNvPr id="8" name="Footer Placeholder 2"/>
          <p:cNvSpPr>
            <a:spLocks noGrp="1"/>
          </p:cNvSpPr>
          <p:nvPr>
            <p:ph type="ftr" sz="quarter" idx="11"/>
          </p:nvPr>
        </p:nvSpPr>
        <p:spPr/>
        <p:txBody>
          <a:bodyPr/>
          <a:lstStyle>
            <a:lvl1pPr>
              <a:defRPr/>
            </a:lvl1pPr>
          </a:lstStyle>
          <a:p>
            <a:pPr>
              <a:defRPr/>
            </a:pPr>
            <a:endParaRPr lang="en-GB"/>
          </a:p>
        </p:txBody>
      </p:sp>
      <p:sp>
        <p:nvSpPr>
          <p:cNvPr id="9" name="Slide Number Placeholder 22"/>
          <p:cNvSpPr>
            <a:spLocks noGrp="1"/>
          </p:cNvSpPr>
          <p:nvPr>
            <p:ph type="sldNum" sz="quarter" idx="12"/>
          </p:nvPr>
        </p:nvSpPr>
        <p:spPr/>
        <p:txBody>
          <a:bodyPr/>
          <a:lstStyle>
            <a:lvl1pPr>
              <a:defRPr/>
            </a:lvl1pPr>
          </a:lstStyle>
          <a:p>
            <a:pPr>
              <a:defRPr/>
            </a:pPr>
            <a:fld id="{BA3CBCC6-CD64-42F1-A808-B1DB11C6F3F4}" type="slidenum">
              <a:rPr lang="en-GB"/>
              <a:pPr>
                <a:defRPr/>
              </a:pPr>
              <a:t>‹Nº›</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5"/>
          <p:cNvSpPr>
            <a:spLocks noGrp="1"/>
          </p:cNvSpPr>
          <p:nvPr>
            <p:ph type="dt" sz="half" idx="10"/>
          </p:nvPr>
        </p:nvSpPr>
        <p:spPr/>
        <p:txBody>
          <a:bodyPr rtlCol="0"/>
          <a:lstStyle>
            <a:lvl1pPr>
              <a:defRPr/>
            </a:lvl1pPr>
          </a:lstStyle>
          <a:p>
            <a:pPr>
              <a:defRPr/>
            </a:pPr>
            <a:fld id="{DD255A57-5D95-486B-893A-214C2C7BF467}" type="datetime1">
              <a:rPr lang="en-GB" smtClean="0"/>
              <a:t>28/09/2026</a:t>
            </a:fld>
            <a:endParaRPr lang="en-GB"/>
          </a:p>
        </p:txBody>
      </p:sp>
      <p:sp>
        <p:nvSpPr>
          <p:cNvPr id="4" name="Slide Number Placeholder 6"/>
          <p:cNvSpPr>
            <a:spLocks noGrp="1"/>
          </p:cNvSpPr>
          <p:nvPr>
            <p:ph type="sldNum" sz="quarter" idx="11"/>
          </p:nvPr>
        </p:nvSpPr>
        <p:spPr/>
        <p:txBody>
          <a:bodyPr rtlCol="0"/>
          <a:lstStyle>
            <a:lvl1pPr>
              <a:defRPr/>
            </a:lvl1pPr>
          </a:lstStyle>
          <a:p>
            <a:pPr>
              <a:defRPr/>
            </a:pPr>
            <a:fld id="{67C6161B-9315-462F-B3C3-E105EA7BB116}" type="slidenum">
              <a:rPr lang="en-GB"/>
              <a:pPr>
                <a:defRPr/>
              </a:pPr>
              <a:t>‹Nº›</a:t>
            </a:fld>
            <a:endParaRPr lang="en-GB"/>
          </a:p>
        </p:txBody>
      </p:sp>
      <p:sp>
        <p:nvSpPr>
          <p:cNvPr id="5" name="Footer Placeholder 7"/>
          <p:cNvSpPr>
            <a:spLocks noGrp="1"/>
          </p:cNvSpPr>
          <p:nvPr>
            <p:ph type="ftr" sz="quarter" idx="12"/>
          </p:nvPr>
        </p:nvSpPr>
        <p:spPr/>
        <p:txBody>
          <a:bodyPr rtlCol="0"/>
          <a:lstStyle>
            <a:lvl1pPr>
              <a:defRPr/>
            </a:lvl1pPr>
          </a:lstStyle>
          <a:p>
            <a:pPr>
              <a:defRPr/>
            </a:pPr>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fld id="{969C17BB-A3EC-4BC8-ABC4-B70B4233EAE0}" type="datetime1">
              <a:rPr lang="en-GB" smtClean="0"/>
              <a:t>28/09/2026</a:t>
            </a:fld>
            <a:endParaRPr lang="en-GB"/>
          </a:p>
        </p:txBody>
      </p:sp>
      <p:sp>
        <p:nvSpPr>
          <p:cNvPr id="3" name="Footer Placeholder 2"/>
          <p:cNvSpPr>
            <a:spLocks noGrp="1"/>
          </p:cNvSpPr>
          <p:nvPr>
            <p:ph type="ftr" sz="quarter" idx="11"/>
          </p:nvPr>
        </p:nvSpPr>
        <p:spPr/>
        <p:txBody>
          <a:bodyPr/>
          <a:lstStyle>
            <a:lvl1pPr>
              <a:defRPr/>
            </a:lvl1pPr>
          </a:lstStyle>
          <a:p>
            <a:pPr>
              <a:defRPr/>
            </a:pPr>
            <a:endParaRPr lang="en-GB"/>
          </a:p>
        </p:txBody>
      </p:sp>
      <p:sp>
        <p:nvSpPr>
          <p:cNvPr id="4" name="Slide Number Placeholder 22"/>
          <p:cNvSpPr>
            <a:spLocks noGrp="1"/>
          </p:cNvSpPr>
          <p:nvPr>
            <p:ph type="sldNum" sz="quarter" idx="12"/>
          </p:nvPr>
        </p:nvSpPr>
        <p:spPr/>
        <p:txBody>
          <a:bodyPr/>
          <a:lstStyle>
            <a:lvl1pPr>
              <a:defRPr/>
            </a:lvl1pPr>
          </a:lstStyle>
          <a:p>
            <a:pPr>
              <a:defRPr/>
            </a:pPr>
            <a:fld id="{7C3BC25B-0E80-4AC7-8F11-798AD1ED0C9D}" type="slidenum">
              <a:rPr lang="en-GB"/>
              <a:pPr>
                <a:defRPr/>
              </a:pPr>
              <a:t>‹Nº›</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cs typeface="+mn-cs"/>
            </a:endParaRPr>
          </a:p>
        </p:txBody>
      </p:sp>
      <p:sp>
        <p:nvSpPr>
          <p:cNvPr id="6" name="Straight Connector 5"/>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cs typeface="+mn-cs"/>
            </a:endParaRPr>
          </a:p>
        </p:txBody>
      </p:sp>
      <p:sp>
        <p:nvSpPr>
          <p:cNvPr id="7" name="Straight Connector 6"/>
          <p:cNvSpPr>
            <a:spLocks noChangeShapeType="1"/>
          </p:cNvSpPr>
          <p:nvPr/>
        </p:nvSpPr>
        <p:spPr bwMode="auto">
          <a:xfrm>
            <a:off x="6192838" y="0"/>
            <a:ext cx="0" cy="6858000"/>
          </a:xfrm>
          <a:prstGeom prst="line">
            <a:avLst/>
          </a:prstGeom>
          <a:noFill/>
          <a:ln w="12700" cap="flat" cmpd="sng" algn="ctr">
            <a:solidFill>
              <a:schemeClr val="accent1"/>
            </a:soli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cs typeface="+mn-cs"/>
            </a:endParaRPr>
          </a:p>
        </p:txBody>
      </p:sp>
      <p:sp>
        <p:nvSpPr>
          <p:cNvPr id="8" name="Straight Connector 7"/>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9" name="Rectangle 8"/>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Straight Connector 9"/>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1" name="Oval 10"/>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 name="Title 1"/>
          <p:cNvSpPr>
            <a:spLocks noGrp="1"/>
          </p:cNvSpPr>
          <p:nvPr>
            <p:ph type="title"/>
          </p:nvPr>
        </p:nvSpPr>
        <p:spPr>
          <a:xfrm rot="5400000">
            <a:off x="3371850" y="3200400"/>
            <a:ext cx="6309360" cy="457200"/>
          </a:xfrm>
        </p:spPr>
        <p:txBody>
          <a:bodyPr/>
          <a:lstStyle>
            <a:lvl1pPr algn="l">
              <a:buNone/>
              <a:defRPr sz="2000" b="1" cap="small" baseline="0"/>
            </a:lvl1pPr>
          </a:lstStyle>
          <a:p>
            <a:r>
              <a:rPr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8" name="Content Placeholder 17"/>
          <p:cNvSpPr>
            <a:spLocks noGrp="1"/>
          </p:cNvSpPr>
          <p:nvPr>
            <p:ph sz="quarter" idx="1"/>
          </p:nvPr>
        </p:nvSpPr>
        <p:spPr>
          <a:xfrm>
            <a:off x="304800" y="274320"/>
            <a:ext cx="5638800" cy="6327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Date Placeholder 20"/>
          <p:cNvSpPr>
            <a:spLocks noGrp="1"/>
          </p:cNvSpPr>
          <p:nvPr>
            <p:ph type="dt" sz="half" idx="10"/>
          </p:nvPr>
        </p:nvSpPr>
        <p:spPr/>
        <p:txBody>
          <a:bodyPr rtlCol="0"/>
          <a:lstStyle>
            <a:lvl1pPr>
              <a:defRPr/>
            </a:lvl1pPr>
          </a:lstStyle>
          <a:p>
            <a:pPr>
              <a:defRPr/>
            </a:pPr>
            <a:fld id="{23247C3D-6DA1-453E-BC1B-CDD1FAD14459}" type="datetime1">
              <a:rPr lang="en-GB" smtClean="0"/>
              <a:t>28/09/2026</a:t>
            </a:fld>
            <a:endParaRPr lang="en-GB"/>
          </a:p>
        </p:txBody>
      </p:sp>
      <p:sp>
        <p:nvSpPr>
          <p:cNvPr id="13" name="Slide Number Placeholder 21"/>
          <p:cNvSpPr>
            <a:spLocks noGrp="1"/>
          </p:cNvSpPr>
          <p:nvPr>
            <p:ph type="sldNum" sz="quarter" idx="11"/>
          </p:nvPr>
        </p:nvSpPr>
        <p:spPr/>
        <p:txBody>
          <a:bodyPr rtlCol="0"/>
          <a:lstStyle>
            <a:lvl1pPr>
              <a:defRPr/>
            </a:lvl1pPr>
          </a:lstStyle>
          <a:p>
            <a:pPr>
              <a:defRPr/>
            </a:pPr>
            <a:fld id="{A6EA2AF4-488E-40A8-B6FC-DD3664FC0574}" type="slidenum">
              <a:rPr lang="en-GB"/>
              <a:pPr>
                <a:defRPr/>
              </a:pPr>
              <a:t>‹Nº›</a:t>
            </a:fld>
            <a:endParaRPr lang="en-GB"/>
          </a:p>
        </p:txBody>
      </p:sp>
      <p:sp>
        <p:nvSpPr>
          <p:cNvPr id="14" name="Footer Placeholder 22"/>
          <p:cNvSpPr>
            <a:spLocks noGrp="1"/>
          </p:cNvSpPr>
          <p:nvPr>
            <p:ph type="ftr" sz="quarter" idx="12"/>
          </p:nvPr>
        </p:nvSpPr>
        <p:spPr/>
        <p:txBody>
          <a:bodyPr rtlCol="0"/>
          <a:lstStyle>
            <a:lvl1pPr>
              <a:defRPr/>
            </a:lvl1pPr>
          </a:lstStyle>
          <a:p>
            <a:pPr>
              <a:defRPr/>
            </a:pPr>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6" name="Oval 5"/>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7" name="Straight Connector 6"/>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8" name="Rectangle 7"/>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traight Connector 8"/>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0" name="Straight Connector 9"/>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cs typeface="+mn-cs"/>
            </a:endParaRPr>
          </a:p>
        </p:txBody>
      </p:sp>
      <p:sp>
        <p:nvSpPr>
          <p:cNvPr id="11" name="Straight Connector 10"/>
          <p:cNvSpPr>
            <a:spLocks noChangeShapeType="1"/>
          </p:cNvSpPr>
          <p:nvPr/>
        </p:nvSpPr>
        <p:spPr bwMode="auto">
          <a:xfrm>
            <a:off x="6192838" y="0"/>
            <a:ext cx="0" cy="6858000"/>
          </a:xfrm>
          <a:prstGeom prst="line">
            <a:avLst/>
          </a:prstGeom>
          <a:noFill/>
          <a:ln w="12700" cap="flat" cmpd="sng" algn="ctr">
            <a:solidFill>
              <a:schemeClr val="accent1"/>
            </a:soli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cs typeface="+mn-cs"/>
            </a:endParaRPr>
          </a:p>
        </p:txBody>
      </p:sp>
      <p:sp>
        <p:nvSpPr>
          <p:cNvPr id="2" name="Title 1"/>
          <p:cNvSpPr>
            <a:spLocks noGrp="1"/>
          </p:cNvSpPr>
          <p:nvPr>
            <p:ph type="title"/>
          </p:nvPr>
        </p:nvSpPr>
        <p:spPr>
          <a:xfrm rot="5400000">
            <a:off x="3350133" y="3200400"/>
            <a:ext cx="6309360" cy="457200"/>
          </a:xfrm>
        </p:spPr>
        <p:txBody>
          <a:bodyPr/>
          <a:lstStyle>
            <a:lvl1pPr algn="l">
              <a:buNone/>
              <a:defRPr sz="2000" b="1"/>
            </a:lvl1pPr>
          </a:lstStyle>
          <a:p>
            <a:r>
              <a:rPr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en-US"/>
              <a:t>Click to edit Master text styles</a:t>
            </a:r>
          </a:p>
        </p:txBody>
      </p:sp>
      <p:sp>
        <p:nvSpPr>
          <p:cNvPr id="12" name="Date Placeholder 16"/>
          <p:cNvSpPr>
            <a:spLocks noGrp="1"/>
          </p:cNvSpPr>
          <p:nvPr>
            <p:ph type="dt" sz="half" idx="10"/>
          </p:nvPr>
        </p:nvSpPr>
        <p:spPr/>
        <p:txBody>
          <a:bodyPr rtlCol="0"/>
          <a:lstStyle>
            <a:lvl1pPr>
              <a:defRPr/>
            </a:lvl1pPr>
          </a:lstStyle>
          <a:p>
            <a:pPr>
              <a:defRPr/>
            </a:pPr>
            <a:fld id="{45080D06-E264-469A-AC75-F3C3171AB965}" type="datetime1">
              <a:rPr lang="en-GB" smtClean="0"/>
              <a:t>28/09/2026</a:t>
            </a:fld>
            <a:endParaRPr lang="en-GB"/>
          </a:p>
        </p:txBody>
      </p:sp>
      <p:sp>
        <p:nvSpPr>
          <p:cNvPr id="13" name="Slide Number Placeholder 17"/>
          <p:cNvSpPr>
            <a:spLocks noGrp="1"/>
          </p:cNvSpPr>
          <p:nvPr>
            <p:ph type="sldNum" sz="quarter" idx="11"/>
          </p:nvPr>
        </p:nvSpPr>
        <p:spPr/>
        <p:txBody>
          <a:bodyPr rtlCol="0"/>
          <a:lstStyle>
            <a:lvl1pPr>
              <a:defRPr/>
            </a:lvl1pPr>
          </a:lstStyle>
          <a:p>
            <a:pPr>
              <a:defRPr/>
            </a:pPr>
            <a:fld id="{2CAC40A3-B5AF-4F0D-9EC4-80C1003E9B0E}" type="slidenum">
              <a:rPr lang="en-GB"/>
              <a:pPr>
                <a:defRPr/>
              </a:pPr>
              <a:t>‹Nº›</a:t>
            </a:fld>
            <a:endParaRPr lang="en-GB"/>
          </a:p>
        </p:txBody>
      </p:sp>
      <p:sp>
        <p:nvSpPr>
          <p:cNvPr id="14" name="Footer Placeholder 20"/>
          <p:cNvSpPr>
            <a:spLocks noGrp="1"/>
          </p:cNvSpPr>
          <p:nvPr>
            <p:ph type="ftr" sz="quarter" idx="12"/>
          </p:nvPr>
        </p:nvSpPr>
        <p:spPr/>
        <p:txBody>
          <a:bodyPr rtlCol="0"/>
          <a:lstStyle>
            <a:lvl1pPr>
              <a:defRPr/>
            </a:lvl1pPr>
          </a:lstStyle>
          <a:p>
            <a:pPr>
              <a:defRPr/>
            </a:pPr>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DA4EA994-A6C1-4198-BCCC-414527E571C7}" type="datetime1">
              <a:rPr lang="en-GB" smtClean="0"/>
              <a:t>28/09/2026</a:t>
            </a:fld>
            <a:endParaRPr lang="en-GB"/>
          </a:p>
        </p:txBody>
      </p:sp>
      <p:sp>
        <p:nvSpPr>
          <p:cNvPr id="5" name="Footer Placeholder 2"/>
          <p:cNvSpPr>
            <a:spLocks noGrp="1"/>
          </p:cNvSpPr>
          <p:nvPr>
            <p:ph type="ftr" sz="quarter" idx="11"/>
          </p:nvPr>
        </p:nvSpPr>
        <p:spPr/>
        <p:txBody>
          <a:bodyPr/>
          <a:lstStyle>
            <a:lvl1pPr>
              <a:defRPr/>
            </a:lvl1pPr>
          </a:lstStyle>
          <a:p>
            <a:pPr>
              <a:defRPr/>
            </a:pPr>
            <a:endParaRPr lang="en-GB"/>
          </a:p>
        </p:txBody>
      </p:sp>
      <p:sp>
        <p:nvSpPr>
          <p:cNvPr id="6" name="Slide Number Placeholder 22"/>
          <p:cNvSpPr>
            <a:spLocks noGrp="1"/>
          </p:cNvSpPr>
          <p:nvPr>
            <p:ph type="sldNum" sz="quarter" idx="12"/>
          </p:nvPr>
        </p:nvSpPr>
        <p:spPr/>
        <p:txBody>
          <a:bodyPr/>
          <a:lstStyle>
            <a:lvl1pPr>
              <a:defRPr/>
            </a:lvl1pPr>
          </a:lstStyle>
          <a:p>
            <a:pPr>
              <a:defRPr/>
            </a:pPr>
            <a:fld id="{DB91F74B-A078-4350-9363-CF232ECACBDA}" type="slidenum">
              <a:rPr lang="en-GB"/>
              <a:pPr>
                <a:defRPr/>
              </a:pPr>
              <a:t>‹Nº›</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A04171BA-75F6-4204-B94A-6C7E93D22D90}" type="datetime1">
              <a:rPr lang="en-GB" smtClean="0"/>
              <a:t>28/09/2026</a:t>
            </a:fld>
            <a:endParaRPr lang="en-GB"/>
          </a:p>
        </p:txBody>
      </p:sp>
      <p:sp>
        <p:nvSpPr>
          <p:cNvPr id="5" name="Footer Placeholder 2"/>
          <p:cNvSpPr>
            <a:spLocks noGrp="1"/>
          </p:cNvSpPr>
          <p:nvPr>
            <p:ph type="ftr" sz="quarter" idx="11"/>
          </p:nvPr>
        </p:nvSpPr>
        <p:spPr/>
        <p:txBody>
          <a:bodyPr/>
          <a:lstStyle>
            <a:lvl1pPr>
              <a:defRPr/>
            </a:lvl1pPr>
          </a:lstStyle>
          <a:p>
            <a:pPr>
              <a:defRPr/>
            </a:pPr>
            <a:endParaRPr lang="en-GB"/>
          </a:p>
        </p:txBody>
      </p:sp>
      <p:sp>
        <p:nvSpPr>
          <p:cNvPr id="6" name="Slide Number Placeholder 22"/>
          <p:cNvSpPr>
            <a:spLocks noGrp="1"/>
          </p:cNvSpPr>
          <p:nvPr>
            <p:ph type="sldNum" sz="quarter" idx="12"/>
          </p:nvPr>
        </p:nvSpPr>
        <p:spPr/>
        <p:txBody>
          <a:bodyPr/>
          <a:lstStyle>
            <a:lvl1pPr>
              <a:defRPr/>
            </a:lvl1pPr>
          </a:lstStyle>
          <a:p>
            <a:pPr>
              <a:defRPr/>
            </a:pPr>
            <a:fld id="{D2508E1E-51F3-4CEA-8285-308D2021172C}" type="slidenum">
              <a:rPr lang="en-GB"/>
              <a:pPr>
                <a:defRPr/>
              </a:pPr>
              <a:t>‹Nº›</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4433309E-B56D-43F0-A0A1-66360D09FD89}" type="datetime1">
              <a:rPr lang="en-US" smtClean="0"/>
              <a:t>9/28/2026</a:t>
            </a:fld>
            <a:endParaRPr lang="en-US"/>
          </a:p>
        </p:txBody>
      </p:sp>
      <p:sp>
        <p:nvSpPr>
          <p:cNvPr id="17" name="Footer Placeholder 16"/>
          <p:cNvSpPr>
            <a:spLocks noGrp="1"/>
          </p:cNvSpPr>
          <p:nvPr>
            <p:ph type="ftr" sz="quarter" idx="11"/>
          </p:nvPr>
        </p:nvSpPr>
        <p:spPr/>
        <p:txBody>
          <a:bodyPr/>
          <a:lstStyle/>
          <a:p>
            <a:r>
              <a:rPr kumimoji="0" lang="en-US"/>
              <a:t>Aswath Damodaran</a:t>
            </a:r>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‹Nº›</a:t>
            </a:fld>
            <a:endParaRPr kumimoji="0" lang="en-US" dirty="0">
              <a:solidFill>
                <a:schemeClr val="accent3">
                  <a:shade val="75000"/>
                </a:schemeClr>
              </a:solidFill>
            </a:endParaRPr>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a:t>Click to edit Master title style</a:t>
            </a:r>
          </a:p>
        </p:txBody>
      </p:sp>
    </p:spTree>
    <p:extLst>
      <p:ext uri="{BB962C8B-B14F-4D97-AF65-F5344CB8AC3E}">
        <p14:creationId xmlns:p14="http://schemas.microsoft.com/office/powerpoint/2010/main" val="3392452193"/>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fld id="{FCCE4C41-2B0F-4E1A-83FE-BB53E8485E92}" type="datetime1">
              <a:rPr lang="en-US" smtClean="0"/>
              <a:t>9/28/2026</a:t>
            </a:fld>
            <a:endParaRPr lang="en-US"/>
          </a:p>
        </p:txBody>
      </p:sp>
      <p:sp>
        <p:nvSpPr>
          <p:cNvPr id="5" name="Footer Placeholder 4"/>
          <p:cNvSpPr>
            <a:spLocks noGrp="1"/>
          </p:cNvSpPr>
          <p:nvPr>
            <p:ph type="ftr" sz="quarter" idx="11"/>
          </p:nvPr>
        </p:nvSpPr>
        <p:spPr/>
        <p:txBody>
          <a:bodyPr/>
          <a:lstStyle/>
          <a:p>
            <a:r>
              <a:rPr kumimoji="0" lang="en-US"/>
              <a:t>Aswath Damodaran</a:t>
            </a:r>
          </a:p>
        </p:txBody>
      </p:sp>
      <p:sp>
        <p:nvSpPr>
          <p:cNvPr id="6" name="Slide Number Placeholder 5"/>
          <p:cNvSpPr>
            <a:spLocks noGrp="1"/>
          </p:cNvSpPr>
          <p:nvPr>
            <p:ph type="sldNum" sz="quarter" idx="12"/>
          </p:nvPr>
        </p:nvSpPr>
        <p:spPr>
          <a:xfrm>
            <a:off x="4361688" y="1026372"/>
            <a:ext cx="457200" cy="441325"/>
          </a:xfrm>
        </p:spPr>
        <p:txBody>
          <a:bodyPr/>
          <a:lstStyle/>
          <a:p>
            <a:fld id="{2C6B1FF6-39B9-40F5-8B67-33C6354A3D4F}" type="slidenum">
              <a:rPr kumimoji="0" lang="en-US" smtClean="0"/>
              <a:pPr/>
              <a:t>‹Nº›</a:t>
            </a:fld>
            <a:endParaRPr kumimoji="0" lang="en-US" dirty="0"/>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321220988"/>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r>
              <a:rPr kumimoji="0" lang="en-US"/>
              <a:t>Aswath Damodaran</a:t>
            </a:r>
          </a:p>
        </p:txBody>
      </p:sp>
      <p:sp>
        <p:nvSpPr>
          <p:cNvPr id="4" name="Date Placeholder 3"/>
          <p:cNvSpPr>
            <a:spLocks noGrp="1"/>
          </p:cNvSpPr>
          <p:nvPr>
            <p:ph type="dt" sz="half" idx="10"/>
          </p:nvPr>
        </p:nvSpPr>
        <p:spPr/>
        <p:txBody>
          <a:bodyPr/>
          <a:lstStyle/>
          <a:p>
            <a:fld id="{6A7D3A26-7D97-4D25-8380-85B8FEC944DE}" type="datetime1">
              <a:rPr lang="en-US" smtClean="0"/>
              <a:t>9/28/2026</a:t>
            </a:fld>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‹Nº›</a:t>
            </a:fld>
            <a:endParaRPr kumimoji="0" lang="en-US" dirty="0">
              <a:solidFill>
                <a:schemeClr val="accent3">
                  <a:shade val="75000"/>
                </a:schemeClr>
              </a:solidFill>
            </a:endParaRPr>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a:t>Click to edit Master title style</a:t>
            </a:r>
          </a:p>
        </p:txBody>
      </p:sp>
    </p:spTree>
    <p:extLst>
      <p:ext uri="{BB962C8B-B14F-4D97-AF65-F5344CB8AC3E}">
        <p14:creationId xmlns:p14="http://schemas.microsoft.com/office/powerpoint/2010/main" val="2240586098"/>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a:t>Click to edit Master title style</a:t>
            </a:r>
          </a:p>
        </p:txBody>
      </p:sp>
      <p:sp>
        <p:nvSpPr>
          <p:cNvPr id="5" name="Date Placeholder 4"/>
          <p:cNvSpPr>
            <a:spLocks noGrp="1"/>
          </p:cNvSpPr>
          <p:nvPr>
            <p:ph type="dt" sz="half" idx="10"/>
          </p:nvPr>
        </p:nvSpPr>
        <p:spPr>
          <a:xfrm>
            <a:off x="5791200" y="6409944"/>
            <a:ext cx="3044952" cy="365760"/>
          </a:xfrm>
        </p:spPr>
        <p:txBody>
          <a:bodyPr/>
          <a:lstStyle/>
          <a:p>
            <a:fld id="{79F7BFCA-1881-46F1-AB53-44787EF0914E}" type="datetime1">
              <a:rPr lang="en-US" smtClean="0"/>
              <a:t>9/28/2026</a:t>
            </a:fld>
            <a:endParaRPr lang="en-US"/>
          </a:p>
        </p:txBody>
      </p:sp>
      <p:sp>
        <p:nvSpPr>
          <p:cNvPr id="6" name="Footer Placeholder 5"/>
          <p:cNvSpPr>
            <a:spLocks noGrp="1"/>
          </p:cNvSpPr>
          <p:nvPr>
            <p:ph type="ftr" sz="quarter" idx="11"/>
          </p:nvPr>
        </p:nvSpPr>
        <p:spPr/>
        <p:txBody>
          <a:bodyPr/>
          <a:lstStyle/>
          <a:p>
            <a:r>
              <a:rPr kumimoji="0" lang="en-US"/>
              <a:t>Aswath Damodaran</a:t>
            </a:r>
            <a:endParaRPr kumimoji="0" lang="en-US" dirty="0"/>
          </a:p>
        </p:txBody>
      </p:sp>
      <p:sp>
        <p:nvSpPr>
          <p:cNvPr id="7" name="Slide Number Placeholder 6"/>
          <p:cNvSpPr>
            <a:spLocks noGrp="1"/>
          </p:cNvSpPr>
          <p:nvPr>
            <p:ph type="sldNum" sz="quarter" idx="12"/>
          </p:nvPr>
        </p:nvSpPr>
        <p:spPr/>
        <p:txBody>
          <a:bodyPr/>
          <a:lstStyle/>
          <a:p>
            <a:fld id="{2C6B1FF6-39B9-40F5-8B67-33C6354A3D4F}" type="slidenum">
              <a:rPr kumimoji="0" lang="en-US" smtClean="0"/>
              <a:pPr/>
              <a:t>‹Nº›</a:t>
            </a:fld>
            <a:endParaRPr kumimoji="0"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407807309"/>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5796CF25-D8DA-44ED-876C-29A30A9A4010}" type="datetime1">
              <a:rPr lang="en-US" smtClean="0"/>
              <a:t>9/28/2026</a:t>
            </a:fld>
            <a:endParaRPr lang="en-US"/>
          </a:p>
        </p:txBody>
      </p:sp>
      <p:sp>
        <p:nvSpPr>
          <p:cNvPr id="8" name="Footer Placeholder 7"/>
          <p:cNvSpPr>
            <a:spLocks noGrp="1"/>
          </p:cNvSpPr>
          <p:nvPr>
            <p:ph type="ftr" sz="quarter" idx="11"/>
          </p:nvPr>
        </p:nvSpPr>
        <p:spPr>
          <a:xfrm>
            <a:off x="304800" y="6409944"/>
            <a:ext cx="3581400" cy="365760"/>
          </a:xfrm>
        </p:spPr>
        <p:txBody>
          <a:bodyPr/>
          <a:lstStyle/>
          <a:p>
            <a:r>
              <a:rPr kumimoji="0" lang="en-US"/>
              <a:t>Aswath Damodaran</a:t>
            </a:r>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pPr algn="ctr" eaLnBrk="1" latinLnBrk="0" hangingPunct="1"/>
            <a:fld id="{2C6B1FF6-39B9-40F5-8B67-33C6354A3D4F}" type="slidenum">
              <a:rPr kumimoji="0" lang="en-US" smtClean="0"/>
              <a:pPr algn="ctr" eaLnBrk="1" latinLnBrk="0" hangingPunct="1"/>
              <a:t>‹Nº›</a:t>
            </a:fld>
            <a:endParaRPr kumimoji="0" lang="en-US" dirty="0"/>
          </a:p>
        </p:txBody>
      </p:sp>
      <p:sp>
        <p:nvSpPr>
          <p:cNvPr id="23" name="Title 22"/>
          <p:cNvSpPr>
            <a:spLocks noGrp="1"/>
          </p:cNvSpPr>
          <p:nvPr>
            <p:ph type="title"/>
          </p:nvPr>
        </p:nvSpPr>
        <p:spPr/>
        <p:txBody>
          <a:bodyPr rtlCol="0" anchor="b" anchorCtr="0"/>
          <a:lstStyle/>
          <a:p>
            <a:r>
              <a:rPr kumimoji="0" lang="en-US"/>
              <a:t>Click to edit Master title style</a:t>
            </a:r>
          </a:p>
        </p:txBody>
      </p:sp>
    </p:spTree>
    <p:extLst>
      <p:ext uri="{BB962C8B-B14F-4D97-AF65-F5344CB8AC3E}">
        <p14:creationId xmlns:p14="http://schemas.microsoft.com/office/powerpoint/2010/main" val="1806593390"/>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646E263D-EE39-4C6F-BA04-22609AC726EB}" type="datetime1">
              <a:rPr lang="en-US" smtClean="0"/>
              <a:t>9/28/2026</a:t>
            </a:fld>
            <a:endParaRPr lang="en-US"/>
          </a:p>
        </p:txBody>
      </p:sp>
      <p:sp>
        <p:nvSpPr>
          <p:cNvPr id="4" name="Footer Placeholder 3"/>
          <p:cNvSpPr>
            <a:spLocks noGrp="1"/>
          </p:cNvSpPr>
          <p:nvPr>
            <p:ph type="ftr" sz="quarter" idx="11"/>
          </p:nvPr>
        </p:nvSpPr>
        <p:spPr/>
        <p:txBody>
          <a:bodyPr/>
          <a:lstStyle/>
          <a:p>
            <a:r>
              <a:rPr kumimoji="0" lang="en-US"/>
              <a:t>Aswath Damodaran</a:t>
            </a:r>
            <a:endParaRPr kumimoji="0" lang="en-US" dirty="0"/>
          </a:p>
        </p:txBody>
      </p:sp>
      <p:sp>
        <p:nvSpPr>
          <p:cNvPr id="5" name="Slide Number Placeholder 4"/>
          <p:cNvSpPr>
            <a:spLocks noGrp="1"/>
          </p:cNvSpPr>
          <p:nvPr>
            <p:ph type="sldNum" sz="quarter" idx="12"/>
          </p:nvPr>
        </p:nvSpPr>
        <p:spPr>
          <a:xfrm>
            <a:off x="4343400" y="1036020"/>
            <a:ext cx="457200" cy="441325"/>
          </a:xfrm>
        </p:spPr>
        <p:txBody>
          <a:bodyPr/>
          <a:lstStyle/>
          <a:p>
            <a:fld id="{2C6B1FF6-39B9-40F5-8B67-33C6354A3D4F}" type="slidenum">
              <a:rPr kumimoji="0" lang="en-US" smtClean="0"/>
              <a:pPr/>
              <a:t>‹Nº›</a:t>
            </a:fld>
            <a:endParaRPr kumimoji="0" lang="en-US" dirty="0"/>
          </a:p>
        </p:txBody>
      </p:sp>
    </p:spTree>
    <p:extLst>
      <p:ext uri="{BB962C8B-B14F-4D97-AF65-F5344CB8AC3E}">
        <p14:creationId xmlns:p14="http://schemas.microsoft.com/office/powerpoint/2010/main" val="23147996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8D246445-8EF1-4299-92AB-B66FFC9C5098}" type="datetime1">
              <a:rPr lang="en-US" smtClean="0"/>
              <a:t>9/28/2026</a:t>
            </a:fld>
            <a:endParaRPr lang="en-US"/>
          </a:p>
        </p:txBody>
      </p:sp>
      <p:sp>
        <p:nvSpPr>
          <p:cNvPr id="3" name="Footer Placeholder 2"/>
          <p:cNvSpPr>
            <a:spLocks noGrp="1"/>
          </p:cNvSpPr>
          <p:nvPr>
            <p:ph type="ftr" sz="quarter" idx="11"/>
          </p:nvPr>
        </p:nvSpPr>
        <p:spPr/>
        <p:txBody>
          <a:bodyPr/>
          <a:lstStyle/>
          <a:p>
            <a:r>
              <a:rPr kumimoji="0" lang="en-US"/>
              <a:t>Aswath Damodaran</a:t>
            </a:r>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2C6B1FF6-39B9-40F5-8B67-33C6354A3D4F}" type="slidenum">
              <a:rPr kumimoji="0" lang="en-US" smtClean="0"/>
              <a:pPr/>
              <a:t>‹Nº›</a:t>
            </a:fld>
            <a:endParaRPr kumimoji="0" lang="en-US" dirty="0">
              <a:solidFill>
                <a:srgbClr val="FFFFFF"/>
              </a:solidFill>
            </a:endParaRPr>
          </a:p>
        </p:txBody>
      </p:sp>
    </p:spTree>
    <p:extLst>
      <p:ext uri="{BB962C8B-B14F-4D97-AF65-F5344CB8AC3E}">
        <p14:creationId xmlns:p14="http://schemas.microsoft.com/office/powerpoint/2010/main" val="18431965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a:t>Click to edit Master title style</a:t>
            </a:r>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2C6B1FF6-39B9-40F5-8B67-33C6354A3D4F}" type="slidenum">
              <a:rPr kumimoji="0" lang="en-US" smtClean="0"/>
              <a:pPr/>
              <a:t>‹Nº›</a:t>
            </a:fld>
            <a:endParaRPr kumimoji="0" lang="en-US" dirty="0">
              <a:solidFill>
                <a:schemeClr val="accent3">
                  <a:shade val="75000"/>
                </a:schemeClr>
              </a:solidFill>
            </a:endParaRPr>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8E939C5C-5E54-4CA0-9EC1-9FAB712AC016}" type="datetime1">
              <a:rPr lang="en-US" smtClean="0"/>
              <a:t>9/28/2026</a:t>
            </a:fld>
            <a:endParaRPr lang="en-US"/>
          </a:p>
        </p:txBody>
      </p:sp>
      <p:sp>
        <p:nvSpPr>
          <p:cNvPr id="6" name="Footer Placeholder 5"/>
          <p:cNvSpPr>
            <a:spLocks noGrp="1"/>
          </p:cNvSpPr>
          <p:nvPr>
            <p:ph type="ftr" sz="quarter" idx="11"/>
          </p:nvPr>
        </p:nvSpPr>
        <p:spPr>
          <a:xfrm>
            <a:off x="301752" y="6410848"/>
            <a:ext cx="3383280" cy="365760"/>
          </a:xfrm>
        </p:spPr>
        <p:txBody>
          <a:bodyPr/>
          <a:lstStyle/>
          <a:p>
            <a:r>
              <a:rPr kumimoji="0" lang="en-US"/>
              <a:t>Aswath Damodaran</a:t>
            </a:r>
            <a:endParaRPr kumimoji="0" lang="en-US" dirty="0"/>
          </a:p>
        </p:txBody>
      </p:sp>
    </p:spTree>
    <p:extLst>
      <p:ext uri="{BB962C8B-B14F-4D97-AF65-F5344CB8AC3E}">
        <p14:creationId xmlns:p14="http://schemas.microsoft.com/office/powerpoint/2010/main" val="2170913096"/>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2C6B1FF6-39B9-40F5-8B67-33C6354A3D4F}" type="slidenum">
              <a:rPr kumimoji="0" lang="en-US" smtClean="0"/>
              <a:pPr/>
              <a:t>‹Nº›</a:t>
            </a:fld>
            <a:endParaRPr kumimoji="0" lang="en-US" dirty="0"/>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a:t>Click to edit Master title style</a:t>
            </a:r>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CF920F36-EC97-4BB6-9298-8811FA2C0FB6}" type="datetime1">
              <a:rPr lang="en-US" smtClean="0"/>
              <a:t>9/28/2026</a:t>
            </a:fld>
            <a:endParaRPr lang="en-US" dirty="0"/>
          </a:p>
        </p:txBody>
      </p:sp>
      <p:sp>
        <p:nvSpPr>
          <p:cNvPr id="6" name="Footer Placeholder 5"/>
          <p:cNvSpPr>
            <a:spLocks noGrp="1"/>
          </p:cNvSpPr>
          <p:nvPr>
            <p:ph type="ftr" sz="quarter" idx="11"/>
          </p:nvPr>
        </p:nvSpPr>
        <p:spPr>
          <a:xfrm>
            <a:off x="301752" y="6410848"/>
            <a:ext cx="3584448" cy="365760"/>
          </a:xfrm>
        </p:spPr>
        <p:txBody>
          <a:bodyPr/>
          <a:lstStyle/>
          <a:p>
            <a:r>
              <a:rPr kumimoji="0" lang="en-US"/>
              <a:t>Aswath Damodaran</a:t>
            </a:r>
            <a:endParaRPr kumimoji="0" lang="en-US" dirty="0"/>
          </a:p>
        </p:txBody>
      </p:sp>
    </p:spTree>
    <p:extLst>
      <p:ext uri="{BB962C8B-B14F-4D97-AF65-F5344CB8AC3E}">
        <p14:creationId xmlns:p14="http://schemas.microsoft.com/office/powerpoint/2010/main" val="3142784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AD6A713-6C7A-42D6-87A6-06F5A32A8AAB}" type="datetime1">
              <a:rPr lang="en-US" smtClean="0"/>
              <a:t>9/28/2026</a:t>
            </a:fld>
            <a:endParaRPr lang="en-US"/>
          </a:p>
        </p:txBody>
      </p:sp>
      <p:sp>
        <p:nvSpPr>
          <p:cNvPr id="5" name="Footer Placeholder 4"/>
          <p:cNvSpPr>
            <a:spLocks noGrp="1"/>
          </p:cNvSpPr>
          <p:nvPr>
            <p:ph type="ftr" sz="quarter" idx="11"/>
          </p:nvPr>
        </p:nvSpPr>
        <p:spPr/>
        <p:txBody>
          <a:bodyPr/>
          <a:lstStyle/>
          <a:p>
            <a:r>
              <a:rPr kumimoji="0" lang="en-US"/>
              <a:t>Aswath Damodaran</a:t>
            </a:r>
          </a:p>
        </p:txBody>
      </p:sp>
      <p:sp>
        <p:nvSpPr>
          <p:cNvPr id="6" name="Slide Number Placeholder 5"/>
          <p:cNvSpPr>
            <a:spLocks noGrp="1"/>
          </p:cNvSpPr>
          <p:nvPr>
            <p:ph type="sldNum" sz="quarter" idx="12"/>
          </p:nvPr>
        </p:nvSpPr>
        <p:spPr/>
        <p:txBody>
          <a:bodyPr/>
          <a:lstStyle/>
          <a:p>
            <a:fld id="{2C6B1FF6-39B9-40F5-8B67-33C6354A3D4F}" type="slidenum">
              <a:rPr kumimoji="0" lang="en-US" smtClean="0"/>
              <a:pPr/>
              <a:t>‹Nº›</a:t>
            </a:fld>
            <a:endParaRPr kumimoji="0" lang="en-US"/>
          </a:p>
        </p:txBody>
      </p:sp>
    </p:spTree>
    <p:extLst>
      <p:ext uri="{BB962C8B-B14F-4D97-AF65-F5344CB8AC3E}">
        <p14:creationId xmlns:p14="http://schemas.microsoft.com/office/powerpoint/2010/main" val="633562848"/>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2C6B1FF6-39B9-40F5-8B67-33C6354A3D4F}" type="slidenum">
              <a:rPr kumimoji="0" lang="en-US" smtClean="0"/>
              <a:pPr/>
              <a:t>‹Nº›</a:t>
            </a:fld>
            <a:endParaRPr kumimoji="0" lang="en-US" dirty="0"/>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E887CB8-5FD9-4770-95A0-80193316C2C0}" type="datetime1">
              <a:rPr lang="en-US" smtClean="0"/>
              <a:t>9/28/2026</a:t>
            </a:fld>
            <a:endParaRPr lang="en-US"/>
          </a:p>
        </p:txBody>
      </p:sp>
      <p:sp>
        <p:nvSpPr>
          <p:cNvPr id="5" name="Footer Placeholder 4"/>
          <p:cNvSpPr>
            <a:spLocks noGrp="1"/>
          </p:cNvSpPr>
          <p:nvPr>
            <p:ph type="ftr" sz="quarter" idx="11"/>
          </p:nvPr>
        </p:nvSpPr>
        <p:spPr/>
        <p:txBody>
          <a:bodyPr/>
          <a:lstStyle/>
          <a:p>
            <a:r>
              <a:rPr kumimoji="0" lang="en-US"/>
              <a:t>Aswath Damodaran</a:t>
            </a:r>
          </a:p>
        </p:txBody>
      </p:sp>
      <p:sp>
        <p:nvSpPr>
          <p:cNvPr id="2" name="Vertical Title 1"/>
          <p:cNvSpPr>
            <a:spLocks noGrp="1"/>
          </p:cNvSpPr>
          <p:nvPr>
            <p:ph type="title" orient="vert"/>
          </p:nvPr>
        </p:nvSpPr>
        <p:spPr>
          <a:xfrm>
            <a:off x="7391400" y="304801"/>
            <a:ext cx="1447800" cy="5851525"/>
          </a:xfrm>
        </p:spPr>
        <p:txBody>
          <a:bodyPr vert="eaVert"/>
          <a:lstStyle/>
          <a:p>
            <a:r>
              <a:rPr kumimoji="0" lang="en-US"/>
              <a:t>Click to edit Master title style</a:t>
            </a:r>
          </a:p>
        </p:txBody>
      </p:sp>
    </p:spTree>
    <p:extLst>
      <p:ext uri="{BB962C8B-B14F-4D97-AF65-F5344CB8AC3E}">
        <p14:creationId xmlns:p14="http://schemas.microsoft.com/office/powerpoint/2010/main" val="7935619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cs typeface="+mn-cs"/>
            </a:endParaRPr>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lang="en-US"/>
              <a:t>Click to edit Master title style</a:t>
            </a:r>
          </a:p>
        </p:txBody>
      </p:sp>
      <p:sp>
        <p:nvSpPr>
          <p:cNvPr id="7172" name="Text Placeholder 12"/>
          <p:cNvSpPr>
            <a:spLocks noGrp="1"/>
          </p:cNvSpPr>
          <p:nvPr>
            <p:ph type="body" idx="1"/>
          </p:nvPr>
        </p:nvSpPr>
        <p:spPr bwMode="auto">
          <a:xfrm>
            <a:off x="457200" y="1600200"/>
            <a:ext cx="7467600" cy="48736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3"/>
          <p:cNvSpPr>
            <a:spLocks noGrp="1"/>
          </p:cNvSpPr>
          <p:nvPr>
            <p:ph type="dt" sz="half" idx="2"/>
          </p:nvPr>
        </p:nvSpPr>
        <p:spPr>
          <a:xfrm rot="5400000">
            <a:off x="7589045" y="1081881"/>
            <a:ext cx="2011362" cy="384175"/>
          </a:xfrm>
          <a:prstGeom prst="rect">
            <a:avLst/>
          </a:prstGeom>
        </p:spPr>
        <p:txBody>
          <a:bodyPr vert="horz" anchor="ctr" anchorCtr="0"/>
          <a:lstStyle>
            <a:lvl1pPr algn="r" eaLnBrk="1" fontAlgn="auto" latinLnBrk="0" hangingPunct="1">
              <a:spcBef>
                <a:spcPts val="0"/>
              </a:spcBef>
              <a:spcAft>
                <a:spcPts val="0"/>
              </a:spcAft>
              <a:defRPr kumimoji="0" sz="1200">
                <a:solidFill>
                  <a:schemeClr val="tx2"/>
                </a:solidFill>
                <a:latin typeface="+mn-lt"/>
                <a:cs typeface="+mn-cs"/>
              </a:defRPr>
            </a:lvl1pPr>
          </a:lstStyle>
          <a:p>
            <a:pPr>
              <a:defRPr/>
            </a:pPr>
            <a:fld id="{0540A2EC-721E-4F9E-B174-49A4274CB428}" type="datetime1">
              <a:rPr lang="en-GB" smtClean="0"/>
              <a:t>28/09/2026</a:t>
            </a:fld>
            <a:endParaRPr lang="en-GB"/>
          </a:p>
        </p:txBody>
      </p:sp>
      <p:sp>
        <p:nvSpPr>
          <p:cNvPr id="3" name="Footer Placeholder 2"/>
          <p:cNvSpPr>
            <a:spLocks noGrp="1"/>
          </p:cNvSpPr>
          <p:nvPr>
            <p:ph type="ftr" sz="quarter" idx="3"/>
          </p:nvPr>
        </p:nvSpPr>
        <p:spPr>
          <a:xfrm rot="5400000">
            <a:off x="6989763" y="3736975"/>
            <a:ext cx="3200400" cy="365125"/>
          </a:xfrm>
          <a:prstGeom prst="rect">
            <a:avLst/>
          </a:prstGeom>
        </p:spPr>
        <p:txBody>
          <a:bodyPr vert="horz" anchor="ctr" anchorCtr="0"/>
          <a:lstStyle>
            <a:lvl1pPr algn="l" eaLnBrk="1" fontAlgn="auto" latinLnBrk="0" hangingPunct="1">
              <a:spcBef>
                <a:spcPts val="0"/>
              </a:spcBef>
              <a:spcAft>
                <a:spcPts val="0"/>
              </a:spcAft>
              <a:defRPr kumimoji="0" sz="1200">
                <a:solidFill>
                  <a:schemeClr val="tx2"/>
                </a:solidFill>
                <a:latin typeface="+mn-lt"/>
                <a:cs typeface="+mn-cs"/>
              </a:defRPr>
            </a:lvl1pPr>
          </a:lstStyle>
          <a:p>
            <a:pPr>
              <a:defRPr/>
            </a:pPr>
            <a:endParaRPr lang="en-GB"/>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2" name="Oval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3" name="Slide Number Placeholder 22"/>
          <p:cNvSpPr>
            <a:spLocks noGrp="1"/>
          </p:cNvSpPr>
          <p:nvPr>
            <p:ph type="sldNum" sz="quarter" idx="4"/>
          </p:nvPr>
        </p:nvSpPr>
        <p:spPr>
          <a:xfrm>
            <a:off x="8129588" y="5734050"/>
            <a:ext cx="609600" cy="520700"/>
          </a:xfrm>
          <a:prstGeom prst="rect">
            <a:avLst/>
          </a:prstGeom>
        </p:spPr>
        <p:txBody>
          <a:bodyPr vert="horz" anchor="ctr"/>
          <a:lstStyle>
            <a:lvl1pPr algn="ctr" eaLnBrk="1" fontAlgn="auto" latinLnBrk="0" hangingPunct="1">
              <a:spcBef>
                <a:spcPts val="0"/>
              </a:spcBef>
              <a:spcAft>
                <a:spcPts val="0"/>
              </a:spcAft>
              <a:defRPr kumimoji="0" sz="1400" b="1">
                <a:solidFill>
                  <a:srgbClr val="FFFFFF"/>
                </a:solidFill>
                <a:latin typeface="+mn-lt"/>
                <a:cs typeface="+mn-cs"/>
              </a:defRPr>
            </a:lvl1pPr>
          </a:lstStyle>
          <a:p>
            <a:pPr>
              <a:defRPr/>
            </a:pPr>
            <a:fld id="{ED48CAF1-9212-4FD0-844D-42DE4BC73507}" type="slidenum">
              <a:rPr lang="en-GB"/>
              <a:pPr>
                <a:defRPr/>
              </a:pPr>
              <a:t>‹Nº›</a:t>
            </a:fld>
            <a:endParaRPr lang="en-GB"/>
          </a:p>
        </p:txBody>
      </p:sp>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695" r:id="rId4"/>
    <p:sldLayoutId id="2147483696" r:id="rId5"/>
    <p:sldLayoutId id="2147483703" r:id="rId6"/>
    <p:sldLayoutId id="2147483697" r:id="rId7"/>
    <p:sldLayoutId id="2147483704" r:id="rId8"/>
    <p:sldLayoutId id="2147483705" r:id="rId9"/>
    <p:sldLayoutId id="2147483698" r:id="rId10"/>
    <p:sldLayoutId id="2147483699" r:id="rId11"/>
  </p:sldLayoutIdLst>
  <p:hf hdr="0" ftr="0" dt="0"/>
  <p:txStyles>
    <p:titleStyle>
      <a:lvl1pPr algn="l" rtl="0" eaLnBrk="0" fontAlgn="base" hangingPunct="0">
        <a:spcBef>
          <a:spcPct val="0"/>
        </a:spcBef>
        <a:spcAft>
          <a:spcPct val="0"/>
        </a:spcAft>
        <a:defRPr sz="3000" kern="1200" cap="small">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Century Schoolbook" pitchFamily="18" charset="0"/>
        </a:defRPr>
      </a:lvl2pPr>
      <a:lvl3pPr algn="l" rtl="0" eaLnBrk="0" fontAlgn="base" hangingPunct="0">
        <a:spcBef>
          <a:spcPct val="0"/>
        </a:spcBef>
        <a:spcAft>
          <a:spcPct val="0"/>
        </a:spcAft>
        <a:defRPr sz="3000">
          <a:solidFill>
            <a:schemeClr val="tx2"/>
          </a:solidFill>
          <a:latin typeface="Century Schoolbook" pitchFamily="18" charset="0"/>
        </a:defRPr>
      </a:lvl3pPr>
      <a:lvl4pPr algn="l" rtl="0" eaLnBrk="0" fontAlgn="base" hangingPunct="0">
        <a:spcBef>
          <a:spcPct val="0"/>
        </a:spcBef>
        <a:spcAft>
          <a:spcPct val="0"/>
        </a:spcAft>
        <a:defRPr sz="3000">
          <a:solidFill>
            <a:schemeClr val="tx2"/>
          </a:solidFill>
          <a:latin typeface="Century Schoolbook" pitchFamily="18" charset="0"/>
        </a:defRPr>
      </a:lvl4pPr>
      <a:lvl5pPr algn="l" rtl="0" eaLnBrk="0" fontAlgn="base" hangingPunct="0">
        <a:spcBef>
          <a:spcPct val="0"/>
        </a:spcBef>
        <a:spcAft>
          <a:spcPct val="0"/>
        </a:spcAft>
        <a:defRPr sz="3000">
          <a:solidFill>
            <a:schemeClr val="tx2"/>
          </a:solidFill>
          <a:latin typeface="Century Schoolbook" pitchFamily="18"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p:titleStyle>
    <p:bodyStyle>
      <a:lvl1pPr marL="273050" indent="-273050" algn="l" rtl="0" eaLnBrk="0" fontAlgn="base" hangingPunct="0">
        <a:spcBef>
          <a:spcPts val="600"/>
        </a:spcBef>
        <a:spcAft>
          <a:spcPct val="0"/>
        </a:spcAft>
        <a:buClr>
          <a:schemeClr val="accent1"/>
        </a:buClr>
        <a:buSzPct val="70000"/>
        <a:buFont typeface="Wingdings" charset="2"/>
        <a:buChar char=""/>
        <a:defRPr sz="2400" kern="1200">
          <a:solidFill>
            <a:schemeClr val="tx1"/>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E0752F"/>
        </a:buClr>
        <a:buSzPct val="60000"/>
        <a:buFont typeface="Wingdings" charset="2"/>
        <a:buChar char=""/>
        <a:defRPr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FEC3AE"/>
        </a:buClr>
        <a:buSzPct val="60000"/>
        <a:buFont typeface="Wingdings" charset="2"/>
        <a:buChar char=""/>
        <a:defRPr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BDCAE9"/>
        </a:buClr>
        <a:buSzPct val="68000"/>
        <a:buFont typeface="Wingdings 2"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pPr algn="r" eaLnBrk="1" latinLnBrk="0" hangingPunct="1"/>
            <a:fld id="{9B2FC524-83DE-4758-AAD4-EB6FF4AD2F6C}" type="datetime1">
              <a:rPr lang="en-US" smtClean="0"/>
              <a:t>9/28/2026</a:t>
            </a:fld>
            <a:endParaRPr lang="en-US" sz="1400" dirty="0">
              <a:solidFill>
                <a:srgbClr val="FFFFFF"/>
              </a:solidFill>
            </a:endParaRPr>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pPr algn="l" eaLnBrk="1" latinLnBrk="0" hangingPunct="1"/>
            <a:r>
              <a:rPr kumimoji="0" lang="en-US">
                <a:solidFill>
                  <a:srgbClr val="FFFFFF"/>
                </a:solidFill>
              </a:rPr>
              <a:t>Aswath Damodaran</a:t>
            </a:r>
            <a:endParaRPr kumimoji="0" lang="en-US" dirty="0">
              <a:solidFill>
                <a:srgbClr val="FFFFFF"/>
              </a:solidFill>
            </a:endParaRPr>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lgn="ctr" eaLnBrk="1" latinLnBrk="0" hangingPunct="1"/>
            <a:fld id="{2C6B1FF6-39B9-40F5-8B67-33C6354A3D4F}" type="slidenum">
              <a:rPr kumimoji="0" lang="en-US" smtClean="0"/>
              <a:pPr algn="ctr" eaLnBrk="1" latinLnBrk="0" hangingPunct="1"/>
              <a:t>‹Nº›</a:t>
            </a:fld>
            <a:endParaRPr kumimoji="0" lang="en-US" sz="1600" dirty="0">
              <a:solidFill>
                <a:schemeClr val="accent3">
                  <a:shade val="75000"/>
                </a:schemeClr>
              </a:solidFill>
            </a:endParaRPr>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Tree>
    <p:extLst>
      <p:ext uri="{BB962C8B-B14F-4D97-AF65-F5344CB8AC3E}">
        <p14:creationId xmlns:p14="http://schemas.microsoft.com/office/powerpoint/2010/main" val="2514671915"/>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hf sldNum="0" hdr="0" ftr="0" dt="0"/>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xml.rels><?xml version="1.0" encoding="UTF-8" standalone="yes"?>
<Relationships xmlns="http://schemas.openxmlformats.org/package/2006/relationships"><Relationship Id="rId8" Type="http://schemas.openxmlformats.org/officeDocument/2006/relationships/diagramData" Target="../diagrams/data7.xml"/><Relationship Id="rId3" Type="http://schemas.openxmlformats.org/officeDocument/2006/relationships/diagramData" Target="../diagrams/data6.xml"/><Relationship Id="rId7" Type="http://schemas.microsoft.com/office/2007/relationships/diagramDrawing" Target="../diagrams/drawing6.xml"/><Relationship Id="rId12" Type="http://schemas.microsoft.com/office/2007/relationships/diagramDrawing" Target="../diagrams/drawing7.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6.xml"/><Relationship Id="rId11" Type="http://schemas.openxmlformats.org/officeDocument/2006/relationships/diagramColors" Target="../diagrams/colors7.xml"/><Relationship Id="rId5" Type="http://schemas.openxmlformats.org/officeDocument/2006/relationships/diagramQuickStyle" Target="../diagrams/quickStyle6.xml"/><Relationship Id="rId10" Type="http://schemas.openxmlformats.org/officeDocument/2006/relationships/diagramQuickStyle" Target="../diagrams/quickStyle7.xml"/><Relationship Id="rId4" Type="http://schemas.openxmlformats.org/officeDocument/2006/relationships/diagramLayout" Target="../diagrams/layout6.xml"/><Relationship Id="rId9" Type="http://schemas.openxmlformats.org/officeDocument/2006/relationships/diagramLayout" Target="../diagrams/layout7.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chart" Target="../charts/chart1.xml"/><Relationship Id="rId4" Type="http://schemas.openxmlformats.org/officeDocument/2006/relationships/image" Target="../media/image5.wmf"/></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microsoft.com/office/2011/relationships/webextension" Target="../webextensions/webextension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uk.finance.yahoo.com/news/canadian-pensioners-swoop-quorn-lender-222700105.html" TargetMode="External"/><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microsoft.com/office/2011/relationships/webextension" Target="../webextensions/webextension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11/relationships/webextension" Target="../webextensions/webextension3.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8" Type="http://schemas.openxmlformats.org/officeDocument/2006/relationships/diagramData" Target="../diagrams/data9.xml"/><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8.xml"/><Relationship Id="rId11" Type="http://schemas.openxmlformats.org/officeDocument/2006/relationships/diagramColors" Target="../diagrams/colors80.xml"/><Relationship Id="rId5" Type="http://schemas.openxmlformats.org/officeDocument/2006/relationships/diagramQuickStyle" Target="../diagrams/quickStyle8.xml"/><Relationship Id="rId10" Type="http://schemas.openxmlformats.org/officeDocument/2006/relationships/diagramQuickStyle" Target="../diagrams/quickStyle80.xml"/><Relationship Id="rId4" Type="http://schemas.openxmlformats.org/officeDocument/2006/relationships/diagramLayout" Target="../diagrams/layout8.xml"/><Relationship Id="rId9" Type="http://schemas.openxmlformats.org/officeDocument/2006/relationships/diagramLayout" Target="../diagrams/layout80.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microsoft.com/office/2011/relationships/webextension" Target="../webextensions/webextension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people.stern.nyu.edu/adamodar/New_Home_Page/articles/isthisdebt.htm"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4.wmf"/><Relationship Id="rId5" Type="http://schemas.openxmlformats.org/officeDocument/2006/relationships/oleObject" Target="../embeddings/oleObject3.bin"/><Relationship Id="rId4" Type="http://schemas.openxmlformats.org/officeDocument/2006/relationships/image" Target="../media/image13.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5.wmf"/></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6.wmf"/></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2.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8.wmf"/><Relationship Id="rId4" Type="http://schemas.openxmlformats.org/officeDocument/2006/relationships/oleObject" Target="../embeddings/oleObject6.bin"/></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3.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4.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5.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7.wmf"/></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7.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8.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4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11.png"/><Relationship Id="rId4" Type="http://schemas.microsoft.com/office/2011/relationships/webextension" Target="../webextensions/webextension5.xml"/></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hyperlink" Target="http://www.nasdaq.com/symbol/aapl/analyst-research" TargetMode="External"/><Relationship Id="rId3" Type="http://schemas.openxmlformats.org/officeDocument/2006/relationships/hyperlink" Target="http://www.zacksdata.com/" TargetMode="External"/><Relationship Id="rId7" Type="http://schemas.openxmlformats.org/officeDocument/2006/relationships/hyperlink" Target="http://money.cnn.com/quote/quote.html?symb=AAPL"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hyperlink" Target="http://markets.ft.com/research/Markets/Tearsheets/Forecasts?s=AAPL:NSQ" TargetMode="External"/><Relationship Id="rId5" Type="http://schemas.openxmlformats.org/officeDocument/2006/relationships/hyperlink" Target="http://finance.yahoo.com/q/ae?s=aapl" TargetMode="External"/><Relationship Id="rId10" Type="http://schemas.openxmlformats.org/officeDocument/2006/relationships/image" Target="../media/image31.png"/><Relationship Id="rId4" Type="http://schemas.openxmlformats.org/officeDocument/2006/relationships/hyperlink" Target="http://www.nasdaq.com/symbol/aapl/earnings-growth" TargetMode="External"/><Relationship Id="rId9" Type="http://schemas.openxmlformats.org/officeDocument/2006/relationships/image" Target="../media/image30.jpe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60.png"/></Relationships>
</file>

<file path=ppt/slides/_rels/slide56.xml.rels><?xml version="1.0" encoding="UTF-8" standalone="yes"?>
<Relationships xmlns="http://schemas.openxmlformats.org/package/2006/relationships"><Relationship Id="rId8" Type="http://schemas.openxmlformats.org/officeDocument/2006/relationships/diagramLayout" Target="../diagrams/layout190.xml"/><Relationship Id="rId3" Type="http://schemas.openxmlformats.org/officeDocument/2006/relationships/diagramLayout" Target="../diagrams/layout19.xml"/><Relationship Id="rId7" Type="http://schemas.openxmlformats.org/officeDocument/2006/relationships/diagramData" Target="../diagrams/data21.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10" Type="http://schemas.openxmlformats.org/officeDocument/2006/relationships/diagramColors" Target="../diagrams/colors190.xml"/><Relationship Id="rId4" Type="http://schemas.openxmlformats.org/officeDocument/2006/relationships/diagramQuickStyle" Target="../diagrams/quickStyle19.xml"/><Relationship Id="rId9" Type="http://schemas.openxmlformats.org/officeDocument/2006/relationships/diagramQuickStyle" Target="../diagrams/quickStyle190.xml"/></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diagramData" Target="../diagrams/data22.xml"/><Relationship Id="rId7" Type="http://schemas.microsoft.com/office/2007/relationships/diagramDrawing" Target="../diagrams/drawing20.xm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 Id="rId9" Type="http://schemas.openxmlformats.org/officeDocument/2006/relationships/image" Target="../media/image33.wmf"/></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35.wmf"/><Relationship Id="rId5" Type="http://schemas.openxmlformats.org/officeDocument/2006/relationships/oleObject" Target="../embeddings/oleObject10.bin"/><Relationship Id="rId4" Type="http://schemas.openxmlformats.org/officeDocument/2006/relationships/image" Target="../media/image34.wmf"/></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36.w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37.w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8.wmf"/></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40.jpeg"/><Relationship Id="rId5" Type="http://schemas.openxmlformats.org/officeDocument/2006/relationships/chart" Target="../charts/chart4.xml"/><Relationship Id="rId4" Type="http://schemas.openxmlformats.org/officeDocument/2006/relationships/image" Target="../media/image39.wmf"/></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chart" Target="../charts/chart5.xml"/><Relationship Id="rId4" Type="http://schemas.openxmlformats.org/officeDocument/2006/relationships/image" Target="../media/image41.wmf"/></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66.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2.xml"/><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45.emf"/></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package" Target="../embeddings/Microsoft_Word_Document.docx"/><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47.wmf"/></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48.emf"/></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16.wmf"/><Relationship Id="rId5" Type="http://schemas.openxmlformats.org/officeDocument/2006/relationships/oleObject" Target="../embeddings/oleObject19.bin"/><Relationship Id="rId4" Type="http://schemas.openxmlformats.org/officeDocument/2006/relationships/image" Target="../media/image49.wmf"/></Relationships>
</file>

<file path=ppt/slides/_rels/slide76.xml.rels><?xml version="1.0" encoding="UTF-8" standalone="yes"?>
<Relationships xmlns="http://schemas.openxmlformats.org/package/2006/relationships"><Relationship Id="rId3" Type="http://schemas.openxmlformats.org/officeDocument/2006/relationships/hyperlink" Target="http://people.stern.nyu.edu/adamodar/New_Home_Page/articles/RDeffect.htm" TargetMode="External"/><Relationship Id="rId2" Type="http://schemas.openxmlformats.org/officeDocument/2006/relationships/notesSlide" Target="../notesSlides/notesSlide56.xml"/><Relationship Id="rId1" Type="http://schemas.openxmlformats.org/officeDocument/2006/relationships/slideLayout" Target="../slideLayouts/slideLayout2.xml"/><Relationship Id="rId5" Type="http://schemas.openxmlformats.org/officeDocument/2006/relationships/image" Target="../media/image50.emf"/><Relationship Id="rId4" Type="http://schemas.openxmlformats.org/officeDocument/2006/relationships/oleObject" Target="../embeddings/oleObject20.bin"/></Relationships>
</file>

<file path=ppt/slides/_rels/slide77.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package" Target="../embeddings/Microsoft_Word_Document2.docx"/><Relationship Id="rId1" Type="http://schemas.openxmlformats.org/officeDocument/2006/relationships/slideLayout" Target="../slideLayouts/slideLayout2.xml"/><Relationship Id="rId5" Type="http://schemas.openxmlformats.org/officeDocument/2006/relationships/image" Target="../media/image52.wmf"/><Relationship Id="rId4" Type="http://schemas.openxmlformats.org/officeDocument/2006/relationships/package" Target="../embeddings/Microsoft_Word_Document3.docx"/></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ctrTitle"/>
          </p:nvPr>
        </p:nvSpPr>
        <p:spPr>
          <a:xfrm>
            <a:off x="1840160" y="1061665"/>
            <a:ext cx="6692280" cy="1719263"/>
          </a:xfrm>
        </p:spPr>
        <p:txBody>
          <a:bodyPr>
            <a:noAutofit/>
          </a:bodyPr>
          <a:lstStyle/>
          <a:p>
            <a:pPr eaLnBrk="1" fontAlgn="auto" hangingPunct="1">
              <a:spcAft>
                <a:spcPts val="0"/>
              </a:spcAft>
              <a:defRPr/>
            </a:pPr>
            <a:r>
              <a:rPr lang="en-US" sz="4000" dirty="0"/>
              <a:t>Company Valuation: </a:t>
            </a:r>
            <a:br>
              <a:rPr lang="en-US" sz="4000" dirty="0"/>
            </a:br>
            <a:r>
              <a:rPr lang="en-US" sz="4000" dirty="0"/>
              <a:t>1</a:t>
            </a:r>
            <a:r>
              <a:rPr lang="en-US" sz="4000" baseline="30000" dirty="0"/>
              <a:t>st</a:t>
            </a:r>
            <a:r>
              <a:rPr lang="en-US" sz="4000" dirty="0"/>
              <a:t> Valuation Method</a:t>
            </a:r>
            <a:br>
              <a:rPr lang="en-US" sz="4000" dirty="0"/>
            </a:br>
            <a:r>
              <a:rPr lang="en-US" sz="4000" dirty="0"/>
              <a:t>Discounted Cash Flow Valuation</a:t>
            </a:r>
          </a:p>
        </p:txBody>
      </p:sp>
      <p:sp>
        <p:nvSpPr>
          <p:cNvPr id="15363" name="Rectangle 3"/>
          <p:cNvSpPr>
            <a:spLocks noGrp="1" noChangeArrowheads="1"/>
          </p:cNvSpPr>
          <p:nvPr>
            <p:ph type="subTitle" idx="1"/>
          </p:nvPr>
        </p:nvSpPr>
        <p:spPr>
          <a:xfrm>
            <a:off x="2419672" y="2852936"/>
            <a:ext cx="6400800" cy="3200400"/>
          </a:xfrm>
          <a:noFill/>
        </p:spPr>
        <p:txBody>
          <a:bodyPr/>
          <a:lstStyle/>
          <a:p>
            <a:pPr marL="342900" indent="-342900" eaLnBrk="1" hangingPunct="1"/>
            <a:r>
              <a:rPr lang="en-US" sz="2400" dirty="0"/>
              <a:t>Part II: Cash Flows</a:t>
            </a:r>
          </a:p>
          <a:p>
            <a:pPr marL="342900" indent="-342900">
              <a:buFont typeface="Arial" pitchFamily="34" charset="0"/>
              <a:buChar char="•"/>
            </a:pPr>
            <a:r>
              <a:rPr lang="en-US" sz="2000" dirty="0" err="1"/>
              <a:t>Damodaran</a:t>
            </a:r>
            <a:r>
              <a:rPr lang="en-US" sz="2000" dirty="0"/>
              <a:t> on Valuation</a:t>
            </a:r>
          </a:p>
          <a:p>
            <a:pPr marL="800100" lvl="1" indent="-342900" algn="l" eaLnBrk="1" hangingPunct="1">
              <a:buFont typeface="Arial" charset="0"/>
              <a:buChar char="•"/>
            </a:pPr>
            <a:r>
              <a:rPr lang="en-US" sz="2300" dirty="0"/>
              <a:t>Measuring Earnings (</a:t>
            </a:r>
            <a:r>
              <a:rPr lang="en-US" sz="2300" dirty="0" err="1"/>
              <a:t>ch</a:t>
            </a:r>
            <a:r>
              <a:rPr lang="en-US" sz="2300" dirty="0"/>
              <a:t> 9)</a:t>
            </a:r>
          </a:p>
          <a:p>
            <a:pPr marL="800100" lvl="1" indent="-342900" algn="l" eaLnBrk="1" hangingPunct="1">
              <a:buFont typeface="Arial" charset="0"/>
              <a:buChar char="•"/>
            </a:pPr>
            <a:r>
              <a:rPr lang="en-US" sz="2300" dirty="0"/>
              <a:t>Earnings &amp; Cash Flows (</a:t>
            </a:r>
            <a:r>
              <a:rPr lang="en-US" sz="2300" dirty="0" err="1"/>
              <a:t>ch</a:t>
            </a:r>
            <a:r>
              <a:rPr lang="en-US" sz="2300" dirty="0"/>
              <a:t> 10)</a:t>
            </a:r>
          </a:p>
          <a:p>
            <a:pPr marL="800100" lvl="1" indent="-342900" algn="l" eaLnBrk="1" hangingPunct="1">
              <a:buFont typeface="Arial" charset="0"/>
              <a:buChar char="•"/>
            </a:pPr>
            <a:r>
              <a:rPr lang="en-US" sz="2300" dirty="0"/>
              <a:t>Growth (</a:t>
            </a:r>
            <a:r>
              <a:rPr lang="en-US" sz="2300" dirty="0" err="1"/>
              <a:t>ch</a:t>
            </a:r>
            <a:r>
              <a:rPr lang="en-US" sz="2300" dirty="0"/>
              <a:t> 11)</a:t>
            </a:r>
          </a:p>
          <a:p>
            <a:pPr marL="342900" indent="-342900">
              <a:buFont typeface="Arial" pitchFamily="34" charset="0"/>
              <a:buChar char="•"/>
            </a:pPr>
            <a:r>
              <a:rPr lang="en-US" sz="2000" dirty="0"/>
              <a:t>Hillier Et al. (2010)</a:t>
            </a:r>
          </a:p>
          <a:p>
            <a:pPr marL="800100" lvl="1" indent="-342900" algn="l">
              <a:buFont typeface="Arial" pitchFamily="34" charset="0"/>
              <a:buChar char="•"/>
            </a:pPr>
            <a:r>
              <a:rPr lang="en-US" sz="2600" dirty="0"/>
              <a:t>Capital Budgeting Practices (</a:t>
            </a:r>
            <a:r>
              <a:rPr lang="en-US" sz="2600" dirty="0" err="1"/>
              <a:t>ch</a:t>
            </a:r>
            <a:r>
              <a:rPr lang="en-US" sz="2600" dirty="0"/>
              <a:t> 8)</a:t>
            </a:r>
            <a:endParaRPr lang="en-US" sz="2000" dirty="0"/>
          </a:p>
          <a:p>
            <a:pPr marL="342900" indent="-342900" eaLnBrk="1" hangingPunct="1"/>
            <a:endParaRPr lang="en-US" sz="2400" dirty="0"/>
          </a:p>
          <a:p>
            <a:pPr marL="342900" indent="-342900" algn="ctr" eaLnBrk="1" hangingPunct="1"/>
            <a:r>
              <a:rPr lang="en-US" sz="2400" dirty="0" err="1"/>
              <a:t>Kalaitzoglou</a:t>
            </a:r>
            <a:r>
              <a:rPr lang="en-US" sz="2400" dirty="0"/>
              <a:t> </a:t>
            </a:r>
            <a:r>
              <a:rPr lang="en-US" sz="2400" dirty="0" err="1"/>
              <a:t>Iordanis</a:t>
            </a:r>
            <a:endParaRPr lang="en-US" sz="2400" dirty="0"/>
          </a:p>
        </p:txBody>
      </p:sp>
      <p:sp>
        <p:nvSpPr>
          <p:cNvPr id="2" name="Slide Number Placeholder 1"/>
          <p:cNvSpPr>
            <a:spLocks noGrp="1"/>
          </p:cNvSpPr>
          <p:nvPr>
            <p:ph type="sldNum" sz="quarter" idx="12"/>
          </p:nvPr>
        </p:nvSpPr>
        <p:spPr/>
        <p:txBody>
          <a:bodyPr/>
          <a:lstStyle/>
          <a:p>
            <a:pPr>
              <a:defRPr/>
            </a:pPr>
            <a:fld id="{F6DE7525-602C-4B2D-9656-37F186FF1596}" type="slidenum">
              <a:rPr lang="en-GB" smtClean="0"/>
              <a:pPr>
                <a:defRPr/>
              </a:pPr>
              <a:t>1</a:t>
            </a:fld>
            <a:endParaRPr lang="en-GB"/>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Recap: What we have seen so far</a:t>
            </a:r>
          </a:p>
        </p:txBody>
      </p:sp>
      <p:graphicFrame>
        <p:nvGraphicFramePr>
          <p:cNvPr id="7" name="Content Placeholder 6"/>
          <p:cNvGraphicFramePr>
            <a:graphicFrameLocks noGrp="1"/>
          </p:cNvGraphicFramePr>
          <p:nvPr>
            <p:ph sz="quarter" idx="1"/>
          </p:nvPr>
        </p:nvGraphicFramePr>
        <p:xfrm>
          <a:off x="179512" y="1340768"/>
          <a:ext cx="8784976" cy="54452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Oval 2"/>
          <p:cNvSpPr/>
          <p:nvPr/>
        </p:nvSpPr>
        <p:spPr>
          <a:xfrm>
            <a:off x="35496" y="4509120"/>
            <a:ext cx="3024336" cy="2304256"/>
          </a:xfrm>
          <a:prstGeom prst="ellipse">
            <a:avLst/>
          </a:prstGeom>
          <a:noFill/>
          <a:ln w="571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2400" b="0" i="0" u="none" strike="noStrike" kern="1200" cap="none" spc="0" normalizeH="0" baseline="0" noProof="0">
              <a:ln>
                <a:noFill/>
              </a:ln>
              <a:solidFill>
                <a:prstClr val="white"/>
              </a:solidFill>
              <a:effectLst/>
              <a:uLnTx/>
              <a:uFillTx/>
              <a:latin typeface="Georgia"/>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D0751-5610-439F-A51F-4CAD170939B1}"/>
              </a:ext>
            </a:extLst>
          </p:cNvPr>
          <p:cNvSpPr>
            <a:spLocks noGrp="1"/>
          </p:cNvSpPr>
          <p:nvPr>
            <p:ph type="title"/>
          </p:nvPr>
        </p:nvSpPr>
        <p:spPr/>
        <p:txBody>
          <a:bodyPr>
            <a:normAutofit fontScale="90000"/>
          </a:bodyPr>
          <a:lstStyle/>
          <a:p>
            <a:r>
              <a:rPr lang="en-GB" dirty="0"/>
              <a:t>Simplest Valuation: Present value of a growing perpetuity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09AD19-0588-1100-1E86-D35F852DBA6C}"/>
                  </a:ext>
                </a:extLst>
              </p:cNvPr>
              <p:cNvSpPr>
                <a:spLocks noGrp="1"/>
              </p:cNvSpPr>
              <p:nvPr>
                <p:ph sz="quarter" idx="1"/>
              </p:nvPr>
            </p:nvSpPr>
            <p:spPr>
              <a:xfrm>
                <a:off x="1509708" y="3394189"/>
                <a:ext cx="6120680" cy="1624518"/>
              </a:xfrm>
            </p:spPr>
            <p:txBody>
              <a:bodyPr>
                <a:noAutofit/>
              </a:bodyPr>
              <a:lstStyle/>
              <a:p>
                <a:pPr marL="0" indent="0" algn="ctr">
                  <a:buNone/>
                </a:pPr>
                <a14:m>
                  <m:oMathPara xmlns:m="http://schemas.openxmlformats.org/officeDocument/2006/math">
                    <m:oMath>
                      <m:r>
                        <a:rPr lang="en-GB" sz="3200" b="0" i="1" smtClean="0">
                          <a:latin typeface="Cambria Math" panose="02040503050406030204" pitchFamily="18" charset="0"/>
                        </a:rPr>
                        <m:t>𝑉𝑎𝑙𝑢𝑒</m:t>
                      </m:r>
                      <m:r>
                        <a:rPr lang="en-GB" sz="3200" b="0" i="1" smtClean="0">
                          <a:latin typeface="Cambria Math" panose="02040503050406030204" pitchFamily="18" charset="0"/>
                        </a:rPr>
                        <m:t>=</m:t>
                      </m:r>
                      <m:sSub>
                        <m:sSubPr>
                          <m:ctrlPr>
                            <a:rPr lang="en-GB" sz="3200" i="1">
                              <a:latin typeface="Cambria Math" panose="02040503050406030204" pitchFamily="18" charset="0"/>
                            </a:rPr>
                          </m:ctrlPr>
                        </m:sSubPr>
                        <m:e>
                          <m:r>
                            <a:rPr lang="en-GB" sz="3200" i="1">
                              <a:latin typeface="Cambria Math" panose="02040503050406030204" pitchFamily="18" charset="0"/>
                            </a:rPr>
                            <m:t>𝑃𝑉</m:t>
                          </m:r>
                        </m:e>
                        <m:sub>
                          <m:r>
                            <a:rPr lang="en-GB" sz="3200" b="0" i="1" smtClean="0">
                              <a:latin typeface="Cambria Math" panose="02040503050406030204" pitchFamily="18" charset="0"/>
                            </a:rPr>
                            <m:t>𝐶𝐹</m:t>
                          </m:r>
                        </m:sub>
                      </m:sSub>
                      <m:r>
                        <a:rPr lang="en-GB" sz="3200" b="0" i="1" smtClean="0">
                          <a:latin typeface="Cambria Math" panose="02040503050406030204" pitchFamily="18" charset="0"/>
                        </a:rPr>
                        <m:t>=</m:t>
                      </m:r>
                      <m:f>
                        <m:fPr>
                          <m:ctrlPr>
                            <a:rPr lang="en-GB" sz="3200" i="1">
                              <a:latin typeface="Cambria Math" panose="02040503050406030204" pitchFamily="18" charset="0"/>
                            </a:rPr>
                          </m:ctrlPr>
                        </m:fPr>
                        <m:num>
                          <m:limUpp>
                            <m:limUppPr>
                              <m:ctrlPr>
                                <a:rPr lang="en-GB" sz="3200" i="1">
                                  <a:latin typeface="Cambria Math" panose="02040503050406030204" pitchFamily="18" charset="0"/>
                                </a:rPr>
                              </m:ctrlPr>
                            </m:limUppPr>
                            <m:e>
                              <m:groupChr>
                                <m:groupChrPr>
                                  <m:chr m:val="⏞"/>
                                  <m:pos m:val="top"/>
                                  <m:vertJc m:val="bot"/>
                                  <m:ctrlPr>
                                    <a:rPr lang="en-GB" sz="3200" i="1">
                                      <a:latin typeface="Cambria Math" panose="02040503050406030204" pitchFamily="18" charset="0"/>
                                    </a:rPr>
                                  </m:ctrlPr>
                                </m:groupChrPr>
                                <m:e>
                                  <m:sSub>
                                    <m:sSubPr>
                                      <m:ctrlPr>
                                        <a:rPr lang="en-GB" sz="3200" i="1">
                                          <a:latin typeface="Cambria Math" panose="02040503050406030204" pitchFamily="18" charset="0"/>
                                        </a:rPr>
                                      </m:ctrlPr>
                                    </m:sSubPr>
                                    <m:e>
                                      <m:r>
                                        <a:rPr lang="en-GB" sz="3200" i="1">
                                          <a:latin typeface="Cambria Math" panose="02040503050406030204" pitchFamily="18" charset="0"/>
                                        </a:rPr>
                                        <m:t>𝐶𝐹</m:t>
                                      </m:r>
                                    </m:e>
                                    <m:sub>
                                      <m:r>
                                        <a:rPr lang="en-GB" sz="3200" i="1">
                                          <a:latin typeface="Cambria Math" panose="02040503050406030204" pitchFamily="18" charset="0"/>
                                        </a:rPr>
                                        <m:t>0</m:t>
                                      </m:r>
                                    </m:sub>
                                  </m:sSub>
                                  <m:r>
                                    <a:rPr lang="en-GB" sz="3200" i="1">
                                      <a:latin typeface="Cambria Math" panose="02040503050406030204" pitchFamily="18" charset="0"/>
                                    </a:rPr>
                                    <m:t>(1+</m:t>
                                  </m:r>
                                  <m:r>
                                    <a:rPr lang="en-GB" sz="3200" i="1">
                                      <a:latin typeface="Cambria Math" panose="02040503050406030204" pitchFamily="18" charset="0"/>
                                    </a:rPr>
                                    <m:t>𝑔</m:t>
                                  </m:r>
                                  <m:r>
                                    <a:rPr lang="en-GB" sz="3200" i="1">
                                      <a:latin typeface="Cambria Math" panose="02040503050406030204" pitchFamily="18" charset="0"/>
                                    </a:rPr>
                                    <m:t>)</m:t>
                                  </m:r>
                                </m:e>
                              </m:groupChr>
                            </m:e>
                            <m:lim>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𝐶𝐹</m:t>
                                  </m:r>
                                </m:e>
                                <m:sub>
                                  <m:r>
                                    <a:rPr lang="en-GB" sz="3200" b="0" i="1" smtClean="0">
                                      <a:latin typeface="Cambria Math" panose="02040503050406030204" pitchFamily="18" charset="0"/>
                                    </a:rPr>
                                    <m:t>1</m:t>
                                  </m:r>
                                </m:sub>
                              </m:sSub>
                            </m:lim>
                          </m:limUpp>
                        </m:num>
                        <m:den>
                          <m:r>
                            <a:rPr lang="en-GB" sz="3200" b="0" i="1" smtClean="0">
                              <a:latin typeface="Cambria Math" panose="02040503050406030204" pitchFamily="18" charset="0"/>
                            </a:rPr>
                            <m:t>𝑑𝑟</m:t>
                          </m:r>
                          <m:r>
                            <a:rPr lang="en-GB" sz="3200" b="0" i="1" smtClean="0">
                              <a:latin typeface="Cambria Math" panose="02040503050406030204" pitchFamily="18" charset="0"/>
                            </a:rPr>
                            <m:t>−</m:t>
                          </m:r>
                          <m:r>
                            <a:rPr lang="en-GB" sz="3200" b="0" i="1" smtClean="0">
                              <a:latin typeface="Cambria Math" panose="02040503050406030204" pitchFamily="18" charset="0"/>
                            </a:rPr>
                            <m:t>𝑔</m:t>
                          </m:r>
                        </m:den>
                      </m:f>
                    </m:oMath>
                  </m:oMathPara>
                </a14:m>
                <a:endParaRPr lang="en-GB" sz="3200" dirty="0"/>
              </a:p>
            </p:txBody>
          </p:sp>
        </mc:Choice>
        <mc:Fallback xmlns="">
          <p:sp>
            <p:nvSpPr>
              <p:cNvPr id="3" name="Content Placeholder 2">
                <a:extLst>
                  <a:ext uri="{FF2B5EF4-FFF2-40B4-BE49-F238E27FC236}">
                    <a16:creationId xmlns:a16="http://schemas.microsoft.com/office/drawing/2014/main" id="{1109AD19-0588-1100-1E86-D35F852DBA6C}"/>
                  </a:ext>
                </a:extLst>
              </p:cNvPr>
              <p:cNvSpPr>
                <a:spLocks noGrp="1" noRot="1" noChangeAspect="1" noMove="1" noResize="1" noEditPoints="1" noAdjustHandles="1" noChangeArrowheads="1" noChangeShapeType="1" noTextEdit="1"/>
              </p:cNvSpPr>
              <p:nvPr>
                <p:ph sz="quarter" idx="1"/>
              </p:nvPr>
            </p:nvSpPr>
            <p:spPr>
              <a:xfrm>
                <a:off x="1509708" y="3394189"/>
                <a:ext cx="6120680" cy="1624518"/>
              </a:xfrm>
              <a:blipFill>
                <a:blip r:embed="rId2"/>
                <a:stretch>
                  <a:fillRect/>
                </a:stretch>
              </a:blipFill>
            </p:spPr>
            <p:txBody>
              <a:bodyPr/>
              <a:lstStyle/>
              <a:p>
                <a:r>
                  <a:rPr lang="en-GB">
                    <a:noFill/>
                  </a:rPr>
                  <a:t> </a:t>
                </a:r>
              </a:p>
            </p:txBody>
          </p:sp>
        </mc:Fallback>
      </mc:AlternateContent>
      <p:sp>
        <p:nvSpPr>
          <p:cNvPr id="4" name="Rectangle: Rounded Corners 3">
            <a:extLst>
              <a:ext uri="{FF2B5EF4-FFF2-40B4-BE49-F238E27FC236}">
                <a16:creationId xmlns:a16="http://schemas.microsoft.com/office/drawing/2014/main" id="{4C098A0F-B19B-FE34-0F5F-618CA15BC072}"/>
              </a:ext>
            </a:extLst>
          </p:cNvPr>
          <p:cNvSpPr/>
          <p:nvPr/>
        </p:nvSpPr>
        <p:spPr>
          <a:xfrm>
            <a:off x="611560" y="1639899"/>
            <a:ext cx="2736304" cy="180573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2400" b="0" i="0" u="none" strike="noStrike" kern="1200" cap="none" spc="0" normalizeH="0" baseline="0" noProof="0" dirty="0">
                <a:ln>
                  <a:noFill/>
                </a:ln>
                <a:solidFill>
                  <a:prstClr val="white"/>
                </a:solidFill>
                <a:effectLst/>
                <a:uLnTx/>
                <a:uFillTx/>
                <a:latin typeface="Georgia"/>
                <a:ea typeface="+mn-ea"/>
                <a:cs typeface="+mn-cs"/>
              </a:rPr>
              <a:t>DCF Input I:</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2400" b="0" i="0" u="none" strike="noStrike" kern="1200" cap="none" spc="0" normalizeH="0" baseline="0" noProof="0" dirty="0">
                <a:ln>
                  <a:noFill/>
                </a:ln>
                <a:solidFill>
                  <a:prstClr val="white"/>
                </a:solidFill>
                <a:effectLst/>
                <a:uLnTx/>
                <a:uFillTx/>
                <a:latin typeface="Georgia"/>
                <a:ea typeface="+mn-ea"/>
                <a:cs typeface="+mn-cs"/>
              </a:rPr>
              <a:t>Which CF should I discount?</a:t>
            </a:r>
          </a:p>
        </p:txBody>
      </p:sp>
      <p:sp>
        <p:nvSpPr>
          <p:cNvPr id="6" name="Rectangle: Rounded Corners 5">
            <a:extLst>
              <a:ext uri="{FF2B5EF4-FFF2-40B4-BE49-F238E27FC236}">
                <a16:creationId xmlns:a16="http://schemas.microsoft.com/office/drawing/2014/main" id="{B2F95E63-4061-4718-2B49-7ABFA0302CB8}"/>
              </a:ext>
            </a:extLst>
          </p:cNvPr>
          <p:cNvSpPr/>
          <p:nvPr/>
        </p:nvSpPr>
        <p:spPr>
          <a:xfrm>
            <a:off x="5652120" y="1618461"/>
            <a:ext cx="3236456" cy="1657698"/>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2400" b="0" i="0" u="none" strike="noStrike" kern="1200" cap="none" spc="0" normalizeH="0" baseline="0" noProof="0" dirty="0">
                <a:ln>
                  <a:noFill/>
                </a:ln>
                <a:solidFill>
                  <a:prstClr val="white"/>
                </a:solidFill>
                <a:effectLst/>
                <a:uLnTx/>
                <a:uFillTx/>
                <a:latin typeface="Georgia"/>
                <a:ea typeface="+mn-ea"/>
                <a:cs typeface="+mn-cs"/>
              </a:rPr>
              <a:t>DCF Input II:</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2400" b="0" i="0" u="none" strike="noStrike" kern="1200" cap="none" spc="0" normalizeH="0" baseline="0" noProof="0" dirty="0">
                <a:ln>
                  <a:noFill/>
                </a:ln>
                <a:solidFill>
                  <a:prstClr val="white"/>
                </a:solidFill>
                <a:effectLst/>
                <a:uLnTx/>
                <a:uFillTx/>
                <a:latin typeface="Georgia"/>
                <a:ea typeface="+mn-ea"/>
                <a:cs typeface="+mn-cs"/>
              </a:rPr>
              <a:t>How fast do I expect this CF to grow into the future (infinity)</a:t>
            </a:r>
          </a:p>
        </p:txBody>
      </p:sp>
      <p:sp>
        <p:nvSpPr>
          <p:cNvPr id="8" name="Rectangle: Rounded Corners 7">
            <a:extLst>
              <a:ext uri="{FF2B5EF4-FFF2-40B4-BE49-F238E27FC236}">
                <a16:creationId xmlns:a16="http://schemas.microsoft.com/office/drawing/2014/main" id="{1E2E8054-5F57-A037-30D3-C644AD2B48E3}"/>
              </a:ext>
            </a:extLst>
          </p:cNvPr>
          <p:cNvSpPr/>
          <p:nvPr/>
        </p:nvSpPr>
        <p:spPr>
          <a:xfrm>
            <a:off x="971600" y="5136737"/>
            <a:ext cx="7344816" cy="1296144"/>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2400" b="0" i="0" u="none" strike="noStrike" kern="1200" cap="none" spc="0" normalizeH="0" baseline="0" noProof="0" dirty="0">
                <a:ln>
                  <a:noFill/>
                </a:ln>
                <a:solidFill>
                  <a:prstClr val="white"/>
                </a:solidFill>
                <a:effectLst/>
                <a:uLnTx/>
                <a:uFillTx/>
                <a:latin typeface="Georgia"/>
                <a:ea typeface="+mn-ea"/>
                <a:cs typeface="+mn-cs"/>
              </a:rPr>
              <a:t>DCF Input III:</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2400" b="0" i="0" u="none" strike="noStrike" kern="1200" cap="none" spc="0" normalizeH="0" baseline="0" noProof="0" dirty="0">
                <a:ln>
                  <a:noFill/>
                </a:ln>
                <a:solidFill>
                  <a:prstClr val="white"/>
                </a:solidFill>
                <a:effectLst/>
                <a:uLnTx/>
                <a:uFillTx/>
                <a:latin typeface="Georgia"/>
                <a:ea typeface="+mn-ea"/>
                <a:cs typeface="+mn-cs"/>
              </a:rPr>
              <a:t>How risky is this CF? What discount rate (dr) should I use?</a:t>
            </a:r>
          </a:p>
        </p:txBody>
      </p:sp>
      <p:cxnSp>
        <p:nvCxnSpPr>
          <p:cNvPr id="10" name="Straight Arrow Connector 9">
            <a:extLst>
              <a:ext uri="{FF2B5EF4-FFF2-40B4-BE49-F238E27FC236}">
                <a16:creationId xmlns:a16="http://schemas.microsoft.com/office/drawing/2014/main" id="{CD1DC8E5-8BC1-0D45-A927-750B77C5A307}"/>
              </a:ext>
            </a:extLst>
          </p:cNvPr>
          <p:cNvCxnSpPr>
            <a:cxnSpLocks/>
            <a:endCxn id="3" idx="2"/>
          </p:cNvCxnSpPr>
          <p:nvPr/>
        </p:nvCxnSpPr>
        <p:spPr>
          <a:xfrm flipH="1">
            <a:off x="4570048" y="4797152"/>
            <a:ext cx="794040" cy="2215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B6D4DCE7-9B1A-F9F9-D5AE-EDDAFC1EEF5B}"/>
              </a:ext>
            </a:extLst>
          </p:cNvPr>
          <p:cNvCxnSpPr>
            <a:cxnSpLocks/>
          </p:cNvCxnSpPr>
          <p:nvPr/>
        </p:nvCxnSpPr>
        <p:spPr>
          <a:xfrm flipV="1">
            <a:off x="6876256" y="3365376"/>
            <a:ext cx="826140" cy="7116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D53CBFAF-B31C-044B-C726-B5C8D5A794DE}"/>
              </a:ext>
            </a:extLst>
          </p:cNvPr>
          <p:cNvCxnSpPr>
            <a:cxnSpLocks/>
          </p:cNvCxnSpPr>
          <p:nvPr/>
        </p:nvCxnSpPr>
        <p:spPr>
          <a:xfrm flipH="1" flipV="1">
            <a:off x="3491881" y="3191158"/>
            <a:ext cx="1512167" cy="8139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CA8B532B-1B31-2261-2934-7ED21DDF8E28}"/>
              </a:ext>
            </a:extLst>
          </p:cNvPr>
          <p:cNvSpPr/>
          <p:nvPr/>
        </p:nvSpPr>
        <p:spPr>
          <a:xfrm>
            <a:off x="5004048" y="3837818"/>
            <a:ext cx="720080" cy="599294"/>
          </a:xfrm>
          <a:prstGeom prst="ellipse">
            <a:avLst/>
          </a:prstGeom>
          <a:noFill/>
          <a:ln>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2400" b="0" i="0" u="none" strike="noStrike" kern="1200" cap="none" spc="0" normalizeH="0" baseline="0" noProof="0">
              <a:ln>
                <a:noFill/>
              </a:ln>
              <a:solidFill>
                <a:prstClr val="white"/>
              </a:solidFill>
              <a:effectLst/>
              <a:uLnTx/>
              <a:uFillTx/>
              <a:latin typeface="Georgia"/>
              <a:ea typeface="+mn-ea"/>
              <a:cs typeface="+mn-cs"/>
            </a:endParaRPr>
          </a:p>
        </p:txBody>
      </p:sp>
    </p:spTree>
    <p:extLst>
      <p:ext uri="{BB962C8B-B14F-4D97-AF65-F5344CB8AC3E}">
        <p14:creationId xmlns:p14="http://schemas.microsoft.com/office/powerpoint/2010/main" val="1724074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301752" y="44624"/>
            <a:ext cx="8534400" cy="504056"/>
          </a:xfrm>
          <a:noFill/>
          <a:ln/>
        </p:spPr>
        <p:txBody>
          <a:bodyPr>
            <a:normAutofit fontScale="90000"/>
          </a:bodyPr>
          <a:lstStyle/>
          <a:p>
            <a:r>
              <a:rPr lang="en-US" dirty="0"/>
              <a:t>Discounted Cash Flow Valuation: The Steps</a:t>
            </a:r>
          </a:p>
        </p:txBody>
      </p:sp>
      <p:graphicFrame>
        <p:nvGraphicFramePr>
          <p:cNvPr id="4" name="Content Placeholder 3"/>
          <p:cNvGraphicFramePr>
            <a:graphicFrameLocks noGrp="1"/>
          </p:cNvGraphicFramePr>
          <p:nvPr>
            <p:ph sz="quarter" idx="1"/>
          </p:nvPr>
        </p:nvGraphicFramePr>
        <p:xfrm>
          <a:off x="179512" y="764704"/>
          <a:ext cx="8784976" cy="58326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a:xfrm>
            <a:off x="457200" y="332656"/>
            <a:ext cx="7467600" cy="508918"/>
          </a:xfrm>
        </p:spPr>
        <p:txBody>
          <a:bodyPr>
            <a:normAutofit fontScale="90000"/>
          </a:bodyPr>
          <a:lstStyle/>
          <a:p>
            <a:pPr eaLnBrk="1" fontAlgn="auto" hangingPunct="1">
              <a:spcAft>
                <a:spcPts val="0"/>
              </a:spcAft>
              <a:defRPr/>
            </a:pPr>
            <a:r>
              <a:rPr lang="en-US" dirty="0"/>
              <a:t>Steps in Cash Flow Estimation</a:t>
            </a:r>
          </a:p>
        </p:txBody>
      </p:sp>
      <p:graphicFrame>
        <p:nvGraphicFramePr>
          <p:cNvPr id="3" name="Content Placeholder 2"/>
          <p:cNvGraphicFramePr>
            <a:graphicFrameLocks noGrp="1"/>
          </p:cNvGraphicFramePr>
          <p:nvPr>
            <p:ph sz="quarter" idx="1"/>
            <p:extLst>
              <p:ext uri="{D42A27DB-BD31-4B8C-83A1-F6EECF244321}">
                <p14:modId xmlns:p14="http://schemas.microsoft.com/office/powerpoint/2010/main" val="1323331374"/>
              </p:ext>
            </p:extLst>
          </p:nvPr>
        </p:nvGraphicFramePr>
        <p:xfrm>
          <a:off x="395536" y="980728"/>
          <a:ext cx="8291264" cy="54930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p:cNvSpPr>
            <a:spLocks noGrp="1"/>
          </p:cNvSpPr>
          <p:nvPr>
            <p:ph type="sldNum" sz="quarter" idx="11"/>
          </p:nvPr>
        </p:nvSpPr>
        <p:spPr/>
        <p:txBody>
          <a:bodyPr/>
          <a:lstStyle/>
          <a:p>
            <a:pPr>
              <a:defRPr/>
            </a:pPr>
            <a:fld id="{C3168C1A-0F73-4148-A9C6-17783D0D792E}" type="slidenum">
              <a:rPr lang="en-GB" smtClean="0"/>
              <a:pPr>
                <a:defRPr/>
              </a:pPr>
              <a:t>5</a:t>
            </a:fld>
            <a:endParaRPr lang="en-GB"/>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7467600" cy="706090"/>
          </a:xfrm>
        </p:spPr>
        <p:txBody>
          <a:bodyPr/>
          <a:lstStyle/>
          <a:p>
            <a:r>
              <a:rPr lang="en-GB" dirty="0"/>
              <a:t>Session Plan</a:t>
            </a: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3151124821"/>
              </p:ext>
            </p:extLst>
          </p:nvPr>
        </p:nvGraphicFramePr>
        <p:xfrm>
          <a:off x="251520" y="836712"/>
          <a:ext cx="8640960" cy="56371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p:cNvSpPr>
            <a:spLocks noGrp="1"/>
          </p:cNvSpPr>
          <p:nvPr>
            <p:ph type="sldNum" sz="quarter" idx="11"/>
          </p:nvPr>
        </p:nvSpPr>
        <p:spPr/>
        <p:txBody>
          <a:bodyPr/>
          <a:lstStyle/>
          <a:p>
            <a:pPr>
              <a:defRPr/>
            </a:pPr>
            <a:fld id="{C3168C1A-0F73-4148-A9C6-17783D0D792E}" type="slidenum">
              <a:rPr lang="en-GB" smtClean="0"/>
              <a:pPr>
                <a:defRPr/>
              </a:pPr>
              <a:t>6</a:t>
            </a:fld>
            <a:endParaRPr lang="en-GB"/>
          </a:p>
        </p:txBody>
      </p:sp>
    </p:spTree>
    <p:extLst>
      <p:ext uri="{BB962C8B-B14F-4D97-AF65-F5344CB8AC3E}">
        <p14:creationId xmlns:p14="http://schemas.microsoft.com/office/powerpoint/2010/main" val="2025319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2908142402"/>
              </p:ext>
            </p:extLst>
          </p:nvPr>
        </p:nvGraphicFramePr>
        <p:xfrm>
          <a:off x="107504" y="260648"/>
          <a:ext cx="8928992" cy="64087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p:cNvSpPr>
            <a:spLocks noGrp="1"/>
          </p:cNvSpPr>
          <p:nvPr>
            <p:ph type="sldNum" sz="quarter" idx="12"/>
          </p:nvPr>
        </p:nvSpPr>
        <p:spPr/>
        <p:txBody>
          <a:bodyPr/>
          <a:lstStyle/>
          <a:p>
            <a:pPr>
              <a:defRPr/>
            </a:pPr>
            <a:fld id="{7C3BC25B-0E80-4AC7-8F11-798AD1ED0C9D}" type="slidenum">
              <a:rPr lang="en-GB" smtClean="0"/>
              <a:pPr>
                <a:defRPr/>
              </a:pPr>
              <a:t>7</a:t>
            </a:fld>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sz="quarter" idx="1"/>
            <p:extLst>
              <p:ext uri="{D42A27DB-BD31-4B8C-83A1-F6EECF244321}">
                <p14:modId xmlns:p14="http://schemas.microsoft.com/office/powerpoint/2010/main" val="2230405743"/>
              </p:ext>
            </p:extLst>
          </p:nvPr>
        </p:nvGraphicFramePr>
        <p:xfrm>
          <a:off x="107504" y="2060848"/>
          <a:ext cx="8892480" cy="47525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p:cNvSpPr>
            <a:spLocks noGrp="1"/>
          </p:cNvSpPr>
          <p:nvPr>
            <p:ph type="sldNum" sz="quarter" idx="11"/>
          </p:nvPr>
        </p:nvSpPr>
        <p:spPr/>
        <p:txBody>
          <a:bodyPr/>
          <a:lstStyle/>
          <a:p>
            <a:pPr>
              <a:defRPr/>
            </a:pPr>
            <a:fld id="{C3168C1A-0F73-4148-A9C6-17783D0D792E}" type="slidenum">
              <a:rPr lang="en-GB" smtClean="0"/>
              <a:pPr>
                <a:defRPr/>
              </a:pPr>
              <a:t>8</a:t>
            </a:fld>
            <a:endParaRPr lang="en-GB"/>
          </a:p>
        </p:txBody>
      </p:sp>
      <p:graphicFrame>
        <p:nvGraphicFramePr>
          <p:cNvPr id="3" name="Diagram 2"/>
          <p:cNvGraphicFramePr/>
          <p:nvPr>
            <p:extLst>
              <p:ext uri="{D42A27DB-BD31-4B8C-83A1-F6EECF244321}">
                <p14:modId xmlns:p14="http://schemas.microsoft.com/office/powerpoint/2010/main" val="2617051"/>
              </p:ext>
            </p:extLst>
          </p:nvPr>
        </p:nvGraphicFramePr>
        <p:xfrm>
          <a:off x="35496" y="44624"/>
          <a:ext cx="9036496" cy="201622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2"/>
          <p:cNvSpPr>
            <a:spLocks noGrp="1" noChangeArrowheads="1"/>
          </p:cNvSpPr>
          <p:nvPr>
            <p:ph type="title"/>
          </p:nvPr>
        </p:nvSpPr>
        <p:spPr>
          <a:xfrm>
            <a:off x="457200" y="274638"/>
            <a:ext cx="7467600" cy="850106"/>
          </a:xfrm>
        </p:spPr>
        <p:txBody>
          <a:bodyPr>
            <a:normAutofit/>
          </a:bodyPr>
          <a:lstStyle/>
          <a:p>
            <a:pPr eaLnBrk="1" fontAlgn="auto" hangingPunct="1">
              <a:spcAft>
                <a:spcPts val="0"/>
              </a:spcAft>
              <a:defRPr/>
            </a:pPr>
            <a:r>
              <a:rPr lang="en-US" dirty="0"/>
              <a:t>I. Update Earnings-Trailing Earnings</a:t>
            </a:r>
          </a:p>
        </p:txBody>
      </p:sp>
      <p:sp>
        <p:nvSpPr>
          <p:cNvPr id="358403" name="Rectangle 3"/>
          <p:cNvSpPr>
            <a:spLocks noGrp="1" noChangeArrowheads="1"/>
          </p:cNvSpPr>
          <p:nvPr>
            <p:ph sz="quarter" idx="1"/>
          </p:nvPr>
        </p:nvSpPr>
        <p:spPr>
          <a:xfrm>
            <a:off x="539552" y="1124745"/>
            <a:ext cx="7467600" cy="4320480"/>
          </a:xfrm>
        </p:spPr>
        <p:txBody>
          <a:bodyPr>
            <a:normAutofit fontScale="92500" lnSpcReduction="20000"/>
          </a:bodyPr>
          <a:lstStyle/>
          <a:p>
            <a:pPr marL="274320" indent="-274320" eaLnBrk="1" fontAlgn="auto" hangingPunct="1">
              <a:spcAft>
                <a:spcPts val="0"/>
              </a:spcAft>
              <a:buFont typeface="Wingdings"/>
              <a:buChar char=""/>
              <a:defRPr/>
            </a:pPr>
            <a:r>
              <a:rPr lang="en-US" dirty="0"/>
              <a:t>When valuing companies, we often depend upon financial statements for inputs on earnings and assets. Annual reports are often outdated and can be updated by using-</a:t>
            </a:r>
          </a:p>
          <a:p>
            <a:pPr marL="640080" lvl="1" indent="-274320" eaLnBrk="1" fontAlgn="auto" hangingPunct="1">
              <a:spcAft>
                <a:spcPts val="0"/>
              </a:spcAft>
              <a:buFont typeface="Wingdings 2"/>
              <a:buChar char=""/>
              <a:defRPr/>
            </a:pPr>
            <a:r>
              <a:rPr lang="en-US" dirty="0"/>
              <a:t>Trailing 12-month data, constructed from quarterly earnings reports.</a:t>
            </a:r>
          </a:p>
          <a:p>
            <a:pPr marL="640080" lvl="1" indent="-274320" eaLnBrk="1" fontAlgn="auto" hangingPunct="1">
              <a:spcAft>
                <a:spcPts val="0"/>
              </a:spcAft>
              <a:buFont typeface="Wingdings 2"/>
              <a:buChar char=""/>
              <a:defRPr/>
            </a:pPr>
            <a:r>
              <a:rPr lang="en-US" dirty="0"/>
              <a:t>Informal and unofficial news reports, if quarterly reports are unavailable.</a:t>
            </a:r>
          </a:p>
          <a:p>
            <a:pPr marL="274320" indent="-274320" eaLnBrk="1" fontAlgn="auto" hangingPunct="1">
              <a:spcAft>
                <a:spcPts val="0"/>
              </a:spcAft>
              <a:buFont typeface="Wingdings"/>
              <a:buChar char=""/>
              <a:defRPr/>
            </a:pPr>
            <a:r>
              <a:rPr lang="en-US" dirty="0"/>
              <a:t>Updating makes the most difference for smaller and more volatile firms, as well as for firms that have undergone significant restructuring.</a:t>
            </a:r>
          </a:p>
          <a:p>
            <a:pPr marL="274320" indent="-274320" eaLnBrk="1" fontAlgn="auto" hangingPunct="1">
              <a:spcAft>
                <a:spcPts val="0"/>
              </a:spcAft>
              <a:buFont typeface="Wingdings"/>
              <a:buChar char=""/>
              <a:defRPr/>
            </a:pPr>
            <a:r>
              <a:rPr lang="en-US" i="1" dirty="0"/>
              <a:t>Time saver</a:t>
            </a:r>
            <a:r>
              <a:rPr lang="en-US" dirty="0"/>
              <a:t>: To get a trailing 12-month number, all you need is one figure from Annual and two from quarterly (semiannually) reports. </a:t>
            </a:r>
          </a:p>
        </p:txBody>
      </p:sp>
      <p:graphicFrame>
        <p:nvGraphicFramePr>
          <p:cNvPr id="4" name="Object 3"/>
          <p:cNvGraphicFramePr>
            <a:graphicFrameLocks noChangeAspect="1"/>
          </p:cNvGraphicFramePr>
          <p:nvPr/>
        </p:nvGraphicFramePr>
        <p:xfrm>
          <a:off x="1754543" y="5157192"/>
          <a:ext cx="5193721" cy="1628800"/>
        </p:xfrm>
        <a:graphic>
          <a:graphicData uri="http://schemas.openxmlformats.org/presentationml/2006/ole">
            <mc:AlternateContent xmlns:mc="http://schemas.openxmlformats.org/markup-compatibility/2006">
              <mc:Choice xmlns:v="urn:schemas-microsoft-com:vml" Requires="v">
                <p:oleObj name="Equation" r:id="rId3" imgW="2349360" imgH="736560" progId="Equation.3">
                  <p:embed/>
                </p:oleObj>
              </mc:Choice>
              <mc:Fallback>
                <p:oleObj name="Equation" r:id="rId3" imgW="2349360" imgH="736560" progId="Equation.3">
                  <p:embed/>
                  <p:pic>
                    <p:nvPicPr>
                      <p:cNvPr id="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4543" y="5157192"/>
                        <a:ext cx="5193721" cy="162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Slide Number Placeholder 1"/>
          <p:cNvSpPr>
            <a:spLocks noGrp="1"/>
          </p:cNvSpPr>
          <p:nvPr>
            <p:ph type="sldNum" sz="quarter" idx="11"/>
          </p:nvPr>
        </p:nvSpPr>
        <p:spPr/>
        <p:txBody>
          <a:bodyPr/>
          <a:lstStyle/>
          <a:p>
            <a:pPr>
              <a:defRPr/>
            </a:pPr>
            <a:fld id="{C3168C1A-0F73-4148-A9C6-17783D0D792E}" type="slidenum">
              <a:rPr lang="en-GB" smtClean="0"/>
              <a:pPr>
                <a:defRPr/>
              </a:pPr>
              <a:t>9</a:t>
            </a:fld>
            <a:endParaRPr lang="en-GB"/>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7467600" cy="706090"/>
          </a:xfrm>
        </p:spPr>
        <p:txBody>
          <a:bodyPr>
            <a:normAutofit/>
          </a:bodyPr>
          <a:lstStyle/>
          <a:p>
            <a:r>
              <a:rPr lang="en-GB" dirty="0"/>
              <a:t>Updating Earnings Example-Disney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251520" y="1196752"/>
                <a:ext cx="8424936" cy="5040560"/>
              </a:xfrm>
            </p:spPr>
            <p:txBody>
              <a:bodyPr/>
              <a:lstStyle/>
              <a:p>
                <a:r>
                  <a:rPr lang="en-GB" dirty="0"/>
                  <a:t>The most up to date Annual Report is from 2024.</a:t>
                </a:r>
              </a:p>
              <a:p>
                <a:r>
                  <a:rPr lang="en-GB" dirty="0"/>
                  <a:t>If we want to evaluate the company today, we need an up to date measure of earnings (for 2025)</a:t>
                </a:r>
              </a:p>
              <a:p>
                <a:r>
                  <a:rPr lang="en-GB" dirty="0"/>
                  <a:t>The information available is summarized below</a:t>
                </a:r>
              </a:p>
              <a:p>
                <a:endParaRPr lang="en-GB" dirty="0"/>
              </a:p>
              <a:p>
                <a:endParaRPr lang="en-GB" dirty="0"/>
              </a:p>
              <a:p>
                <a:endParaRPr lang="en-GB" dirty="0"/>
              </a:p>
              <a:p>
                <a:endParaRPr lang="en-GB" dirty="0"/>
              </a:p>
              <a:p>
                <a:endParaRPr lang="en-GB" dirty="0"/>
              </a:p>
              <a:p>
                <a:pPr marL="0" indent="0">
                  <a:buNone/>
                </a:pPr>
                <a14:m>
                  <m:oMathPara xmlns:m="http://schemas.openxmlformats.org/officeDocument/2006/math">
                    <m:o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𝐸𝑎𝑟𝑛𝑖𝑛𝑔𝑠</m:t>
                          </m:r>
                        </m:e>
                        <m:sub>
                          <m:r>
                            <a:rPr lang="en-GB" b="0" i="1" smtClean="0">
                              <a:latin typeface="Cambria Math" panose="02040503050406030204" pitchFamily="18" charset="0"/>
                            </a:rPr>
                            <m:t>𝑇𝑟𝑎𝑖𝑙𝑖𝑛𝑔</m:t>
                          </m:r>
                          <m:r>
                            <a:rPr lang="en-GB" b="0" i="1" smtClean="0">
                              <a:latin typeface="Cambria Math" panose="02040503050406030204" pitchFamily="18" charset="0"/>
                            </a:rPr>
                            <m:t>−2025</m:t>
                          </m:r>
                        </m:sub>
                      </m:sSub>
                    </m:oMath>
                  </m:oMathPara>
                </a14:m>
                <a:endParaRPr lang="en-GB" i="1" dirty="0">
                  <a:latin typeface="Cambria Math" panose="02040503050406030204" pitchFamily="18" charset="0"/>
                </a:endParaRPr>
              </a:p>
              <a:p>
                <a:pPr marL="0" indent="0">
                  <a:buNone/>
                </a:pPr>
                <a14:m>
                  <m:oMathPara xmlns:m="http://schemas.openxmlformats.org/officeDocument/2006/math">
                    <m:oMath>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𝐸𝑎𝑟𝑛𝑖𝑛𝑔𝑠</m:t>
                          </m:r>
                        </m:e>
                        <m:sub>
                          <m:r>
                            <a:rPr lang="en-GB" b="0" i="1" smtClean="0">
                              <a:latin typeface="Cambria Math" panose="02040503050406030204" pitchFamily="18" charset="0"/>
                            </a:rPr>
                            <m:t>𝐽𝑢𝑛𝑒</m:t>
                          </m:r>
                          <m:r>
                            <a:rPr lang="en-GB" b="0" i="1" smtClean="0">
                              <a:latin typeface="Cambria Math" panose="02040503050406030204" pitchFamily="18" charset="0"/>
                            </a:rPr>
                            <m:t>−2026</m:t>
                          </m:r>
                        </m:sub>
                      </m:sSub>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𝐸𝑎𝑟𝑛𝑖𝑛𝑔𝑠</m:t>
                          </m:r>
                        </m:e>
                        <m:sub>
                          <m:r>
                            <a:rPr lang="en-GB" b="0" i="1" smtClean="0">
                              <a:latin typeface="Cambria Math" panose="02040503050406030204" pitchFamily="18" charset="0"/>
                            </a:rPr>
                            <m:t>𝐴𝑛𝑛𝑢𝑎𝑙</m:t>
                          </m:r>
                          <m:r>
                            <a:rPr lang="en-GB" b="0" i="1" smtClean="0">
                              <a:latin typeface="Cambria Math" panose="02040503050406030204" pitchFamily="18" charset="0"/>
                            </a:rPr>
                            <m:t>, 2025</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𝐸𝑎𝑟𝑛𝑖𝑛𝑔𝑠</m:t>
                          </m:r>
                        </m:e>
                        <m:sub>
                          <m:r>
                            <a:rPr lang="en-GB" b="0" i="1" smtClean="0">
                              <a:latin typeface="Cambria Math" panose="02040503050406030204" pitchFamily="18" charset="0"/>
                            </a:rPr>
                            <m:t>𝐽𝑢𝑛𝑒</m:t>
                          </m:r>
                          <m:r>
                            <a:rPr lang="en-GB" b="0" i="1" smtClean="0">
                              <a:latin typeface="Cambria Math" panose="02040503050406030204" pitchFamily="18" charset="0"/>
                            </a:rPr>
                            <m:t>−2025</m:t>
                          </m:r>
                        </m:sub>
                      </m:sSub>
                      <m:r>
                        <a:rPr lang="en-GB" b="0" i="1" smtClean="0">
                          <a:latin typeface="Cambria Math" panose="02040503050406030204" pitchFamily="18" charset="0"/>
                        </a:rPr>
                        <m:t>=1.27+2.72−(1.85)</m:t>
                      </m:r>
                    </m:oMath>
                  </m:oMathPara>
                </a14:m>
                <a:endParaRPr lang="en-GB" b="0" i="1" dirty="0">
                  <a:latin typeface="Cambria Math" panose="02040503050406030204" pitchFamily="18" charset="0"/>
                </a:endParaRPr>
              </a:p>
              <a:p>
                <a:pPr marL="0" indent="0">
                  <a:buNone/>
                </a:pPr>
                <a14:m>
                  <m:oMathPara xmlns:m="http://schemas.openxmlformats.org/officeDocument/2006/math">
                    <m:oMath>
                      <m:r>
                        <a:rPr lang="en-GB" b="0" i="1" smtClean="0">
                          <a:latin typeface="Cambria Math" panose="02040503050406030204" pitchFamily="18" charset="0"/>
                        </a:rPr>
                        <m:t>=6.31</m:t>
                      </m:r>
                    </m:oMath>
                  </m:oMathPara>
                </a14:m>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251520" y="1196752"/>
                <a:ext cx="8424936" cy="5040560"/>
              </a:xfrm>
              <a:blipFill>
                <a:blip r:embed="rId3"/>
                <a:stretch>
                  <a:fillRect l="-289" t="-967" b="-8222"/>
                </a:stretch>
              </a:blipFill>
            </p:spPr>
            <p:txBody>
              <a:bodyPr/>
              <a:lstStyle/>
              <a:p>
                <a:r>
                  <a:rPr lang="en-GB">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2936672907"/>
              </p:ext>
            </p:extLst>
          </p:nvPr>
        </p:nvGraphicFramePr>
        <p:xfrm>
          <a:off x="1979712" y="3284984"/>
          <a:ext cx="4064000" cy="1483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tblGrid>
              <a:tr h="370840">
                <a:tc>
                  <a:txBody>
                    <a:bodyPr/>
                    <a:lstStyle/>
                    <a:p>
                      <a:r>
                        <a:rPr lang="en-GB" dirty="0"/>
                        <a:t>Date</a:t>
                      </a:r>
                    </a:p>
                  </a:txBody>
                  <a:tcPr/>
                </a:tc>
                <a:tc>
                  <a:txBody>
                    <a:bodyPr/>
                    <a:lstStyle/>
                    <a:p>
                      <a:r>
                        <a:rPr lang="en-GB" dirty="0"/>
                        <a:t>EPS</a:t>
                      </a:r>
                    </a:p>
                  </a:txBody>
                  <a:tcPr/>
                </a:tc>
                <a:extLst>
                  <a:ext uri="{0D108BD9-81ED-4DB2-BD59-A6C34878D82A}">
                    <a16:rowId xmlns:a16="http://schemas.microsoft.com/office/drawing/2014/main" val="10000"/>
                  </a:ext>
                </a:extLst>
              </a:tr>
              <a:tr h="370840">
                <a:tc>
                  <a:txBody>
                    <a:bodyPr/>
                    <a:lstStyle/>
                    <a:p>
                      <a:r>
                        <a:rPr lang="en-GB" dirty="0"/>
                        <a:t>Q1-2026</a:t>
                      </a:r>
                    </a:p>
                  </a:txBody>
                  <a:tcPr/>
                </a:tc>
                <a:tc>
                  <a:txBody>
                    <a:bodyPr/>
                    <a:lstStyle/>
                    <a:p>
                      <a:r>
                        <a:rPr lang="en-GB" dirty="0"/>
                        <a:t>1.27</a:t>
                      </a:r>
                    </a:p>
                  </a:txBody>
                  <a:tcPr/>
                </a:tc>
                <a:extLst>
                  <a:ext uri="{0D108BD9-81ED-4DB2-BD59-A6C34878D82A}">
                    <a16:rowId xmlns:a16="http://schemas.microsoft.com/office/drawing/2014/main" val="10001"/>
                  </a:ext>
                </a:extLst>
              </a:tr>
              <a:tr h="370840">
                <a:tc>
                  <a:txBody>
                    <a:bodyPr/>
                    <a:lstStyle/>
                    <a:p>
                      <a:r>
                        <a:rPr lang="en-GB" dirty="0"/>
                        <a:t>Annual 2025</a:t>
                      </a:r>
                    </a:p>
                  </a:txBody>
                  <a:tcPr/>
                </a:tc>
                <a:tc>
                  <a:txBody>
                    <a:bodyPr/>
                    <a:lstStyle/>
                    <a:p>
                      <a:r>
                        <a:rPr lang="en-GB" dirty="0"/>
                        <a:t>6.85</a:t>
                      </a:r>
                    </a:p>
                  </a:txBody>
                  <a:tcPr/>
                </a:tc>
                <a:extLst>
                  <a:ext uri="{0D108BD9-81ED-4DB2-BD59-A6C34878D82A}">
                    <a16:rowId xmlns:a16="http://schemas.microsoft.com/office/drawing/2014/main" val="10002"/>
                  </a:ext>
                </a:extLst>
              </a:tr>
              <a:tr h="370840">
                <a:tc>
                  <a:txBody>
                    <a:bodyPr/>
                    <a:lstStyle/>
                    <a:p>
                      <a:r>
                        <a:rPr lang="en-GB" dirty="0"/>
                        <a:t>Q1-2025</a:t>
                      </a:r>
                    </a:p>
                  </a:txBody>
                  <a:tcPr/>
                </a:tc>
                <a:tc>
                  <a:txBody>
                    <a:bodyPr/>
                    <a:lstStyle/>
                    <a:p>
                      <a:r>
                        <a:rPr lang="en-GB" dirty="0"/>
                        <a:t>1.85</a:t>
                      </a:r>
                    </a:p>
                  </a:txBody>
                  <a:tcPr/>
                </a:tc>
                <a:extLst>
                  <a:ext uri="{0D108BD9-81ED-4DB2-BD59-A6C34878D82A}">
                    <a16:rowId xmlns:a16="http://schemas.microsoft.com/office/drawing/2014/main" val="10003"/>
                  </a:ext>
                </a:extLst>
              </a:tr>
            </a:tbl>
          </a:graphicData>
        </a:graphic>
      </p:graphicFrame>
      <p:sp>
        <p:nvSpPr>
          <p:cNvPr id="6" name="Slide Number Placeholder 5"/>
          <p:cNvSpPr>
            <a:spLocks noGrp="1"/>
          </p:cNvSpPr>
          <p:nvPr>
            <p:ph type="sldNum" sz="quarter" idx="11"/>
          </p:nvPr>
        </p:nvSpPr>
        <p:spPr/>
        <p:txBody>
          <a:bodyPr/>
          <a:lstStyle/>
          <a:p>
            <a:pPr>
              <a:defRPr/>
            </a:pPr>
            <a:fld id="{C3168C1A-0F73-4148-A9C6-17783D0D792E}" type="slidenum">
              <a:rPr lang="en-GB" smtClean="0"/>
              <a:pPr>
                <a:defRPr/>
              </a:pPr>
              <a:t>10</a:t>
            </a:fld>
            <a:endParaRPr lang="en-GB" dirty="0"/>
          </a:p>
        </p:txBody>
      </p:sp>
    </p:spTree>
    <p:extLst>
      <p:ext uri="{BB962C8B-B14F-4D97-AF65-F5344CB8AC3E}">
        <p14:creationId xmlns:p14="http://schemas.microsoft.com/office/powerpoint/2010/main" val="1185015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88640"/>
            <a:ext cx="8964488" cy="634082"/>
          </a:xfrm>
        </p:spPr>
        <p:txBody>
          <a:bodyPr>
            <a:normAutofit fontScale="90000"/>
          </a:bodyPr>
          <a:lstStyle/>
          <a:p>
            <a:r>
              <a:rPr lang="en-GB" dirty="0">
                <a:solidFill>
                  <a:srgbClr val="FF0000"/>
                </a:solidFill>
              </a:rPr>
              <a:t>No Dividends the last years</a:t>
            </a:r>
            <a:br>
              <a:rPr lang="en-GB" dirty="0"/>
            </a:br>
            <a:r>
              <a:rPr lang="en-GB" dirty="0"/>
              <a:t>Which Figure of EPS should we use </a:t>
            </a:r>
            <a:r>
              <a:rPr lang="en-GB" b="1" i="1" u="sng" dirty="0"/>
              <a:t>NOW</a:t>
            </a:r>
            <a:r>
              <a:rPr lang="en-GB" dirty="0"/>
              <a:t>?</a:t>
            </a:r>
          </a:p>
        </p:txBody>
      </p:sp>
      <p:sp>
        <p:nvSpPr>
          <p:cNvPr id="3" name="Content Placeholder 2"/>
          <p:cNvSpPr>
            <a:spLocks noGrp="1"/>
          </p:cNvSpPr>
          <p:nvPr>
            <p:ph sz="quarter" idx="1"/>
          </p:nvPr>
        </p:nvSpPr>
        <p:spPr>
          <a:xfrm>
            <a:off x="73616" y="5734050"/>
            <a:ext cx="7467600" cy="725787"/>
          </a:xfrm>
        </p:spPr>
        <p:txBody>
          <a:bodyPr/>
          <a:lstStyle/>
          <a:p>
            <a:r>
              <a:rPr lang="en-GB" dirty="0"/>
              <a:t>Probably our trailing should be more consistent than the long term trend (exponential). Maybe the Q2 trailing (3.21) is more consistent.</a:t>
            </a:r>
          </a:p>
        </p:txBody>
      </p:sp>
      <p:sp>
        <p:nvSpPr>
          <p:cNvPr id="6" name="Slide Number Placeholder 5"/>
          <p:cNvSpPr>
            <a:spLocks noGrp="1"/>
          </p:cNvSpPr>
          <p:nvPr>
            <p:ph type="sldNum" sz="quarter" idx="11"/>
          </p:nvPr>
        </p:nvSpPr>
        <p:spPr/>
        <p:txBody>
          <a:bodyPr/>
          <a:lstStyle/>
          <a:p>
            <a:pPr>
              <a:defRPr/>
            </a:pPr>
            <a:fld id="{C3168C1A-0F73-4148-A9C6-17783D0D792E}" type="slidenum">
              <a:rPr lang="en-GB" smtClean="0"/>
              <a:pPr>
                <a:defRPr/>
              </a:pPr>
              <a:t>11</a:t>
            </a:fld>
            <a:endParaRPr lang="en-GB"/>
          </a:p>
        </p:txBody>
      </p:sp>
      <p:graphicFrame>
        <p:nvGraphicFramePr>
          <p:cNvPr id="5" name="Object 4"/>
          <p:cNvGraphicFramePr>
            <a:graphicFrameLocks noChangeAspect="1"/>
          </p:cNvGraphicFramePr>
          <p:nvPr>
            <p:extLst>
              <p:ext uri="{D42A27DB-BD31-4B8C-83A1-F6EECF244321}">
                <p14:modId xmlns:p14="http://schemas.microsoft.com/office/powerpoint/2010/main" val="1521450854"/>
              </p:ext>
            </p:extLst>
          </p:nvPr>
        </p:nvGraphicFramePr>
        <p:xfrm>
          <a:off x="7393618" y="5969843"/>
          <a:ext cx="914400" cy="771525"/>
        </p:xfrm>
        <a:graphic>
          <a:graphicData uri="http://schemas.openxmlformats.org/presentationml/2006/ole">
            <mc:AlternateContent xmlns:mc="http://schemas.openxmlformats.org/markup-compatibility/2006">
              <mc:Choice xmlns:v="urn:schemas-microsoft-com:vml" Requires="v">
                <p:oleObj name="Worksheet" showAsIcon="1" r:id="rId3" imgW="914400" imgH="771480" progId="Excel.Sheet.12">
                  <p:embed/>
                </p:oleObj>
              </mc:Choice>
              <mc:Fallback>
                <p:oleObj name="Worksheet" showAsIcon="1" r:id="rId3" imgW="914400" imgH="771480" progId="Excel.Sheet.12">
                  <p:embed/>
                  <p:pic>
                    <p:nvPicPr>
                      <p:cNvPr id="5" name="Object 4"/>
                      <p:cNvPicPr/>
                      <p:nvPr/>
                    </p:nvPicPr>
                    <p:blipFill>
                      <a:blip r:embed="rId4"/>
                      <a:stretch>
                        <a:fillRect/>
                      </a:stretch>
                    </p:blipFill>
                    <p:spPr>
                      <a:xfrm>
                        <a:off x="7393618" y="5969843"/>
                        <a:ext cx="914400" cy="771525"/>
                      </a:xfrm>
                      <a:prstGeom prst="rect">
                        <a:avLst/>
                      </a:prstGeom>
                    </p:spPr>
                  </p:pic>
                </p:oleObj>
              </mc:Fallback>
            </mc:AlternateContent>
          </a:graphicData>
        </a:graphic>
      </p:graphicFrame>
      <p:graphicFrame>
        <p:nvGraphicFramePr>
          <p:cNvPr id="7" name="Chart 6">
            <a:extLst>
              <a:ext uri="{FF2B5EF4-FFF2-40B4-BE49-F238E27FC236}">
                <a16:creationId xmlns:a16="http://schemas.microsoft.com/office/drawing/2014/main" id="{73248680-DCEA-669C-18A3-B31B488498CD}"/>
              </a:ext>
            </a:extLst>
          </p:cNvPr>
          <p:cNvGraphicFramePr>
            <a:graphicFrameLocks/>
          </p:cNvGraphicFramePr>
          <p:nvPr>
            <p:extLst>
              <p:ext uri="{D42A27DB-BD31-4B8C-83A1-F6EECF244321}">
                <p14:modId xmlns:p14="http://schemas.microsoft.com/office/powerpoint/2010/main" val="2826616086"/>
              </p:ext>
            </p:extLst>
          </p:nvPr>
        </p:nvGraphicFramePr>
        <p:xfrm>
          <a:off x="251520" y="1052737"/>
          <a:ext cx="8136904" cy="4399782"/>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3671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3B97D-48A3-9D43-D39F-45EF563D8CF5}"/>
              </a:ext>
            </a:extLst>
          </p:cNvPr>
          <p:cNvSpPr>
            <a:spLocks noGrp="1"/>
          </p:cNvSpPr>
          <p:nvPr>
            <p:ph type="title"/>
          </p:nvPr>
        </p:nvSpPr>
        <p:spPr>
          <a:xfrm>
            <a:off x="179512" y="274638"/>
            <a:ext cx="8640960" cy="634082"/>
          </a:xfrm>
        </p:spPr>
        <p:txBody>
          <a:bodyPr>
            <a:normAutofit/>
          </a:bodyPr>
          <a:lstStyle/>
          <a:p>
            <a:r>
              <a:rPr lang="en-GB" sz="2400" dirty="0"/>
              <a:t>Do I need to Estimate Trailing Earnings for Nestle?</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5" name="Content Placeholder 4">
                <a:extLst>
                  <a:ext uri="{FF2B5EF4-FFF2-40B4-BE49-F238E27FC236}">
                    <a16:creationId xmlns:a16="http://schemas.microsoft.com/office/drawing/2014/main" id="{B9B4C57D-1BF3-5B9E-FA08-8A0B9D0D0FCE}"/>
                  </a:ext>
                </a:extLst>
              </p:cNvPr>
              <p:cNvGraphicFramePr>
                <a:graphicFrameLocks noGrp="1"/>
              </p:cNvGraphicFramePr>
              <p:nvPr>
                <p:ph sz="quarter" idx="1"/>
                <p:extLst>
                  <p:ext uri="{D42A27DB-BD31-4B8C-83A1-F6EECF244321}">
                    <p14:modId xmlns:p14="http://schemas.microsoft.com/office/powerpoint/2010/main" val="3809927553"/>
                  </p:ext>
                </p:extLst>
              </p:nvPr>
            </p:nvGraphicFramePr>
            <p:xfrm>
              <a:off x="107504" y="897062"/>
              <a:ext cx="8712968" cy="5628282"/>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5" name="Content Placeholder 4">
                <a:extLst>
                  <a:ext uri="{FF2B5EF4-FFF2-40B4-BE49-F238E27FC236}">
                    <a16:creationId xmlns:a16="http://schemas.microsoft.com/office/drawing/2014/main" id="{B9B4C57D-1BF3-5B9E-FA08-8A0B9D0D0FCE}"/>
                  </a:ext>
                </a:extLst>
              </p:cNvPr>
              <p:cNvPicPr>
                <a:picLocks noGrp="1" noRot="1" noChangeAspect="1" noMove="1" noResize="1" noEditPoints="1" noAdjustHandles="1" noChangeArrowheads="1" noChangeShapeType="1"/>
              </p:cNvPicPr>
              <p:nvPr/>
            </p:nvPicPr>
            <p:blipFill>
              <a:blip r:embed="rId3"/>
              <a:stretch>
                <a:fillRect/>
              </a:stretch>
            </p:blipFill>
            <p:spPr>
              <a:xfrm>
                <a:off x="107504" y="897062"/>
                <a:ext cx="8712968" cy="5628282"/>
              </a:xfrm>
              <a:prstGeom prst="rect">
                <a:avLst/>
              </a:prstGeom>
            </p:spPr>
          </p:pic>
        </mc:Fallback>
      </mc:AlternateContent>
      <p:sp>
        <p:nvSpPr>
          <p:cNvPr id="4" name="Slide Number Placeholder 3">
            <a:extLst>
              <a:ext uri="{FF2B5EF4-FFF2-40B4-BE49-F238E27FC236}">
                <a16:creationId xmlns:a16="http://schemas.microsoft.com/office/drawing/2014/main" id="{EBD65D72-7B06-18DB-161C-7D4B6D8A0F3F}"/>
              </a:ext>
            </a:extLst>
          </p:cNvPr>
          <p:cNvSpPr>
            <a:spLocks noGrp="1"/>
          </p:cNvSpPr>
          <p:nvPr>
            <p:ph type="sldNum" sz="quarter" idx="11"/>
          </p:nvPr>
        </p:nvSpPr>
        <p:spPr/>
        <p:txBody>
          <a:bodyPr/>
          <a:lstStyle/>
          <a:p>
            <a:pPr>
              <a:defRPr/>
            </a:pPr>
            <a:fld id="{C3168C1A-0F73-4148-A9C6-17783D0D792E}" type="slidenum">
              <a:rPr lang="en-GB" smtClean="0"/>
              <a:pPr>
                <a:defRPr/>
              </a:pPr>
              <a:t>12</a:t>
            </a:fld>
            <a:endParaRPr lang="en-GB"/>
          </a:p>
        </p:txBody>
      </p:sp>
    </p:spTree>
    <p:extLst>
      <p:ext uri="{BB962C8B-B14F-4D97-AF65-F5344CB8AC3E}">
        <p14:creationId xmlns:p14="http://schemas.microsoft.com/office/powerpoint/2010/main" val="402777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292" y="495524"/>
            <a:ext cx="1450504" cy="922114"/>
          </a:xfrm>
        </p:spPr>
        <p:txBody>
          <a:bodyPr>
            <a:normAutofit fontScale="90000"/>
          </a:bodyPr>
          <a:lstStyle/>
          <a:p>
            <a:r>
              <a:rPr lang="en-GB" dirty="0"/>
              <a:t>The lucky guys!!!</a:t>
            </a:r>
            <a:endParaRPr lang="en-US" dirty="0"/>
          </a:p>
        </p:txBody>
      </p:sp>
      <p:sp>
        <p:nvSpPr>
          <p:cNvPr id="4" name="Slide Number Placeholder 3"/>
          <p:cNvSpPr>
            <a:spLocks noGrp="1"/>
          </p:cNvSpPr>
          <p:nvPr>
            <p:ph type="sldNum" sz="quarter" idx="11"/>
          </p:nvPr>
        </p:nvSpPr>
        <p:spPr/>
        <p:txBody>
          <a:bodyPr/>
          <a:lstStyle/>
          <a:p>
            <a:pPr>
              <a:defRPr/>
            </a:pPr>
            <a:fld id="{C3168C1A-0F73-4148-A9C6-17783D0D792E}" type="slidenum">
              <a:rPr lang="en-GB" smtClean="0"/>
              <a:pPr>
                <a:defRPr/>
              </a:pPr>
              <a:t>13</a:t>
            </a:fld>
            <a:endParaRPr lang="en-GB"/>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0"/>
            <a:ext cx="5715000" cy="3000375"/>
          </a:xfrm>
          <a:prstGeom prst="rect">
            <a:avLst/>
          </a:prstGeom>
        </p:spPr>
      </p:pic>
      <p:sp>
        <p:nvSpPr>
          <p:cNvPr id="7" name="Title 1"/>
          <p:cNvSpPr txBox="1">
            <a:spLocks/>
          </p:cNvSpPr>
          <p:nvPr/>
        </p:nvSpPr>
        <p:spPr>
          <a:xfrm>
            <a:off x="107504" y="3324388"/>
            <a:ext cx="2098576" cy="922114"/>
          </a:xfrm>
          <a:prstGeom prst="rect">
            <a:avLst/>
          </a:prstGeom>
        </p:spPr>
        <p:txBody>
          <a:bodyPr vert="horz" anchor="b">
            <a:noAutofit/>
          </a:bodyPr>
          <a:lstStyle>
            <a:lvl1pPr algn="l" rtl="0" eaLnBrk="0" fontAlgn="base" hangingPunct="0">
              <a:spcBef>
                <a:spcPct val="0"/>
              </a:spcBef>
              <a:spcAft>
                <a:spcPct val="0"/>
              </a:spcAft>
              <a:defRPr sz="3000" kern="1200" cap="small">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Century Schoolbook" pitchFamily="18" charset="0"/>
              </a:defRPr>
            </a:lvl2pPr>
            <a:lvl3pPr algn="l" rtl="0" eaLnBrk="0" fontAlgn="base" hangingPunct="0">
              <a:spcBef>
                <a:spcPct val="0"/>
              </a:spcBef>
              <a:spcAft>
                <a:spcPct val="0"/>
              </a:spcAft>
              <a:defRPr sz="3000">
                <a:solidFill>
                  <a:schemeClr val="tx2"/>
                </a:solidFill>
                <a:latin typeface="Century Schoolbook" pitchFamily="18" charset="0"/>
              </a:defRPr>
            </a:lvl3pPr>
            <a:lvl4pPr algn="l" rtl="0" eaLnBrk="0" fontAlgn="base" hangingPunct="0">
              <a:spcBef>
                <a:spcPct val="0"/>
              </a:spcBef>
              <a:spcAft>
                <a:spcPct val="0"/>
              </a:spcAft>
              <a:defRPr sz="3000">
                <a:solidFill>
                  <a:schemeClr val="tx2"/>
                </a:solidFill>
                <a:latin typeface="Century Schoolbook" pitchFamily="18" charset="0"/>
              </a:defRPr>
            </a:lvl4pPr>
            <a:lvl5pPr algn="l" rtl="0" eaLnBrk="0" fontAlgn="base" hangingPunct="0">
              <a:spcBef>
                <a:spcPct val="0"/>
              </a:spcBef>
              <a:spcAft>
                <a:spcPct val="0"/>
              </a:spcAft>
              <a:defRPr sz="3000">
                <a:solidFill>
                  <a:schemeClr val="tx2"/>
                </a:solidFill>
                <a:latin typeface="Century Schoolbook" pitchFamily="18"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a:lstStyle>
          <a:p>
            <a:r>
              <a:rPr lang="en-GB" sz="2000"/>
              <a:t>Share price of Premier Foods in 2013?</a:t>
            </a:r>
            <a:endParaRPr lang="en-US" sz="2000" dirty="0"/>
          </a:p>
        </p:txBody>
      </p:sp>
      <p:pic>
        <p:nvPicPr>
          <p:cNvPr id="8" name="Picture 7"/>
          <p:cNvPicPr>
            <a:picLocks noChangeAspect="1"/>
          </p:cNvPicPr>
          <p:nvPr/>
        </p:nvPicPr>
        <p:blipFill>
          <a:blip r:embed="rId3"/>
          <a:stretch>
            <a:fillRect/>
          </a:stretch>
        </p:blipFill>
        <p:spPr>
          <a:xfrm>
            <a:off x="2627784" y="3324388"/>
            <a:ext cx="6065684" cy="3344972"/>
          </a:xfrm>
          <a:prstGeom prst="rect">
            <a:avLst/>
          </a:prstGeom>
        </p:spPr>
      </p:pic>
    </p:spTree>
    <p:extLst>
      <p:ext uri="{BB962C8B-B14F-4D97-AF65-F5344CB8AC3E}">
        <p14:creationId xmlns:p14="http://schemas.microsoft.com/office/powerpoint/2010/main" val="345028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32172" y="188640"/>
            <a:ext cx="1748880" cy="575113"/>
          </a:xfrm>
        </p:spPr>
        <p:txBody>
          <a:bodyPr/>
          <a:lstStyle/>
          <a:p>
            <a:r>
              <a:rPr lang="en-GB" dirty="0"/>
              <a:t>Why????</a:t>
            </a:r>
            <a:endParaRPr lang="en-US" dirty="0"/>
          </a:p>
        </p:txBody>
      </p:sp>
      <p:sp>
        <p:nvSpPr>
          <p:cNvPr id="4" name="Slide Number Placeholder 3"/>
          <p:cNvSpPr>
            <a:spLocks noGrp="1"/>
          </p:cNvSpPr>
          <p:nvPr>
            <p:ph type="sldNum" sz="quarter" idx="11"/>
          </p:nvPr>
        </p:nvSpPr>
        <p:spPr/>
        <p:txBody>
          <a:bodyPr/>
          <a:lstStyle/>
          <a:p>
            <a:pPr>
              <a:defRPr/>
            </a:pPr>
            <a:fld id="{C3168C1A-0F73-4148-A9C6-17783D0D792E}" type="slidenum">
              <a:rPr lang="en-GB" smtClean="0"/>
              <a:pPr>
                <a:defRPr/>
              </a:pPr>
              <a:t>14</a:t>
            </a:fld>
            <a:endParaRPr lang="en-GB"/>
          </a:p>
        </p:txBody>
      </p:sp>
      <p:pic>
        <p:nvPicPr>
          <p:cNvPr id="7" name="Picture 6"/>
          <p:cNvPicPr>
            <a:picLocks noChangeAspect="1"/>
          </p:cNvPicPr>
          <p:nvPr/>
        </p:nvPicPr>
        <p:blipFill>
          <a:blip r:embed="rId2"/>
          <a:stretch>
            <a:fillRect/>
          </a:stretch>
        </p:blipFill>
        <p:spPr>
          <a:xfrm>
            <a:off x="6790080" y="0"/>
            <a:ext cx="1973908" cy="2963826"/>
          </a:xfrm>
          <a:prstGeom prst="rect">
            <a:avLst/>
          </a:prstGeom>
        </p:spPr>
      </p:pic>
      <p:sp>
        <p:nvSpPr>
          <p:cNvPr id="8" name="Content Placeholder 2"/>
          <p:cNvSpPr txBox="1">
            <a:spLocks/>
          </p:cNvSpPr>
          <p:nvPr/>
        </p:nvSpPr>
        <p:spPr bwMode="auto">
          <a:xfrm>
            <a:off x="232172" y="1340768"/>
            <a:ext cx="4824536" cy="21825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600"/>
              </a:spcBef>
              <a:spcAft>
                <a:spcPct val="0"/>
              </a:spcAft>
              <a:buClr>
                <a:schemeClr val="accent1"/>
              </a:buClr>
              <a:buSzPct val="70000"/>
              <a:buFont typeface="Wingdings" charset="2"/>
              <a:buChar char=""/>
              <a:defRPr sz="2400" kern="1200">
                <a:solidFill>
                  <a:schemeClr val="tx1"/>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E0752F"/>
              </a:buClr>
              <a:buSzPct val="60000"/>
              <a:buFont typeface="Wingdings" charset="2"/>
              <a:buChar char=""/>
              <a:defRPr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FEC3AE"/>
              </a:buClr>
              <a:buSzPct val="60000"/>
              <a:buFont typeface="Wingdings" charset="2"/>
              <a:buChar char=""/>
              <a:defRPr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BDCAE9"/>
              </a:buClr>
              <a:buSzPct val="68000"/>
              <a:buFont typeface="Wingdings 2"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en-GB" dirty="0"/>
              <a:t>Could this be assumed to be the new norm????</a:t>
            </a:r>
          </a:p>
          <a:p>
            <a:r>
              <a:rPr lang="en-GB" dirty="0"/>
              <a:t>Premier Foods will </a:t>
            </a:r>
            <a:r>
              <a:rPr lang="en-GB" dirty="0">
                <a:hlinkClick r:id="rId3"/>
              </a:rPr>
              <a:t>sell</a:t>
            </a:r>
            <a:r>
              <a:rPr lang="en-GB" dirty="0"/>
              <a:t> </a:t>
            </a:r>
            <a:r>
              <a:rPr lang="en-GB" dirty="0" err="1"/>
              <a:t>Quorn</a:t>
            </a:r>
            <a:r>
              <a:rPr lang="en-GB" dirty="0"/>
              <a:t> to a pension fund….</a:t>
            </a:r>
            <a:endParaRPr lang="en-US" dirty="0"/>
          </a:p>
        </p:txBody>
      </p:sp>
      <p:pic>
        <p:nvPicPr>
          <p:cNvPr id="11" name="Picture 10"/>
          <p:cNvPicPr>
            <a:picLocks noChangeAspect="1"/>
          </p:cNvPicPr>
          <p:nvPr/>
        </p:nvPicPr>
        <p:blipFill rotWithShape="1">
          <a:blip r:embed="rId4"/>
          <a:srcRect l="1851" t="15548" r="9599" b="9641"/>
          <a:stretch/>
        </p:blipFill>
        <p:spPr>
          <a:xfrm>
            <a:off x="395536" y="3263347"/>
            <a:ext cx="7344816" cy="3488788"/>
          </a:xfrm>
          <a:prstGeom prst="rect">
            <a:avLst/>
          </a:prstGeom>
        </p:spPr>
      </p:pic>
    </p:spTree>
    <p:extLst>
      <p:ext uri="{BB962C8B-B14F-4D97-AF65-F5344CB8AC3E}">
        <p14:creationId xmlns:p14="http://schemas.microsoft.com/office/powerpoint/2010/main" val="4251810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AF50C-C8AB-E516-50C6-E2F85C099020}"/>
              </a:ext>
            </a:extLst>
          </p:cNvPr>
          <p:cNvSpPr>
            <a:spLocks noGrp="1"/>
          </p:cNvSpPr>
          <p:nvPr>
            <p:ph type="title"/>
          </p:nvPr>
        </p:nvSpPr>
        <p:spPr>
          <a:xfrm>
            <a:off x="457200" y="274638"/>
            <a:ext cx="7467600" cy="490066"/>
          </a:xfrm>
        </p:spPr>
        <p:txBody>
          <a:bodyPr>
            <a:normAutofit fontScale="90000"/>
          </a:bodyPr>
          <a:lstStyle/>
          <a:p>
            <a:r>
              <a:rPr lang="en-GB" dirty="0"/>
              <a:t>Other Examples?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5" name="Content Placeholder 4">
                <a:extLst>
                  <a:ext uri="{FF2B5EF4-FFF2-40B4-BE49-F238E27FC236}">
                    <a16:creationId xmlns:a16="http://schemas.microsoft.com/office/drawing/2014/main" id="{3BEA3915-AAB6-9450-0D1A-096A9D94C8D0}"/>
                  </a:ext>
                </a:extLst>
              </p:cNvPr>
              <p:cNvGraphicFramePr>
                <a:graphicFrameLocks noGrp="1"/>
              </p:cNvGraphicFramePr>
              <p:nvPr>
                <p:ph sz="quarter" idx="1"/>
                <p:extLst>
                  <p:ext uri="{D42A27DB-BD31-4B8C-83A1-F6EECF244321}">
                    <p14:modId xmlns:p14="http://schemas.microsoft.com/office/powerpoint/2010/main" val="759522700"/>
                  </p:ext>
                </p:extLst>
              </p:nvPr>
            </p:nvGraphicFramePr>
            <p:xfrm>
              <a:off x="-36512" y="692696"/>
              <a:ext cx="9217024" cy="5890666"/>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5" name="Content Placeholder 4">
                <a:extLst>
                  <a:ext uri="{FF2B5EF4-FFF2-40B4-BE49-F238E27FC236}">
                    <a16:creationId xmlns:a16="http://schemas.microsoft.com/office/drawing/2014/main" id="{3BEA3915-AAB6-9450-0D1A-096A9D94C8D0}"/>
                  </a:ext>
                </a:extLst>
              </p:cNvPr>
              <p:cNvPicPr>
                <a:picLocks noGrp="1" noRot="1" noChangeAspect="1" noMove="1" noResize="1" noEditPoints="1" noAdjustHandles="1" noChangeArrowheads="1" noChangeShapeType="1"/>
              </p:cNvPicPr>
              <p:nvPr/>
            </p:nvPicPr>
            <p:blipFill>
              <a:blip r:embed="rId3"/>
              <a:stretch>
                <a:fillRect/>
              </a:stretch>
            </p:blipFill>
            <p:spPr>
              <a:xfrm>
                <a:off x="-36512" y="692696"/>
                <a:ext cx="9217024" cy="5890666"/>
              </a:xfrm>
              <a:prstGeom prst="rect">
                <a:avLst/>
              </a:prstGeom>
            </p:spPr>
          </p:pic>
        </mc:Fallback>
      </mc:AlternateContent>
      <p:sp>
        <p:nvSpPr>
          <p:cNvPr id="4" name="Slide Number Placeholder 3">
            <a:extLst>
              <a:ext uri="{FF2B5EF4-FFF2-40B4-BE49-F238E27FC236}">
                <a16:creationId xmlns:a16="http://schemas.microsoft.com/office/drawing/2014/main" id="{03AA3A7F-DE32-E481-70F7-4BDCB2851223}"/>
              </a:ext>
            </a:extLst>
          </p:cNvPr>
          <p:cNvSpPr>
            <a:spLocks noGrp="1"/>
          </p:cNvSpPr>
          <p:nvPr>
            <p:ph type="sldNum" sz="quarter" idx="11"/>
          </p:nvPr>
        </p:nvSpPr>
        <p:spPr/>
        <p:txBody>
          <a:bodyPr/>
          <a:lstStyle/>
          <a:p>
            <a:pPr>
              <a:defRPr/>
            </a:pPr>
            <a:fld id="{C3168C1A-0F73-4148-A9C6-17783D0D792E}" type="slidenum">
              <a:rPr lang="en-GB" smtClean="0"/>
              <a:pPr>
                <a:defRPr/>
              </a:pPr>
              <a:t>15</a:t>
            </a:fld>
            <a:endParaRPr lang="en-GB"/>
          </a:p>
        </p:txBody>
      </p:sp>
    </p:spTree>
    <p:extLst>
      <p:ext uri="{BB962C8B-B14F-4D97-AF65-F5344CB8AC3E}">
        <p14:creationId xmlns:p14="http://schemas.microsoft.com/office/powerpoint/2010/main" val="6519588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a:xfrm>
            <a:off x="107504" y="44624"/>
            <a:ext cx="8784976" cy="864096"/>
          </a:xfrm>
        </p:spPr>
        <p:txBody>
          <a:bodyPr>
            <a:normAutofit/>
          </a:bodyPr>
          <a:lstStyle/>
          <a:p>
            <a:pPr eaLnBrk="1" fontAlgn="auto" hangingPunct="1">
              <a:spcAft>
                <a:spcPts val="0"/>
              </a:spcAft>
              <a:defRPr/>
            </a:pPr>
            <a:r>
              <a:rPr lang="en-US" sz="2400" dirty="0"/>
              <a:t>II. One-Time and Non-recurring Charges: Pick Up an Example</a:t>
            </a:r>
          </a:p>
        </p:txBody>
      </p:sp>
      <p:sp>
        <p:nvSpPr>
          <p:cNvPr id="2" name="Slide Number Placeholder 1"/>
          <p:cNvSpPr>
            <a:spLocks noGrp="1"/>
          </p:cNvSpPr>
          <p:nvPr>
            <p:ph type="sldNum" sz="quarter" idx="11"/>
          </p:nvPr>
        </p:nvSpPr>
        <p:spPr/>
        <p:txBody>
          <a:bodyPr/>
          <a:lstStyle/>
          <a:p>
            <a:pPr>
              <a:defRPr/>
            </a:pPr>
            <a:fld id="{C3168C1A-0F73-4148-A9C6-17783D0D792E}" type="slidenum">
              <a:rPr lang="en-GB" smtClean="0"/>
              <a:pPr>
                <a:defRPr/>
              </a:pPr>
              <a:t>16</a:t>
            </a:fld>
            <a:endParaRPr lang="en-GB"/>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5" name="Content Placeholder 4">
                <a:extLst>
                  <a:ext uri="{FF2B5EF4-FFF2-40B4-BE49-F238E27FC236}">
                    <a16:creationId xmlns:a16="http://schemas.microsoft.com/office/drawing/2014/main" id="{7385E7FA-9501-3808-CBA1-DFDB70F8AAA6}"/>
                  </a:ext>
                </a:extLst>
              </p:cNvPr>
              <p:cNvGraphicFramePr>
                <a:graphicFrameLocks noGrp="1"/>
              </p:cNvGraphicFramePr>
              <p:nvPr>
                <p:ph sz="quarter" idx="1"/>
                <p:extLst>
                  <p:ext uri="{D42A27DB-BD31-4B8C-83A1-F6EECF244321}">
                    <p14:modId xmlns:p14="http://schemas.microsoft.com/office/powerpoint/2010/main" val="340319744"/>
                  </p:ext>
                </p:extLst>
              </p:nvPr>
            </p:nvGraphicFramePr>
            <p:xfrm>
              <a:off x="107504" y="1052736"/>
              <a:ext cx="8928992" cy="5688632"/>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5" name="Content Placeholder 4">
                <a:extLst>
                  <a:ext uri="{FF2B5EF4-FFF2-40B4-BE49-F238E27FC236}">
                    <a16:creationId xmlns:a16="http://schemas.microsoft.com/office/drawing/2014/main" id="{7385E7FA-9501-3808-CBA1-DFDB70F8AAA6}"/>
                  </a:ext>
                </a:extLst>
              </p:cNvPr>
              <p:cNvPicPr>
                <a:picLocks noGrp="1" noRot="1" noChangeAspect="1" noMove="1" noResize="1" noEditPoints="1" noAdjustHandles="1" noChangeArrowheads="1" noChangeShapeType="1"/>
              </p:cNvPicPr>
              <p:nvPr/>
            </p:nvPicPr>
            <p:blipFill>
              <a:blip r:embed="rId4"/>
              <a:stretch>
                <a:fillRect/>
              </a:stretch>
            </p:blipFill>
            <p:spPr>
              <a:xfrm>
                <a:off x="107504" y="1052736"/>
                <a:ext cx="8928992" cy="5688632"/>
              </a:xfrm>
              <a:prstGeom prst="rect">
                <a:avLst/>
              </a:prstGeom>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84"/>
            <a:ext cx="7467600" cy="706090"/>
          </a:xfrm>
        </p:spPr>
        <p:txBody>
          <a:bodyPr/>
          <a:lstStyle/>
          <a:p>
            <a:pPr algn="ctr"/>
            <a:r>
              <a:rPr lang="en-GB" dirty="0"/>
              <a:t>Compare and Contrast</a:t>
            </a:r>
          </a:p>
        </p:txBody>
      </p:sp>
      <p:sp>
        <p:nvSpPr>
          <p:cNvPr id="3" name="Content Placeholder 2"/>
          <p:cNvSpPr>
            <a:spLocks noGrp="1"/>
          </p:cNvSpPr>
          <p:nvPr>
            <p:ph sz="quarter" idx="1"/>
          </p:nvPr>
        </p:nvSpPr>
        <p:spPr>
          <a:xfrm>
            <a:off x="395536" y="4797152"/>
            <a:ext cx="7931224" cy="1460776"/>
          </a:xfrm>
        </p:spPr>
        <p:txBody>
          <a:bodyPr/>
          <a:lstStyle/>
          <a:p>
            <a:r>
              <a:rPr lang="en-GB" dirty="0"/>
              <a:t>BP was forced to pay a fine for the leak in Golf of Mexico.</a:t>
            </a:r>
          </a:p>
          <a:p>
            <a:r>
              <a:rPr lang="en-GB" dirty="0"/>
              <a:t>VW was caught on a </a:t>
            </a:r>
            <a:r>
              <a:rPr lang="en-GB" dirty="0" err="1"/>
              <a:t>dieselgate</a:t>
            </a:r>
            <a:endParaRPr lang="en-GB" dirty="0"/>
          </a:p>
        </p:txBody>
      </p:sp>
      <p:graphicFrame>
        <p:nvGraphicFramePr>
          <p:cNvPr id="4" name="Chart 3"/>
          <p:cNvGraphicFramePr>
            <a:graphicFrameLocks/>
          </p:cNvGraphicFramePr>
          <p:nvPr>
            <p:extLst>
              <p:ext uri="{D42A27DB-BD31-4B8C-83A1-F6EECF244321}">
                <p14:modId xmlns:p14="http://schemas.microsoft.com/office/powerpoint/2010/main" val="3968239587"/>
              </p:ext>
            </p:extLst>
          </p:nvPr>
        </p:nvGraphicFramePr>
        <p:xfrm>
          <a:off x="-16420" y="1484784"/>
          <a:ext cx="4176464" cy="2955776"/>
        </p:xfrm>
        <a:graphic>
          <a:graphicData uri="http://schemas.openxmlformats.org/drawingml/2006/chart">
            <c:chart xmlns:c="http://schemas.openxmlformats.org/drawingml/2006/chart" xmlns:r="http://schemas.openxmlformats.org/officeDocument/2006/relationships" r:id="rId3"/>
          </a:graphicData>
        </a:graphic>
      </p:graphicFrame>
      <p:sp>
        <p:nvSpPr>
          <p:cNvPr id="5" name="Slide Number Placeholder 4"/>
          <p:cNvSpPr>
            <a:spLocks noGrp="1"/>
          </p:cNvSpPr>
          <p:nvPr>
            <p:ph type="sldNum" sz="quarter" idx="11"/>
          </p:nvPr>
        </p:nvSpPr>
        <p:spPr/>
        <p:txBody>
          <a:bodyPr/>
          <a:lstStyle/>
          <a:p>
            <a:pPr>
              <a:defRPr/>
            </a:pPr>
            <a:fld id="{C3168C1A-0F73-4148-A9C6-17783D0D792E}" type="slidenum">
              <a:rPr lang="en-GB" smtClean="0"/>
              <a:pPr>
                <a:defRPr/>
              </a:pPr>
              <a:t>17</a:t>
            </a:fld>
            <a:endParaRPr lang="en-GB"/>
          </a:p>
        </p:txBody>
      </p:sp>
      <p:pic>
        <p:nvPicPr>
          <p:cNvPr id="7" name="Picture 6" descr="The image shows a line chart depicting a downward trend in EUR earnings per share from 2012 to 2018.&#10;&#10;AI-generated content may be incorrect.">
            <a:extLst>
              <a:ext uri="{FF2B5EF4-FFF2-40B4-BE49-F238E27FC236}">
                <a16:creationId xmlns:a16="http://schemas.microsoft.com/office/drawing/2014/main" id="{C89AD009-5762-D49C-9B53-A6B15BF7EAD9}"/>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a14:imgEffect>
                  </a14:imgLayer>
                </a14:imgProps>
              </a:ext>
            </a:extLst>
          </a:blip>
          <a:stretch>
            <a:fillRect/>
          </a:stretch>
        </p:blipFill>
        <p:spPr>
          <a:xfrm>
            <a:off x="4453253" y="1866302"/>
            <a:ext cx="3981135" cy="2714826"/>
          </a:xfrm>
          <a:prstGeom prst="rect">
            <a:avLst/>
          </a:prstGeom>
        </p:spPr>
      </p:pic>
      <p:sp>
        <p:nvSpPr>
          <p:cNvPr id="10" name="Rectangle: Rounded Corners 9">
            <a:extLst>
              <a:ext uri="{FF2B5EF4-FFF2-40B4-BE49-F238E27FC236}">
                <a16:creationId xmlns:a16="http://schemas.microsoft.com/office/drawing/2014/main" id="{11457594-E0F4-D1D8-C6D9-D65CFCAD4076}"/>
              </a:ext>
            </a:extLst>
          </p:cNvPr>
          <p:cNvSpPr/>
          <p:nvPr/>
        </p:nvSpPr>
        <p:spPr>
          <a:xfrm>
            <a:off x="6084168" y="1571322"/>
            <a:ext cx="1224136" cy="360040"/>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b="1" dirty="0"/>
              <a:t>VW-EPS</a:t>
            </a:r>
          </a:p>
        </p:txBody>
      </p:sp>
    </p:spTree>
    <p:extLst>
      <p:ext uri="{BB962C8B-B14F-4D97-AF65-F5344CB8AC3E}">
        <p14:creationId xmlns:p14="http://schemas.microsoft.com/office/powerpoint/2010/main" val="3586327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81988" cy="562074"/>
          </a:xfrm>
        </p:spPr>
        <p:txBody>
          <a:bodyPr>
            <a:normAutofit fontScale="90000"/>
          </a:bodyPr>
          <a:lstStyle/>
          <a:p>
            <a:pPr algn="ctr"/>
            <a:r>
              <a:rPr lang="en-GB" dirty="0"/>
              <a:t>In a Nutshell: What do I Do?</a:t>
            </a:r>
            <a:br>
              <a:rPr lang="en-GB" dirty="0"/>
            </a:br>
            <a:r>
              <a:rPr lang="en-GB" dirty="0"/>
              <a:t>My earnings are negative: What to Do?</a:t>
            </a:r>
            <a:endParaRPr lang="en-US" dirty="0"/>
          </a:p>
        </p:txBody>
      </p:sp>
      <mc:AlternateContent xmlns:mc="http://schemas.openxmlformats.org/markup-compatibility/2006" xmlns:a14="http://schemas.microsoft.com/office/drawing/2010/main">
        <mc:Choice Requires="a14">
          <p:graphicFrame>
            <p:nvGraphicFramePr>
              <p:cNvPr id="5" name="Content Placeholder 4"/>
              <p:cNvGraphicFramePr>
                <a:graphicFrameLocks noGrp="1"/>
              </p:cNvGraphicFramePr>
              <p:nvPr>
                <p:ph sz="quarter" idx="1"/>
                <p:extLst>
                  <p:ext uri="{D42A27DB-BD31-4B8C-83A1-F6EECF244321}">
                    <p14:modId xmlns:p14="http://schemas.microsoft.com/office/powerpoint/2010/main" val="391976143"/>
                  </p:ext>
                </p:extLst>
              </p:nvPr>
            </p:nvGraphicFramePr>
            <p:xfrm>
              <a:off x="179512" y="980728"/>
              <a:ext cx="8712968" cy="5760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5" name="Content Placeholder 4"/>
              <p:cNvGraphicFramePr>
                <a:graphicFrameLocks noGrp="1"/>
              </p:cNvGraphicFramePr>
              <p:nvPr>
                <p:ph sz="quarter" idx="1"/>
                <p:extLst>
                  <p:ext uri="{D42A27DB-BD31-4B8C-83A1-F6EECF244321}">
                    <p14:modId xmlns:p14="http://schemas.microsoft.com/office/powerpoint/2010/main" val="391976143"/>
                  </p:ext>
                </p:extLst>
              </p:nvPr>
            </p:nvGraphicFramePr>
            <p:xfrm>
              <a:off x="179512" y="980728"/>
              <a:ext cx="8712968" cy="576064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sp>
        <p:nvSpPr>
          <p:cNvPr id="4" name="Slide Number Placeholder 3"/>
          <p:cNvSpPr>
            <a:spLocks noGrp="1"/>
          </p:cNvSpPr>
          <p:nvPr>
            <p:ph type="sldNum" sz="quarter" idx="11"/>
          </p:nvPr>
        </p:nvSpPr>
        <p:spPr/>
        <p:txBody>
          <a:bodyPr/>
          <a:lstStyle/>
          <a:p>
            <a:pPr>
              <a:defRPr/>
            </a:pPr>
            <a:fld id="{C3168C1A-0F73-4148-A9C6-17783D0D792E}" type="slidenum">
              <a:rPr lang="en-GB" smtClean="0"/>
              <a:pPr>
                <a:defRPr/>
              </a:pPr>
              <a:t>18</a:t>
            </a:fld>
            <a:endParaRPr lang="en-GB"/>
          </a:p>
        </p:txBody>
      </p:sp>
    </p:spTree>
    <p:extLst>
      <p:ext uri="{BB962C8B-B14F-4D97-AF65-F5344CB8AC3E}">
        <p14:creationId xmlns:p14="http://schemas.microsoft.com/office/powerpoint/2010/main" val="8184607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98615-0F5D-FE3D-AD01-01C82AC6F6B8}"/>
              </a:ext>
            </a:extLst>
          </p:cNvPr>
          <p:cNvSpPr>
            <a:spLocks noGrp="1"/>
          </p:cNvSpPr>
          <p:nvPr>
            <p:ph type="title"/>
          </p:nvPr>
        </p:nvSpPr>
        <p:spPr/>
        <p:txBody>
          <a:bodyPr/>
          <a:lstStyle/>
          <a:p>
            <a:r>
              <a:rPr lang="en-GB" dirty="0"/>
              <a:t>Should we consider an extraordinary item for nestle?</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5" name="Content Placeholder 4">
                <a:extLst>
                  <a:ext uri="{FF2B5EF4-FFF2-40B4-BE49-F238E27FC236}">
                    <a16:creationId xmlns:a16="http://schemas.microsoft.com/office/drawing/2014/main" id="{8D441A77-69FE-F292-3500-DCBB628A41B0}"/>
                  </a:ext>
                </a:extLst>
              </p:cNvPr>
              <p:cNvGraphicFramePr>
                <a:graphicFrameLocks noGrp="1"/>
              </p:cNvGraphicFramePr>
              <p:nvPr>
                <p:ph sz="quarter" idx="1"/>
              </p:nvPr>
            </p:nvGraphicFramePr>
            <p:xfrm>
              <a:off x="457200" y="1600200"/>
              <a:ext cx="7467600" cy="4873625"/>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5" name="Content Placeholder 4">
                <a:extLst>
                  <a:ext uri="{FF2B5EF4-FFF2-40B4-BE49-F238E27FC236}">
                    <a16:creationId xmlns:a16="http://schemas.microsoft.com/office/drawing/2014/main" id="{8D441A77-69FE-F292-3500-DCBB628A41B0}"/>
                  </a:ext>
                </a:extLst>
              </p:cNvPr>
              <p:cNvPicPr>
                <a:picLocks noGrp="1" noRot="1" noChangeAspect="1" noMove="1" noResize="1" noEditPoints="1" noAdjustHandles="1" noChangeArrowheads="1" noChangeShapeType="1"/>
              </p:cNvPicPr>
              <p:nvPr/>
            </p:nvPicPr>
            <p:blipFill>
              <a:blip r:embed="rId3"/>
              <a:stretch>
                <a:fillRect/>
              </a:stretch>
            </p:blipFill>
            <p:spPr>
              <a:xfrm>
                <a:off x="457200" y="1600200"/>
                <a:ext cx="7467600" cy="4873625"/>
              </a:xfrm>
              <a:prstGeom prst="rect">
                <a:avLst/>
              </a:prstGeom>
            </p:spPr>
          </p:pic>
        </mc:Fallback>
      </mc:AlternateContent>
      <p:sp>
        <p:nvSpPr>
          <p:cNvPr id="4" name="Slide Number Placeholder 3">
            <a:extLst>
              <a:ext uri="{FF2B5EF4-FFF2-40B4-BE49-F238E27FC236}">
                <a16:creationId xmlns:a16="http://schemas.microsoft.com/office/drawing/2014/main" id="{1650AD04-8D05-331B-D58D-56B9DE31F45D}"/>
              </a:ext>
            </a:extLst>
          </p:cNvPr>
          <p:cNvSpPr>
            <a:spLocks noGrp="1"/>
          </p:cNvSpPr>
          <p:nvPr>
            <p:ph type="sldNum" sz="quarter" idx="11"/>
          </p:nvPr>
        </p:nvSpPr>
        <p:spPr/>
        <p:txBody>
          <a:bodyPr/>
          <a:lstStyle/>
          <a:p>
            <a:pPr>
              <a:defRPr/>
            </a:pPr>
            <a:fld id="{C3168C1A-0F73-4148-A9C6-17783D0D792E}" type="slidenum">
              <a:rPr lang="en-GB" smtClean="0"/>
              <a:pPr>
                <a:defRPr/>
              </a:pPr>
              <a:t>19</a:t>
            </a:fld>
            <a:endParaRPr lang="en-GB"/>
          </a:p>
        </p:txBody>
      </p:sp>
    </p:spTree>
    <p:extLst>
      <p:ext uri="{BB962C8B-B14F-4D97-AF65-F5344CB8AC3E}">
        <p14:creationId xmlns:p14="http://schemas.microsoft.com/office/powerpoint/2010/main" val="36250422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ChangeArrowheads="1"/>
          </p:cNvSpPr>
          <p:nvPr>
            <p:ph type="title"/>
          </p:nvPr>
        </p:nvSpPr>
        <p:spPr>
          <a:xfrm>
            <a:off x="457200" y="274638"/>
            <a:ext cx="7467600" cy="778098"/>
          </a:xfrm>
        </p:spPr>
        <p:txBody>
          <a:bodyPr>
            <a:normAutofit fontScale="90000"/>
          </a:bodyPr>
          <a:lstStyle/>
          <a:p>
            <a:pPr algn="ctr" eaLnBrk="1" fontAlgn="auto" hangingPunct="1">
              <a:spcAft>
                <a:spcPts val="0"/>
              </a:spcAft>
              <a:defRPr/>
            </a:pPr>
            <a:r>
              <a:rPr lang="en-US" dirty="0"/>
              <a:t>III. Correcting Accounting Earnings</a:t>
            </a:r>
            <a:br>
              <a:rPr lang="en-US" dirty="0"/>
            </a:br>
            <a:r>
              <a:rPr lang="en-US" dirty="0">
                <a:solidFill>
                  <a:srgbClr val="00B0F0"/>
                </a:solidFill>
              </a:rPr>
              <a:t>“Advanced Financial Analysis”</a:t>
            </a:r>
          </a:p>
        </p:txBody>
      </p:sp>
      <p:sp>
        <p:nvSpPr>
          <p:cNvPr id="22531" name="Rectangle 3"/>
          <p:cNvSpPr>
            <a:spLocks noGrp="1" noChangeArrowheads="1"/>
          </p:cNvSpPr>
          <p:nvPr>
            <p:ph sz="quarter" idx="1"/>
          </p:nvPr>
        </p:nvSpPr>
        <p:spPr>
          <a:xfrm>
            <a:off x="179512" y="1052736"/>
            <a:ext cx="8640960" cy="5421089"/>
          </a:xfrm>
        </p:spPr>
        <p:txBody>
          <a:bodyPr>
            <a:normAutofit lnSpcReduction="10000"/>
          </a:bodyPr>
          <a:lstStyle/>
          <a:p>
            <a:pPr eaLnBrk="1" hangingPunct="1"/>
            <a:r>
              <a:rPr lang="en-US" dirty="0"/>
              <a:t>Make sure that there are no financial expenses mixed in with operating expenses</a:t>
            </a:r>
          </a:p>
          <a:p>
            <a:pPr lvl="1" eaLnBrk="1" hangingPunct="1"/>
            <a:r>
              <a:rPr lang="en-US" sz="2000" i="1" dirty="0"/>
              <a:t>Financial expense: </a:t>
            </a:r>
            <a:r>
              <a:rPr lang="en-US" sz="2000" dirty="0"/>
              <a:t>Any commitment that is tax deductible that you have to meet no matter what your operating results: Failure to meet it leads to loss of control of the business.</a:t>
            </a:r>
            <a:endParaRPr lang="en-US" sz="2000" i="1" dirty="0"/>
          </a:p>
          <a:p>
            <a:pPr lvl="1" eaLnBrk="1" hangingPunct="1"/>
            <a:r>
              <a:rPr lang="en-US" sz="2000" i="1" dirty="0"/>
              <a:t>Example: </a:t>
            </a:r>
            <a:r>
              <a:rPr lang="en-US" sz="2000" i="1" dirty="0">
                <a:hlinkClick r:id="rId3"/>
              </a:rPr>
              <a:t>Operating Leases</a:t>
            </a:r>
            <a:r>
              <a:rPr lang="en-US" sz="2000" dirty="0"/>
              <a:t>: While accounting convention treats operating leases as operating expenses, they are really financial expenses and need to be reclassified as such. This has no effect on equity earnings but does change the operating earnings. </a:t>
            </a:r>
            <a:r>
              <a:rPr lang="en-US" sz="2000" i="1" u="sng" dirty="0">
                <a:solidFill>
                  <a:schemeClr val="accent1"/>
                </a:solidFill>
              </a:rPr>
              <a:t>Pension Contributions</a:t>
            </a:r>
            <a:r>
              <a:rPr lang="en-US" sz="2000" dirty="0"/>
              <a:t> are similar.</a:t>
            </a:r>
          </a:p>
          <a:p>
            <a:pPr eaLnBrk="1" hangingPunct="1"/>
            <a:r>
              <a:rPr lang="en-US" dirty="0"/>
              <a:t>Make sure that there are no capital expenses mixed in with the operating expenses</a:t>
            </a:r>
            <a:endParaRPr lang="en-US" i="1" dirty="0"/>
          </a:p>
          <a:p>
            <a:pPr lvl="1" eaLnBrk="1" hangingPunct="1"/>
            <a:r>
              <a:rPr lang="en-US" sz="2000" i="1" dirty="0"/>
              <a:t>Capital expense: </a:t>
            </a:r>
            <a:r>
              <a:rPr lang="en-US" sz="2000" dirty="0"/>
              <a:t>Any expense that is expected to generate benefits over multiple periods.</a:t>
            </a:r>
            <a:endParaRPr lang="en-US" sz="2000" i="1" dirty="0"/>
          </a:p>
          <a:p>
            <a:pPr lvl="1" eaLnBrk="1" hangingPunct="1"/>
            <a:r>
              <a:rPr lang="en-US" sz="2000" i="1" dirty="0"/>
              <a:t>R &amp; D Adjustment</a:t>
            </a:r>
            <a:r>
              <a:rPr lang="en-US" sz="2000" dirty="0"/>
              <a:t>: Since R&amp;D is a capital expenditure (rather than an operating expense), the operating income has to be adjusted to reflect its treatment.</a:t>
            </a:r>
          </a:p>
        </p:txBody>
      </p:sp>
      <p:sp>
        <p:nvSpPr>
          <p:cNvPr id="2" name="Slide Number Placeholder 1"/>
          <p:cNvSpPr>
            <a:spLocks noGrp="1"/>
          </p:cNvSpPr>
          <p:nvPr>
            <p:ph type="sldNum" sz="quarter" idx="11"/>
          </p:nvPr>
        </p:nvSpPr>
        <p:spPr/>
        <p:txBody>
          <a:bodyPr/>
          <a:lstStyle/>
          <a:p>
            <a:pPr>
              <a:defRPr/>
            </a:pPr>
            <a:fld id="{C3168C1A-0F73-4148-A9C6-17783D0D792E}" type="slidenum">
              <a:rPr lang="en-GB" smtClean="0"/>
              <a:pPr>
                <a:defRPr/>
              </a:pPr>
              <a:t>20</a:t>
            </a:fld>
            <a:endParaRPr lang="en-GB"/>
          </a:p>
        </p:txBody>
      </p:sp>
    </p:spTree>
    <p:extLst>
      <p:ext uri="{BB962C8B-B14F-4D97-AF65-F5344CB8AC3E}">
        <p14:creationId xmlns:p14="http://schemas.microsoft.com/office/powerpoint/2010/main" val="9259300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p:txBody>
          <a:bodyPr/>
          <a:lstStyle/>
          <a:p>
            <a:pPr eaLnBrk="1" fontAlgn="auto" hangingPunct="1">
              <a:spcAft>
                <a:spcPts val="0"/>
              </a:spcAft>
              <a:defRPr/>
            </a:pPr>
            <a:r>
              <a:rPr lang="en-US" dirty="0"/>
              <a:t>Dealing with Operating Lease Expenses</a:t>
            </a:r>
          </a:p>
        </p:txBody>
      </p:sp>
      <p:sp>
        <p:nvSpPr>
          <p:cNvPr id="206851" name="Rectangle 3"/>
          <p:cNvSpPr>
            <a:spLocks noGrp="1" noChangeArrowheads="1"/>
          </p:cNvSpPr>
          <p:nvPr>
            <p:ph sz="quarter" idx="1"/>
          </p:nvPr>
        </p:nvSpPr>
        <p:spPr>
          <a:xfrm>
            <a:off x="251520" y="1412776"/>
            <a:ext cx="8280920" cy="5257800"/>
          </a:xfrm>
        </p:spPr>
        <p:txBody>
          <a:bodyPr>
            <a:normAutofit lnSpcReduction="10000"/>
          </a:bodyPr>
          <a:lstStyle/>
          <a:p>
            <a:pPr marL="274320" indent="-274320" eaLnBrk="1" fontAlgn="auto" hangingPunct="1">
              <a:lnSpc>
                <a:spcPct val="90000"/>
              </a:lnSpc>
              <a:spcAft>
                <a:spcPts val="0"/>
              </a:spcAft>
              <a:buFont typeface="Wingdings"/>
              <a:buChar char=""/>
              <a:defRPr/>
            </a:pPr>
            <a:r>
              <a:rPr lang="en-US" b="1" dirty="0"/>
              <a:t>Operating Lease Expenses </a:t>
            </a:r>
            <a:r>
              <a:rPr lang="en-US" dirty="0"/>
              <a:t>are treated as operating expenses in computing operating income. In reality, operating lease expenses should be treated as </a:t>
            </a:r>
            <a:r>
              <a:rPr lang="en-US" b="1" dirty="0"/>
              <a:t>financing expenses</a:t>
            </a:r>
            <a:r>
              <a:rPr lang="en-US" dirty="0"/>
              <a:t>, with the following adjustments to earnings and capital:</a:t>
            </a:r>
          </a:p>
          <a:p>
            <a:pPr marL="274320" indent="-274320" eaLnBrk="1" fontAlgn="auto" hangingPunct="1">
              <a:lnSpc>
                <a:spcPct val="90000"/>
              </a:lnSpc>
              <a:spcAft>
                <a:spcPts val="0"/>
              </a:spcAft>
              <a:buFont typeface="Wingdings"/>
              <a:buChar char=""/>
              <a:defRPr/>
            </a:pPr>
            <a:endParaRPr lang="en-US" dirty="0"/>
          </a:p>
          <a:p>
            <a:pPr marL="274320" indent="-274320" eaLnBrk="1" fontAlgn="auto" hangingPunct="1">
              <a:lnSpc>
                <a:spcPct val="90000"/>
              </a:lnSpc>
              <a:spcAft>
                <a:spcPts val="0"/>
              </a:spcAft>
              <a:buFont typeface="Wingdings"/>
              <a:buChar char=""/>
              <a:defRPr/>
            </a:pPr>
            <a:endParaRPr lang="en-US" dirty="0"/>
          </a:p>
          <a:p>
            <a:pPr marL="274320" indent="-274320" eaLnBrk="1" fontAlgn="auto" hangingPunct="1">
              <a:lnSpc>
                <a:spcPct val="90000"/>
              </a:lnSpc>
              <a:spcAft>
                <a:spcPts val="0"/>
              </a:spcAft>
              <a:buFont typeface="Wingdings"/>
              <a:buChar char=""/>
              <a:defRPr/>
            </a:pPr>
            <a:r>
              <a:rPr lang="en-US" dirty="0"/>
              <a:t>When you convert operating leases into debt, you also create an asset to counter it of exactly the same value.</a:t>
            </a:r>
          </a:p>
          <a:p>
            <a:pPr marL="274320" indent="-274320" eaLnBrk="1" fontAlgn="auto" hangingPunct="1">
              <a:lnSpc>
                <a:spcPct val="90000"/>
              </a:lnSpc>
              <a:spcAft>
                <a:spcPts val="0"/>
              </a:spcAft>
              <a:buFont typeface="Wingdings"/>
              <a:buChar char=""/>
              <a:defRPr/>
            </a:pPr>
            <a:r>
              <a:rPr lang="en-US" dirty="0"/>
              <a:t>Adjusted Operating Earnings</a:t>
            </a:r>
          </a:p>
          <a:p>
            <a:pPr marL="640080" lvl="1" indent="-274320" eaLnBrk="1" fontAlgn="auto" hangingPunct="1">
              <a:lnSpc>
                <a:spcPct val="90000"/>
              </a:lnSpc>
              <a:spcAft>
                <a:spcPts val="0"/>
              </a:spcAft>
              <a:buFont typeface="Wingdings 2"/>
              <a:buChar char=""/>
              <a:defRPr/>
            </a:pPr>
            <a:endParaRPr lang="en-US" dirty="0"/>
          </a:p>
          <a:p>
            <a:pPr marL="640080" lvl="1" indent="-274320" eaLnBrk="1" fontAlgn="auto" hangingPunct="1">
              <a:lnSpc>
                <a:spcPct val="90000"/>
              </a:lnSpc>
              <a:spcAft>
                <a:spcPts val="0"/>
              </a:spcAft>
              <a:buFont typeface="Wingdings 2"/>
              <a:buChar char=""/>
              <a:defRPr/>
            </a:pPr>
            <a:endParaRPr lang="en-US" dirty="0"/>
          </a:p>
          <a:p>
            <a:pPr marL="640080" lvl="1" indent="-274320" eaLnBrk="1" fontAlgn="auto" hangingPunct="1">
              <a:lnSpc>
                <a:spcPct val="90000"/>
              </a:lnSpc>
              <a:spcAft>
                <a:spcPts val="0"/>
              </a:spcAft>
              <a:buFont typeface="Wingdings 2"/>
              <a:buChar char=""/>
              <a:defRPr/>
            </a:pPr>
            <a:endParaRPr lang="en-US" dirty="0"/>
          </a:p>
          <a:p>
            <a:pPr marL="640080" lvl="1" indent="-274320" eaLnBrk="1" fontAlgn="auto" hangingPunct="1">
              <a:lnSpc>
                <a:spcPct val="90000"/>
              </a:lnSpc>
              <a:spcAft>
                <a:spcPts val="0"/>
              </a:spcAft>
              <a:buFont typeface="Wingdings 2"/>
              <a:buChar char=""/>
              <a:defRPr/>
            </a:pPr>
            <a:r>
              <a:rPr lang="en-US" dirty="0"/>
              <a:t>As an approximation, this works:</a:t>
            </a:r>
          </a:p>
          <a:p>
            <a:pPr marL="640080" lvl="1" indent="-274320" eaLnBrk="1" fontAlgn="auto" hangingPunct="1">
              <a:lnSpc>
                <a:spcPct val="90000"/>
              </a:lnSpc>
              <a:spcAft>
                <a:spcPts val="0"/>
              </a:spcAft>
              <a:buFontTx/>
              <a:buNone/>
              <a:defRPr/>
            </a:pPr>
            <a:r>
              <a:rPr lang="en-US" dirty="0"/>
              <a:t>Adjusted Operating Earnings = Operating Earnings + Pre-tax cost of Debt * PV of Operating Leases.</a:t>
            </a:r>
          </a:p>
        </p:txBody>
      </p:sp>
      <p:graphicFrame>
        <p:nvGraphicFramePr>
          <p:cNvPr id="2" name="Object 1"/>
          <p:cNvGraphicFramePr>
            <a:graphicFrameLocks noChangeAspect="1"/>
          </p:cNvGraphicFramePr>
          <p:nvPr/>
        </p:nvGraphicFramePr>
        <p:xfrm>
          <a:off x="1475286" y="3068960"/>
          <a:ext cx="5544986" cy="506090"/>
        </p:xfrm>
        <a:graphic>
          <a:graphicData uri="http://schemas.openxmlformats.org/presentationml/2006/ole">
            <mc:AlternateContent xmlns:mc="http://schemas.openxmlformats.org/markup-compatibility/2006">
              <mc:Choice xmlns:v="urn:schemas-microsoft-com:vml" Requires="v">
                <p:oleObj name="Equation" r:id="rId3" imgW="3200400" imgH="291960" progId="Equation.3">
                  <p:embed/>
                </p:oleObj>
              </mc:Choice>
              <mc:Fallback>
                <p:oleObj name="Equation" r:id="rId3" imgW="3200400" imgH="291960" progId="Equation.3">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5286" y="3068960"/>
                        <a:ext cx="5544986" cy="5060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2"/>
          <p:cNvGraphicFramePr>
            <a:graphicFrameLocks noChangeAspect="1"/>
          </p:cNvGraphicFramePr>
          <p:nvPr/>
        </p:nvGraphicFramePr>
        <p:xfrm>
          <a:off x="611560" y="4941168"/>
          <a:ext cx="7958779" cy="432048"/>
        </p:xfrm>
        <a:graphic>
          <a:graphicData uri="http://schemas.openxmlformats.org/presentationml/2006/ole">
            <mc:AlternateContent xmlns:mc="http://schemas.openxmlformats.org/markup-compatibility/2006">
              <mc:Choice xmlns:v="urn:schemas-microsoft-com:vml" Requires="v">
                <p:oleObj name="Equation" r:id="rId5" imgW="4444920" imgH="241200" progId="Equation.3">
                  <p:embed/>
                </p:oleObj>
              </mc:Choice>
              <mc:Fallback>
                <p:oleObj name="Equation" r:id="rId5" imgW="4444920" imgH="241200" progId="Equation.3">
                  <p:embed/>
                  <p:pic>
                    <p:nvPicPr>
                      <p:cNvPr id="3" name="Object 2"/>
                      <p:cNvPicPr/>
                      <p:nvPr/>
                    </p:nvPicPr>
                    <p:blipFill>
                      <a:blip r:embed="rId6"/>
                      <a:stretch>
                        <a:fillRect/>
                      </a:stretch>
                    </p:blipFill>
                    <p:spPr>
                      <a:xfrm>
                        <a:off x="611560" y="4941168"/>
                        <a:ext cx="7958779" cy="432048"/>
                      </a:xfrm>
                      <a:prstGeom prst="rect">
                        <a:avLst/>
                      </a:prstGeom>
                    </p:spPr>
                  </p:pic>
                </p:oleObj>
              </mc:Fallback>
            </mc:AlternateContent>
          </a:graphicData>
        </a:graphic>
      </p:graphicFrame>
      <p:sp>
        <p:nvSpPr>
          <p:cNvPr id="4" name="Slide Number Placeholder 3"/>
          <p:cNvSpPr>
            <a:spLocks noGrp="1"/>
          </p:cNvSpPr>
          <p:nvPr>
            <p:ph type="sldNum" sz="quarter" idx="11"/>
          </p:nvPr>
        </p:nvSpPr>
        <p:spPr/>
        <p:txBody>
          <a:bodyPr/>
          <a:lstStyle/>
          <a:p>
            <a:pPr>
              <a:defRPr/>
            </a:pPr>
            <a:fld id="{C3168C1A-0F73-4148-A9C6-17783D0D792E}" type="slidenum">
              <a:rPr lang="en-GB" smtClean="0"/>
              <a:pPr>
                <a:defRPr/>
              </a:pPr>
              <a:t>21</a:t>
            </a:fld>
            <a:endParaRPr lang="en-GB"/>
          </a:p>
        </p:txBody>
      </p:sp>
    </p:spTree>
    <p:extLst>
      <p:ext uri="{BB962C8B-B14F-4D97-AF65-F5344CB8AC3E}">
        <p14:creationId xmlns:p14="http://schemas.microsoft.com/office/powerpoint/2010/main" val="4653141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16632"/>
            <a:ext cx="7992888" cy="576064"/>
          </a:xfrm>
        </p:spPr>
        <p:txBody>
          <a:bodyPr>
            <a:normAutofit/>
          </a:bodyPr>
          <a:lstStyle/>
          <a:p>
            <a:r>
              <a:rPr lang="en-GB" dirty="0"/>
              <a:t>Example OL-</a:t>
            </a:r>
            <a:r>
              <a:rPr lang="en-GB" dirty="0" err="1"/>
              <a:t>Easyjet</a:t>
            </a:r>
            <a:endParaRPr lang="en-GB" dirty="0"/>
          </a:p>
        </p:txBody>
      </p:sp>
      <p:sp>
        <p:nvSpPr>
          <p:cNvPr id="3" name="Content Placeholder 2"/>
          <p:cNvSpPr>
            <a:spLocks noGrp="1"/>
          </p:cNvSpPr>
          <p:nvPr>
            <p:ph sz="quarter" idx="1"/>
          </p:nvPr>
        </p:nvSpPr>
        <p:spPr>
          <a:xfrm>
            <a:off x="467544" y="4725144"/>
            <a:ext cx="7467600" cy="1172744"/>
          </a:xfrm>
        </p:spPr>
        <p:txBody>
          <a:bodyPr/>
          <a:lstStyle/>
          <a:p>
            <a:r>
              <a:rPr lang="en-GB" dirty="0"/>
              <a:t>What should be the change in the operating income for </a:t>
            </a:r>
            <a:r>
              <a:rPr lang="en-GB" dirty="0" err="1"/>
              <a:t>Easyjet</a:t>
            </a:r>
            <a:r>
              <a:rPr lang="en-GB" dirty="0"/>
              <a:t>?</a:t>
            </a:r>
          </a:p>
        </p:txBody>
      </p:sp>
      <p:graphicFrame>
        <p:nvGraphicFramePr>
          <p:cNvPr id="5" name="Table 4"/>
          <p:cNvGraphicFramePr>
            <a:graphicFrameLocks noGrp="1"/>
          </p:cNvGraphicFramePr>
          <p:nvPr/>
        </p:nvGraphicFramePr>
        <p:xfrm>
          <a:off x="611561" y="756652"/>
          <a:ext cx="7848870" cy="3680460"/>
        </p:xfrm>
        <a:graphic>
          <a:graphicData uri="http://schemas.openxmlformats.org/drawingml/2006/table">
            <a:tbl>
              <a:tblPr firstRow="1" bandRow="1">
                <a:tableStyleId>{9D7B26C5-4107-4FEC-AEDC-1716B250A1EF}</a:tableStyleId>
              </a:tblPr>
              <a:tblGrid>
                <a:gridCol w="956892">
                  <a:extLst>
                    <a:ext uri="{9D8B030D-6E8A-4147-A177-3AD203B41FA5}">
                      <a16:colId xmlns:a16="http://schemas.microsoft.com/office/drawing/2014/main" val="20000"/>
                    </a:ext>
                  </a:extLst>
                </a:gridCol>
                <a:gridCol w="1659398">
                  <a:extLst>
                    <a:ext uri="{9D8B030D-6E8A-4147-A177-3AD203B41FA5}">
                      <a16:colId xmlns:a16="http://schemas.microsoft.com/office/drawing/2014/main" val="20001"/>
                    </a:ext>
                  </a:extLst>
                </a:gridCol>
                <a:gridCol w="1308145">
                  <a:extLst>
                    <a:ext uri="{9D8B030D-6E8A-4147-A177-3AD203B41FA5}">
                      <a16:colId xmlns:a16="http://schemas.microsoft.com/office/drawing/2014/main" val="20002"/>
                    </a:ext>
                  </a:extLst>
                </a:gridCol>
                <a:gridCol w="1308145">
                  <a:extLst>
                    <a:ext uri="{9D8B030D-6E8A-4147-A177-3AD203B41FA5}">
                      <a16:colId xmlns:a16="http://schemas.microsoft.com/office/drawing/2014/main" val="20003"/>
                    </a:ext>
                  </a:extLst>
                </a:gridCol>
                <a:gridCol w="1308145">
                  <a:extLst>
                    <a:ext uri="{9D8B030D-6E8A-4147-A177-3AD203B41FA5}">
                      <a16:colId xmlns:a16="http://schemas.microsoft.com/office/drawing/2014/main" val="20004"/>
                    </a:ext>
                  </a:extLst>
                </a:gridCol>
                <a:gridCol w="1308145">
                  <a:extLst>
                    <a:ext uri="{9D8B030D-6E8A-4147-A177-3AD203B41FA5}">
                      <a16:colId xmlns:a16="http://schemas.microsoft.com/office/drawing/2014/main" val="20005"/>
                    </a:ext>
                  </a:extLst>
                </a:gridCol>
              </a:tblGrid>
              <a:tr h="511229">
                <a:tc>
                  <a:txBody>
                    <a:bodyPr/>
                    <a:lstStyle/>
                    <a:p>
                      <a:pPr algn="ctr" fontAlgn="b"/>
                      <a:r>
                        <a:rPr lang="en-GB" sz="1800" u="none" strike="noStrike" dirty="0">
                          <a:effectLst/>
                        </a:rPr>
                        <a:t>Year</a:t>
                      </a:r>
                      <a:endParaRPr lang="en-GB" sz="1800" b="0" i="0" u="none" strike="noStrike" dirty="0">
                        <a:solidFill>
                          <a:srgbClr val="000000"/>
                        </a:solidFill>
                        <a:effectLst/>
                        <a:latin typeface="Calibri"/>
                      </a:endParaRPr>
                    </a:p>
                  </a:txBody>
                  <a:tcPr marL="9525" marR="9525" marT="9525" marB="0" anchor="ctr"/>
                </a:tc>
                <a:tc>
                  <a:txBody>
                    <a:bodyPr/>
                    <a:lstStyle/>
                    <a:p>
                      <a:pPr algn="ctr" fontAlgn="b"/>
                      <a:r>
                        <a:rPr lang="en-GB" sz="1800" u="none" strike="noStrike" dirty="0">
                          <a:effectLst/>
                        </a:rPr>
                        <a:t>Maintenance Lease</a:t>
                      </a:r>
                      <a:endParaRPr lang="en-GB" sz="1800" b="0" i="0" u="none" strike="noStrike" dirty="0">
                        <a:solidFill>
                          <a:srgbClr val="000000"/>
                        </a:solidFill>
                        <a:effectLst/>
                        <a:latin typeface="Calibri"/>
                      </a:endParaRPr>
                    </a:p>
                  </a:txBody>
                  <a:tcPr marL="9525" marR="9525" marT="9525" marB="0" anchor="ctr"/>
                </a:tc>
                <a:tc>
                  <a:txBody>
                    <a:bodyPr/>
                    <a:lstStyle/>
                    <a:p>
                      <a:pPr algn="ctr" fontAlgn="b"/>
                      <a:r>
                        <a:rPr lang="en-GB" sz="1800" u="none" strike="noStrike">
                          <a:effectLst/>
                        </a:rPr>
                        <a:t>Finance Lease</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dirty="0">
                          <a:effectLst/>
                        </a:rPr>
                        <a:t>Total OL</a:t>
                      </a:r>
                      <a:endParaRPr lang="en-GB" sz="1800" b="0" i="0" u="none" strike="noStrike" dirty="0">
                        <a:solidFill>
                          <a:srgbClr val="000000"/>
                        </a:solidFill>
                        <a:effectLst/>
                        <a:latin typeface="Calibri"/>
                      </a:endParaRPr>
                    </a:p>
                  </a:txBody>
                  <a:tcPr marL="9525" marR="9525" marT="9525" marB="0" anchor="ctr"/>
                </a:tc>
                <a:tc gridSpan="2">
                  <a:txBody>
                    <a:bodyPr/>
                    <a:lstStyle/>
                    <a:p>
                      <a:pPr algn="ctr" fontAlgn="b"/>
                      <a:r>
                        <a:rPr kumimoji="0" lang="en-GB" sz="1800" b="1" u="none" strike="noStrike" kern="1200" dirty="0">
                          <a:solidFill>
                            <a:schemeClr val="tx1"/>
                          </a:solidFill>
                          <a:effectLst/>
                          <a:latin typeface="+mn-lt"/>
                          <a:ea typeface="+mn-ea"/>
                          <a:cs typeface="+mn-cs"/>
                        </a:rPr>
                        <a:t>Other Figures</a:t>
                      </a:r>
                    </a:p>
                  </a:txBody>
                  <a:tcPr marL="9525" marR="9525" marT="9525" marB="0" anchor="ctr"/>
                </a:tc>
                <a:tc hMerge="1">
                  <a:txBody>
                    <a:bodyPr/>
                    <a:lstStyle/>
                    <a:p>
                      <a:pPr algn="ctr" fontAlgn="b"/>
                      <a:endParaRPr lang="en-GB" sz="1800" b="0" i="0" u="none" strike="noStrike" dirty="0">
                        <a:solidFill>
                          <a:srgbClr val="000000"/>
                        </a:solidFill>
                        <a:effectLst/>
                        <a:latin typeface="Calibri"/>
                      </a:endParaRPr>
                    </a:p>
                  </a:txBody>
                  <a:tcPr marL="9525" marR="9525" marT="9525" marB="0" anchor="ctr"/>
                </a:tc>
                <a:extLst>
                  <a:ext uri="{0D108BD9-81ED-4DB2-BD59-A6C34878D82A}">
                    <a16:rowId xmlns:a16="http://schemas.microsoft.com/office/drawing/2014/main" val="10000"/>
                  </a:ext>
                </a:extLst>
              </a:tr>
              <a:tr h="261195">
                <a:tc>
                  <a:txBody>
                    <a:bodyPr/>
                    <a:lstStyle/>
                    <a:p>
                      <a:pPr algn="ctr" fontAlgn="b"/>
                      <a:r>
                        <a:rPr lang="en-GB" sz="1800" u="none" strike="noStrike">
                          <a:effectLst/>
                        </a:rPr>
                        <a:t>0</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a:effectLst/>
                        </a:rPr>
                        <a:t>212</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a:effectLst/>
                        </a:rPr>
                        <a:t>102</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dirty="0">
                          <a:effectLst/>
                        </a:rPr>
                        <a:t>314</a:t>
                      </a:r>
                      <a:endParaRPr lang="en-GB" sz="1800" b="0" i="0" u="none" strike="noStrike" dirty="0">
                        <a:solidFill>
                          <a:srgbClr val="000000"/>
                        </a:solidFill>
                        <a:effectLst/>
                        <a:latin typeface="Calibri"/>
                      </a:endParaRPr>
                    </a:p>
                  </a:txBody>
                  <a:tcPr marL="9525" marR="9525" marT="9525" marB="0" anchor="ctr"/>
                </a:tc>
                <a:tc>
                  <a:txBody>
                    <a:bodyPr/>
                    <a:lstStyle/>
                    <a:p>
                      <a:pPr algn="ctr" fontAlgn="b"/>
                      <a:r>
                        <a:rPr lang="en-GB" sz="1800" b="0" i="0" u="none" strike="noStrike" dirty="0">
                          <a:solidFill>
                            <a:srgbClr val="000000"/>
                          </a:solidFill>
                          <a:effectLst/>
                          <a:latin typeface="Calibri"/>
                        </a:rPr>
                        <a:t>EBIT</a:t>
                      </a:r>
                    </a:p>
                  </a:txBody>
                  <a:tcPr marL="9525" marR="9525" marT="9525" marB="0" anchor="ctr"/>
                </a:tc>
                <a:tc>
                  <a:txBody>
                    <a:bodyPr/>
                    <a:lstStyle/>
                    <a:p>
                      <a:pPr algn="ctr" fontAlgn="b"/>
                      <a:r>
                        <a:rPr lang="en-GB" sz="1800" b="0" i="0" u="none" strike="noStrike" dirty="0">
                          <a:solidFill>
                            <a:srgbClr val="000000"/>
                          </a:solidFill>
                          <a:effectLst/>
                          <a:latin typeface="Calibri"/>
                        </a:rPr>
                        <a:t>497</a:t>
                      </a:r>
                    </a:p>
                  </a:txBody>
                  <a:tcPr marL="9525" marR="9525" marT="9525" marB="0" anchor="ctr"/>
                </a:tc>
                <a:extLst>
                  <a:ext uri="{0D108BD9-81ED-4DB2-BD59-A6C34878D82A}">
                    <a16:rowId xmlns:a16="http://schemas.microsoft.com/office/drawing/2014/main" val="10001"/>
                  </a:ext>
                </a:extLst>
              </a:tr>
              <a:tr h="261195">
                <a:tc>
                  <a:txBody>
                    <a:bodyPr/>
                    <a:lstStyle/>
                    <a:p>
                      <a:pPr algn="ctr" fontAlgn="b"/>
                      <a:r>
                        <a:rPr lang="en-GB" sz="1800" u="none" strike="noStrike">
                          <a:effectLst/>
                        </a:rPr>
                        <a:t>1</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a:effectLst/>
                        </a:rPr>
                        <a:t>112</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a:effectLst/>
                        </a:rPr>
                        <a:t>14</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dirty="0">
                          <a:effectLst/>
                        </a:rPr>
                        <a:t>126</a:t>
                      </a:r>
                      <a:endParaRPr lang="en-GB" sz="1800" b="0" i="0" u="none" strike="noStrike" dirty="0">
                        <a:solidFill>
                          <a:srgbClr val="000000"/>
                        </a:solidFill>
                        <a:effectLst/>
                        <a:latin typeface="Calibri"/>
                      </a:endParaRPr>
                    </a:p>
                  </a:txBody>
                  <a:tcPr marL="9525" marR="9525" marT="9525" marB="0" anchor="ctr"/>
                </a:tc>
                <a:tc>
                  <a:txBody>
                    <a:bodyPr/>
                    <a:lstStyle/>
                    <a:p>
                      <a:pPr algn="ctr" fontAlgn="b"/>
                      <a:r>
                        <a:rPr lang="en-GB" sz="1800" b="0" i="0" u="none" strike="noStrike" dirty="0">
                          <a:solidFill>
                            <a:srgbClr val="000000"/>
                          </a:solidFill>
                          <a:effectLst/>
                          <a:latin typeface="Calibri"/>
                        </a:rPr>
                        <a:t>Tax</a:t>
                      </a:r>
                    </a:p>
                  </a:txBody>
                  <a:tcPr marL="9525" marR="9525" marT="9525" marB="0" anchor="ctr"/>
                </a:tc>
                <a:tc>
                  <a:txBody>
                    <a:bodyPr/>
                    <a:lstStyle/>
                    <a:p>
                      <a:pPr algn="ctr" fontAlgn="b"/>
                      <a:r>
                        <a:rPr lang="en-GB" sz="1800" b="0" i="0" u="none" strike="noStrike" dirty="0">
                          <a:solidFill>
                            <a:srgbClr val="000000"/>
                          </a:solidFill>
                          <a:effectLst/>
                          <a:latin typeface="Calibri"/>
                        </a:rPr>
                        <a:t>24%</a:t>
                      </a:r>
                    </a:p>
                  </a:txBody>
                  <a:tcPr marL="9525" marR="9525" marT="9525" marB="0" anchor="ctr"/>
                </a:tc>
                <a:extLst>
                  <a:ext uri="{0D108BD9-81ED-4DB2-BD59-A6C34878D82A}">
                    <a16:rowId xmlns:a16="http://schemas.microsoft.com/office/drawing/2014/main" val="10002"/>
                  </a:ext>
                </a:extLst>
              </a:tr>
              <a:tr h="261195">
                <a:tc>
                  <a:txBody>
                    <a:bodyPr/>
                    <a:lstStyle/>
                    <a:p>
                      <a:pPr algn="ctr" fontAlgn="b"/>
                      <a:r>
                        <a:rPr lang="en-GB" sz="1800" u="none" strike="noStrike">
                          <a:effectLst/>
                        </a:rPr>
                        <a:t>2</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a:effectLst/>
                        </a:rPr>
                        <a:t>297</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a:effectLst/>
                        </a:rPr>
                        <a:t>121</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dirty="0">
                          <a:effectLst/>
                        </a:rPr>
                        <a:t>418</a:t>
                      </a:r>
                      <a:endParaRPr lang="en-GB" sz="1800" b="0" i="0" u="none" strike="noStrike" dirty="0">
                        <a:solidFill>
                          <a:srgbClr val="000000"/>
                        </a:solidFill>
                        <a:effectLst/>
                        <a:latin typeface="Calibri"/>
                      </a:endParaRPr>
                    </a:p>
                  </a:txBody>
                  <a:tcPr marL="9525" marR="9525" marT="9525" marB="0" anchor="ctr"/>
                </a:tc>
                <a:tc>
                  <a:txBody>
                    <a:bodyPr/>
                    <a:lstStyle/>
                    <a:p>
                      <a:pPr algn="ctr" fontAlgn="b"/>
                      <a:r>
                        <a:rPr lang="en-GB" sz="1800" b="0" i="0" u="none" strike="noStrike" dirty="0">
                          <a:solidFill>
                            <a:srgbClr val="000000"/>
                          </a:solidFill>
                          <a:effectLst/>
                          <a:latin typeface="Calibri"/>
                        </a:rPr>
                        <a:t>Interest</a:t>
                      </a:r>
                    </a:p>
                  </a:txBody>
                  <a:tcPr marL="9525" marR="9525" marT="9525" marB="0" anchor="ctr"/>
                </a:tc>
                <a:tc>
                  <a:txBody>
                    <a:bodyPr/>
                    <a:lstStyle/>
                    <a:p>
                      <a:pPr algn="ctr" fontAlgn="b"/>
                      <a:r>
                        <a:rPr lang="en-GB" sz="1800" b="0" i="0" u="none" strike="noStrike" dirty="0">
                          <a:solidFill>
                            <a:srgbClr val="000000"/>
                          </a:solidFill>
                          <a:effectLst/>
                          <a:latin typeface="Calibri"/>
                        </a:rPr>
                        <a:t>23.5</a:t>
                      </a:r>
                    </a:p>
                  </a:txBody>
                  <a:tcPr marL="9525" marR="9525" marT="9525" marB="0" anchor="ctr"/>
                </a:tc>
                <a:extLst>
                  <a:ext uri="{0D108BD9-81ED-4DB2-BD59-A6C34878D82A}">
                    <a16:rowId xmlns:a16="http://schemas.microsoft.com/office/drawing/2014/main" val="10003"/>
                  </a:ext>
                </a:extLst>
              </a:tr>
              <a:tr h="261195">
                <a:tc>
                  <a:txBody>
                    <a:bodyPr/>
                    <a:lstStyle/>
                    <a:p>
                      <a:pPr algn="ctr" fontAlgn="b"/>
                      <a:r>
                        <a:rPr lang="en-GB" sz="1800" u="none" strike="noStrike">
                          <a:effectLst/>
                        </a:rPr>
                        <a:t>3</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a:effectLst/>
                        </a:rPr>
                        <a:t>297</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a:effectLst/>
                        </a:rPr>
                        <a:t>121</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a:effectLst/>
                        </a:rPr>
                        <a:t>418</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b="0" i="0" u="none" strike="noStrike" dirty="0">
                          <a:solidFill>
                            <a:srgbClr val="000000"/>
                          </a:solidFill>
                          <a:effectLst/>
                          <a:latin typeface="Calibri"/>
                        </a:rPr>
                        <a:t>Debt</a:t>
                      </a:r>
                    </a:p>
                  </a:txBody>
                  <a:tcPr marL="9525" marR="9525" marT="9525" marB="0" anchor="ctr"/>
                </a:tc>
                <a:tc>
                  <a:txBody>
                    <a:bodyPr/>
                    <a:lstStyle/>
                    <a:p>
                      <a:pPr algn="ctr" fontAlgn="b"/>
                      <a:r>
                        <a:rPr lang="en-GB" sz="1800" b="0" i="0" u="none" strike="noStrike" dirty="0">
                          <a:solidFill>
                            <a:srgbClr val="000000"/>
                          </a:solidFill>
                          <a:effectLst/>
                          <a:latin typeface="Calibri"/>
                        </a:rPr>
                        <a:t>592</a:t>
                      </a:r>
                    </a:p>
                  </a:txBody>
                  <a:tcPr marL="9525" marR="9525" marT="9525" marB="0" anchor="ctr"/>
                </a:tc>
                <a:extLst>
                  <a:ext uri="{0D108BD9-81ED-4DB2-BD59-A6C34878D82A}">
                    <a16:rowId xmlns:a16="http://schemas.microsoft.com/office/drawing/2014/main" val="10004"/>
                  </a:ext>
                </a:extLst>
              </a:tr>
              <a:tr h="261195">
                <a:tc>
                  <a:txBody>
                    <a:bodyPr/>
                    <a:lstStyle/>
                    <a:p>
                      <a:pPr algn="ctr" fontAlgn="b"/>
                      <a:r>
                        <a:rPr lang="en-GB" sz="1800" u="none" strike="noStrike">
                          <a:effectLst/>
                        </a:rPr>
                        <a:t>4</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a:effectLst/>
                        </a:rPr>
                        <a:t>297</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a:effectLst/>
                        </a:rPr>
                        <a:t>121</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dirty="0">
                          <a:effectLst/>
                        </a:rPr>
                        <a:t>418</a:t>
                      </a:r>
                      <a:endParaRPr lang="en-GB" sz="1800" b="0" i="0" u="none" strike="noStrike" dirty="0">
                        <a:solidFill>
                          <a:srgbClr val="000000"/>
                        </a:solidFill>
                        <a:effectLst/>
                        <a:latin typeface="Calibri"/>
                      </a:endParaRPr>
                    </a:p>
                  </a:txBody>
                  <a:tcPr marL="9525" marR="9525" marT="9525" marB="0" anchor="ctr"/>
                </a:tc>
                <a:tc>
                  <a:txBody>
                    <a:bodyPr/>
                    <a:lstStyle/>
                    <a:p>
                      <a:pPr algn="ctr" fontAlgn="b"/>
                      <a:endParaRPr lang="en-GB" sz="1800" b="0" i="0" u="none" strike="noStrike" dirty="0">
                        <a:solidFill>
                          <a:srgbClr val="000000"/>
                        </a:solidFill>
                        <a:effectLst/>
                        <a:latin typeface="Calibri"/>
                      </a:endParaRPr>
                    </a:p>
                  </a:txBody>
                  <a:tcPr marL="9525" marR="9525" marT="9525" marB="0" anchor="ctr"/>
                </a:tc>
                <a:tc>
                  <a:txBody>
                    <a:bodyPr/>
                    <a:lstStyle/>
                    <a:p>
                      <a:pPr algn="ctr" fontAlgn="b"/>
                      <a:endParaRPr lang="en-GB" sz="1800" b="0" i="0" u="none" strike="noStrike" dirty="0">
                        <a:solidFill>
                          <a:srgbClr val="000000"/>
                        </a:solidFill>
                        <a:effectLst/>
                        <a:latin typeface="Calibri"/>
                      </a:endParaRPr>
                    </a:p>
                  </a:txBody>
                  <a:tcPr marL="9525" marR="9525" marT="9525" marB="0" anchor="ctr"/>
                </a:tc>
                <a:extLst>
                  <a:ext uri="{0D108BD9-81ED-4DB2-BD59-A6C34878D82A}">
                    <a16:rowId xmlns:a16="http://schemas.microsoft.com/office/drawing/2014/main" val="10005"/>
                  </a:ext>
                </a:extLst>
              </a:tr>
              <a:tr h="261195">
                <a:tc>
                  <a:txBody>
                    <a:bodyPr/>
                    <a:lstStyle/>
                    <a:p>
                      <a:pPr algn="ctr" fontAlgn="b"/>
                      <a:r>
                        <a:rPr lang="en-GB" sz="1800" u="none" strike="noStrike">
                          <a:effectLst/>
                        </a:rPr>
                        <a:t>5</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a:effectLst/>
                        </a:rPr>
                        <a:t>297</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a:effectLst/>
                        </a:rPr>
                        <a:t>121</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a:effectLst/>
                        </a:rPr>
                        <a:t>418</a:t>
                      </a:r>
                      <a:endParaRPr lang="en-GB" sz="1800" b="0" i="0" u="none" strike="noStrike">
                        <a:solidFill>
                          <a:srgbClr val="000000"/>
                        </a:solidFill>
                        <a:effectLst/>
                        <a:latin typeface="Calibri"/>
                      </a:endParaRPr>
                    </a:p>
                  </a:txBody>
                  <a:tcPr marL="9525" marR="9525" marT="9525" marB="0" anchor="ctr"/>
                </a:tc>
                <a:tc>
                  <a:txBody>
                    <a:bodyPr/>
                    <a:lstStyle/>
                    <a:p>
                      <a:pPr algn="ctr" fontAlgn="b"/>
                      <a:endParaRPr lang="en-GB" sz="1800" b="0" i="0" u="none" strike="noStrike">
                        <a:solidFill>
                          <a:srgbClr val="000000"/>
                        </a:solidFill>
                        <a:effectLst/>
                        <a:latin typeface="Calibri"/>
                      </a:endParaRPr>
                    </a:p>
                  </a:txBody>
                  <a:tcPr marL="9525" marR="9525" marT="9525" marB="0" anchor="ctr"/>
                </a:tc>
                <a:tc>
                  <a:txBody>
                    <a:bodyPr/>
                    <a:lstStyle/>
                    <a:p>
                      <a:pPr algn="ctr" fontAlgn="b"/>
                      <a:endParaRPr lang="en-GB" sz="1800" b="0" i="0" u="none" strike="noStrike">
                        <a:solidFill>
                          <a:srgbClr val="000000"/>
                        </a:solidFill>
                        <a:effectLst/>
                        <a:latin typeface="Calibri"/>
                      </a:endParaRPr>
                    </a:p>
                  </a:txBody>
                  <a:tcPr marL="9525" marR="9525" marT="9525" marB="0" anchor="ctr"/>
                </a:tc>
                <a:extLst>
                  <a:ext uri="{0D108BD9-81ED-4DB2-BD59-A6C34878D82A}">
                    <a16:rowId xmlns:a16="http://schemas.microsoft.com/office/drawing/2014/main" val="10006"/>
                  </a:ext>
                </a:extLst>
              </a:tr>
              <a:tr h="261195">
                <a:tc>
                  <a:txBody>
                    <a:bodyPr/>
                    <a:lstStyle/>
                    <a:p>
                      <a:pPr algn="ctr" fontAlgn="b"/>
                      <a:r>
                        <a:rPr lang="en-GB" sz="1800" u="none" strike="noStrike">
                          <a:effectLst/>
                        </a:rPr>
                        <a:t>6</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a:effectLst/>
                        </a:rPr>
                        <a:t>105</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a:effectLst/>
                        </a:rPr>
                        <a:t>85</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dirty="0">
                          <a:effectLst/>
                        </a:rPr>
                        <a:t>190</a:t>
                      </a:r>
                      <a:endParaRPr lang="en-GB" sz="1800" b="0" i="0" u="none" strike="noStrike" dirty="0">
                        <a:solidFill>
                          <a:srgbClr val="000000"/>
                        </a:solidFill>
                        <a:effectLst/>
                        <a:latin typeface="Calibri"/>
                      </a:endParaRPr>
                    </a:p>
                  </a:txBody>
                  <a:tcPr marL="9525" marR="9525" marT="9525" marB="0" anchor="ctr"/>
                </a:tc>
                <a:tc>
                  <a:txBody>
                    <a:bodyPr/>
                    <a:lstStyle/>
                    <a:p>
                      <a:pPr algn="ctr" fontAlgn="b"/>
                      <a:endParaRPr lang="en-GB" sz="1800" b="0" i="0" u="none" strike="noStrike" dirty="0">
                        <a:solidFill>
                          <a:srgbClr val="000000"/>
                        </a:solidFill>
                        <a:effectLst/>
                        <a:latin typeface="Calibri"/>
                      </a:endParaRPr>
                    </a:p>
                  </a:txBody>
                  <a:tcPr marL="9525" marR="9525" marT="9525" marB="0" anchor="ctr"/>
                </a:tc>
                <a:tc>
                  <a:txBody>
                    <a:bodyPr/>
                    <a:lstStyle/>
                    <a:p>
                      <a:pPr algn="ctr" fontAlgn="b"/>
                      <a:endParaRPr lang="en-GB" sz="1800" b="0" i="0" u="none" strike="noStrike" dirty="0">
                        <a:solidFill>
                          <a:srgbClr val="000000"/>
                        </a:solidFill>
                        <a:effectLst/>
                        <a:latin typeface="Calibri"/>
                      </a:endParaRPr>
                    </a:p>
                  </a:txBody>
                  <a:tcPr marL="9525" marR="9525" marT="9525" marB="0" anchor="ctr"/>
                </a:tc>
                <a:extLst>
                  <a:ext uri="{0D108BD9-81ED-4DB2-BD59-A6C34878D82A}">
                    <a16:rowId xmlns:a16="http://schemas.microsoft.com/office/drawing/2014/main" val="10007"/>
                  </a:ext>
                </a:extLst>
              </a:tr>
              <a:tr h="261195">
                <a:tc>
                  <a:txBody>
                    <a:bodyPr/>
                    <a:lstStyle/>
                    <a:p>
                      <a:pPr algn="ctr" fontAlgn="b"/>
                      <a:r>
                        <a:rPr lang="en-GB" sz="1800" u="none" strike="noStrike">
                          <a:effectLst/>
                        </a:rPr>
                        <a:t>7</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a:effectLst/>
                        </a:rPr>
                        <a:t>105</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a:effectLst/>
                        </a:rPr>
                        <a:t>85</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a:effectLst/>
                        </a:rPr>
                        <a:t>190</a:t>
                      </a:r>
                      <a:endParaRPr lang="en-GB" sz="1800" b="0" i="0" u="none" strike="noStrike">
                        <a:solidFill>
                          <a:srgbClr val="000000"/>
                        </a:solidFill>
                        <a:effectLst/>
                        <a:latin typeface="Calibri"/>
                      </a:endParaRPr>
                    </a:p>
                  </a:txBody>
                  <a:tcPr marL="9525" marR="9525" marT="9525" marB="0" anchor="ctr"/>
                </a:tc>
                <a:tc>
                  <a:txBody>
                    <a:bodyPr/>
                    <a:lstStyle/>
                    <a:p>
                      <a:pPr algn="ctr" fontAlgn="b"/>
                      <a:endParaRPr lang="en-GB" sz="1800" b="0" i="0" u="none" strike="noStrike">
                        <a:solidFill>
                          <a:srgbClr val="000000"/>
                        </a:solidFill>
                        <a:effectLst/>
                        <a:latin typeface="Calibri"/>
                      </a:endParaRPr>
                    </a:p>
                  </a:txBody>
                  <a:tcPr marL="9525" marR="9525" marT="9525" marB="0" anchor="ctr"/>
                </a:tc>
                <a:tc>
                  <a:txBody>
                    <a:bodyPr/>
                    <a:lstStyle/>
                    <a:p>
                      <a:pPr algn="ctr" fontAlgn="b"/>
                      <a:endParaRPr lang="en-GB" sz="1800" b="0" i="0" u="none" strike="noStrike">
                        <a:solidFill>
                          <a:srgbClr val="000000"/>
                        </a:solidFill>
                        <a:effectLst/>
                        <a:latin typeface="Calibri"/>
                      </a:endParaRPr>
                    </a:p>
                  </a:txBody>
                  <a:tcPr marL="9525" marR="9525" marT="9525" marB="0" anchor="ctr"/>
                </a:tc>
                <a:extLst>
                  <a:ext uri="{0D108BD9-81ED-4DB2-BD59-A6C34878D82A}">
                    <a16:rowId xmlns:a16="http://schemas.microsoft.com/office/drawing/2014/main" val="10008"/>
                  </a:ext>
                </a:extLst>
              </a:tr>
              <a:tr h="261195">
                <a:tc>
                  <a:txBody>
                    <a:bodyPr/>
                    <a:lstStyle/>
                    <a:p>
                      <a:pPr algn="ctr" fontAlgn="b"/>
                      <a:r>
                        <a:rPr lang="en-GB" sz="1800" u="none" strike="noStrike">
                          <a:effectLst/>
                        </a:rPr>
                        <a:t>8</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a:effectLst/>
                        </a:rPr>
                        <a:t>105</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a:effectLst/>
                        </a:rPr>
                        <a:t>85</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dirty="0">
                          <a:effectLst/>
                        </a:rPr>
                        <a:t>190</a:t>
                      </a:r>
                      <a:endParaRPr lang="en-GB" sz="1800" b="0" i="0" u="none" strike="noStrike" dirty="0">
                        <a:solidFill>
                          <a:srgbClr val="000000"/>
                        </a:solidFill>
                        <a:effectLst/>
                        <a:latin typeface="Calibri"/>
                      </a:endParaRPr>
                    </a:p>
                  </a:txBody>
                  <a:tcPr marL="9525" marR="9525" marT="9525" marB="0" anchor="ctr"/>
                </a:tc>
                <a:tc>
                  <a:txBody>
                    <a:bodyPr/>
                    <a:lstStyle/>
                    <a:p>
                      <a:pPr algn="ctr" fontAlgn="b"/>
                      <a:endParaRPr lang="en-GB" sz="1800" b="0" i="0" u="none" strike="noStrike" dirty="0">
                        <a:solidFill>
                          <a:srgbClr val="000000"/>
                        </a:solidFill>
                        <a:effectLst/>
                        <a:latin typeface="Calibri"/>
                      </a:endParaRPr>
                    </a:p>
                  </a:txBody>
                  <a:tcPr marL="9525" marR="9525" marT="9525" marB="0" anchor="ctr"/>
                </a:tc>
                <a:tc>
                  <a:txBody>
                    <a:bodyPr/>
                    <a:lstStyle/>
                    <a:p>
                      <a:pPr algn="ctr" fontAlgn="b"/>
                      <a:endParaRPr lang="en-GB" sz="1800" b="0" i="0" u="none" strike="noStrike" dirty="0">
                        <a:solidFill>
                          <a:srgbClr val="000000"/>
                        </a:solidFill>
                        <a:effectLst/>
                        <a:latin typeface="Calibri"/>
                      </a:endParaRPr>
                    </a:p>
                  </a:txBody>
                  <a:tcPr marL="9525" marR="9525" marT="9525" marB="0" anchor="ctr"/>
                </a:tc>
                <a:extLst>
                  <a:ext uri="{0D108BD9-81ED-4DB2-BD59-A6C34878D82A}">
                    <a16:rowId xmlns:a16="http://schemas.microsoft.com/office/drawing/2014/main" val="10009"/>
                  </a:ext>
                </a:extLst>
              </a:tr>
              <a:tr h="261195">
                <a:tc>
                  <a:txBody>
                    <a:bodyPr/>
                    <a:lstStyle/>
                    <a:p>
                      <a:pPr algn="ctr" fontAlgn="b"/>
                      <a:r>
                        <a:rPr lang="en-GB" sz="1800" u="none" strike="noStrike">
                          <a:effectLst/>
                        </a:rPr>
                        <a:t>9</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a:effectLst/>
                        </a:rPr>
                        <a:t>105</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a:effectLst/>
                        </a:rPr>
                        <a:t>85</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dirty="0">
                          <a:effectLst/>
                        </a:rPr>
                        <a:t>190</a:t>
                      </a:r>
                      <a:endParaRPr lang="en-GB" sz="1800" b="0" i="0" u="none" strike="noStrike" dirty="0">
                        <a:solidFill>
                          <a:srgbClr val="000000"/>
                        </a:solidFill>
                        <a:effectLst/>
                        <a:latin typeface="Calibri"/>
                      </a:endParaRPr>
                    </a:p>
                  </a:txBody>
                  <a:tcPr marL="9525" marR="9525" marT="9525" marB="0" anchor="ctr"/>
                </a:tc>
                <a:tc>
                  <a:txBody>
                    <a:bodyPr/>
                    <a:lstStyle/>
                    <a:p>
                      <a:pPr algn="ctr" fontAlgn="b"/>
                      <a:endParaRPr lang="en-GB" sz="1800" b="0" i="0" u="none" strike="noStrike" dirty="0">
                        <a:solidFill>
                          <a:srgbClr val="000000"/>
                        </a:solidFill>
                        <a:effectLst/>
                        <a:latin typeface="Calibri"/>
                      </a:endParaRPr>
                    </a:p>
                  </a:txBody>
                  <a:tcPr marL="9525" marR="9525" marT="9525" marB="0" anchor="ctr"/>
                </a:tc>
                <a:tc>
                  <a:txBody>
                    <a:bodyPr/>
                    <a:lstStyle/>
                    <a:p>
                      <a:pPr algn="ctr" fontAlgn="b"/>
                      <a:endParaRPr lang="en-GB" sz="1800" b="0" i="0" u="none" strike="noStrike" dirty="0">
                        <a:solidFill>
                          <a:srgbClr val="000000"/>
                        </a:solidFill>
                        <a:effectLst/>
                        <a:latin typeface="Calibri"/>
                      </a:endParaRPr>
                    </a:p>
                  </a:txBody>
                  <a:tcPr marL="9525" marR="9525" marT="9525" marB="0" anchor="ctr"/>
                </a:tc>
                <a:extLst>
                  <a:ext uri="{0D108BD9-81ED-4DB2-BD59-A6C34878D82A}">
                    <a16:rowId xmlns:a16="http://schemas.microsoft.com/office/drawing/2014/main" val="10010"/>
                  </a:ext>
                </a:extLst>
              </a:tr>
              <a:tr h="261195">
                <a:tc>
                  <a:txBody>
                    <a:bodyPr/>
                    <a:lstStyle/>
                    <a:p>
                      <a:pPr algn="ctr" fontAlgn="b"/>
                      <a:r>
                        <a:rPr lang="en-GB" sz="1800" u="none" strike="noStrike">
                          <a:effectLst/>
                        </a:rPr>
                        <a:t>10</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dirty="0">
                          <a:effectLst/>
                        </a:rPr>
                        <a:t>105</a:t>
                      </a:r>
                      <a:endParaRPr lang="en-GB" sz="1800" b="0" i="0" u="none" strike="noStrike" dirty="0">
                        <a:solidFill>
                          <a:srgbClr val="000000"/>
                        </a:solidFill>
                        <a:effectLst/>
                        <a:latin typeface="Calibri"/>
                      </a:endParaRPr>
                    </a:p>
                  </a:txBody>
                  <a:tcPr marL="9525" marR="9525" marT="9525" marB="0" anchor="ctr"/>
                </a:tc>
                <a:tc>
                  <a:txBody>
                    <a:bodyPr/>
                    <a:lstStyle/>
                    <a:p>
                      <a:pPr algn="ctr" fontAlgn="b"/>
                      <a:r>
                        <a:rPr lang="en-GB" sz="1800" u="none" strike="noStrike">
                          <a:effectLst/>
                        </a:rPr>
                        <a:t>85</a:t>
                      </a:r>
                      <a:endParaRPr lang="en-GB" sz="1800" b="0" i="0" u="none" strike="noStrike">
                        <a:solidFill>
                          <a:srgbClr val="000000"/>
                        </a:solidFill>
                        <a:effectLst/>
                        <a:latin typeface="Calibri"/>
                      </a:endParaRPr>
                    </a:p>
                  </a:txBody>
                  <a:tcPr marL="9525" marR="9525" marT="9525" marB="0" anchor="ctr"/>
                </a:tc>
                <a:tc>
                  <a:txBody>
                    <a:bodyPr/>
                    <a:lstStyle/>
                    <a:p>
                      <a:pPr algn="ctr" fontAlgn="b"/>
                      <a:r>
                        <a:rPr lang="en-GB" sz="1800" u="none" strike="noStrike" dirty="0">
                          <a:effectLst/>
                        </a:rPr>
                        <a:t>190</a:t>
                      </a:r>
                      <a:endParaRPr lang="en-GB" sz="1800" b="0" i="0" u="none" strike="noStrike" dirty="0">
                        <a:solidFill>
                          <a:srgbClr val="000000"/>
                        </a:solidFill>
                        <a:effectLst/>
                        <a:latin typeface="Calibri"/>
                      </a:endParaRPr>
                    </a:p>
                  </a:txBody>
                  <a:tcPr marL="9525" marR="9525" marT="9525" marB="0" anchor="ctr"/>
                </a:tc>
                <a:tc>
                  <a:txBody>
                    <a:bodyPr/>
                    <a:lstStyle/>
                    <a:p>
                      <a:pPr algn="ctr" fontAlgn="b"/>
                      <a:endParaRPr lang="en-GB" sz="1800" b="0" i="0" u="none" strike="noStrike" dirty="0">
                        <a:solidFill>
                          <a:srgbClr val="000000"/>
                        </a:solidFill>
                        <a:effectLst/>
                        <a:latin typeface="Calibri"/>
                      </a:endParaRPr>
                    </a:p>
                  </a:txBody>
                  <a:tcPr marL="9525" marR="9525" marT="9525" marB="0" anchor="ctr"/>
                </a:tc>
                <a:tc>
                  <a:txBody>
                    <a:bodyPr/>
                    <a:lstStyle/>
                    <a:p>
                      <a:pPr algn="ctr" fontAlgn="b"/>
                      <a:endParaRPr lang="en-GB" sz="1800" b="0" i="0" u="none" strike="noStrike" dirty="0">
                        <a:solidFill>
                          <a:srgbClr val="000000"/>
                        </a:solidFill>
                        <a:effectLst/>
                        <a:latin typeface="Calibri"/>
                      </a:endParaRPr>
                    </a:p>
                  </a:txBody>
                  <a:tcPr marL="9525" marR="9525" marT="9525" marB="0" anchor="ctr"/>
                </a:tc>
                <a:extLst>
                  <a:ext uri="{0D108BD9-81ED-4DB2-BD59-A6C34878D82A}">
                    <a16:rowId xmlns:a16="http://schemas.microsoft.com/office/drawing/2014/main" val="10011"/>
                  </a:ext>
                </a:extLst>
              </a:tr>
            </a:tbl>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3242635413"/>
              </p:ext>
            </p:extLst>
          </p:nvPr>
        </p:nvGraphicFramePr>
        <p:xfrm>
          <a:off x="6228184" y="5589240"/>
          <a:ext cx="1224136" cy="1032865"/>
        </p:xfrm>
        <a:graphic>
          <a:graphicData uri="http://schemas.openxmlformats.org/presentationml/2006/ole">
            <mc:AlternateContent xmlns:mc="http://schemas.openxmlformats.org/markup-compatibility/2006">
              <mc:Choice xmlns:v="urn:schemas-microsoft-com:vml" Requires="v">
                <p:oleObj name="Feuille de calcul" showAsIcon="1" r:id="rId3" imgW="914400" imgH="771480" progId="Excel.Sheet.12">
                  <p:embed/>
                </p:oleObj>
              </mc:Choice>
              <mc:Fallback>
                <p:oleObj name="Feuille de calcul" showAsIcon="1" r:id="rId3" imgW="914400" imgH="771480" progId="Excel.Sheet.12">
                  <p:embed/>
                  <p:pic>
                    <p:nvPicPr>
                      <p:cNvPr id="6" name="Object 5"/>
                      <p:cNvPicPr/>
                      <p:nvPr/>
                    </p:nvPicPr>
                    <p:blipFill>
                      <a:blip r:embed="rId4"/>
                      <a:stretch>
                        <a:fillRect/>
                      </a:stretch>
                    </p:blipFill>
                    <p:spPr>
                      <a:xfrm>
                        <a:off x="6228184" y="5589240"/>
                        <a:ext cx="1224136" cy="1032865"/>
                      </a:xfrm>
                      <a:prstGeom prst="rect">
                        <a:avLst/>
                      </a:prstGeom>
                    </p:spPr>
                  </p:pic>
                </p:oleObj>
              </mc:Fallback>
            </mc:AlternateContent>
          </a:graphicData>
        </a:graphic>
      </p:graphicFrame>
      <p:sp>
        <p:nvSpPr>
          <p:cNvPr id="4" name="Slide Number Placeholder 3"/>
          <p:cNvSpPr>
            <a:spLocks noGrp="1"/>
          </p:cNvSpPr>
          <p:nvPr>
            <p:ph type="sldNum" sz="quarter" idx="11"/>
          </p:nvPr>
        </p:nvSpPr>
        <p:spPr/>
        <p:txBody>
          <a:bodyPr/>
          <a:lstStyle/>
          <a:p>
            <a:pPr>
              <a:defRPr/>
            </a:pPr>
            <a:fld id="{C3168C1A-0F73-4148-A9C6-17783D0D792E}" type="slidenum">
              <a:rPr lang="en-GB" smtClean="0"/>
              <a:pPr>
                <a:defRPr/>
              </a:pPr>
              <a:t>22</a:t>
            </a:fld>
            <a:endParaRPr lang="en-GB"/>
          </a:p>
        </p:txBody>
      </p:sp>
    </p:spTree>
    <p:extLst>
      <p:ext uri="{BB962C8B-B14F-4D97-AF65-F5344CB8AC3E}">
        <p14:creationId xmlns:p14="http://schemas.microsoft.com/office/powerpoint/2010/main" val="9220002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sz="quarter" idx="1"/>
            <p:extLst>
              <p:ext uri="{D42A27DB-BD31-4B8C-83A1-F6EECF244321}">
                <p14:modId xmlns:p14="http://schemas.microsoft.com/office/powerpoint/2010/main" val="3411124953"/>
              </p:ext>
            </p:extLst>
          </p:nvPr>
        </p:nvGraphicFramePr>
        <p:xfrm>
          <a:off x="107504" y="116632"/>
          <a:ext cx="8856984" cy="63571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p:cNvSpPr>
            <a:spLocks noGrp="1"/>
          </p:cNvSpPr>
          <p:nvPr>
            <p:ph type="title"/>
          </p:nvPr>
        </p:nvSpPr>
        <p:spPr>
          <a:xfrm>
            <a:off x="5315237" y="144334"/>
            <a:ext cx="2818656" cy="1872208"/>
          </a:xfrm>
        </p:spPr>
        <p:txBody>
          <a:bodyPr>
            <a:normAutofit fontScale="90000"/>
          </a:bodyPr>
          <a:lstStyle/>
          <a:p>
            <a:r>
              <a:rPr lang="en-GB" b="1" dirty="0"/>
              <a:t>Impact of Off-Balance Sheet Financing</a:t>
            </a:r>
            <a:endParaRPr lang="fr-FR" b="1" dirty="0"/>
          </a:p>
        </p:txBody>
      </p:sp>
      <p:sp>
        <p:nvSpPr>
          <p:cNvPr id="4" name="Slide Number Placeholder 3"/>
          <p:cNvSpPr>
            <a:spLocks noGrp="1"/>
          </p:cNvSpPr>
          <p:nvPr>
            <p:ph type="sldNum" sz="quarter" idx="11"/>
          </p:nvPr>
        </p:nvSpPr>
        <p:spPr/>
        <p:txBody>
          <a:bodyPr/>
          <a:lstStyle/>
          <a:p>
            <a:pPr>
              <a:defRPr/>
            </a:pPr>
            <a:fld id="{C3168C1A-0F73-4148-A9C6-17783D0D792E}" type="slidenum">
              <a:rPr lang="en-GB" smtClean="0"/>
              <a:pPr>
                <a:defRPr/>
              </a:pPr>
              <a:t>23</a:t>
            </a:fld>
            <a:endParaRPr lang="en-GB"/>
          </a:p>
        </p:txBody>
      </p:sp>
    </p:spTree>
    <p:extLst>
      <p:ext uri="{BB962C8B-B14F-4D97-AF65-F5344CB8AC3E}">
        <p14:creationId xmlns:p14="http://schemas.microsoft.com/office/powerpoint/2010/main" val="33197834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Grp="1" noChangeArrowheads="1"/>
          </p:cNvSpPr>
          <p:nvPr>
            <p:ph type="title"/>
          </p:nvPr>
        </p:nvSpPr>
        <p:spPr/>
        <p:txBody>
          <a:bodyPr/>
          <a:lstStyle/>
          <a:p>
            <a:pPr eaLnBrk="1" fontAlgn="auto" hangingPunct="1">
              <a:spcAft>
                <a:spcPts val="0"/>
              </a:spcAft>
              <a:defRPr/>
            </a:pPr>
            <a:r>
              <a:rPr lang="en-US" dirty="0"/>
              <a:t>R&amp;D Expenses: Operating or Capital Expenses</a:t>
            </a:r>
          </a:p>
        </p:txBody>
      </p:sp>
      <p:sp>
        <p:nvSpPr>
          <p:cNvPr id="25603" name="Rectangle 3"/>
          <p:cNvSpPr>
            <a:spLocks noGrp="1" noChangeArrowheads="1"/>
          </p:cNvSpPr>
          <p:nvPr>
            <p:ph sz="quarter" idx="1"/>
          </p:nvPr>
        </p:nvSpPr>
        <p:spPr>
          <a:xfrm>
            <a:off x="251520" y="1600201"/>
            <a:ext cx="8352928" cy="4277071"/>
          </a:xfrm>
        </p:spPr>
        <p:txBody>
          <a:bodyPr/>
          <a:lstStyle/>
          <a:p>
            <a:pPr eaLnBrk="1" hangingPunct="1"/>
            <a:r>
              <a:rPr lang="en-US" sz="2800" dirty="0"/>
              <a:t>Accounting standards require us to consider R&amp;D as an operating expense even though it is designed to generate future growth. It is more logical to treat it as capital expenditures.</a:t>
            </a:r>
          </a:p>
          <a:p>
            <a:pPr eaLnBrk="1" hangingPunct="1"/>
            <a:r>
              <a:rPr lang="en-US" sz="2800" dirty="0"/>
              <a:t>To capitalize R&amp;D,</a:t>
            </a:r>
          </a:p>
          <a:p>
            <a:pPr marL="823913" lvl="1" indent="-457200" eaLnBrk="1" hangingPunct="1">
              <a:buFont typeface="+mj-lt"/>
              <a:buAutoNum type="alphaLcPeriod"/>
            </a:pPr>
            <a:r>
              <a:rPr lang="en-US" sz="2400" b="1" dirty="0"/>
              <a:t>Specify an amortizable life </a:t>
            </a:r>
            <a:r>
              <a:rPr lang="en-US" sz="2400" dirty="0"/>
              <a:t>for R&amp;D (2 - 10 years)</a:t>
            </a:r>
          </a:p>
          <a:p>
            <a:pPr marL="823913" lvl="1" indent="-457200" eaLnBrk="1" hangingPunct="1">
              <a:buFont typeface="+mj-lt"/>
              <a:buAutoNum type="alphaLcPeriod"/>
            </a:pPr>
            <a:r>
              <a:rPr lang="en-US" sz="2400" b="1" dirty="0"/>
              <a:t>Collect past R&amp;D expenses </a:t>
            </a:r>
            <a:r>
              <a:rPr lang="en-US" sz="2400" dirty="0"/>
              <a:t>for as long as the amortizable life</a:t>
            </a:r>
          </a:p>
          <a:p>
            <a:pPr marL="823913" lvl="1" indent="-457200" eaLnBrk="1" hangingPunct="1">
              <a:buFont typeface="+mj-lt"/>
              <a:buAutoNum type="alphaLcPeriod"/>
            </a:pPr>
            <a:r>
              <a:rPr lang="en-US" sz="2400" dirty="0"/>
              <a:t>Sum up the </a:t>
            </a:r>
            <a:r>
              <a:rPr lang="en-US" sz="2400" b="1" dirty="0"/>
              <a:t>unamortized R&amp;D </a:t>
            </a:r>
            <a:r>
              <a:rPr lang="en-US" sz="2400" dirty="0"/>
              <a:t>over the period.</a:t>
            </a:r>
          </a:p>
        </p:txBody>
      </p:sp>
      <p:graphicFrame>
        <p:nvGraphicFramePr>
          <p:cNvPr id="2" name="Object 1"/>
          <p:cNvGraphicFramePr>
            <a:graphicFrameLocks noChangeAspect="1"/>
          </p:cNvGraphicFramePr>
          <p:nvPr/>
        </p:nvGraphicFramePr>
        <p:xfrm>
          <a:off x="558800" y="6127452"/>
          <a:ext cx="7161213" cy="469900"/>
        </p:xfrm>
        <a:graphic>
          <a:graphicData uri="http://schemas.openxmlformats.org/presentationml/2006/ole">
            <mc:AlternateContent xmlns:mc="http://schemas.openxmlformats.org/markup-compatibility/2006">
              <mc:Choice xmlns:v="urn:schemas-microsoft-com:vml" Requires="v">
                <p:oleObj name="Equation" r:id="rId3" imgW="3098800" imgH="203200" progId="Equation.3">
                  <p:embed/>
                </p:oleObj>
              </mc:Choice>
              <mc:Fallback>
                <p:oleObj name="Equation" r:id="rId3" imgW="3098800" imgH="203200" progId="Equation.3">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800" y="6127452"/>
                        <a:ext cx="7161213"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Slide Number Placeholder 2"/>
          <p:cNvSpPr>
            <a:spLocks noGrp="1"/>
          </p:cNvSpPr>
          <p:nvPr>
            <p:ph type="sldNum" sz="quarter" idx="11"/>
          </p:nvPr>
        </p:nvSpPr>
        <p:spPr/>
        <p:txBody>
          <a:bodyPr/>
          <a:lstStyle/>
          <a:p>
            <a:pPr>
              <a:defRPr/>
            </a:pPr>
            <a:fld id="{C3168C1A-0F73-4148-A9C6-17783D0D792E}" type="slidenum">
              <a:rPr lang="en-GB" smtClean="0"/>
              <a:pPr>
                <a:defRPr/>
              </a:pPr>
              <a:t>24</a:t>
            </a:fld>
            <a:endParaRPr lang="en-GB"/>
          </a:p>
        </p:txBody>
      </p:sp>
    </p:spTree>
    <p:extLst>
      <p:ext uri="{BB962C8B-B14F-4D97-AF65-F5344CB8AC3E}">
        <p14:creationId xmlns:p14="http://schemas.microsoft.com/office/powerpoint/2010/main" val="10535248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sz="quarter" idx="1"/>
            <p:extLst>
              <p:ext uri="{D42A27DB-BD31-4B8C-83A1-F6EECF244321}">
                <p14:modId xmlns:p14="http://schemas.microsoft.com/office/powerpoint/2010/main" val="1076026085"/>
              </p:ext>
            </p:extLst>
          </p:nvPr>
        </p:nvGraphicFramePr>
        <p:xfrm>
          <a:off x="107504" y="116632"/>
          <a:ext cx="8856984" cy="63571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p:cNvSpPr>
            <a:spLocks noGrp="1"/>
          </p:cNvSpPr>
          <p:nvPr>
            <p:ph type="title"/>
          </p:nvPr>
        </p:nvSpPr>
        <p:spPr>
          <a:xfrm>
            <a:off x="4283968" y="144334"/>
            <a:ext cx="4455220" cy="1052418"/>
          </a:xfrm>
        </p:spPr>
        <p:txBody>
          <a:bodyPr>
            <a:normAutofit fontScale="90000"/>
          </a:bodyPr>
          <a:lstStyle/>
          <a:p>
            <a:r>
              <a:rPr lang="en-GB" b="1" dirty="0"/>
              <a:t>Impact of Off-Balance Sheet Investments</a:t>
            </a:r>
            <a:endParaRPr lang="fr-FR" b="1" dirty="0"/>
          </a:p>
        </p:txBody>
      </p:sp>
      <p:sp>
        <p:nvSpPr>
          <p:cNvPr id="4" name="Slide Number Placeholder 3"/>
          <p:cNvSpPr>
            <a:spLocks noGrp="1"/>
          </p:cNvSpPr>
          <p:nvPr>
            <p:ph type="sldNum" sz="quarter" idx="11"/>
          </p:nvPr>
        </p:nvSpPr>
        <p:spPr/>
        <p:txBody>
          <a:bodyPr/>
          <a:lstStyle/>
          <a:p>
            <a:pPr>
              <a:defRPr/>
            </a:pPr>
            <a:fld id="{C3168C1A-0F73-4148-A9C6-17783D0D792E}" type="slidenum">
              <a:rPr lang="en-GB" smtClean="0"/>
              <a:pPr>
                <a:defRPr/>
              </a:pPr>
              <a:t>25</a:t>
            </a:fld>
            <a:endParaRPr lang="en-GB"/>
          </a:p>
        </p:txBody>
      </p:sp>
    </p:spTree>
    <p:extLst>
      <p:ext uri="{BB962C8B-B14F-4D97-AF65-F5344CB8AC3E}">
        <p14:creationId xmlns:p14="http://schemas.microsoft.com/office/powerpoint/2010/main" val="42731446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extLst>
              <p:ext uri="{D42A27DB-BD31-4B8C-83A1-F6EECF244321}">
                <p14:modId xmlns:p14="http://schemas.microsoft.com/office/powerpoint/2010/main" val="2393650088"/>
              </p:ext>
            </p:extLst>
          </p:nvPr>
        </p:nvGraphicFramePr>
        <p:xfrm>
          <a:off x="251520" y="188640"/>
          <a:ext cx="8424936" cy="59766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1"/>
          <p:cNvSpPr>
            <a:spLocks noGrp="1"/>
          </p:cNvSpPr>
          <p:nvPr>
            <p:ph type="sldNum" sz="quarter" idx="11"/>
          </p:nvPr>
        </p:nvSpPr>
        <p:spPr/>
        <p:txBody>
          <a:bodyPr/>
          <a:lstStyle/>
          <a:p>
            <a:pPr>
              <a:defRPr/>
            </a:pPr>
            <a:fld id="{C3168C1A-0F73-4148-A9C6-17783D0D792E}" type="slidenum">
              <a:rPr lang="en-GB" smtClean="0"/>
              <a:pPr>
                <a:defRPr/>
              </a:pPr>
              <a:t>26</a:t>
            </a:fld>
            <a:endParaRPr lang="en-GB"/>
          </a:p>
        </p:txBody>
      </p:sp>
    </p:spTree>
    <p:extLst>
      <p:ext uri="{BB962C8B-B14F-4D97-AF65-F5344CB8AC3E}">
        <p14:creationId xmlns:p14="http://schemas.microsoft.com/office/powerpoint/2010/main" val="26432832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a:xfrm>
            <a:off x="457200" y="274638"/>
            <a:ext cx="7467600" cy="1066130"/>
          </a:xfrm>
        </p:spPr>
        <p:txBody>
          <a:bodyPr>
            <a:noAutofit/>
          </a:bodyPr>
          <a:lstStyle/>
          <a:p>
            <a:pPr algn="ctr" eaLnBrk="1" fontAlgn="auto" hangingPunct="1">
              <a:spcAft>
                <a:spcPts val="0"/>
              </a:spcAft>
              <a:defRPr/>
            </a:pPr>
            <a:r>
              <a:rPr lang="en-US" sz="3600" b="1" dirty="0"/>
              <a:t>A. </a:t>
            </a:r>
            <a:br>
              <a:rPr lang="en-US" sz="3600" b="1" dirty="0"/>
            </a:br>
            <a:r>
              <a:rPr lang="en-US" sz="3600" b="1" dirty="0"/>
              <a:t>TAX</a:t>
            </a:r>
          </a:p>
        </p:txBody>
      </p:sp>
      <p:sp>
        <p:nvSpPr>
          <p:cNvPr id="19459" name="Rectangle 3"/>
          <p:cNvSpPr>
            <a:spLocks noGrp="1" noChangeArrowheads="1"/>
          </p:cNvSpPr>
          <p:nvPr>
            <p:ph sz="quarter" idx="1"/>
          </p:nvPr>
        </p:nvSpPr>
        <p:spPr>
          <a:xfrm>
            <a:off x="457200" y="1600200"/>
            <a:ext cx="7467600" cy="4873625"/>
          </a:xfrm>
        </p:spPr>
        <p:txBody>
          <a:bodyPr/>
          <a:lstStyle/>
          <a:p>
            <a:pPr eaLnBrk="1" hangingPunct="1">
              <a:buFont typeface="Monotype Sorts" charset="2"/>
              <a:buNone/>
            </a:pPr>
            <a:r>
              <a:rPr lang="en-US"/>
              <a:t>EBIT  ( 1 - tax rate)</a:t>
            </a:r>
          </a:p>
          <a:p>
            <a:pPr eaLnBrk="1" hangingPunct="1">
              <a:buFont typeface="Monotype Sorts" charset="2"/>
              <a:buNone/>
            </a:pPr>
            <a:r>
              <a:rPr lang="en-US"/>
              <a:t>	- (Capital Expenditures - Depreciation)</a:t>
            </a:r>
          </a:p>
          <a:p>
            <a:pPr eaLnBrk="1" hangingPunct="1">
              <a:buFont typeface="Monotype Sorts" charset="2"/>
              <a:buNone/>
            </a:pPr>
            <a:r>
              <a:rPr lang="en-US"/>
              <a:t>	-  Change in Working Capital</a:t>
            </a:r>
          </a:p>
          <a:p>
            <a:pPr eaLnBrk="1" hangingPunct="1">
              <a:buFont typeface="Monotype Sorts" charset="2"/>
              <a:buNone/>
            </a:pPr>
            <a:r>
              <a:rPr lang="en-US"/>
              <a:t>	= Cash flow to the firm</a:t>
            </a:r>
          </a:p>
          <a:p>
            <a:pPr eaLnBrk="1" hangingPunct="1"/>
            <a:r>
              <a:rPr lang="en-US"/>
              <a:t>Where are the tax savings from interest payments in this cash flow?</a:t>
            </a:r>
          </a:p>
        </p:txBody>
      </p:sp>
      <p:sp>
        <p:nvSpPr>
          <p:cNvPr id="2" name="Slide Number Placeholder 1"/>
          <p:cNvSpPr>
            <a:spLocks noGrp="1"/>
          </p:cNvSpPr>
          <p:nvPr>
            <p:ph type="sldNum" sz="quarter" idx="11"/>
          </p:nvPr>
        </p:nvSpPr>
        <p:spPr/>
        <p:txBody>
          <a:bodyPr/>
          <a:lstStyle/>
          <a:p>
            <a:pPr>
              <a:defRPr/>
            </a:pPr>
            <a:fld id="{C3168C1A-0F73-4148-A9C6-17783D0D792E}" type="slidenum">
              <a:rPr lang="en-GB" smtClean="0"/>
              <a:pPr>
                <a:defRPr/>
              </a:pPr>
              <a:t>27</a:t>
            </a:fld>
            <a:endParaRPr lang="en-GB"/>
          </a:p>
        </p:txBody>
      </p:sp>
      <p:sp>
        <p:nvSpPr>
          <p:cNvPr id="3" name="Rectangle: Rounded Corners 2">
            <a:extLst>
              <a:ext uri="{FF2B5EF4-FFF2-40B4-BE49-F238E27FC236}">
                <a16:creationId xmlns:a16="http://schemas.microsoft.com/office/drawing/2014/main" id="{FCB1C900-D0D1-9DB9-F802-19E0F4D87672}"/>
              </a:ext>
            </a:extLst>
          </p:cNvPr>
          <p:cNvSpPr/>
          <p:nvPr/>
        </p:nvSpPr>
        <p:spPr>
          <a:xfrm>
            <a:off x="755576" y="4725144"/>
            <a:ext cx="6912768" cy="16561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400" b="1" dirty="0">
                <a:latin typeface="Kermit Thin Condensed" panose="020F0502020204030204" pitchFamily="34" charset="0"/>
              </a:rPr>
              <a:t>In the discount rate!</a:t>
            </a:r>
          </a:p>
          <a:p>
            <a:pPr algn="ctr"/>
            <a:r>
              <a:rPr lang="en-GB" sz="4400" b="1" dirty="0">
                <a:latin typeface="Kermit Thin Condensed" panose="020F0502020204030204" pitchFamily="34" charset="0"/>
              </a:rPr>
              <a:t>!!!Otherwise the cancel out!!!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CBBB5-582D-A766-8667-D3EC23A6B07E}"/>
              </a:ext>
            </a:extLst>
          </p:cNvPr>
          <p:cNvSpPr>
            <a:spLocks noGrp="1"/>
          </p:cNvSpPr>
          <p:nvPr>
            <p:ph type="title"/>
          </p:nvPr>
        </p:nvSpPr>
        <p:spPr/>
        <p:txBody>
          <a:bodyPr/>
          <a:lstStyle/>
          <a:p>
            <a:r>
              <a:rPr lang="en-GB" dirty="0"/>
              <a:t>What Tax Rate? Choose Wisely</a:t>
            </a:r>
          </a:p>
        </p:txBody>
      </p:sp>
      <p:graphicFrame>
        <p:nvGraphicFramePr>
          <p:cNvPr id="5" name="Content Placeholder 4">
            <a:extLst>
              <a:ext uri="{FF2B5EF4-FFF2-40B4-BE49-F238E27FC236}">
                <a16:creationId xmlns:a16="http://schemas.microsoft.com/office/drawing/2014/main" id="{F70E09FC-D63B-A8C9-2509-B5B12E72653E}"/>
              </a:ext>
            </a:extLst>
          </p:cNvPr>
          <p:cNvGraphicFramePr>
            <a:graphicFrameLocks noGrp="1"/>
          </p:cNvGraphicFramePr>
          <p:nvPr>
            <p:ph sz="quarter" idx="1"/>
            <p:extLst>
              <p:ext uri="{D42A27DB-BD31-4B8C-83A1-F6EECF244321}">
                <p14:modId xmlns:p14="http://schemas.microsoft.com/office/powerpoint/2010/main" val="3518440692"/>
              </p:ext>
            </p:extLst>
          </p:nvPr>
        </p:nvGraphicFramePr>
        <p:xfrm>
          <a:off x="0" y="1600200"/>
          <a:ext cx="8676456" cy="5141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3BC6A09D-039C-2443-7675-06CED2AE6669}"/>
              </a:ext>
            </a:extLst>
          </p:cNvPr>
          <p:cNvSpPr>
            <a:spLocks noGrp="1"/>
          </p:cNvSpPr>
          <p:nvPr>
            <p:ph type="sldNum" sz="quarter" idx="11"/>
          </p:nvPr>
        </p:nvSpPr>
        <p:spPr/>
        <p:txBody>
          <a:bodyPr/>
          <a:lstStyle/>
          <a:p>
            <a:pPr>
              <a:defRPr/>
            </a:pPr>
            <a:fld id="{C3168C1A-0F73-4148-A9C6-17783D0D792E}" type="slidenum">
              <a:rPr lang="en-GB" smtClean="0"/>
              <a:pPr>
                <a:defRPr/>
              </a:pPr>
              <a:t>28</a:t>
            </a:fld>
            <a:endParaRPr lang="en-GB"/>
          </a:p>
        </p:txBody>
      </p:sp>
    </p:spTree>
    <p:extLst>
      <p:ext uri="{BB962C8B-B14F-4D97-AF65-F5344CB8AC3E}">
        <p14:creationId xmlns:p14="http://schemas.microsoft.com/office/powerpoint/2010/main" val="30219834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7467600" cy="562074"/>
          </a:xfrm>
        </p:spPr>
        <p:txBody>
          <a:bodyPr/>
          <a:lstStyle/>
          <a:p>
            <a:r>
              <a:rPr lang="en-GB" dirty="0" err="1"/>
              <a:t>Easyjet</a:t>
            </a:r>
            <a:r>
              <a:rPr lang="en-GB" dirty="0"/>
              <a:t> Tax rate </a:t>
            </a:r>
          </a:p>
        </p:txBody>
      </p:sp>
      <p:sp>
        <p:nvSpPr>
          <p:cNvPr id="3" name="Content Placeholder 2"/>
          <p:cNvSpPr>
            <a:spLocks noGrp="1"/>
          </p:cNvSpPr>
          <p:nvPr>
            <p:ph sz="quarter" idx="1"/>
          </p:nvPr>
        </p:nvSpPr>
        <p:spPr>
          <a:xfrm>
            <a:off x="251520" y="692696"/>
            <a:ext cx="8424936" cy="2016224"/>
          </a:xfrm>
        </p:spPr>
        <p:txBody>
          <a:bodyPr/>
          <a:lstStyle/>
          <a:p>
            <a:pPr marL="0" indent="0" algn="ctr">
              <a:buNone/>
            </a:pPr>
            <a:r>
              <a:rPr lang="en-GB" sz="2000" i="1" dirty="0"/>
              <a:t>“The signiﬁcant majority of proﬁts are subject to UK corporation tax at 23.5%; the remainder being subject to Swiss corporate tax at 24.1%. The lower effective tax rate of 17% is a consequence of legislation being enacted in the year reducing the UK corporation tax rate to 20% from 1 April 2015, which resulted in a reduction of the deferred tax element of the tax liability.”</a:t>
            </a:r>
          </a:p>
          <a:p>
            <a:pPr marL="0" indent="0" algn="ctr">
              <a:buNone/>
            </a:pPr>
            <a:endParaRPr lang="en-GB" sz="2000" i="1" dirty="0"/>
          </a:p>
        </p:txBody>
      </p:sp>
      <p:graphicFrame>
        <p:nvGraphicFramePr>
          <p:cNvPr id="5" name="Table 4"/>
          <p:cNvGraphicFramePr>
            <a:graphicFrameLocks noGrp="1"/>
          </p:cNvGraphicFramePr>
          <p:nvPr>
            <p:extLst>
              <p:ext uri="{D42A27DB-BD31-4B8C-83A1-F6EECF244321}">
                <p14:modId xmlns:p14="http://schemas.microsoft.com/office/powerpoint/2010/main" val="1697947573"/>
              </p:ext>
            </p:extLst>
          </p:nvPr>
        </p:nvGraphicFramePr>
        <p:xfrm>
          <a:off x="611560" y="2688337"/>
          <a:ext cx="7848871" cy="668655"/>
        </p:xfrm>
        <a:graphic>
          <a:graphicData uri="http://schemas.openxmlformats.org/drawingml/2006/table">
            <a:tbl>
              <a:tblPr>
                <a:tableStyleId>{5C22544A-7EE6-4342-B048-85BDC9FD1C3A}</a:tableStyleId>
              </a:tblPr>
              <a:tblGrid>
                <a:gridCol w="2610496">
                  <a:extLst>
                    <a:ext uri="{9D8B030D-6E8A-4147-A177-3AD203B41FA5}">
                      <a16:colId xmlns:a16="http://schemas.microsoft.com/office/drawing/2014/main" val="20000"/>
                    </a:ext>
                  </a:extLst>
                </a:gridCol>
                <a:gridCol w="1047675">
                  <a:extLst>
                    <a:ext uri="{9D8B030D-6E8A-4147-A177-3AD203B41FA5}">
                      <a16:colId xmlns:a16="http://schemas.microsoft.com/office/drawing/2014/main" val="20001"/>
                    </a:ext>
                  </a:extLst>
                </a:gridCol>
                <a:gridCol w="1047675">
                  <a:extLst>
                    <a:ext uri="{9D8B030D-6E8A-4147-A177-3AD203B41FA5}">
                      <a16:colId xmlns:a16="http://schemas.microsoft.com/office/drawing/2014/main" val="20002"/>
                    </a:ext>
                  </a:extLst>
                </a:gridCol>
                <a:gridCol w="1047675">
                  <a:extLst>
                    <a:ext uri="{9D8B030D-6E8A-4147-A177-3AD203B41FA5}">
                      <a16:colId xmlns:a16="http://schemas.microsoft.com/office/drawing/2014/main" val="20003"/>
                    </a:ext>
                  </a:extLst>
                </a:gridCol>
                <a:gridCol w="1047675">
                  <a:extLst>
                    <a:ext uri="{9D8B030D-6E8A-4147-A177-3AD203B41FA5}">
                      <a16:colId xmlns:a16="http://schemas.microsoft.com/office/drawing/2014/main" val="20004"/>
                    </a:ext>
                  </a:extLst>
                </a:gridCol>
                <a:gridCol w="1047675">
                  <a:extLst>
                    <a:ext uri="{9D8B030D-6E8A-4147-A177-3AD203B41FA5}">
                      <a16:colId xmlns:a16="http://schemas.microsoft.com/office/drawing/2014/main" val="20005"/>
                    </a:ext>
                  </a:extLst>
                </a:gridCol>
              </a:tblGrid>
              <a:tr h="190500">
                <a:tc>
                  <a:txBody>
                    <a:bodyPr/>
                    <a:lstStyle/>
                    <a:p>
                      <a:pPr algn="ctr" fontAlgn="ctr"/>
                      <a:r>
                        <a:rPr lang="en-GB" sz="1400" u="none" strike="noStrike" dirty="0">
                          <a:effectLst/>
                        </a:rPr>
                        <a:t>Rate</a:t>
                      </a:r>
                      <a:endParaRPr lang="en-GB" sz="1400" b="0" i="0" u="none" strike="noStrike" dirty="0">
                        <a:solidFill>
                          <a:srgbClr val="000000"/>
                        </a:solidFill>
                        <a:effectLst/>
                        <a:latin typeface="Calibri"/>
                      </a:endParaRPr>
                    </a:p>
                  </a:txBody>
                  <a:tcPr marL="9525" marR="9525" marT="9525" marB="0" anchor="ctr"/>
                </a:tc>
                <a:tc>
                  <a:txBody>
                    <a:bodyPr/>
                    <a:lstStyle/>
                    <a:p>
                      <a:pPr algn="ctr" fontAlgn="ctr"/>
                      <a:r>
                        <a:rPr lang="en-GB" sz="1400" u="none" strike="noStrike" dirty="0">
                          <a:effectLst/>
                        </a:rPr>
                        <a:t>2011</a:t>
                      </a:r>
                      <a:endParaRPr lang="en-GB" sz="1400" b="0" i="0" u="none" strike="noStrike" dirty="0">
                        <a:solidFill>
                          <a:srgbClr val="000000"/>
                        </a:solidFill>
                        <a:effectLst/>
                        <a:latin typeface="Calibri"/>
                      </a:endParaRPr>
                    </a:p>
                  </a:txBody>
                  <a:tcPr marL="9525" marR="9525" marT="9525" marB="0" anchor="ctr"/>
                </a:tc>
                <a:tc>
                  <a:txBody>
                    <a:bodyPr/>
                    <a:lstStyle/>
                    <a:p>
                      <a:pPr algn="ctr" fontAlgn="ctr"/>
                      <a:r>
                        <a:rPr lang="en-GB" sz="1400" u="none" strike="noStrike" dirty="0">
                          <a:effectLst/>
                        </a:rPr>
                        <a:t>2012</a:t>
                      </a:r>
                      <a:endParaRPr lang="en-GB" sz="1400" b="0" i="0" u="none" strike="noStrike" dirty="0">
                        <a:solidFill>
                          <a:srgbClr val="000000"/>
                        </a:solidFill>
                        <a:effectLst/>
                        <a:latin typeface="Calibri"/>
                      </a:endParaRPr>
                    </a:p>
                  </a:txBody>
                  <a:tcPr marL="9525" marR="9525" marT="9525" marB="0" anchor="ctr"/>
                </a:tc>
                <a:tc>
                  <a:txBody>
                    <a:bodyPr/>
                    <a:lstStyle/>
                    <a:p>
                      <a:pPr algn="ctr" fontAlgn="ctr"/>
                      <a:r>
                        <a:rPr lang="en-GB" sz="1400" u="none" strike="noStrike">
                          <a:effectLst/>
                        </a:rPr>
                        <a:t>2013</a:t>
                      </a:r>
                      <a:endParaRPr lang="en-GB" sz="1400" b="0" i="0" u="none" strike="noStrike">
                        <a:solidFill>
                          <a:srgbClr val="000000"/>
                        </a:solidFill>
                        <a:effectLst/>
                        <a:latin typeface="Calibri"/>
                      </a:endParaRPr>
                    </a:p>
                  </a:txBody>
                  <a:tcPr marL="9525" marR="9525" marT="9525" marB="0" anchor="ctr"/>
                </a:tc>
                <a:tc>
                  <a:txBody>
                    <a:bodyPr/>
                    <a:lstStyle/>
                    <a:p>
                      <a:pPr algn="ctr" fontAlgn="ctr"/>
                      <a:r>
                        <a:rPr lang="en-GB" sz="1400" u="none" strike="noStrike">
                          <a:effectLst/>
                        </a:rPr>
                        <a:t>2014</a:t>
                      </a:r>
                      <a:endParaRPr lang="en-GB" sz="1400" b="0" i="0" u="none" strike="noStrike">
                        <a:solidFill>
                          <a:srgbClr val="000000"/>
                        </a:solidFill>
                        <a:effectLst/>
                        <a:latin typeface="Calibri"/>
                      </a:endParaRPr>
                    </a:p>
                  </a:txBody>
                  <a:tcPr marL="9525" marR="9525" marT="9525" marB="0" anchor="ctr"/>
                </a:tc>
                <a:tc>
                  <a:txBody>
                    <a:bodyPr/>
                    <a:lstStyle/>
                    <a:p>
                      <a:pPr algn="ctr" fontAlgn="ctr"/>
                      <a:r>
                        <a:rPr lang="en-GB" sz="1400" u="none" strike="noStrike">
                          <a:effectLst/>
                        </a:rPr>
                        <a:t>2015</a:t>
                      </a:r>
                      <a:endParaRPr lang="en-GB" sz="1400" b="0" i="0" u="none" strike="noStrike">
                        <a:solidFill>
                          <a:srgbClr val="000000"/>
                        </a:solidFill>
                        <a:effectLst/>
                        <a:latin typeface="Calibri"/>
                      </a:endParaRPr>
                    </a:p>
                  </a:txBody>
                  <a:tcPr marL="9525" marR="9525" marT="9525" marB="0" anchor="ctr"/>
                </a:tc>
                <a:extLst>
                  <a:ext uri="{0D108BD9-81ED-4DB2-BD59-A6C34878D82A}">
                    <a16:rowId xmlns:a16="http://schemas.microsoft.com/office/drawing/2014/main" val="10000"/>
                  </a:ext>
                </a:extLst>
              </a:tr>
              <a:tr h="190500">
                <a:tc>
                  <a:txBody>
                    <a:bodyPr/>
                    <a:lstStyle/>
                    <a:p>
                      <a:pPr algn="ctr" fontAlgn="ctr"/>
                      <a:r>
                        <a:rPr lang="en-GB" sz="1400" u="none" strike="noStrike">
                          <a:effectLst/>
                        </a:rPr>
                        <a:t>Small profits rate*</a:t>
                      </a:r>
                      <a:endParaRPr lang="en-GB" sz="1400" b="0" i="0" u="none" strike="noStrike">
                        <a:solidFill>
                          <a:srgbClr val="000000"/>
                        </a:solidFill>
                        <a:effectLst/>
                        <a:latin typeface="Calibri"/>
                      </a:endParaRPr>
                    </a:p>
                  </a:txBody>
                  <a:tcPr marL="9525" marR="9525" marT="9525" marB="0" anchor="ctr"/>
                </a:tc>
                <a:tc>
                  <a:txBody>
                    <a:bodyPr/>
                    <a:lstStyle/>
                    <a:p>
                      <a:pPr algn="ctr" fontAlgn="ctr"/>
                      <a:r>
                        <a:rPr lang="en-GB" sz="1400" u="none" strike="noStrike">
                          <a:effectLst/>
                        </a:rPr>
                        <a:t>20%*</a:t>
                      </a:r>
                      <a:endParaRPr lang="en-GB" sz="1400" b="0" i="0" u="none" strike="noStrike">
                        <a:solidFill>
                          <a:srgbClr val="000000"/>
                        </a:solidFill>
                        <a:effectLst/>
                        <a:latin typeface="Calibri"/>
                      </a:endParaRPr>
                    </a:p>
                  </a:txBody>
                  <a:tcPr marL="9525" marR="9525" marT="9525" marB="0" anchor="ctr"/>
                </a:tc>
                <a:tc>
                  <a:txBody>
                    <a:bodyPr/>
                    <a:lstStyle/>
                    <a:p>
                      <a:pPr algn="ctr" fontAlgn="ctr"/>
                      <a:r>
                        <a:rPr lang="en-GB" sz="1400" u="none" strike="noStrike" dirty="0">
                          <a:effectLst/>
                        </a:rPr>
                        <a:t>20%*</a:t>
                      </a:r>
                      <a:endParaRPr lang="en-GB" sz="1400" b="0" i="0" u="none" strike="noStrike" dirty="0">
                        <a:solidFill>
                          <a:srgbClr val="000000"/>
                        </a:solidFill>
                        <a:effectLst/>
                        <a:latin typeface="Calibri"/>
                      </a:endParaRPr>
                    </a:p>
                  </a:txBody>
                  <a:tcPr marL="9525" marR="9525" marT="9525" marB="0" anchor="ctr"/>
                </a:tc>
                <a:tc>
                  <a:txBody>
                    <a:bodyPr/>
                    <a:lstStyle/>
                    <a:p>
                      <a:pPr algn="ctr" fontAlgn="ctr"/>
                      <a:r>
                        <a:rPr lang="en-GB" sz="1400" u="none" strike="noStrike" dirty="0">
                          <a:effectLst/>
                        </a:rPr>
                        <a:t>20%*</a:t>
                      </a:r>
                      <a:endParaRPr lang="en-GB" sz="1400" b="0" i="0" u="none" strike="noStrike" dirty="0">
                        <a:solidFill>
                          <a:srgbClr val="000000"/>
                        </a:solidFill>
                        <a:effectLst/>
                        <a:latin typeface="Calibri"/>
                      </a:endParaRPr>
                    </a:p>
                  </a:txBody>
                  <a:tcPr marL="9525" marR="9525" marT="9525" marB="0" anchor="ctr"/>
                </a:tc>
                <a:tc>
                  <a:txBody>
                    <a:bodyPr/>
                    <a:lstStyle/>
                    <a:p>
                      <a:pPr algn="ctr" fontAlgn="ctr"/>
                      <a:r>
                        <a:rPr lang="en-GB" sz="1400" u="none" strike="noStrike" dirty="0">
                          <a:effectLst/>
                        </a:rPr>
                        <a:t>20%*</a:t>
                      </a:r>
                      <a:endParaRPr lang="en-GB" sz="1400" b="0" i="0" u="none" strike="noStrike" dirty="0">
                        <a:solidFill>
                          <a:srgbClr val="000000"/>
                        </a:solidFill>
                        <a:effectLst/>
                        <a:latin typeface="Calibri"/>
                      </a:endParaRPr>
                    </a:p>
                  </a:txBody>
                  <a:tcPr marL="9525" marR="9525" marT="9525" marB="0" anchor="ctr"/>
                </a:tc>
                <a:tc>
                  <a:txBody>
                    <a:bodyPr/>
                    <a:lstStyle/>
                    <a:p>
                      <a:pPr algn="ctr" fontAlgn="ctr"/>
                      <a:r>
                        <a:rPr lang="en-GB" sz="1400" u="none" strike="noStrike">
                          <a:effectLst/>
                        </a:rPr>
                        <a:t>15%*</a:t>
                      </a:r>
                      <a:endParaRPr lang="en-GB" sz="1400" b="0" i="0" u="none" strike="noStrike">
                        <a:solidFill>
                          <a:srgbClr val="000000"/>
                        </a:solidFill>
                        <a:effectLst/>
                        <a:latin typeface="Calibri"/>
                      </a:endParaRPr>
                    </a:p>
                  </a:txBody>
                  <a:tcPr marL="9525" marR="9525" marT="9525" marB="0" anchor="ctr"/>
                </a:tc>
                <a:extLst>
                  <a:ext uri="{0D108BD9-81ED-4DB2-BD59-A6C34878D82A}">
                    <a16:rowId xmlns:a16="http://schemas.microsoft.com/office/drawing/2014/main" val="10001"/>
                  </a:ext>
                </a:extLst>
              </a:tr>
              <a:tr h="190500">
                <a:tc>
                  <a:txBody>
                    <a:bodyPr/>
                    <a:lstStyle/>
                    <a:p>
                      <a:pPr algn="ctr" fontAlgn="ctr"/>
                      <a:r>
                        <a:rPr lang="en-GB" sz="1400" u="none" strike="noStrike">
                          <a:effectLst/>
                        </a:rPr>
                        <a:t>Main rate of Corporation Tax*</a:t>
                      </a:r>
                      <a:endParaRPr lang="en-GB" sz="1400" b="0" i="0" u="none" strike="noStrike">
                        <a:solidFill>
                          <a:srgbClr val="000000"/>
                        </a:solidFill>
                        <a:effectLst/>
                        <a:latin typeface="Calibri"/>
                      </a:endParaRPr>
                    </a:p>
                  </a:txBody>
                  <a:tcPr marL="9525" marR="9525" marT="9525" marB="0" anchor="ctr"/>
                </a:tc>
                <a:tc>
                  <a:txBody>
                    <a:bodyPr/>
                    <a:lstStyle/>
                    <a:p>
                      <a:pPr algn="ctr" fontAlgn="ctr"/>
                      <a:r>
                        <a:rPr lang="en-GB" sz="1400" u="none" strike="noStrike">
                          <a:effectLst/>
                        </a:rPr>
                        <a:t>26%*</a:t>
                      </a:r>
                      <a:endParaRPr lang="en-GB" sz="1400" b="0" i="0" u="none" strike="noStrike">
                        <a:solidFill>
                          <a:srgbClr val="000000"/>
                        </a:solidFill>
                        <a:effectLst/>
                        <a:latin typeface="Calibri"/>
                      </a:endParaRPr>
                    </a:p>
                  </a:txBody>
                  <a:tcPr marL="9525" marR="9525" marT="9525" marB="0" anchor="ctr"/>
                </a:tc>
                <a:tc>
                  <a:txBody>
                    <a:bodyPr/>
                    <a:lstStyle/>
                    <a:p>
                      <a:pPr algn="ctr" fontAlgn="ctr"/>
                      <a:r>
                        <a:rPr lang="en-GB" sz="1400" u="none" strike="noStrike">
                          <a:effectLst/>
                        </a:rPr>
                        <a:t>24%*</a:t>
                      </a:r>
                      <a:endParaRPr lang="en-GB" sz="1400" b="0" i="0" u="none" strike="noStrike">
                        <a:solidFill>
                          <a:srgbClr val="000000"/>
                        </a:solidFill>
                        <a:effectLst/>
                        <a:latin typeface="Calibri"/>
                      </a:endParaRPr>
                    </a:p>
                  </a:txBody>
                  <a:tcPr marL="9525" marR="9525" marT="9525" marB="0" anchor="ctr"/>
                </a:tc>
                <a:tc>
                  <a:txBody>
                    <a:bodyPr/>
                    <a:lstStyle/>
                    <a:p>
                      <a:pPr algn="ctr" fontAlgn="ctr"/>
                      <a:r>
                        <a:rPr lang="en-GB" sz="1400" u="none" strike="noStrike">
                          <a:effectLst/>
                        </a:rPr>
                        <a:t>23%*</a:t>
                      </a:r>
                      <a:endParaRPr lang="en-GB" sz="1400" b="0" i="0" u="none" strike="noStrike">
                        <a:solidFill>
                          <a:srgbClr val="000000"/>
                        </a:solidFill>
                        <a:effectLst/>
                        <a:latin typeface="Calibri"/>
                      </a:endParaRPr>
                    </a:p>
                  </a:txBody>
                  <a:tcPr marL="9525" marR="9525" marT="9525" marB="0" anchor="ctr"/>
                </a:tc>
                <a:tc>
                  <a:txBody>
                    <a:bodyPr/>
                    <a:lstStyle/>
                    <a:p>
                      <a:pPr algn="ctr" fontAlgn="ctr"/>
                      <a:r>
                        <a:rPr lang="en-GB" sz="1400" u="none" strike="noStrike" dirty="0">
                          <a:effectLst/>
                        </a:rPr>
                        <a:t>21%*</a:t>
                      </a:r>
                      <a:endParaRPr lang="en-GB" sz="1400" b="0" i="0" u="none" strike="noStrike" dirty="0">
                        <a:solidFill>
                          <a:srgbClr val="000000"/>
                        </a:solidFill>
                        <a:effectLst/>
                        <a:latin typeface="Calibri"/>
                      </a:endParaRPr>
                    </a:p>
                  </a:txBody>
                  <a:tcPr marL="9525" marR="9525" marT="9525" marB="0" anchor="ctr"/>
                </a:tc>
                <a:tc>
                  <a:txBody>
                    <a:bodyPr/>
                    <a:lstStyle/>
                    <a:p>
                      <a:pPr algn="ctr" fontAlgn="ctr"/>
                      <a:r>
                        <a:rPr lang="en-GB" sz="1400" u="none" strike="noStrike" dirty="0">
                          <a:effectLst/>
                        </a:rPr>
                        <a:t>17%*</a:t>
                      </a:r>
                      <a:endParaRPr lang="en-GB" sz="1400" b="0" i="0" u="none" strike="noStrike" dirty="0">
                        <a:solidFill>
                          <a:srgbClr val="000000"/>
                        </a:solidFill>
                        <a:effectLst/>
                        <a:latin typeface="Calibri"/>
                      </a:endParaRPr>
                    </a:p>
                  </a:txBody>
                  <a:tcPr marL="9525" marR="9525" marT="9525" marB="0" anchor="ctr"/>
                </a:tc>
                <a:extLst>
                  <a:ext uri="{0D108BD9-81ED-4DB2-BD59-A6C34878D82A}">
                    <a16:rowId xmlns:a16="http://schemas.microsoft.com/office/drawing/2014/main" val="10002"/>
                  </a:ext>
                </a:extLst>
              </a:tr>
            </a:tbl>
          </a:graphicData>
        </a:graphic>
      </p:graphicFrame>
      <p:pic>
        <p:nvPicPr>
          <p:cNvPr id="276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222" y="4077072"/>
            <a:ext cx="4895850" cy="10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Object 5"/>
          <p:cNvGraphicFramePr>
            <a:graphicFrameLocks noChangeAspect="1"/>
          </p:cNvGraphicFramePr>
          <p:nvPr>
            <p:extLst>
              <p:ext uri="{D42A27DB-BD31-4B8C-83A1-F6EECF244321}">
                <p14:modId xmlns:p14="http://schemas.microsoft.com/office/powerpoint/2010/main" val="827787919"/>
              </p:ext>
            </p:extLst>
          </p:nvPr>
        </p:nvGraphicFramePr>
        <p:xfrm>
          <a:off x="5580111" y="4293096"/>
          <a:ext cx="2973233" cy="720080"/>
        </p:xfrm>
        <a:graphic>
          <a:graphicData uri="http://schemas.openxmlformats.org/presentationml/2006/ole">
            <mc:AlternateContent xmlns:mc="http://schemas.openxmlformats.org/markup-compatibility/2006">
              <mc:Choice xmlns:v="urn:schemas-microsoft-com:vml" Requires="v">
                <p:oleObj name="Equation" r:id="rId4" imgW="1625400" imgH="393480" progId="Equation.3">
                  <p:embed/>
                </p:oleObj>
              </mc:Choice>
              <mc:Fallback>
                <p:oleObj name="Equation" r:id="rId4" imgW="1625400" imgH="393480" progId="Equation.3">
                  <p:embed/>
                  <p:pic>
                    <p:nvPicPr>
                      <p:cNvPr id="6" name="Object 5"/>
                      <p:cNvPicPr/>
                      <p:nvPr/>
                    </p:nvPicPr>
                    <p:blipFill>
                      <a:blip r:embed="rId5"/>
                      <a:stretch>
                        <a:fillRect/>
                      </a:stretch>
                    </p:blipFill>
                    <p:spPr>
                      <a:xfrm>
                        <a:off x="5580111" y="4293096"/>
                        <a:ext cx="2973233" cy="720080"/>
                      </a:xfrm>
                      <a:prstGeom prst="rect">
                        <a:avLst/>
                      </a:prstGeom>
                    </p:spPr>
                  </p:pic>
                </p:oleObj>
              </mc:Fallback>
            </mc:AlternateContent>
          </a:graphicData>
        </a:graphic>
      </p:graphicFrame>
      <p:sp>
        <p:nvSpPr>
          <p:cNvPr id="8" name="Oval 7"/>
          <p:cNvSpPr/>
          <p:nvPr/>
        </p:nvSpPr>
        <p:spPr>
          <a:xfrm>
            <a:off x="5436096" y="3068960"/>
            <a:ext cx="3096344" cy="3600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3"/>
          <p:cNvSpPr>
            <a:spLocks noGrp="1"/>
          </p:cNvSpPr>
          <p:nvPr>
            <p:ph type="sldNum" sz="quarter" idx="11"/>
          </p:nvPr>
        </p:nvSpPr>
        <p:spPr/>
        <p:txBody>
          <a:bodyPr/>
          <a:lstStyle/>
          <a:p>
            <a:pPr>
              <a:defRPr/>
            </a:pPr>
            <a:fld id="{C3168C1A-0F73-4148-A9C6-17783D0D792E}" type="slidenum">
              <a:rPr lang="en-GB" smtClean="0"/>
              <a:pPr>
                <a:defRPr/>
              </a:pPr>
              <a:t>29</a:t>
            </a:fld>
            <a:endParaRPr lang="en-GB"/>
          </a:p>
        </p:txBody>
      </p:sp>
    </p:spTree>
    <p:extLst>
      <p:ext uri="{BB962C8B-B14F-4D97-AF65-F5344CB8AC3E}">
        <p14:creationId xmlns:p14="http://schemas.microsoft.com/office/powerpoint/2010/main" val="39845046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p:cNvSpPr>
            <a:spLocks noGrp="1" noChangeArrowheads="1"/>
          </p:cNvSpPr>
          <p:nvPr>
            <p:ph type="title"/>
          </p:nvPr>
        </p:nvSpPr>
        <p:spPr/>
        <p:txBody>
          <a:bodyPr/>
          <a:lstStyle/>
          <a:p>
            <a:pPr eaLnBrk="1" fontAlgn="auto" hangingPunct="1">
              <a:spcAft>
                <a:spcPts val="0"/>
              </a:spcAft>
              <a:defRPr/>
            </a:pPr>
            <a:r>
              <a:rPr lang="en-US"/>
              <a:t>A Tax Rate for a Money Losing Firm</a:t>
            </a:r>
          </a:p>
        </p:txBody>
      </p:sp>
      <p:sp>
        <p:nvSpPr>
          <p:cNvPr id="262147" name="Rectangle 3"/>
          <p:cNvSpPr>
            <a:spLocks noGrp="1" noChangeArrowheads="1"/>
          </p:cNvSpPr>
          <p:nvPr>
            <p:ph sz="quarter" idx="1"/>
          </p:nvPr>
        </p:nvSpPr>
        <p:spPr>
          <a:xfrm>
            <a:off x="457200" y="1600200"/>
            <a:ext cx="7467600" cy="4873625"/>
          </a:xfrm>
        </p:spPr>
        <p:txBody>
          <a:bodyPr>
            <a:normAutofit lnSpcReduction="10000"/>
          </a:bodyPr>
          <a:lstStyle/>
          <a:p>
            <a:pPr marL="274320" indent="-274320" eaLnBrk="1" fontAlgn="auto" hangingPunct="1">
              <a:spcAft>
                <a:spcPts val="0"/>
              </a:spcAft>
              <a:buFont typeface="Wingdings"/>
              <a:buChar char=""/>
              <a:tabLst>
                <a:tab pos="2806700" algn="l"/>
                <a:tab pos="4344988" algn="l"/>
                <a:tab pos="5948363" algn="l"/>
              </a:tabLst>
              <a:defRPr/>
            </a:pPr>
            <a:r>
              <a:rPr lang="en-US"/>
              <a:t>Assume that you are trying to estimate the after-tax operating income for a firm with $ 1 billion in net operating losses carried forward. This firm is expected to have operating income of $ 500 million each year for the next 3 years, and the marginal tax rate on income for all firms that make money is 40%. Estimate the after-tax operating income each year for the next 3 years.</a:t>
            </a:r>
          </a:p>
          <a:p>
            <a:pPr marL="274320" indent="-274320" eaLnBrk="1" fontAlgn="auto" hangingPunct="1">
              <a:spcAft>
                <a:spcPts val="0"/>
              </a:spcAft>
              <a:buFont typeface="Monotype Sorts" charset="2"/>
              <a:buNone/>
              <a:tabLst>
                <a:tab pos="2806700" algn="l"/>
                <a:tab pos="4344988" algn="l"/>
                <a:tab pos="5948363" algn="l"/>
              </a:tabLst>
              <a:defRPr/>
            </a:pPr>
            <a:r>
              <a:rPr lang="en-US"/>
              <a:t>		Year 1	Year 2	Year 3</a:t>
            </a:r>
          </a:p>
          <a:p>
            <a:pPr marL="274320" indent="-274320" eaLnBrk="1" fontAlgn="auto" hangingPunct="1">
              <a:spcAft>
                <a:spcPts val="0"/>
              </a:spcAft>
              <a:buFont typeface="Monotype Sorts" charset="2"/>
              <a:buNone/>
              <a:tabLst>
                <a:tab pos="2806700" algn="l"/>
                <a:tab pos="4344988" algn="l"/>
                <a:tab pos="5948363" algn="l"/>
              </a:tabLst>
              <a:defRPr/>
            </a:pPr>
            <a:r>
              <a:rPr lang="en-US"/>
              <a:t>EBIT	500	500	500</a:t>
            </a:r>
          </a:p>
          <a:p>
            <a:pPr marL="274320" indent="-274320" eaLnBrk="1" fontAlgn="auto" hangingPunct="1">
              <a:spcAft>
                <a:spcPts val="0"/>
              </a:spcAft>
              <a:buFont typeface="Monotype Sorts" charset="2"/>
              <a:buNone/>
              <a:tabLst>
                <a:tab pos="2806700" algn="l"/>
                <a:tab pos="4344988" algn="l"/>
                <a:tab pos="5948363" algn="l"/>
              </a:tabLst>
              <a:defRPr/>
            </a:pPr>
            <a:r>
              <a:rPr lang="en-US"/>
              <a:t>Taxes</a:t>
            </a:r>
          </a:p>
          <a:p>
            <a:pPr marL="274320" indent="-274320" eaLnBrk="1" fontAlgn="auto" hangingPunct="1">
              <a:spcAft>
                <a:spcPts val="0"/>
              </a:spcAft>
              <a:buFont typeface="Monotype Sorts" charset="2"/>
              <a:buNone/>
              <a:tabLst>
                <a:tab pos="2806700" algn="l"/>
                <a:tab pos="4344988" algn="l"/>
                <a:tab pos="5948363" algn="l"/>
              </a:tabLst>
              <a:defRPr/>
            </a:pPr>
            <a:r>
              <a:rPr lang="en-US"/>
              <a:t>EBIT (1-t)</a:t>
            </a:r>
          </a:p>
          <a:p>
            <a:pPr marL="274320" indent="-274320" eaLnBrk="1" fontAlgn="auto" hangingPunct="1">
              <a:spcAft>
                <a:spcPts val="0"/>
              </a:spcAft>
              <a:buFont typeface="Monotype Sorts" charset="2"/>
              <a:buNone/>
              <a:tabLst>
                <a:tab pos="2806700" algn="l"/>
                <a:tab pos="4344988" algn="l"/>
                <a:tab pos="5948363" algn="l"/>
              </a:tabLst>
              <a:defRPr/>
            </a:pPr>
            <a:r>
              <a:rPr lang="en-US"/>
              <a:t>Tax rate</a:t>
            </a:r>
          </a:p>
        </p:txBody>
      </p:sp>
      <p:sp>
        <p:nvSpPr>
          <p:cNvPr id="2" name="Slide Number Placeholder 1"/>
          <p:cNvSpPr>
            <a:spLocks noGrp="1"/>
          </p:cNvSpPr>
          <p:nvPr>
            <p:ph type="sldNum" sz="quarter" idx="11"/>
          </p:nvPr>
        </p:nvSpPr>
        <p:spPr/>
        <p:txBody>
          <a:bodyPr/>
          <a:lstStyle/>
          <a:p>
            <a:pPr>
              <a:defRPr/>
            </a:pPr>
            <a:fld id="{C3168C1A-0F73-4148-A9C6-17783D0D792E}" type="slidenum">
              <a:rPr lang="en-GB" smtClean="0"/>
              <a:pPr>
                <a:defRPr/>
              </a:pPr>
              <a:t>30</a:t>
            </a:fld>
            <a:endParaRPr lang="en-GB"/>
          </a:p>
        </p:txBody>
      </p:sp>
      <p:sp>
        <p:nvSpPr>
          <p:cNvPr id="3" name="Cloud Callout 2"/>
          <p:cNvSpPr/>
          <p:nvPr/>
        </p:nvSpPr>
        <p:spPr>
          <a:xfrm>
            <a:off x="4644008" y="0"/>
            <a:ext cx="4320480" cy="908720"/>
          </a:xfrm>
          <a:prstGeom prst="cloud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n w="0"/>
                <a:solidFill>
                  <a:schemeClr val="tx1"/>
                </a:solidFill>
                <a:effectLst>
                  <a:outerShdw blurRad="38100" dist="19050" dir="2700000" algn="tl" rotWithShape="0">
                    <a:schemeClr val="dk1">
                      <a:alpha val="40000"/>
                    </a:schemeClr>
                  </a:outerShdw>
                </a:effectLst>
              </a:rPr>
              <a:t>Does this remind you of somebody???</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a:xfrm>
            <a:off x="539552" y="34206"/>
            <a:ext cx="7467600" cy="922114"/>
          </a:xfrm>
        </p:spPr>
        <p:txBody>
          <a:bodyPr>
            <a:normAutofit fontScale="90000"/>
          </a:bodyPr>
          <a:lstStyle/>
          <a:p>
            <a:pPr algn="ctr" eaLnBrk="1" fontAlgn="auto" hangingPunct="1">
              <a:spcAft>
                <a:spcPts val="0"/>
              </a:spcAft>
              <a:defRPr/>
            </a:pPr>
            <a:r>
              <a:rPr lang="en-US" dirty="0"/>
              <a:t>B. </a:t>
            </a:r>
            <a:br>
              <a:rPr lang="en-US" dirty="0"/>
            </a:br>
            <a:r>
              <a:rPr lang="en-US" dirty="0"/>
              <a:t>Net Capital Expenditures (NCE)</a:t>
            </a:r>
          </a:p>
        </p:txBody>
      </p:sp>
      <p:graphicFrame>
        <p:nvGraphicFramePr>
          <p:cNvPr id="3" name="Content Placeholder 2">
            <a:extLst>
              <a:ext uri="{FF2B5EF4-FFF2-40B4-BE49-F238E27FC236}">
                <a16:creationId xmlns:a16="http://schemas.microsoft.com/office/drawing/2014/main" id="{4C5A84A9-657E-D927-0EA1-755EF83E41C6}"/>
              </a:ext>
            </a:extLst>
          </p:cNvPr>
          <p:cNvGraphicFramePr>
            <a:graphicFrameLocks noGrp="1"/>
          </p:cNvGraphicFramePr>
          <p:nvPr>
            <p:ph sz="quarter" idx="1"/>
            <p:extLst>
              <p:ext uri="{D42A27DB-BD31-4B8C-83A1-F6EECF244321}">
                <p14:modId xmlns:p14="http://schemas.microsoft.com/office/powerpoint/2010/main" val="2883296926"/>
              </p:ext>
            </p:extLst>
          </p:nvPr>
        </p:nvGraphicFramePr>
        <p:xfrm>
          <a:off x="457200" y="548680"/>
          <a:ext cx="7787208" cy="61926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p:cNvSpPr>
            <a:spLocks noGrp="1"/>
          </p:cNvSpPr>
          <p:nvPr>
            <p:ph type="sldNum" sz="quarter" idx="11"/>
          </p:nvPr>
        </p:nvSpPr>
        <p:spPr/>
        <p:txBody>
          <a:bodyPr/>
          <a:lstStyle/>
          <a:p>
            <a:pPr>
              <a:defRPr/>
            </a:pPr>
            <a:fld id="{C3168C1A-0F73-4148-A9C6-17783D0D792E}" type="slidenum">
              <a:rPr lang="en-GB" smtClean="0"/>
              <a:pPr>
                <a:defRPr/>
              </a:pPr>
              <a:t>31</a:t>
            </a:fld>
            <a:endParaRPr lang="en-GB"/>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ChangeArrowheads="1"/>
          </p:cNvSpPr>
          <p:nvPr>
            <p:ph type="title"/>
          </p:nvPr>
        </p:nvSpPr>
        <p:spPr>
          <a:xfrm>
            <a:off x="251520" y="274638"/>
            <a:ext cx="8352928" cy="850106"/>
          </a:xfrm>
        </p:spPr>
        <p:txBody>
          <a:bodyPr>
            <a:normAutofit fontScale="90000"/>
          </a:bodyPr>
          <a:lstStyle/>
          <a:p>
            <a:pPr algn="ctr" eaLnBrk="1" fontAlgn="auto" hangingPunct="1">
              <a:spcAft>
                <a:spcPts val="0"/>
              </a:spcAft>
              <a:defRPr/>
            </a:pPr>
            <a:r>
              <a:rPr lang="en-US" dirty="0"/>
              <a:t>C. </a:t>
            </a:r>
            <a:br>
              <a:rPr lang="en-US" dirty="0"/>
            </a:br>
            <a:r>
              <a:rPr lang="en-US" dirty="0"/>
              <a:t>Net Working Capital Investments</a:t>
            </a:r>
          </a:p>
        </p:txBody>
      </p:sp>
      <p:graphicFrame>
        <p:nvGraphicFramePr>
          <p:cNvPr id="3" name="Content Placeholder 2">
            <a:extLst>
              <a:ext uri="{FF2B5EF4-FFF2-40B4-BE49-F238E27FC236}">
                <a16:creationId xmlns:a16="http://schemas.microsoft.com/office/drawing/2014/main" id="{F00AEDC4-AD91-6F1F-95D0-6303166066E8}"/>
              </a:ext>
            </a:extLst>
          </p:cNvPr>
          <p:cNvGraphicFramePr>
            <a:graphicFrameLocks noGrp="1"/>
          </p:cNvGraphicFramePr>
          <p:nvPr>
            <p:ph sz="quarter" idx="1"/>
            <p:extLst>
              <p:ext uri="{D42A27DB-BD31-4B8C-83A1-F6EECF244321}">
                <p14:modId xmlns:p14="http://schemas.microsoft.com/office/powerpoint/2010/main" val="3926690357"/>
              </p:ext>
            </p:extLst>
          </p:nvPr>
        </p:nvGraphicFramePr>
        <p:xfrm>
          <a:off x="0" y="603250"/>
          <a:ext cx="8810128" cy="60661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p:cNvSpPr>
            <a:spLocks noGrp="1"/>
          </p:cNvSpPr>
          <p:nvPr>
            <p:ph type="sldNum" sz="quarter" idx="11"/>
          </p:nvPr>
        </p:nvSpPr>
        <p:spPr/>
        <p:txBody>
          <a:bodyPr/>
          <a:lstStyle/>
          <a:p>
            <a:pPr>
              <a:defRPr/>
            </a:pPr>
            <a:fld id="{C3168C1A-0F73-4148-A9C6-17783D0D792E}" type="slidenum">
              <a:rPr lang="en-GB" smtClean="0"/>
              <a:pPr>
                <a:defRPr/>
              </a:pPr>
              <a:t>32</a:t>
            </a:fld>
            <a:endParaRPr lang="en-GB"/>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2656"/>
            <a:ext cx="8229600" cy="866360"/>
          </a:xfrm>
        </p:spPr>
        <p:txBody>
          <a:bodyPr>
            <a:normAutofit fontScale="90000"/>
          </a:bodyPr>
          <a:lstStyle/>
          <a:p>
            <a:pPr algn="ctr"/>
            <a:r>
              <a:rPr lang="en-GB" dirty="0"/>
              <a:t>What can we learn from the BS</a:t>
            </a:r>
            <a:br>
              <a:rPr lang="en-GB" dirty="0"/>
            </a:br>
            <a:r>
              <a:rPr lang="en-GB" dirty="0"/>
              <a:t>Liquidity</a:t>
            </a:r>
          </a:p>
        </p:txBody>
      </p:sp>
      <p:pic>
        <p:nvPicPr>
          <p:cNvPr id="4" name="Picture 4"/>
          <p:cNvPicPr>
            <a:picLocks noChangeAspect="1" noChangeArrowheads="1"/>
          </p:cNvPicPr>
          <p:nvPr/>
        </p:nvPicPr>
        <p:blipFill>
          <a:blip r:embed="rId2" cstate="print"/>
          <a:srcRect b="54112"/>
          <a:stretch>
            <a:fillRect/>
          </a:stretch>
        </p:blipFill>
        <p:spPr bwMode="auto">
          <a:xfrm>
            <a:off x="683568" y="980728"/>
            <a:ext cx="7407551" cy="4464496"/>
          </a:xfrm>
          <a:prstGeom prst="rect">
            <a:avLst/>
          </a:prstGeom>
          <a:noFill/>
          <a:ln w="9525">
            <a:noFill/>
            <a:miter lim="800000"/>
            <a:headEnd/>
            <a:tailEnd/>
          </a:ln>
          <a:effectLst/>
        </p:spPr>
      </p:pic>
      <p:sp>
        <p:nvSpPr>
          <p:cNvPr id="6" name="Oval 5"/>
          <p:cNvSpPr/>
          <p:nvPr/>
        </p:nvSpPr>
        <p:spPr>
          <a:xfrm>
            <a:off x="5076056" y="5517232"/>
            <a:ext cx="2088232" cy="86409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Funding</a:t>
            </a:r>
          </a:p>
        </p:txBody>
      </p:sp>
      <p:sp>
        <p:nvSpPr>
          <p:cNvPr id="7" name="Oval 6"/>
          <p:cNvSpPr/>
          <p:nvPr/>
        </p:nvSpPr>
        <p:spPr>
          <a:xfrm>
            <a:off x="1043608" y="5589240"/>
            <a:ext cx="2088232" cy="86409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Investments</a:t>
            </a:r>
          </a:p>
        </p:txBody>
      </p:sp>
      <p:sp>
        <p:nvSpPr>
          <p:cNvPr id="8" name="Left Brace 7"/>
          <p:cNvSpPr/>
          <p:nvPr/>
        </p:nvSpPr>
        <p:spPr>
          <a:xfrm rot="16200000">
            <a:off x="1907704" y="4149080"/>
            <a:ext cx="360040" cy="2232248"/>
          </a:xfrm>
          <a:prstGeom prst="lef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
        <p:nvSpPr>
          <p:cNvPr id="9" name="Left Brace 8"/>
          <p:cNvSpPr/>
          <p:nvPr/>
        </p:nvSpPr>
        <p:spPr>
          <a:xfrm rot="16200000">
            <a:off x="5976155" y="4185084"/>
            <a:ext cx="288033" cy="2232248"/>
          </a:xfrm>
          <a:prstGeom prst="lef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Tree>
    <p:extLst>
      <p:ext uri="{BB962C8B-B14F-4D97-AF65-F5344CB8AC3E}">
        <p14:creationId xmlns:p14="http://schemas.microsoft.com/office/powerpoint/2010/main" val="33898062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548680"/>
            <a:ext cx="8377350" cy="2889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457200" y="274638"/>
            <a:ext cx="7467600" cy="562074"/>
          </a:xfrm>
        </p:spPr>
        <p:txBody>
          <a:bodyPr/>
          <a:lstStyle/>
          <a:p>
            <a:r>
              <a:rPr lang="el-GR" dirty="0"/>
              <a:t>Δ</a:t>
            </a:r>
            <a:r>
              <a:rPr lang="en-GB" dirty="0"/>
              <a:t>WC-Example Disney</a:t>
            </a:r>
          </a:p>
        </p:txBody>
      </p:sp>
      <p:sp>
        <p:nvSpPr>
          <p:cNvPr id="3" name="Content Placeholder 2"/>
          <p:cNvSpPr>
            <a:spLocks noGrp="1"/>
          </p:cNvSpPr>
          <p:nvPr>
            <p:ph sz="quarter" idx="1"/>
          </p:nvPr>
        </p:nvSpPr>
        <p:spPr>
          <a:xfrm>
            <a:off x="457200" y="3645024"/>
            <a:ext cx="7467600" cy="2592288"/>
          </a:xfrm>
        </p:spPr>
        <p:txBody>
          <a:bodyPr/>
          <a:lstStyle/>
          <a:p>
            <a:r>
              <a:rPr lang="en-GB" dirty="0"/>
              <a:t>The change on non-cash NWC is</a:t>
            </a:r>
          </a:p>
          <a:p>
            <a:endParaRPr lang="en-GB" dirty="0"/>
          </a:p>
          <a:p>
            <a:endParaRPr lang="en-GB" dirty="0"/>
          </a:p>
          <a:p>
            <a:endParaRPr lang="en-GB" dirty="0"/>
          </a:p>
          <a:p>
            <a:endParaRPr lang="en-GB" dirty="0"/>
          </a:p>
          <a:p>
            <a:r>
              <a:rPr lang="en-GB" dirty="0"/>
              <a:t>This means that we need-invest cash</a:t>
            </a:r>
          </a:p>
          <a:p>
            <a:endParaRPr lang="en-GB" dirty="0"/>
          </a:p>
        </p:txBody>
      </p:sp>
      <p:sp>
        <p:nvSpPr>
          <p:cNvPr id="5" name="Slide Number Placeholder 4"/>
          <p:cNvSpPr>
            <a:spLocks noGrp="1"/>
          </p:cNvSpPr>
          <p:nvPr>
            <p:ph type="sldNum" sz="quarter" idx="11"/>
          </p:nvPr>
        </p:nvSpPr>
        <p:spPr/>
        <p:txBody>
          <a:bodyPr/>
          <a:lstStyle/>
          <a:p>
            <a:pPr>
              <a:defRPr/>
            </a:pPr>
            <a:fld id="{C3168C1A-0F73-4148-A9C6-17783D0D792E}" type="slidenum">
              <a:rPr lang="en-GB" smtClean="0"/>
              <a:pPr>
                <a:defRPr/>
              </a:pPr>
              <a:t>34</a:t>
            </a:fld>
            <a:endParaRPr lang="en-GB"/>
          </a:p>
        </p:txBody>
      </p:sp>
      <mc:AlternateContent xmlns:mc="http://schemas.openxmlformats.org/markup-compatibility/2006" xmlns:a14="http://schemas.microsoft.com/office/drawing/2010/main">
        <mc:Choice Requires="a14">
          <p:sp>
            <p:nvSpPr>
              <p:cNvPr id="6" name="TextBox 5"/>
              <p:cNvSpPr txBox="1"/>
              <p:nvPr/>
            </p:nvSpPr>
            <p:spPr>
              <a:xfrm>
                <a:off x="302558" y="4400451"/>
                <a:ext cx="8157874" cy="1044773"/>
              </a:xfrm>
              <a:prstGeom prst="rect">
                <a:avLst/>
              </a:prstGeom>
              <a:noFill/>
            </p:spPr>
            <p:txBody>
              <a:bodyPr wrap="none" lIns="0" tIns="0" rIns="0" bIns="0" rtlCol="0">
                <a:spAutoFit/>
              </a:bodyPr>
              <a:lstStyle/>
              <a:p>
                <a:pPr/>
                <a14:m>
                  <m:oMathPara xmlns:m="http://schemas.openxmlformats.org/officeDocument/2006/math">
                    <m:oMath>
                      <m:r>
                        <m:rPr>
                          <m:sty m:val="p"/>
                        </m:rPr>
                        <a:rPr lang="el-GR" smtClean="0">
                          <a:latin typeface="Cambria Math" panose="02040503050406030204" pitchFamily="18" charset="0"/>
                        </a:rPr>
                        <m:t>Δ</m:t>
                      </m:r>
                      <m:r>
                        <m:rPr>
                          <m:sty m:val="p"/>
                        </m:rPr>
                        <a:rPr lang="en-GB">
                          <a:latin typeface="Cambria Math" panose="02040503050406030204" pitchFamily="18" charset="0"/>
                        </a:rPr>
                        <m:t>NWC</m:t>
                      </m:r>
                      <m:r>
                        <a:rPr lang="en-GB" i="1">
                          <a:latin typeface="Cambria Math" panose="02040503050406030204" pitchFamily="18" charset="0"/>
                        </a:rPr>
                        <m:t>=</m:t>
                      </m:r>
                      <m:r>
                        <m:rPr>
                          <m:sty m:val="p"/>
                        </m:rPr>
                        <a:rPr lang="el-GR">
                          <a:latin typeface="Cambria Math" panose="02040503050406030204" pitchFamily="18" charset="0"/>
                        </a:rPr>
                        <m:t>Δ</m:t>
                      </m:r>
                      <m:r>
                        <m:rPr>
                          <m:sty m:val="p"/>
                        </m:rPr>
                        <a:rPr lang="en-GB">
                          <a:latin typeface="Cambria Math" panose="02040503050406030204" pitchFamily="18" charset="0"/>
                        </a:rPr>
                        <m:t>CA</m:t>
                      </m:r>
                      <m:r>
                        <a:rPr lang="en-GB" i="1">
                          <a:latin typeface="Cambria Math" panose="02040503050406030204" pitchFamily="18" charset="0"/>
                        </a:rPr>
                        <m:t>−</m:t>
                      </m:r>
                      <m:r>
                        <m:rPr>
                          <m:sty m:val="p"/>
                        </m:rPr>
                        <a:rPr lang="el-GR">
                          <a:latin typeface="Cambria Math" panose="02040503050406030204" pitchFamily="18" charset="0"/>
                        </a:rPr>
                        <m:t>Δ</m:t>
                      </m:r>
                      <m:r>
                        <m:rPr>
                          <m:sty m:val="p"/>
                        </m:rPr>
                        <a:rPr lang="en-GB">
                          <a:latin typeface="Cambria Math" panose="02040503050406030204" pitchFamily="18" charset="0"/>
                        </a:rPr>
                        <m:t>CL</m:t>
                      </m:r>
                      <m:r>
                        <a:rPr lang="en-GB" b="0" i="1" smtClean="0">
                          <a:latin typeface="Cambria Math" panose="02040503050406030204" pitchFamily="18" charset="0"/>
                        </a:rPr>
                        <m:t>=</m:t>
                      </m:r>
                    </m:oMath>
                  </m:oMathPara>
                </a14:m>
                <a:endParaRPr lang="en-GB" b="0" i="1" dirty="0">
                  <a:latin typeface="Cambria Math" panose="02040503050406030204" pitchFamily="18" charset="0"/>
                </a:endParaRPr>
              </a:p>
              <a:p>
                <a:pPr/>
                <a14:m>
                  <m:oMathPara xmlns:m="http://schemas.openxmlformats.org/officeDocument/2006/math">
                    <m:oMath>
                      <m:r>
                        <a:rPr lang="en-GB" i="1">
                          <a:latin typeface="Cambria Math" panose="02040503050406030204" pitchFamily="18" charset="0"/>
                        </a:rPr>
                        <m:t> </m:t>
                      </m:r>
                      <m:limLow>
                        <m:limLowPr>
                          <m:ctrlPr>
                            <a:rPr lang="en-GB" i="1">
                              <a:latin typeface="Cambria Math" panose="02040503050406030204" pitchFamily="18" charset="0"/>
                            </a:rPr>
                          </m:ctrlPr>
                        </m:limLowPr>
                        <m:e>
                          <m:groupChr>
                            <m:groupChrPr>
                              <m:chr m:val="⏟"/>
                              <m:pos m:val="bot"/>
                              <m:vertJc m:val="top"/>
                              <m:ctrlPr>
                                <a:rPr lang="en-GB" i="1">
                                  <a:latin typeface="Cambria Math" panose="02040503050406030204" pitchFamily="18" charset="0"/>
                                </a:rPr>
                              </m:ctrlPr>
                            </m:groupChrPr>
                            <m:e>
                              <m:d>
                                <m:dPr>
                                  <m:begChr m:val="{"/>
                                  <m:endChr m:val="}"/>
                                  <m:ctrlPr>
                                    <a:rPr lang="en-GB" i="1">
                                      <a:latin typeface="Cambria Math" panose="02040503050406030204" pitchFamily="18" charset="0"/>
                                    </a:rPr>
                                  </m:ctrlPr>
                                </m:dPr>
                                <m:e>
                                  <m:d>
                                    <m:dPr>
                                      <m:ctrlPr>
                                        <a:rPr lang="en-GB" i="1">
                                          <a:latin typeface="Cambria Math" panose="02040503050406030204" pitchFamily="18" charset="0"/>
                                        </a:rPr>
                                      </m:ctrlPr>
                                    </m:dPr>
                                    <m:e>
                                      <m:r>
                                        <a:rPr lang="en-GB" i="1">
                                          <a:latin typeface="Cambria Math" panose="02040503050406030204" pitchFamily="18" charset="0"/>
                                        </a:rPr>
                                        <m:t>13,757−3,185</m:t>
                                      </m:r>
                                    </m:e>
                                  </m:d>
                                  <m:r>
                                    <a:rPr lang="en-GB" i="1">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12,225−2,722</m:t>
                                      </m:r>
                                    </m:e>
                                  </m:d>
                                </m:e>
                              </m:d>
                            </m:e>
                          </m:groupChr>
                        </m:e>
                        <m:lim>
                          <m:r>
                            <m:rPr>
                              <m:sty m:val="p"/>
                            </m:rPr>
                            <a:rPr lang="el-GR" b="0" i="0" smtClean="0">
                              <a:latin typeface="Cambria Math" panose="02040503050406030204" pitchFamily="18" charset="0"/>
                            </a:rPr>
                            <m:t>Δ</m:t>
                          </m:r>
                          <m:r>
                            <m:rPr>
                              <m:sty m:val="p"/>
                            </m:rPr>
                            <a:rPr lang="en-GB" b="0" i="0" smtClean="0">
                              <a:latin typeface="Cambria Math" panose="02040503050406030204" pitchFamily="18" charset="0"/>
                            </a:rPr>
                            <m:t>CA</m:t>
                          </m:r>
                        </m:lim>
                      </m:limLow>
                      <m:r>
                        <a:rPr lang="en-GB" b="0" i="1" smtClean="0">
                          <a:latin typeface="Cambria Math" panose="02040503050406030204" pitchFamily="18" charset="0"/>
                        </a:rPr>
                        <m:t>−</m:t>
                      </m:r>
                      <m:limLow>
                        <m:limLowPr>
                          <m:ctrlPr>
                            <a:rPr lang="en-GB" i="1">
                              <a:latin typeface="Cambria Math" panose="02040503050406030204" pitchFamily="18" charset="0"/>
                            </a:rPr>
                          </m:ctrlPr>
                        </m:limLowPr>
                        <m:e>
                          <m:groupChr>
                            <m:groupChrPr>
                              <m:chr m:val="⏟"/>
                              <m:pos m:val="bot"/>
                              <m:vertJc m:val="top"/>
                              <m:ctrlPr>
                                <a:rPr lang="en-GB" i="1">
                                  <a:latin typeface="Cambria Math" panose="02040503050406030204" pitchFamily="18" charset="0"/>
                                </a:rPr>
                              </m:ctrlPr>
                            </m:groupChrPr>
                            <m:e>
                              <m:d>
                                <m:dPr>
                                  <m:begChr m:val="{"/>
                                  <m:endChr m:val="}"/>
                                  <m:ctrlPr>
                                    <a:rPr lang="en-GB" i="1">
                                      <a:latin typeface="Cambria Math" panose="02040503050406030204" pitchFamily="18" charset="0"/>
                                    </a:rPr>
                                  </m:ctrlPr>
                                </m:dPr>
                                <m:e>
                                  <m:d>
                                    <m:dPr>
                                      <m:ctrlPr>
                                        <a:rPr lang="en-GB" i="1">
                                          <a:latin typeface="Cambria Math" panose="02040503050406030204" pitchFamily="18" charset="0"/>
                                        </a:rPr>
                                      </m:ctrlPr>
                                    </m:dPr>
                                    <m:e>
                                      <m:r>
                                        <a:rPr lang="en-GB" i="1">
                                          <a:latin typeface="Cambria Math" panose="02040503050406030204" pitchFamily="18" charset="0"/>
                                        </a:rPr>
                                        <m:t>12,088−3,055</m:t>
                                      </m:r>
                                    </m:e>
                                  </m:d>
                                  <m:r>
                                    <a:rPr lang="en-GB" i="1">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11,000−2,350</m:t>
                                      </m:r>
                                    </m:e>
                                  </m:d>
                                </m:e>
                              </m:d>
                            </m:e>
                          </m:groupChr>
                        </m:e>
                        <m:lim>
                          <m:r>
                            <m:rPr>
                              <m:sty m:val="p"/>
                            </m:rPr>
                            <a:rPr lang="el-GR">
                              <a:latin typeface="Cambria Math" panose="02040503050406030204" pitchFamily="18" charset="0"/>
                            </a:rPr>
                            <m:t>Δ</m:t>
                          </m:r>
                          <m:r>
                            <m:rPr>
                              <m:sty m:val="p"/>
                            </m:rPr>
                            <a:rPr lang="en-GB">
                              <a:latin typeface="Cambria Math" panose="02040503050406030204" pitchFamily="18" charset="0"/>
                            </a:rPr>
                            <m:t>C</m:t>
                          </m:r>
                          <m:r>
                            <m:rPr>
                              <m:sty m:val="p"/>
                            </m:rPr>
                            <a:rPr lang="en-GB" b="0" i="0" smtClean="0">
                              <a:latin typeface="Cambria Math" panose="02040503050406030204" pitchFamily="18" charset="0"/>
                            </a:rPr>
                            <m:t>L</m:t>
                          </m:r>
                        </m:lim>
                      </m:limLow>
                    </m:oMath>
                  </m:oMathPara>
                </a14:m>
                <a:endParaRPr lang="en-GB" b="0" i="1" dirty="0">
                  <a:latin typeface="Cambria Math" panose="02040503050406030204" pitchFamily="18" charset="0"/>
                </a:endParaRPr>
              </a:p>
              <a:p>
                <a:pPr/>
                <a14:m>
                  <m:oMathPara xmlns:m="http://schemas.openxmlformats.org/officeDocument/2006/math">
                    <m:oMath>
                      <m:r>
                        <a:rPr lang="en-GB" b="0" i="1" smtClean="0">
                          <a:latin typeface="Cambria Math" panose="02040503050406030204" pitchFamily="18" charset="0"/>
                        </a:rPr>
                        <m:t>=686</m:t>
                      </m:r>
                    </m:oMath>
                  </m:oMathPara>
                </a14:m>
                <a:endParaRPr lang="en-GB" dirty="0"/>
              </a:p>
            </p:txBody>
          </p:sp>
        </mc:Choice>
        <mc:Fallback xmlns="">
          <p:sp>
            <p:nvSpPr>
              <p:cNvPr id="6" name="TextBox 5"/>
              <p:cNvSpPr txBox="1">
                <a:spLocks noRot="1" noChangeAspect="1" noMove="1" noResize="1" noEditPoints="1" noAdjustHandles="1" noChangeArrowheads="1" noChangeShapeType="1" noTextEdit="1"/>
              </p:cNvSpPr>
              <p:nvPr/>
            </p:nvSpPr>
            <p:spPr>
              <a:xfrm>
                <a:off x="302558" y="4400451"/>
                <a:ext cx="8157874" cy="1044773"/>
              </a:xfrm>
              <a:prstGeom prst="rect">
                <a:avLst/>
              </a:prstGeom>
              <a:blipFill>
                <a:blip r:embed="rId3"/>
                <a:stretch>
                  <a:fillRect b="-1754"/>
                </a:stretch>
              </a:blipFill>
            </p:spPr>
            <p:txBody>
              <a:bodyPr/>
              <a:lstStyle/>
              <a:p>
                <a:r>
                  <a:rPr lang="en-GB">
                    <a:noFill/>
                  </a:rPr>
                  <a:t> </a:t>
                </a:r>
              </a:p>
            </p:txBody>
          </p:sp>
        </mc:Fallback>
      </mc:AlternateContent>
    </p:spTree>
    <p:extLst>
      <p:ext uri="{BB962C8B-B14F-4D97-AF65-F5344CB8AC3E}">
        <p14:creationId xmlns:p14="http://schemas.microsoft.com/office/powerpoint/2010/main" val="1447198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2"/>
          <p:cNvSpPr>
            <a:spLocks noGrp="1" noChangeArrowheads="1"/>
          </p:cNvSpPr>
          <p:nvPr>
            <p:ph type="title"/>
          </p:nvPr>
        </p:nvSpPr>
        <p:spPr>
          <a:xfrm>
            <a:off x="179512" y="562670"/>
            <a:ext cx="8435280" cy="634082"/>
          </a:xfrm>
        </p:spPr>
        <p:txBody>
          <a:bodyPr>
            <a:noAutofit/>
          </a:bodyPr>
          <a:lstStyle/>
          <a:p>
            <a:pPr eaLnBrk="1" fontAlgn="auto" hangingPunct="1">
              <a:spcAft>
                <a:spcPts val="0"/>
              </a:spcAft>
              <a:defRPr/>
            </a:pPr>
            <a:r>
              <a:rPr lang="en-US" sz="2400" dirty="0"/>
              <a:t>Example: Volatile Working Capital? What to Choose</a:t>
            </a:r>
          </a:p>
        </p:txBody>
      </p:sp>
      <p:sp>
        <p:nvSpPr>
          <p:cNvPr id="2" name="Slide Number Placeholder 1"/>
          <p:cNvSpPr>
            <a:spLocks noGrp="1"/>
          </p:cNvSpPr>
          <p:nvPr>
            <p:ph type="sldNum" sz="quarter" idx="11"/>
          </p:nvPr>
        </p:nvSpPr>
        <p:spPr/>
        <p:txBody>
          <a:bodyPr/>
          <a:lstStyle/>
          <a:p>
            <a:pPr>
              <a:defRPr/>
            </a:pPr>
            <a:fld id="{C3168C1A-0F73-4148-A9C6-17783D0D792E}" type="slidenum">
              <a:rPr lang="en-GB" smtClean="0"/>
              <a:pPr>
                <a:defRPr/>
              </a:pPr>
              <a:t>35</a:t>
            </a:fld>
            <a:endParaRPr lang="en-GB"/>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3524768819"/>
              </p:ext>
            </p:extLst>
          </p:nvPr>
        </p:nvGraphicFramePr>
        <p:xfrm>
          <a:off x="683568" y="1196751"/>
          <a:ext cx="7704856" cy="5328592"/>
        </p:xfrm>
        <a:graphic>
          <a:graphicData uri="http://schemas.openxmlformats.org/drawingml/2006/table">
            <a:tbl>
              <a:tblPr>
                <a:tableStyleId>{9D7B26C5-4107-4FEC-AEDC-1716B250A1EF}</a:tableStyleId>
              </a:tblPr>
              <a:tblGrid>
                <a:gridCol w="1926214">
                  <a:extLst>
                    <a:ext uri="{9D8B030D-6E8A-4147-A177-3AD203B41FA5}">
                      <a16:colId xmlns:a16="http://schemas.microsoft.com/office/drawing/2014/main" val="20000"/>
                    </a:ext>
                  </a:extLst>
                </a:gridCol>
                <a:gridCol w="1926214">
                  <a:extLst>
                    <a:ext uri="{9D8B030D-6E8A-4147-A177-3AD203B41FA5}">
                      <a16:colId xmlns:a16="http://schemas.microsoft.com/office/drawing/2014/main" val="20001"/>
                    </a:ext>
                  </a:extLst>
                </a:gridCol>
                <a:gridCol w="1926214">
                  <a:extLst>
                    <a:ext uri="{9D8B030D-6E8A-4147-A177-3AD203B41FA5}">
                      <a16:colId xmlns:a16="http://schemas.microsoft.com/office/drawing/2014/main" val="20002"/>
                    </a:ext>
                  </a:extLst>
                </a:gridCol>
                <a:gridCol w="1926214">
                  <a:extLst>
                    <a:ext uri="{9D8B030D-6E8A-4147-A177-3AD203B41FA5}">
                      <a16:colId xmlns:a16="http://schemas.microsoft.com/office/drawing/2014/main" val="20003"/>
                    </a:ext>
                  </a:extLst>
                </a:gridCol>
              </a:tblGrid>
              <a:tr h="613788">
                <a:tc>
                  <a:txBody>
                    <a:bodyPr/>
                    <a:lstStyle/>
                    <a:p>
                      <a:pPr algn="ctr" fontAlgn="b"/>
                      <a:endParaRPr lang="en-GB" sz="2800" b="1" i="0" u="none" strike="noStrike" dirty="0">
                        <a:solidFill>
                          <a:srgbClr val="000000"/>
                        </a:solidFill>
                        <a:effectLst/>
                        <a:latin typeface="Times New Roman" panose="02020603050405020304" pitchFamily="18" charset="0"/>
                      </a:endParaRPr>
                    </a:p>
                  </a:txBody>
                  <a:tcPr marL="9525" marR="9525" marT="9525" marB="0" anchor="b"/>
                </a:tc>
                <a:tc>
                  <a:txBody>
                    <a:bodyPr/>
                    <a:lstStyle/>
                    <a:p>
                      <a:pPr algn="ctr" fontAlgn="ctr"/>
                      <a:r>
                        <a:rPr lang="en-GB" sz="1800" b="1" u="none" strike="noStrike" dirty="0">
                          <a:effectLst/>
                        </a:rPr>
                        <a:t>Amazon</a:t>
                      </a:r>
                      <a:endParaRPr lang="en-GB" sz="1800" b="1" i="1"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GB" sz="1800" b="1" u="none" strike="noStrike">
                          <a:effectLst/>
                        </a:rPr>
                        <a:t>Cisco</a:t>
                      </a:r>
                      <a:endParaRPr lang="en-GB" sz="1800" b="1" i="1" u="none" strike="noStrike">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GB" sz="1800" b="1" u="none" strike="noStrike" dirty="0">
                          <a:effectLst/>
                        </a:rPr>
                        <a:t>Motorola</a:t>
                      </a:r>
                      <a:endParaRPr lang="en-GB" sz="1800" b="1" i="1" u="none" strike="noStrike" dirty="0">
                        <a:solidFill>
                          <a:srgbClr val="000000"/>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10000"/>
                  </a:ext>
                </a:extLst>
              </a:tr>
              <a:tr h="613788">
                <a:tc>
                  <a:txBody>
                    <a:bodyPr/>
                    <a:lstStyle/>
                    <a:p>
                      <a:pPr algn="ctr" fontAlgn="ctr"/>
                      <a:r>
                        <a:rPr lang="en-GB" sz="1800" u="none" strike="noStrike" dirty="0">
                          <a:effectLst/>
                        </a:rPr>
                        <a:t>Revenues</a:t>
                      </a:r>
                      <a:endParaRPr lang="en-GB" sz="1800" b="0"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GB" sz="2000" u="none" strike="noStrike" dirty="0">
                          <a:effectLst/>
                        </a:rPr>
                        <a:t>$ 1,640</a:t>
                      </a:r>
                      <a:endParaRPr lang="en-GB" sz="2000" b="0"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GB" sz="2000" u="none" strike="noStrike">
                          <a:effectLst/>
                        </a:rPr>
                        <a:t>$12,154</a:t>
                      </a:r>
                      <a:endParaRPr lang="en-GB" sz="2000" b="0" i="0" u="none" strike="noStrike">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GB" sz="2000" u="none" strike="noStrike">
                          <a:effectLst/>
                        </a:rPr>
                        <a:t>$30,931</a:t>
                      </a:r>
                      <a:endParaRPr lang="en-GB" sz="2000" b="0" i="0" u="none" strike="noStrike">
                        <a:solidFill>
                          <a:srgbClr val="000000"/>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10001"/>
                  </a:ext>
                </a:extLst>
              </a:tr>
              <a:tr h="613788">
                <a:tc>
                  <a:txBody>
                    <a:bodyPr/>
                    <a:lstStyle/>
                    <a:p>
                      <a:pPr algn="ctr" fontAlgn="ctr"/>
                      <a:r>
                        <a:rPr lang="en-GB" sz="1800" u="none" strike="noStrike" dirty="0">
                          <a:effectLst/>
                        </a:rPr>
                        <a:t>Non-cash WC</a:t>
                      </a:r>
                      <a:endParaRPr lang="en-GB" sz="1800" b="0"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GB" sz="2000" u="none" strike="noStrike" dirty="0">
                          <a:effectLst/>
                        </a:rPr>
                        <a:t>-419</a:t>
                      </a:r>
                      <a:endParaRPr lang="en-GB" sz="2000" b="0"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GB" sz="2000" u="none" strike="noStrike">
                          <a:effectLst/>
                        </a:rPr>
                        <a:t>-404</a:t>
                      </a:r>
                      <a:endParaRPr lang="en-GB" sz="2000" b="0" i="0" u="none" strike="noStrike">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GB" sz="2000" u="none" strike="noStrike">
                          <a:effectLst/>
                        </a:rPr>
                        <a:t>2547</a:t>
                      </a:r>
                      <a:endParaRPr lang="en-GB" sz="2000" b="0" i="0" u="none" strike="noStrike">
                        <a:solidFill>
                          <a:srgbClr val="000000"/>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10002"/>
                  </a:ext>
                </a:extLst>
              </a:tr>
              <a:tr h="613788">
                <a:tc>
                  <a:txBody>
                    <a:bodyPr/>
                    <a:lstStyle/>
                    <a:p>
                      <a:pPr algn="ctr" fontAlgn="ctr"/>
                      <a:r>
                        <a:rPr lang="en-GB" sz="1800" u="none" strike="noStrike" dirty="0">
                          <a:effectLst/>
                        </a:rPr>
                        <a:t>% of Revenues</a:t>
                      </a:r>
                      <a:endParaRPr lang="en-GB" sz="1800" b="1"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GB" sz="2000" u="none" strike="noStrike" dirty="0">
                          <a:effectLst/>
                        </a:rPr>
                        <a:t>-25.53%</a:t>
                      </a:r>
                      <a:endParaRPr lang="en-GB" sz="2000" b="1"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GB" sz="2000" u="none" strike="noStrike">
                          <a:effectLst/>
                        </a:rPr>
                        <a:t>-3.32%</a:t>
                      </a:r>
                      <a:endParaRPr lang="en-GB" sz="2000" b="1" i="0" u="none" strike="noStrike">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GB" sz="2000" u="none" strike="noStrike">
                          <a:effectLst/>
                        </a:rPr>
                        <a:t>8.23%</a:t>
                      </a:r>
                      <a:endParaRPr lang="en-GB" sz="2000" b="1" i="0" u="none" strike="noStrike">
                        <a:solidFill>
                          <a:srgbClr val="000000"/>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10003"/>
                  </a:ext>
                </a:extLst>
              </a:tr>
              <a:tr h="652616">
                <a:tc>
                  <a:txBody>
                    <a:bodyPr/>
                    <a:lstStyle/>
                    <a:p>
                      <a:pPr algn="ctr" fontAlgn="ctr"/>
                      <a:r>
                        <a:rPr lang="el-GR" sz="1800" b="1" u="none" strike="noStrike" dirty="0">
                          <a:effectLst/>
                        </a:rPr>
                        <a:t>Δ</a:t>
                      </a:r>
                      <a:r>
                        <a:rPr lang="en-GB" sz="1800" b="1" u="none" strike="noStrike" dirty="0">
                          <a:effectLst/>
                        </a:rPr>
                        <a:t>from last year</a:t>
                      </a:r>
                      <a:endParaRPr lang="en-GB" sz="1800" b="1"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ctr" fontAlgn="b"/>
                      <a:r>
                        <a:rPr kumimoji="0" lang="en-GB" sz="2000" b="1" u="none" strike="noStrike" kern="1200" dirty="0">
                          <a:solidFill>
                            <a:schemeClr val="tx1"/>
                          </a:solidFill>
                          <a:effectLst/>
                          <a:latin typeface="+mn-lt"/>
                          <a:ea typeface="+mn-ea"/>
                          <a:cs typeface="+mn-cs"/>
                        </a:rPr>
                        <a:t>(</a:t>
                      </a:r>
                      <a:r>
                        <a:rPr lang="en-GB" sz="2000" b="1" u="none" strike="noStrike" dirty="0">
                          <a:effectLst/>
                        </a:rPr>
                        <a:t>$</a:t>
                      </a:r>
                      <a:r>
                        <a:rPr kumimoji="0" lang="en-GB" sz="2000" b="1" u="none" strike="noStrike" kern="1200" dirty="0">
                          <a:solidFill>
                            <a:schemeClr val="tx1"/>
                          </a:solidFill>
                          <a:effectLst/>
                          <a:latin typeface="+mn-lt"/>
                          <a:ea typeface="+mn-ea"/>
                          <a:cs typeface="+mn-cs"/>
                        </a:rPr>
                        <a:t>309)</a:t>
                      </a:r>
                    </a:p>
                  </a:txBody>
                  <a:tcPr marL="9525" marR="9525" marT="9525" marB="0" anchor="ctr"/>
                </a:tc>
                <a:tc>
                  <a:txBody>
                    <a:bodyPr/>
                    <a:lstStyle/>
                    <a:p>
                      <a:pPr algn="ctr" fontAlgn="ctr"/>
                      <a:r>
                        <a:rPr lang="en-GB" sz="2000" b="1" u="none" strike="noStrike" dirty="0">
                          <a:effectLst/>
                        </a:rPr>
                        <a:t>($700)</a:t>
                      </a:r>
                      <a:endParaRPr lang="en-GB" sz="2000" b="1"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GB" sz="2000" b="1" u="none" strike="noStrike" dirty="0">
                          <a:effectLst/>
                        </a:rPr>
                        <a:t>($829)</a:t>
                      </a:r>
                      <a:endParaRPr lang="en-GB" sz="2000" b="1" i="0" u="none" strike="noStrike" dirty="0">
                        <a:solidFill>
                          <a:srgbClr val="000000"/>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10004"/>
                  </a:ext>
                </a:extLst>
              </a:tr>
              <a:tr h="613788">
                <a:tc>
                  <a:txBody>
                    <a:bodyPr/>
                    <a:lstStyle/>
                    <a:p>
                      <a:pPr algn="ctr" fontAlgn="ctr"/>
                      <a:r>
                        <a:rPr lang="en-GB" sz="1800" b="1" u="none" strike="noStrike" dirty="0" err="1">
                          <a:effectLst/>
                        </a:rPr>
                        <a:t>Avg</a:t>
                      </a:r>
                      <a:r>
                        <a:rPr lang="en-GB" sz="1800" b="1" u="none" strike="noStrike" dirty="0">
                          <a:effectLst/>
                        </a:rPr>
                        <a:t>: 3 years</a:t>
                      </a:r>
                      <a:endParaRPr lang="en-GB" sz="1800" b="1"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GB" sz="2000" b="1" u="none" strike="noStrike" dirty="0">
                          <a:effectLst/>
                        </a:rPr>
                        <a:t>-15.16%</a:t>
                      </a:r>
                      <a:endParaRPr lang="en-GB" sz="2000" b="1"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GB" sz="2000" b="1" u="none" strike="noStrike" dirty="0">
                          <a:effectLst/>
                        </a:rPr>
                        <a:t>-3.16%</a:t>
                      </a:r>
                      <a:endParaRPr lang="en-GB" sz="2000" b="1"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GB" sz="2000" b="1" u="none" strike="noStrike" dirty="0">
                          <a:effectLst/>
                        </a:rPr>
                        <a:t>8.91%</a:t>
                      </a:r>
                      <a:endParaRPr lang="en-GB" sz="2000" b="1" i="0" u="none" strike="noStrike" dirty="0">
                        <a:solidFill>
                          <a:srgbClr val="000000"/>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10005"/>
                  </a:ext>
                </a:extLst>
              </a:tr>
              <a:tr h="613788">
                <a:tc>
                  <a:txBody>
                    <a:bodyPr/>
                    <a:lstStyle/>
                    <a:p>
                      <a:pPr algn="ctr" fontAlgn="ctr"/>
                      <a:r>
                        <a:rPr lang="en-GB" sz="1800" u="none" strike="noStrike" dirty="0" err="1">
                          <a:effectLst/>
                        </a:rPr>
                        <a:t>Avg</a:t>
                      </a:r>
                      <a:r>
                        <a:rPr lang="en-GB" sz="1800" u="none" strike="noStrike" dirty="0">
                          <a:effectLst/>
                        </a:rPr>
                        <a:t>: industry</a:t>
                      </a:r>
                      <a:endParaRPr lang="en-GB" sz="1800" b="1"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GB" sz="2000" u="none" strike="noStrike" dirty="0">
                          <a:effectLst/>
                        </a:rPr>
                        <a:t>8.71%</a:t>
                      </a:r>
                      <a:endParaRPr lang="en-GB" sz="2000" b="1"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GB" sz="2000" u="none" strike="noStrike">
                          <a:effectLst/>
                        </a:rPr>
                        <a:t>-2.71%</a:t>
                      </a:r>
                      <a:endParaRPr lang="en-GB" sz="2000" b="1" i="0" u="none" strike="noStrike">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GB" sz="2000" u="none" strike="noStrike" dirty="0">
                          <a:effectLst/>
                        </a:rPr>
                        <a:t>7.04%</a:t>
                      </a:r>
                      <a:endParaRPr lang="en-GB" sz="2000" b="1" i="0" u="none" strike="noStrike" dirty="0">
                        <a:solidFill>
                          <a:srgbClr val="000000"/>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10006"/>
                  </a:ext>
                </a:extLst>
              </a:tr>
              <a:tr h="379460">
                <a:tc gridSpan="2">
                  <a:txBody>
                    <a:bodyPr/>
                    <a:lstStyle/>
                    <a:p>
                      <a:pPr algn="l" fontAlgn="ctr"/>
                      <a:r>
                        <a:rPr lang="en-GB" sz="1800" u="none" strike="noStrike" dirty="0">
                          <a:effectLst/>
                        </a:rPr>
                        <a:t>Assumption in Valuation</a:t>
                      </a:r>
                      <a:endParaRPr lang="en-GB" sz="1800" b="0" i="1" u="none" strike="noStrike" dirty="0">
                        <a:solidFill>
                          <a:srgbClr val="000000"/>
                        </a:solidFill>
                        <a:effectLst/>
                        <a:latin typeface="Times New Roman" panose="02020603050405020304" pitchFamily="18" charset="0"/>
                      </a:endParaRPr>
                    </a:p>
                  </a:txBody>
                  <a:tcPr marL="9525" marR="9525" marT="9525" marB="0" anchor="b"/>
                </a:tc>
                <a:tc hMerge="1">
                  <a:txBody>
                    <a:bodyPr/>
                    <a:lstStyle/>
                    <a:p>
                      <a:pPr algn="ctr" fontAlgn="b"/>
                      <a:endParaRPr lang="en-GB" sz="2000" b="0" i="0" u="none" strike="noStrike" dirty="0">
                        <a:solidFill>
                          <a:srgbClr val="000000"/>
                        </a:solidFill>
                        <a:effectLst/>
                        <a:latin typeface="Times New Roman" panose="02020603050405020304" pitchFamily="18" charset="0"/>
                      </a:endParaRPr>
                    </a:p>
                  </a:txBody>
                  <a:tcPr marL="9525" marR="9525" marT="9525" marB="0" anchor="b"/>
                </a:tc>
                <a:tc>
                  <a:txBody>
                    <a:bodyPr/>
                    <a:lstStyle/>
                    <a:p>
                      <a:pPr algn="ctr" fontAlgn="b"/>
                      <a:endParaRPr lang="en-GB" sz="2000" b="0" i="0" u="none" strike="noStrike" dirty="0">
                        <a:solidFill>
                          <a:srgbClr val="000000"/>
                        </a:solidFill>
                        <a:effectLst/>
                        <a:latin typeface="Times New Roman" panose="02020603050405020304" pitchFamily="18" charset="0"/>
                      </a:endParaRPr>
                    </a:p>
                  </a:txBody>
                  <a:tcPr marL="9525" marR="9525" marT="9525" marB="0" anchor="b"/>
                </a:tc>
                <a:tc>
                  <a:txBody>
                    <a:bodyPr/>
                    <a:lstStyle/>
                    <a:p>
                      <a:pPr algn="ctr" fontAlgn="b"/>
                      <a:endParaRPr lang="en-GB" sz="2000" b="0" i="0" u="none" strike="noStrike" dirty="0">
                        <a:solidFill>
                          <a:srgbClr val="000000"/>
                        </a:solidFill>
                        <a:effectLst/>
                        <a:latin typeface="Times New Roman" panose="02020603050405020304" pitchFamily="18" charset="0"/>
                      </a:endParaRPr>
                    </a:p>
                  </a:txBody>
                  <a:tcPr marL="9525" marR="9525" marT="9525" marB="0" anchor="b"/>
                </a:tc>
                <a:extLst>
                  <a:ext uri="{0D108BD9-81ED-4DB2-BD59-A6C34878D82A}">
                    <a16:rowId xmlns:a16="http://schemas.microsoft.com/office/drawing/2014/main" val="10007"/>
                  </a:ext>
                </a:extLst>
              </a:tr>
              <a:tr h="613788">
                <a:tc>
                  <a:txBody>
                    <a:bodyPr/>
                    <a:lstStyle/>
                    <a:p>
                      <a:pPr algn="ctr" fontAlgn="ctr"/>
                      <a:r>
                        <a:rPr lang="en-GB" sz="1800" b="1" u="none" strike="noStrike" dirty="0">
                          <a:effectLst/>
                        </a:rPr>
                        <a:t>WC % of </a:t>
                      </a:r>
                      <a:r>
                        <a:rPr lang="en-GB" sz="1800" b="1" u="none" strike="noStrike" dirty="0" err="1">
                          <a:effectLst/>
                        </a:rPr>
                        <a:t>Reven</a:t>
                      </a:r>
                      <a:endParaRPr lang="en-GB" sz="1800" b="1"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GB" sz="2000" b="1" u="none" strike="noStrike" dirty="0">
                          <a:effectLst/>
                        </a:rPr>
                        <a:t>3.00%</a:t>
                      </a:r>
                      <a:endParaRPr lang="en-GB" sz="2000" b="1"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GB" sz="2000" b="1" u="none" strike="noStrike" dirty="0">
                          <a:effectLst/>
                        </a:rPr>
                        <a:t>0.00%</a:t>
                      </a:r>
                      <a:endParaRPr lang="en-GB" sz="2000" b="1" i="0" u="none" strike="noStrike" dirty="0">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GB" sz="2000" b="1" u="none" strike="noStrike" dirty="0">
                          <a:effectLst/>
                        </a:rPr>
                        <a:t>8.23%</a:t>
                      </a:r>
                      <a:endParaRPr lang="en-GB" sz="2000" b="1" i="0" u="none" strike="noStrike" dirty="0">
                        <a:solidFill>
                          <a:srgbClr val="000000"/>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10008"/>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850106"/>
          </a:xfrm>
        </p:spPr>
        <p:txBody>
          <a:bodyPr>
            <a:normAutofit fontScale="90000"/>
          </a:bodyPr>
          <a:lstStyle/>
          <a:p>
            <a:pPr algn="ctr"/>
            <a:r>
              <a:rPr lang="en-GB" dirty="0"/>
              <a:t>What Happens When Investments Are Volatile? Preferred Method</a:t>
            </a:r>
            <a:endParaRPr lang="en-US" dirty="0"/>
          </a:p>
        </p:txBody>
      </p:sp>
      <p:sp>
        <p:nvSpPr>
          <p:cNvPr id="3" name="Content Placeholder 2"/>
          <p:cNvSpPr>
            <a:spLocks noGrp="1"/>
          </p:cNvSpPr>
          <p:nvPr>
            <p:ph sz="quarter" idx="1"/>
          </p:nvPr>
        </p:nvSpPr>
        <p:spPr>
          <a:xfrm>
            <a:off x="481960" y="1368070"/>
            <a:ext cx="7467600" cy="4873752"/>
          </a:xfrm>
        </p:spPr>
        <p:txBody>
          <a:bodyPr/>
          <a:lstStyle/>
          <a:p>
            <a:r>
              <a:rPr lang="en-GB" dirty="0"/>
              <a:t>We can use standardized measures (Examples)</a:t>
            </a:r>
          </a:p>
          <a:p>
            <a:endParaRPr lang="en-GB" dirty="0"/>
          </a:p>
          <a:p>
            <a:endParaRPr lang="en-US" dirty="0"/>
          </a:p>
        </p:txBody>
      </p:sp>
      <p:sp>
        <p:nvSpPr>
          <p:cNvPr id="4" name="Slide Number Placeholder 3"/>
          <p:cNvSpPr>
            <a:spLocks noGrp="1"/>
          </p:cNvSpPr>
          <p:nvPr>
            <p:ph type="sldNum" sz="quarter" idx="11"/>
          </p:nvPr>
        </p:nvSpPr>
        <p:spPr/>
        <p:txBody>
          <a:bodyPr/>
          <a:lstStyle/>
          <a:p>
            <a:pPr>
              <a:defRPr/>
            </a:pPr>
            <a:fld id="{C3168C1A-0F73-4148-A9C6-17783D0D792E}" type="slidenum">
              <a:rPr lang="en-GB" smtClean="0"/>
              <a:pPr>
                <a:defRPr/>
              </a:pPr>
              <a:t>36</a:t>
            </a:fld>
            <a:endParaRPr lang="en-GB"/>
          </a:p>
        </p:txBody>
      </p:sp>
      <mc:AlternateContent xmlns:mc="http://schemas.openxmlformats.org/markup-compatibility/2006">
        <mc:Choice xmlns:a14="http://schemas.microsoft.com/office/drawing/2010/main" Requires="a14">
          <p:graphicFrame>
            <p:nvGraphicFramePr>
              <p:cNvPr id="5" name="Table 4"/>
              <p:cNvGraphicFramePr>
                <a:graphicFrameLocks noGrp="1"/>
              </p:cNvGraphicFramePr>
              <p:nvPr>
                <p:extLst>
                  <p:ext uri="{D42A27DB-BD31-4B8C-83A1-F6EECF244321}">
                    <p14:modId xmlns:p14="http://schemas.microsoft.com/office/powerpoint/2010/main" val="1028897878"/>
                  </p:ext>
                </p:extLst>
              </p:nvPr>
            </p:nvGraphicFramePr>
            <p:xfrm>
              <a:off x="444232" y="1950352"/>
              <a:ext cx="8136907" cy="4682980"/>
            </p:xfrm>
            <a:graphic>
              <a:graphicData uri="http://schemas.openxmlformats.org/drawingml/2006/table">
                <a:tbl>
                  <a:tblPr firstRow="1" bandRow="1">
                    <a:tableStyleId>{5C22544A-7EE6-4342-B048-85BDC9FD1C3A}</a:tableStyleId>
                  </a:tblPr>
                  <a:tblGrid>
                    <a:gridCol w="2460176">
                      <a:extLst>
                        <a:ext uri="{9D8B030D-6E8A-4147-A177-3AD203B41FA5}">
                          <a16:colId xmlns:a16="http://schemas.microsoft.com/office/drawing/2014/main" val="20000"/>
                        </a:ext>
                      </a:extLst>
                    </a:gridCol>
                    <a:gridCol w="5676731">
                      <a:extLst>
                        <a:ext uri="{9D8B030D-6E8A-4147-A177-3AD203B41FA5}">
                          <a16:colId xmlns:a16="http://schemas.microsoft.com/office/drawing/2014/main" val="20001"/>
                        </a:ext>
                      </a:extLst>
                    </a:gridCol>
                  </a:tblGrid>
                  <a:tr h="802963">
                    <a:tc>
                      <a:txBody>
                        <a:bodyPr/>
                        <a:lstStyle/>
                        <a:p>
                          <a:r>
                            <a:rPr lang="en-GB" dirty="0"/>
                            <a:t>Investment as a % of</a:t>
                          </a:r>
                          <a:endParaRPr lang="en-US" dirty="0"/>
                        </a:p>
                      </a:txBody>
                      <a:tcPr/>
                    </a:tc>
                    <a:tc>
                      <a:txBody>
                        <a:bodyPr/>
                        <a:lstStyle/>
                        <a:p>
                          <a:r>
                            <a:rPr lang="en-GB" dirty="0"/>
                            <a:t>Sales</a:t>
                          </a:r>
                          <a:endParaRPr lang="en-US" dirty="0"/>
                        </a:p>
                      </a:txBody>
                      <a:tcPr/>
                    </a:tc>
                    <a:extLst>
                      <a:ext uri="{0D108BD9-81ED-4DB2-BD59-A6C34878D82A}">
                        <a16:rowId xmlns:a16="http://schemas.microsoft.com/office/drawing/2014/main" val="10000"/>
                      </a:ext>
                    </a:extLst>
                  </a:tr>
                  <a:tr h="761302">
                    <a:tc>
                      <a:txBody>
                        <a:bodyPr/>
                        <a:lstStyle/>
                        <a:p>
                          <a:r>
                            <a:rPr lang="en-GB" dirty="0" err="1"/>
                            <a:t>CapEx</a:t>
                          </a:r>
                          <a:endParaRPr lang="en-US" dirty="0"/>
                        </a:p>
                      </a:txBody>
                      <a:tcPr/>
                    </a:tc>
                    <a:tc>
                      <a:txBody>
                        <a:bodyPr/>
                        <a:lstStyle/>
                        <a:p>
                          <a:pPr/>
                          <a14:m>
                            <m:oMathPara xmlns:m="http://schemas.openxmlformats.org/officeDocument/2006/math">
                              <m:o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𝑆𝑎𝑙𝑒𝑠</m:t>
                                    </m:r>
                                  </m:e>
                                  <m:sub>
                                    <m:r>
                                      <a:rPr lang="en-GB" b="0" i="1" smtClean="0">
                                        <a:latin typeface="Cambria Math" panose="02040503050406030204" pitchFamily="18" charset="0"/>
                                      </a:rPr>
                                      <m:t>𝑡</m:t>
                                    </m:r>
                                  </m:sub>
                                </m:sSub>
                                <m:r>
                                  <a:rPr lang="en-GB" b="0" i="1" smtClean="0">
                                    <a:latin typeface="Cambria Math" panose="02040503050406030204" pitchFamily="18" charset="0"/>
                                  </a:rPr>
                                  <m:t>𝑥</m:t>
                                </m:r>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𝐶𝑎𝑝𝐸𝑥</m:t>
                                        </m:r>
                                      </m:num>
                                      <m:den>
                                        <m:r>
                                          <a:rPr lang="en-GB" b="0" i="1" smtClean="0">
                                            <a:latin typeface="Cambria Math" panose="02040503050406030204" pitchFamily="18" charset="0"/>
                                          </a:rPr>
                                          <m:t>𝑆𝑎𝑙𝑒𝑠</m:t>
                                        </m:r>
                                      </m:den>
                                    </m:f>
                                  </m:e>
                                </m:d>
                              </m:oMath>
                            </m:oMathPara>
                          </a14:m>
                          <a:endParaRPr lang="en-US" dirty="0"/>
                        </a:p>
                      </a:txBody>
                      <a:tcPr/>
                    </a:tc>
                    <a:extLst>
                      <a:ext uri="{0D108BD9-81ED-4DB2-BD59-A6C34878D82A}">
                        <a16:rowId xmlns:a16="http://schemas.microsoft.com/office/drawing/2014/main" val="10001"/>
                      </a:ext>
                    </a:extLst>
                  </a:tr>
                  <a:tr h="758991">
                    <a:tc>
                      <a:txBody>
                        <a:bodyPr/>
                        <a:lstStyle/>
                        <a:p>
                          <a:r>
                            <a:rPr lang="en-GB" dirty="0"/>
                            <a:t>NCE</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𝑆𝑎𝑙𝑒𝑠</m:t>
                                  </m:r>
                                </m:e>
                                <m:sub>
                                  <m:r>
                                    <a:rPr lang="en-GB" b="0" i="1" smtClean="0">
                                      <a:latin typeface="Cambria Math" panose="02040503050406030204" pitchFamily="18" charset="0"/>
                                    </a:rPr>
                                    <m:t>𝑡</m:t>
                                  </m:r>
                                </m:sub>
                              </m:sSub>
                              <m:r>
                                <a:rPr lang="en-GB" b="0" i="1" smtClean="0">
                                  <a:latin typeface="Cambria Math" panose="02040503050406030204" pitchFamily="18" charset="0"/>
                                </a:rPr>
                                <m:t>𝑥</m:t>
                              </m:r>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𝑁𝐶𝐸</m:t>
                                      </m:r>
                                    </m:num>
                                    <m:den>
                                      <m:r>
                                        <a:rPr lang="en-GB" b="0" i="1" smtClean="0">
                                          <a:latin typeface="Cambria Math" panose="02040503050406030204" pitchFamily="18" charset="0"/>
                                        </a:rPr>
                                        <m:t>𝑆𝑎𝑙𝑒𝑠</m:t>
                                      </m:r>
                                    </m:den>
                                  </m:f>
                                </m:e>
                              </m:d>
                              <m:r>
                                <a:rPr lang="en-GB" b="0" i="1" smtClean="0">
                                  <a:latin typeface="Cambria Math" panose="02040503050406030204" pitchFamily="18" charset="0"/>
                                </a:rPr>
                                <m:t> </m:t>
                              </m:r>
                            </m:oMath>
                          </a14:m>
                          <a:r>
                            <a:rPr lang="en-GB" b="0" i="1" dirty="0">
                              <a:latin typeface="Cambria Math" panose="02040503050406030204" pitchFamily="18" charset="0"/>
                            </a:rPr>
                            <a:t>or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𝐸𝐵𝐼𝑇</m:t>
                                  </m:r>
                                </m:e>
                                <m:sub>
                                  <m:r>
                                    <a:rPr lang="en-GB" b="0" i="1" smtClean="0">
                                      <a:latin typeface="Cambria Math" panose="02040503050406030204" pitchFamily="18" charset="0"/>
                                    </a:rPr>
                                    <m:t>𝑡</m:t>
                                  </m:r>
                                </m:sub>
                              </m:sSub>
                              <m:r>
                                <a:rPr lang="en-GB" b="0" i="1" smtClean="0">
                                  <a:latin typeface="Cambria Math" panose="02040503050406030204" pitchFamily="18" charset="0"/>
                                </a:rPr>
                                <m:t>(1−</m:t>
                              </m:r>
                              <m:r>
                                <a:rPr lang="en-GB" b="0" i="1" smtClean="0">
                                  <a:latin typeface="Cambria Math" panose="02040503050406030204" pitchFamily="18" charset="0"/>
                                </a:rPr>
                                <m:t>𝑇</m:t>
                              </m:r>
                              <m:r>
                                <a:rPr lang="en-GB" b="0" i="1" smtClean="0">
                                  <a:latin typeface="Cambria Math" panose="02040503050406030204" pitchFamily="18" charset="0"/>
                                </a:rPr>
                                <m:t>)</m:t>
                              </m:r>
                              <m:r>
                                <a:rPr lang="en-GB" b="0" i="1" smtClean="0">
                                  <a:latin typeface="Cambria Math" panose="02040503050406030204" pitchFamily="18" charset="0"/>
                                </a:rPr>
                                <m:t>𝑥</m:t>
                              </m:r>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𝑁𝐶𝐸</m:t>
                                      </m:r>
                                    </m:num>
                                    <m:den>
                                      <m:r>
                                        <a:rPr lang="es-CO" b="0" i="1" smtClean="0">
                                          <a:latin typeface="Cambria Math" panose="02040503050406030204" pitchFamily="18" charset="0"/>
                                        </a:rPr>
                                        <m:t>𝐸𝐵𝐼𝑇</m:t>
                                      </m:r>
                                      <m:r>
                                        <a:rPr lang="es-CO" b="0" i="1" smtClean="0">
                                          <a:latin typeface="Cambria Math" panose="02040503050406030204" pitchFamily="18" charset="0"/>
                                        </a:rPr>
                                        <m:t> (1−</m:t>
                                      </m:r>
                                      <m:r>
                                        <a:rPr lang="es-CO" b="0" i="1" smtClean="0">
                                          <a:latin typeface="Cambria Math" panose="02040503050406030204" pitchFamily="18" charset="0"/>
                                        </a:rPr>
                                        <m:t>𝑇</m:t>
                                      </m:r>
                                      <m:r>
                                        <a:rPr lang="es-CO" b="0" i="1" smtClean="0">
                                          <a:latin typeface="Cambria Math" panose="02040503050406030204" pitchFamily="18" charset="0"/>
                                        </a:rPr>
                                        <m:t>)</m:t>
                                      </m:r>
                                    </m:den>
                                  </m:f>
                                </m:e>
                              </m:d>
                              <m:r>
                                <a:rPr lang="en-GB" b="0" i="1" smtClean="0">
                                  <a:latin typeface="Cambria Math" panose="02040503050406030204" pitchFamily="18" charset="0"/>
                                </a:rPr>
                                <m:t> </m:t>
                              </m:r>
                            </m:oMath>
                          </a14:m>
                          <a:endParaRPr lang="en-GB" b="0" i="1" dirty="0">
                            <a:latin typeface="Cambria Math" panose="02040503050406030204" pitchFamily="18" charset="0"/>
                          </a:endParaRPr>
                        </a:p>
                      </a:txBody>
                      <a:tcPr/>
                    </a:tc>
                    <a:extLst>
                      <a:ext uri="{0D108BD9-81ED-4DB2-BD59-A6C34878D82A}">
                        <a16:rowId xmlns:a16="http://schemas.microsoft.com/office/drawing/2014/main" val="10002"/>
                      </a:ext>
                    </a:extLst>
                  </a:tr>
                  <a:tr h="761302">
                    <a:tc>
                      <a:txBody>
                        <a:bodyPr/>
                        <a:lstStyle/>
                        <a:p>
                          <a:r>
                            <a:rPr lang="el-GR" dirty="0"/>
                            <a:t>Δ</a:t>
                          </a:r>
                          <a:r>
                            <a:rPr lang="en-GB" dirty="0"/>
                            <a:t>NWC</a:t>
                          </a:r>
                          <a:r>
                            <a:rPr lang="en-GB" baseline="0" dirty="0"/>
                            <a:t> </a:t>
                          </a:r>
                          <a:endParaRPr lang="en-US" dirty="0"/>
                        </a:p>
                      </a:txBody>
                      <a:tcPr/>
                    </a:tc>
                    <a:tc>
                      <a:txBody>
                        <a:bodyPr/>
                        <a:lstStyle/>
                        <a:p>
                          <a:pPr/>
                          <a14:m>
                            <m:oMathPara xmlns:m="http://schemas.openxmlformats.org/officeDocument/2006/math">
                              <m:oMath>
                                <m:sSub>
                                  <m:sSubPr>
                                    <m:ctrlPr>
                                      <a:rPr lang="el-GR" b="0" i="0" smtClean="0">
                                        <a:latin typeface="Cambria Math" panose="02040503050406030204" pitchFamily="18" charset="0"/>
                                      </a:rPr>
                                    </m:ctrlPr>
                                  </m:sSubPr>
                                  <m:e>
                                    <m:r>
                                      <m:rPr>
                                        <m:sty m:val="p"/>
                                      </m:rPr>
                                      <a:rPr lang="el-GR" b="0" i="0" smtClean="0">
                                        <a:latin typeface="Cambria Math" panose="02040503050406030204" pitchFamily="18" charset="0"/>
                                      </a:rPr>
                                      <m:t>Δ</m:t>
                                    </m:r>
                                    <m:r>
                                      <a:rPr lang="en-GB" b="0" i="1" smtClean="0">
                                        <a:latin typeface="Cambria Math" panose="02040503050406030204" pitchFamily="18" charset="0"/>
                                      </a:rPr>
                                      <m:t>𝑆𝑎𝑙𝑒𝑠</m:t>
                                    </m:r>
                                  </m:e>
                                  <m:sub>
                                    <m:r>
                                      <a:rPr lang="en-GB" b="0" i="1" smtClean="0">
                                        <a:latin typeface="Cambria Math" panose="02040503050406030204" pitchFamily="18" charset="0"/>
                                      </a:rPr>
                                      <m:t>𝑡</m:t>
                                    </m:r>
                                  </m:sub>
                                </m:sSub>
                                <m:r>
                                  <a:rPr lang="en-GB" b="0" i="1" smtClean="0">
                                    <a:latin typeface="Cambria Math" panose="02040503050406030204" pitchFamily="18" charset="0"/>
                                  </a:rPr>
                                  <m:t>𝑥</m:t>
                                </m:r>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𝑁𝑊𝐶</m:t>
                                        </m:r>
                                      </m:num>
                                      <m:den>
                                        <m:r>
                                          <a:rPr lang="en-GB" b="0" i="1" smtClean="0">
                                            <a:latin typeface="Cambria Math" panose="02040503050406030204" pitchFamily="18" charset="0"/>
                                          </a:rPr>
                                          <m:t>𝑆𝑎𝑙𝑒𝑠</m:t>
                                        </m:r>
                                      </m:den>
                                    </m:f>
                                  </m:e>
                                </m:d>
                              </m:oMath>
                            </m:oMathPara>
                          </a14:m>
                          <a:endParaRPr lang="en-US" dirty="0"/>
                        </a:p>
                      </a:txBody>
                      <a:tcPr/>
                    </a:tc>
                    <a:extLst>
                      <a:ext uri="{0D108BD9-81ED-4DB2-BD59-A6C34878D82A}">
                        <a16:rowId xmlns:a16="http://schemas.microsoft.com/office/drawing/2014/main" val="10003"/>
                      </a:ext>
                    </a:extLst>
                  </a:tr>
                  <a:tr h="465209">
                    <a:tc>
                      <a:txBody>
                        <a:bodyPr/>
                        <a:lstStyle/>
                        <a:p>
                          <a:r>
                            <a:rPr lang="en-GB" dirty="0"/>
                            <a:t>Total Investments</a:t>
                          </a:r>
                          <a:endParaRPr lang="en-US" dirty="0"/>
                        </a:p>
                      </a:txBody>
                      <a:tcPr/>
                    </a:tc>
                    <a:tc>
                      <a:txBody>
                        <a:bodyPr/>
                        <a:lstStyle/>
                        <a:p>
                          <a:pPr/>
                          <a14:m>
                            <m:oMathPara xmlns:m="http://schemas.openxmlformats.org/officeDocument/2006/math">
                              <m:o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𝑆𝑎𝑙𝑒𝑠</m:t>
                                    </m:r>
                                  </m:e>
                                  <m:sub>
                                    <m:r>
                                      <a:rPr lang="en-GB" b="0" i="1" smtClean="0">
                                        <a:latin typeface="Cambria Math" panose="02040503050406030204" pitchFamily="18" charset="0"/>
                                      </a:rPr>
                                      <m:t>𝑡</m:t>
                                    </m:r>
                                  </m:sub>
                                </m:sSub>
                                <m:r>
                                  <a:rPr lang="en-GB" b="0" i="1" smtClean="0">
                                    <a:latin typeface="Cambria Math" panose="02040503050406030204" pitchFamily="18" charset="0"/>
                                  </a:rPr>
                                  <m:t>𝑥</m:t>
                                </m:r>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𝑇𝑜𝑡𝑎𝑙</m:t>
                                        </m:r>
                                        <m:r>
                                          <a:rPr lang="en-GB" b="0" i="1" smtClean="0">
                                            <a:latin typeface="Cambria Math" panose="02040503050406030204" pitchFamily="18" charset="0"/>
                                          </a:rPr>
                                          <m:t> </m:t>
                                        </m:r>
                                        <m:r>
                                          <a:rPr lang="en-GB" b="0" i="1" smtClean="0">
                                            <a:latin typeface="Cambria Math" panose="02040503050406030204" pitchFamily="18" charset="0"/>
                                          </a:rPr>
                                          <m:t>𝐼𝑛𝑣𝑒𝑠𝑡𝑚𝑒𝑛𝑡𝑠</m:t>
                                        </m:r>
                                      </m:num>
                                      <m:den>
                                        <m:r>
                                          <a:rPr lang="en-GB" b="0" i="1" smtClean="0">
                                            <a:latin typeface="Cambria Math" panose="02040503050406030204" pitchFamily="18" charset="0"/>
                                          </a:rPr>
                                          <m:t>𝑆𝑎𝑙𝑒𝑠</m:t>
                                        </m:r>
                                      </m:den>
                                    </m:f>
                                  </m:e>
                                </m:d>
                                <m:r>
                                  <a:rPr lang="en-GB" b="0" i="1" smtClean="0">
                                    <a:latin typeface="Cambria Math" panose="02040503050406030204" pitchFamily="18" charset="0"/>
                                  </a:rPr>
                                  <m:t> </m:t>
                                </m:r>
                                <m:r>
                                  <a:rPr lang="en-GB" b="0" i="1" smtClean="0">
                                    <a:latin typeface="Cambria Math" panose="02040503050406030204" pitchFamily="18" charset="0"/>
                                  </a:rPr>
                                  <m:t>𝑜𝑟</m:t>
                                </m:r>
                              </m:oMath>
                            </m:oMathPara>
                          </a14:m>
                          <a:endParaRPr lang="en-GB" b="0" dirty="0"/>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𝐸𝐵𝐼𝑇</m:t>
                                    </m:r>
                                  </m:e>
                                  <m:sub>
                                    <m:r>
                                      <a:rPr lang="en-GB" b="0" i="1" smtClean="0">
                                        <a:latin typeface="Cambria Math" panose="02040503050406030204" pitchFamily="18" charset="0"/>
                                      </a:rPr>
                                      <m:t>𝑡</m:t>
                                    </m:r>
                                  </m:sub>
                                </m:sSub>
                                <m:r>
                                  <a:rPr lang="en-GB" b="0" i="1" smtClean="0">
                                    <a:latin typeface="Cambria Math" panose="02040503050406030204" pitchFamily="18" charset="0"/>
                                  </a:rPr>
                                  <m:t>(1−</m:t>
                                </m:r>
                                <m:r>
                                  <a:rPr lang="en-GB" b="0" i="1" smtClean="0">
                                    <a:latin typeface="Cambria Math" panose="02040503050406030204" pitchFamily="18" charset="0"/>
                                  </a:rPr>
                                  <m:t>𝑇</m:t>
                                </m:r>
                                <m:r>
                                  <a:rPr lang="en-GB" b="0" i="1" smtClean="0">
                                    <a:latin typeface="Cambria Math" panose="02040503050406030204" pitchFamily="18" charset="0"/>
                                  </a:rPr>
                                  <m:t>)</m:t>
                                </m:r>
                                <m:r>
                                  <a:rPr lang="en-GB" b="0" i="1" smtClean="0">
                                    <a:latin typeface="Cambria Math" panose="02040503050406030204" pitchFamily="18" charset="0"/>
                                  </a:rPr>
                                  <m:t>𝑥</m:t>
                                </m:r>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𝑇𝑜𝑡𝑎𝑙</m:t>
                                        </m:r>
                                        <m:r>
                                          <a:rPr lang="en-GB" b="0" i="1" smtClean="0">
                                            <a:latin typeface="Cambria Math" panose="02040503050406030204" pitchFamily="18" charset="0"/>
                                          </a:rPr>
                                          <m:t> </m:t>
                                        </m:r>
                                        <m:r>
                                          <a:rPr lang="en-GB" b="0" i="1" smtClean="0">
                                            <a:latin typeface="Cambria Math" panose="02040503050406030204" pitchFamily="18" charset="0"/>
                                          </a:rPr>
                                          <m:t>𝐼𝑛𝑣𝑒𝑠𝑡𝑚𝑒𝑛𝑡𝑠</m:t>
                                        </m:r>
                                      </m:num>
                                      <m:den>
                                        <m:r>
                                          <a:rPr lang="en-GB" b="0" i="1" smtClean="0">
                                            <a:latin typeface="Cambria Math" panose="02040503050406030204" pitchFamily="18" charset="0"/>
                                          </a:rPr>
                                          <m:t>𝐸𝐵𝐼𝑇</m:t>
                                        </m:r>
                                        <m:r>
                                          <a:rPr lang="en-GB" b="0" i="1" smtClean="0">
                                            <a:latin typeface="Cambria Math" panose="02040503050406030204" pitchFamily="18" charset="0"/>
                                          </a:rPr>
                                          <m:t>(1−</m:t>
                                        </m:r>
                                        <m:r>
                                          <a:rPr lang="en-GB" b="0" i="1" smtClean="0">
                                            <a:latin typeface="Cambria Math" panose="02040503050406030204" pitchFamily="18" charset="0"/>
                                          </a:rPr>
                                          <m:t>𝑇</m:t>
                                        </m:r>
                                        <m:r>
                                          <a:rPr lang="en-GB" b="0" i="1" smtClean="0">
                                            <a:latin typeface="Cambria Math" panose="02040503050406030204" pitchFamily="18" charset="0"/>
                                          </a:rPr>
                                          <m:t>)</m:t>
                                        </m:r>
                                      </m:den>
                                    </m:f>
                                  </m:e>
                                </m:d>
                                <m:r>
                                  <a:rPr lang="en-GB" b="0" i="1" smtClean="0">
                                    <a:latin typeface="Cambria Math" panose="02040503050406030204" pitchFamily="18" charset="0"/>
                                  </a:rPr>
                                  <m:t> </m:t>
                                </m:r>
                              </m:oMath>
                            </m:oMathPara>
                          </a14:m>
                          <a:endParaRPr lang="en-US" dirty="0"/>
                        </a:p>
                        <a:p>
                          <a:endParaRPr lang="en-US" dirty="0"/>
                        </a:p>
                      </a:txBody>
                      <a:tcPr/>
                    </a:tc>
                    <a:extLst>
                      <a:ext uri="{0D108BD9-81ED-4DB2-BD59-A6C34878D82A}">
                        <a16:rowId xmlns:a16="http://schemas.microsoft.com/office/drawing/2014/main" val="10004"/>
                      </a:ext>
                    </a:extLst>
                  </a:tr>
                </a:tbl>
              </a:graphicData>
            </a:graphic>
          </p:graphicFrame>
        </mc:Choice>
        <mc:Fallback>
          <p:graphicFrame>
            <p:nvGraphicFramePr>
              <p:cNvPr id="5" name="Table 4"/>
              <p:cNvGraphicFramePr>
                <a:graphicFrameLocks noGrp="1"/>
              </p:cNvGraphicFramePr>
              <p:nvPr>
                <p:extLst>
                  <p:ext uri="{D42A27DB-BD31-4B8C-83A1-F6EECF244321}">
                    <p14:modId xmlns:p14="http://schemas.microsoft.com/office/powerpoint/2010/main" val="1028897878"/>
                  </p:ext>
                </p:extLst>
              </p:nvPr>
            </p:nvGraphicFramePr>
            <p:xfrm>
              <a:off x="444232" y="1950352"/>
              <a:ext cx="8136907" cy="4682980"/>
            </p:xfrm>
            <a:graphic>
              <a:graphicData uri="http://schemas.openxmlformats.org/drawingml/2006/table">
                <a:tbl>
                  <a:tblPr firstRow="1" bandRow="1">
                    <a:tableStyleId>{5C22544A-7EE6-4342-B048-85BDC9FD1C3A}</a:tableStyleId>
                  </a:tblPr>
                  <a:tblGrid>
                    <a:gridCol w="2460176">
                      <a:extLst>
                        <a:ext uri="{9D8B030D-6E8A-4147-A177-3AD203B41FA5}">
                          <a16:colId xmlns:a16="http://schemas.microsoft.com/office/drawing/2014/main" val="20000"/>
                        </a:ext>
                      </a:extLst>
                    </a:gridCol>
                    <a:gridCol w="5676731">
                      <a:extLst>
                        <a:ext uri="{9D8B030D-6E8A-4147-A177-3AD203B41FA5}">
                          <a16:colId xmlns:a16="http://schemas.microsoft.com/office/drawing/2014/main" val="20001"/>
                        </a:ext>
                      </a:extLst>
                    </a:gridCol>
                  </a:tblGrid>
                  <a:tr h="802963">
                    <a:tc>
                      <a:txBody>
                        <a:bodyPr/>
                        <a:lstStyle/>
                        <a:p>
                          <a:r>
                            <a:rPr lang="en-GB" dirty="0"/>
                            <a:t>Investment as a % of</a:t>
                          </a:r>
                          <a:endParaRPr lang="en-US" dirty="0"/>
                        </a:p>
                      </a:txBody>
                      <a:tcPr/>
                    </a:tc>
                    <a:tc>
                      <a:txBody>
                        <a:bodyPr/>
                        <a:lstStyle/>
                        <a:p>
                          <a:r>
                            <a:rPr lang="en-GB" dirty="0"/>
                            <a:t>Sales</a:t>
                          </a:r>
                          <a:endParaRPr lang="en-US" dirty="0"/>
                        </a:p>
                      </a:txBody>
                      <a:tcPr/>
                    </a:tc>
                    <a:extLst>
                      <a:ext uri="{0D108BD9-81ED-4DB2-BD59-A6C34878D82A}">
                        <a16:rowId xmlns:a16="http://schemas.microsoft.com/office/drawing/2014/main" val="10000"/>
                      </a:ext>
                    </a:extLst>
                  </a:tr>
                  <a:tr h="761302">
                    <a:tc>
                      <a:txBody>
                        <a:bodyPr/>
                        <a:lstStyle/>
                        <a:p>
                          <a:r>
                            <a:rPr lang="en-GB" dirty="0" err="1"/>
                            <a:t>CapEx</a:t>
                          </a:r>
                          <a:endParaRPr lang="en-US" dirty="0"/>
                        </a:p>
                      </a:txBody>
                      <a:tcPr/>
                    </a:tc>
                    <a:tc>
                      <a:txBody>
                        <a:bodyPr/>
                        <a:lstStyle/>
                        <a:p>
                          <a:endParaRPr lang="es-CO"/>
                        </a:p>
                      </a:txBody>
                      <a:tcPr>
                        <a:blipFill>
                          <a:blip r:embed="rId3"/>
                          <a:stretch>
                            <a:fillRect l="-43455" t="-109600" r="-429" b="-412000"/>
                          </a:stretch>
                        </a:blipFill>
                      </a:tcPr>
                    </a:tc>
                    <a:extLst>
                      <a:ext uri="{0D108BD9-81ED-4DB2-BD59-A6C34878D82A}">
                        <a16:rowId xmlns:a16="http://schemas.microsoft.com/office/drawing/2014/main" val="10001"/>
                      </a:ext>
                    </a:extLst>
                  </a:tr>
                  <a:tr h="758991">
                    <a:tc>
                      <a:txBody>
                        <a:bodyPr/>
                        <a:lstStyle/>
                        <a:p>
                          <a:r>
                            <a:rPr lang="en-GB" dirty="0"/>
                            <a:t>NCE</a:t>
                          </a:r>
                          <a:endParaRPr lang="en-US" dirty="0"/>
                        </a:p>
                      </a:txBody>
                      <a:tcPr/>
                    </a:tc>
                    <a:tc>
                      <a:txBody>
                        <a:bodyPr/>
                        <a:lstStyle/>
                        <a:p>
                          <a:endParaRPr lang="es-CO"/>
                        </a:p>
                      </a:txBody>
                      <a:tcPr>
                        <a:blipFill>
                          <a:blip r:embed="rId3"/>
                          <a:stretch>
                            <a:fillRect l="-43455" t="-209600" r="-429" b="-312000"/>
                          </a:stretch>
                        </a:blipFill>
                      </a:tcPr>
                    </a:tc>
                    <a:extLst>
                      <a:ext uri="{0D108BD9-81ED-4DB2-BD59-A6C34878D82A}">
                        <a16:rowId xmlns:a16="http://schemas.microsoft.com/office/drawing/2014/main" val="10002"/>
                      </a:ext>
                    </a:extLst>
                  </a:tr>
                  <a:tr h="761302">
                    <a:tc>
                      <a:txBody>
                        <a:bodyPr/>
                        <a:lstStyle/>
                        <a:p>
                          <a:r>
                            <a:rPr lang="el-GR" dirty="0"/>
                            <a:t>Δ</a:t>
                          </a:r>
                          <a:r>
                            <a:rPr lang="en-GB" dirty="0"/>
                            <a:t>NWC</a:t>
                          </a:r>
                          <a:r>
                            <a:rPr lang="en-GB" baseline="0" dirty="0"/>
                            <a:t> </a:t>
                          </a:r>
                          <a:endParaRPr lang="en-US" dirty="0"/>
                        </a:p>
                      </a:txBody>
                      <a:tcPr/>
                    </a:tc>
                    <a:tc>
                      <a:txBody>
                        <a:bodyPr/>
                        <a:lstStyle/>
                        <a:p>
                          <a:endParaRPr lang="es-CO"/>
                        </a:p>
                      </a:txBody>
                      <a:tcPr>
                        <a:blipFill>
                          <a:blip r:embed="rId3"/>
                          <a:stretch>
                            <a:fillRect l="-43455" t="-309600" r="-429" b="-212000"/>
                          </a:stretch>
                        </a:blipFill>
                      </a:tcPr>
                    </a:tc>
                    <a:extLst>
                      <a:ext uri="{0D108BD9-81ED-4DB2-BD59-A6C34878D82A}">
                        <a16:rowId xmlns:a16="http://schemas.microsoft.com/office/drawing/2014/main" val="10003"/>
                      </a:ext>
                    </a:extLst>
                  </a:tr>
                  <a:tr h="1598422">
                    <a:tc>
                      <a:txBody>
                        <a:bodyPr/>
                        <a:lstStyle/>
                        <a:p>
                          <a:r>
                            <a:rPr lang="en-GB" dirty="0"/>
                            <a:t>Total Investments</a:t>
                          </a:r>
                          <a:endParaRPr lang="en-US" dirty="0"/>
                        </a:p>
                      </a:txBody>
                      <a:tcPr/>
                    </a:tc>
                    <a:tc>
                      <a:txBody>
                        <a:bodyPr/>
                        <a:lstStyle/>
                        <a:p>
                          <a:endParaRPr lang="es-CO"/>
                        </a:p>
                      </a:txBody>
                      <a:tcPr>
                        <a:blipFill>
                          <a:blip r:embed="rId3"/>
                          <a:stretch>
                            <a:fillRect l="-43455" t="-194677" r="-429" b="-760"/>
                          </a:stretch>
                        </a:blipFill>
                      </a:tcPr>
                    </a:tc>
                    <a:extLst>
                      <a:ext uri="{0D108BD9-81ED-4DB2-BD59-A6C34878D82A}">
                        <a16:rowId xmlns:a16="http://schemas.microsoft.com/office/drawing/2014/main" val="10004"/>
                      </a:ext>
                    </a:extLst>
                  </a:tr>
                </a:tbl>
              </a:graphicData>
            </a:graphic>
          </p:graphicFrame>
        </mc:Fallback>
      </mc:AlternateContent>
    </p:spTree>
    <p:extLst>
      <p:ext uri="{BB962C8B-B14F-4D97-AF65-F5344CB8AC3E}">
        <p14:creationId xmlns:p14="http://schemas.microsoft.com/office/powerpoint/2010/main" val="36085265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a:xfrm>
            <a:off x="0" y="274638"/>
            <a:ext cx="9144000" cy="1143000"/>
          </a:xfrm>
        </p:spPr>
        <p:txBody>
          <a:bodyPr>
            <a:noAutofit/>
          </a:bodyPr>
          <a:lstStyle/>
          <a:p>
            <a:pPr algn="ctr" eaLnBrk="1" fontAlgn="auto" hangingPunct="1">
              <a:spcAft>
                <a:spcPts val="0"/>
              </a:spcAft>
              <a:defRPr/>
            </a:pPr>
            <a:r>
              <a:rPr lang="en-US" sz="3600" b="1" dirty="0"/>
              <a:t>Dividends and Cash Flows to Equity</a:t>
            </a:r>
          </a:p>
        </p:txBody>
      </p:sp>
      <p:sp>
        <p:nvSpPr>
          <p:cNvPr id="130051" name="Rectangle 3"/>
          <p:cNvSpPr>
            <a:spLocks noGrp="1" noChangeArrowheads="1"/>
          </p:cNvSpPr>
          <p:nvPr>
            <p:ph sz="quarter" idx="1"/>
          </p:nvPr>
        </p:nvSpPr>
        <p:spPr>
          <a:xfrm>
            <a:off x="251520" y="1484784"/>
            <a:ext cx="8363272" cy="4873625"/>
          </a:xfrm>
        </p:spPr>
        <p:txBody>
          <a:bodyPr>
            <a:normAutofit lnSpcReduction="10000"/>
          </a:bodyPr>
          <a:lstStyle/>
          <a:p>
            <a:pPr marL="274320" indent="-274320" eaLnBrk="1" fontAlgn="auto" hangingPunct="1">
              <a:spcAft>
                <a:spcPts val="0"/>
              </a:spcAft>
              <a:buFont typeface="Wingdings"/>
              <a:buChar char=""/>
              <a:defRPr/>
            </a:pPr>
            <a:r>
              <a:rPr lang="en-US"/>
              <a:t>In the strictest sense, the </a:t>
            </a:r>
            <a:r>
              <a:rPr lang="en-US" u="sng"/>
              <a:t>only cash flow </a:t>
            </a:r>
            <a:r>
              <a:rPr lang="en-US"/>
              <a:t>that an investor will receive from an equity investment in a publicly traded firm is the </a:t>
            </a:r>
            <a:r>
              <a:rPr lang="en-US" u="sng"/>
              <a:t>dividend</a:t>
            </a:r>
            <a:r>
              <a:rPr lang="en-US"/>
              <a:t> that will be paid on the stock.</a:t>
            </a:r>
          </a:p>
          <a:p>
            <a:pPr marL="274320" indent="-274320" eaLnBrk="1" fontAlgn="auto" hangingPunct="1">
              <a:spcAft>
                <a:spcPts val="0"/>
              </a:spcAft>
              <a:buFont typeface="Wingdings"/>
              <a:buChar char=""/>
              <a:defRPr/>
            </a:pPr>
            <a:r>
              <a:rPr lang="en-US" u="sng"/>
              <a:t>Actual dividends</a:t>
            </a:r>
            <a:r>
              <a:rPr lang="en-US"/>
              <a:t>, however, are set by the managers of the firm and may be much</a:t>
            </a:r>
            <a:r>
              <a:rPr lang="en-US" u="sng"/>
              <a:t> lower than the potential dividends (</a:t>
            </a:r>
            <a:r>
              <a:rPr lang="en-US"/>
              <a:t>that could have been paid out)</a:t>
            </a:r>
          </a:p>
          <a:p>
            <a:pPr marL="640080" lvl="1" indent="-274320" eaLnBrk="1" fontAlgn="auto" hangingPunct="1">
              <a:spcAft>
                <a:spcPts val="0"/>
              </a:spcAft>
              <a:buFont typeface="Wingdings 2"/>
              <a:buChar char=""/>
              <a:defRPr/>
            </a:pPr>
            <a:r>
              <a:rPr lang="en-US"/>
              <a:t>managers are </a:t>
            </a:r>
            <a:r>
              <a:rPr lang="en-US" u="sng"/>
              <a:t>conservative</a:t>
            </a:r>
            <a:r>
              <a:rPr lang="en-US"/>
              <a:t> and try to smooth out dividends</a:t>
            </a:r>
          </a:p>
          <a:p>
            <a:pPr marL="640080" lvl="1" indent="-274320" eaLnBrk="1" fontAlgn="auto" hangingPunct="1">
              <a:spcAft>
                <a:spcPts val="0"/>
              </a:spcAft>
              <a:buFont typeface="Wingdings 2"/>
              <a:buChar char=""/>
              <a:defRPr/>
            </a:pPr>
            <a:r>
              <a:rPr lang="en-US"/>
              <a:t>managers </a:t>
            </a:r>
            <a:r>
              <a:rPr lang="en-US" u="sng"/>
              <a:t>like to hold on to cash </a:t>
            </a:r>
            <a:r>
              <a:rPr lang="en-US"/>
              <a:t>to meet unforeseen future contingencies and investment opportunities</a:t>
            </a:r>
          </a:p>
          <a:p>
            <a:pPr marL="274320" indent="-274320" eaLnBrk="1" fontAlgn="auto" hangingPunct="1">
              <a:spcAft>
                <a:spcPts val="0"/>
              </a:spcAft>
              <a:buFont typeface="Wingdings"/>
              <a:buChar char=""/>
              <a:defRPr/>
            </a:pPr>
            <a:r>
              <a:rPr lang="en-US"/>
              <a:t>When actual dividends are less than potential dividends, using a model that focuses only on </a:t>
            </a:r>
            <a:r>
              <a:rPr lang="en-US" u="sng"/>
              <a:t>dividends</a:t>
            </a:r>
            <a:r>
              <a:rPr lang="en-US"/>
              <a:t> will </a:t>
            </a:r>
            <a:r>
              <a:rPr lang="en-US" u="sng"/>
              <a:t>under state the true value </a:t>
            </a:r>
            <a:r>
              <a:rPr lang="en-US"/>
              <a:t>of the equity in a firm. </a:t>
            </a:r>
          </a:p>
        </p:txBody>
      </p:sp>
      <p:sp>
        <p:nvSpPr>
          <p:cNvPr id="2" name="Slide Number Placeholder 1"/>
          <p:cNvSpPr>
            <a:spLocks noGrp="1"/>
          </p:cNvSpPr>
          <p:nvPr>
            <p:ph type="sldNum" sz="quarter" idx="11"/>
          </p:nvPr>
        </p:nvSpPr>
        <p:spPr/>
        <p:txBody>
          <a:bodyPr/>
          <a:lstStyle/>
          <a:p>
            <a:pPr>
              <a:defRPr/>
            </a:pPr>
            <a:fld id="{C3168C1A-0F73-4148-A9C6-17783D0D792E}" type="slidenum">
              <a:rPr lang="en-GB" smtClean="0"/>
              <a:pPr>
                <a:defRPr/>
              </a:pPr>
              <a:t>37</a:t>
            </a:fld>
            <a:endParaRPr lang="en-GB"/>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7467600" cy="562074"/>
          </a:xfrm>
        </p:spPr>
        <p:txBody>
          <a:bodyPr/>
          <a:lstStyle/>
          <a:p>
            <a:r>
              <a:rPr lang="en-GB" dirty="0"/>
              <a:t>Dividends and SBB-Disney</a:t>
            </a:r>
          </a:p>
        </p:txBody>
      </p:sp>
      <p:sp>
        <p:nvSpPr>
          <p:cNvPr id="3" name="Content Placeholder 2"/>
          <p:cNvSpPr>
            <a:spLocks noGrp="1"/>
          </p:cNvSpPr>
          <p:nvPr>
            <p:ph sz="quarter" idx="1"/>
          </p:nvPr>
        </p:nvSpPr>
        <p:spPr>
          <a:xfrm>
            <a:off x="179512" y="692696"/>
            <a:ext cx="8640960" cy="3240360"/>
          </a:xfrm>
        </p:spPr>
        <p:txBody>
          <a:bodyPr>
            <a:noAutofit/>
          </a:bodyPr>
          <a:lstStyle/>
          <a:p>
            <a:pPr marL="0" indent="0" algn="ctr">
              <a:buNone/>
            </a:pPr>
            <a:r>
              <a:rPr lang="en-GB" sz="1400" i="1" dirty="0"/>
              <a:t>“The Company paid a $0.40 per share dividend </a:t>
            </a:r>
            <a:r>
              <a:rPr lang="en-GB" sz="1400" b="1" i="1" dirty="0"/>
              <a:t>($756 million</a:t>
            </a:r>
            <a:r>
              <a:rPr lang="en-GB" sz="1400" i="1" dirty="0"/>
              <a:t>) during the second quarter of fiscal 2011 related to fiscal 2010. The Company paid a $0.35 per share dividend ($653 million) during the second quarter of fiscal 2010 related to fiscal 2009; and paid a $0.35 per share dividend ($648 million) during the second quarter of fiscal 2009 related to fiscal 2008. As of the filing date of this report, the Board of Directors had not yet declared a dividend related to fiscal 2011.</a:t>
            </a:r>
          </a:p>
          <a:p>
            <a:pPr marL="0" indent="0" algn="ctr">
              <a:buNone/>
            </a:pPr>
            <a:r>
              <a:rPr lang="en-GB" sz="1400" i="1" dirty="0"/>
              <a:t>During fiscal 2011, the Company repurchased 135 million shares of Disney common stock </a:t>
            </a:r>
            <a:r>
              <a:rPr lang="en-GB" sz="1400" b="1" i="1" dirty="0"/>
              <a:t>for $5.0 billion</a:t>
            </a:r>
            <a:r>
              <a:rPr lang="en-GB" sz="1400" i="1" dirty="0"/>
              <a:t>. During fiscal 2010, the Company repurchased 80 million shares of Disney common stock for $2.7 billion. During fiscal 2009, the Company repurchased 5 million shares of Disney common stock for $138 million. On March 22, 2011, the Company’s Board of Directors increased the amount of shares that can be repurchased to 400 million shares as of that date. As of October 1, 2011, the Company had remaining authorization in place to repurchase 305 million additional shares.”</a:t>
            </a:r>
          </a:p>
        </p:txBody>
      </p:sp>
      <p:sp>
        <p:nvSpPr>
          <p:cNvPr id="4" name="Oval 3"/>
          <p:cNvSpPr/>
          <p:nvPr/>
        </p:nvSpPr>
        <p:spPr>
          <a:xfrm>
            <a:off x="5868144" y="3933056"/>
            <a:ext cx="576064" cy="50405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970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3334023"/>
            <a:ext cx="7212013" cy="3335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1"/>
          </p:nvPr>
        </p:nvSpPr>
        <p:spPr/>
        <p:txBody>
          <a:bodyPr/>
          <a:lstStyle/>
          <a:p>
            <a:pPr>
              <a:defRPr/>
            </a:pPr>
            <a:fld id="{C3168C1A-0F73-4148-A9C6-17783D0D792E}" type="slidenum">
              <a:rPr lang="en-GB" smtClean="0"/>
              <a:pPr>
                <a:defRPr/>
              </a:pPr>
              <a:t>38</a:t>
            </a:fld>
            <a:endParaRPr lang="en-GB"/>
          </a:p>
        </p:txBody>
      </p:sp>
    </p:spTree>
    <p:extLst>
      <p:ext uri="{BB962C8B-B14F-4D97-AF65-F5344CB8AC3E}">
        <p14:creationId xmlns:p14="http://schemas.microsoft.com/office/powerpoint/2010/main" val="33010430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xfrm>
            <a:off x="457200" y="274638"/>
            <a:ext cx="7467600" cy="418058"/>
          </a:xfrm>
        </p:spPr>
        <p:txBody>
          <a:bodyPr>
            <a:normAutofit fontScale="90000"/>
          </a:bodyPr>
          <a:lstStyle/>
          <a:p>
            <a:pPr eaLnBrk="1" fontAlgn="auto" hangingPunct="1">
              <a:spcAft>
                <a:spcPts val="0"/>
              </a:spcAft>
              <a:defRPr/>
            </a:pPr>
            <a:r>
              <a:rPr lang="en-US" dirty="0"/>
              <a:t>Measuring Potential Dividends</a:t>
            </a:r>
          </a:p>
        </p:txBody>
      </p:sp>
      <p:graphicFrame>
        <p:nvGraphicFramePr>
          <p:cNvPr id="2" name="Content Placeholder 1"/>
          <p:cNvGraphicFramePr>
            <a:graphicFrameLocks noGrp="1"/>
          </p:cNvGraphicFramePr>
          <p:nvPr>
            <p:ph sz="quarter" idx="1"/>
            <p:extLst>
              <p:ext uri="{D42A27DB-BD31-4B8C-83A1-F6EECF244321}">
                <p14:modId xmlns:p14="http://schemas.microsoft.com/office/powerpoint/2010/main" val="1890402191"/>
              </p:ext>
            </p:extLst>
          </p:nvPr>
        </p:nvGraphicFramePr>
        <p:xfrm>
          <a:off x="107504" y="764704"/>
          <a:ext cx="8712968" cy="5760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p:cNvSpPr>
            <a:spLocks noGrp="1"/>
          </p:cNvSpPr>
          <p:nvPr>
            <p:ph type="sldNum" sz="quarter" idx="11"/>
          </p:nvPr>
        </p:nvSpPr>
        <p:spPr/>
        <p:txBody>
          <a:bodyPr/>
          <a:lstStyle/>
          <a:p>
            <a:pPr>
              <a:defRPr/>
            </a:pPr>
            <a:fld id="{C3168C1A-0F73-4148-A9C6-17783D0D792E}" type="slidenum">
              <a:rPr lang="en-GB" smtClean="0"/>
              <a:pPr>
                <a:defRPr/>
              </a:pPr>
              <a:t>39</a:t>
            </a:fld>
            <a:endParaRPr lang="en-GB"/>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a:xfrm>
            <a:off x="457200" y="274638"/>
            <a:ext cx="7467600" cy="634082"/>
          </a:xfrm>
        </p:spPr>
        <p:txBody>
          <a:bodyPr/>
          <a:lstStyle/>
          <a:p>
            <a:pPr eaLnBrk="1" fontAlgn="auto" hangingPunct="1">
              <a:spcAft>
                <a:spcPts val="0"/>
              </a:spcAft>
              <a:defRPr/>
            </a:pPr>
            <a:r>
              <a:rPr lang="en-US" dirty="0"/>
              <a:t>Estimating Cash Flows: FCFE</a:t>
            </a:r>
          </a:p>
        </p:txBody>
      </p:sp>
      <p:sp>
        <p:nvSpPr>
          <p:cNvPr id="43011" name="Rectangle 3"/>
          <p:cNvSpPr>
            <a:spLocks noGrp="1" noChangeArrowheads="1"/>
          </p:cNvSpPr>
          <p:nvPr>
            <p:ph sz="quarter" idx="1"/>
          </p:nvPr>
        </p:nvSpPr>
        <p:spPr>
          <a:xfrm>
            <a:off x="467544" y="980728"/>
            <a:ext cx="7467600" cy="4873625"/>
          </a:xfrm>
        </p:spPr>
        <p:txBody>
          <a:bodyPr/>
          <a:lstStyle/>
          <a:p>
            <a:pPr eaLnBrk="1" hangingPunct="1"/>
            <a:r>
              <a:rPr lang="en-US" dirty="0"/>
              <a:t>Cash flows to Equity for a Levered Firm</a:t>
            </a:r>
          </a:p>
          <a:p>
            <a:pPr lvl="1" eaLnBrk="1" hangingPunct="1">
              <a:buFontTx/>
              <a:buNone/>
            </a:pPr>
            <a:r>
              <a:rPr lang="en-US" dirty="0"/>
              <a:t>	Net Income</a:t>
            </a:r>
          </a:p>
          <a:p>
            <a:pPr lvl="1" eaLnBrk="1" hangingPunct="1">
              <a:buFontTx/>
              <a:buNone/>
            </a:pPr>
            <a:r>
              <a:rPr lang="en-US" dirty="0"/>
              <a:t>	- (Capital Expenditures - Depreciation)</a:t>
            </a:r>
          </a:p>
          <a:p>
            <a:pPr lvl="1" eaLnBrk="1" hangingPunct="1">
              <a:buFontTx/>
              <a:buNone/>
            </a:pPr>
            <a:r>
              <a:rPr lang="en-US" dirty="0"/>
              <a:t>	- Changes in non-cash Working Capital</a:t>
            </a:r>
          </a:p>
          <a:p>
            <a:pPr lvl="1" eaLnBrk="1" hangingPunct="1">
              <a:buFontTx/>
              <a:buNone/>
            </a:pPr>
            <a:r>
              <a:rPr lang="en-US" dirty="0"/>
              <a:t>	- (Principal Repayments - New Debt Issues) 	</a:t>
            </a:r>
          </a:p>
          <a:p>
            <a:pPr lvl="1" eaLnBrk="1" hangingPunct="1">
              <a:buFontTx/>
              <a:buNone/>
            </a:pPr>
            <a:r>
              <a:rPr lang="en-US" dirty="0"/>
              <a:t>	= Free Cash flow to Equity</a:t>
            </a:r>
          </a:p>
          <a:p>
            <a:pPr eaLnBrk="1" hangingPunct="1"/>
            <a:r>
              <a:rPr lang="en-US" dirty="0"/>
              <a:t>When Leverage is Stable:</a:t>
            </a:r>
          </a:p>
          <a:p>
            <a:pPr marL="796925" lvl="1" eaLnBrk="1" fontAlgn="auto" hangingPunct="1">
              <a:spcAft>
                <a:spcPts val="0"/>
              </a:spcAft>
              <a:buFont typeface="Monotype Sorts" charset="2"/>
              <a:buNone/>
              <a:defRPr/>
            </a:pPr>
            <a:r>
              <a:rPr lang="en-US" dirty="0"/>
              <a:t>Net Income</a:t>
            </a:r>
          </a:p>
          <a:p>
            <a:pPr marL="796925" lvl="1" eaLnBrk="1" fontAlgn="auto" hangingPunct="1">
              <a:spcAft>
                <a:spcPts val="0"/>
              </a:spcAft>
              <a:buFont typeface="Monotype Sorts" charset="2"/>
              <a:buNone/>
              <a:defRPr/>
            </a:pPr>
            <a:r>
              <a:rPr lang="en-US" dirty="0"/>
              <a:t>	- (1- </a:t>
            </a:r>
            <a:r>
              <a:rPr lang="en-US" dirty="0">
                <a:latin typeface="Symbol" charset="2"/>
              </a:rPr>
              <a:t></a:t>
            </a:r>
            <a:r>
              <a:rPr lang="en-US" dirty="0"/>
              <a:t>)  (Capital Expenditures - Depreciation)</a:t>
            </a:r>
          </a:p>
          <a:p>
            <a:pPr marL="796925" lvl="1" eaLnBrk="1" fontAlgn="auto" hangingPunct="1">
              <a:spcAft>
                <a:spcPts val="0"/>
              </a:spcAft>
              <a:buFont typeface="Monotype Sorts" charset="2"/>
              <a:buNone/>
              <a:defRPr/>
            </a:pPr>
            <a:r>
              <a:rPr lang="en-US" dirty="0"/>
              <a:t>	- (1- </a:t>
            </a:r>
            <a:r>
              <a:rPr lang="en-US" dirty="0">
                <a:latin typeface="Symbol" charset="2"/>
              </a:rPr>
              <a:t></a:t>
            </a:r>
            <a:r>
              <a:rPr lang="en-US" dirty="0"/>
              <a:t>) Working Capital Needs</a:t>
            </a:r>
          </a:p>
          <a:p>
            <a:pPr marL="796925" lvl="1" eaLnBrk="1" fontAlgn="auto" hangingPunct="1">
              <a:spcAft>
                <a:spcPts val="0"/>
              </a:spcAft>
              <a:buFont typeface="Monotype Sorts" charset="2"/>
              <a:buNone/>
              <a:defRPr/>
            </a:pPr>
            <a:r>
              <a:rPr lang="en-US" dirty="0"/>
              <a:t>	= Free Cash flow to Equity</a:t>
            </a:r>
          </a:p>
          <a:p>
            <a:pPr marL="796925" lvl="1" eaLnBrk="1" fontAlgn="auto" hangingPunct="1">
              <a:spcAft>
                <a:spcPts val="0"/>
              </a:spcAft>
              <a:buFont typeface="Monotype Sorts" charset="2"/>
              <a:buNone/>
              <a:defRPr/>
            </a:pPr>
            <a:r>
              <a:rPr lang="en-US" dirty="0">
                <a:latin typeface="Symbol" charset="2"/>
              </a:rPr>
              <a:t></a:t>
            </a:r>
            <a:r>
              <a:rPr lang="en-US" dirty="0"/>
              <a:t> = Debt/Capital Ratio</a:t>
            </a:r>
          </a:p>
          <a:p>
            <a:pPr eaLnBrk="1" hangingPunct="1">
              <a:buFontTx/>
              <a:buNone/>
            </a:pPr>
            <a:endParaRPr lang="en-US" dirty="0"/>
          </a:p>
          <a:p>
            <a:pPr lvl="1" eaLnBrk="1" hangingPunct="1">
              <a:buFontTx/>
              <a:buNone/>
            </a:pPr>
            <a:endParaRPr lang="en-US" dirty="0"/>
          </a:p>
        </p:txBody>
      </p:sp>
      <p:sp>
        <p:nvSpPr>
          <p:cNvPr id="4" name="Cloud Callout 3"/>
          <p:cNvSpPr/>
          <p:nvPr/>
        </p:nvSpPr>
        <p:spPr>
          <a:xfrm>
            <a:off x="5148064" y="3068960"/>
            <a:ext cx="3960440" cy="1080120"/>
          </a:xfrm>
          <a:prstGeom prst="cloudCallout">
            <a:avLst>
              <a:gd name="adj1" fmla="val -123660"/>
              <a:gd name="adj2" fmla="val 5335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Financing Activities are the same every year</a:t>
            </a:r>
          </a:p>
        </p:txBody>
      </p:sp>
      <p:sp>
        <p:nvSpPr>
          <p:cNvPr id="2" name="Slide Number Placeholder 1"/>
          <p:cNvSpPr>
            <a:spLocks noGrp="1"/>
          </p:cNvSpPr>
          <p:nvPr>
            <p:ph type="sldNum" sz="quarter" idx="11"/>
          </p:nvPr>
        </p:nvSpPr>
        <p:spPr/>
        <p:txBody>
          <a:bodyPr/>
          <a:lstStyle/>
          <a:p>
            <a:pPr>
              <a:defRPr/>
            </a:pPr>
            <a:fld id="{C3168C1A-0F73-4148-A9C6-17783D0D792E}" type="slidenum">
              <a:rPr lang="en-GB" smtClean="0"/>
              <a:pPr>
                <a:defRPr/>
              </a:pPr>
              <a:t>40</a:t>
            </a:fld>
            <a:endParaRPr lang="en-GB"/>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p:txBody>
          <a:bodyPr/>
          <a:lstStyle/>
          <a:p>
            <a:pPr eaLnBrk="1" fontAlgn="auto" hangingPunct="1">
              <a:spcAft>
                <a:spcPts val="0"/>
              </a:spcAft>
              <a:defRPr/>
            </a:pPr>
            <a:r>
              <a:rPr lang="en-US" dirty="0"/>
              <a:t>Estimating FCFE vs Dividends: Disney (Example from 1997)</a:t>
            </a:r>
          </a:p>
        </p:txBody>
      </p:sp>
      <p:sp>
        <p:nvSpPr>
          <p:cNvPr id="136195" name="Rectangle 3"/>
          <p:cNvSpPr>
            <a:spLocks noGrp="1" noChangeArrowheads="1"/>
          </p:cNvSpPr>
          <p:nvPr>
            <p:ph sz="quarter" idx="1"/>
          </p:nvPr>
        </p:nvSpPr>
        <p:spPr>
          <a:xfrm>
            <a:off x="179512" y="1634404"/>
            <a:ext cx="8568952" cy="5178972"/>
          </a:xfrm>
        </p:spPr>
        <p:txBody>
          <a:bodyPr>
            <a:normAutofit/>
          </a:bodyPr>
          <a:lstStyle/>
          <a:p>
            <a:pPr marL="274320" indent="-274320" eaLnBrk="1" fontAlgn="auto" hangingPunct="1">
              <a:spcAft>
                <a:spcPts val="0"/>
              </a:spcAft>
              <a:buFont typeface="Wingdings"/>
              <a:buChar char=""/>
              <a:tabLst>
                <a:tab pos="2746375" algn="l"/>
                <a:tab pos="3538538" algn="l"/>
                <a:tab pos="4862513" algn="l"/>
              </a:tabLst>
              <a:defRPr/>
            </a:pPr>
            <a:r>
              <a:rPr lang="en-US" sz="2000" dirty="0"/>
              <a:t>Net Income=$ 1533 Million</a:t>
            </a:r>
          </a:p>
          <a:p>
            <a:pPr marL="274320" indent="-274320" eaLnBrk="1" fontAlgn="auto" hangingPunct="1">
              <a:spcAft>
                <a:spcPts val="0"/>
              </a:spcAft>
              <a:buFont typeface="Wingdings"/>
              <a:buChar char=""/>
              <a:tabLst>
                <a:tab pos="2746375" algn="l"/>
                <a:tab pos="3538538" algn="l"/>
                <a:tab pos="4862513" algn="l"/>
              </a:tabLst>
              <a:defRPr/>
            </a:pPr>
            <a:r>
              <a:rPr lang="en-US" sz="2000" dirty="0"/>
              <a:t>Capital spending = $ 1,746 Million</a:t>
            </a:r>
          </a:p>
          <a:p>
            <a:pPr marL="274320" indent="-274320" eaLnBrk="1" fontAlgn="auto" hangingPunct="1">
              <a:spcAft>
                <a:spcPts val="0"/>
              </a:spcAft>
              <a:buFont typeface="Wingdings"/>
              <a:buChar char=""/>
              <a:tabLst>
                <a:tab pos="2746375" algn="l"/>
                <a:tab pos="3538538" algn="l"/>
                <a:tab pos="4862513" algn="l"/>
              </a:tabLst>
              <a:defRPr/>
            </a:pPr>
            <a:r>
              <a:rPr lang="en-US" sz="2000" dirty="0"/>
              <a:t>Depreciation = $ 1,134 Million</a:t>
            </a:r>
          </a:p>
          <a:p>
            <a:pPr marL="274320" indent="-274320" eaLnBrk="1" fontAlgn="auto" hangingPunct="1">
              <a:spcAft>
                <a:spcPts val="0"/>
              </a:spcAft>
              <a:buFont typeface="Wingdings"/>
              <a:buChar char=""/>
              <a:tabLst>
                <a:tab pos="2746375" algn="l"/>
                <a:tab pos="3538538" algn="l"/>
                <a:tab pos="4862513" algn="l"/>
              </a:tabLst>
              <a:defRPr/>
            </a:pPr>
            <a:r>
              <a:rPr lang="en-US" sz="2000" dirty="0"/>
              <a:t>Increase in non-cash working capital = $ 477 Million</a:t>
            </a:r>
          </a:p>
          <a:p>
            <a:pPr marL="274320" indent="-274320" eaLnBrk="1" fontAlgn="auto" hangingPunct="1">
              <a:spcAft>
                <a:spcPts val="0"/>
              </a:spcAft>
              <a:buFont typeface="Wingdings"/>
              <a:buChar char=""/>
              <a:tabLst>
                <a:tab pos="2746375" algn="l"/>
                <a:tab pos="3538538" algn="l"/>
                <a:tab pos="4862513" algn="l"/>
              </a:tabLst>
              <a:defRPr/>
            </a:pPr>
            <a:r>
              <a:rPr lang="en-US" sz="2000" dirty="0"/>
              <a:t>Debt to Capital Ratio = 23.83%</a:t>
            </a:r>
          </a:p>
          <a:p>
            <a:pPr marL="274320" indent="-274320" eaLnBrk="1" fontAlgn="auto" hangingPunct="1">
              <a:spcAft>
                <a:spcPts val="0"/>
              </a:spcAft>
              <a:buFont typeface="Wingdings"/>
              <a:buChar char=""/>
              <a:tabLst>
                <a:tab pos="2746375" algn="l"/>
                <a:tab pos="3538538" algn="l"/>
                <a:tab pos="4862513" algn="l"/>
              </a:tabLst>
              <a:defRPr/>
            </a:pPr>
            <a:r>
              <a:rPr lang="en-US" sz="2000" dirty="0"/>
              <a:t>Estimating FCFE:</a:t>
            </a:r>
          </a:p>
          <a:p>
            <a:pPr marL="640080" lvl="1" indent="-274320" eaLnBrk="1" fontAlgn="auto" hangingPunct="1">
              <a:spcAft>
                <a:spcPts val="0"/>
              </a:spcAft>
              <a:buFontTx/>
              <a:buNone/>
              <a:tabLst>
                <a:tab pos="2746375" algn="l"/>
                <a:tab pos="3538538" algn="l"/>
                <a:tab pos="4862513" algn="l"/>
              </a:tabLst>
              <a:defRPr/>
            </a:pPr>
            <a:r>
              <a:rPr lang="en-US" sz="2000" dirty="0"/>
              <a:t>Net Income		</a:t>
            </a:r>
            <a:r>
              <a:rPr lang="el-GR" sz="2000" dirty="0"/>
              <a:t>         </a:t>
            </a:r>
            <a:r>
              <a:rPr lang="en-US" sz="2000" dirty="0"/>
              <a:t>$1,533 Mil </a:t>
            </a:r>
          </a:p>
          <a:p>
            <a:pPr marL="640080" lvl="1" indent="-274320" eaLnBrk="1" fontAlgn="auto" hangingPunct="1">
              <a:spcAft>
                <a:spcPts val="0"/>
              </a:spcAft>
              <a:buFontTx/>
              <a:buNone/>
              <a:tabLst>
                <a:tab pos="2746375" algn="l"/>
                <a:tab pos="3538538" algn="l"/>
                <a:tab pos="4862513" algn="l"/>
              </a:tabLst>
              <a:defRPr/>
            </a:pPr>
            <a:r>
              <a:rPr lang="en-US" sz="2000" dirty="0"/>
              <a:t> - (Cap. </a:t>
            </a:r>
            <a:r>
              <a:rPr lang="en-US" sz="2000" dirty="0" err="1"/>
              <a:t>Exp</a:t>
            </a:r>
            <a:r>
              <a:rPr lang="en-US" sz="2000" dirty="0"/>
              <a:t> - </a:t>
            </a:r>
            <a:r>
              <a:rPr lang="en-US" sz="2000" dirty="0" err="1"/>
              <a:t>Depr</a:t>
            </a:r>
            <a:r>
              <a:rPr lang="en-US" sz="2000" dirty="0"/>
              <a:t>)*(1-DR)</a:t>
            </a:r>
            <a:r>
              <a:rPr lang="el-GR" sz="2000" dirty="0"/>
              <a:t>         </a:t>
            </a:r>
            <a:r>
              <a:rPr lang="en-US" sz="2000" dirty="0"/>
              <a:t>$465.90 </a:t>
            </a:r>
            <a:r>
              <a:rPr lang="el-GR" sz="2000" dirty="0"/>
              <a:t> </a:t>
            </a:r>
            <a:r>
              <a:rPr lang="en-US" sz="2000" dirty="0"/>
              <a:t>[(1746-1134)(1-.2383)]</a:t>
            </a:r>
          </a:p>
          <a:p>
            <a:pPr marL="640080" lvl="1" indent="-274320" eaLnBrk="1" fontAlgn="auto" hangingPunct="1">
              <a:spcAft>
                <a:spcPts val="0"/>
              </a:spcAft>
              <a:buFontTx/>
              <a:buNone/>
              <a:tabLst>
                <a:tab pos="2746375" algn="l"/>
                <a:tab pos="3538538" algn="l"/>
                <a:tab pos="4862513" algn="l"/>
              </a:tabLst>
              <a:defRPr/>
            </a:pPr>
            <a:r>
              <a:rPr lang="en-US" sz="2000" dirty="0"/>
              <a:t> Chg. Working Capital*(1-DR)</a:t>
            </a:r>
            <a:r>
              <a:rPr lang="el-GR" sz="2000" dirty="0"/>
              <a:t>    </a:t>
            </a:r>
            <a:r>
              <a:rPr lang="en-US" sz="2000" dirty="0"/>
              <a:t>$363.33</a:t>
            </a:r>
            <a:r>
              <a:rPr lang="el-GR" sz="2000" dirty="0"/>
              <a:t> </a:t>
            </a:r>
            <a:r>
              <a:rPr lang="en-US" sz="2000" dirty="0"/>
              <a:t>[477(1-.2383)]</a:t>
            </a:r>
          </a:p>
          <a:p>
            <a:pPr marL="640080" lvl="1" indent="-274320" eaLnBrk="1" fontAlgn="auto" hangingPunct="1">
              <a:spcAft>
                <a:spcPts val="0"/>
              </a:spcAft>
              <a:buFontTx/>
              <a:buNone/>
              <a:tabLst>
                <a:tab pos="2746375" algn="l"/>
                <a:tab pos="3538538" algn="l"/>
                <a:tab pos="4862513" algn="l"/>
              </a:tabLst>
              <a:defRPr/>
            </a:pPr>
            <a:r>
              <a:rPr lang="en-US" sz="2000" b="1" dirty="0"/>
              <a:t> = Free CF to Equity	</a:t>
            </a:r>
            <a:r>
              <a:rPr lang="el-GR" sz="2000" b="1" dirty="0"/>
              <a:t>         </a:t>
            </a:r>
            <a:r>
              <a:rPr lang="en-US" sz="2000" b="1" dirty="0"/>
              <a:t>$ 704 Million</a:t>
            </a:r>
          </a:p>
          <a:p>
            <a:pPr marL="640080" lvl="1" indent="-274320" eaLnBrk="1" fontAlgn="auto" hangingPunct="1">
              <a:spcAft>
                <a:spcPts val="0"/>
              </a:spcAft>
              <a:buFontTx/>
              <a:buNone/>
              <a:tabLst>
                <a:tab pos="2746375" algn="l"/>
                <a:tab pos="3538538" algn="l"/>
                <a:tab pos="4862513" algn="l"/>
              </a:tabLst>
              <a:defRPr/>
            </a:pPr>
            <a:endParaRPr lang="en-US" sz="2000" b="1" dirty="0"/>
          </a:p>
          <a:p>
            <a:pPr marL="640080" lvl="1" indent="-274320" eaLnBrk="1" fontAlgn="auto" hangingPunct="1">
              <a:spcAft>
                <a:spcPts val="0"/>
              </a:spcAft>
              <a:buFontTx/>
              <a:buNone/>
              <a:tabLst>
                <a:tab pos="2746375" algn="l"/>
                <a:tab pos="3538538" algn="l"/>
                <a:tab pos="4862513" algn="l"/>
              </a:tabLst>
              <a:defRPr/>
            </a:pPr>
            <a:r>
              <a:rPr lang="en-US" sz="2000" b="1" dirty="0"/>
              <a:t>Dividends Paid		</a:t>
            </a:r>
            <a:r>
              <a:rPr lang="el-GR" sz="2000" b="1" dirty="0"/>
              <a:t>         </a:t>
            </a:r>
            <a:r>
              <a:rPr lang="en-US" sz="2000" b="1" dirty="0"/>
              <a:t>$ 345 Million</a:t>
            </a:r>
          </a:p>
        </p:txBody>
      </p:sp>
      <p:sp>
        <p:nvSpPr>
          <p:cNvPr id="2" name="Slide Number Placeholder 1"/>
          <p:cNvSpPr>
            <a:spLocks noGrp="1"/>
          </p:cNvSpPr>
          <p:nvPr>
            <p:ph type="sldNum" sz="quarter" idx="11"/>
          </p:nvPr>
        </p:nvSpPr>
        <p:spPr/>
        <p:txBody>
          <a:bodyPr/>
          <a:lstStyle/>
          <a:p>
            <a:pPr>
              <a:defRPr/>
            </a:pPr>
            <a:fld id="{C3168C1A-0F73-4148-A9C6-17783D0D792E}" type="slidenum">
              <a:rPr lang="en-GB" smtClean="0"/>
              <a:pPr>
                <a:defRPr/>
              </a:pPr>
              <a:t>41</a:t>
            </a:fld>
            <a:endParaRPr lang="en-GB"/>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6195">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6195">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6195">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6195">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6195">
                                            <p:txEl>
                                              <p:pRg st="9" end="9"/>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619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72388" cy="1642194"/>
          </a:xfrm>
        </p:spPr>
        <p:txBody>
          <a:bodyPr>
            <a:normAutofit/>
          </a:bodyPr>
          <a:lstStyle/>
          <a:p>
            <a:pPr algn="ctr"/>
            <a:r>
              <a:rPr lang="en-GB" dirty="0"/>
              <a:t>Disney was investing for growth and share price was going up (Despite the low Dividend</a:t>
            </a:r>
          </a:p>
        </p:txBody>
      </p:sp>
      <p:sp>
        <p:nvSpPr>
          <p:cNvPr id="4" name="Slide Number Placeholder 3"/>
          <p:cNvSpPr>
            <a:spLocks noGrp="1"/>
          </p:cNvSpPr>
          <p:nvPr>
            <p:ph type="sldNum" sz="quarter" idx="11"/>
          </p:nvPr>
        </p:nvSpPr>
        <p:spPr/>
        <p:txBody>
          <a:bodyPr/>
          <a:lstStyle/>
          <a:p>
            <a:pPr>
              <a:defRPr/>
            </a:pPr>
            <a:fld id="{C3168C1A-0F73-4148-A9C6-17783D0D792E}" type="slidenum">
              <a:rPr lang="en-GB" smtClean="0"/>
              <a:pPr>
                <a:defRPr/>
              </a:pPr>
              <a:t>42</a:t>
            </a:fld>
            <a:endParaRPr lang="en-GB"/>
          </a:p>
        </p:txBody>
      </p:sp>
      <p:pic>
        <p:nvPicPr>
          <p:cNvPr id="5" name="Picture 4"/>
          <p:cNvPicPr>
            <a:picLocks noChangeAspect="1"/>
          </p:cNvPicPr>
          <p:nvPr/>
        </p:nvPicPr>
        <p:blipFill rotWithShape="1">
          <a:blip r:embed="rId3"/>
          <a:srcRect l="24542" t="20469" r="16794" b="32281"/>
          <a:stretch/>
        </p:blipFill>
        <p:spPr>
          <a:xfrm>
            <a:off x="179512" y="2481887"/>
            <a:ext cx="8770283" cy="3971449"/>
          </a:xfrm>
          <a:prstGeom prst="rect">
            <a:avLst/>
          </a:prstGeom>
        </p:spPr>
      </p:pic>
    </p:spTree>
    <p:extLst>
      <p:ext uri="{BB962C8B-B14F-4D97-AF65-F5344CB8AC3E}">
        <p14:creationId xmlns:p14="http://schemas.microsoft.com/office/powerpoint/2010/main" val="31393168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274042"/>
          </a:xfrm>
        </p:spPr>
        <p:txBody>
          <a:bodyPr>
            <a:normAutofit fontScale="90000"/>
          </a:bodyPr>
          <a:lstStyle/>
          <a:p>
            <a:r>
              <a:rPr lang="en-GB" dirty="0"/>
              <a:t>Estimate FCFs for BMW</a:t>
            </a:r>
          </a:p>
        </p:txBody>
      </p:sp>
      <p:graphicFrame>
        <p:nvGraphicFramePr>
          <p:cNvPr id="4" name="Table 3"/>
          <p:cNvGraphicFramePr>
            <a:graphicFrameLocks noGrp="1"/>
          </p:cNvGraphicFramePr>
          <p:nvPr>
            <p:extLst>
              <p:ext uri="{D42A27DB-BD31-4B8C-83A1-F6EECF244321}">
                <p14:modId xmlns:p14="http://schemas.microsoft.com/office/powerpoint/2010/main" val="1653751235"/>
              </p:ext>
            </p:extLst>
          </p:nvPr>
        </p:nvGraphicFramePr>
        <p:xfrm>
          <a:off x="611560" y="692696"/>
          <a:ext cx="7992888" cy="1829662"/>
        </p:xfrm>
        <a:graphic>
          <a:graphicData uri="http://schemas.openxmlformats.org/drawingml/2006/table">
            <a:tbl>
              <a:tblPr firstRow="1" bandRow="1">
                <a:tableStyleId>{5C22544A-7EE6-4342-B048-85BDC9FD1C3A}</a:tableStyleId>
              </a:tblPr>
              <a:tblGrid>
                <a:gridCol w="2524070">
                  <a:extLst>
                    <a:ext uri="{9D8B030D-6E8A-4147-A177-3AD203B41FA5}">
                      <a16:colId xmlns:a16="http://schemas.microsoft.com/office/drawing/2014/main" val="20000"/>
                    </a:ext>
                  </a:extLst>
                </a:gridCol>
                <a:gridCol w="1367205">
                  <a:extLst>
                    <a:ext uri="{9D8B030D-6E8A-4147-A177-3AD203B41FA5}">
                      <a16:colId xmlns:a16="http://schemas.microsoft.com/office/drawing/2014/main" val="20001"/>
                    </a:ext>
                  </a:extLst>
                </a:gridCol>
                <a:gridCol w="2839579">
                  <a:extLst>
                    <a:ext uri="{9D8B030D-6E8A-4147-A177-3AD203B41FA5}">
                      <a16:colId xmlns:a16="http://schemas.microsoft.com/office/drawing/2014/main" val="20002"/>
                    </a:ext>
                  </a:extLst>
                </a:gridCol>
                <a:gridCol w="1262034">
                  <a:extLst>
                    <a:ext uri="{9D8B030D-6E8A-4147-A177-3AD203B41FA5}">
                      <a16:colId xmlns:a16="http://schemas.microsoft.com/office/drawing/2014/main" val="20003"/>
                    </a:ext>
                  </a:extLst>
                </a:gridCol>
              </a:tblGrid>
              <a:tr h="186223">
                <a:tc>
                  <a:txBody>
                    <a:bodyPr/>
                    <a:lstStyle/>
                    <a:p>
                      <a:r>
                        <a:rPr lang="en-GB" dirty="0"/>
                        <a:t>Values</a:t>
                      </a:r>
                    </a:p>
                  </a:txBody>
                  <a:tcPr/>
                </a:tc>
                <a:tc>
                  <a:txBody>
                    <a:bodyPr/>
                    <a:lstStyle/>
                    <a:p>
                      <a:r>
                        <a:rPr lang="en-GB" dirty="0"/>
                        <a:t>In €m</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0"/>
                  </a:ext>
                </a:extLst>
              </a:tr>
              <a:tr h="186223">
                <a:tc>
                  <a:txBody>
                    <a:bodyPr/>
                    <a:lstStyle/>
                    <a:p>
                      <a:r>
                        <a:rPr lang="en-GB" dirty="0"/>
                        <a:t>EBIT</a:t>
                      </a:r>
                    </a:p>
                  </a:txBody>
                  <a:tcPr/>
                </a:tc>
                <a:tc>
                  <a:txBody>
                    <a:bodyPr/>
                    <a:lstStyle/>
                    <a:p>
                      <a:r>
                        <a:rPr lang="en-GB" dirty="0"/>
                        <a:t>8,300</a:t>
                      </a:r>
                    </a:p>
                  </a:txBody>
                  <a:tcPr/>
                </a:tc>
                <a:tc>
                  <a:txBody>
                    <a:bodyPr/>
                    <a:lstStyle/>
                    <a:p>
                      <a:r>
                        <a:rPr lang="en-GB" dirty="0"/>
                        <a:t>Net Profit</a:t>
                      </a:r>
                    </a:p>
                  </a:txBody>
                  <a:tcPr/>
                </a:tc>
                <a:tc>
                  <a:txBody>
                    <a:bodyPr/>
                    <a:lstStyle/>
                    <a:p>
                      <a:r>
                        <a:rPr lang="en-GB" dirty="0"/>
                        <a:t>5,122</a:t>
                      </a:r>
                    </a:p>
                  </a:txBody>
                  <a:tcPr/>
                </a:tc>
                <a:extLst>
                  <a:ext uri="{0D108BD9-81ED-4DB2-BD59-A6C34878D82A}">
                    <a16:rowId xmlns:a16="http://schemas.microsoft.com/office/drawing/2014/main" val="10001"/>
                  </a:ext>
                </a:extLst>
              </a:tr>
              <a:tr h="366622">
                <a:tc>
                  <a:txBody>
                    <a:bodyPr/>
                    <a:lstStyle/>
                    <a:p>
                      <a:r>
                        <a:rPr lang="en-GB" dirty="0" err="1"/>
                        <a:t>CapEx</a:t>
                      </a:r>
                      <a:endParaRPr lang="en-GB" dirty="0"/>
                    </a:p>
                  </a:txBody>
                  <a:tcPr/>
                </a:tc>
                <a:tc>
                  <a:txBody>
                    <a:bodyPr/>
                    <a:lstStyle/>
                    <a:p>
                      <a:r>
                        <a:rPr lang="en-GB" dirty="0"/>
                        <a:t>5,240</a:t>
                      </a:r>
                    </a:p>
                  </a:txBody>
                  <a:tcPr/>
                </a:tc>
                <a:tc>
                  <a:txBody>
                    <a:bodyPr/>
                    <a:lstStyle/>
                    <a:p>
                      <a:r>
                        <a:rPr lang="en-GB" dirty="0"/>
                        <a:t>Debt</a:t>
                      </a:r>
                    </a:p>
                  </a:txBody>
                  <a:tcPr/>
                </a:tc>
                <a:tc>
                  <a:txBody>
                    <a:bodyPr/>
                    <a:lstStyle/>
                    <a:p>
                      <a:r>
                        <a:rPr lang="en-GB" dirty="0"/>
                        <a:t>69,507</a:t>
                      </a:r>
                    </a:p>
                  </a:txBody>
                  <a:tcPr/>
                </a:tc>
                <a:extLst>
                  <a:ext uri="{0D108BD9-81ED-4DB2-BD59-A6C34878D82A}">
                    <a16:rowId xmlns:a16="http://schemas.microsoft.com/office/drawing/2014/main" val="10002"/>
                  </a:ext>
                </a:extLst>
              </a:tr>
              <a:tr h="256636">
                <a:tc>
                  <a:txBody>
                    <a:bodyPr/>
                    <a:lstStyle/>
                    <a:p>
                      <a:r>
                        <a:rPr lang="en-GB" dirty="0"/>
                        <a:t>Depreciation</a:t>
                      </a:r>
                    </a:p>
                  </a:txBody>
                  <a:tcPr/>
                </a:tc>
                <a:tc>
                  <a:txBody>
                    <a:bodyPr/>
                    <a:lstStyle/>
                    <a:p>
                      <a:r>
                        <a:rPr lang="en-GB" dirty="0"/>
                        <a:t>3,541</a:t>
                      </a:r>
                    </a:p>
                  </a:txBody>
                  <a:tcPr/>
                </a:tc>
                <a:tc>
                  <a:txBody>
                    <a:bodyPr/>
                    <a:lstStyle/>
                    <a:p>
                      <a:r>
                        <a:rPr lang="en-GB" dirty="0"/>
                        <a:t>Equity</a:t>
                      </a:r>
                    </a:p>
                  </a:txBody>
                  <a:tcPr/>
                </a:tc>
                <a:tc>
                  <a:txBody>
                    <a:bodyPr/>
                    <a:lstStyle/>
                    <a:p>
                      <a:r>
                        <a:rPr lang="en-GB" dirty="0"/>
                        <a:t>30,402</a:t>
                      </a:r>
                    </a:p>
                  </a:txBody>
                  <a:tcPr/>
                </a:tc>
                <a:extLst>
                  <a:ext uri="{0D108BD9-81ED-4DB2-BD59-A6C34878D82A}">
                    <a16:rowId xmlns:a16="http://schemas.microsoft.com/office/drawing/2014/main" val="10003"/>
                  </a:ext>
                </a:extLst>
              </a:tr>
              <a:tr h="186223">
                <a:tc>
                  <a:txBody>
                    <a:bodyPr/>
                    <a:lstStyle/>
                    <a:p>
                      <a:r>
                        <a:rPr lang="el-GR" dirty="0"/>
                        <a:t>Δ</a:t>
                      </a:r>
                      <a:r>
                        <a:rPr lang="en-GB" dirty="0"/>
                        <a:t>NWC</a:t>
                      </a:r>
                    </a:p>
                  </a:txBody>
                  <a:tcPr/>
                </a:tc>
                <a:tc>
                  <a:txBody>
                    <a:bodyPr/>
                    <a:lstStyle/>
                    <a:p>
                      <a:r>
                        <a:rPr lang="en-GB" dirty="0"/>
                        <a:t>1,755</a:t>
                      </a:r>
                    </a:p>
                  </a:txBody>
                  <a:tcPr/>
                </a:tc>
                <a:tc>
                  <a:txBody>
                    <a:bodyPr/>
                    <a:lstStyle/>
                    <a:p>
                      <a:r>
                        <a:rPr lang="en-GB" dirty="0"/>
                        <a:t>Tax</a:t>
                      </a:r>
                    </a:p>
                  </a:txBody>
                  <a:tcPr/>
                </a:tc>
                <a:tc>
                  <a:txBody>
                    <a:bodyPr/>
                    <a:lstStyle/>
                    <a:p>
                      <a:r>
                        <a:rPr lang="en-GB" dirty="0"/>
                        <a:t>15.8%</a:t>
                      </a:r>
                    </a:p>
                  </a:txBody>
                  <a:tcPr/>
                </a:tc>
                <a:extLst>
                  <a:ext uri="{0D108BD9-81ED-4DB2-BD59-A6C34878D82A}">
                    <a16:rowId xmlns:a16="http://schemas.microsoft.com/office/drawing/2014/main" val="10004"/>
                  </a:ext>
                </a:extLst>
              </a:tr>
            </a:tbl>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1741738322"/>
              </p:ext>
            </p:extLst>
          </p:nvPr>
        </p:nvGraphicFramePr>
        <p:xfrm>
          <a:off x="2274888" y="2852738"/>
          <a:ext cx="4343400" cy="739775"/>
        </p:xfrm>
        <a:graphic>
          <a:graphicData uri="http://schemas.openxmlformats.org/presentationml/2006/ole">
            <mc:AlternateContent xmlns:mc="http://schemas.openxmlformats.org/markup-compatibility/2006">
              <mc:Choice xmlns:v="urn:schemas-microsoft-com:vml" Requires="v">
                <p:oleObj name="Equation" r:id="rId3" imgW="2463480" imgH="419040" progId="Equation.3">
                  <p:embed/>
                </p:oleObj>
              </mc:Choice>
              <mc:Fallback>
                <p:oleObj name="Equation" r:id="rId3" imgW="2463480" imgH="419040" progId="Equation.3">
                  <p:embed/>
                  <p:pic>
                    <p:nvPicPr>
                      <p:cNvPr id="5" name="Object 4"/>
                      <p:cNvPicPr/>
                      <p:nvPr/>
                    </p:nvPicPr>
                    <p:blipFill>
                      <a:blip r:embed="rId4"/>
                      <a:stretch>
                        <a:fillRect/>
                      </a:stretch>
                    </p:blipFill>
                    <p:spPr>
                      <a:xfrm>
                        <a:off x="2274888" y="2852738"/>
                        <a:ext cx="4343400" cy="739775"/>
                      </a:xfrm>
                      <a:prstGeom prst="rect">
                        <a:avLst/>
                      </a:prstGeom>
                    </p:spPr>
                  </p:pic>
                </p:oleObj>
              </mc:Fallback>
            </mc:AlternateContent>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375939026"/>
              </p:ext>
            </p:extLst>
          </p:nvPr>
        </p:nvGraphicFramePr>
        <p:xfrm>
          <a:off x="611560" y="4149080"/>
          <a:ext cx="7992888" cy="2377440"/>
        </p:xfrm>
        <a:graphic>
          <a:graphicData uri="http://schemas.openxmlformats.org/drawingml/2006/table">
            <a:tbl>
              <a:tblPr firstRow="1" bandRow="1">
                <a:tableStyleId>{5C22544A-7EE6-4342-B048-85BDC9FD1C3A}</a:tableStyleId>
              </a:tblPr>
              <a:tblGrid>
                <a:gridCol w="1800200">
                  <a:extLst>
                    <a:ext uri="{9D8B030D-6E8A-4147-A177-3AD203B41FA5}">
                      <a16:colId xmlns:a16="http://schemas.microsoft.com/office/drawing/2014/main" val="20000"/>
                    </a:ext>
                  </a:extLst>
                </a:gridCol>
                <a:gridCol w="2016224">
                  <a:extLst>
                    <a:ext uri="{9D8B030D-6E8A-4147-A177-3AD203B41FA5}">
                      <a16:colId xmlns:a16="http://schemas.microsoft.com/office/drawing/2014/main" val="20001"/>
                    </a:ext>
                  </a:extLst>
                </a:gridCol>
                <a:gridCol w="2232248">
                  <a:extLst>
                    <a:ext uri="{9D8B030D-6E8A-4147-A177-3AD203B41FA5}">
                      <a16:colId xmlns:a16="http://schemas.microsoft.com/office/drawing/2014/main" val="20002"/>
                    </a:ext>
                  </a:extLst>
                </a:gridCol>
                <a:gridCol w="1944216">
                  <a:extLst>
                    <a:ext uri="{9D8B030D-6E8A-4147-A177-3AD203B41FA5}">
                      <a16:colId xmlns:a16="http://schemas.microsoft.com/office/drawing/2014/main" val="20003"/>
                    </a:ext>
                  </a:extLst>
                </a:gridCol>
              </a:tblGrid>
              <a:tr h="186223">
                <a:tc gridSpan="4">
                  <a:txBody>
                    <a:bodyPr/>
                    <a:lstStyle/>
                    <a:p>
                      <a:pPr algn="ctr"/>
                      <a:r>
                        <a:rPr lang="en-GB" dirty="0"/>
                        <a:t>CASH FLOWS</a:t>
                      </a:r>
                    </a:p>
                  </a:txBody>
                  <a:tcPr anchor="ctr"/>
                </a:tc>
                <a:tc hMerge="1">
                  <a:txBody>
                    <a:bodyPr/>
                    <a:lstStyle/>
                    <a:p>
                      <a:endParaRPr lang="en-GB" dirty="0"/>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10000"/>
                  </a:ext>
                </a:extLst>
              </a:tr>
              <a:tr h="186223">
                <a:tc>
                  <a:txBody>
                    <a:bodyPr/>
                    <a:lstStyle/>
                    <a:p>
                      <a:pPr algn="l"/>
                      <a:r>
                        <a:rPr lang="en-GB" dirty="0"/>
                        <a:t>EBIT(1-T)</a:t>
                      </a:r>
                    </a:p>
                  </a:txBody>
                  <a:tcPr/>
                </a:tc>
                <a:tc>
                  <a:txBody>
                    <a:bodyPr/>
                    <a:lstStyle/>
                    <a:p>
                      <a:pPr algn="ctr"/>
                      <a:r>
                        <a:rPr lang="en-GB" dirty="0"/>
                        <a:t>8,300(1-0.158)</a:t>
                      </a:r>
                    </a:p>
                  </a:txBody>
                  <a:tcPr/>
                </a:tc>
                <a:tc>
                  <a:txBody>
                    <a:bodyPr/>
                    <a:lstStyle/>
                    <a:p>
                      <a:pPr algn="l"/>
                      <a:r>
                        <a:rPr lang="en-GB" dirty="0"/>
                        <a:t>Net Profit</a:t>
                      </a:r>
                    </a:p>
                  </a:txBody>
                  <a:tcPr/>
                </a:tc>
                <a:tc>
                  <a:txBody>
                    <a:bodyPr/>
                    <a:lstStyle/>
                    <a:p>
                      <a:pPr algn="ctr"/>
                      <a:r>
                        <a:rPr lang="en-GB" dirty="0"/>
                        <a:t>5,122</a:t>
                      </a:r>
                    </a:p>
                  </a:txBody>
                  <a:tcPr/>
                </a:tc>
                <a:extLst>
                  <a:ext uri="{0D108BD9-81ED-4DB2-BD59-A6C34878D82A}">
                    <a16:rowId xmlns:a16="http://schemas.microsoft.com/office/drawing/2014/main" val="10001"/>
                  </a:ext>
                </a:extLst>
              </a:tr>
              <a:tr h="366622">
                <a:tc>
                  <a:txBody>
                    <a:bodyPr/>
                    <a:lstStyle/>
                    <a:p>
                      <a:pPr algn="l"/>
                      <a:r>
                        <a:rPr lang="en-GB" dirty="0"/>
                        <a:t>-(</a:t>
                      </a:r>
                      <a:r>
                        <a:rPr lang="en-GB" dirty="0" err="1"/>
                        <a:t>CapEx-Dep</a:t>
                      </a:r>
                      <a:r>
                        <a:rPr lang="en-GB" dirty="0"/>
                        <a:t>)</a:t>
                      </a:r>
                    </a:p>
                  </a:txBody>
                  <a:tcPr/>
                </a:tc>
                <a:tc>
                  <a:txBody>
                    <a:bodyPr/>
                    <a:lstStyle/>
                    <a:p>
                      <a:pPr algn="ctr"/>
                      <a:r>
                        <a:rPr lang="en-GB" dirty="0"/>
                        <a:t>(5,240-3,541)</a:t>
                      </a:r>
                    </a:p>
                  </a:txBody>
                  <a:tcPr/>
                </a:tc>
                <a:tc>
                  <a:txBody>
                    <a:bodyPr/>
                    <a:lstStyle/>
                    <a:p>
                      <a:pPr algn="l"/>
                      <a:r>
                        <a:rPr lang="en-GB" dirty="0"/>
                        <a:t>-(1-</a:t>
                      </a:r>
                      <a:r>
                        <a:rPr lang="el-GR" dirty="0"/>
                        <a:t>δ)</a:t>
                      </a:r>
                      <a:r>
                        <a:rPr lang="en-GB" dirty="0"/>
                        <a:t>(</a:t>
                      </a:r>
                      <a:r>
                        <a:rPr lang="en-GB" dirty="0" err="1"/>
                        <a:t>CapEx-Dep</a:t>
                      </a:r>
                      <a:r>
                        <a:rPr lang="en-GB" dirty="0"/>
                        <a:t>)</a:t>
                      </a:r>
                    </a:p>
                  </a:txBody>
                  <a:tcPr/>
                </a:tc>
                <a:tc>
                  <a:txBody>
                    <a:bodyPr/>
                    <a:lstStyle/>
                    <a:p>
                      <a:pPr algn="ctr"/>
                      <a:r>
                        <a:rPr lang="en-GB" dirty="0"/>
                        <a:t>(1-0.6957)</a:t>
                      </a:r>
                    </a:p>
                    <a:p>
                      <a:pPr algn="ctr"/>
                      <a:r>
                        <a:rPr lang="en-GB" dirty="0"/>
                        <a:t>(5,240-3,541)</a:t>
                      </a:r>
                    </a:p>
                  </a:txBody>
                  <a:tcPr/>
                </a:tc>
                <a:extLst>
                  <a:ext uri="{0D108BD9-81ED-4DB2-BD59-A6C34878D82A}">
                    <a16:rowId xmlns:a16="http://schemas.microsoft.com/office/drawing/2014/main" val="10002"/>
                  </a:ext>
                </a:extLst>
              </a:tr>
              <a:tr h="256636">
                <a:tc>
                  <a:txBody>
                    <a:bodyPr/>
                    <a:lstStyle/>
                    <a:p>
                      <a:pPr algn="l"/>
                      <a:r>
                        <a:rPr lang="en-GB" dirty="0"/>
                        <a:t>- (</a:t>
                      </a:r>
                      <a:r>
                        <a:rPr lang="el-GR" dirty="0"/>
                        <a:t>Δ</a:t>
                      </a:r>
                      <a:r>
                        <a:rPr lang="en-GB" dirty="0"/>
                        <a:t>NWC)</a:t>
                      </a:r>
                    </a:p>
                  </a:txBody>
                  <a:tcPr/>
                </a:tc>
                <a:tc>
                  <a:txBody>
                    <a:bodyPr/>
                    <a:lstStyle/>
                    <a:p>
                      <a:pPr algn="ctr"/>
                      <a:r>
                        <a:rPr lang="en-GB" dirty="0"/>
                        <a:t>1,755</a:t>
                      </a:r>
                    </a:p>
                    <a:p>
                      <a:pPr algn="ctr"/>
                      <a:endParaRPr lang="en-GB" dirty="0"/>
                    </a:p>
                  </a:txBody>
                  <a:tcPr/>
                </a:tc>
                <a:tc>
                  <a:txBody>
                    <a:bodyPr/>
                    <a:lstStyle/>
                    <a:p>
                      <a:pPr algn="l"/>
                      <a:r>
                        <a:rPr lang="en-GB" dirty="0"/>
                        <a:t>-(1-</a:t>
                      </a:r>
                      <a:r>
                        <a:rPr lang="el-GR" dirty="0"/>
                        <a:t>δ)</a:t>
                      </a:r>
                      <a:r>
                        <a:rPr lang="en-GB" dirty="0"/>
                        <a:t>(</a:t>
                      </a:r>
                      <a:r>
                        <a:rPr lang="el-GR" dirty="0"/>
                        <a:t>Δ</a:t>
                      </a:r>
                      <a:r>
                        <a:rPr lang="en-GB" dirty="0"/>
                        <a:t>NWC)</a:t>
                      </a:r>
                    </a:p>
                  </a:txBody>
                  <a:tcPr/>
                </a:tc>
                <a:tc>
                  <a:txBody>
                    <a:bodyPr/>
                    <a:lstStyle/>
                    <a:p>
                      <a:pPr algn="ctr"/>
                      <a:r>
                        <a:rPr lang="en-GB" dirty="0"/>
                        <a:t>(1-0.6957)</a:t>
                      </a:r>
                    </a:p>
                    <a:p>
                      <a:pPr algn="ctr"/>
                      <a:r>
                        <a:rPr lang="en-GB" dirty="0"/>
                        <a:t>1,755</a:t>
                      </a:r>
                    </a:p>
                  </a:txBody>
                  <a:tcPr/>
                </a:tc>
                <a:extLst>
                  <a:ext uri="{0D108BD9-81ED-4DB2-BD59-A6C34878D82A}">
                    <a16:rowId xmlns:a16="http://schemas.microsoft.com/office/drawing/2014/main" val="10003"/>
                  </a:ext>
                </a:extLst>
              </a:tr>
              <a:tr h="186223">
                <a:tc>
                  <a:txBody>
                    <a:bodyPr/>
                    <a:lstStyle/>
                    <a:p>
                      <a:pPr algn="l"/>
                      <a:r>
                        <a:rPr lang="en-GB" b="1" dirty="0"/>
                        <a:t>FCFF</a:t>
                      </a:r>
                    </a:p>
                  </a:txBody>
                  <a:tcPr/>
                </a:tc>
                <a:tc>
                  <a:txBody>
                    <a:bodyPr/>
                    <a:lstStyle/>
                    <a:p>
                      <a:pPr algn="ctr"/>
                      <a:r>
                        <a:rPr lang="en-GB" b="1" dirty="0"/>
                        <a:t>3,534.6</a:t>
                      </a:r>
                    </a:p>
                  </a:txBody>
                  <a:tcPr/>
                </a:tc>
                <a:tc>
                  <a:txBody>
                    <a:bodyPr/>
                    <a:lstStyle/>
                    <a:p>
                      <a:pPr algn="l"/>
                      <a:r>
                        <a:rPr lang="en-GB" b="1" dirty="0"/>
                        <a:t>FCFE</a:t>
                      </a:r>
                    </a:p>
                  </a:txBody>
                  <a:tcPr/>
                </a:tc>
                <a:tc>
                  <a:txBody>
                    <a:bodyPr/>
                    <a:lstStyle/>
                    <a:p>
                      <a:pPr algn="ctr"/>
                      <a:r>
                        <a:rPr lang="en-GB" b="1" dirty="0"/>
                        <a:t>4,070.95</a:t>
                      </a:r>
                    </a:p>
                  </a:txBody>
                  <a:tcPr/>
                </a:tc>
                <a:extLst>
                  <a:ext uri="{0D108BD9-81ED-4DB2-BD59-A6C34878D82A}">
                    <a16:rowId xmlns:a16="http://schemas.microsoft.com/office/drawing/2014/main" val="10004"/>
                  </a:ext>
                </a:extLst>
              </a:tr>
            </a:tbl>
          </a:graphicData>
        </a:graphic>
      </p:graphicFrame>
      <p:sp>
        <p:nvSpPr>
          <p:cNvPr id="3" name="Slide Number Placeholder 2"/>
          <p:cNvSpPr>
            <a:spLocks noGrp="1"/>
          </p:cNvSpPr>
          <p:nvPr>
            <p:ph type="sldNum" sz="quarter" idx="11"/>
          </p:nvPr>
        </p:nvSpPr>
        <p:spPr/>
        <p:txBody>
          <a:bodyPr/>
          <a:lstStyle/>
          <a:p>
            <a:pPr>
              <a:defRPr/>
            </a:pPr>
            <a:fld id="{C3168C1A-0F73-4148-A9C6-17783D0D792E}" type="slidenum">
              <a:rPr lang="en-GB" smtClean="0"/>
              <a:pPr>
                <a:defRPr/>
              </a:pPr>
              <a:t>43</a:t>
            </a:fld>
            <a:endParaRPr lang="en-GB"/>
          </a:p>
        </p:txBody>
      </p:sp>
    </p:spTree>
    <p:extLst>
      <p:ext uri="{BB962C8B-B14F-4D97-AF65-F5344CB8AC3E}">
        <p14:creationId xmlns:p14="http://schemas.microsoft.com/office/powerpoint/2010/main" val="2922084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24E2D-2972-530B-E9EF-B514ECB1B3FF}"/>
              </a:ext>
            </a:extLst>
          </p:cNvPr>
          <p:cNvSpPr>
            <a:spLocks noGrp="1"/>
          </p:cNvSpPr>
          <p:nvPr>
            <p:ph type="title"/>
          </p:nvPr>
        </p:nvSpPr>
        <p:spPr>
          <a:xfrm>
            <a:off x="457200" y="274638"/>
            <a:ext cx="7467600" cy="778098"/>
          </a:xfrm>
        </p:spPr>
        <p:txBody>
          <a:bodyPr/>
          <a:lstStyle/>
          <a:p>
            <a:r>
              <a:rPr lang="en-GB" dirty="0"/>
              <a:t>FCFF and FCFE for Nestle</a:t>
            </a:r>
          </a:p>
        </p:txBody>
      </p:sp>
      <p:graphicFrame>
        <p:nvGraphicFramePr>
          <p:cNvPr id="5" name="Content Placeholder 4">
            <a:extLst>
              <a:ext uri="{FF2B5EF4-FFF2-40B4-BE49-F238E27FC236}">
                <a16:creationId xmlns:a16="http://schemas.microsoft.com/office/drawing/2014/main" id="{AA5F12C3-EDCE-363B-F232-AA7025589A38}"/>
              </a:ext>
            </a:extLst>
          </p:cNvPr>
          <p:cNvGraphicFramePr>
            <a:graphicFrameLocks noGrp="1"/>
          </p:cNvGraphicFramePr>
          <p:nvPr>
            <p:ph sz="quarter" idx="1"/>
            <p:extLst>
              <p:ext uri="{D42A27DB-BD31-4B8C-83A1-F6EECF244321}">
                <p14:modId xmlns:p14="http://schemas.microsoft.com/office/powerpoint/2010/main" val="3417092774"/>
              </p:ext>
            </p:extLst>
          </p:nvPr>
        </p:nvGraphicFramePr>
        <p:xfrm>
          <a:off x="179512" y="1196752"/>
          <a:ext cx="8784976" cy="54726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1EB55366-7E93-6158-DF8F-110D3CBE229F}"/>
              </a:ext>
            </a:extLst>
          </p:cNvPr>
          <p:cNvSpPr>
            <a:spLocks noGrp="1"/>
          </p:cNvSpPr>
          <p:nvPr>
            <p:ph type="sldNum" sz="quarter" idx="11"/>
          </p:nvPr>
        </p:nvSpPr>
        <p:spPr/>
        <p:txBody>
          <a:bodyPr/>
          <a:lstStyle/>
          <a:p>
            <a:pPr>
              <a:defRPr/>
            </a:pPr>
            <a:fld id="{C3168C1A-0F73-4148-A9C6-17783D0D792E}" type="slidenum">
              <a:rPr lang="en-GB" smtClean="0"/>
              <a:pPr>
                <a:defRPr/>
              </a:pPr>
              <a:t>44</a:t>
            </a:fld>
            <a:endParaRPr lang="en-GB"/>
          </a:p>
        </p:txBody>
      </p:sp>
    </p:spTree>
    <p:extLst>
      <p:ext uri="{BB962C8B-B14F-4D97-AF65-F5344CB8AC3E}">
        <p14:creationId xmlns:p14="http://schemas.microsoft.com/office/powerpoint/2010/main" val="28847548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CB791-EAF1-1DAD-FA8D-0EB9AE54E2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A216C-11F6-E3DF-452A-3BD86EDD9E2F}"/>
              </a:ext>
            </a:extLst>
          </p:cNvPr>
          <p:cNvSpPr>
            <a:spLocks noGrp="1"/>
          </p:cNvSpPr>
          <p:nvPr>
            <p:ph type="title"/>
          </p:nvPr>
        </p:nvSpPr>
        <p:spPr/>
        <p:txBody>
          <a:bodyPr>
            <a:normAutofit fontScale="90000"/>
          </a:bodyPr>
          <a:lstStyle/>
          <a:p>
            <a:r>
              <a:rPr lang="en-GB" dirty="0"/>
              <a:t>Simplest Valuation: Present value of a growing perpetuity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21540D1-19B6-D5D7-717D-C555BD44600D}"/>
                  </a:ext>
                </a:extLst>
              </p:cNvPr>
              <p:cNvSpPr>
                <a:spLocks noGrp="1"/>
              </p:cNvSpPr>
              <p:nvPr>
                <p:ph sz="quarter" idx="1"/>
              </p:nvPr>
            </p:nvSpPr>
            <p:spPr>
              <a:xfrm>
                <a:off x="1509708" y="3394189"/>
                <a:ext cx="6120680" cy="1624518"/>
              </a:xfrm>
            </p:spPr>
            <p:txBody>
              <a:bodyPr>
                <a:noAutofit/>
              </a:bodyPr>
              <a:lstStyle/>
              <a:p>
                <a:pPr marL="0" indent="0" algn="ctr">
                  <a:buNone/>
                </a:pPr>
                <a14:m>
                  <m:oMathPara xmlns:m="http://schemas.openxmlformats.org/officeDocument/2006/math">
                    <m:oMath>
                      <m:r>
                        <a:rPr lang="en-GB" sz="3200" b="0" i="1" smtClean="0">
                          <a:latin typeface="Cambria Math" panose="02040503050406030204" pitchFamily="18" charset="0"/>
                        </a:rPr>
                        <m:t>𝑉𝑎𝑙𝑢𝑒</m:t>
                      </m:r>
                      <m:r>
                        <a:rPr lang="en-GB" sz="3200" b="0" i="1" smtClean="0">
                          <a:latin typeface="Cambria Math" panose="02040503050406030204" pitchFamily="18" charset="0"/>
                        </a:rPr>
                        <m:t>=</m:t>
                      </m:r>
                      <m:sSub>
                        <m:sSubPr>
                          <m:ctrlPr>
                            <a:rPr lang="en-GB" sz="3200" i="1">
                              <a:latin typeface="Cambria Math" panose="02040503050406030204" pitchFamily="18" charset="0"/>
                            </a:rPr>
                          </m:ctrlPr>
                        </m:sSubPr>
                        <m:e>
                          <m:r>
                            <a:rPr lang="en-GB" sz="3200" i="1">
                              <a:latin typeface="Cambria Math" panose="02040503050406030204" pitchFamily="18" charset="0"/>
                            </a:rPr>
                            <m:t>𝑃𝑉</m:t>
                          </m:r>
                        </m:e>
                        <m:sub>
                          <m:r>
                            <a:rPr lang="en-GB" sz="3200" b="0" i="1" smtClean="0">
                              <a:latin typeface="Cambria Math" panose="02040503050406030204" pitchFamily="18" charset="0"/>
                            </a:rPr>
                            <m:t>𝐶𝐹</m:t>
                          </m:r>
                        </m:sub>
                      </m:sSub>
                      <m:r>
                        <a:rPr lang="en-GB" sz="3200" b="0" i="1" smtClean="0">
                          <a:latin typeface="Cambria Math" panose="02040503050406030204" pitchFamily="18" charset="0"/>
                        </a:rPr>
                        <m:t>=</m:t>
                      </m:r>
                      <m:f>
                        <m:fPr>
                          <m:ctrlPr>
                            <a:rPr lang="en-GB" sz="3200" i="1">
                              <a:latin typeface="Cambria Math" panose="02040503050406030204" pitchFamily="18" charset="0"/>
                            </a:rPr>
                          </m:ctrlPr>
                        </m:fPr>
                        <m:num>
                          <m:limUpp>
                            <m:limUppPr>
                              <m:ctrlPr>
                                <a:rPr lang="en-GB" sz="3200" i="1">
                                  <a:latin typeface="Cambria Math" panose="02040503050406030204" pitchFamily="18" charset="0"/>
                                </a:rPr>
                              </m:ctrlPr>
                            </m:limUppPr>
                            <m:e>
                              <m:groupChr>
                                <m:groupChrPr>
                                  <m:chr m:val="⏞"/>
                                  <m:pos m:val="top"/>
                                  <m:vertJc m:val="bot"/>
                                  <m:ctrlPr>
                                    <a:rPr lang="en-GB" sz="3200" i="1">
                                      <a:latin typeface="Cambria Math" panose="02040503050406030204" pitchFamily="18" charset="0"/>
                                    </a:rPr>
                                  </m:ctrlPr>
                                </m:groupChrPr>
                                <m:e>
                                  <m:sSub>
                                    <m:sSubPr>
                                      <m:ctrlPr>
                                        <a:rPr lang="en-GB" sz="3200" i="1">
                                          <a:latin typeface="Cambria Math" panose="02040503050406030204" pitchFamily="18" charset="0"/>
                                        </a:rPr>
                                      </m:ctrlPr>
                                    </m:sSubPr>
                                    <m:e>
                                      <m:r>
                                        <a:rPr lang="en-GB" sz="3200" i="1">
                                          <a:latin typeface="Cambria Math" panose="02040503050406030204" pitchFamily="18" charset="0"/>
                                        </a:rPr>
                                        <m:t>𝐶𝐹</m:t>
                                      </m:r>
                                    </m:e>
                                    <m:sub>
                                      <m:r>
                                        <a:rPr lang="en-GB" sz="3200" i="1">
                                          <a:latin typeface="Cambria Math" panose="02040503050406030204" pitchFamily="18" charset="0"/>
                                        </a:rPr>
                                        <m:t>0</m:t>
                                      </m:r>
                                    </m:sub>
                                  </m:sSub>
                                  <m:r>
                                    <a:rPr lang="en-GB" sz="3200" i="1">
                                      <a:latin typeface="Cambria Math" panose="02040503050406030204" pitchFamily="18" charset="0"/>
                                    </a:rPr>
                                    <m:t>(1+</m:t>
                                  </m:r>
                                  <m:r>
                                    <a:rPr lang="en-GB" sz="3200" i="1">
                                      <a:latin typeface="Cambria Math" panose="02040503050406030204" pitchFamily="18" charset="0"/>
                                    </a:rPr>
                                    <m:t>𝑔</m:t>
                                  </m:r>
                                  <m:r>
                                    <a:rPr lang="en-GB" sz="3200" i="1">
                                      <a:latin typeface="Cambria Math" panose="02040503050406030204" pitchFamily="18" charset="0"/>
                                    </a:rPr>
                                    <m:t>)</m:t>
                                  </m:r>
                                </m:e>
                              </m:groupChr>
                            </m:e>
                            <m:lim>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𝐶𝐹</m:t>
                                  </m:r>
                                </m:e>
                                <m:sub>
                                  <m:r>
                                    <a:rPr lang="en-GB" sz="3200" b="0" i="1" smtClean="0">
                                      <a:latin typeface="Cambria Math" panose="02040503050406030204" pitchFamily="18" charset="0"/>
                                    </a:rPr>
                                    <m:t>1</m:t>
                                  </m:r>
                                </m:sub>
                              </m:sSub>
                            </m:lim>
                          </m:limUpp>
                        </m:num>
                        <m:den>
                          <m:r>
                            <a:rPr lang="en-GB" sz="3200" b="0" i="1" smtClean="0">
                              <a:latin typeface="Cambria Math" panose="02040503050406030204" pitchFamily="18" charset="0"/>
                            </a:rPr>
                            <m:t>𝑑𝑟</m:t>
                          </m:r>
                          <m:r>
                            <a:rPr lang="en-GB" sz="3200" b="0" i="1" smtClean="0">
                              <a:latin typeface="Cambria Math" panose="02040503050406030204" pitchFamily="18" charset="0"/>
                            </a:rPr>
                            <m:t>−</m:t>
                          </m:r>
                          <m:r>
                            <a:rPr lang="en-GB" sz="3200" b="0" i="1" smtClean="0">
                              <a:latin typeface="Cambria Math" panose="02040503050406030204" pitchFamily="18" charset="0"/>
                            </a:rPr>
                            <m:t>𝑔</m:t>
                          </m:r>
                        </m:den>
                      </m:f>
                    </m:oMath>
                  </m:oMathPara>
                </a14:m>
                <a:endParaRPr lang="en-GB" sz="3200" dirty="0"/>
              </a:p>
            </p:txBody>
          </p:sp>
        </mc:Choice>
        <mc:Fallback xmlns="">
          <p:sp>
            <p:nvSpPr>
              <p:cNvPr id="3" name="Content Placeholder 2">
                <a:extLst>
                  <a:ext uri="{FF2B5EF4-FFF2-40B4-BE49-F238E27FC236}">
                    <a16:creationId xmlns:a16="http://schemas.microsoft.com/office/drawing/2014/main" id="{1109AD19-0588-1100-1E86-D35F852DBA6C}"/>
                  </a:ext>
                </a:extLst>
              </p:cNvPr>
              <p:cNvSpPr>
                <a:spLocks noGrp="1" noRot="1" noChangeAspect="1" noMove="1" noResize="1" noEditPoints="1" noAdjustHandles="1" noChangeArrowheads="1" noChangeShapeType="1" noTextEdit="1"/>
              </p:cNvSpPr>
              <p:nvPr>
                <p:ph sz="quarter" idx="1"/>
              </p:nvPr>
            </p:nvSpPr>
            <p:spPr>
              <a:xfrm>
                <a:off x="1509708" y="3394189"/>
                <a:ext cx="6120680" cy="1624518"/>
              </a:xfrm>
              <a:blipFill>
                <a:blip r:embed="rId2"/>
                <a:stretch>
                  <a:fillRect/>
                </a:stretch>
              </a:blipFill>
            </p:spPr>
            <p:txBody>
              <a:bodyPr/>
              <a:lstStyle/>
              <a:p>
                <a:r>
                  <a:rPr lang="en-GB">
                    <a:noFill/>
                  </a:rPr>
                  <a:t> </a:t>
                </a:r>
              </a:p>
            </p:txBody>
          </p:sp>
        </mc:Fallback>
      </mc:AlternateContent>
      <p:sp>
        <p:nvSpPr>
          <p:cNvPr id="4" name="Rectangle: Rounded Corners 3">
            <a:extLst>
              <a:ext uri="{FF2B5EF4-FFF2-40B4-BE49-F238E27FC236}">
                <a16:creationId xmlns:a16="http://schemas.microsoft.com/office/drawing/2014/main" id="{AC463253-EFD9-B0F7-2B0A-8B6F64F752FB}"/>
              </a:ext>
            </a:extLst>
          </p:cNvPr>
          <p:cNvSpPr/>
          <p:nvPr/>
        </p:nvSpPr>
        <p:spPr>
          <a:xfrm>
            <a:off x="611560" y="1639899"/>
            <a:ext cx="2736304" cy="1805731"/>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2400" b="0" i="0" u="none" strike="noStrike" kern="1200" cap="none" spc="0" normalizeH="0" baseline="0" noProof="0" dirty="0">
                <a:ln>
                  <a:noFill/>
                </a:ln>
                <a:solidFill>
                  <a:prstClr val="white"/>
                </a:solidFill>
                <a:effectLst/>
                <a:uLnTx/>
                <a:uFillTx/>
                <a:latin typeface="Georgia"/>
                <a:ea typeface="+mn-ea"/>
                <a:cs typeface="+mn-cs"/>
              </a:rPr>
              <a:t>DCF Input I:</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2400" b="0" i="0" u="none" strike="noStrike" kern="1200" cap="none" spc="0" normalizeH="0" baseline="0" noProof="0" dirty="0">
                <a:ln>
                  <a:noFill/>
                </a:ln>
                <a:solidFill>
                  <a:prstClr val="white"/>
                </a:solidFill>
                <a:effectLst/>
                <a:uLnTx/>
                <a:uFillTx/>
                <a:latin typeface="Georgia"/>
                <a:ea typeface="+mn-ea"/>
                <a:cs typeface="+mn-cs"/>
              </a:rPr>
              <a:t>Which CF should I discount?</a:t>
            </a:r>
          </a:p>
        </p:txBody>
      </p:sp>
      <p:sp>
        <p:nvSpPr>
          <p:cNvPr id="6" name="Rectangle: Rounded Corners 5">
            <a:extLst>
              <a:ext uri="{FF2B5EF4-FFF2-40B4-BE49-F238E27FC236}">
                <a16:creationId xmlns:a16="http://schemas.microsoft.com/office/drawing/2014/main" id="{C2975EA2-02B0-76BC-6FFD-EA4360A193F8}"/>
              </a:ext>
            </a:extLst>
          </p:cNvPr>
          <p:cNvSpPr/>
          <p:nvPr/>
        </p:nvSpPr>
        <p:spPr>
          <a:xfrm>
            <a:off x="5652120" y="1618461"/>
            <a:ext cx="3236456" cy="165769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2400" b="0" i="0" u="none" strike="noStrike" kern="1200" cap="none" spc="0" normalizeH="0" baseline="0" noProof="0" dirty="0">
                <a:ln>
                  <a:noFill/>
                </a:ln>
                <a:solidFill>
                  <a:prstClr val="white"/>
                </a:solidFill>
                <a:effectLst/>
                <a:uLnTx/>
                <a:uFillTx/>
                <a:latin typeface="Georgia"/>
                <a:ea typeface="+mn-ea"/>
                <a:cs typeface="+mn-cs"/>
              </a:rPr>
              <a:t>DCF Input II:</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2400" b="0" i="0" u="none" strike="noStrike" kern="1200" cap="none" spc="0" normalizeH="0" baseline="0" noProof="0" dirty="0">
                <a:ln>
                  <a:noFill/>
                </a:ln>
                <a:solidFill>
                  <a:prstClr val="white"/>
                </a:solidFill>
                <a:effectLst/>
                <a:uLnTx/>
                <a:uFillTx/>
                <a:latin typeface="Georgia"/>
                <a:ea typeface="+mn-ea"/>
                <a:cs typeface="+mn-cs"/>
              </a:rPr>
              <a:t>How fast do I expect this CF to grow into the future (infinity)</a:t>
            </a:r>
          </a:p>
        </p:txBody>
      </p:sp>
      <p:sp>
        <p:nvSpPr>
          <p:cNvPr id="8" name="Rectangle: Rounded Corners 7">
            <a:extLst>
              <a:ext uri="{FF2B5EF4-FFF2-40B4-BE49-F238E27FC236}">
                <a16:creationId xmlns:a16="http://schemas.microsoft.com/office/drawing/2014/main" id="{264D5116-D4AF-745A-ED7F-03C572B1E980}"/>
              </a:ext>
            </a:extLst>
          </p:cNvPr>
          <p:cNvSpPr/>
          <p:nvPr/>
        </p:nvSpPr>
        <p:spPr>
          <a:xfrm>
            <a:off x="971600" y="5136737"/>
            <a:ext cx="7344816" cy="1296144"/>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2400" b="0" i="0" u="none" strike="noStrike" kern="1200" cap="none" spc="0" normalizeH="0" baseline="0" noProof="0" dirty="0">
                <a:ln>
                  <a:noFill/>
                </a:ln>
                <a:solidFill>
                  <a:prstClr val="white"/>
                </a:solidFill>
                <a:effectLst/>
                <a:uLnTx/>
                <a:uFillTx/>
                <a:latin typeface="Georgia"/>
                <a:ea typeface="+mn-ea"/>
                <a:cs typeface="+mn-cs"/>
              </a:rPr>
              <a:t>DCF Input III:</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2400" b="0" i="0" u="none" strike="noStrike" kern="1200" cap="none" spc="0" normalizeH="0" baseline="0" noProof="0" dirty="0">
                <a:ln>
                  <a:noFill/>
                </a:ln>
                <a:solidFill>
                  <a:prstClr val="white"/>
                </a:solidFill>
                <a:effectLst/>
                <a:uLnTx/>
                <a:uFillTx/>
                <a:latin typeface="Georgia"/>
                <a:ea typeface="+mn-ea"/>
                <a:cs typeface="+mn-cs"/>
              </a:rPr>
              <a:t>How risky is this CF? What discount rate (dr) should I use?</a:t>
            </a:r>
          </a:p>
        </p:txBody>
      </p:sp>
      <p:cxnSp>
        <p:nvCxnSpPr>
          <p:cNvPr id="10" name="Straight Arrow Connector 9">
            <a:extLst>
              <a:ext uri="{FF2B5EF4-FFF2-40B4-BE49-F238E27FC236}">
                <a16:creationId xmlns:a16="http://schemas.microsoft.com/office/drawing/2014/main" id="{6950EE47-AE0A-1768-B2A0-1F5C3AB1F776}"/>
              </a:ext>
            </a:extLst>
          </p:cNvPr>
          <p:cNvCxnSpPr>
            <a:cxnSpLocks/>
          </p:cNvCxnSpPr>
          <p:nvPr/>
        </p:nvCxnSpPr>
        <p:spPr>
          <a:xfrm flipH="1" flipV="1">
            <a:off x="3419872" y="3212976"/>
            <a:ext cx="1584176" cy="7920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1707636B-B08C-7723-9580-5A831465F5A0}"/>
              </a:ext>
            </a:extLst>
          </p:cNvPr>
          <p:cNvCxnSpPr>
            <a:cxnSpLocks/>
          </p:cNvCxnSpPr>
          <p:nvPr/>
        </p:nvCxnSpPr>
        <p:spPr>
          <a:xfrm flipV="1">
            <a:off x="6876256" y="3365376"/>
            <a:ext cx="826140" cy="7116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5DD23393-BDDA-8711-25C0-7C9A08785971}"/>
              </a:ext>
            </a:extLst>
          </p:cNvPr>
          <p:cNvSpPr/>
          <p:nvPr/>
        </p:nvSpPr>
        <p:spPr>
          <a:xfrm>
            <a:off x="6156176" y="3878096"/>
            <a:ext cx="867142" cy="1169424"/>
          </a:xfrm>
          <a:prstGeom prst="ellipse">
            <a:avLst/>
          </a:prstGeom>
          <a:noFill/>
          <a:ln>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GB" sz="2400" b="0" i="0" u="none" strike="noStrike" kern="1200" cap="none" spc="0" normalizeH="0" baseline="0" noProof="0">
              <a:ln>
                <a:noFill/>
              </a:ln>
              <a:solidFill>
                <a:prstClr val="white"/>
              </a:solidFill>
              <a:effectLst/>
              <a:uLnTx/>
              <a:uFillTx/>
              <a:latin typeface="Georgia"/>
              <a:ea typeface="+mn-ea"/>
              <a:cs typeface="+mn-cs"/>
            </a:endParaRPr>
          </a:p>
        </p:txBody>
      </p:sp>
      <p:cxnSp>
        <p:nvCxnSpPr>
          <p:cNvPr id="5" name="Straight Arrow Connector 4">
            <a:extLst>
              <a:ext uri="{FF2B5EF4-FFF2-40B4-BE49-F238E27FC236}">
                <a16:creationId xmlns:a16="http://schemas.microsoft.com/office/drawing/2014/main" id="{93D6AB09-40BB-03FF-BDEA-A9B0575678D1}"/>
              </a:ext>
            </a:extLst>
          </p:cNvPr>
          <p:cNvCxnSpPr>
            <a:cxnSpLocks/>
          </p:cNvCxnSpPr>
          <p:nvPr/>
        </p:nvCxnSpPr>
        <p:spPr>
          <a:xfrm flipH="1">
            <a:off x="4355976" y="4725144"/>
            <a:ext cx="1008112" cy="3223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990221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a:xfrm>
            <a:off x="457200" y="274638"/>
            <a:ext cx="8435280" cy="634082"/>
          </a:xfrm>
        </p:spPr>
        <p:txBody>
          <a:bodyPr/>
          <a:lstStyle/>
          <a:p>
            <a:pPr eaLnBrk="1" fontAlgn="auto" hangingPunct="1">
              <a:spcAft>
                <a:spcPts val="0"/>
              </a:spcAft>
              <a:defRPr/>
            </a:pPr>
            <a:r>
              <a:rPr lang="en-US" dirty="0"/>
              <a:t>Ways of Estimating Growth in Earnings</a:t>
            </a:r>
          </a:p>
        </p:txBody>
      </p:sp>
      <p:graphicFrame>
        <p:nvGraphicFramePr>
          <p:cNvPr id="2" name="Content Placeholder 1"/>
          <p:cNvGraphicFramePr>
            <a:graphicFrameLocks noGrp="1"/>
          </p:cNvGraphicFramePr>
          <p:nvPr>
            <p:ph sz="quarter" idx="1"/>
            <p:extLst>
              <p:ext uri="{D42A27DB-BD31-4B8C-83A1-F6EECF244321}">
                <p14:modId xmlns:p14="http://schemas.microsoft.com/office/powerpoint/2010/main" val="1572712948"/>
              </p:ext>
            </p:extLst>
          </p:nvPr>
        </p:nvGraphicFramePr>
        <p:xfrm>
          <a:off x="179512" y="908720"/>
          <a:ext cx="8712968" cy="55651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p:cNvSpPr>
            <a:spLocks noGrp="1"/>
          </p:cNvSpPr>
          <p:nvPr>
            <p:ph type="sldNum" sz="quarter" idx="11"/>
          </p:nvPr>
        </p:nvSpPr>
        <p:spPr/>
        <p:txBody>
          <a:bodyPr/>
          <a:lstStyle/>
          <a:p>
            <a:pPr>
              <a:defRPr/>
            </a:pPr>
            <a:fld id="{C3168C1A-0F73-4148-A9C6-17783D0D792E}" type="slidenum">
              <a:rPr lang="en-GB" smtClean="0"/>
              <a:pPr>
                <a:defRPr/>
              </a:pPr>
              <a:t>46</a:t>
            </a:fld>
            <a:endParaRPr lang="en-GB"/>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a:xfrm>
            <a:off x="457200" y="274638"/>
            <a:ext cx="7467600" cy="418058"/>
          </a:xfrm>
        </p:spPr>
        <p:txBody>
          <a:bodyPr>
            <a:normAutofit fontScale="90000"/>
          </a:bodyPr>
          <a:lstStyle/>
          <a:p>
            <a:pPr eaLnBrk="1" fontAlgn="auto" hangingPunct="1">
              <a:spcAft>
                <a:spcPts val="0"/>
              </a:spcAft>
              <a:defRPr/>
            </a:pPr>
            <a:r>
              <a:rPr lang="en-US" dirty="0"/>
              <a:t>I. Historical Growth in EPS</a:t>
            </a:r>
          </a:p>
        </p:txBody>
      </p:sp>
      <p:graphicFrame>
        <p:nvGraphicFramePr>
          <p:cNvPr id="2" name="Content Placeholder 1"/>
          <p:cNvGraphicFramePr>
            <a:graphicFrameLocks noGrp="1"/>
          </p:cNvGraphicFramePr>
          <p:nvPr>
            <p:ph sz="quarter" idx="1"/>
            <p:extLst>
              <p:ext uri="{D42A27DB-BD31-4B8C-83A1-F6EECF244321}">
                <p14:modId xmlns:p14="http://schemas.microsoft.com/office/powerpoint/2010/main" val="2846157138"/>
              </p:ext>
            </p:extLst>
          </p:nvPr>
        </p:nvGraphicFramePr>
        <p:xfrm>
          <a:off x="179512" y="908720"/>
          <a:ext cx="8568952" cy="55651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p:cNvSpPr>
            <a:spLocks noGrp="1"/>
          </p:cNvSpPr>
          <p:nvPr>
            <p:ph type="sldNum" sz="quarter" idx="11"/>
          </p:nvPr>
        </p:nvSpPr>
        <p:spPr/>
        <p:txBody>
          <a:bodyPr/>
          <a:lstStyle/>
          <a:p>
            <a:pPr>
              <a:defRPr/>
            </a:pPr>
            <a:fld id="{C3168C1A-0F73-4148-A9C6-17783D0D792E}" type="slidenum">
              <a:rPr lang="en-GB" smtClean="0"/>
              <a:pPr>
                <a:defRPr/>
              </a:pPr>
              <a:t>47</a:t>
            </a:fld>
            <a:endParaRPr lang="en-GB"/>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7467600" cy="634082"/>
          </a:xfrm>
        </p:spPr>
        <p:txBody>
          <a:bodyPr/>
          <a:lstStyle/>
          <a:p>
            <a:r>
              <a:rPr lang="en-GB" dirty="0"/>
              <a:t>Apple Earnings: Historical Forecast</a:t>
            </a:r>
          </a:p>
        </p:txBody>
      </p:sp>
      <p:sp>
        <p:nvSpPr>
          <p:cNvPr id="4" name="Slide Number Placeholder 3"/>
          <p:cNvSpPr>
            <a:spLocks noGrp="1"/>
          </p:cNvSpPr>
          <p:nvPr>
            <p:ph type="sldNum" sz="quarter" idx="11"/>
          </p:nvPr>
        </p:nvSpPr>
        <p:spPr/>
        <p:txBody>
          <a:bodyPr/>
          <a:lstStyle/>
          <a:p>
            <a:pPr>
              <a:defRPr/>
            </a:pPr>
            <a:fld id="{C3168C1A-0F73-4148-A9C6-17783D0D792E}" type="slidenum">
              <a:rPr lang="en-GB" smtClean="0"/>
              <a:pPr>
                <a:defRPr/>
              </a:pPr>
              <a:t>48</a:t>
            </a:fld>
            <a:endParaRPr lang="en-GB"/>
          </a:p>
        </p:txBody>
      </p:sp>
      <p:graphicFrame>
        <p:nvGraphicFramePr>
          <p:cNvPr id="5" name="Chart 4">
            <a:extLst>
              <a:ext uri="{FF2B5EF4-FFF2-40B4-BE49-F238E27FC236}">
                <a16:creationId xmlns:a16="http://schemas.microsoft.com/office/drawing/2014/main" id="{00000000-0008-0000-0100-000048000000}"/>
              </a:ext>
            </a:extLst>
          </p:cNvPr>
          <p:cNvGraphicFramePr>
            <a:graphicFrameLocks/>
          </p:cNvGraphicFramePr>
          <p:nvPr>
            <p:extLst>
              <p:ext uri="{D42A27DB-BD31-4B8C-83A1-F6EECF244321}">
                <p14:modId xmlns:p14="http://schemas.microsoft.com/office/powerpoint/2010/main" val="3924365806"/>
              </p:ext>
            </p:extLst>
          </p:nvPr>
        </p:nvGraphicFramePr>
        <p:xfrm>
          <a:off x="35495" y="678706"/>
          <a:ext cx="4464497" cy="6062662"/>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mc:Choice xmlns:we="http://schemas.microsoft.com/office/webextensions/webextension/2010/11" xmlns:pca="http://schemas.microsoft.com/office/powerpoint/2013/contentapp" Requires="we pca">
          <p:graphicFrame>
            <p:nvGraphicFramePr>
              <p:cNvPr id="6" name="Add-in 5">
                <a:extLst>
                  <a:ext uri="{FF2B5EF4-FFF2-40B4-BE49-F238E27FC236}">
                    <a16:creationId xmlns:a16="http://schemas.microsoft.com/office/drawing/2014/main" id="{DC5ED0CE-EB6C-97D0-424E-34A4B57BA870}"/>
                  </a:ext>
                </a:extLst>
              </p:cNvPr>
              <p:cNvGraphicFramePr>
                <a:graphicFrameLocks noGrp="1"/>
              </p:cNvGraphicFramePr>
              <p:nvPr>
                <p:extLst>
                  <p:ext uri="{D42A27DB-BD31-4B8C-83A1-F6EECF244321}">
                    <p14:modId xmlns:p14="http://schemas.microsoft.com/office/powerpoint/2010/main" val="1396897063"/>
                  </p:ext>
                </p:extLst>
              </p:nvPr>
            </p:nvGraphicFramePr>
            <p:xfrm>
              <a:off x="4452938" y="603250"/>
              <a:ext cx="4655567" cy="5922094"/>
            </p:xfrm>
            <a:graphic>
              <a:graphicData uri="http://schemas.microsoft.com/office/webextensions/webextension/2010/11">
                <we:webextensionref xmlns:we="http://schemas.microsoft.com/office/webextensions/webextension/2010/11" xmlns:r="http://schemas.openxmlformats.org/officeDocument/2006/relationships" r:id="rId4"/>
              </a:graphicData>
            </a:graphic>
          </p:graphicFrame>
        </mc:Choice>
        <mc:Fallback>
          <p:pic>
            <p:nvPicPr>
              <p:cNvPr id="6" name="Add-in 5">
                <a:extLst>
                  <a:ext uri="{FF2B5EF4-FFF2-40B4-BE49-F238E27FC236}">
                    <a16:creationId xmlns:a16="http://schemas.microsoft.com/office/drawing/2014/main" id="{DC5ED0CE-EB6C-97D0-424E-34A4B57BA870}"/>
                  </a:ext>
                </a:extLst>
              </p:cNvPr>
              <p:cNvPicPr>
                <a:picLocks noGrp="1" noRot="1" noChangeAspect="1" noMove="1" noResize="1" noEditPoints="1" noAdjustHandles="1" noChangeArrowheads="1" noChangeShapeType="1"/>
              </p:cNvPicPr>
              <p:nvPr/>
            </p:nvPicPr>
            <p:blipFill>
              <a:blip r:embed="rId5"/>
              <a:stretch>
                <a:fillRect/>
              </a:stretch>
            </p:blipFill>
            <p:spPr>
              <a:xfrm>
                <a:off x="4452938" y="603250"/>
                <a:ext cx="4655567" cy="5922094"/>
              </a:xfrm>
              <a:prstGeom prst="rect">
                <a:avLst/>
              </a:prstGeom>
            </p:spPr>
          </p:pic>
        </mc:Fallback>
      </mc:AlternateContent>
    </p:spTree>
    <p:extLst>
      <p:ext uri="{BB962C8B-B14F-4D97-AF65-F5344CB8AC3E}">
        <p14:creationId xmlns:p14="http://schemas.microsoft.com/office/powerpoint/2010/main" val="273860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a:xfrm>
            <a:off x="323528" y="45864"/>
            <a:ext cx="8496944" cy="646832"/>
          </a:xfrm>
        </p:spPr>
        <p:txBody>
          <a:bodyPr/>
          <a:lstStyle/>
          <a:p>
            <a:pPr eaLnBrk="1" fontAlgn="auto" hangingPunct="1">
              <a:spcAft>
                <a:spcPts val="0"/>
              </a:spcAft>
              <a:defRPr/>
            </a:pPr>
            <a:r>
              <a:rPr lang="en-US" dirty="0"/>
              <a:t>A special Mention: Negative Earnings</a:t>
            </a:r>
          </a:p>
        </p:txBody>
      </p:sp>
      <p:sp>
        <p:nvSpPr>
          <p:cNvPr id="2" name="Slide Number Placeholder 1"/>
          <p:cNvSpPr>
            <a:spLocks noGrp="1"/>
          </p:cNvSpPr>
          <p:nvPr>
            <p:ph type="sldNum" sz="quarter" idx="11"/>
          </p:nvPr>
        </p:nvSpPr>
        <p:spPr/>
        <p:txBody>
          <a:bodyPr/>
          <a:lstStyle/>
          <a:p>
            <a:pPr>
              <a:defRPr/>
            </a:pPr>
            <a:fld id="{C3168C1A-0F73-4148-A9C6-17783D0D792E}" type="slidenum">
              <a:rPr lang="en-GB" smtClean="0"/>
              <a:pPr>
                <a:defRPr/>
              </a:pPr>
              <a:t>49</a:t>
            </a:fld>
            <a:endParaRPr lang="en-GB"/>
          </a:p>
        </p:txBody>
      </p:sp>
      <p:sp>
        <p:nvSpPr>
          <p:cNvPr id="4" name="Content Placeholder 3">
            <a:extLst>
              <a:ext uri="{FF2B5EF4-FFF2-40B4-BE49-F238E27FC236}">
                <a16:creationId xmlns:a16="http://schemas.microsoft.com/office/drawing/2014/main" id="{7C52719D-F22A-4B82-BB39-84EAF3D7FF22}"/>
              </a:ext>
            </a:extLst>
          </p:cNvPr>
          <p:cNvSpPr>
            <a:spLocks noGrp="1"/>
          </p:cNvSpPr>
          <p:nvPr>
            <p:ph sz="quarter" idx="1"/>
          </p:nvPr>
        </p:nvSpPr>
        <p:spPr>
          <a:xfrm>
            <a:off x="107504" y="5352600"/>
            <a:ext cx="8631684" cy="1388768"/>
          </a:xfrm>
        </p:spPr>
        <p:txBody>
          <a:bodyPr/>
          <a:lstStyle/>
          <a:p>
            <a:r>
              <a:rPr lang="en-GB" dirty="0"/>
              <a:t>Forecast OPM till it becomes stable (industry)</a:t>
            </a:r>
          </a:p>
          <a:p>
            <a:r>
              <a:rPr lang="en-GB" dirty="0"/>
              <a:t>Forecast explicitly the Earnings until that point</a:t>
            </a:r>
          </a:p>
          <a:p>
            <a:r>
              <a:rPr lang="en-GB" dirty="0"/>
              <a:t>Then assume a growing perpetuity (linear stable growth)</a:t>
            </a:r>
          </a:p>
        </p:txBody>
      </p:sp>
      <p:pic>
        <p:nvPicPr>
          <p:cNvPr id="6" name="Picture 5" descr="The diagram shows a line chart with two bars representing the operating margin percentage and earnings in dollars, displaying data across different years with annotations for specific points.&#10;&#10;AI-generated content may be incorrect.">
            <a:extLst>
              <a:ext uri="{FF2B5EF4-FFF2-40B4-BE49-F238E27FC236}">
                <a16:creationId xmlns:a16="http://schemas.microsoft.com/office/drawing/2014/main" id="{C31ED0D9-DAC1-E799-C556-F94BD24C04CF}"/>
              </a:ext>
            </a:extLst>
          </p:cNvPr>
          <p:cNvPicPr>
            <a:picLocks noChangeAspect="1"/>
          </p:cNvPicPr>
          <p:nvPr/>
        </p:nvPicPr>
        <p:blipFill>
          <a:blip r:embed="rId3"/>
          <a:stretch>
            <a:fillRect/>
          </a:stretch>
        </p:blipFill>
        <p:spPr>
          <a:xfrm>
            <a:off x="860884" y="692696"/>
            <a:ext cx="6660232" cy="4095832"/>
          </a:xfrm>
          <a:prstGeom prst="rect">
            <a:avLst/>
          </a:prstGeom>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00EFD-B7EC-833A-11BD-2D644D45AB0D}"/>
              </a:ext>
            </a:extLst>
          </p:cNvPr>
          <p:cNvSpPr>
            <a:spLocks noGrp="1"/>
          </p:cNvSpPr>
          <p:nvPr>
            <p:ph type="title"/>
          </p:nvPr>
        </p:nvSpPr>
        <p:spPr>
          <a:xfrm>
            <a:off x="611560" y="116632"/>
            <a:ext cx="7467600" cy="634082"/>
          </a:xfrm>
        </p:spPr>
        <p:txBody>
          <a:bodyPr/>
          <a:lstStyle/>
          <a:p>
            <a:r>
              <a:rPr lang="en-GB" dirty="0"/>
              <a:t>Special Mention II: Growth and Size</a:t>
            </a:r>
          </a:p>
        </p:txBody>
      </p:sp>
      <p:sp>
        <p:nvSpPr>
          <p:cNvPr id="3" name="Content Placeholder 2">
            <a:extLst>
              <a:ext uri="{FF2B5EF4-FFF2-40B4-BE49-F238E27FC236}">
                <a16:creationId xmlns:a16="http://schemas.microsoft.com/office/drawing/2014/main" id="{07C1F070-45B8-BDDF-F60B-2823F1D10DE0}"/>
              </a:ext>
            </a:extLst>
          </p:cNvPr>
          <p:cNvSpPr>
            <a:spLocks noGrp="1"/>
          </p:cNvSpPr>
          <p:nvPr>
            <p:ph sz="quarter" idx="1"/>
          </p:nvPr>
        </p:nvSpPr>
        <p:spPr>
          <a:xfrm>
            <a:off x="467544" y="5918451"/>
            <a:ext cx="7467600" cy="884712"/>
          </a:xfrm>
        </p:spPr>
        <p:txBody>
          <a:bodyPr/>
          <a:lstStyle/>
          <a:p>
            <a:pPr marL="0" indent="0" algn="ctr">
              <a:buNone/>
            </a:pPr>
            <a:r>
              <a:rPr lang="en-GB" dirty="0"/>
              <a:t>Companies can grow fast, but not forever. Make sure that your assumptions make sense</a:t>
            </a:r>
          </a:p>
        </p:txBody>
      </p:sp>
      <p:sp>
        <p:nvSpPr>
          <p:cNvPr id="4" name="Slide Number Placeholder 3">
            <a:extLst>
              <a:ext uri="{FF2B5EF4-FFF2-40B4-BE49-F238E27FC236}">
                <a16:creationId xmlns:a16="http://schemas.microsoft.com/office/drawing/2014/main" id="{AA6E295B-7E2A-6C41-0D85-6253D5025AD0}"/>
              </a:ext>
            </a:extLst>
          </p:cNvPr>
          <p:cNvSpPr>
            <a:spLocks noGrp="1"/>
          </p:cNvSpPr>
          <p:nvPr>
            <p:ph type="sldNum" sz="quarter" idx="11"/>
          </p:nvPr>
        </p:nvSpPr>
        <p:spPr/>
        <p:txBody>
          <a:bodyPr/>
          <a:lstStyle/>
          <a:p>
            <a:pPr>
              <a:defRPr/>
            </a:pPr>
            <a:fld id="{C3168C1A-0F73-4148-A9C6-17783D0D792E}" type="slidenum">
              <a:rPr lang="en-GB" smtClean="0"/>
              <a:pPr>
                <a:defRPr/>
              </a:pPr>
              <a:t>50</a:t>
            </a:fld>
            <a:endParaRPr lang="en-GB"/>
          </a:p>
        </p:txBody>
      </p:sp>
      <p:pic>
        <p:nvPicPr>
          <p:cNvPr id="6" name="Picture 5" descr="The graph shows a comparison of projected Earnings Per Share (EPS) over a 10-year period, depicting different Compound Annual Growth Rates (CAGRs) and their impact on the share price.&#10;&#10;AI-generated content may be incorrect.">
            <a:extLst>
              <a:ext uri="{FF2B5EF4-FFF2-40B4-BE49-F238E27FC236}">
                <a16:creationId xmlns:a16="http://schemas.microsoft.com/office/drawing/2014/main" id="{52850DBD-9169-E79F-A0CD-F224F00185AD}"/>
              </a:ext>
            </a:extLst>
          </p:cNvPr>
          <p:cNvPicPr>
            <a:picLocks noChangeAspect="1"/>
          </p:cNvPicPr>
          <p:nvPr/>
        </p:nvPicPr>
        <p:blipFill>
          <a:blip r:embed="rId2"/>
          <a:stretch>
            <a:fillRect/>
          </a:stretch>
        </p:blipFill>
        <p:spPr>
          <a:xfrm>
            <a:off x="1233557" y="807882"/>
            <a:ext cx="6223606" cy="5110569"/>
          </a:xfrm>
          <a:prstGeom prst="rect">
            <a:avLst/>
          </a:prstGeom>
        </p:spPr>
      </p:pic>
    </p:spTree>
    <p:extLst>
      <p:ext uri="{BB962C8B-B14F-4D97-AF65-F5344CB8AC3E}">
        <p14:creationId xmlns:p14="http://schemas.microsoft.com/office/powerpoint/2010/main" val="34975420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lstStyle/>
          <a:p>
            <a:pPr eaLnBrk="1" fontAlgn="auto" hangingPunct="1">
              <a:spcAft>
                <a:spcPts val="0"/>
              </a:spcAft>
              <a:defRPr/>
            </a:pPr>
            <a:r>
              <a:rPr lang="en-US" dirty="0"/>
              <a:t>II. Analyst Forecasts of Growth</a:t>
            </a:r>
          </a:p>
        </p:txBody>
      </p:sp>
      <p:sp>
        <p:nvSpPr>
          <p:cNvPr id="157699" name="Rectangle 3"/>
          <p:cNvSpPr>
            <a:spLocks noGrp="1" noChangeArrowheads="1"/>
          </p:cNvSpPr>
          <p:nvPr>
            <p:ph sz="quarter" idx="1"/>
          </p:nvPr>
        </p:nvSpPr>
        <p:spPr>
          <a:xfrm>
            <a:off x="457200" y="1600200"/>
            <a:ext cx="7467600" cy="4873625"/>
          </a:xfrm>
        </p:spPr>
        <p:txBody>
          <a:bodyPr>
            <a:normAutofit/>
          </a:bodyPr>
          <a:lstStyle/>
          <a:p>
            <a:pPr marL="274320" indent="-274320" eaLnBrk="1" fontAlgn="auto" hangingPunct="1">
              <a:spcAft>
                <a:spcPts val="0"/>
              </a:spcAft>
              <a:buFont typeface="Wingdings"/>
              <a:buChar char=""/>
              <a:defRPr/>
            </a:pPr>
            <a:r>
              <a:rPr lang="en-US" dirty="0"/>
              <a:t>While the job of an analyst is to find under and over valued stocks in the sectors that they follow, a significant proportion of an analyst’s time (outside of selling) is spent forecasting earnings per share. </a:t>
            </a:r>
          </a:p>
          <a:p>
            <a:pPr marL="640080" lvl="1" indent="-274320" eaLnBrk="1" fontAlgn="auto" hangingPunct="1">
              <a:spcAft>
                <a:spcPts val="0"/>
              </a:spcAft>
              <a:buFont typeface="Wingdings 2"/>
              <a:buChar char=""/>
              <a:defRPr/>
            </a:pPr>
            <a:r>
              <a:rPr lang="en-US" dirty="0"/>
              <a:t>Most of this time, in turn, is spent forecasting earnings per share in the next earnings report</a:t>
            </a:r>
          </a:p>
          <a:p>
            <a:pPr marL="640080" lvl="1" indent="-274320" eaLnBrk="1" fontAlgn="auto" hangingPunct="1">
              <a:spcAft>
                <a:spcPts val="0"/>
              </a:spcAft>
              <a:buFont typeface="Wingdings 2"/>
              <a:buChar char=""/>
              <a:defRPr/>
            </a:pPr>
            <a:r>
              <a:rPr lang="en-US" dirty="0"/>
              <a:t>While many analysts forecast expected growth in earnings per share over the next 5 years, the analysis and information (generally) that goes into this estimate is far more limited.</a:t>
            </a:r>
          </a:p>
        </p:txBody>
      </p:sp>
      <p:sp>
        <p:nvSpPr>
          <p:cNvPr id="2" name="Slide Number Placeholder 1"/>
          <p:cNvSpPr>
            <a:spLocks noGrp="1"/>
          </p:cNvSpPr>
          <p:nvPr>
            <p:ph type="sldNum" sz="quarter" idx="11"/>
          </p:nvPr>
        </p:nvSpPr>
        <p:spPr/>
        <p:txBody>
          <a:bodyPr/>
          <a:lstStyle/>
          <a:p>
            <a:pPr>
              <a:defRPr/>
            </a:pPr>
            <a:fld id="{C3168C1A-0F73-4148-A9C6-17783D0D792E}" type="slidenum">
              <a:rPr lang="en-GB" smtClean="0"/>
              <a:pPr>
                <a:defRPr/>
              </a:pPr>
              <a:t>51</a:t>
            </a:fld>
            <a:endParaRPr lang="en-GB"/>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84"/>
            <a:ext cx="7931224" cy="850106"/>
          </a:xfrm>
        </p:spPr>
        <p:txBody>
          <a:bodyPr>
            <a:normAutofit fontScale="90000"/>
          </a:bodyPr>
          <a:lstStyle/>
          <a:p>
            <a:r>
              <a:rPr lang="en-GB" dirty="0"/>
              <a:t>Apple Inc. Growth Forecast-Analysts (2015)</a:t>
            </a:r>
          </a:p>
        </p:txBody>
      </p:sp>
      <p:sp>
        <p:nvSpPr>
          <p:cNvPr id="3" name="Content Placeholder 2"/>
          <p:cNvSpPr>
            <a:spLocks noGrp="1"/>
          </p:cNvSpPr>
          <p:nvPr>
            <p:ph sz="quarter" idx="1"/>
          </p:nvPr>
        </p:nvSpPr>
        <p:spPr>
          <a:xfrm>
            <a:off x="457200" y="4725144"/>
            <a:ext cx="7931224" cy="1944216"/>
          </a:xfrm>
        </p:spPr>
        <p:txBody>
          <a:bodyPr>
            <a:normAutofit fontScale="62500" lnSpcReduction="20000"/>
          </a:bodyPr>
          <a:lstStyle/>
          <a:p>
            <a:r>
              <a:rPr lang="en-GB" b="1" dirty="0"/>
              <a:t>Data Provider:</a:t>
            </a:r>
            <a:r>
              <a:rPr lang="en-GB" dirty="0"/>
              <a:t> Data is provided by </a:t>
            </a:r>
            <a:r>
              <a:rPr lang="en-GB" dirty="0" err="1">
                <a:hlinkClick r:id="rId3"/>
              </a:rPr>
              <a:t>Zacks</a:t>
            </a:r>
            <a:r>
              <a:rPr lang="en-GB" dirty="0">
                <a:hlinkClick r:id="rId3"/>
              </a:rPr>
              <a:t> Investment Research</a:t>
            </a:r>
            <a:endParaRPr lang="en-GB" dirty="0">
              <a:hlinkClick r:id="rId4"/>
            </a:endParaRPr>
          </a:p>
          <a:p>
            <a:pPr lvl="1"/>
            <a:r>
              <a:rPr lang="en-GB" dirty="0">
                <a:hlinkClick r:id="rId4"/>
              </a:rPr>
              <a:t>http://www.nasdaq.com/symbol/aapl/earnings-growth</a:t>
            </a:r>
            <a:endParaRPr lang="en-GB" dirty="0"/>
          </a:p>
          <a:p>
            <a:r>
              <a:rPr lang="en-GB" dirty="0"/>
              <a:t>Different Estimates are found here</a:t>
            </a:r>
          </a:p>
          <a:p>
            <a:pPr lvl="1"/>
            <a:r>
              <a:rPr lang="en-GB" dirty="0">
                <a:hlinkClick r:id="rId5"/>
              </a:rPr>
              <a:t>http://finance.yahoo.com/q/ae?s=aapl</a:t>
            </a:r>
            <a:endParaRPr lang="en-GB" dirty="0"/>
          </a:p>
          <a:p>
            <a:pPr lvl="1"/>
            <a:r>
              <a:rPr lang="en-GB" dirty="0">
                <a:hlinkClick r:id="rId6"/>
              </a:rPr>
              <a:t>http://markets.ft.com/research/Markets/Tearsheets/Forecasts?s=AAPL:NSQ</a:t>
            </a:r>
            <a:endParaRPr lang="en-GB" dirty="0"/>
          </a:p>
          <a:p>
            <a:pPr lvl="1"/>
            <a:r>
              <a:rPr lang="en-GB" dirty="0">
                <a:hlinkClick r:id="rId7"/>
              </a:rPr>
              <a:t>http://money.cnn.com/quote/quote.html?symb=AAPL</a:t>
            </a:r>
            <a:endParaRPr lang="en-GB" dirty="0"/>
          </a:p>
          <a:p>
            <a:pPr lvl="1"/>
            <a:r>
              <a:rPr lang="en-GB" dirty="0">
                <a:hlinkClick r:id="rId8"/>
              </a:rPr>
              <a:t>http://www.nasdaq.com/symbol/aapl/analyst-research</a:t>
            </a:r>
            <a:r>
              <a:rPr lang="en-GB" dirty="0"/>
              <a:t> </a:t>
            </a:r>
          </a:p>
          <a:p>
            <a:pPr marL="0" indent="0" algn="ctr">
              <a:buNone/>
            </a:pPr>
            <a:r>
              <a:rPr lang="en-GB" sz="2900" b="1" dirty="0"/>
              <a:t>Which one should we choose?</a:t>
            </a:r>
          </a:p>
        </p:txBody>
      </p:sp>
      <p:sp>
        <p:nvSpPr>
          <p:cNvPr id="4" name="Slide Number Placeholder 3"/>
          <p:cNvSpPr>
            <a:spLocks noGrp="1"/>
          </p:cNvSpPr>
          <p:nvPr>
            <p:ph type="sldNum" sz="quarter" idx="11"/>
          </p:nvPr>
        </p:nvSpPr>
        <p:spPr/>
        <p:txBody>
          <a:bodyPr/>
          <a:lstStyle/>
          <a:p>
            <a:pPr>
              <a:defRPr/>
            </a:pPr>
            <a:fld id="{C3168C1A-0F73-4148-A9C6-17783D0D792E}" type="slidenum">
              <a:rPr lang="en-GB" smtClean="0"/>
              <a:pPr>
                <a:defRPr/>
              </a:pPr>
              <a:t>52</a:t>
            </a:fld>
            <a:endParaRPr lang="en-GB"/>
          </a:p>
        </p:txBody>
      </p:sp>
      <p:pic>
        <p:nvPicPr>
          <p:cNvPr id="48130" name="Picture 2" descr="http://www.nasdaq.com//charts/AAPL_egr.jpe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7504" y="836712"/>
            <a:ext cx="5400600" cy="3600400"/>
          </a:xfrm>
          <a:prstGeom prst="rect">
            <a:avLst/>
          </a:prstGeom>
          <a:noFill/>
          <a:extLst>
            <a:ext uri="{909E8E84-426E-40DD-AFC4-6F175D3DCCD1}">
              <a14:hiddenFill xmlns:a14="http://schemas.microsoft.com/office/drawing/2010/main">
                <a:solidFill>
                  <a:srgbClr val="FFFFFF"/>
                </a:solidFill>
              </a14:hiddenFill>
            </a:ext>
          </a:extLst>
        </p:spPr>
      </p:pic>
      <p:pic>
        <p:nvPicPr>
          <p:cNvPr id="48132" name="Picture 4" descr="http://markets.money.cnn.com/cgi-bin/upload.dll/file.png?z048a110az1c5f8df1b85748cdb382774530b74f2f"/>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20072" y="1778768"/>
            <a:ext cx="3785962" cy="2082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92482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p:txBody>
          <a:bodyPr/>
          <a:lstStyle/>
          <a:p>
            <a:pPr eaLnBrk="1" fontAlgn="auto" hangingPunct="1">
              <a:spcAft>
                <a:spcPts val="0"/>
              </a:spcAft>
              <a:defRPr/>
            </a:pPr>
            <a:r>
              <a:rPr lang="en-US" dirty="0">
                <a:hlinkClick r:id="" action="ppaction://noaction"/>
              </a:rPr>
              <a:t>How good are analysts at forecasting growth?</a:t>
            </a:r>
            <a:endParaRPr lang="en-US" dirty="0"/>
          </a:p>
        </p:txBody>
      </p:sp>
      <p:sp>
        <p:nvSpPr>
          <p:cNvPr id="158723" name="Rectangle 3"/>
          <p:cNvSpPr>
            <a:spLocks noGrp="1" noChangeArrowheads="1"/>
          </p:cNvSpPr>
          <p:nvPr>
            <p:ph sz="quarter" idx="1"/>
          </p:nvPr>
        </p:nvSpPr>
        <p:spPr>
          <a:xfrm>
            <a:off x="457200" y="1680319"/>
            <a:ext cx="8003232" cy="4773017"/>
          </a:xfrm>
        </p:spPr>
        <p:txBody>
          <a:bodyPr>
            <a:noAutofit/>
          </a:bodyPr>
          <a:lstStyle/>
          <a:p>
            <a:pPr marL="274320" indent="-274320" eaLnBrk="1" fontAlgn="auto" hangingPunct="1">
              <a:spcAft>
                <a:spcPts val="0"/>
              </a:spcAft>
              <a:buFont typeface="Wingdings"/>
              <a:buChar char=""/>
              <a:tabLst>
                <a:tab pos="1828800" algn="l"/>
                <a:tab pos="3827463" algn="l"/>
                <a:tab pos="5773738" algn="l"/>
              </a:tabLst>
              <a:defRPr/>
            </a:pPr>
            <a:r>
              <a:rPr lang="en-US" sz="2000" dirty="0"/>
              <a:t>Analysts forecasts of EPS </a:t>
            </a:r>
            <a:r>
              <a:rPr lang="en-US" sz="2000" u="sng" dirty="0"/>
              <a:t>tend to be closer </a:t>
            </a:r>
            <a:r>
              <a:rPr lang="en-US" sz="2000" dirty="0"/>
              <a:t>to the actual EPS than simple time series models, but the differences tend to be small</a:t>
            </a:r>
          </a:p>
          <a:p>
            <a:pPr marL="274320" indent="-274320" eaLnBrk="1" fontAlgn="auto" hangingPunct="1">
              <a:spcAft>
                <a:spcPts val="0"/>
              </a:spcAft>
              <a:buFont typeface="Monotype Sorts" charset="2"/>
              <a:buNone/>
              <a:tabLst>
                <a:tab pos="1828800" algn="l"/>
                <a:tab pos="3827463" algn="l"/>
                <a:tab pos="5773738" algn="l"/>
              </a:tabLst>
              <a:defRPr/>
            </a:pPr>
            <a:r>
              <a:rPr lang="en-US" sz="1400" i="1" dirty="0"/>
              <a:t>Study	Time Period	Analyst Forecast Error	Time Series Model</a:t>
            </a:r>
            <a:r>
              <a:rPr lang="en-US" sz="1400" dirty="0"/>
              <a:t> </a:t>
            </a:r>
          </a:p>
          <a:p>
            <a:pPr marL="274320" indent="-274320" eaLnBrk="1" fontAlgn="auto" hangingPunct="1">
              <a:spcAft>
                <a:spcPts val="0"/>
              </a:spcAft>
              <a:buFont typeface="Monotype Sorts" charset="2"/>
              <a:buNone/>
              <a:tabLst>
                <a:tab pos="1828800" algn="l"/>
                <a:tab pos="3827463" algn="l"/>
                <a:tab pos="5773738" algn="l"/>
              </a:tabLst>
              <a:defRPr/>
            </a:pPr>
            <a:r>
              <a:rPr lang="en-US" sz="1400" dirty="0"/>
              <a:t>Collins &amp; Hopwood	Value Line Forecasts	31.7%	34.1%</a:t>
            </a:r>
          </a:p>
          <a:p>
            <a:pPr marL="274320" indent="-274320" eaLnBrk="1" fontAlgn="auto" hangingPunct="1">
              <a:spcAft>
                <a:spcPts val="0"/>
              </a:spcAft>
              <a:buFont typeface="Monotype Sorts" charset="2"/>
              <a:buNone/>
              <a:tabLst>
                <a:tab pos="1828800" algn="l"/>
                <a:tab pos="3827463" algn="l"/>
                <a:tab pos="5773738" algn="l"/>
              </a:tabLst>
              <a:defRPr/>
            </a:pPr>
            <a:r>
              <a:rPr lang="en-US" sz="1400" dirty="0"/>
              <a:t>Brown &amp; </a:t>
            </a:r>
            <a:r>
              <a:rPr lang="en-US" sz="1400" dirty="0" err="1"/>
              <a:t>Rozeff</a:t>
            </a:r>
            <a:r>
              <a:rPr lang="en-US" sz="1400" dirty="0"/>
              <a:t>	Value Line Forecasts	28.4%	32.2%</a:t>
            </a:r>
          </a:p>
          <a:p>
            <a:pPr marL="274320" indent="-274320" eaLnBrk="1" fontAlgn="auto" hangingPunct="1">
              <a:spcAft>
                <a:spcPts val="0"/>
              </a:spcAft>
              <a:buFont typeface="Monotype Sorts" charset="2"/>
              <a:buNone/>
              <a:tabLst>
                <a:tab pos="1828800" algn="l"/>
                <a:tab pos="3827463" algn="l"/>
                <a:tab pos="5773738" algn="l"/>
              </a:tabLst>
              <a:defRPr/>
            </a:pPr>
            <a:r>
              <a:rPr lang="en-US" sz="1400" dirty="0"/>
              <a:t>Fried &amp; </a:t>
            </a:r>
            <a:r>
              <a:rPr lang="en-US" sz="1400" dirty="0" err="1"/>
              <a:t>Givoly</a:t>
            </a:r>
            <a:r>
              <a:rPr lang="en-US" sz="1400" dirty="0"/>
              <a:t>	Earnings Forecaster	16.4%	19.8%</a:t>
            </a:r>
            <a:endParaRPr lang="en-US" sz="2000" dirty="0"/>
          </a:p>
          <a:p>
            <a:pPr marL="274320" indent="-274320" eaLnBrk="1" fontAlgn="auto" hangingPunct="1">
              <a:spcAft>
                <a:spcPts val="0"/>
              </a:spcAft>
              <a:buFont typeface="Wingdings"/>
              <a:buChar char=""/>
              <a:tabLst>
                <a:tab pos="1828800" algn="l"/>
                <a:tab pos="3827463" algn="l"/>
                <a:tab pos="5773738" algn="l"/>
              </a:tabLst>
              <a:defRPr/>
            </a:pPr>
            <a:r>
              <a:rPr lang="en-US" sz="2000" dirty="0"/>
              <a:t>The advantage that analysts have over time series models</a:t>
            </a:r>
          </a:p>
          <a:p>
            <a:pPr marL="640080" lvl="1" indent="-274320" eaLnBrk="1" fontAlgn="auto" hangingPunct="1">
              <a:spcAft>
                <a:spcPts val="0"/>
              </a:spcAft>
              <a:buFont typeface="Wingdings 2"/>
              <a:buChar char=""/>
              <a:tabLst>
                <a:tab pos="1828800" algn="l"/>
                <a:tab pos="3827463" algn="l"/>
                <a:tab pos="5773738" algn="l"/>
              </a:tabLst>
              <a:defRPr/>
            </a:pPr>
            <a:r>
              <a:rPr lang="en-US" sz="1800" dirty="0"/>
              <a:t>tends to </a:t>
            </a:r>
            <a:r>
              <a:rPr lang="en-US" sz="1800" u="sng" dirty="0"/>
              <a:t>decrease with the forecast period </a:t>
            </a:r>
            <a:r>
              <a:rPr lang="en-US" sz="1800" dirty="0"/>
              <a:t>(next quarter versus 5 years)</a:t>
            </a:r>
          </a:p>
          <a:p>
            <a:pPr marL="640080" lvl="1" indent="-274320" eaLnBrk="1" fontAlgn="auto" hangingPunct="1">
              <a:spcAft>
                <a:spcPts val="0"/>
              </a:spcAft>
              <a:buFont typeface="Wingdings 2"/>
              <a:buChar char=""/>
              <a:tabLst>
                <a:tab pos="1828800" algn="l"/>
                <a:tab pos="3827463" algn="l"/>
                <a:tab pos="5773738" algn="l"/>
              </a:tabLst>
              <a:defRPr/>
            </a:pPr>
            <a:r>
              <a:rPr lang="en-US" sz="1800" dirty="0"/>
              <a:t>tends to be </a:t>
            </a:r>
            <a:r>
              <a:rPr lang="en-US" sz="1800" u="sng" dirty="0"/>
              <a:t>greater for larger firms </a:t>
            </a:r>
            <a:r>
              <a:rPr lang="en-US" sz="1800" dirty="0"/>
              <a:t>than for smaller firms</a:t>
            </a:r>
          </a:p>
          <a:p>
            <a:pPr marL="640080" lvl="1" indent="-274320" eaLnBrk="1" fontAlgn="auto" hangingPunct="1">
              <a:spcAft>
                <a:spcPts val="0"/>
              </a:spcAft>
              <a:buFont typeface="Wingdings 2"/>
              <a:buChar char=""/>
              <a:tabLst>
                <a:tab pos="1828800" algn="l"/>
                <a:tab pos="3827463" algn="l"/>
                <a:tab pos="5773738" algn="l"/>
              </a:tabLst>
              <a:defRPr/>
            </a:pPr>
            <a:r>
              <a:rPr lang="en-US" sz="1800" dirty="0"/>
              <a:t>tends to be </a:t>
            </a:r>
            <a:r>
              <a:rPr lang="en-US" sz="1800" u="sng" dirty="0"/>
              <a:t>greater at the industry level </a:t>
            </a:r>
            <a:r>
              <a:rPr lang="en-US" sz="1800" dirty="0"/>
              <a:t>than at the company level</a:t>
            </a:r>
          </a:p>
          <a:p>
            <a:pPr marL="274320" indent="-274320" eaLnBrk="1" fontAlgn="auto" hangingPunct="1">
              <a:spcAft>
                <a:spcPts val="0"/>
              </a:spcAft>
              <a:buFont typeface="Wingdings"/>
              <a:buChar char=""/>
              <a:tabLst>
                <a:tab pos="1828800" algn="l"/>
                <a:tab pos="3827463" algn="l"/>
                <a:tab pos="5773738" algn="l"/>
              </a:tabLst>
              <a:defRPr/>
            </a:pPr>
            <a:r>
              <a:rPr lang="en-US" sz="2000" dirty="0"/>
              <a:t>Forecasts of growth (and revisions thereof) tend to be highly correlated across analysts.</a:t>
            </a:r>
          </a:p>
        </p:txBody>
      </p:sp>
      <p:sp>
        <p:nvSpPr>
          <p:cNvPr id="2" name="Slide Number Placeholder 1"/>
          <p:cNvSpPr>
            <a:spLocks noGrp="1"/>
          </p:cNvSpPr>
          <p:nvPr>
            <p:ph type="sldNum" sz="quarter" idx="11"/>
          </p:nvPr>
        </p:nvSpPr>
        <p:spPr/>
        <p:txBody>
          <a:bodyPr/>
          <a:lstStyle/>
          <a:p>
            <a:pPr>
              <a:defRPr/>
            </a:pPr>
            <a:fld id="{C3168C1A-0F73-4148-A9C6-17783D0D792E}" type="slidenum">
              <a:rPr lang="en-GB" smtClean="0"/>
              <a:pPr>
                <a:defRPr/>
              </a:pPr>
              <a:t>53</a:t>
            </a:fld>
            <a:endParaRPr lang="en-GB"/>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16632"/>
            <a:ext cx="7772400" cy="634082"/>
          </a:xfrm>
        </p:spPr>
        <p:txBody>
          <a:bodyPr/>
          <a:lstStyle/>
          <a:p>
            <a:r>
              <a:rPr lang="en-GB" dirty="0"/>
              <a:t>III. Fundamental Growth Rates</a:t>
            </a:r>
          </a:p>
        </p:txBody>
      </p:sp>
      <p:sp>
        <p:nvSpPr>
          <p:cNvPr id="3" name="Content Placeholder 2"/>
          <p:cNvSpPr>
            <a:spLocks noGrp="1"/>
          </p:cNvSpPr>
          <p:nvPr>
            <p:ph sz="quarter" idx="1"/>
          </p:nvPr>
        </p:nvSpPr>
        <p:spPr>
          <a:xfrm>
            <a:off x="107504" y="764704"/>
            <a:ext cx="8820472" cy="5544616"/>
          </a:xfrm>
        </p:spPr>
        <p:txBody>
          <a:bodyPr/>
          <a:lstStyle/>
          <a:p>
            <a:r>
              <a:rPr lang="en-GB" dirty="0"/>
              <a:t>Assume that you have invested E1,000 in existing projects and you want to invest E100 in new projects. </a:t>
            </a:r>
          </a:p>
          <a:p>
            <a:r>
              <a:rPr lang="en-GB" dirty="0"/>
              <a:t>Assume that ROI is 12%</a:t>
            </a:r>
          </a:p>
        </p:txBody>
      </p:sp>
      <p:sp>
        <p:nvSpPr>
          <p:cNvPr id="5" name="Slide Number Placeholder 4"/>
          <p:cNvSpPr>
            <a:spLocks noGrp="1"/>
          </p:cNvSpPr>
          <p:nvPr>
            <p:ph type="sldNum" sz="quarter" idx="11"/>
          </p:nvPr>
        </p:nvSpPr>
        <p:spPr/>
        <p:txBody>
          <a:bodyPr/>
          <a:lstStyle/>
          <a:p>
            <a:pPr>
              <a:defRPr/>
            </a:pPr>
            <a:fld id="{C3168C1A-0F73-4148-A9C6-17783D0D792E}" type="slidenum">
              <a:rPr lang="en-GB" smtClean="0"/>
              <a:pPr>
                <a:defRPr/>
              </a:pPr>
              <a:t>54</a:t>
            </a:fld>
            <a:endParaRPr lang="en-GB"/>
          </a:p>
        </p:txBody>
      </p:sp>
      <mc:AlternateContent xmlns:mc="http://schemas.openxmlformats.org/markup-compatibility/2006" xmlns:a14="http://schemas.microsoft.com/office/drawing/2010/main">
        <mc:Choice Requires="a14">
          <p:sp>
            <p:nvSpPr>
              <p:cNvPr id="6" name="TextBox 5"/>
              <p:cNvSpPr txBox="1"/>
              <p:nvPr/>
            </p:nvSpPr>
            <p:spPr>
              <a:xfrm>
                <a:off x="502500" y="2204864"/>
                <a:ext cx="7627088" cy="3891643"/>
              </a:xfrm>
              <a:prstGeom prst="rect">
                <a:avLst/>
              </a:prstGeom>
              <a:noFill/>
            </p:spPr>
            <p:txBody>
              <a:bodyPr wrap="none" lIns="0" tIns="0" rIns="0" bIns="0" rtlCol="0">
                <a:spAutoFit/>
              </a:bodyPr>
              <a:lstStyle/>
              <a:p>
                <a:r>
                  <a:rPr lang="en-GB" sz="2000" b="0" i="1" dirty="0">
                    <a:latin typeface="Cambria Math" panose="02040503050406030204" pitchFamily="18" charset="0"/>
                  </a:rPr>
                  <a:t>Current</a:t>
                </a:r>
              </a:p>
              <a:p>
                <a:pPr/>
                <a14:m>
                  <m:oMathPara xmlns:m="http://schemas.openxmlformats.org/officeDocument/2006/math">
                    <m:oMath>
                      <m:limLow>
                        <m:limLowPr>
                          <m:ctrlPr>
                            <a:rPr lang="en-GB" sz="2000" i="1">
                              <a:latin typeface="Cambria Math" panose="02040503050406030204" pitchFamily="18" charset="0"/>
                            </a:rPr>
                          </m:ctrlPr>
                        </m:limLowPr>
                        <m:e>
                          <m:groupChr>
                            <m:groupChrPr>
                              <m:chr m:val="⏟"/>
                              <m:pos m:val="bot"/>
                              <m:vertJc m:val="top"/>
                              <m:ctrlPr>
                                <a:rPr lang="en-GB" sz="2000" i="1">
                                  <a:latin typeface="Cambria Math" panose="02040503050406030204" pitchFamily="18" charset="0"/>
                                </a:rPr>
                              </m:ctrlPr>
                            </m:groupChrPr>
                            <m:e>
                              <m:r>
                                <a:rPr lang="en-GB" sz="2000" i="1">
                                  <a:latin typeface="Cambria Math" panose="02040503050406030204" pitchFamily="18" charset="0"/>
                                </a:rPr>
                                <m:t>1</m:t>
                              </m:r>
                              <m:r>
                                <a:rPr lang="en-GB" sz="2000" b="0" i="1" smtClean="0">
                                  <a:latin typeface="Cambria Math" panose="02040503050406030204" pitchFamily="18" charset="0"/>
                                </a:rPr>
                                <m:t>,</m:t>
                              </m:r>
                              <m:r>
                                <a:rPr lang="en-GB" sz="2000" i="1">
                                  <a:latin typeface="Cambria Math" panose="02040503050406030204" pitchFamily="18" charset="0"/>
                                </a:rPr>
                                <m:t>000</m:t>
                              </m:r>
                            </m:e>
                          </m:groupChr>
                        </m:e>
                        <m:lim>
                          <m:eqArr>
                            <m:eqArrPr>
                              <m:ctrlPr>
                                <a:rPr lang="en-GB" sz="2000" b="0" i="1" smtClean="0">
                                  <a:latin typeface="Cambria Math" panose="02040503050406030204" pitchFamily="18" charset="0"/>
                                </a:rPr>
                              </m:ctrlPr>
                            </m:eqArrPr>
                            <m:e>
                              <m:r>
                                <a:rPr lang="en-GB" sz="2000" b="0" i="1" smtClean="0">
                                  <a:latin typeface="Cambria Math" panose="02040503050406030204" pitchFamily="18" charset="0"/>
                                </a:rPr>
                                <m:t>𝐸𝑥𝑖𝑠𝑡𝑖𝑛𝑔</m:t>
                              </m:r>
                              <m:r>
                                <a:rPr lang="en-GB" sz="2000" b="0" i="1" smtClean="0">
                                  <a:latin typeface="Cambria Math" panose="02040503050406030204" pitchFamily="18" charset="0"/>
                                </a:rPr>
                                <m:t> </m:t>
                              </m:r>
                            </m:e>
                            <m:e>
                              <m:r>
                                <a:rPr lang="en-GB" sz="2000" b="0" i="1" smtClean="0">
                                  <a:latin typeface="Cambria Math" panose="02040503050406030204" pitchFamily="18" charset="0"/>
                                </a:rPr>
                                <m:t>𝑃𝑟𝑜𝑗𝑒𝑐𝑡𝑠</m:t>
                              </m:r>
                            </m:e>
                          </m:eqArr>
                        </m:lim>
                      </m:limLow>
                      <m:r>
                        <a:rPr lang="en-GB" sz="2000" b="0" i="1" smtClean="0">
                          <a:latin typeface="Cambria Math" panose="02040503050406030204" pitchFamily="18" charset="0"/>
                        </a:rPr>
                        <m:t>∗</m:t>
                      </m:r>
                      <m:limLow>
                        <m:limLowPr>
                          <m:ctrlPr>
                            <a:rPr lang="en-GB" sz="2000" b="0" i="1" smtClean="0">
                              <a:latin typeface="Cambria Math" panose="02040503050406030204" pitchFamily="18" charset="0"/>
                            </a:rPr>
                          </m:ctrlPr>
                        </m:limLowPr>
                        <m:e>
                          <m:groupChr>
                            <m:groupChrPr>
                              <m:chr m:val="⏟"/>
                              <m:pos m:val="bot"/>
                              <m:vertJc m:val="top"/>
                              <m:ctrlPr>
                                <a:rPr lang="en-GB" sz="2000" b="0" i="1" smtClean="0">
                                  <a:latin typeface="Cambria Math" panose="02040503050406030204" pitchFamily="18" charset="0"/>
                                </a:rPr>
                              </m:ctrlPr>
                            </m:groupChrPr>
                            <m:e>
                              <m:r>
                                <a:rPr lang="en-GB" sz="2000" b="0" i="1" smtClean="0">
                                  <a:latin typeface="Cambria Math" panose="02040503050406030204" pitchFamily="18" charset="0"/>
                                </a:rPr>
                                <m:t>12%</m:t>
                              </m:r>
                            </m:e>
                          </m:groupChr>
                        </m:e>
                        <m:lim>
                          <m:eqArr>
                            <m:eqArrPr>
                              <m:ctrlPr>
                                <a:rPr lang="en-GB" sz="2000" b="0" i="1" smtClean="0">
                                  <a:latin typeface="Cambria Math" panose="02040503050406030204" pitchFamily="18" charset="0"/>
                                </a:rPr>
                              </m:ctrlPr>
                            </m:eqArrPr>
                            <m:e>
                              <m:r>
                                <a:rPr lang="en-GB" sz="2000" b="0" i="1" smtClean="0">
                                  <a:latin typeface="Cambria Math" panose="02040503050406030204" pitchFamily="18" charset="0"/>
                                </a:rPr>
                                <m:t>𝐶𝑢𝑟𝑟𝑒𝑛𝑡</m:t>
                              </m:r>
                              <m:r>
                                <a:rPr lang="en-GB" sz="2000" b="0" i="1" smtClean="0">
                                  <a:latin typeface="Cambria Math" panose="02040503050406030204" pitchFamily="18" charset="0"/>
                                </a:rPr>
                                <m:t> </m:t>
                              </m:r>
                            </m:e>
                            <m:e>
                              <m:r>
                                <a:rPr lang="en-GB" sz="2000" b="0" i="1" smtClean="0">
                                  <a:latin typeface="Cambria Math" panose="02040503050406030204" pitchFamily="18" charset="0"/>
                                </a:rPr>
                                <m:t>𝑅𝑂𝐼</m:t>
                              </m:r>
                            </m:e>
                          </m:eqArr>
                        </m:lim>
                      </m:limLow>
                      <m:r>
                        <a:rPr lang="en-GB" sz="2000" b="0" i="1" smtClean="0">
                          <a:latin typeface="Cambria Math" panose="02040503050406030204" pitchFamily="18" charset="0"/>
                        </a:rPr>
                        <m:t>=</m:t>
                      </m:r>
                      <m:limLow>
                        <m:limLowPr>
                          <m:ctrlPr>
                            <a:rPr lang="en-GB" sz="2000" i="1">
                              <a:latin typeface="Cambria Math" panose="02040503050406030204" pitchFamily="18" charset="0"/>
                            </a:rPr>
                          </m:ctrlPr>
                        </m:limLowPr>
                        <m:e>
                          <m:groupChr>
                            <m:groupChrPr>
                              <m:chr m:val="⏟"/>
                              <m:pos m:val="bot"/>
                              <m:vertJc m:val="top"/>
                              <m:ctrlPr>
                                <a:rPr lang="en-GB" sz="2000" i="1">
                                  <a:latin typeface="Cambria Math" panose="02040503050406030204" pitchFamily="18" charset="0"/>
                                </a:rPr>
                              </m:ctrlPr>
                            </m:groupChrPr>
                            <m:e>
                              <m:r>
                                <a:rPr lang="en-GB" sz="2000" i="1">
                                  <a:latin typeface="Cambria Math" panose="02040503050406030204" pitchFamily="18" charset="0"/>
                                </a:rPr>
                                <m:t>𝐸</m:t>
                              </m:r>
                              <m:r>
                                <a:rPr lang="en-GB" sz="2000" i="1">
                                  <a:latin typeface="Cambria Math" panose="02040503050406030204" pitchFamily="18" charset="0"/>
                                </a:rPr>
                                <m:t>120</m:t>
                              </m:r>
                            </m:e>
                          </m:groupChr>
                        </m:e>
                        <m:lim>
                          <m:eqArr>
                            <m:eqArrPr>
                              <m:ctrlPr>
                                <a:rPr lang="en-GB" sz="2000" b="0" i="1" smtClean="0">
                                  <a:latin typeface="Cambria Math" panose="02040503050406030204" pitchFamily="18" charset="0"/>
                                </a:rPr>
                              </m:ctrlPr>
                            </m:eqArrPr>
                            <m:e>
                              <m:r>
                                <a:rPr lang="en-GB" sz="2000" b="0" i="1" smtClean="0">
                                  <a:latin typeface="Cambria Math" panose="02040503050406030204" pitchFamily="18" charset="0"/>
                                </a:rPr>
                                <m:t>𝐶𝑢𝑟𝑟𝑒𝑛𝑡</m:t>
                              </m:r>
                              <m:r>
                                <a:rPr lang="en-GB" sz="2000" b="0" i="1" smtClean="0">
                                  <a:latin typeface="Cambria Math" panose="02040503050406030204" pitchFamily="18" charset="0"/>
                                </a:rPr>
                                <m:t> </m:t>
                              </m:r>
                            </m:e>
                            <m:e>
                              <m:r>
                                <a:rPr lang="en-GB" sz="2000" b="0" i="1" smtClean="0">
                                  <a:latin typeface="Cambria Math" panose="02040503050406030204" pitchFamily="18" charset="0"/>
                                </a:rPr>
                                <m:t>𝐸𝑎𝑟𝑛𝑖𝑛𝑔𝑠</m:t>
                              </m:r>
                            </m:e>
                          </m:eqArr>
                        </m:lim>
                      </m:limLow>
                    </m:oMath>
                  </m:oMathPara>
                </a14:m>
                <a:endParaRPr lang="en-GB" sz="2000" b="0" dirty="0"/>
              </a:p>
              <a:p>
                <a:endParaRPr lang="en-GB" sz="2000" i="1" dirty="0">
                  <a:latin typeface="Cambria Math" panose="02040503050406030204" pitchFamily="18" charset="0"/>
                </a:endParaRPr>
              </a:p>
              <a:p>
                <a:r>
                  <a:rPr lang="en-GB" sz="2000" i="1" dirty="0">
                    <a:latin typeface="Cambria Math" panose="02040503050406030204" pitchFamily="18" charset="0"/>
                  </a:rPr>
                  <a:t>Current + New Projects, when ROI stays constant</a:t>
                </a:r>
              </a:p>
              <a:p>
                <a:pPr/>
                <a14:m>
                  <m:oMathPara xmlns:m="http://schemas.openxmlformats.org/officeDocument/2006/math">
                    <m:oMath>
                      <m:limLow>
                        <m:limLowPr>
                          <m:ctrlPr>
                            <a:rPr lang="en-GB" sz="2000" i="1">
                              <a:latin typeface="Cambria Math" panose="02040503050406030204" pitchFamily="18" charset="0"/>
                            </a:rPr>
                          </m:ctrlPr>
                        </m:limLowPr>
                        <m:e>
                          <m:groupChr>
                            <m:groupChrPr>
                              <m:chr m:val="⏟"/>
                              <m:pos m:val="bot"/>
                              <m:vertJc m:val="top"/>
                              <m:ctrlPr>
                                <a:rPr lang="en-GB" sz="2000" i="1">
                                  <a:latin typeface="Cambria Math" panose="02040503050406030204" pitchFamily="18" charset="0"/>
                                </a:rPr>
                              </m:ctrlPr>
                            </m:groupChrPr>
                            <m:e>
                              <m:r>
                                <a:rPr lang="en-GB" sz="2000" i="1">
                                  <a:latin typeface="Cambria Math" panose="02040503050406030204" pitchFamily="18" charset="0"/>
                                </a:rPr>
                                <m:t>1,000</m:t>
                              </m:r>
                            </m:e>
                          </m:groupChr>
                        </m:e>
                        <m:lim>
                          <m:eqArr>
                            <m:eqArrPr>
                              <m:ctrlPr>
                                <a:rPr lang="en-GB" sz="2000" i="1">
                                  <a:latin typeface="Cambria Math" panose="02040503050406030204" pitchFamily="18" charset="0"/>
                                </a:rPr>
                              </m:ctrlPr>
                            </m:eqArrPr>
                            <m:e>
                              <m:r>
                                <a:rPr lang="en-GB" sz="2000" i="1">
                                  <a:latin typeface="Cambria Math" panose="02040503050406030204" pitchFamily="18" charset="0"/>
                                </a:rPr>
                                <m:t>𝐸𝑥𝑖𝑠𝑡𝑖𝑛𝑔</m:t>
                              </m:r>
                              <m:r>
                                <a:rPr lang="en-GB" sz="2000" i="1">
                                  <a:latin typeface="Cambria Math" panose="02040503050406030204" pitchFamily="18" charset="0"/>
                                </a:rPr>
                                <m:t> </m:t>
                              </m:r>
                            </m:e>
                            <m:e>
                              <m:r>
                                <a:rPr lang="en-GB" sz="2000" i="1">
                                  <a:latin typeface="Cambria Math" panose="02040503050406030204" pitchFamily="18" charset="0"/>
                                </a:rPr>
                                <m:t>𝑃𝑟𝑜𝑗𝑒𝑐𝑡𝑠</m:t>
                              </m:r>
                            </m:e>
                          </m:eqArr>
                        </m:lim>
                      </m:limLow>
                      <m:r>
                        <a:rPr lang="en-GB" sz="2000" i="1">
                          <a:latin typeface="Cambria Math" panose="02040503050406030204" pitchFamily="18" charset="0"/>
                        </a:rPr>
                        <m:t>∗</m:t>
                      </m:r>
                      <m:limLow>
                        <m:limLowPr>
                          <m:ctrlPr>
                            <a:rPr lang="en-GB" sz="2000" i="1">
                              <a:latin typeface="Cambria Math" panose="02040503050406030204" pitchFamily="18" charset="0"/>
                            </a:rPr>
                          </m:ctrlPr>
                        </m:limLowPr>
                        <m:e>
                          <m:groupChr>
                            <m:groupChrPr>
                              <m:chr m:val="⏟"/>
                              <m:pos m:val="bot"/>
                              <m:vertJc m:val="top"/>
                              <m:ctrlPr>
                                <a:rPr lang="en-GB" sz="2000" i="1">
                                  <a:latin typeface="Cambria Math" panose="02040503050406030204" pitchFamily="18" charset="0"/>
                                </a:rPr>
                              </m:ctrlPr>
                            </m:groupChrPr>
                            <m:e>
                              <m:r>
                                <a:rPr lang="en-GB" sz="2000" i="1">
                                  <a:latin typeface="Cambria Math" panose="02040503050406030204" pitchFamily="18" charset="0"/>
                                </a:rPr>
                                <m:t>12%</m:t>
                              </m:r>
                            </m:e>
                          </m:groupChr>
                        </m:e>
                        <m:lim>
                          <m:eqArr>
                            <m:eqArrPr>
                              <m:ctrlPr>
                                <a:rPr lang="en-GB" sz="2000" i="1">
                                  <a:latin typeface="Cambria Math" panose="02040503050406030204" pitchFamily="18" charset="0"/>
                                </a:rPr>
                              </m:ctrlPr>
                            </m:eqArrPr>
                            <m:e>
                              <m:r>
                                <a:rPr lang="en-GB" sz="2000" i="1">
                                  <a:latin typeface="Cambria Math" panose="02040503050406030204" pitchFamily="18" charset="0"/>
                                </a:rPr>
                                <m:t>𝐶𝑢𝑟𝑟𝑒𝑛𝑡</m:t>
                              </m:r>
                              <m:r>
                                <a:rPr lang="en-GB" sz="2000" i="1">
                                  <a:latin typeface="Cambria Math" panose="02040503050406030204" pitchFamily="18" charset="0"/>
                                </a:rPr>
                                <m:t> </m:t>
                              </m:r>
                            </m:e>
                            <m:e>
                              <m:r>
                                <a:rPr lang="en-GB" sz="2000" i="1">
                                  <a:latin typeface="Cambria Math" panose="02040503050406030204" pitchFamily="18" charset="0"/>
                                </a:rPr>
                                <m:t>𝑅𝑂𝐼</m:t>
                              </m:r>
                            </m:e>
                          </m:eqArr>
                        </m:lim>
                      </m:limLow>
                      <m:r>
                        <a:rPr lang="en-GB" sz="2000" b="0" i="1" smtClean="0">
                          <a:latin typeface="Cambria Math" panose="02040503050406030204" pitchFamily="18" charset="0"/>
                        </a:rPr>
                        <m:t>+</m:t>
                      </m:r>
                      <m:limLow>
                        <m:limLowPr>
                          <m:ctrlPr>
                            <a:rPr lang="en-GB" sz="2000" i="1">
                              <a:latin typeface="Cambria Math" panose="02040503050406030204" pitchFamily="18" charset="0"/>
                            </a:rPr>
                          </m:ctrlPr>
                        </m:limLowPr>
                        <m:e>
                          <m:groupChr>
                            <m:groupChrPr>
                              <m:chr m:val="⏟"/>
                              <m:pos m:val="bot"/>
                              <m:vertJc m:val="top"/>
                              <m:ctrlPr>
                                <a:rPr lang="en-GB" sz="2000" i="1">
                                  <a:latin typeface="Cambria Math" panose="02040503050406030204" pitchFamily="18" charset="0"/>
                                </a:rPr>
                              </m:ctrlPr>
                            </m:groupChrPr>
                            <m:e>
                              <m:r>
                                <a:rPr lang="en-GB" sz="2000" i="1">
                                  <a:latin typeface="Cambria Math" panose="02040503050406030204" pitchFamily="18" charset="0"/>
                                </a:rPr>
                                <m:t>100</m:t>
                              </m:r>
                            </m:e>
                          </m:groupChr>
                        </m:e>
                        <m:lim>
                          <m:eqArr>
                            <m:eqArrPr>
                              <m:ctrlPr>
                                <a:rPr lang="en-GB" sz="2000" b="0" i="1" smtClean="0">
                                  <a:latin typeface="Cambria Math" panose="02040503050406030204" pitchFamily="18" charset="0"/>
                                </a:rPr>
                              </m:ctrlPr>
                            </m:eqArrPr>
                            <m:e>
                              <m:r>
                                <a:rPr lang="en-GB" sz="2000" b="0" i="1" smtClean="0">
                                  <a:latin typeface="Cambria Math" panose="02040503050406030204" pitchFamily="18" charset="0"/>
                                </a:rPr>
                                <m:t>𝑁𝑒𝑤</m:t>
                              </m:r>
                              <m:r>
                                <a:rPr lang="en-GB" sz="2000" i="1">
                                  <a:latin typeface="Cambria Math" panose="02040503050406030204" pitchFamily="18" charset="0"/>
                                </a:rPr>
                                <m:t> </m:t>
                              </m:r>
                            </m:e>
                            <m:e>
                              <m:r>
                                <a:rPr lang="en-GB" sz="2000" i="1">
                                  <a:latin typeface="Cambria Math" panose="02040503050406030204" pitchFamily="18" charset="0"/>
                                </a:rPr>
                                <m:t>𝑃𝑟𝑜𝑗𝑒𝑐𝑡𝑠</m:t>
                              </m:r>
                            </m:e>
                          </m:eqArr>
                        </m:lim>
                      </m:limLow>
                      <m:r>
                        <a:rPr lang="en-GB" sz="2000" i="1">
                          <a:latin typeface="Cambria Math" panose="02040503050406030204" pitchFamily="18" charset="0"/>
                        </a:rPr>
                        <m:t>∗</m:t>
                      </m:r>
                      <m:limLow>
                        <m:limLowPr>
                          <m:ctrlPr>
                            <a:rPr lang="en-GB" sz="2000" i="1">
                              <a:latin typeface="Cambria Math" panose="02040503050406030204" pitchFamily="18" charset="0"/>
                            </a:rPr>
                          </m:ctrlPr>
                        </m:limLowPr>
                        <m:e>
                          <m:groupChr>
                            <m:groupChrPr>
                              <m:chr m:val="⏟"/>
                              <m:pos m:val="bot"/>
                              <m:vertJc m:val="top"/>
                              <m:ctrlPr>
                                <a:rPr lang="en-GB" sz="2000" i="1">
                                  <a:latin typeface="Cambria Math" panose="02040503050406030204" pitchFamily="18" charset="0"/>
                                </a:rPr>
                              </m:ctrlPr>
                            </m:groupChrPr>
                            <m:e>
                              <m:r>
                                <a:rPr lang="en-GB" sz="2000" i="1">
                                  <a:latin typeface="Cambria Math" panose="02040503050406030204" pitchFamily="18" charset="0"/>
                                </a:rPr>
                                <m:t>12%</m:t>
                              </m:r>
                            </m:e>
                          </m:groupChr>
                        </m:e>
                        <m:lim>
                          <m:eqArr>
                            <m:eqArrPr>
                              <m:ctrlPr>
                                <a:rPr lang="en-GB" sz="2000" b="0" i="1" smtClean="0">
                                  <a:latin typeface="Cambria Math" panose="02040503050406030204" pitchFamily="18" charset="0"/>
                                </a:rPr>
                              </m:ctrlPr>
                            </m:eqArrPr>
                            <m:e>
                              <m:r>
                                <a:rPr lang="en-GB" sz="2000" b="0" i="1" smtClean="0">
                                  <a:latin typeface="Cambria Math" panose="02040503050406030204" pitchFamily="18" charset="0"/>
                                </a:rPr>
                                <m:t>𝑁𝑒𝑤</m:t>
                              </m:r>
                              <m:r>
                                <a:rPr lang="en-GB" sz="2000" b="0" i="1" smtClean="0">
                                  <a:latin typeface="Cambria Math" panose="02040503050406030204" pitchFamily="18" charset="0"/>
                                </a:rPr>
                                <m:t> </m:t>
                              </m:r>
                              <m:r>
                                <a:rPr lang="en-GB" sz="2000" b="0" i="1" smtClean="0">
                                  <a:latin typeface="Cambria Math" panose="02040503050406030204" pitchFamily="18" charset="0"/>
                                </a:rPr>
                                <m:t>𝑃𝑟𝑜𝑗𝑒𝑐𝑡𝑠</m:t>
                              </m:r>
                              <m:r>
                                <a:rPr lang="en-GB" sz="2000" i="1">
                                  <a:latin typeface="Cambria Math" panose="02040503050406030204" pitchFamily="18" charset="0"/>
                                </a:rPr>
                                <m:t> </m:t>
                              </m:r>
                            </m:e>
                            <m:e>
                              <m:r>
                                <a:rPr lang="en-GB" sz="2000" i="1">
                                  <a:latin typeface="Cambria Math" panose="02040503050406030204" pitchFamily="18" charset="0"/>
                                </a:rPr>
                                <m:t>𝑅𝑂𝐼</m:t>
                              </m:r>
                            </m:e>
                          </m:eqArr>
                        </m:lim>
                      </m:limLow>
                      <m:r>
                        <a:rPr lang="en-GB" sz="2000" i="1">
                          <a:latin typeface="Cambria Math" panose="02040503050406030204" pitchFamily="18" charset="0"/>
                        </a:rPr>
                        <m:t>=</m:t>
                      </m:r>
                      <m:limLow>
                        <m:limLowPr>
                          <m:ctrlPr>
                            <a:rPr lang="en-GB" sz="2000" i="1">
                              <a:latin typeface="Cambria Math" panose="02040503050406030204" pitchFamily="18" charset="0"/>
                            </a:rPr>
                          </m:ctrlPr>
                        </m:limLowPr>
                        <m:e>
                          <m:groupChr>
                            <m:groupChrPr>
                              <m:chr m:val="⏟"/>
                              <m:pos m:val="bot"/>
                              <m:vertJc m:val="top"/>
                              <m:ctrlPr>
                                <a:rPr lang="en-GB" sz="2000" i="1">
                                  <a:latin typeface="Cambria Math" panose="02040503050406030204" pitchFamily="18" charset="0"/>
                                </a:rPr>
                              </m:ctrlPr>
                            </m:groupChrPr>
                            <m:e>
                              <m:r>
                                <a:rPr lang="en-GB" sz="2000" i="1">
                                  <a:latin typeface="Cambria Math" panose="02040503050406030204" pitchFamily="18" charset="0"/>
                                </a:rPr>
                                <m:t>𝐸</m:t>
                              </m:r>
                              <m:r>
                                <a:rPr lang="en-GB" sz="2000" i="1">
                                  <a:latin typeface="Cambria Math" panose="02040503050406030204" pitchFamily="18" charset="0"/>
                                </a:rPr>
                                <m:t>120</m:t>
                              </m:r>
                            </m:e>
                          </m:groupChr>
                        </m:e>
                        <m:lim>
                          <m:eqArr>
                            <m:eqArrPr>
                              <m:ctrlPr>
                                <a:rPr lang="en-GB" sz="2000" i="1">
                                  <a:latin typeface="Cambria Math" panose="02040503050406030204" pitchFamily="18" charset="0"/>
                                </a:rPr>
                              </m:ctrlPr>
                            </m:eqArrPr>
                            <m:e>
                              <m:r>
                                <a:rPr lang="en-GB" sz="2000" i="1">
                                  <a:latin typeface="Cambria Math" panose="02040503050406030204" pitchFamily="18" charset="0"/>
                                </a:rPr>
                                <m:t>𝐶𝑢𝑟𝑟𝑒𝑛𝑡</m:t>
                              </m:r>
                              <m:r>
                                <a:rPr lang="en-GB" sz="2000" i="1">
                                  <a:latin typeface="Cambria Math" panose="02040503050406030204" pitchFamily="18" charset="0"/>
                                </a:rPr>
                                <m:t> </m:t>
                              </m:r>
                            </m:e>
                            <m:e>
                              <m:r>
                                <a:rPr lang="en-GB" sz="2000" i="1">
                                  <a:latin typeface="Cambria Math" panose="02040503050406030204" pitchFamily="18" charset="0"/>
                                </a:rPr>
                                <m:t>𝐸𝑎𝑟𝑛𝑖𝑛𝑔𝑠</m:t>
                              </m:r>
                            </m:e>
                          </m:eqArr>
                        </m:lim>
                      </m:limLow>
                      <m:r>
                        <a:rPr lang="en-GB" sz="2000" b="0" i="1" smtClean="0">
                          <a:latin typeface="Cambria Math" panose="02040503050406030204" pitchFamily="18" charset="0"/>
                        </a:rPr>
                        <m:t>+</m:t>
                      </m:r>
                      <m:limLow>
                        <m:limLowPr>
                          <m:ctrlPr>
                            <a:rPr lang="en-GB" sz="2000" i="1">
                              <a:latin typeface="Cambria Math" panose="02040503050406030204" pitchFamily="18" charset="0"/>
                            </a:rPr>
                          </m:ctrlPr>
                        </m:limLowPr>
                        <m:e>
                          <m:groupChr>
                            <m:groupChrPr>
                              <m:chr m:val="⏟"/>
                              <m:pos m:val="bot"/>
                              <m:vertJc m:val="top"/>
                              <m:ctrlPr>
                                <a:rPr lang="en-GB" sz="2000" i="1">
                                  <a:latin typeface="Cambria Math" panose="02040503050406030204" pitchFamily="18" charset="0"/>
                                </a:rPr>
                              </m:ctrlPr>
                            </m:groupChrPr>
                            <m:e>
                              <m:r>
                                <a:rPr lang="en-GB" sz="2000" i="1">
                                  <a:latin typeface="Cambria Math" panose="02040503050406030204" pitchFamily="18" charset="0"/>
                                </a:rPr>
                                <m:t>𝐸</m:t>
                              </m:r>
                              <m:r>
                                <a:rPr lang="en-GB" sz="2000" i="1">
                                  <a:latin typeface="Cambria Math" panose="02040503050406030204" pitchFamily="18" charset="0"/>
                                </a:rPr>
                                <m:t>12</m:t>
                              </m:r>
                            </m:e>
                          </m:groupChr>
                        </m:e>
                        <m:lim>
                          <m:eqArr>
                            <m:eqArrPr>
                              <m:ctrlPr>
                                <a:rPr lang="en-GB" sz="2000" b="0" i="1" smtClean="0">
                                  <a:latin typeface="Cambria Math" panose="02040503050406030204" pitchFamily="18" charset="0"/>
                                </a:rPr>
                              </m:ctrlPr>
                            </m:eqArrPr>
                            <m:e>
                              <m:r>
                                <a:rPr lang="en-GB" sz="2000" b="0" i="1" smtClean="0">
                                  <a:latin typeface="Cambria Math" panose="02040503050406030204" pitchFamily="18" charset="0"/>
                                </a:rPr>
                                <m:t>𝑁𝑒𝑤</m:t>
                              </m:r>
                              <m:r>
                                <a:rPr lang="en-GB" sz="2000" b="0" i="1" smtClean="0">
                                  <a:latin typeface="Cambria Math" panose="02040503050406030204" pitchFamily="18" charset="0"/>
                                </a:rPr>
                                <m:t> </m:t>
                              </m:r>
                              <m:r>
                                <a:rPr lang="en-GB" sz="2000" b="0" i="1" smtClean="0">
                                  <a:latin typeface="Cambria Math" panose="02040503050406030204" pitchFamily="18" charset="0"/>
                                </a:rPr>
                                <m:t>𝑃𝑟𝑜𝑗𝑒𝑐𝑡𝑠</m:t>
                              </m:r>
                              <m:r>
                                <a:rPr lang="en-GB" sz="2000" i="1">
                                  <a:latin typeface="Cambria Math" panose="02040503050406030204" pitchFamily="18" charset="0"/>
                                </a:rPr>
                                <m:t> </m:t>
                              </m:r>
                            </m:e>
                            <m:e>
                              <m:r>
                                <a:rPr lang="en-GB" sz="2000" i="1">
                                  <a:latin typeface="Cambria Math" panose="02040503050406030204" pitchFamily="18" charset="0"/>
                                </a:rPr>
                                <m:t>𝐸𝑎𝑟𝑛𝑖𝑛𝑔𝑠</m:t>
                              </m:r>
                            </m:e>
                          </m:eqArr>
                        </m:lim>
                      </m:limLow>
                    </m:oMath>
                  </m:oMathPara>
                </a14:m>
                <a:endParaRPr lang="en-GB" sz="2000" dirty="0"/>
              </a:p>
              <a:p>
                <a:endParaRPr lang="en-GB" sz="2000" i="1" dirty="0">
                  <a:latin typeface="Cambria Math" panose="02040503050406030204" pitchFamily="18" charset="0"/>
                </a:endParaRPr>
              </a:p>
              <a:p>
                <a:r>
                  <a:rPr lang="en-GB" sz="2000" i="1" dirty="0">
                    <a:latin typeface="Cambria Math" panose="02040503050406030204" pitchFamily="18" charset="0"/>
                  </a:rPr>
                  <a:t>Change in Earnings</a:t>
                </a:r>
                <a:endParaRPr lang="en-GB" sz="2000" dirty="0"/>
              </a:p>
              <a:p>
                <a:pPr/>
                <a14:m>
                  <m:oMathPara xmlns:m="http://schemas.openxmlformats.org/officeDocument/2006/math">
                    <m:oMath>
                      <m:limLow>
                        <m:limLowPr>
                          <m:ctrlPr>
                            <a:rPr lang="en-GB" sz="2000" i="1">
                              <a:latin typeface="Cambria Math" panose="02040503050406030204" pitchFamily="18" charset="0"/>
                            </a:rPr>
                          </m:ctrlPr>
                        </m:limLowPr>
                        <m:e>
                          <m:groupChr>
                            <m:groupChrPr>
                              <m:chr m:val="⏟"/>
                              <m:pos m:val="bot"/>
                              <m:vertJc m:val="top"/>
                              <m:ctrlPr>
                                <a:rPr lang="en-GB" sz="2000" i="1">
                                  <a:latin typeface="Cambria Math" panose="02040503050406030204" pitchFamily="18" charset="0"/>
                                </a:rPr>
                              </m:ctrlPr>
                            </m:groupChrPr>
                            <m:e>
                              <m:r>
                                <a:rPr lang="en-GB" sz="2000" i="1">
                                  <a:latin typeface="Cambria Math" panose="02040503050406030204" pitchFamily="18" charset="0"/>
                                </a:rPr>
                                <m:t>1,000</m:t>
                              </m:r>
                            </m:e>
                          </m:groupChr>
                        </m:e>
                        <m:lim>
                          <m:eqArr>
                            <m:eqArrPr>
                              <m:ctrlPr>
                                <a:rPr lang="en-GB" sz="2000" i="1">
                                  <a:latin typeface="Cambria Math" panose="02040503050406030204" pitchFamily="18" charset="0"/>
                                </a:rPr>
                              </m:ctrlPr>
                            </m:eqArrPr>
                            <m:e>
                              <m:r>
                                <a:rPr lang="en-GB" sz="2000" i="1">
                                  <a:latin typeface="Cambria Math" panose="02040503050406030204" pitchFamily="18" charset="0"/>
                                </a:rPr>
                                <m:t>𝐸𝑥𝑖𝑠𝑡𝑖𝑛𝑔</m:t>
                              </m:r>
                              <m:r>
                                <a:rPr lang="en-GB" sz="2000" i="1">
                                  <a:latin typeface="Cambria Math" panose="02040503050406030204" pitchFamily="18" charset="0"/>
                                </a:rPr>
                                <m:t> </m:t>
                              </m:r>
                            </m:e>
                            <m:e>
                              <m:r>
                                <a:rPr lang="en-GB" sz="2000" i="1">
                                  <a:latin typeface="Cambria Math" panose="02040503050406030204" pitchFamily="18" charset="0"/>
                                </a:rPr>
                                <m:t>𝑃𝑟𝑜𝑗𝑒𝑐𝑡𝑠</m:t>
                              </m:r>
                            </m:e>
                          </m:eqArr>
                        </m:lim>
                      </m:limLow>
                      <m:r>
                        <a:rPr lang="en-GB" sz="2000" i="1">
                          <a:latin typeface="Cambria Math" panose="02040503050406030204" pitchFamily="18" charset="0"/>
                        </a:rPr>
                        <m:t>∗</m:t>
                      </m:r>
                      <m:limLow>
                        <m:limLowPr>
                          <m:ctrlPr>
                            <a:rPr lang="en-GB" sz="2000" i="1">
                              <a:latin typeface="Cambria Math" panose="02040503050406030204" pitchFamily="18" charset="0"/>
                            </a:rPr>
                          </m:ctrlPr>
                        </m:limLowPr>
                        <m:e>
                          <m:groupChr>
                            <m:groupChrPr>
                              <m:chr m:val="⏟"/>
                              <m:pos m:val="bot"/>
                              <m:vertJc m:val="top"/>
                              <m:ctrlPr>
                                <a:rPr lang="en-GB" sz="2000" i="1">
                                  <a:latin typeface="Cambria Math" panose="02040503050406030204" pitchFamily="18" charset="0"/>
                                </a:rPr>
                              </m:ctrlPr>
                            </m:groupChrPr>
                            <m:e>
                              <m:d>
                                <m:dPr>
                                  <m:ctrlPr>
                                    <a:rPr lang="en-GB" sz="2000" i="1">
                                      <a:latin typeface="Cambria Math" panose="02040503050406030204" pitchFamily="18" charset="0"/>
                                    </a:rPr>
                                  </m:ctrlPr>
                                </m:dPr>
                                <m:e>
                                  <m:r>
                                    <a:rPr lang="en-GB" sz="2000" i="1">
                                      <a:latin typeface="Cambria Math" panose="02040503050406030204" pitchFamily="18" charset="0"/>
                                    </a:rPr>
                                    <m:t>12%</m:t>
                                  </m:r>
                                  <m:r>
                                    <a:rPr lang="en-GB" sz="2000" b="0" i="1" smtClean="0">
                                      <a:latin typeface="Cambria Math" panose="02040503050406030204" pitchFamily="18" charset="0"/>
                                    </a:rPr>
                                    <m:t>−</m:t>
                                  </m:r>
                                  <m:r>
                                    <a:rPr lang="en-GB" sz="2000" i="1">
                                      <a:latin typeface="Cambria Math" panose="02040503050406030204" pitchFamily="18" charset="0"/>
                                    </a:rPr>
                                    <m:t>12%</m:t>
                                  </m:r>
                                </m:e>
                              </m:d>
                            </m:e>
                          </m:groupChr>
                        </m:e>
                        <m:lim>
                          <m:eqArr>
                            <m:eqArrPr>
                              <m:ctrlPr>
                                <a:rPr lang="en-GB" sz="2000" b="0" i="1" smtClean="0">
                                  <a:latin typeface="Cambria Math" panose="02040503050406030204" pitchFamily="18" charset="0"/>
                                </a:rPr>
                              </m:ctrlPr>
                            </m:eqArrPr>
                            <m:e>
                              <m:r>
                                <a:rPr lang="en-GB" sz="2000" b="0" i="1" smtClean="0">
                                  <a:latin typeface="Cambria Math" panose="02040503050406030204" pitchFamily="18" charset="0"/>
                                </a:rPr>
                                <m:t>𝐶ℎ𝑎𝑛𝑔𝑒</m:t>
                              </m:r>
                              <m:r>
                                <a:rPr lang="en-GB" sz="2000" i="1">
                                  <a:latin typeface="Cambria Math" panose="02040503050406030204" pitchFamily="18" charset="0"/>
                                </a:rPr>
                                <m:t> </m:t>
                              </m:r>
                            </m:e>
                            <m:e>
                              <m:r>
                                <a:rPr lang="en-GB" sz="2000" i="1">
                                  <a:latin typeface="Cambria Math" panose="02040503050406030204" pitchFamily="18" charset="0"/>
                                </a:rPr>
                                <m:t>𝑅𝑂𝐼</m:t>
                              </m:r>
                            </m:e>
                          </m:eqArr>
                        </m:lim>
                      </m:limLow>
                      <m:r>
                        <a:rPr lang="en-GB" sz="2000" i="1">
                          <a:latin typeface="Cambria Math" panose="02040503050406030204" pitchFamily="18" charset="0"/>
                        </a:rPr>
                        <m:t>+</m:t>
                      </m:r>
                      <m:limLow>
                        <m:limLowPr>
                          <m:ctrlPr>
                            <a:rPr lang="en-GB" sz="2000" i="1">
                              <a:latin typeface="Cambria Math" panose="02040503050406030204" pitchFamily="18" charset="0"/>
                            </a:rPr>
                          </m:ctrlPr>
                        </m:limLowPr>
                        <m:e>
                          <m:groupChr>
                            <m:groupChrPr>
                              <m:chr m:val="⏟"/>
                              <m:pos m:val="bot"/>
                              <m:vertJc m:val="top"/>
                              <m:ctrlPr>
                                <a:rPr lang="en-GB" sz="2000" i="1">
                                  <a:latin typeface="Cambria Math" panose="02040503050406030204" pitchFamily="18" charset="0"/>
                                </a:rPr>
                              </m:ctrlPr>
                            </m:groupChrPr>
                            <m:e>
                              <m:r>
                                <a:rPr lang="en-GB" sz="2000" i="1">
                                  <a:latin typeface="Cambria Math" panose="02040503050406030204" pitchFamily="18" charset="0"/>
                                </a:rPr>
                                <m:t>100</m:t>
                              </m:r>
                            </m:e>
                          </m:groupChr>
                        </m:e>
                        <m:lim>
                          <m:eqArr>
                            <m:eqArrPr>
                              <m:ctrlPr>
                                <a:rPr lang="en-GB" sz="2000" i="1">
                                  <a:latin typeface="Cambria Math" panose="02040503050406030204" pitchFamily="18" charset="0"/>
                                </a:rPr>
                              </m:ctrlPr>
                            </m:eqArrPr>
                            <m:e>
                              <m:r>
                                <a:rPr lang="en-GB" sz="2000" i="1">
                                  <a:latin typeface="Cambria Math" panose="02040503050406030204" pitchFamily="18" charset="0"/>
                                </a:rPr>
                                <m:t>𝑁𝑒𝑤</m:t>
                              </m:r>
                              <m:r>
                                <a:rPr lang="en-GB" sz="2000" i="1">
                                  <a:latin typeface="Cambria Math" panose="02040503050406030204" pitchFamily="18" charset="0"/>
                                </a:rPr>
                                <m:t> </m:t>
                              </m:r>
                            </m:e>
                            <m:e>
                              <m:r>
                                <a:rPr lang="en-GB" sz="2000" i="1">
                                  <a:latin typeface="Cambria Math" panose="02040503050406030204" pitchFamily="18" charset="0"/>
                                </a:rPr>
                                <m:t>𝑃𝑟𝑜𝑗𝑒𝑐𝑡𝑠</m:t>
                              </m:r>
                            </m:e>
                          </m:eqArr>
                        </m:lim>
                      </m:limLow>
                      <m:r>
                        <a:rPr lang="en-GB" sz="2000" i="1">
                          <a:latin typeface="Cambria Math" panose="02040503050406030204" pitchFamily="18" charset="0"/>
                        </a:rPr>
                        <m:t>∗</m:t>
                      </m:r>
                      <m:limLow>
                        <m:limLowPr>
                          <m:ctrlPr>
                            <a:rPr lang="en-GB" sz="2000" i="1">
                              <a:latin typeface="Cambria Math" panose="02040503050406030204" pitchFamily="18" charset="0"/>
                            </a:rPr>
                          </m:ctrlPr>
                        </m:limLowPr>
                        <m:e>
                          <m:groupChr>
                            <m:groupChrPr>
                              <m:chr m:val="⏟"/>
                              <m:pos m:val="bot"/>
                              <m:vertJc m:val="top"/>
                              <m:ctrlPr>
                                <a:rPr lang="en-GB" sz="2000" i="1">
                                  <a:latin typeface="Cambria Math" panose="02040503050406030204" pitchFamily="18" charset="0"/>
                                </a:rPr>
                              </m:ctrlPr>
                            </m:groupChrPr>
                            <m:e>
                              <m:r>
                                <a:rPr lang="en-GB" sz="2000" i="1">
                                  <a:latin typeface="Cambria Math" panose="02040503050406030204" pitchFamily="18" charset="0"/>
                                </a:rPr>
                                <m:t>12%</m:t>
                              </m:r>
                            </m:e>
                          </m:groupChr>
                        </m:e>
                        <m:lim>
                          <m:eqArr>
                            <m:eqArrPr>
                              <m:ctrlPr>
                                <a:rPr lang="en-GB" sz="2000" i="1">
                                  <a:latin typeface="Cambria Math" panose="02040503050406030204" pitchFamily="18" charset="0"/>
                                </a:rPr>
                              </m:ctrlPr>
                            </m:eqArrPr>
                            <m:e>
                              <m:r>
                                <a:rPr lang="en-GB" sz="2000" i="1">
                                  <a:latin typeface="Cambria Math" panose="02040503050406030204" pitchFamily="18" charset="0"/>
                                </a:rPr>
                                <m:t>𝑁𝑒𝑤</m:t>
                              </m:r>
                              <m:r>
                                <a:rPr lang="en-GB" sz="2000" i="1">
                                  <a:latin typeface="Cambria Math" panose="02040503050406030204" pitchFamily="18" charset="0"/>
                                </a:rPr>
                                <m:t> </m:t>
                              </m:r>
                              <m:r>
                                <a:rPr lang="en-GB" sz="2000" i="1">
                                  <a:latin typeface="Cambria Math" panose="02040503050406030204" pitchFamily="18" charset="0"/>
                                </a:rPr>
                                <m:t>𝑃𝑟𝑜𝑗𝑒𝑐𝑡𝑠</m:t>
                              </m:r>
                              <m:r>
                                <a:rPr lang="en-GB" sz="2000" i="1">
                                  <a:latin typeface="Cambria Math" panose="02040503050406030204" pitchFamily="18" charset="0"/>
                                </a:rPr>
                                <m:t> </m:t>
                              </m:r>
                            </m:e>
                            <m:e>
                              <m:r>
                                <a:rPr lang="en-GB" sz="2000" i="1">
                                  <a:latin typeface="Cambria Math" panose="02040503050406030204" pitchFamily="18" charset="0"/>
                                </a:rPr>
                                <m:t>𝑅𝑂𝐼</m:t>
                              </m:r>
                            </m:e>
                          </m:eqArr>
                        </m:lim>
                      </m:limLow>
                      <m:r>
                        <a:rPr lang="en-GB" sz="2000" i="1">
                          <a:latin typeface="Cambria Math" panose="02040503050406030204" pitchFamily="18" charset="0"/>
                        </a:rPr>
                        <m:t>=</m:t>
                      </m:r>
                      <m:limLow>
                        <m:limLowPr>
                          <m:ctrlPr>
                            <a:rPr lang="en-GB" sz="2000" i="1">
                              <a:latin typeface="Cambria Math" panose="02040503050406030204" pitchFamily="18" charset="0"/>
                            </a:rPr>
                          </m:ctrlPr>
                        </m:limLowPr>
                        <m:e>
                          <m:groupChr>
                            <m:groupChrPr>
                              <m:chr m:val="⏟"/>
                              <m:pos m:val="bot"/>
                              <m:vertJc m:val="top"/>
                              <m:ctrlPr>
                                <a:rPr lang="en-GB" sz="2000" i="1">
                                  <a:latin typeface="Cambria Math" panose="02040503050406030204" pitchFamily="18" charset="0"/>
                                </a:rPr>
                              </m:ctrlPr>
                            </m:groupChrPr>
                            <m:e>
                              <m:r>
                                <a:rPr lang="en-GB" sz="2000" i="1">
                                  <a:latin typeface="Cambria Math" panose="02040503050406030204" pitchFamily="18" charset="0"/>
                                </a:rPr>
                                <m:t>𝐸</m:t>
                              </m:r>
                              <m:r>
                                <a:rPr lang="en-GB" sz="2000" i="1">
                                  <a:latin typeface="Cambria Math" panose="02040503050406030204" pitchFamily="18" charset="0"/>
                                </a:rPr>
                                <m:t>12</m:t>
                              </m:r>
                            </m:e>
                          </m:groupChr>
                        </m:e>
                        <m:lim>
                          <m:eqArr>
                            <m:eqArrPr>
                              <m:ctrlPr>
                                <a:rPr lang="en-GB" sz="2000" i="1">
                                  <a:latin typeface="Cambria Math" panose="02040503050406030204" pitchFamily="18" charset="0"/>
                                </a:rPr>
                              </m:ctrlPr>
                            </m:eqArrPr>
                            <m:e>
                              <m:r>
                                <a:rPr lang="en-GB" sz="2000" i="1">
                                  <a:latin typeface="Cambria Math" panose="02040503050406030204" pitchFamily="18" charset="0"/>
                                </a:rPr>
                                <m:t>𝑁𝑒𝑤</m:t>
                              </m:r>
                              <m:r>
                                <a:rPr lang="en-GB" sz="2000" i="1">
                                  <a:latin typeface="Cambria Math" panose="02040503050406030204" pitchFamily="18" charset="0"/>
                                </a:rPr>
                                <m:t> </m:t>
                              </m:r>
                              <m:r>
                                <a:rPr lang="en-GB" sz="2000" i="1">
                                  <a:latin typeface="Cambria Math" panose="02040503050406030204" pitchFamily="18" charset="0"/>
                                </a:rPr>
                                <m:t>𝑃𝑟𝑜𝑗𝑒𝑐𝑡𝑠</m:t>
                              </m:r>
                              <m:r>
                                <a:rPr lang="en-GB" sz="2000" i="1">
                                  <a:latin typeface="Cambria Math" panose="02040503050406030204" pitchFamily="18" charset="0"/>
                                </a:rPr>
                                <m:t> </m:t>
                              </m:r>
                            </m:e>
                            <m:e>
                              <m:r>
                                <a:rPr lang="en-GB" sz="2000" i="1">
                                  <a:latin typeface="Cambria Math" panose="02040503050406030204" pitchFamily="18" charset="0"/>
                                </a:rPr>
                                <m:t>𝐸𝑎𝑟𝑛𝑖𝑛𝑔𝑠</m:t>
                              </m:r>
                            </m:e>
                          </m:eqArr>
                        </m:lim>
                      </m:limLow>
                    </m:oMath>
                  </m:oMathPara>
                </a14:m>
                <a:endParaRPr lang="en-GB" sz="2000" dirty="0"/>
              </a:p>
            </p:txBody>
          </p:sp>
        </mc:Choice>
        <mc:Fallback xmlns="">
          <p:sp>
            <p:nvSpPr>
              <p:cNvPr id="6" name="TextBox 5"/>
              <p:cNvSpPr txBox="1">
                <a:spLocks noRot="1" noChangeAspect="1" noMove="1" noResize="1" noEditPoints="1" noAdjustHandles="1" noChangeArrowheads="1" noChangeShapeType="1" noTextEdit="1"/>
              </p:cNvSpPr>
              <p:nvPr/>
            </p:nvSpPr>
            <p:spPr>
              <a:xfrm>
                <a:off x="502500" y="2204864"/>
                <a:ext cx="7627088" cy="3891643"/>
              </a:xfrm>
              <a:prstGeom prst="rect">
                <a:avLst/>
              </a:prstGeom>
              <a:blipFill>
                <a:blip r:embed="rId3"/>
                <a:stretch>
                  <a:fillRect l="-1997" t="-2038" r="-11262" b="-1411"/>
                </a:stretch>
              </a:blipFill>
            </p:spPr>
            <p:txBody>
              <a:bodyPr/>
              <a:lstStyle/>
              <a:p>
                <a:r>
                  <a:rPr lang="en-GB">
                    <a:noFill/>
                  </a:rPr>
                  <a:t> </a:t>
                </a:r>
              </a:p>
            </p:txBody>
          </p:sp>
        </mc:Fallback>
      </mc:AlternateContent>
    </p:spTree>
    <p:extLst>
      <p:ext uri="{BB962C8B-B14F-4D97-AF65-F5344CB8AC3E}">
        <p14:creationId xmlns:p14="http://schemas.microsoft.com/office/powerpoint/2010/main" val="13687879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7467600" cy="634082"/>
          </a:xfrm>
        </p:spPr>
        <p:txBody>
          <a:bodyPr/>
          <a:lstStyle/>
          <a:p>
            <a:r>
              <a:rPr lang="en-GB" dirty="0"/>
              <a:t>Growth Rate Derivation</a:t>
            </a:r>
          </a:p>
        </p:txBody>
      </p:sp>
      <p:sp>
        <p:nvSpPr>
          <p:cNvPr id="3" name="Slide Number Placeholder 2"/>
          <p:cNvSpPr>
            <a:spLocks noGrp="1"/>
          </p:cNvSpPr>
          <p:nvPr>
            <p:ph type="sldNum" sz="quarter" idx="11"/>
          </p:nvPr>
        </p:nvSpPr>
        <p:spPr/>
        <p:txBody>
          <a:bodyPr/>
          <a:lstStyle/>
          <a:p>
            <a:pPr>
              <a:defRPr/>
            </a:pPr>
            <a:fld id="{C3168C1A-0F73-4148-A9C6-17783D0D792E}" type="slidenum">
              <a:rPr lang="en-GB" smtClean="0"/>
              <a:pPr>
                <a:defRPr/>
              </a:pPr>
              <a:t>55</a:t>
            </a:fld>
            <a:endParaRPr lang="en-GB"/>
          </a:p>
        </p:txBody>
      </p:sp>
      <p:pic>
        <p:nvPicPr>
          <p:cNvPr id="6" name="Picture 5"/>
          <p:cNvPicPr>
            <a:picLocks noChangeAspect="1"/>
          </p:cNvPicPr>
          <p:nvPr/>
        </p:nvPicPr>
        <p:blipFill rotWithShape="1">
          <a:blip r:embed="rId3"/>
          <a:srcRect t="23869"/>
          <a:stretch/>
        </p:blipFill>
        <p:spPr>
          <a:xfrm>
            <a:off x="899592" y="1933754"/>
            <a:ext cx="7235389" cy="4540198"/>
          </a:xfrm>
          <a:prstGeom prst="rect">
            <a:avLst/>
          </a:prstGeom>
        </p:spPr>
      </p:pic>
      <mc:AlternateContent xmlns:mc="http://schemas.openxmlformats.org/markup-compatibility/2006" xmlns:a14="http://schemas.microsoft.com/office/drawing/2010/main">
        <mc:Choice Requires="a14">
          <p:sp>
            <p:nvSpPr>
              <p:cNvPr id="7" name="TextBox 6"/>
              <p:cNvSpPr txBox="1"/>
              <p:nvPr/>
            </p:nvSpPr>
            <p:spPr>
              <a:xfrm>
                <a:off x="1835696" y="724774"/>
                <a:ext cx="4824536" cy="1167756"/>
              </a:xfrm>
              <a:prstGeom prst="rect">
                <a:avLst/>
              </a:prstGeom>
              <a:noFill/>
            </p:spPr>
            <p:txBody>
              <a:bodyPr wrap="square" lIns="0" tIns="0" rIns="0" bIns="0" rtlCol="0">
                <a:spAutoFit/>
              </a:bodyPr>
              <a:lstStyle/>
              <a:p>
                <a:pPr/>
                <a14:m>
                  <m:oMathPara xmlns:m="http://schemas.openxmlformats.org/officeDocument/2006/math">
                    <m:oMath>
                      <m:r>
                        <a:rPr lang="en-GB" sz="2400" b="0" i="1" smtClean="0">
                          <a:latin typeface="Cambria Math" panose="02040503050406030204" pitchFamily="18" charset="0"/>
                        </a:rPr>
                        <m:t>𝑃𝑟𝑜𝑝𝑜𝑟𝑡𝑖𝑜𝑛𝑎𝑙𝑙𝑦</m:t>
                      </m:r>
                    </m:oMath>
                  </m:oMathPara>
                </a14:m>
                <a:endParaRPr lang="en-GB" sz="2400" b="0" dirty="0"/>
              </a:p>
              <a:p>
                <a:pPr/>
                <a14:m>
                  <m:oMathPara xmlns:m="http://schemas.openxmlformats.org/officeDocument/2006/math">
                    <m:oMath>
                      <m:r>
                        <a:rPr lang="en-GB" sz="2400" b="0" i="1" smtClean="0">
                          <a:latin typeface="Cambria Math" panose="02040503050406030204" pitchFamily="18" charset="0"/>
                        </a:rPr>
                        <m:t>𝑔</m:t>
                      </m:r>
                      <m:r>
                        <a:rPr lang="en-GB" sz="2400" b="0" i="1" smtClean="0">
                          <a:latin typeface="Cambria Math" panose="02040503050406030204" pitchFamily="18" charset="0"/>
                        </a:rPr>
                        <m:t>=</m:t>
                      </m:r>
                      <m:f>
                        <m:fPr>
                          <m:ctrlPr>
                            <a:rPr lang="el-GR" sz="2400" b="0" i="0" smtClean="0">
                              <a:latin typeface="Cambria Math" panose="02040503050406030204" pitchFamily="18" charset="0"/>
                            </a:rPr>
                          </m:ctrlPr>
                        </m:fPr>
                        <m:num>
                          <m:r>
                            <m:rPr>
                              <m:sty m:val="p"/>
                            </m:rPr>
                            <a:rPr lang="el-GR" sz="2400" b="0" i="0" smtClean="0">
                              <a:latin typeface="Cambria Math" panose="02040503050406030204" pitchFamily="18" charset="0"/>
                            </a:rPr>
                            <m:t>Δ</m:t>
                          </m:r>
                          <m:r>
                            <m:rPr>
                              <m:sty m:val="p"/>
                            </m:rPr>
                            <a:rPr lang="en-GB" sz="2400" b="0" i="0" smtClean="0">
                              <a:latin typeface="Cambria Math" panose="02040503050406030204" pitchFamily="18" charset="0"/>
                            </a:rPr>
                            <m:t>E</m:t>
                          </m:r>
                        </m:num>
                        <m:den>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𝐸</m:t>
                              </m:r>
                            </m:e>
                            <m:sub>
                              <m:r>
                                <a:rPr lang="en-GB" sz="2400" b="0" i="1" smtClean="0">
                                  <a:latin typeface="Cambria Math" panose="02040503050406030204" pitchFamily="18" charset="0"/>
                                </a:rPr>
                                <m:t>𝑒𝑥𝑖𝑠𝑡𝑖𝑛𝑔</m:t>
                              </m:r>
                            </m:sub>
                          </m:sSub>
                        </m:den>
                      </m:f>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12</m:t>
                          </m:r>
                        </m:num>
                        <m:den>
                          <m:r>
                            <a:rPr lang="en-GB" sz="2400" b="0" i="1" smtClean="0">
                              <a:latin typeface="Cambria Math" panose="02040503050406030204" pitchFamily="18" charset="0"/>
                            </a:rPr>
                            <m:t>120</m:t>
                          </m:r>
                        </m:den>
                      </m:f>
                      <m:r>
                        <a:rPr lang="en-GB" sz="2400" b="0" i="1" smtClean="0">
                          <a:latin typeface="Cambria Math" panose="02040503050406030204" pitchFamily="18" charset="0"/>
                        </a:rPr>
                        <m:t>=10%</m:t>
                      </m:r>
                    </m:oMath>
                  </m:oMathPara>
                </a14:m>
                <a:endParaRPr lang="en-GB"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1835696" y="724774"/>
                <a:ext cx="4824536" cy="1167756"/>
              </a:xfrm>
              <a:prstGeom prst="rect">
                <a:avLst/>
              </a:prstGeom>
              <a:blipFill>
                <a:blip r:embed="rId4"/>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7107518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17AB8-4789-27A5-DE31-8D8873B27A8F}"/>
              </a:ext>
            </a:extLst>
          </p:cNvPr>
          <p:cNvSpPr>
            <a:spLocks noGrp="1"/>
          </p:cNvSpPr>
          <p:nvPr>
            <p:ph type="title"/>
          </p:nvPr>
        </p:nvSpPr>
        <p:spPr>
          <a:xfrm>
            <a:off x="755576" y="1123950"/>
            <a:ext cx="7467600" cy="706090"/>
          </a:xfrm>
        </p:spPr>
        <p:txBody>
          <a:bodyPr/>
          <a:lstStyle/>
          <a:p>
            <a:pPr algn="ctr"/>
            <a:r>
              <a:rPr lang="en-GB" dirty="0"/>
              <a:t>Intrinsic Growth: General</a:t>
            </a:r>
          </a:p>
        </p:txBody>
      </p:sp>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A4E0A09B-3910-8C6A-7E2A-550F4515B320}"/>
                  </a:ext>
                </a:extLst>
              </p:cNvPr>
              <p:cNvGraphicFramePr>
                <a:graphicFrameLocks noGrp="1"/>
              </p:cNvGraphicFramePr>
              <p:nvPr>
                <p:ph sz="quarter" idx="1"/>
                <p:extLst>
                  <p:ext uri="{D42A27DB-BD31-4B8C-83A1-F6EECF244321}">
                    <p14:modId xmlns:p14="http://schemas.microsoft.com/office/powerpoint/2010/main" val="254319808"/>
                  </p:ext>
                </p:extLst>
              </p:nvPr>
            </p:nvGraphicFramePr>
            <p:xfrm>
              <a:off x="287524" y="2825130"/>
              <a:ext cx="8568952" cy="2908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Choice>
        <mc:Fallback xmlns="">
          <p:graphicFrame>
            <p:nvGraphicFramePr>
              <p:cNvPr id="5" name="Content Placeholder 4">
                <a:extLst>
                  <a:ext uri="{FF2B5EF4-FFF2-40B4-BE49-F238E27FC236}">
                    <a16:creationId xmlns:a16="http://schemas.microsoft.com/office/drawing/2014/main" id="{A4E0A09B-3910-8C6A-7E2A-550F4515B320}"/>
                  </a:ext>
                </a:extLst>
              </p:cNvPr>
              <p:cNvGraphicFramePr>
                <a:graphicFrameLocks noGrp="1"/>
              </p:cNvGraphicFramePr>
              <p:nvPr>
                <p:ph sz="quarter" idx="1"/>
                <p:extLst>
                  <p:ext uri="{D42A27DB-BD31-4B8C-83A1-F6EECF244321}">
                    <p14:modId xmlns:p14="http://schemas.microsoft.com/office/powerpoint/2010/main" val="254319808"/>
                  </p:ext>
                </p:extLst>
              </p:nvPr>
            </p:nvGraphicFramePr>
            <p:xfrm>
              <a:off x="287524" y="2825130"/>
              <a:ext cx="8568952" cy="290892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mc:Fallback>
      </mc:AlternateContent>
      <p:sp>
        <p:nvSpPr>
          <p:cNvPr id="4" name="Slide Number Placeholder 3">
            <a:extLst>
              <a:ext uri="{FF2B5EF4-FFF2-40B4-BE49-F238E27FC236}">
                <a16:creationId xmlns:a16="http://schemas.microsoft.com/office/drawing/2014/main" id="{2B85D256-0EC2-A7A0-70A1-B7D14D9CC5E5}"/>
              </a:ext>
            </a:extLst>
          </p:cNvPr>
          <p:cNvSpPr>
            <a:spLocks noGrp="1"/>
          </p:cNvSpPr>
          <p:nvPr>
            <p:ph type="sldNum" sz="quarter" idx="11"/>
          </p:nvPr>
        </p:nvSpPr>
        <p:spPr/>
        <p:txBody>
          <a:bodyPr/>
          <a:lstStyle/>
          <a:p>
            <a:pPr>
              <a:defRPr/>
            </a:pPr>
            <a:fld id="{C3168C1A-0F73-4148-A9C6-17783D0D792E}" type="slidenum">
              <a:rPr lang="en-GB" smtClean="0"/>
              <a:pPr>
                <a:defRPr/>
              </a:pPr>
              <a:t>56</a:t>
            </a:fld>
            <a:endParaRPr lang="en-GB"/>
          </a:p>
        </p:txBody>
      </p:sp>
    </p:spTree>
    <p:extLst>
      <p:ext uri="{BB962C8B-B14F-4D97-AF65-F5344CB8AC3E}">
        <p14:creationId xmlns:p14="http://schemas.microsoft.com/office/powerpoint/2010/main" val="32074305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1355074127"/>
              </p:ext>
            </p:extLst>
          </p:nvPr>
        </p:nvGraphicFramePr>
        <p:xfrm>
          <a:off x="457200" y="332656"/>
          <a:ext cx="8147248" cy="61411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4275211537"/>
              </p:ext>
            </p:extLst>
          </p:nvPr>
        </p:nvGraphicFramePr>
        <p:xfrm>
          <a:off x="7956376" y="260648"/>
          <a:ext cx="914400" cy="771525"/>
        </p:xfrm>
        <a:graphic>
          <a:graphicData uri="http://schemas.openxmlformats.org/presentationml/2006/ole">
            <mc:AlternateContent xmlns:mc="http://schemas.openxmlformats.org/markup-compatibility/2006">
              <mc:Choice xmlns:v="urn:schemas-microsoft-com:vml" Requires="v">
                <p:oleObj name="Acrobat Document" showAsIcon="1" r:id="rId8" imgW="914400" imgH="771480" progId="Acrobat.Document.DC">
                  <p:embed/>
                </p:oleObj>
              </mc:Choice>
              <mc:Fallback>
                <p:oleObj name="Acrobat Document" showAsIcon="1" r:id="rId8" imgW="914400" imgH="771480" progId="Acrobat.Document.DC">
                  <p:embed/>
                  <p:pic>
                    <p:nvPicPr>
                      <p:cNvPr id="3" name="Object 2"/>
                      <p:cNvPicPr>
                        <a:picLocks noChangeAspect="1" noChangeArrowheads="1"/>
                      </p:cNvPicPr>
                      <p:nvPr/>
                    </p:nvPicPr>
                    <p:blipFill>
                      <a:blip r:embed="rId9"/>
                      <a:srcRect/>
                      <a:stretch>
                        <a:fillRect/>
                      </a:stretch>
                    </p:blipFill>
                    <p:spPr bwMode="auto">
                      <a:xfrm>
                        <a:off x="7956376" y="260648"/>
                        <a:ext cx="91440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Slide Number Placeholder 4"/>
          <p:cNvSpPr>
            <a:spLocks noGrp="1"/>
          </p:cNvSpPr>
          <p:nvPr>
            <p:ph type="sldNum" sz="quarter" idx="11"/>
          </p:nvPr>
        </p:nvSpPr>
        <p:spPr/>
        <p:txBody>
          <a:bodyPr/>
          <a:lstStyle/>
          <a:p>
            <a:pPr>
              <a:defRPr/>
            </a:pPr>
            <a:fld id="{C3168C1A-0F73-4148-A9C6-17783D0D792E}" type="slidenum">
              <a:rPr lang="en-GB" smtClean="0"/>
              <a:pPr>
                <a:defRPr/>
              </a:pPr>
              <a:t>57</a:t>
            </a:fld>
            <a:endParaRPr lang="en-GB"/>
          </a:p>
        </p:txBody>
      </p:sp>
    </p:spTree>
    <p:extLst>
      <p:ext uri="{BB962C8B-B14F-4D97-AF65-F5344CB8AC3E}">
        <p14:creationId xmlns:p14="http://schemas.microsoft.com/office/powerpoint/2010/main" val="28699387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a:xfrm>
            <a:off x="457200" y="274638"/>
            <a:ext cx="8003232" cy="706090"/>
          </a:xfrm>
        </p:spPr>
        <p:txBody>
          <a:bodyPr/>
          <a:lstStyle/>
          <a:p>
            <a:pPr eaLnBrk="1" fontAlgn="auto" hangingPunct="1">
              <a:spcAft>
                <a:spcPts val="0"/>
              </a:spcAft>
              <a:defRPr/>
            </a:pPr>
            <a:r>
              <a:rPr lang="en-US" dirty="0"/>
              <a:t>I. Expected Long Term Growth in EPS</a:t>
            </a:r>
          </a:p>
        </p:txBody>
      </p:sp>
      <p:sp>
        <p:nvSpPr>
          <p:cNvPr id="64515" name="Rectangle 3"/>
          <p:cNvSpPr>
            <a:spLocks noGrp="1" noChangeArrowheads="1"/>
          </p:cNvSpPr>
          <p:nvPr>
            <p:ph sz="quarter" idx="1"/>
          </p:nvPr>
        </p:nvSpPr>
        <p:spPr>
          <a:xfrm>
            <a:off x="457200" y="1600200"/>
            <a:ext cx="7467600" cy="4873625"/>
          </a:xfrm>
        </p:spPr>
        <p:txBody>
          <a:bodyPr/>
          <a:lstStyle/>
          <a:p>
            <a:pPr algn="just" eaLnBrk="1" hangingPunct="1">
              <a:spcBef>
                <a:spcPct val="0"/>
              </a:spcBef>
            </a:pPr>
            <a:r>
              <a:rPr lang="en-US" sz="1800" dirty="0"/>
              <a:t>When looking at growth in earnings per share, these inputs can be cast as follows:</a:t>
            </a:r>
          </a:p>
          <a:p>
            <a:pPr algn="ctr" eaLnBrk="1" hangingPunct="1">
              <a:spcBef>
                <a:spcPct val="0"/>
              </a:spcBef>
              <a:buFont typeface="Monotype Sorts" charset="2"/>
              <a:buNone/>
            </a:pPr>
            <a:r>
              <a:rPr lang="en-US" sz="1800" dirty="0"/>
              <a:t>Reinvestment Rate = Retained Earnings/ Current Earnings = Retention Ratio</a:t>
            </a:r>
          </a:p>
          <a:p>
            <a:pPr algn="ctr" eaLnBrk="1" hangingPunct="1">
              <a:spcBef>
                <a:spcPct val="0"/>
              </a:spcBef>
              <a:buFont typeface="Monotype Sorts" charset="2"/>
              <a:buNone/>
            </a:pPr>
            <a:r>
              <a:rPr lang="en-US" sz="1800" dirty="0"/>
              <a:t>Return on Investment = ROE = Net Income/Book Value of Equity</a:t>
            </a:r>
          </a:p>
          <a:p>
            <a:pPr algn="just" eaLnBrk="1" hangingPunct="1">
              <a:spcBef>
                <a:spcPct val="0"/>
              </a:spcBef>
            </a:pPr>
            <a:r>
              <a:rPr lang="en-US" sz="1800" dirty="0"/>
              <a:t>In the special case where the current ROE is expected to remain unchanged</a:t>
            </a:r>
            <a:endParaRPr lang="en-US" dirty="0"/>
          </a:p>
          <a:p>
            <a:pPr algn="just" eaLnBrk="1" hangingPunct="1">
              <a:spcBef>
                <a:spcPct val="0"/>
              </a:spcBef>
              <a:buFont typeface="Monotype Sorts" charset="2"/>
              <a:buNone/>
            </a:pPr>
            <a:r>
              <a:rPr lang="en-US" dirty="0"/>
              <a:t>	</a:t>
            </a:r>
            <a:r>
              <a:rPr lang="en-US" dirty="0" err="1"/>
              <a:t>g</a:t>
            </a:r>
            <a:r>
              <a:rPr lang="en-US" baseline="-17000" dirty="0" err="1"/>
              <a:t>EPS</a:t>
            </a:r>
            <a:r>
              <a:rPr lang="en-US" baseline="-17000" dirty="0"/>
              <a:t>	</a:t>
            </a:r>
            <a:r>
              <a:rPr lang="en-US" dirty="0"/>
              <a:t> = Retained Earnings</a:t>
            </a:r>
            <a:r>
              <a:rPr lang="en-US" baseline="-17000" dirty="0"/>
              <a:t>t-1</a:t>
            </a:r>
            <a:r>
              <a:rPr lang="en-US" dirty="0"/>
              <a:t>/ NI</a:t>
            </a:r>
            <a:r>
              <a:rPr lang="en-US" baseline="-17000" dirty="0"/>
              <a:t>t-1</a:t>
            </a:r>
            <a:r>
              <a:rPr lang="en-US" dirty="0"/>
              <a:t> * ROE	</a:t>
            </a:r>
          </a:p>
          <a:p>
            <a:pPr algn="just" eaLnBrk="1" hangingPunct="1">
              <a:spcBef>
                <a:spcPct val="0"/>
              </a:spcBef>
              <a:buFont typeface="Monotype Sorts" charset="2"/>
              <a:buNone/>
            </a:pPr>
            <a:r>
              <a:rPr lang="en-US" dirty="0"/>
              <a:t>		= Retention Ratio * ROE</a:t>
            </a:r>
          </a:p>
          <a:p>
            <a:pPr algn="just" eaLnBrk="1" hangingPunct="1">
              <a:spcBef>
                <a:spcPct val="0"/>
              </a:spcBef>
              <a:buFont typeface="Monotype Sorts" charset="2"/>
              <a:buNone/>
            </a:pPr>
            <a:r>
              <a:rPr lang="en-US" dirty="0"/>
              <a:t>		= RR * ROE</a:t>
            </a:r>
          </a:p>
          <a:p>
            <a:pPr algn="just" eaLnBrk="1" hangingPunct="1">
              <a:spcBef>
                <a:spcPct val="0"/>
              </a:spcBef>
            </a:pPr>
            <a:r>
              <a:rPr lang="en-US" dirty="0"/>
              <a:t>Proposition 1: The expected growth rate in earnings for a company cannot exceed its return on equity in the long term. </a:t>
            </a:r>
          </a:p>
        </p:txBody>
      </p:sp>
      <p:sp>
        <p:nvSpPr>
          <p:cNvPr id="2" name="Oval 1"/>
          <p:cNvSpPr/>
          <p:nvPr/>
        </p:nvSpPr>
        <p:spPr>
          <a:xfrm>
            <a:off x="1187624" y="4077072"/>
            <a:ext cx="2088232" cy="792088"/>
          </a:xfrm>
          <a:prstGeom prst="ellipse">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Slide Number Placeholder 2"/>
          <p:cNvSpPr>
            <a:spLocks noGrp="1"/>
          </p:cNvSpPr>
          <p:nvPr>
            <p:ph type="sldNum" sz="quarter" idx="11"/>
          </p:nvPr>
        </p:nvSpPr>
        <p:spPr/>
        <p:txBody>
          <a:bodyPr/>
          <a:lstStyle/>
          <a:p>
            <a:pPr>
              <a:defRPr/>
            </a:pPr>
            <a:fld id="{C3168C1A-0F73-4148-A9C6-17783D0D792E}" type="slidenum">
              <a:rPr lang="en-GB" smtClean="0"/>
              <a:pPr>
                <a:defRPr/>
              </a:pPr>
              <a:t>58</a:t>
            </a:fld>
            <a:endParaRPr lang="en-GB"/>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Expected Growth Rate ABN </a:t>
            </a:r>
            <a:r>
              <a:rPr lang="en-GB" dirty="0" err="1"/>
              <a:t>Amro</a:t>
            </a:r>
            <a:endParaRPr lang="en-GB" dirty="0"/>
          </a:p>
        </p:txBody>
      </p:sp>
      <p:sp>
        <p:nvSpPr>
          <p:cNvPr id="3" name="Content Placeholder 2"/>
          <p:cNvSpPr>
            <a:spLocks noGrp="1"/>
          </p:cNvSpPr>
          <p:nvPr>
            <p:ph sz="quarter" idx="1"/>
          </p:nvPr>
        </p:nvSpPr>
        <p:spPr/>
        <p:txBody>
          <a:bodyPr/>
          <a:lstStyle/>
          <a:p>
            <a:pPr eaLnBrk="1" hangingPunct="1"/>
            <a:r>
              <a:rPr lang="en-US" dirty="0"/>
              <a:t>Current Return on Equity = 15.79%</a:t>
            </a:r>
          </a:p>
          <a:p>
            <a:pPr eaLnBrk="1" hangingPunct="1"/>
            <a:r>
              <a:rPr lang="en-US" dirty="0"/>
              <a:t>DPS=1.13, EPS=2.45</a:t>
            </a:r>
          </a:p>
          <a:p>
            <a:pPr eaLnBrk="1" hangingPunct="1"/>
            <a:endParaRPr lang="en-US" dirty="0"/>
          </a:p>
          <a:p>
            <a:pPr eaLnBrk="1" hangingPunct="1"/>
            <a:endParaRPr lang="en-US" dirty="0"/>
          </a:p>
          <a:p>
            <a:pPr eaLnBrk="1" hangingPunct="1"/>
            <a:endParaRPr lang="en-US" dirty="0"/>
          </a:p>
          <a:p>
            <a:pPr eaLnBrk="1" hangingPunct="1"/>
            <a:r>
              <a:rPr lang="en-US" dirty="0"/>
              <a:t>If ABN </a:t>
            </a:r>
            <a:r>
              <a:rPr lang="en-US" dirty="0" err="1"/>
              <a:t>Amro</a:t>
            </a:r>
            <a:r>
              <a:rPr lang="en-US" dirty="0"/>
              <a:t> can maintain its current ROE and retention ratio, its expected growth in EPS will be:</a:t>
            </a:r>
          </a:p>
          <a:p>
            <a:pPr eaLnBrk="1" hangingPunct="1"/>
            <a:endParaRPr lang="en-US" dirty="0"/>
          </a:p>
          <a:p>
            <a:endParaRPr lang="en-GB" dirty="0"/>
          </a:p>
        </p:txBody>
      </p:sp>
      <p:graphicFrame>
        <p:nvGraphicFramePr>
          <p:cNvPr id="4" name="Object 3"/>
          <p:cNvGraphicFramePr>
            <a:graphicFrameLocks noChangeAspect="1"/>
          </p:cNvGraphicFramePr>
          <p:nvPr>
            <p:extLst>
              <p:ext uri="{D42A27DB-BD31-4B8C-83A1-F6EECF244321}">
                <p14:modId xmlns:p14="http://schemas.microsoft.com/office/powerpoint/2010/main" val="7997628"/>
              </p:ext>
            </p:extLst>
          </p:nvPr>
        </p:nvGraphicFramePr>
        <p:xfrm>
          <a:off x="897079" y="2656086"/>
          <a:ext cx="6699257" cy="988938"/>
        </p:xfrm>
        <a:graphic>
          <a:graphicData uri="http://schemas.openxmlformats.org/presentationml/2006/ole">
            <mc:AlternateContent xmlns:mc="http://schemas.openxmlformats.org/markup-compatibility/2006">
              <mc:Choice xmlns:v="urn:schemas-microsoft-com:vml" Requires="v">
                <p:oleObj name="Equation" r:id="rId3" imgW="2666880" imgH="393480" progId="Equation.3">
                  <p:embed/>
                </p:oleObj>
              </mc:Choice>
              <mc:Fallback>
                <p:oleObj name="Equation" r:id="rId3" imgW="2666880" imgH="393480" progId="Equation.3">
                  <p:embed/>
                  <p:pic>
                    <p:nvPicPr>
                      <p:cNvPr id="4" name="Object 3"/>
                      <p:cNvPicPr/>
                      <p:nvPr/>
                    </p:nvPicPr>
                    <p:blipFill>
                      <a:blip r:embed="rId4"/>
                      <a:stretch>
                        <a:fillRect/>
                      </a:stretch>
                    </p:blipFill>
                    <p:spPr>
                      <a:xfrm>
                        <a:off x="897079" y="2656086"/>
                        <a:ext cx="6699257" cy="988938"/>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2939799920"/>
              </p:ext>
            </p:extLst>
          </p:nvPr>
        </p:nvGraphicFramePr>
        <p:xfrm>
          <a:off x="1043608" y="5301208"/>
          <a:ext cx="6380162" cy="511175"/>
        </p:xfrm>
        <a:graphic>
          <a:graphicData uri="http://schemas.openxmlformats.org/presentationml/2006/ole">
            <mc:AlternateContent xmlns:mc="http://schemas.openxmlformats.org/markup-compatibility/2006">
              <mc:Choice xmlns:v="urn:schemas-microsoft-com:vml" Requires="v">
                <p:oleObj name="Equation" r:id="rId5" imgW="2539800" imgH="203040" progId="Equation.3">
                  <p:embed/>
                </p:oleObj>
              </mc:Choice>
              <mc:Fallback>
                <p:oleObj name="Equation" r:id="rId5" imgW="2539800" imgH="203040" progId="Equation.3">
                  <p:embed/>
                  <p:pic>
                    <p:nvPicPr>
                      <p:cNvPr id="5" name="Object 4"/>
                      <p:cNvPicPr>
                        <a:picLocks noChangeAspect="1" noChangeArrowheads="1"/>
                      </p:cNvPicPr>
                      <p:nvPr/>
                    </p:nvPicPr>
                    <p:blipFill>
                      <a:blip r:embed="rId6"/>
                      <a:srcRect/>
                      <a:stretch>
                        <a:fillRect/>
                      </a:stretch>
                    </p:blipFill>
                    <p:spPr bwMode="auto">
                      <a:xfrm>
                        <a:off x="1043608" y="5301208"/>
                        <a:ext cx="6380162"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Slide Number Placeholder 5"/>
          <p:cNvSpPr>
            <a:spLocks noGrp="1"/>
          </p:cNvSpPr>
          <p:nvPr>
            <p:ph type="sldNum" sz="quarter" idx="11"/>
          </p:nvPr>
        </p:nvSpPr>
        <p:spPr/>
        <p:txBody>
          <a:bodyPr/>
          <a:lstStyle/>
          <a:p>
            <a:pPr>
              <a:defRPr/>
            </a:pPr>
            <a:fld id="{C3168C1A-0F73-4148-A9C6-17783D0D792E}" type="slidenum">
              <a:rPr lang="en-GB" smtClean="0"/>
              <a:pPr>
                <a:defRPr/>
              </a:pPr>
              <a:t>59</a:t>
            </a:fld>
            <a:endParaRPr lang="en-GB"/>
          </a:p>
        </p:txBody>
      </p:sp>
    </p:spTree>
    <p:extLst>
      <p:ext uri="{BB962C8B-B14F-4D97-AF65-F5344CB8AC3E}">
        <p14:creationId xmlns:p14="http://schemas.microsoft.com/office/powerpoint/2010/main" val="879780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2"/>
          <p:cNvSpPr>
            <a:spLocks noGrp="1" noChangeArrowheads="1"/>
          </p:cNvSpPr>
          <p:nvPr>
            <p:ph type="title"/>
          </p:nvPr>
        </p:nvSpPr>
        <p:spPr>
          <a:xfrm>
            <a:off x="457200" y="274638"/>
            <a:ext cx="7467600" cy="634082"/>
          </a:xfrm>
        </p:spPr>
        <p:txBody>
          <a:bodyPr/>
          <a:lstStyle/>
          <a:p>
            <a:pPr eaLnBrk="1" fontAlgn="auto" hangingPunct="1">
              <a:spcAft>
                <a:spcPts val="0"/>
              </a:spcAft>
              <a:defRPr/>
            </a:pPr>
            <a:r>
              <a:rPr lang="en-US" dirty="0"/>
              <a:t>II. Expected Growth in Net Income</a:t>
            </a:r>
          </a:p>
        </p:txBody>
      </p:sp>
      <p:sp>
        <p:nvSpPr>
          <p:cNvPr id="365571" name="Rectangle 3"/>
          <p:cNvSpPr>
            <a:spLocks noGrp="1" noChangeArrowheads="1"/>
          </p:cNvSpPr>
          <p:nvPr>
            <p:ph sz="quarter" idx="1"/>
          </p:nvPr>
        </p:nvSpPr>
        <p:spPr>
          <a:xfrm>
            <a:off x="107504" y="1104255"/>
            <a:ext cx="8435280" cy="5421089"/>
          </a:xfrm>
        </p:spPr>
        <p:txBody>
          <a:bodyPr>
            <a:normAutofit/>
          </a:bodyPr>
          <a:lstStyle/>
          <a:p>
            <a:pPr marL="274320" indent="-274320" eaLnBrk="1" fontAlgn="auto" hangingPunct="1">
              <a:spcAft>
                <a:spcPts val="0"/>
              </a:spcAft>
              <a:buFont typeface="Wingdings"/>
              <a:buChar char=""/>
              <a:defRPr/>
            </a:pPr>
            <a:r>
              <a:rPr lang="en-US" dirty="0"/>
              <a:t>The limitation of the EPS fundamental growth equation is that it focuses on per share earnings and </a:t>
            </a:r>
            <a:r>
              <a:rPr lang="en-US" b="1" dirty="0"/>
              <a:t>assumes that reinvested earnings are invested in projects earning the return on equity</a:t>
            </a:r>
            <a:r>
              <a:rPr lang="en-US" dirty="0"/>
              <a:t>.</a:t>
            </a:r>
          </a:p>
          <a:p>
            <a:pPr marL="274320" indent="-274320" eaLnBrk="1" fontAlgn="auto" hangingPunct="1">
              <a:spcAft>
                <a:spcPts val="0"/>
              </a:spcAft>
              <a:buFont typeface="Wingdings"/>
              <a:buChar char=""/>
              <a:defRPr/>
            </a:pPr>
            <a:r>
              <a:rPr lang="en-US" dirty="0"/>
              <a:t>A more general version of expected growth in earnings can be obtained by substituting in the equity reinvestment into real investments (net capital expenditures and working capital):</a:t>
            </a:r>
          </a:p>
          <a:p>
            <a:pPr marL="274320" indent="-274320" eaLnBrk="1" fontAlgn="auto" hangingPunct="1">
              <a:spcAft>
                <a:spcPts val="0"/>
              </a:spcAft>
              <a:buFont typeface="Wingdings"/>
              <a:buChar char=""/>
              <a:defRPr/>
            </a:pPr>
            <a:endParaRPr lang="en-US" dirty="0"/>
          </a:p>
          <a:p>
            <a:pPr marL="640080" lvl="1" indent="-274320" eaLnBrk="1" fontAlgn="auto" hangingPunct="1">
              <a:spcAft>
                <a:spcPts val="0"/>
              </a:spcAft>
              <a:buFontTx/>
              <a:buNone/>
              <a:defRPr/>
            </a:pPr>
            <a:endParaRPr lang="en-US" dirty="0"/>
          </a:p>
        </p:txBody>
      </p:sp>
      <p:sp>
        <p:nvSpPr>
          <p:cNvPr id="2" name="Cloud Callout 1"/>
          <p:cNvSpPr/>
          <p:nvPr/>
        </p:nvSpPr>
        <p:spPr>
          <a:xfrm>
            <a:off x="5580112" y="3933056"/>
            <a:ext cx="3312368" cy="1224136"/>
          </a:xfrm>
          <a:prstGeom prst="cloudCallout">
            <a:avLst>
              <a:gd name="adj1" fmla="val 17180"/>
              <a:gd name="adj2" fmla="val 6511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Firm can issue equity to finance projects</a:t>
            </a:r>
          </a:p>
        </p:txBody>
      </p:sp>
      <p:graphicFrame>
        <p:nvGraphicFramePr>
          <p:cNvPr id="3" name="Object 2"/>
          <p:cNvGraphicFramePr>
            <a:graphicFrameLocks noChangeAspect="1"/>
          </p:cNvGraphicFramePr>
          <p:nvPr>
            <p:extLst>
              <p:ext uri="{D42A27DB-BD31-4B8C-83A1-F6EECF244321}">
                <p14:modId xmlns:p14="http://schemas.microsoft.com/office/powerpoint/2010/main" val="4072347636"/>
              </p:ext>
            </p:extLst>
          </p:nvPr>
        </p:nvGraphicFramePr>
        <p:xfrm>
          <a:off x="179512" y="4437112"/>
          <a:ext cx="8804077" cy="1783481"/>
        </p:xfrm>
        <a:graphic>
          <a:graphicData uri="http://schemas.openxmlformats.org/presentationml/2006/ole">
            <mc:AlternateContent xmlns:mc="http://schemas.openxmlformats.org/markup-compatibility/2006">
              <mc:Choice xmlns:v="urn:schemas-microsoft-com:vml" Requires="v">
                <p:oleObj name="Equation" r:id="rId3" imgW="4267080" imgH="863280" progId="Equation.3">
                  <p:embed/>
                </p:oleObj>
              </mc:Choice>
              <mc:Fallback>
                <p:oleObj name="Equation" r:id="rId3" imgW="4267080" imgH="863280" progId="Equation.3">
                  <p:embed/>
                  <p:pic>
                    <p:nvPicPr>
                      <p:cNvPr id="3" name="Object 2"/>
                      <p:cNvPicPr/>
                      <p:nvPr/>
                    </p:nvPicPr>
                    <p:blipFill>
                      <a:blip r:embed="rId4"/>
                      <a:stretch>
                        <a:fillRect/>
                      </a:stretch>
                    </p:blipFill>
                    <p:spPr>
                      <a:xfrm>
                        <a:off x="179512" y="4437112"/>
                        <a:ext cx="8804077" cy="1783481"/>
                      </a:xfrm>
                      <a:prstGeom prst="rect">
                        <a:avLst/>
                      </a:prstGeom>
                    </p:spPr>
                  </p:pic>
                </p:oleObj>
              </mc:Fallback>
            </mc:AlternateContent>
          </a:graphicData>
        </a:graphic>
      </p:graphicFrame>
      <p:sp>
        <p:nvSpPr>
          <p:cNvPr id="4" name="Slide Number Placeholder 3"/>
          <p:cNvSpPr>
            <a:spLocks noGrp="1"/>
          </p:cNvSpPr>
          <p:nvPr>
            <p:ph type="sldNum" sz="quarter" idx="11"/>
          </p:nvPr>
        </p:nvSpPr>
        <p:spPr/>
        <p:txBody>
          <a:bodyPr/>
          <a:lstStyle/>
          <a:p>
            <a:pPr>
              <a:defRPr/>
            </a:pPr>
            <a:fld id="{C3168C1A-0F73-4148-A9C6-17783D0D792E}" type="slidenum">
              <a:rPr lang="en-GB" smtClean="0"/>
              <a:pPr>
                <a:defRPr/>
              </a:pPr>
              <a:t>60</a:t>
            </a:fld>
            <a:endParaRPr lang="en-GB"/>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a:xfrm>
            <a:off x="144016" y="404664"/>
            <a:ext cx="9036496" cy="792088"/>
          </a:xfrm>
        </p:spPr>
        <p:txBody>
          <a:bodyPr>
            <a:normAutofit fontScale="90000"/>
          </a:bodyPr>
          <a:lstStyle/>
          <a:p>
            <a:pPr eaLnBrk="1" fontAlgn="auto" hangingPunct="1">
              <a:spcBef>
                <a:spcPct val="96000"/>
              </a:spcBef>
              <a:spcAft>
                <a:spcPts val="0"/>
              </a:spcAft>
              <a:defRPr/>
            </a:pPr>
            <a:r>
              <a:rPr lang="en-US" dirty="0"/>
              <a:t>III. Expected Growth in EBIT And Fundamentals: Stable ROC and Reinvestment Rate</a:t>
            </a:r>
          </a:p>
        </p:txBody>
      </p:sp>
      <p:sp>
        <p:nvSpPr>
          <p:cNvPr id="173059" name="Rectangle 3"/>
          <p:cNvSpPr>
            <a:spLocks noGrp="1" noChangeArrowheads="1"/>
          </p:cNvSpPr>
          <p:nvPr>
            <p:ph sz="quarter" idx="1"/>
          </p:nvPr>
        </p:nvSpPr>
        <p:spPr>
          <a:xfrm>
            <a:off x="107504" y="1484784"/>
            <a:ext cx="8928992" cy="5256584"/>
          </a:xfrm>
        </p:spPr>
        <p:txBody>
          <a:bodyPr>
            <a:normAutofit/>
          </a:bodyPr>
          <a:lstStyle/>
          <a:p>
            <a:pPr marL="274320" indent="-274320" eaLnBrk="1" fontAlgn="auto" hangingPunct="1">
              <a:spcAft>
                <a:spcPts val="0"/>
              </a:spcAft>
              <a:buFont typeface="Wingdings"/>
              <a:buChar char=""/>
              <a:defRPr/>
            </a:pPr>
            <a:endParaRPr lang="en-GB" dirty="0"/>
          </a:p>
          <a:p>
            <a:pPr marL="274320" indent="-274320" eaLnBrk="1" fontAlgn="auto" hangingPunct="1">
              <a:spcAft>
                <a:spcPts val="0"/>
              </a:spcAft>
              <a:buFont typeface="Wingdings"/>
              <a:buChar char=""/>
              <a:defRPr/>
            </a:pPr>
            <a:endParaRPr lang="en-GB" b="1" dirty="0"/>
          </a:p>
          <a:p>
            <a:pPr marL="274320" indent="-274320" eaLnBrk="1" fontAlgn="auto" hangingPunct="1">
              <a:spcAft>
                <a:spcPts val="0"/>
              </a:spcAft>
              <a:buFont typeface="Wingdings"/>
              <a:buChar char=""/>
              <a:defRPr/>
            </a:pPr>
            <a:endParaRPr lang="en-GB" b="1" dirty="0"/>
          </a:p>
          <a:p>
            <a:pPr marL="274320" indent="-274320" eaLnBrk="1" fontAlgn="auto" hangingPunct="1">
              <a:spcAft>
                <a:spcPts val="0"/>
              </a:spcAft>
              <a:buFont typeface="Wingdings"/>
              <a:buChar char=""/>
              <a:defRPr/>
            </a:pPr>
            <a:endParaRPr lang="en-GB" b="1" dirty="0"/>
          </a:p>
          <a:p>
            <a:pPr marL="274320" indent="-274320" eaLnBrk="1" fontAlgn="auto" hangingPunct="1">
              <a:spcAft>
                <a:spcPts val="0"/>
              </a:spcAft>
              <a:buFont typeface="Wingdings"/>
              <a:buChar char=""/>
              <a:defRPr/>
            </a:pPr>
            <a:endParaRPr lang="en-GB" b="1" dirty="0"/>
          </a:p>
          <a:p>
            <a:pPr marL="274320" indent="-274320" eaLnBrk="1" fontAlgn="auto" hangingPunct="1">
              <a:spcAft>
                <a:spcPts val="0"/>
              </a:spcAft>
              <a:buFont typeface="Wingdings"/>
              <a:buChar char=""/>
              <a:defRPr/>
            </a:pPr>
            <a:endParaRPr lang="en-GB" b="1" dirty="0"/>
          </a:p>
          <a:p>
            <a:pPr marL="274320" indent="-274320" eaLnBrk="1" fontAlgn="auto" hangingPunct="1">
              <a:spcAft>
                <a:spcPts val="0"/>
              </a:spcAft>
              <a:buFont typeface="Wingdings"/>
              <a:buChar char=""/>
              <a:defRPr/>
            </a:pPr>
            <a:endParaRPr lang="en-GB" b="1" dirty="0"/>
          </a:p>
          <a:p>
            <a:pPr marL="274320" indent="-274320" eaLnBrk="1" fontAlgn="auto" hangingPunct="1">
              <a:spcAft>
                <a:spcPts val="0"/>
              </a:spcAft>
              <a:buFont typeface="Wingdings"/>
              <a:buChar char=""/>
              <a:defRPr/>
            </a:pPr>
            <a:endParaRPr lang="en-GB" b="1" dirty="0"/>
          </a:p>
          <a:p>
            <a:pPr marL="274320" indent="-274320" eaLnBrk="1" fontAlgn="auto" hangingPunct="1">
              <a:spcAft>
                <a:spcPts val="0"/>
              </a:spcAft>
              <a:buFont typeface="Wingdings"/>
              <a:buChar char=""/>
              <a:defRPr/>
            </a:pPr>
            <a:endParaRPr lang="en-GB" b="1" dirty="0"/>
          </a:p>
          <a:p>
            <a:pPr marL="274320" indent="-274320" eaLnBrk="1" fontAlgn="auto" hangingPunct="1">
              <a:spcAft>
                <a:spcPts val="0"/>
              </a:spcAft>
              <a:buFont typeface="Wingdings"/>
              <a:buChar char=""/>
              <a:defRPr/>
            </a:pPr>
            <a:r>
              <a:rPr lang="en-US" b="1" dirty="0"/>
              <a:t>Proposition: The net capital expenditure needs of a firm, for a given growth rate, should be inversely proportional to the quality of its investments. </a:t>
            </a:r>
          </a:p>
        </p:txBody>
      </p:sp>
      <p:graphicFrame>
        <p:nvGraphicFramePr>
          <p:cNvPr id="2" name="Object 1"/>
          <p:cNvGraphicFramePr>
            <a:graphicFrameLocks noChangeAspect="1"/>
          </p:cNvGraphicFramePr>
          <p:nvPr>
            <p:extLst>
              <p:ext uri="{D42A27DB-BD31-4B8C-83A1-F6EECF244321}">
                <p14:modId xmlns:p14="http://schemas.microsoft.com/office/powerpoint/2010/main" val="640617172"/>
              </p:ext>
            </p:extLst>
          </p:nvPr>
        </p:nvGraphicFramePr>
        <p:xfrm>
          <a:off x="179388" y="1089124"/>
          <a:ext cx="8539162" cy="4356100"/>
        </p:xfrm>
        <a:graphic>
          <a:graphicData uri="http://schemas.openxmlformats.org/presentationml/2006/ole">
            <mc:AlternateContent xmlns:mc="http://schemas.openxmlformats.org/markup-compatibility/2006">
              <mc:Choice xmlns:v="urn:schemas-microsoft-com:vml" Requires="v">
                <p:oleObj name="Equation" r:id="rId3" imgW="3886200" imgH="1981080" progId="Equation.3">
                  <p:embed/>
                </p:oleObj>
              </mc:Choice>
              <mc:Fallback>
                <p:oleObj name="Equation" r:id="rId3" imgW="3886200" imgH="1981080" progId="Equation.3">
                  <p:embed/>
                  <p:pic>
                    <p:nvPicPr>
                      <p:cNvPr id="2" name="Object 1"/>
                      <p:cNvPicPr/>
                      <p:nvPr/>
                    </p:nvPicPr>
                    <p:blipFill>
                      <a:blip r:embed="rId4"/>
                      <a:stretch>
                        <a:fillRect/>
                      </a:stretch>
                    </p:blipFill>
                    <p:spPr>
                      <a:xfrm>
                        <a:off x="179388" y="1089124"/>
                        <a:ext cx="8539162" cy="4356100"/>
                      </a:xfrm>
                      <a:prstGeom prst="rect">
                        <a:avLst/>
                      </a:prstGeom>
                    </p:spPr>
                  </p:pic>
                </p:oleObj>
              </mc:Fallback>
            </mc:AlternateContent>
          </a:graphicData>
        </a:graphic>
      </p:graphicFrame>
      <p:sp>
        <p:nvSpPr>
          <p:cNvPr id="3" name="Slide Number Placeholder 2"/>
          <p:cNvSpPr>
            <a:spLocks noGrp="1"/>
          </p:cNvSpPr>
          <p:nvPr>
            <p:ph type="sldNum" sz="quarter" idx="11"/>
          </p:nvPr>
        </p:nvSpPr>
        <p:spPr/>
        <p:txBody>
          <a:bodyPr/>
          <a:lstStyle/>
          <a:p>
            <a:pPr>
              <a:defRPr/>
            </a:pPr>
            <a:fld id="{C3168C1A-0F73-4148-A9C6-17783D0D792E}" type="slidenum">
              <a:rPr lang="en-GB" smtClean="0"/>
              <a:pPr>
                <a:defRPr/>
              </a:pPr>
              <a:t>61</a:t>
            </a:fld>
            <a:endParaRPr lang="en-GB"/>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p:txBody>
          <a:bodyPr/>
          <a:lstStyle/>
          <a:p>
            <a:pPr eaLnBrk="1" fontAlgn="auto" hangingPunct="1">
              <a:spcAft>
                <a:spcPts val="0"/>
              </a:spcAft>
              <a:defRPr/>
            </a:pPr>
            <a:r>
              <a:rPr lang="en-US" dirty="0">
                <a:hlinkClick r:id="" action="ppaction://noaction"/>
              </a:rPr>
              <a:t>ROE and Leverage</a:t>
            </a:r>
            <a:endParaRPr lang="en-US" dirty="0"/>
          </a:p>
        </p:txBody>
      </p:sp>
      <p:graphicFrame>
        <p:nvGraphicFramePr>
          <p:cNvPr id="2" name="Object 1"/>
          <p:cNvGraphicFramePr>
            <a:graphicFrameLocks noChangeAspect="1"/>
          </p:cNvGraphicFramePr>
          <p:nvPr/>
        </p:nvGraphicFramePr>
        <p:xfrm>
          <a:off x="162843" y="1628800"/>
          <a:ext cx="8945661" cy="5040560"/>
        </p:xfrm>
        <a:graphic>
          <a:graphicData uri="http://schemas.openxmlformats.org/presentationml/2006/ole">
            <mc:AlternateContent xmlns:mc="http://schemas.openxmlformats.org/markup-compatibility/2006">
              <mc:Choice xmlns:v="urn:schemas-microsoft-com:vml" Requires="v">
                <p:oleObj name="Equation" r:id="rId3" imgW="4305240" imgH="2425680" progId="Equation.3">
                  <p:embed/>
                </p:oleObj>
              </mc:Choice>
              <mc:Fallback>
                <p:oleObj name="Equation" r:id="rId3" imgW="4305240" imgH="2425680" progId="Equation.3">
                  <p:embed/>
                  <p:pic>
                    <p:nvPicPr>
                      <p:cNvPr id="2" name="Object 1"/>
                      <p:cNvPicPr/>
                      <p:nvPr/>
                    </p:nvPicPr>
                    <p:blipFill>
                      <a:blip r:embed="rId4"/>
                      <a:stretch>
                        <a:fillRect/>
                      </a:stretch>
                    </p:blipFill>
                    <p:spPr>
                      <a:xfrm>
                        <a:off x="162843" y="1628800"/>
                        <a:ext cx="8945661" cy="5040560"/>
                      </a:xfrm>
                      <a:prstGeom prst="rect">
                        <a:avLst/>
                      </a:prstGeom>
                    </p:spPr>
                  </p:pic>
                </p:oleObj>
              </mc:Fallback>
            </mc:AlternateContent>
          </a:graphicData>
        </a:graphic>
      </p:graphicFrame>
      <p:sp>
        <p:nvSpPr>
          <p:cNvPr id="3" name="Slide Number Placeholder 2"/>
          <p:cNvSpPr>
            <a:spLocks noGrp="1"/>
          </p:cNvSpPr>
          <p:nvPr>
            <p:ph type="sldNum" sz="quarter" idx="11"/>
          </p:nvPr>
        </p:nvSpPr>
        <p:spPr/>
        <p:txBody>
          <a:bodyPr/>
          <a:lstStyle/>
          <a:p>
            <a:pPr>
              <a:defRPr/>
            </a:pPr>
            <a:fld id="{C3168C1A-0F73-4148-A9C6-17783D0D792E}" type="slidenum">
              <a:rPr lang="en-GB" smtClean="0"/>
              <a:pPr>
                <a:defRPr/>
              </a:pPr>
              <a:t>62</a:t>
            </a:fld>
            <a:endParaRPr lang="en-GB"/>
          </a:p>
        </p:txBody>
      </p:sp>
    </p:spTree>
    <p:extLst>
      <p:ext uri="{BB962C8B-B14F-4D97-AF65-F5344CB8AC3E}">
        <p14:creationId xmlns:p14="http://schemas.microsoft.com/office/powerpoint/2010/main" val="602882053"/>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44624"/>
            <a:ext cx="3024336" cy="1426170"/>
          </a:xfrm>
        </p:spPr>
        <p:txBody>
          <a:bodyPr>
            <a:normAutofit fontScale="90000"/>
          </a:bodyPr>
          <a:lstStyle/>
          <a:p>
            <a:r>
              <a:rPr lang="en-GB" dirty="0"/>
              <a:t>EPS Growth Rate Microsoft</a:t>
            </a:r>
            <a:br>
              <a:rPr lang="en-GB" dirty="0"/>
            </a:br>
            <a:r>
              <a:rPr lang="en-GB" dirty="0"/>
              <a:t>(2015)</a:t>
            </a:r>
          </a:p>
        </p:txBody>
      </p:sp>
      <p:sp>
        <p:nvSpPr>
          <p:cNvPr id="3" name="Content Placeholder 2"/>
          <p:cNvSpPr>
            <a:spLocks noGrp="1"/>
          </p:cNvSpPr>
          <p:nvPr>
            <p:ph sz="quarter" idx="1"/>
          </p:nvPr>
        </p:nvSpPr>
        <p:spPr>
          <a:xfrm>
            <a:off x="179512" y="2708920"/>
            <a:ext cx="8271644" cy="1584176"/>
          </a:xfrm>
        </p:spPr>
        <p:txBody>
          <a:bodyPr/>
          <a:lstStyle/>
          <a:p>
            <a:r>
              <a:rPr lang="en-GB" dirty="0"/>
              <a:t>Average RR≈0.4</a:t>
            </a:r>
          </a:p>
          <a:p>
            <a:r>
              <a:rPr lang="en-GB" dirty="0"/>
              <a:t>EPS =$2.63 and DPS=$1.07</a:t>
            </a:r>
          </a:p>
          <a:p>
            <a:r>
              <a:rPr lang="en-GB" dirty="0"/>
              <a:t>ROE=NI/Equity= $22,074m /$89,784m=24.58%</a:t>
            </a:r>
          </a:p>
          <a:p>
            <a:pPr marL="0" indent="0">
              <a:buNone/>
            </a:pPr>
            <a:endParaRPr lang="en-GB" dirty="0"/>
          </a:p>
        </p:txBody>
      </p:sp>
      <p:graphicFrame>
        <p:nvGraphicFramePr>
          <p:cNvPr id="6" name="Object 5"/>
          <p:cNvGraphicFramePr>
            <a:graphicFrameLocks noChangeAspect="1"/>
          </p:cNvGraphicFramePr>
          <p:nvPr>
            <p:extLst>
              <p:ext uri="{D42A27DB-BD31-4B8C-83A1-F6EECF244321}">
                <p14:modId xmlns:p14="http://schemas.microsoft.com/office/powerpoint/2010/main" val="193825395"/>
              </p:ext>
            </p:extLst>
          </p:nvPr>
        </p:nvGraphicFramePr>
        <p:xfrm>
          <a:off x="270420" y="4149080"/>
          <a:ext cx="6173788" cy="1673225"/>
        </p:xfrm>
        <a:graphic>
          <a:graphicData uri="http://schemas.openxmlformats.org/presentationml/2006/ole">
            <mc:AlternateContent xmlns:mc="http://schemas.openxmlformats.org/markup-compatibility/2006">
              <mc:Choice xmlns:v="urn:schemas-microsoft-com:vml" Requires="v">
                <p:oleObj name="Equation" r:id="rId3" imgW="2489040" imgH="672840" progId="Equation.3">
                  <p:embed/>
                </p:oleObj>
              </mc:Choice>
              <mc:Fallback>
                <p:oleObj name="Equation" r:id="rId3" imgW="2489040" imgH="672840" progId="Equation.3">
                  <p:embed/>
                  <p:pic>
                    <p:nvPicPr>
                      <p:cNvPr id="6" name="Object 5"/>
                      <p:cNvPicPr/>
                      <p:nvPr/>
                    </p:nvPicPr>
                    <p:blipFill>
                      <a:blip r:embed="rId4"/>
                      <a:stretch>
                        <a:fillRect/>
                      </a:stretch>
                    </p:blipFill>
                    <p:spPr>
                      <a:xfrm>
                        <a:off x="270420" y="4149080"/>
                        <a:ext cx="6173788" cy="1673225"/>
                      </a:xfrm>
                      <a:prstGeom prst="rect">
                        <a:avLst/>
                      </a:prstGeom>
                    </p:spPr>
                  </p:pic>
                </p:oleObj>
              </mc:Fallback>
            </mc:AlternateContent>
          </a:graphicData>
        </a:graphic>
      </p:graphicFrame>
      <p:sp>
        <p:nvSpPr>
          <p:cNvPr id="4" name="Slide Number Placeholder 3"/>
          <p:cNvSpPr>
            <a:spLocks noGrp="1"/>
          </p:cNvSpPr>
          <p:nvPr>
            <p:ph type="sldNum" sz="quarter" idx="11"/>
          </p:nvPr>
        </p:nvSpPr>
        <p:spPr/>
        <p:txBody>
          <a:bodyPr/>
          <a:lstStyle/>
          <a:p>
            <a:pPr>
              <a:defRPr/>
            </a:pPr>
            <a:fld id="{C3168C1A-0F73-4148-A9C6-17783D0D792E}" type="slidenum">
              <a:rPr lang="en-GB" smtClean="0"/>
              <a:pPr>
                <a:defRPr/>
              </a:pPr>
              <a:t>63</a:t>
            </a:fld>
            <a:endParaRPr lang="en-GB"/>
          </a:p>
        </p:txBody>
      </p:sp>
      <p:graphicFrame>
        <p:nvGraphicFramePr>
          <p:cNvPr id="7" name="Chart 6"/>
          <p:cNvGraphicFramePr>
            <a:graphicFrameLocks/>
          </p:cNvGraphicFramePr>
          <p:nvPr>
            <p:extLst>
              <p:ext uri="{D42A27DB-BD31-4B8C-83A1-F6EECF244321}">
                <p14:modId xmlns:p14="http://schemas.microsoft.com/office/powerpoint/2010/main" val="879599855"/>
              </p:ext>
            </p:extLst>
          </p:nvPr>
        </p:nvGraphicFramePr>
        <p:xfrm>
          <a:off x="3635896" y="55890"/>
          <a:ext cx="5103033" cy="3373110"/>
        </p:xfrm>
        <a:graphic>
          <a:graphicData uri="http://schemas.openxmlformats.org/drawingml/2006/chart">
            <c:chart xmlns:c="http://schemas.openxmlformats.org/drawingml/2006/chart" xmlns:r="http://schemas.openxmlformats.org/officeDocument/2006/relationships" r:id="rId5"/>
          </a:graphicData>
        </a:graphic>
      </p:graphicFrame>
      <p:pic>
        <p:nvPicPr>
          <p:cNvPr id="31785" name="Picture 41" descr="http://www.nasdaq.com/charts/MSFT_egr.jpe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6136" y="4639990"/>
            <a:ext cx="3327014" cy="22180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8713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7467600" cy="576064"/>
          </a:xfrm>
        </p:spPr>
        <p:txBody>
          <a:bodyPr/>
          <a:lstStyle/>
          <a:p>
            <a:r>
              <a:rPr lang="en-GB" dirty="0"/>
              <a:t>Growth EBIT</a:t>
            </a:r>
          </a:p>
        </p:txBody>
      </p:sp>
      <p:graphicFrame>
        <p:nvGraphicFramePr>
          <p:cNvPr id="5" name="Table 4"/>
          <p:cNvGraphicFramePr>
            <a:graphicFrameLocks noGrp="1"/>
          </p:cNvGraphicFramePr>
          <p:nvPr>
            <p:extLst>
              <p:ext uri="{D42A27DB-BD31-4B8C-83A1-F6EECF244321}">
                <p14:modId xmlns:p14="http://schemas.microsoft.com/office/powerpoint/2010/main" val="1627669434"/>
              </p:ext>
            </p:extLst>
          </p:nvPr>
        </p:nvGraphicFramePr>
        <p:xfrm>
          <a:off x="251520" y="637162"/>
          <a:ext cx="4752528" cy="2863846"/>
        </p:xfrm>
        <a:graphic>
          <a:graphicData uri="http://schemas.openxmlformats.org/drawingml/2006/table">
            <a:tbl>
              <a:tblPr firstRow="1" bandRow="1">
                <a:tableStyleId>{5C22544A-7EE6-4342-B048-85BDC9FD1C3A}</a:tableStyleId>
              </a:tblPr>
              <a:tblGrid>
                <a:gridCol w="1188132">
                  <a:extLst>
                    <a:ext uri="{9D8B030D-6E8A-4147-A177-3AD203B41FA5}">
                      <a16:colId xmlns:a16="http://schemas.microsoft.com/office/drawing/2014/main" val="20000"/>
                    </a:ext>
                  </a:extLst>
                </a:gridCol>
                <a:gridCol w="1188132">
                  <a:extLst>
                    <a:ext uri="{9D8B030D-6E8A-4147-A177-3AD203B41FA5}">
                      <a16:colId xmlns:a16="http://schemas.microsoft.com/office/drawing/2014/main" val="20001"/>
                    </a:ext>
                  </a:extLst>
                </a:gridCol>
                <a:gridCol w="1188132">
                  <a:extLst>
                    <a:ext uri="{9D8B030D-6E8A-4147-A177-3AD203B41FA5}">
                      <a16:colId xmlns:a16="http://schemas.microsoft.com/office/drawing/2014/main" val="20002"/>
                    </a:ext>
                  </a:extLst>
                </a:gridCol>
                <a:gridCol w="1188132">
                  <a:extLst>
                    <a:ext uri="{9D8B030D-6E8A-4147-A177-3AD203B41FA5}">
                      <a16:colId xmlns:a16="http://schemas.microsoft.com/office/drawing/2014/main" val="20003"/>
                    </a:ext>
                  </a:extLst>
                </a:gridCol>
              </a:tblGrid>
              <a:tr h="453218">
                <a:tc>
                  <a:txBody>
                    <a:bodyPr/>
                    <a:lstStyle/>
                    <a:p>
                      <a:pPr algn="ctr"/>
                      <a:r>
                        <a:rPr lang="en-GB" sz="2000" dirty="0"/>
                        <a:t>$m</a:t>
                      </a:r>
                    </a:p>
                  </a:txBody>
                  <a:tcPr anchor="ctr"/>
                </a:tc>
                <a:tc>
                  <a:txBody>
                    <a:bodyPr/>
                    <a:lstStyle/>
                    <a:p>
                      <a:pPr algn="ctr"/>
                      <a:r>
                        <a:rPr lang="en-GB" sz="2000" dirty="0"/>
                        <a:t>2014</a:t>
                      </a:r>
                    </a:p>
                  </a:txBody>
                  <a:tcPr anchor="ctr"/>
                </a:tc>
                <a:tc>
                  <a:txBody>
                    <a:bodyPr/>
                    <a:lstStyle/>
                    <a:p>
                      <a:pPr algn="ctr"/>
                      <a:r>
                        <a:rPr lang="en-GB" sz="2000" dirty="0"/>
                        <a:t>2013</a:t>
                      </a:r>
                    </a:p>
                  </a:txBody>
                  <a:tcPr anchor="ctr"/>
                </a:tc>
                <a:tc>
                  <a:txBody>
                    <a:bodyPr/>
                    <a:lstStyle/>
                    <a:p>
                      <a:pPr algn="ctr"/>
                      <a:r>
                        <a:rPr lang="en-GB" sz="2000" dirty="0"/>
                        <a:t>2012</a:t>
                      </a:r>
                    </a:p>
                  </a:txBody>
                  <a:tcPr anchor="ctr"/>
                </a:tc>
                <a:extLst>
                  <a:ext uri="{0D108BD9-81ED-4DB2-BD59-A6C34878D82A}">
                    <a16:rowId xmlns:a16="http://schemas.microsoft.com/office/drawing/2014/main" val="10000"/>
                  </a:ext>
                </a:extLst>
              </a:tr>
              <a:tr h="424166">
                <a:tc>
                  <a:txBody>
                    <a:bodyPr/>
                    <a:lstStyle/>
                    <a:p>
                      <a:pPr algn="ctr" fontAlgn="b"/>
                      <a:r>
                        <a:rPr lang="en-GB" sz="1600" b="0" i="0" u="none" strike="noStrike" dirty="0">
                          <a:solidFill>
                            <a:srgbClr val="000000"/>
                          </a:solidFill>
                          <a:effectLst/>
                          <a:latin typeface="Calibri"/>
                        </a:rPr>
                        <a:t>EBIT</a:t>
                      </a:r>
                    </a:p>
                  </a:txBody>
                  <a:tcPr marL="9525" marR="9525" marT="9525" marB="0" anchor="ctr"/>
                </a:tc>
                <a:tc>
                  <a:txBody>
                    <a:bodyPr/>
                    <a:lstStyle/>
                    <a:p>
                      <a:pPr algn="ctr" fontAlgn="ctr"/>
                      <a:r>
                        <a:rPr lang="en-GB" sz="1600" b="0" i="0" u="none" strike="noStrike" dirty="0">
                          <a:solidFill>
                            <a:srgbClr val="000000"/>
                          </a:solidFill>
                          <a:effectLst/>
                          <a:latin typeface="Calibri"/>
                        </a:rPr>
                        <a:t>27,759</a:t>
                      </a:r>
                    </a:p>
                  </a:txBody>
                  <a:tcPr marL="9525" marR="9525" marT="9525" marB="0" anchor="ctr"/>
                </a:tc>
                <a:tc>
                  <a:txBody>
                    <a:bodyPr/>
                    <a:lstStyle/>
                    <a:p>
                      <a:pPr algn="ctr" fontAlgn="ctr"/>
                      <a:r>
                        <a:rPr lang="en-GB" sz="1600" b="0" i="0" u="none" strike="noStrike" dirty="0">
                          <a:solidFill>
                            <a:srgbClr val="000000"/>
                          </a:solidFill>
                          <a:effectLst/>
                          <a:latin typeface="Calibri"/>
                        </a:rPr>
                        <a:t>26,764</a:t>
                      </a:r>
                    </a:p>
                  </a:txBody>
                  <a:tcPr marL="9525" marR="9525" marT="9525" marB="0" anchor="ctr"/>
                </a:tc>
                <a:tc>
                  <a:txBody>
                    <a:bodyPr/>
                    <a:lstStyle/>
                    <a:p>
                      <a:pPr algn="ctr" fontAlgn="ctr"/>
                      <a:r>
                        <a:rPr lang="en-GB" sz="1600" b="0" i="0" u="none" strike="noStrike" dirty="0">
                          <a:solidFill>
                            <a:srgbClr val="000000"/>
                          </a:solidFill>
                          <a:effectLst/>
                          <a:latin typeface="Calibri"/>
                        </a:rPr>
                        <a:t>21,763</a:t>
                      </a:r>
                    </a:p>
                  </a:txBody>
                  <a:tcPr marL="9525" marR="9525" marT="9525" marB="0" anchor="ctr"/>
                </a:tc>
                <a:extLst>
                  <a:ext uri="{0D108BD9-81ED-4DB2-BD59-A6C34878D82A}">
                    <a16:rowId xmlns:a16="http://schemas.microsoft.com/office/drawing/2014/main" val="10001"/>
                  </a:ext>
                </a:extLst>
              </a:tr>
              <a:tr h="424166">
                <a:tc>
                  <a:txBody>
                    <a:bodyPr/>
                    <a:lstStyle/>
                    <a:p>
                      <a:pPr algn="ctr" fontAlgn="b"/>
                      <a:r>
                        <a:rPr lang="en-GB" sz="1600" b="0" i="0" u="none" strike="noStrike" dirty="0">
                          <a:solidFill>
                            <a:srgbClr val="000000"/>
                          </a:solidFill>
                          <a:effectLst/>
                          <a:latin typeface="Calibri"/>
                        </a:rPr>
                        <a:t>Depreciation</a:t>
                      </a:r>
                    </a:p>
                  </a:txBody>
                  <a:tcPr marL="9525" marR="9525" marT="9525" marB="0" anchor="ctr"/>
                </a:tc>
                <a:tc>
                  <a:txBody>
                    <a:bodyPr/>
                    <a:lstStyle/>
                    <a:p>
                      <a:pPr algn="ctr" fontAlgn="ctr"/>
                      <a:r>
                        <a:rPr lang="en-GB" sz="1600" b="0" i="0" u="none" strike="noStrike" dirty="0">
                          <a:solidFill>
                            <a:srgbClr val="000000"/>
                          </a:solidFill>
                          <a:effectLst/>
                          <a:latin typeface="Calibri"/>
                        </a:rPr>
                        <a:t>5,212</a:t>
                      </a:r>
                    </a:p>
                  </a:txBody>
                  <a:tcPr marL="9525" marR="9525" marT="9525" marB="0" anchor="ctr"/>
                </a:tc>
                <a:tc>
                  <a:txBody>
                    <a:bodyPr/>
                    <a:lstStyle/>
                    <a:p>
                      <a:pPr algn="ctr" fontAlgn="ctr"/>
                      <a:r>
                        <a:rPr lang="en-GB" sz="1600" b="0" i="0" u="none" strike="noStrike" dirty="0">
                          <a:solidFill>
                            <a:srgbClr val="000000"/>
                          </a:solidFill>
                          <a:effectLst/>
                          <a:latin typeface="Calibri"/>
                        </a:rPr>
                        <a:t>3,755</a:t>
                      </a:r>
                    </a:p>
                  </a:txBody>
                  <a:tcPr marL="9525" marR="9525" marT="9525" marB="0" anchor="ctr"/>
                </a:tc>
                <a:tc>
                  <a:txBody>
                    <a:bodyPr/>
                    <a:lstStyle/>
                    <a:p>
                      <a:pPr algn="ctr" fontAlgn="ctr"/>
                      <a:r>
                        <a:rPr lang="en-GB" sz="1600" b="0" i="0" u="none" strike="noStrike" dirty="0">
                          <a:solidFill>
                            <a:srgbClr val="000000"/>
                          </a:solidFill>
                          <a:effectLst/>
                          <a:latin typeface="Calibri"/>
                        </a:rPr>
                        <a:t>2,967</a:t>
                      </a:r>
                    </a:p>
                  </a:txBody>
                  <a:tcPr marL="9525" marR="9525" marT="9525" marB="0" anchor="ctr"/>
                </a:tc>
                <a:extLst>
                  <a:ext uri="{0D108BD9-81ED-4DB2-BD59-A6C34878D82A}">
                    <a16:rowId xmlns:a16="http://schemas.microsoft.com/office/drawing/2014/main" val="10002"/>
                  </a:ext>
                </a:extLst>
              </a:tr>
              <a:tr h="424166">
                <a:tc>
                  <a:txBody>
                    <a:bodyPr/>
                    <a:lstStyle/>
                    <a:p>
                      <a:pPr algn="ctr" fontAlgn="b"/>
                      <a:r>
                        <a:rPr lang="en-GB" sz="1600" b="0" i="0" u="none" strike="noStrike">
                          <a:solidFill>
                            <a:srgbClr val="000000"/>
                          </a:solidFill>
                          <a:effectLst/>
                          <a:latin typeface="Calibri"/>
                        </a:rPr>
                        <a:t>CapEx</a:t>
                      </a:r>
                    </a:p>
                  </a:txBody>
                  <a:tcPr marL="9525" marR="9525" marT="9525" marB="0" anchor="ctr"/>
                </a:tc>
                <a:tc>
                  <a:txBody>
                    <a:bodyPr/>
                    <a:lstStyle/>
                    <a:p>
                      <a:pPr algn="ctr"/>
                      <a:r>
                        <a:rPr kumimoji="0" lang="en-GB" sz="1600" b="0" i="0" u="none" strike="noStrike" kern="1200" dirty="0">
                          <a:solidFill>
                            <a:srgbClr val="000000"/>
                          </a:solidFill>
                          <a:effectLst/>
                          <a:latin typeface="Calibri"/>
                          <a:ea typeface="+mn-ea"/>
                          <a:cs typeface="+mn-cs"/>
                        </a:rPr>
                        <a:t>5,485</a:t>
                      </a:r>
                    </a:p>
                  </a:txBody>
                  <a:tcPr anchor="ctr"/>
                </a:tc>
                <a:tc>
                  <a:txBody>
                    <a:bodyPr/>
                    <a:lstStyle/>
                    <a:p>
                      <a:pPr algn="ctr"/>
                      <a:r>
                        <a:rPr kumimoji="0" lang="en-GB" sz="1600" b="0" i="0" u="none" strike="noStrike" kern="1200" dirty="0">
                          <a:solidFill>
                            <a:srgbClr val="000000"/>
                          </a:solidFill>
                          <a:effectLst/>
                          <a:latin typeface="Calibri"/>
                          <a:ea typeface="+mn-ea"/>
                          <a:cs typeface="+mn-cs"/>
                        </a:rPr>
                        <a:t>4,257</a:t>
                      </a:r>
                    </a:p>
                  </a:txBody>
                  <a:tcPr anchor="ctr"/>
                </a:tc>
                <a:tc>
                  <a:txBody>
                    <a:bodyPr/>
                    <a:lstStyle/>
                    <a:p>
                      <a:pPr algn="ctr"/>
                      <a:r>
                        <a:rPr kumimoji="0" lang="en-GB" sz="1600" b="0" i="0" u="none" strike="noStrike" kern="1200" dirty="0">
                          <a:solidFill>
                            <a:srgbClr val="000000"/>
                          </a:solidFill>
                          <a:effectLst/>
                          <a:latin typeface="Calibri"/>
                          <a:ea typeface="+mn-ea"/>
                          <a:cs typeface="+mn-cs"/>
                        </a:rPr>
                        <a:t>2,305</a:t>
                      </a:r>
                    </a:p>
                  </a:txBody>
                  <a:tcPr anchor="ctr"/>
                </a:tc>
                <a:extLst>
                  <a:ext uri="{0D108BD9-81ED-4DB2-BD59-A6C34878D82A}">
                    <a16:rowId xmlns:a16="http://schemas.microsoft.com/office/drawing/2014/main" val="10003"/>
                  </a:ext>
                </a:extLst>
              </a:tr>
              <a:tr h="424166">
                <a:tc>
                  <a:txBody>
                    <a:bodyPr/>
                    <a:lstStyle/>
                    <a:p>
                      <a:pPr algn="ctr" fontAlgn="b"/>
                      <a:r>
                        <a:rPr lang="el-GR" sz="1600" b="0" i="0" u="none" strike="noStrike" dirty="0">
                          <a:solidFill>
                            <a:srgbClr val="000000"/>
                          </a:solidFill>
                          <a:effectLst/>
                          <a:latin typeface="Calibri"/>
                        </a:rPr>
                        <a:t>Δ</a:t>
                      </a:r>
                      <a:r>
                        <a:rPr lang="en-GB" sz="1600" b="0" i="0" u="none" strike="noStrike" dirty="0">
                          <a:solidFill>
                            <a:srgbClr val="000000"/>
                          </a:solidFill>
                          <a:effectLst/>
                          <a:latin typeface="Calibri"/>
                        </a:rPr>
                        <a:t>NWC</a:t>
                      </a:r>
                    </a:p>
                  </a:txBody>
                  <a:tcPr marL="9525" marR="9525" marT="9525" marB="0" anchor="ctr"/>
                </a:tc>
                <a:tc>
                  <a:txBody>
                    <a:bodyPr/>
                    <a:lstStyle/>
                    <a:p>
                      <a:pPr algn="ctr" fontAlgn="b"/>
                      <a:r>
                        <a:rPr lang="en-GB" sz="1600" b="0" i="0" u="none" strike="noStrike" dirty="0">
                          <a:solidFill>
                            <a:srgbClr val="000000"/>
                          </a:solidFill>
                          <a:effectLst/>
                          <a:latin typeface="Calibri"/>
                        </a:rPr>
                        <a:t>4,572</a:t>
                      </a:r>
                    </a:p>
                  </a:txBody>
                  <a:tcPr marL="9525" marR="9525" marT="9525" marB="0" anchor="ctr"/>
                </a:tc>
                <a:tc>
                  <a:txBody>
                    <a:bodyPr/>
                    <a:lstStyle/>
                    <a:p>
                      <a:pPr algn="ctr" fontAlgn="b"/>
                      <a:r>
                        <a:rPr lang="en-GB" sz="1600" b="0" i="0" u="none" strike="noStrike" dirty="0">
                          <a:solidFill>
                            <a:srgbClr val="000000"/>
                          </a:solidFill>
                          <a:effectLst/>
                          <a:latin typeface="Calibri"/>
                        </a:rPr>
                        <a:t>11,653</a:t>
                      </a:r>
                    </a:p>
                  </a:txBody>
                  <a:tcPr marL="9525" marR="9525" marT="9525" marB="0" anchor="ctr"/>
                </a:tc>
                <a:tc>
                  <a:txBody>
                    <a:bodyPr/>
                    <a:lstStyle/>
                    <a:p>
                      <a:pPr algn="ctr" fontAlgn="b"/>
                      <a:r>
                        <a:rPr lang="en-GB" sz="1600" b="0" i="0" u="none" strike="noStrike" dirty="0">
                          <a:solidFill>
                            <a:srgbClr val="000000"/>
                          </a:solidFill>
                          <a:effectLst/>
                          <a:latin typeface="Calibri"/>
                        </a:rPr>
                        <a:t>6,252</a:t>
                      </a:r>
                    </a:p>
                  </a:txBody>
                  <a:tcPr marL="9525" marR="9525" marT="9525" marB="0" anchor="ctr"/>
                </a:tc>
                <a:extLst>
                  <a:ext uri="{0D108BD9-81ED-4DB2-BD59-A6C34878D82A}">
                    <a16:rowId xmlns:a16="http://schemas.microsoft.com/office/drawing/2014/main" val="10004"/>
                  </a:ext>
                </a:extLst>
              </a:tr>
              <a:tr h="424166">
                <a:tc>
                  <a:txBody>
                    <a:bodyPr/>
                    <a:lstStyle/>
                    <a:p>
                      <a:pPr algn="ctr" fontAlgn="b"/>
                      <a:r>
                        <a:rPr lang="en-GB" sz="1600" b="0" i="0" u="none" strike="noStrike" dirty="0">
                          <a:solidFill>
                            <a:srgbClr val="000000"/>
                          </a:solidFill>
                          <a:effectLst/>
                          <a:latin typeface="Calibri"/>
                        </a:rPr>
                        <a:t>ROC</a:t>
                      </a:r>
                    </a:p>
                  </a:txBody>
                  <a:tcPr marL="9525" marR="9525" marT="9525" marB="0" anchor="ctr"/>
                </a:tc>
                <a:tc>
                  <a:txBody>
                    <a:bodyPr/>
                    <a:lstStyle/>
                    <a:p>
                      <a:pPr algn="ctr" fontAlgn="b"/>
                      <a:r>
                        <a:rPr lang="en-GB" sz="1600" b="0" i="0" u="none" strike="noStrike" dirty="0">
                          <a:solidFill>
                            <a:srgbClr val="000000"/>
                          </a:solidFill>
                          <a:effectLst/>
                          <a:latin typeface="Calibri"/>
                        </a:rPr>
                        <a:t>0.127</a:t>
                      </a:r>
                    </a:p>
                  </a:txBody>
                  <a:tcPr marL="9525" marR="9525" marT="9525" marB="0" anchor="ctr"/>
                </a:tc>
                <a:tc>
                  <a:txBody>
                    <a:bodyPr/>
                    <a:lstStyle/>
                    <a:p>
                      <a:pPr algn="ctr" fontAlgn="b"/>
                      <a:r>
                        <a:rPr lang="en-GB" sz="1600" b="0" i="0" u="none" strike="noStrike" dirty="0">
                          <a:solidFill>
                            <a:srgbClr val="000000"/>
                          </a:solidFill>
                          <a:effectLst/>
                          <a:latin typeface="Calibri"/>
                        </a:rPr>
                        <a:t>0.1304</a:t>
                      </a:r>
                    </a:p>
                  </a:txBody>
                  <a:tcPr marL="9525" marR="9525" marT="9525" marB="0" anchor="ctr"/>
                </a:tc>
                <a:tc>
                  <a:txBody>
                    <a:bodyPr/>
                    <a:lstStyle/>
                    <a:p>
                      <a:pPr algn="ctr" fontAlgn="b"/>
                      <a:r>
                        <a:rPr lang="en-GB" sz="1600" b="0" i="0" u="none" strike="noStrike" dirty="0">
                          <a:solidFill>
                            <a:srgbClr val="000000"/>
                          </a:solidFill>
                          <a:effectLst/>
                          <a:latin typeface="Calibri"/>
                        </a:rPr>
                        <a:t>0.134</a:t>
                      </a:r>
                    </a:p>
                  </a:txBody>
                  <a:tcPr marL="9525" marR="9525" marT="9525" marB="0" anchor="ctr"/>
                </a:tc>
                <a:extLst>
                  <a:ext uri="{0D108BD9-81ED-4DB2-BD59-A6C34878D82A}">
                    <a16:rowId xmlns:a16="http://schemas.microsoft.com/office/drawing/2014/main" val="10005"/>
                  </a:ext>
                </a:extLst>
              </a:tr>
              <a:tr h="289798">
                <a:tc gridSpan="4">
                  <a:txBody>
                    <a:bodyPr/>
                    <a:lstStyle/>
                    <a:p>
                      <a:pPr algn="ctr" fontAlgn="b"/>
                      <a:r>
                        <a:rPr lang="en-GB" sz="1600" b="0" i="0" u="none" strike="noStrike" baseline="0" dirty="0">
                          <a:solidFill>
                            <a:srgbClr val="000000"/>
                          </a:solidFill>
                          <a:effectLst/>
                          <a:latin typeface="Calibri"/>
                        </a:rPr>
                        <a:t>Average ROC is around 13%</a:t>
                      </a:r>
                      <a:endParaRPr lang="en-GB" sz="1600" b="0" i="0" u="none" strike="noStrike" dirty="0">
                        <a:solidFill>
                          <a:srgbClr val="000000"/>
                        </a:solidFill>
                        <a:effectLst/>
                        <a:latin typeface="Calibri"/>
                      </a:endParaRPr>
                    </a:p>
                  </a:txBody>
                  <a:tcPr marL="9525" marR="9525" marT="9525" marB="0" anchor="ctr"/>
                </a:tc>
                <a:tc hMerge="1">
                  <a:txBody>
                    <a:bodyPr/>
                    <a:lstStyle/>
                    <a:p>
                      <a:pPr algn="ctr" fontAlgn="b"/>
                      <a:endParaRPr lang="en-GB" sz="1800" b="0" i="0" u="none" strike="noStrike" dirty="0">
                        <a:solidFill>
                          <a:srgbClr val="000000"/>
                        </a:solidFill>
                        <a:effectLst/>
                        <a:latin typeface="Calibri"/>
                      </a:endParaRPr>
                    </a:p>
                  </a:txBody>
                  <a:tcPr marL="9525" marR="9525" marT="9525" marB="0" anchor="ctr"/>
                </a:tc>
                <a:tc hMerge="1">
                  <a:txBody>
                    <a:bodyPr/>
                    <a:lstStyle/>
                    <a:p>
                      <a:pPr algn="ctr" fontAlgn="b"/>
                      <a:endParaRPr lang="en-GB" sz="1800" b="0" i="0" u="none" strike="noStrike" dirty="0">
                        <a:solidFill>
                          <a:srgbClr val="000000"/>
                        </a:solidFill>
                        <a:effectLst/>
                        <a:latin typeface="Calibri"/>
                      </a:endParaRPr>
                    </a:p>
                  </a:txBody>
                  <a:tcPr marL="9525" marR="9525" marT="9525" marB="0" anchor="ctr"/>
                </a:tc>
                <a:tc hMerge="1">
                  <a:txBody>
                    <a:bodyPr/>
                    <a:lstStyle/>
                    <a:p>
                      <a:pPr algn="ctr" fontAlgn="b"/>
                      <a:endParaRPr lang="en-GB" sz="1800" b="0" i="0" u="none" strike="noStrike" dirty="0">
                        <a:solidFill>
                          <a:srgbClr val="000000"/>
                        </a:solidFill>
                        <a:effectLst/>
                        <a:latin typeface="Calibri"/>
                      </a:endParaRPr>
                    </a:p>
                  </a:txBody>
                  <a:tcPr marL="9525" marR="9525" marT="9525" marB="0" anchor="ctr"/>
                </a:tc>
                <a:extLst>
                  <a:ext uri="{0D108BD9-81ED-4DB2-BD59-A6C34878D82A}">
                    <a16:rowId xmlns:a16="http://schemas.microsoft.com/office/drawing/2014/main" val="10006"/>
                  </a:ext>
                </a:extLst>
              </a:tr>
            </a:tbl>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758026409"/>
              </p:ext>
            </p:extLst>
          </p:nvPr>
        </p:nvGraphicFramePr>
        <p:xfrm>
          <a:off x="683568" y="3860254"/>
          <a:ext cx="7302800" cy="1945010"/>
        </p:xfrm>
        <a:graphic>
          <a:graphicData uri="http://schemas.openxmlformats.org/presentationml/2006/ole">
            <mc:AlternateContent xmlns:mc="http://schemas.openxmlformats.org/markup-compatibility/2006">
              <mc:Choice xmlns:v="urn:schemas-microsoft-com:vml" Requires="v">
                <p:oleObj name="Equation" r:id="rId3" imgW="2387520" imgH="634680" progId="Equation.3">
                  <p:embed/>
                </p:oleObj>
              </mc:Choice>
              <mc:Fallback>
                <p:oleObj name="Equation" r:id="rId3" imgW="2387520" imgH="634680" progId="Equation.3">
                  <p:embed/>
                  <p:pic>
                    <p:nvPicPr>
                      <p:cNvPr id="6" name="Object 5"/>
                      <p:cNvPicPr>
                        <a:picLocks noChangeAspect="1" noChangeArrowheads="1"/>
                      </p:cNvPicPr>
                      <p:nvPr/>
                    </p:nvPicPr>
                    <p:blipFill>
                      <a:blip r:embed="rId4"/>
                      <a:srcRect/>
                      <a:stretch>
                        <a:fillRect/>
                      </a:stretch>
                    </p:blipFill>
                    <p:spPr bwMode="auto">
                      <a:xfrm>
                        <a:off x="683568" y="3860254"/>
                        <a:ext cx="7302800" cy="1945010"/>
                      </a:xfrm>
                      <a:prstGeom prst="rect">
                        <a:avLst/>
                      </a:prstGeom>
                      <a:noFill/>
                      <a:ln>
                        <a:noFill/>
                      </a:ln>
                    </p:spPr>
                  </p:pic>
                </p:oleObj>
              </mc:Fallback>
            </mc:AlternateContent>
          </a:graphicData>
        </a:graphic>
      </p:graphicFrame>
      <p:sp>
        <p:nvSpPr>
          <p:cNvPr id="7" name="Content Placeholder 6"/>
          <p:cNvSpPr>
            <a:spLocks noGrp="1"/>
          </p:cNvSpPr>
          <p:nvPr>
            <p:ph sz="quarter" idx="1"/>
          </p:nvPr>
        </p:nvSpPr>
        <p:spPr>
          <a:xfrm>
            <a:off x="457200" y="5805264"/>
            <a:ext cx="7467600" cy="956720"/>
          </a:xfrm>
        </p:spPr>
        <p:txBody>
          <a:bodyPr/>
          <a:lstStyle/>
          <a:p>
            <a:r>
              <a:rPr lang="en-GB" dirty="0"/>
              <a:t>Probably the slow down in EBIT comes from the decreased Re-investment, especially in NWC</a:t>
            </a:r>
          </a:p>
        </p:txBody>
      </p:sp>
      <p:graphicFrame>
        <p:nvGraphicFramePr>
          <p:cNvPr id="8" name="Chart 7"/>
          <p:cNvGraphicFramePr>
            <a:graphicFrameLocks/>
          </p:cNvGraphicFramePr>
          <p:nvPr>
            <p:extLst>
              <p:ext uri="{D42A27DB-BD31-4B8C-83A1-F6EECF244321}">
                <p14:modId xmlns:p14="http://schemas.microsoft.com/office/powerpoint/2010/main" val="2280662427"/>
              </p:ext>
            </p:extLst>
          </p:nvPr>
        </p:nvGraphicFramePr>
        <p:xfrm>
          <a:off x="5076056" y="476672"/>
          <a:ext cx="3779912" cy="3096344"/>
        </p:xfrm>
        <a:graphic>
          <a:graphicData uri="http://schemas.openxmlformats.org/drawingml/2006/chart">
            <c:chart xmlns:c="http://schemas.openxmlformats.org/drawingml/2006/chart" xmlns:r="http://schemas.openxmlformats.org/officeDocument/2006/relationships" r:id="rId5"/>
          </a:graphicData>
        </a:graphic>
      </p:graphicFrame>
      <p:sp>
        <p:nvSpPr>
          <p:cNvPr id="3" name="Slide Number Placeholder 2"/>
          <p:cNvSpPr>
            <a:spLocks noGrp="1"/>
          </p:cNvSpPr>
          <p:nvPr>
            <p:ph type="sldNum" sz="quarter" idx="11"/>
          </p:nvPr>
        </p:nvSpPr>
        <p:spPr/>
        <p:txBody>
          <a:bodyPr/>
          <a:lstStyle/>
          <a:p>
            <a:pPr>
              <a:defRPr/>
            </a:pPr>
            <a:fld id="{C3168C1A-0F73-4148-A9C6-17783D0D792E}" type="slidenum">
              <a:rPr lang="en-GB" smtClean="0"/>
              <a:pPr>
                <a:defRPr/>
              </a:pPr>
              <a:t>64</a:t>
            </a:fld>
            <a:endParaRPr lang="en-GB"/>
          </a:p>
        </p:txBody>
      </p:sp>
    </p:spTree>
    <p:extLst>
      <p:ext uri="{BB962C8B-B14F-4D97-AF65-F5344CB8AC3E}">
        <p14:creationId xmlns:p14="http://schemas.microsoft.com/office/powerpoint/2010/main" val="20124918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Appendix</a:t>
            </a:r>
            <a:endParaRPr lang="fr-FR" dirty="0"/>
          </a:p>
        </p:txBody>
      </p:sp>
      <p:graphicFrame>
        <p:nvGraphicFramePr>
          <p:cNvPr id="6" name="Content Placeholder 2">
            <a:extLst>
              <a:ext uri="{FF2B5EF4-FFF2-40B4-BE49-F238E27FC236}">
                <a16:creationId xmlns:a16="http://schemas.microsoft.com/office/drawing/2014/main" id="{EC1E1F13-33E6-D7F0-A20C-74160F302977}"/>
              </a:ext>
            </a:extLst>
          </p:cNvPr>
          <p:cNvGraphicFramePr>
            <a:graphicFrameLocks noGrp="1"/>
          </p:cNvGraphicFramePr>
          <p:nvPr>
            <p:ph sz="quarter" idx="1"/>
          </p:nvPr>
        </p:nvGraphicFramePr>
        <p:xfrm>
          <a:off x="457200" y="1600200"/>
          <a:ext cx="7467600" cy="48737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1"/>
          </p:nvPr>
        </p:nvSpPr>
        <p:spPr/>
        <p:txBody>
          <a:bodyPr/>
          <a:lstStyle/>
          <a:p>
            <a:pPr>
              <a:defRPr/>
            </a:pPr>
            <a:fld id="{C3168C1A-0F73-4148-A9C6-17783D0D792E}" type="slidenum">
              <a:rPr lang="en-GB" smtClean="0"/>
              <a:pPr>
                <a:defRPr/>
              </a:pPr>
              <a:t>65</a:t>
            </a:fld>
            <a:endParaRPr lang="en-GB"/>
          </a:p>
        </p:txBody>
      </p:sp>
    </p:spTree>
    <p:extLst>
      <p:ext uri="{BB962C8B-B14F-4D97-AF65-F5344CB8AC3E}">
        <p14:creationId xmlns:p14="http://schemas.microsoft.com/office/powerpoint/2010/main" val="340059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2018" name="Rectangle 2"/>
          <p:cNvSpPr>
            <a:spLocks noGrp="1" noChangeArrowheads="1"/>
          </p:cNvSpPr>
          <p:nvPr>
            <p:ph type="title"/>
          </p:nvPr>
        </p:nvSpPr>
        <p:spPr>
          <a:xfrm>
            <a:off x="457200" y="274638"/>
            <a:ext cx="8003232" cy="634082"/>
          </a:xfrm>
        </p:spPr>
        <p:txBody>
          <a:bodyPr>
            <a:normAutofit fontScale="90000"/>
          </a:bodyPr>
          <a:lstStyle/>
          <a:p>
            <a:pPr eaLnBrk="1" fontAlgn="auto" hangingPunct="1">
              <a:spcAft>
                <a:spcPts val="0"/>
              </a:spcAft>
              <a:defRPr/>
            </a:pPr>
            <a:r>
              <a:rPr lang="en-US" dirty="0"/>
              <a:t>IV. Estimating Growth when Operating Income is Negative or Margins are changing</a:t>
            </a:r>
          </a:p>
        </p:txBody>
      </p:sp>
      <p:graphicFrame>
        <p:nvGraphicFramePr>
          <p:cNvPr id="2" name="Content Placeholder 1"/>
          <p:cNvGraphicFramePr>
            <a:graphicFrameLocks noGrp="1"/>
          </p:cNvGraphicFramePr>
          <p:nvPr>
            <p:ph sz="quarter" idx="1"/>
            <p:extLst>
              <p:ext uri="{D42A27DB-BD31-4B8C-83A1-F6EECF244321}">
                <p14:modId xmlns:p14="http://schemas.microsoft.com/office/powerpoint/2010/main" val="3993895279"/>
              </p:ext>
            </p:extLst>
          </p:nvPr>
        </p:nvGraphicFramePr>
        <p:xfrm>
          <a:off x="179512" y="836712"/>
          <a:ext cx="8712968" cy="56371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p:cNvSpPr>
            <a:spLocks noGrp="1"/>
          </p:cNvSpPr>
          <p:nvPr>
            <p:ph type="sldNum" sz="quarter" idx="11"/>
          </p:nvPr>
        </p:nvSpPr>
        <p:spPr/>
        <p:txBody>
          <a:bodyPr/>
          <a:lstStyle/>
          <a:p>
            <a:pPr>
              <a:defRPr/>
            </a:pPr>
            <a:fld id="{C3168C1A-0F73-4148-A9C6-17783D0D792E}" type="slidenum">
              <a:rPr lang="en-GB" smtClean="0"/>
              <a:pPr>
                <a:defRPr/>
              </a:pPr>
              <a:t>66</a:t>
            </a:fld>
            <a:endParaRPr lang="en-GB"/>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859216" cy="490066"/>
          </a:xfrm>
        </p:spPr>
        <p:txBody>
          <a:bodyPr>
            <a:normAutofit fontScale="90000"/>
          </a:bodyPr>
          <a:lstStyle/>
          <a:p>
            <a:r>
              <a:rPr lang="en-GB" dirty="0"/>
              <a:t>Negative Operating Margin-Commerce One</a:t>
            </a:r>
          </a:p>
        </p:txBody>
      </p:sp>
      <p:sp>
        <p:nvSpPr>
          <p:cNvPr id="3" name="Content Placeholder 2"/>
          <p:cNvSpPr>
            <a:spLocks noGrp="1"/>
          </p:cNvSpPr>
          <p:nvPr>
            <p:ph sz="quarter" idx="1"/>
          </p:nvPr>
        </p:nvSpPr>
        <p:spPr>
          <a:xfrm>
            <a:off x="457200" y="836712"/>
            <a:ext cx="7467600" cy="2548880"/>
          </a:xfrm>
        </p:spPr>
        <p:txBody>
          <a:bodyPr/>
          <a:lstStyle/>
          <a:p>
            <a:r>
              <a:rPr lang="en-GB" dirty="0"/>
              <a:t>Commerce One has had some bad years, where negative operating profit was established. </a:t>
            </a:r>
          </a:p>
          <a:p>
            <a:r>
              <a:rPr lang="en-GB" dirty="0"/>
              <a:t>However, the management of the company has changed and now investors believe that it could become again a healthy company (Industry </a:t>
            </a:r>
            <a:r>
              <a:rPr lang="en-GB" dirty="0" err="1"/>
              <a:t>Avg</a:t>
            </a:r>
            <a:r>
              <a:rPr lang="en-GB" dirty="0"/>
              <a:t>)</a:t>
            </a:r>
          </a:p>
          <a:p>
            <a:r>
              <a:rPr lang="en-GB" dirty="0"/>
              <a:t>They assume the following changes</a:t>
            </a:r>
            <a:endParaRPr lang="el-GR" dirty="0"/>
          </a:p>
          <a:p>
            <a:endParaRPr lang="en-GB" dirty="0"/>
          </a:p>
          <a:p>
            <a:endParaRPr lang="en-GB" dirty="0"/>
          </a:p>
          <a:p>
            <a:endParaRPr lang="en-GB" dirty="0"/>
          </a:p>
          <a:p>
            <a:r>
              <a:rPr lang="en-GB" dirty="0"/>
              <a:t>The current financials are summarized bellow</a:t>
            </a:r>
          </a:p>
        </p:txBody>
      </p:sp>
      <p:graphicFrame>
        <p:nvGraphicFramePr>
          <p:cNvPr id="4" name="Table 3"/>
          <p:cNvGraphicFramePr>
            <a:graphicFrameLocks noGrp="1"/>
          </p:cNvGraphicFramePr>
          <p:nvPr>
            <p:extLst>
              <p:ext uri="{D42A27DB-BD31-4B8C-83A1-F6EECF244321}">
                <p14:modId xmlns:p14="http://schemas.microsoft.com/office/powerpoint/2010/main" val="46519464"/>
              </p:ext>
            </p:extLst>
          </p:nvPr>
        </p:nvGraphicFramePr>
        <p:xfrm>
          <a:off x="1619672" y="5157192"/>
          <a:ext cx="5781633" cy="1219200"/>
        </p:xfrm>
        <a:graphic>
          <a:graphicData uri="http://schemas.openxmlformats.org/drawingml/2006/table">
            <a:tbl>
              <a:tblPr firstRow="1" bandRow="1">
                <a:tableStyleId>{5C22544A-7EE6-4342-B048-85BDC9FD1C3A}</a:tableStyleId>
              </a:tblPr>
              <a:tblGrid>
                <a:gridCol w="1125855">
                  <a:extLst>
                    <a:ext uri="{9D8B030D-6E8A-4147-A177-3AD203B41FA5}">
                      <a16:colId xmlns:a16="http://schemas.microsoft.com/office/drawing/2014/main" val="20000"/>
                    </a:ext>
                  </a:extLst>
                </a:gridCol>
                <a:gridCol w="1548172">
                  <a:extLst>
                    <a:ext uri="{9D8B030D-6E8A-4147-A177-3AD203B41FA5}">
                      <a16:colId xmlns:a16="http://schemas.microsoft.com/office/drawing/2014/main" val="20001"/>
                    </a:ext>
                  </a:extLst>
                </a:gridCol>
                <a:gridCol w="1548173">
                  <a:extLst>
                    <a:ext uri="{9D8B030D-6E8A-4147-A177-3AD203B41FA5}">
                      <a16:colId xmlns:a16="http://schemas.microsoft.com/office/drawing/2014/main" val="1451943890"/>
                    </a:ext>
                  </a:extLst>
                </a:gridCol>
                <a:gridCol w="1559433">
                  <a:extLst>
                    <a:ext uri="{9D8B030D-6E8A-4147-A177-3AD203B41FA5}">
                      <a16:colId xmlns:a16="http://schemas.microsoft.com/office/drawing/2014/main" val="3292512250"/>
                    </a:ext>
                  </a:extLst>
                </a:gridCol>
              </a:tblGrid>
              <a:tr h="239350">
                <a:tc>
                  <a:txBody>
                    <a:bodyPr/>
                    <a:lstStyle/>
                    <a:p>
                      <a:r>
                        <a:rPr lang="en-GB" sz="1400" dirty="0"/>
                        <a:t>Sales</a:t>
                      </a:r>
                    </a:p>
                  </a:txBody>
                  <a:tcPr/>
                </a:tc>
                <a:tc>
                  <a:txBody>
                    <a:bodyPr/>
                    <a:lstStyle/>
                    <a:p>
                      <a:r>
                        <a:rPr lang="en-GB" sz="1400" dirty="0"/>
                        <a:t>537</a:t>
                      </a:r>
                    </a:p>
                  </a:txBody>
                  <a:tcPr/>
                </a:tc>
                <a:tc>
                  <a:txBody>
                    <a:bodyPr/>
                    <a:lstStyle/>
                    <a:p>
                      <a:r>
                        <a:rPr lang="en-GB" sz="1400" dirty="0"/>
                        <a:t>Ind Tax</a:t>
                      </a:r>
                    </a:p>
                  </a:txBody>
                  <a:tcPr/>
                </a:tc>
                <a:tc>
                  <a:txBody>
                    <a:bodyPr/>
                    <a:lstStyle/>
                    <a:p>
                      <a:r>
                        <a:rPr lang="en-GB" sz="1400" dirty="0"/>
                        <a:t>30%</a:t>
                      </a:r>
                    </a:p>
                  </a:txBody>
                  <a:tcPr/>
                </a:tc>
                <a:extLst>
                  <a:ext uri="{0D108BD9-81ED-4DB2-BD59-A6C34878D82A}">
                    <a16:rowId xmlns:a16="http://schemas.microsoft.com/office/drawing/2014/main" val="10001"/>
                  </a:ext>
                </a:extLst>
              </a:tr>
              <a:tr h="239350">
                <a:tc>
                  <a:txBody>
                    <a:bodyPr/>
                    <a:lstStyle/>
                    <a:p>
                      <a:r>
                        <a:rPr lang="en-GB" sz="1400" dirty="0"/>
                        <a:t>Op Margin</a:t>
                      </a:r>
                    </a:p>
                  </a:txBody>
                  <a:tcPr/>
                </a:tc>
                <a:tc>
                  <a:txBody>
                    <a:bodyPr/>
                    <a:lstStyle/>
                    <a:p>
                      <a:r>
                        <a:rPr lang="en-GB" sz="1400" dirty="0"/>
                        <a:t>-79.62%</a:t>
                      </a:r>
                    </a:p>
                  </a:txBody>
                  <a:tcPr/>
                </a:tc>
                <a:tc>
                  <a:txBody>
                    <a:bodyPr/>
                    <a:lstStyle/>
                    <a:p>
                      <a:r>
                        <a:rPr lang="en-GB" sz="1400" dirty="0"/>
                        <a:t>Ind NCE/Sales</a:t>
                      </a:r>
                    </a:p>
                  </a:txBody>
                  <a:tcPr/>
                </a:tc>
                <a:tc>
                  <a:txBody>
                    <a:bodyPr/>
                    <a:lstStyle/>
                    <a:p>
                      <a:r>
                        <a:rPr lang="en-GB" sz="1400" dirty="0"/>
                        <a:t>8.76%</a:t>
                      </a:r>
                    </a:p>
                  </a:txBody>
                  <a:tcPr/>
                </a:tc>
                <a:extLst>
                  <a:ext uri="{0D108BD9-81ED-4DB2-BD59-A6C34878D82A}">
                    <a16:rowId xmlns:a16="http://schemas.microsoft.com/office/drawing/2014/main" val="10002"/>
                  </a:ext>
                </a:extLst>
              </a:tr>
              <a:tr h="239350">
                <a:tc>
                  <a:txBody>
                    <a:bodyPr/>
                    <a:lstStyle/>
                    <a:p>
                      <a:r>
                        <a:rPr lang="en-GB" sz="1400" dirty="0"/>
                        <a:t>Capital</a:t>
                      </a:r>
                    </a:p>
                  </a:txBody>
                  <a:tcPr/>
                </a:tc>
                <a:tc>
                  <a:txBody>
                    <a:bodyPr/>
                    <a:lstStyle/>
                    <a:p>
                      <a:r>
                        <a:rPr lang="en-GB" sz="1400" dirty="0"/>
                        <a:t>$2,744</a:t>
                      </a:r>
                    </a:p>
                  </a:txBody>
                  <a:tcPr/>
                </a:tc>
                <a:tc>
                  <a:txBody>
                    <a:bodyPr/>
                    <a:lstStyle/>
                    <a:p>
                      <a:r>
                        <a:rPr lang="en-GB" sz="1400" dirty="0"/>
                        <a:t>Ind NWC/Sales</a:t>
                      </a:r>
                    </a:p>
                  </a:txBody>
                  <a:tcPr/>
                </a:tc>
                <a:tc>
                  <a:txBody>
                    <a:bodyPr/>
                    <a:lstStyle/>
                    <a:p>
                      <a:r>
                        <a:rPr lang="en-GB" sz="1400" dirty="0"/>
                        <a:t>3.31%</a:t>
                      </a:r>
                    </a:p>
                  </a:txBody>
                  <a:tcPr/>
                </a:tc>
                <a:extLst>
                  <a:ext uri="{0D108BD9-81ED-4DB2-BD59-A6C34878D82A}">
                    <a16:rowId xmlns:a16="http://schemas.microsoft.com/office/drawing/2014/main" val="10003"/>
                  </a:ext>
                </a:extLst>
              </a:tr>
              <a:tr h="239350">
                <a:tc>
                  <a:txBody>
                    <a:bodyPr/>
                    <a:lstStyle/>
                    <a:p>
                      <a:r>
                        <a:rPr lang="en-GB" sz="1400" dirty="0"/>
                        <a:t>Ind ROC</a:t>
                      </a:r>
                    </a:p>
                  </a:txBody>
                  <a:tcPr/>
                </a:tc>
                <a:tc>
                  <a:txBody>
                    <a:bodyPr/>
                    <a:lstStyle/>
                    <a:p>
                      <a:r>
                        <a:rPr lang="en-GB" sz="1400" dirty="0"/>
                        <a:t>16%</a:t>
                      </a:r>
                    </a:p>
                  </a:txBody>
                  <a:tcPr/>
                </a:tc>
                <a:tc>
                  <a:txBody>
                    <a:bodyPr/>
                    <a:lstStyle/>
                    <a:p>
                      <a:endParaRPr lang="en-GB" sz="1400" dirty="0"/>
                    </a:p>
                  </a:txBody>
                  <a:tcPr/>
                </a:tc>
                <a:tc>
                  <a:txBody>
                    <a:bodyPr/>
                    <a:lstStyle/>
                    <a:p>
                      <a:endParaRPr lang="en-GB" sz="1400" dirty="0"/>
                    </a:p>
                  </a:txBody>
                  <a:tcPr/>
                </a:tc>
                <a:extLst>
                  <a:ext uri="{0D108BD9-81ED-4DB2-BD59-A6C34878D82A}">
                    <a16:rowId xmlns:a16="http://schemas.microsoft.com/office/drawing/2014/main" val="2617583200"/>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4269405541"/>
              </p:ext>
            </p:extLst>
          </p:nvPr>
        </p:nvGraphicFramePr>
        <p:xfrm>
          <a:off x="323529" y="3429000"/>
          <a:ext cx="8280924" cy="1063344"/>
        </p:xfrm>
        <a:graphic>
          <a:graphicData uri="http://schemas.openxmlformats.org/drawingml/2006/table">
            <a:tbl>
              <a:tblPr firstRow="1" bandRow="1">
                <a:tableStyleId>{5C22544A-7EE6-4342-B048-85BDC9FD1C3A}</a:tableStyleId>
              </a:tblPr>
              <a:tblGrid>
                <a:gridCol w="1443594">
                  <a:extLst>
                    <a:ext uri="{9D8B030D-6E8A-4147-A177-3AD203B41FA5}">
                      <a16:colId xmlns:a16="http://schemas.microsoft.com/office/drawing/2014/main" val="20000"/>
                    </a:ext>
                  </a:extLst>
                </a:gridCol>
                <a:gridCol w="683733">
                  <a:extLst>
                    <a:ext uri="{9D8B030D-6E8A-4147-A177-3AD203B41FA5}">
                      <a16:colId xmlns:a16="http://schemas.microsoft.com/office/drawing/2014/main" val="20001"/>
                    </a:ext>
                  </a:extLst>
                </a:gridCol>
                <a:gridCol w="683733">
                  <a:extLst>
                    <a:ext uri="{9D8B030D-6E8A-4147-A177-3AD203B41FA5}">
                      <a16:colId xmlns:a16="http://schemas.microsoft.com/office/drawing/2014/main" val="20002"/>
                    </a:ext>
                  </a:extLst>
                </a:gridCol>
                <a:gridCol w="683733">
                  <a:extLst>
                    <a:ext uri="{9D8B030D-6E8A-4147-A177-3AD203B41FA5}">
                      <a16:colId xmlns:a16="http://schemas.microsoft.com/office/drawing/2014/main" val="20003"/>
                    </a:ext>
                  </a:extLst>
                </a:gridCol>
                <a:gridCol w="683733">
                  <a:extLst>
                    <a:ext uri="{9D8B030D-6E8A-4147-A177-3AD203B41FA5}">
                      <a16:colId xmlns:a16="http://schemas.microsoft.com/office/drawing/2014/main" val="20004"/>
                    </a:ext>
                  </a:extLst>
                </a:gridCol>
                <a:gridCol w="683733">
                  <a:extLst>
                    <a:ext uri="{9D8B030D-6E8A-4147-A177-3AD203B41FA5}">
                      <a16:colId xmlns:a16="http://schemas.microsoft.com/office/drawing/2014/main" val="20005"/>
                    </a:ext>
                  </a:extLst>
                </a:gridCol>
                <a:gridCol w="683733">
                  <a:extLst>
                    <a:ext uri="{9D8B030D-6E8A-4147-A177-3AD203B41FA5}">
                      <a16:colId xmlns:a16="http://schemas.microsoft.com/office/drawing/2014/main" val="20006"/>
                    </a:ext>
                  </a:extLst>
                </a:gridCol>
                <a:gridCol w="683733">
                  <a:extLst>
                    <a:ext uri="{9D8B030D-6E8A-4147-A177-3AD203B41FA5}">
                      <a16:colId xmlns:a16="http://schemas.microsoft.com/office/drawing/2014/main" val="20007"/>
                    </a:ext>
                  </a:extLst>
                </a:gridCol>
                <a:gridCol w="683733">
                  <a:extLst>
                    <a:ext uri="{9D8B030D-6E8A-4147-A177-3AD203B41FA5}">
                      <a16:colId xmlns:a16="http://schemas.microsoft.com/office/drawing/2014/main" val="20008"/>
                    </a:ext>
                  </a:extLst>
                </a:gridCol>
                <a:gridCol w="683733">
                  <a:extLst>
                    <a:ext uri="{9D8B030D-6E8A-4147-A177-3AD203B41FA5}">
                      <a16:colId xmlns:a16="http://schemas.microsoft.com/office/drawing/2014/main" val="20009"/>
                    </a:ext>
                  </a:extLst>
                </a:gridCol>
                <a:gridCol w="683733">
                  <a:extLst>
                    <a:ext uri="{9D8B030D-6E8A-4147-A177-3AD203B41FA5}">
                      <a16:colId xmlns:a16="http://schemas.microsoft.com/office/drawing/2014/main" val="20010"/>
                    </a:ext>
                  </a:extLst>
                </a:gridCol>
              </a:tblGrid>
              <a:tr h="219087">
                <a:tc>
                  <a:txBody>
                    <a:bodyPr/>
                    <a:lstStyle/>
                    <a:p>
                      <a:pPr algn="ctr"/>
                      <a:endParaRPr lang="en-GB" sz="1200" dirty="0"/>
                    </a:p>
                  </a:txBody>
                  <a:tcPr/>
                </a:tc>
                <a:tc>
                  <a:txBody>
                    <a:bodyPr/>
                    <a:lstStyle/>
                    <a:p>
                      <a:pPr algn="ctr"/>
                      <a:r>
                        <a:rPr lang="el-GR" sz="1200" dirty="0"/>
                        <a:t>1</a:t>
                      </a:r>
                      <a:endParaRPr lang="en-GB" sz="1200" dirty="0"/>
                    </a:p>
                  </a:txBody>
                  <a:tcPr/>
                </a:tc>
                <a:tc>
                  <a:txBody>
                    <a:bodyPr/>
                    <a:lstStyle/>
                    <a:p>
                      <a:pPr algn="ctr"/>
                      <a:r>
                        <a:rPr lang="el-GR" sz="1200" dirty="0"/>
                        <a:t>2</a:t>
                      </a:r>
                      <a:endParaRPr lang="en-GB" sz="1200" dirty="0"/>
                    </a:p>
                  </a:txBody>
                  <a:tcPr/>
                </a:tc>
                <a:tc>
                  <a:txBody>
                    <a:bodyPr/>
                    <a:lstStyle/>
                    <a:p>
                      <a:pPr algn="ctr"/>
                      <a:r>
                        <a:rPr lang="el-GR" sz="1200" dirty="0"/>
                        <a:t>3</a:t>
                      </a:r>
                      <a:endParaRPr lang="en-GB" sz="1200" dirty="0"/>
                    </a:p>
                  </a:txBody>
                  <a:tcPr/>
                </a:tc>
                <a:tc>
                  <a:txBody>
                    <a:bodyPr/>
                    <a:lstStyle/>
                    <a:p>
                      <a:pPr algn="ctr"/>
                      <a:r>
                        <a:rPr lang="el-GR" sz="1200" dirty="0"/>
                        <a:t>4</a:t>
                      </a:r>
                      <a:endParaRPr lang="en-GB" sz="1200" dirty="0"/>
                    </a:p>
                  </a:txBody>
                  <a:tcPr/>
                </a:tc>
                <a:tc>
                  <a:txBody>
                    <a:bodyPr/>
                    <a:lstStyle/>
                    <a:p>
                      <a:pPr algn="ctr"/>
                      <a:r>
                        <a:rPr lang="el-GR" sz="1200" dirty="0"/>
                        <a:t>5</a:t>
                      </a:r>
                      <a:endParaRPr lang="en-GB" sz="1200" dirty="0"/>
                    </a:p>
                  </a:txBody>
                  <a:tcPr/>
                </a:tc>
                <a:tc>
                  <a:txBody>
                    <a:bodyPr/>
                    <a:lstStyle/>
                    <a:p>
                      <a:pPr algn="ctr"/>
                      <a:r>
                        <a:rPr lang="el-GR" sz="1200" dirty="0"/>
                        <a:t>6</a:t>
                      </a:r>
                      <a:endParaRPr lang="en-GB" sz="1200" dirty="0"/>
                    </a:p>
                  </a:txBody>
                  <a:tcPr/>
                </a:tc>
                <a:tc>
                  <a:txBody>
                    <a:bodyPr/>
                    <a:lstStyle/>
                    <a:p>
                      <a:pPr algn="ctr"/>
                      <a:r>
                        <a:rPr lang="el-GR" sz="1200" dirty="0"/>
                        <a:t>7</a:t>
                      </a:r>
                      <a:endParaRPr lang="en-GB" sz="1200" dirty="0"/>
                    </a:p>
                  </a:txBody>
                  <a:tcPr/>
                </a:tc>
                <a:tc>
                  <a:txBody>
                    <a:bodyPr/>
                    <a:lstStyle/>
                    <a:p>
                      <a:pPr algn="ctr"/>
                      <a:r>
                        <a:rPr lang="el-GR" sz="1200" dirty="0"/>
                        <a:t>8</a:t>
                      </a:r>
                      <a:endParaRPr lang="en-GB" sz="1200" dirty="0"/>
                    </a:p>
                  </a:txBody>
                  <a:tcPr/>
                </a:tc>
                <a:tc>
                  <a:txBody>
                    <a:bodyPr/>
                    <a:lstStyle/>
                    <a:p>
                      <a:pPr algn="ctr"/>
                      <a:r>
                        <a:rPr lang="el-GR" sz="1200" dirty="0"/>
                        <a:t>9</a:t>
                      </a:r>
                      <a:endParaRPr lang="en-GB" sz="1200" dirty="0"/>
                    </a:p>
                  </a:txBody>
                  <a:tcPr/>
                </a:tc>
                <a:tc>
                  <a:txBody>
                    <a:bodyPr/>
                    <a:lstStyle/>
                    <a:p>
                      <a:pPr algn="ctr"/>
                      <a:r>
                        <a:rPr lang="el-GR" sz="1200" dirty="0"/>
                        <a:t>10</a:t>
                      </a:r>
                      <a:endParaRPr lang="en-GB" sz="1200" dirty="0"/>
                    </a:p>
                  </a:txBody>
                  <a:tcPr/>
                </a:tc>
                <a:extLst>
                  <a:ext uri="{0D108BD9-81ED-4DB2-BD59-A6C34878D82A}">
                    <a16:rowId xmlns:a16="http://schemas.microsoft.com/office/drawing/2014/main" val="10000"/>
                  </a:ext>
                </a:extLst>
              </a:tr>
              <a:tr h="394512">
                <a:tc>
                  <a:txBody>
                    <a:bodyPr/>
                    <a:lstStyle/>
                    <a:p>
                      <a:pPr algn="ctr"/>
                      <a:r>
                        <a:rPr lang="el-GR" sz="1200" dirty="0"/>
                        <a:t>%Δ</a:t>
                      </a:r>
                      <a:r>
                        <a:rPr lang="en-GB" sz="1200" dirty="0"/>
                        <a:t>Sales</a:t>
                      </a:r>
                    </a:p>
                  </a:txBody>
                  <a:tcPr/>
                </a:tc>
                <a:tc>
                  <a:txBody>
                    <a:bodyPr/>
                    <a:lstStyle/>
                    <a:p>
                      <a:pPr algn="ctr"/>
                      <a:r>
                        <a:rPr lang="el-GR" sz="1200" dirty="0"/>
                        <a:t>50</a:t>
                      </a:r>
                      <a:endParaRPr lang="en-GB" sz="1200" dirty="0"/>
                    </a:p>
                  </a:txBody>
                  <a:tcPr/>
                </a:tc>
                <a:tc>
                  <a:txBody>
                    <a:bodyPr/>
                    <a:lstStyle/>
                    <a:p>
                      <a:pPr algn="ctr"/>
                      <a:r>
                        <a:rPr lang="el-GR" sz="1200" dirty="0"/>
                        <a:t>100</a:t>
                      </a:r>
                      <a:endParaRPr lang="en-GB" sz="1200" dirty="0"/>
                    </a:p>
                  </a:txBody>
                  <a:tcPr/>
                </a:tc>
                <a:tc>
                  <a:txBody>
                    <a:bodyPr/>
                    <a:lstStyle/>
                    <a:p>
                      <a:pPr algn="ctr"/>
                      <a:r>
                        <a:rPr lang="el-GR" sz="1200" dirty="0"/>
                        <a:t>80</a:t>
                      </a:r>
                      <a:endParaRPr lang="en-GB" sz="1200" dirty="0"/>
                    </a:p>
                  </a:txBody>
                  <a:tcPr/>
                </a:tc>
                <a:tc>
                  <a:txBody>
                    <a:bodyPr/>
                    <a:lstStyle/>
                    <a:p>
                      <a:pPr algn="ctr"/>
                      <a:r>
                        <a:rPr lang="el-GR" sz="1200" dirty="0"/>
                        <a:t>60</a:t>
                      </a:r>
                      <a:endParaRPr lang="en-GB" sz="1200" dirty="0"/>
                    </a:p>
                  </a:txBody>
                  <a:tcPr/>
                </a:tc>
                <a:tc>
                  <a:txBody>
                    <a:bodyPr/>
                    <a:lstStyle/>
                    <a:p>
                      <a:pPr algn="ctr"/>
                      <a:r>
                        <a:rPr lang="el-GR" sz="1200" dirty="0"/>
                        <a:t>40</a:t>
                      </a:r>
                      <a:endParaRPr lang="en-GB" sz="1200" dirty="0"/>
                    </a:p>
                  </a:txBody>
                  <a:tcPr/>
                </a:tc>
                <a:tc>
                  <a:txBody>
                    <a:bodyPr/>
                    <a:lstStyle/>
                    <a:p>
                      <a:pPr algn="ctr"/>
                      <a:r>
                        <a:rPr lang="el-GR" sz="1200" dirty="0"/>
                        <a:t>35</a:t>
                      </a:r>
                      <a:endParaRPr lang="en-GB" sz="1200" dirty="0"/>
                    </a:p>
                  </a:txBody>
                  <a:tcPr/>
                </a:tc>
                <a:tc>
                  <a:txBody>
                    <a:bodyPr/>
                    <a:lstStyle/>
                    <a:p>
                      <a:pPr algn="ctr"/>
                      <a:r>
                        <a:rPr lang="el-GR" sz="1200" dirty="0"/>
                        <a:t>30</a:t>
                      </a:r>
                      <a:endParaRPr lang="en-GB" sz="1200" dirty="0"/>
                    </a:p>
                  </a:txBody>
                  <a:tcPr/>
                </a:tc>
                <a:tc>
                  <a:txBody>
                    <a:bodyPr/>
                    <a:lstStyle/>
                    <a:p>
                      <a:pPr algn="ctr"/>
                      <a:r>
                        <a:rPr lang="el-GR" sz="1200" dirty="0"/>
                        <a:t>20</a:t>
                      </a:r>
                      <a:endParaRPr lang="en-GB" sz="1200" dirty="0"/>
                    </a:p>
                  </a:txBody>
                  <a:tcPr/>
                </a:tc>
                <a:tc>
                  <a:txBody>
                    <a:bodyPr/>
                    <a:lstStyle/>
                    <a:p>
                      <a:pPr algn="ctr"/>
                      <a:r>
                        <a:rPr lang="el-GR" sz="1200" dirty="0"/>
                        <a:t>10</a:t>
                      </a:r>
                      <a:endParaRPr lang="en-GB" sz="1200" dirty="0"/>
                    </a:p>
                  </a:txBody>
                  <a:tcPr/>
                </a:tc>
                <a:tc>
                  <a:txBody>
                    <a:bodyPr/>
                    <a:lstStyle/>
                    <a:p>
                      <a:pPr algn="ctr"/>
                      <a:r>
                        <a:rPr lang="el-GR" sz="1200" dirty="0"/>
                        <a:t>5</a:t>
                      </a:r>
                      <a:endParaRPr lang="en-GB" sz="1200" dirty="0"/>
                    </a:p>
                  </a:txBody>
                  <a:tcPr/>
                </a:tc>
                <a:extLst>
                  <a:ext uri="{0D108BD9-81ED-4DB2-BD59-A6C34878D82A}">
                    <a16:rowId xmlns:a16="http://schemas.microsoft.com/office/drawing/2014/main" val="10001"/>
                  </a:ext>
                </a:extLst>
              </a:tr>
              <a:tr h="394512">
                <a:tc>
                  <a:txBody>
                    <a:bodyPr/>
                    <a:lstStyle/>
                    <a:p>
                      <a:pPr algn="ctr"/>
                      <a:r>
                        <a:rPr lang="en-GB" sz="1200" dirty="0"/>
                        <a:t>Op</a:t>
                      </a:r>
                      <a:r>
                        <a:rPr lang="en-GB" sz="1200" baseline="0" dirty="0"/>
                        <a:t> Margin</a:t>
                      </a:r>
                      <a:endParaRPr lang="en-GB" sz="1200" dirty="0"/>
                    </a:p>
                  </a:txBody>
                  <a:tcPr/>
                </a:tc>
                <a:tc>
                  <a:txBody>
                    <a:bodyPr/>
                    <a:lstStyle/>
                    <a:p>
                      <a:pPr algn="ctr"/>
                      <a:r>
                        <a:rPr lang="en-GB" sz="1200" dirty="0"/>
                        <a:t>-48.17</a:t>
                      </a:r>
                    </a:p>
                  </a:txBody>
                  <a:tcPr/>
                </a:tc>
                <a:tc>
                  <a:txBody>
                    <a:bodyPr/>
                    <a:lstStyle/>
                    <a:p>
                      <a:pPr algn="ctr"/>
                      <a:r>
                        <a:rPr lang="en-GB" sz="1200" dirty="0"/>
                        <a:t>-27.21</a:t>
                      </a:r>
                    </a:p>
                  </a:txBody>
                  <a:tcPr/>
                </a:tc>
                <a:tc>
                  <a:txBody>
                    <a:bodyPr/>
                    <a:lstStyle/>
                    <a:p>
                      <a:pPr algn="ctr"/>
                      <a:r>
                        <a:rPr lang="en-GB" sz="1200" dirty="0"/>
                        <a:t>-13.23</a:t>
                      </a:r>
                    </a:p>
                  </a:txBody>
                  <a:tcPr/>
                </a:tc>
                <a:tc>
                  <a:txBody>
                    <a:bodyPr/>
                    <a:lstStyle/>
                    <a:p>
                      <a:pPr algn="ctr"/>
                      <a:r>
                        <a:rPr lang="en-GB" sz="1200" dirty="0"/>
                        <a:t>-3.91</a:t>
                      </a:r>
                    </a:p>
                  </a:txBody>
                  <a:tcPr/>
                </a:tc>
                <a:tc>
                  <a:txBody>
                    <a:bodyPr/>
                    <a:lstStyle/>
                    <a:p>
                      <a:pPr algn="ctr"/>
                      <a:r>
                        <a:rPr lang="en-GB" sz="1200" dirty="0"/>
                        <a:t>2.30</a:t>
                      </a:r>
                    </a:p>
                  </a:txBody>
                  <a:tcPr/>
                </a:tc>
                <a:tc>
                  <a:txBody>
                    <a:bodyPr/>
                    <a:lstStyle/>
                    <a:p>
                      <a:pPr algn="ctr"/>
                      <a:r>
                        <a:rPr lang="en-GB" sz="1200" dirty="0"/>
                        <a:t>6.44</a:t>
                      </a:r>
                    </a:p>
                  </a:txBody>
                  <a:tcPr/>
                </a:tc>
                <a:tc>
                  <a:txBody>
                    <a:bodyPr/>
                    <a:lstStyle/>
                    <a:p>
                      <a:pPr algn="ctr"/>
                      <a:r>
                        <a:rPr lang="en-GB" sz="1200" dirty="0"/>
                        <a:t>9.20</a:t>
                      </a:r>
                    </a:p>
                  </a:txBody>
                  <a:tcPr/>
                </a:tc>
                <a:tc>
                  <a:txBody>
                    <a:bodyPr/>
                    <a:lstStyle/>
                    <a:p>
                      <a:pPr algn="ctr"/>
                      <a:r>
                        <a:rPr lang="en-GB" sz="1200" dirty="0"/>
                        <a:t>11.04</a:t>
                      </a:r>
                    </a:p>
                  </a:txBody>
                  <a:tcPr/>
                </a:tc>
                <a:tc>
                  <a:txBody>
                    <a:bodyPr/>
                    <a:lstStyle/>
                    <a:p>
                      <a:pPr algn="ctr"/>
                      <a:r>
                        <a:rPr lang="en-GB" sz="1200" dirty="0"/>
                        <a:t>12.27</a:t>
                      </a:r>
                    </a:p>
                  </a:txBody>
                  <a:tcPr/>
                </a:tc>
                <a:tc>
                  <a:txBody>
                    <a:bodyPr/>
                    <a:lstStyle/>
                    <a:p>
                      <a:pPr algn="ctr"/>
                      <a:r>
                        <a:rPr lang="en-GB" sz="1200" dirty="0"/>
                        <a:t>13.08</a:t>
                      </a:r>
                    </a:p>
                  </a:txBody>
                  <a:tcPr/>
                </a:tc>
                <a:extLst>
                  <a:ext uri="{0D108BD9-81ED-4DB2-BD59-A6C34878D82A}">
                    <a16:rowId xmlns:a16="http://schemas.microsoft.com/office/drawing/2014/main" val="10002"/>
                  </a:ext>
                </a:extLst>
              </a:tr>
            </a:tbl>
          </a:graphicData>
        </a:graphic>
      </p:graphicFrame>
      <p:sp>
        <p:nvSpPr>
          <p:cNvPr id="6" name="Slide Number Placeholder 5"/>
          <p:cNvSpPr>
            <a:spLocks noGrp="1"/>
          </p:cNvSpPr>
          <p:nvPr>
            <p:ph type="sldNum" sz="quarter" idx="11"/>
          </p:nvPr>
        </p:nvSpPr>
        <p:spPr/>
        <p:txBody>
          <a:bodyPr/>
          <a:lstStyle/>
          <a:p>
            <a:pPr>
              <a:defRPr/>
            </a:pPr>
            <a:fld id="{C3168C1A-0F73-4148-A9C6-17783D0D792E}" type="slidenum">
              <a:rPr lang="en-GB" smtClean="0"/>
              <a:pPr>
                <a:defRPr/>
              </a:pPr>
              <a:t>67</a:t>
            </a:fld>
            <a:endParaRPr lang="en-GB"/>
          </a:p>
        </p:txBody>
      </p:sp>
      <p:cxnSp>
        <p:nvCxnSpPr>
          <p:cNvPr id="8" name="Straight Arrow Connector 7"/>
          <p:cNvCxnSpPr/>
          <p:nvPr/>
        </p:nvCxnSpPr>
        <p:spPr>
          <a:xfrm>
            <a:off x="7236296" y="2780928"/>
            <a:ext cx="688504" cy="12961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920985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4066" name="Rectangle 2"/>
          <p:cNvSpPr>
            <a:spLocks noGrp="1" noChangeArrowheads="1"/>
          </p:cNvSpPr>
          <p:nvPr>
            <p:ph type="title"/>
          </p:nvPr>
        </p:nvSpPr>
        <p:spPr>
          <a:xfrm>
            <a:off x="529208" y="332656"/>
            <a:ext cx="8147248" cy="490066"/>
          </a:xfrm>
        </p:spPr>
        <p:txBody>
          <a:bodyPr>
            <a:normAutofit/>
          </a:bodyPr>
          <a:lstStyle/>
          <a:p>
            <a:pPr eaLnBrk="1" fontAlgn="auto" hangingPunct="1">
              <a:spcAft>
                <a:spcPts val="0"/>
              </a:spcAft>
              <a:defRPr/>
            </a:pPr>
            <a:r>
              <a:rPr lang="en-US" sz="2400" dirty="0"/>
              <a:t>Commerce One: Revenues and Revenue Growth</a:t>
            </a:r>
          </a:p>
        </p:txBody>
      </p:sp>
      <p:sp>
        <p:nvSpPr>
          <p:cNvPr id="2" name="Slide Number Placeholder 1"/>
          <p:cNvSpPr>
            <a:spLocks noGrp="1"/>
          </p:cNvSpPr>
          <p:nvPr>
            <p:ph type="sldNum" sz="quarter" idx="11"/>
          </p:nvPr>
        </p:nvSpPr>
        <p:spPr/>
        <p:txBody>
          <a:bodyPr/>
          <a:lstStyle/>
          <a:p>
            <a:pPr>
              <a:defRPr/>
            </a:pPr>
            <a:fld id="{C3168C1A-0F73-4148-A9C6-17783D0D792E}" type="slidenum">
              <a:rPr lang="en-GB" smtClean="0"/>
              <a:pPr>
                <a:defRPr/>
              </a:pPr>
              <a:t>68</a:t>
            </a:fld>
            <a:endParaRPr lang="en-GB"/>
          </a:p>
        </p:txBody>
      </p:sp>
      <p:graphicFrame>
        <p:nvGraphicFramePr>
          <p:cNvPr id="5" name="Content Placeholder 4">
            <a:extLst>
              <a:ext uri="{FF2B5EF4-FFF2-40B4-BE49-F238E27FC236}">
                <a16:creationId xmlns:a16="http://schemas.microsoft.com/office/drawing/2014/main" id="{A97D2F41-5170-46C1-80B3-F686A9EAFA53}"/>
              </a:ext>
            </a:extLst>
          </p:cNvPr>
          <p:cNvGraphicFramePr>
            <a:graphicFrameLocks noGrp="1"/>
          </p:cNvGraphicFramePr>
          <p:nvPr>
            <p:ph sz="quarter" idx="1"/>
            <p:extLst>
              <p:ext uri="{D42A27DB-BD31-4B8C-83A1-F6EECF244321}">
                <p14:modId xmlns:p14="http://schemas.microsoft.com/office/powerpoint/2010/main" val="3813917882"/>
              </p:ext>
            </p:extLst>
          </p:nvPr>
        </p:nvGraphicFramePr>
        <p:xfrm>
          <a:off x="251520" y="908720"/>
          <a:ext cx="7200798" cy="5400596"/>
        </p:xfrm>
        <a:graphic>
          <a:graphicData uri="http://schemas.openxmlformats.org/drawingml/2006/table">
            <a:tbl>
              <a:tblPr>
                <a:tableStyleId>{5C22544A-7EE6-4342-B048-85BDC9FD1C3A}</a:tableStyleId>
              </a:tblPr>
              <a:tblGrid>
                <a:gridCol w="1401682">
                  <a:extLst>
                    <a:ext uri="{9D8B030D-6E8A-4147-A177-3AD203B41FA5}">
                      <a16:colId xmlns:a16="http://schemas.microsoft.com/office/drawing/2014/main" val="307333300"/>
                    </a:ext>
                  </a:extLst>
                </a:gridCol>
                <a:gridCol w="1401682">
                  <a:extLst>
                    <a:ext uri="{9D8B030D-6E8A-4147-A177-3AD203B41FA5}">
                      <a16:colId xmlns:a16="http://schemas.microsoft.com/office/drawing/2014/main" val="738731110"/>
                    </a:ext>
                  </a:extLst>
                </a:gridCol>
                <a:gridCol w="1868909">
                  <a:extLst>
                    <a:ext uri="{9D8B030D-6E8A-4147-A177-3AD203B41FA5}">
                      <a16:colId xmlns:a16="http://schemas.microsoft.com/office/drawing/2014/main" val="1063478021"/>
                    </a:ext>
                  </a:extLst>
                </a:gridCol>
                <a:gridCol w="852003">
                  <a:extLst>
                    <a:ext uri="{9D8B030D-6E8A-4147-A177-3AD203B41FA5}">
                      <a16:colId xmlns:a16="http://schemas.microsoft.com/office/drawing/2014/main" val="2506007312"/>
                    </a:ext>
                  </a:extLst>
                </a:gridCol>
                <a:gridCol w="1676522">
                  <a:extLst>
                    <a:ext uri="{9D8B030D-6E8A-4147-A177-3AD203B41FA5}">
                      <a16:colId xmlns:a16="http://schemas.microsoft.com/office/drawing/2014/main" val="1003280022"/>
                    </a:ext>
                  </a:extLst>
                </a:gridCol>
              </a:tblGrid>
              <a:tr h="448524">
                <a:tc>
                  <a:txBody>
                    <a:bodyPr/>
                    <a:lstStyle/>
                    <a:p>
                      <a:pPr algn="ctr" rtl="0" fontAlgn="ctr"/>
                      <a:r>
                        <a:rPr lang="en-GB" sz="2400" u="none" strike="noStrike">
                          <a:effectLst/>
                        </a:rPr>
                        <a:t>Year</a:t>
                      </a:r>
                      <a:endParaRPr lang="en-GB" sz="2400" b="0" i="0" u="none" strike="noStrike">
                        <a:solidFill>
                          <a:srgbClr val="000000"/>
                        </a:solidFill>
                        <a:effectLst/>
                        <a:latin typeface="Century Schoolbook" panose="02040604050505020304" pitchFamily="18" charset="0"/>
                      </a:endParaRPr>
                    </a:p>
                  </a:txBody>
                  <a:tcPr marL="3810" marR="3810" marT="3810" marB="0" anchor="ctr"/>
                </a:tc>
                <a:tc>
                  <a:txBody>
                    <a:bodyPr/>
                    <a:lstStyle/>
                    <a:p>
                      <a:pPr algn="ctr" rtl="0" fontAlgn="ctr"/>
                      <a:r>
                        <a:rPr lang="en-GB" sz="2400" u="none" strike="noStrike">
                          <a:effectLst/>
                        </a:rPr>
                        <a:t>Growth</a:t>
                      </a:r>
                      <a:endParaRPr lang="en-GB" sz="2400" b="0" i="0" u="none" strike="noStrike">
                        <a:solidFill>
                          <a:srgbClr val="000000"/>
                        </a:solidFill>
                        <a:effectLst/>
                        <a:latin typeface="Century Schoolbook" panose="02040604050505020304" pitchFamily="18" charset="0"/>
                      </a:endParaRPr>
                    </a:p>
                  </a:txBody>
                  <a:tcPr marL="3810" marR="3810" marT="3810" marB="0" anchor="ctr"/>
                </a:tc>
                <a:tc>
                  <a:txBody>
                    <a:bodyPr/>
                    <a:lstStyle/>
                    <a:p>
                      <a:pPr algn="ctr" rtl="0" fontAlgn="ctr"/>
                      <a:r>
                        <a:rPr lang="en-GB" sz="2400" u="none" strike="noStrike">
                          <a:effectLst/>
                        </a:rPr>
                        <a:t>Rev</a:t>
                      </a:r>
                      <a:endParaRPr lang="en-GB" sz="2400" b="0" i="0" u="none" strike="noStrike">
                        <a:solidFill>
                          <a:srgbClr val="000000"/>
                        </a:solidFill>
                        <a:effectLst/>
                        <a:latin typeface="Century Schoolbook" panose="02040604050505020304" pitchFamily="18" charset="0"/>
                      </a:endParaRPr>
                    </a:p>
                  </a:txBody>
                  <a:tcPr marL="3810" marR="3810" marT="3810" marB="0" anchor="ctr"/>
                </a:tc>
                <a:tc>
                  <a:txBody>
                    <a:bodyPr/>
                    <a:lstStyle/>
                    <a:p>
                      <a:pPr algn="ctr" rtl="0" fontAlgn="ctr"/>
                      <a:r>
                        <a:rPr lang="en-GB" sz="2400" u="none" strike="noStrike">
                          <a:effectLst/>
                        </a:rPr>
                        <a:t>OPM</a:t>
                      </a:r>
                      <a:endParaRPr lang="en-GB" sz="2400" b="0" i="0" u="none" strike="noStrike">
                        <a:solidFill>
                          <a:srgbClr val="000000"/>
                        </a:solidFill>
                        <a:effectLst/>
                        <a:latin typeface="Century Schoolbook" panose="02040604050505020304" pitchFamily="18" charset="0"/>
                      </a:endParaRPr>
                    </a:p>
                  </a:txBody>
                  <a:tcPr marL="3810" marR="3810" marT="3810" marB="0" anchor="ctr"/>
                </a:tc>
                <a:tc>
                  <a:txBody>
                    <a:bodyPr/>
                    <a:lstStyle/>
                    <a:p>
                      <a:pPr algn="ctr" rtl="0" fontAlgn="ctr"/>
                      <a:r>
                        <a:rPr lang="en-GB" sz="2400" u="none" strike="noStrike">
                          <a:effectLst/>
                        </a:rPr>
                        <a:t>EBIT</a:t>
                      </a:r>
                      <a:endParaRPr lang="en-GB" sz="2400" b="0" i="0" u="none" strike="noStrike">
                        <a:solidFill>
                          <a:srgbClr val="000000"/>
                        </a:solidFill>
                        <a:effectLst/>
                        <a:latin typeface="Century Schoolbook" panose="02040604050505020304" pitchFamily="18" charset="0"/>
                      </a:endParaRPr>
                    </a:p>
                  </a:txBody>
                  <a:tcPr marL="3810" marR="3810" marT="3810" marB="0" anchor="ctr"/>
                </a:tc>
                <a:extLst>
                  <a:ext uri="{0D108BD9-81ED-4DB2-BD59-A6C34878D82A}">
                    <a16:rowId xmlns:a16="http://schemas.microsoft.com/office/drawing/2014/main" val="4242909406"/>
                  </a:ext>
                </a:extLst>
              </a:tr>
              <a:tr h="448524">
                <a:tc>
                  <a:txBody>
                    <a:bodyPr/>
                    <a:lstStyle/>
                    <a:p>
                      <a:pPr algn="ctr" rtl="0" fontAlgn="ctr"/>
                      <a:r>
                        <a:rPr lang="en-GB" sz="2400" u="none" strike="noStrike">
                          <a:effectLst/>
                        </a:rPr>
                        <a:t>0</a:t>
                      </a:r>
                      <a:endParaRPr lang="en-GB" sz="2400" b="0" i="0" u="none" strike="noStrike">
                        <a:solidFill>
                          <a:srgbClr val="000000"/>
                        </a:solidFill>
                        <a:effectLst/>
                        <a:latin typeface="Century Schoolbook" panose="02040604050505020304" pitchFamily="18" charset="0"/>
                      </a:endParaRPr>
                    </a:p>
                  </a:txBody>
                  <a:tcPr marL="3810" marR="3810" marT="3810" marB="0" anchor="ctr"/>
                </a:tc>
                <a:tc>
                  <a:txBody>
                    <a:bodyPr/>
                    <a:lstStyle/>
                    <a:p>
                      <a:pPr algn="ctr" rtl="0" fontAlgn="ctr"/>
                      <a:r>
                        <a:rPr lang="en-GB" sz="2400" u="none" strike="noStrike">
                          <a:effectLst/>
                        </a:rPr>
                        <a:t> </a:t>
                      </a:r>
                      <a:endParaRPr lang="en-GB" sz="2400" b="0" i="0" u="none" strike="noStrike">
                        <a:solidFill>
                          <a:srgbClr val="000000"/>
                        </a:solidFill>
                        <a:effectLst/>
                        <a:latin typeface="Century Schoolbook" panose="02040604050505020304" pitchFamily="18" charset="0"/>
                      </a:endParaRPr>
                    </a:p>
                  </a:txBody>
                  <a:tcPr marL="3810" marR="3810" marT="3810" marB="0" anchor="ctr"/>
                </a:tc>
                <a:tc>
                  <a:txBody>
                    <a:bodyPr/>
                    <a:lstStyle/>
                    <a:p>
                      <a:pPr algn="ctr" rtl="0" fontAlgn="ctr"/>
                      <a:r>
                        <a:rPr lang="en-GB" sz="2400" u="none" strike="noStrike">
                          <a:effectLst/>
                        </a:rPr>
                        <a:t> $     537.00 </a:t>
                      </a:r>
                      <a:endParaRPr lang="en-GB" sz="2400" b="0" i="0" u="none" strike="noStrike">
                        <a:solidFill>
                          <a:srgbClr val="000000"/>
                        </a:solidFill>
                        <a:effectLst/>
                        <a:latin typeface="Century Schoolbook" panose="02040604050505020304" pitchFamily="18" charset="0"/>
                      </a:endParaRPr>
                    </a:p>
                  </a:txBody>
                  <a:tcPr marL="3810" marR="3810" marT="3810" marB="0" anchor="ctr"/>
                </a:tc>
                <a:tc>
                  <a:txBody>
                    <a:bodyPr/>
                    <a:lstStyle/>
                    <a:p>
                      <a:pPr algn="ctr" rtl="0" fontAlgn="ctr"/>
                      <a:r>
                        <a:rPr lang="en-GB" sz="2400" u="none" strike="noStrike">
                          <a:effectLst/>
                        </a:rPr>
                        <a:t> </a:t>
                      </a:r>
                      <a:endParaRPr lang="en-GB" sz="2400" b="0" i="0" u="none" strike="noStrike">
                        <a:solidFill>
                          <a:srgbClr val="000000"/>
                        </a:solidFill>
                        <a:effectLst/>
                        <a:latin typeface="Century Schoolbook" panose="02040604050505020304" pitchFamily="18" charset="0"/>
                      </a:endParaRPr>
                    </a:p>
                  </a:txBody>
                  <a:tcPr marL="3810" marR="3810" marT="3810" marB="0" anchor="ctr"/>
                </a:tc>
                <a:tc>
                  <a:txBody>
                    <a:bodyPr/>
                    <a:lstStyle/>
                    <a:p>
                      <a:pPr algn="ctr" rtl="0" fontAlgn="ctr"/>
                      <a:r>
                        <a:rPr lang="en-GB" sz="2400" u="none" strike="noStrike">
                          <a:effectLst/>
                        </a:rPr>
                        <a:t> </a:t>
                      </a:r>
                      <a:endParaRPr lang="en-GB" sz="2400" b="0" i="0" u="none" strike="noStrike">
                        <a:solidFill>
                          <a:srgbClr val="000000"/>
                        </a:solidFill>
                        <a:effectLst/>
                        <a:latin typeface="Century Schoolbook" panose="02040604050505020304" pitchFamily="18" charset="0"/>
                      </a:endParaRPr>
                    </a:p>
                  </a:txBody>
                  <a:tcPr marL="3810" marR="3810" marT="3810" marB="0" anchor="ctr"/>
                </a:tc>
                <a:extLst>
                  <a:ext uri="{0D108BD9-81ED-4DB2-BD59-A6C34878D82A}">
                    <a16:rowId xmlns:a16="http://schemas.microsoft.com/office/drawing/2014/main" val="928253353"/>
                  </a:ext>
                </a:extLst>
              </a:tr>
              <a:tr h="448524">
                <a:tc>
                  <a:txBody>
                    <a:bodyPr/>
                    <a:lstStyle/>
                    <a:p>
                      <a:pPr algn="ctr" rtl="0" fontAlgn="ctr"/>
                      <a:r>
                        <a:rPr lang="en-GB" sz="2400" u="none" strike="noStrike">
                          <a:effectLst/>
                        </a:rPr>
                        <a:t>1</a:t>
                      </a:r>
                      <a:endParaRPr lang="en-GB" sz="2400" b="0" i="0" u="none" strike="noStrike">
                        <a:solidFill>
                          <a:srgbClr val="000000"/>
                        </a:solidFill>
                        <a:effectLst/>
                        <a:latin typeface="Century Schoolbook" panose="02040604050505020304" pitchFamily="18" charset="0"/>
                      </a:endParaRPr>
                    </a:p>
                  </a:txBody>
                  <a:tcPr marL="3810" marR="3810" marT="3810" marB="0" anchor="ctr"/>
                </a:tc>
                <a:tc>
                  <a:txBody>
                    <a:bodyPr/>
                    <a:lstStyle/>
                    <a:p>
                      <a:pPr algn="ctr" fontAlgn="b"/>
                      <a:r>
                        <a:rPr lang="en-GB" sz="2400" u="none" strike="noStrike">
                          <a:effectLst/>
                        </a:rPr>
                        <a:t>50%</a:t>
                      </a:r>
                      <a:endParaRPr lang="en-GB" sz="2400" b="0" i="0" u="none" strike="noStrike">
                        <a:solidFill>
                          <a:srgbClr val="000000"/>
                        </a:solidFill>
                        <a:effectLst/>
                        <a:latin typeface="Calibri" panose="020F0502020204030204" pitchFamily="34" charset="0"/>
                      </a:endParaRPr>
                    </a:p>
                  </a:txBody>
                  <a:tcPr marL="3810" marR="3810" marT="3810" marB="0" anchor="b"/>
                </a:tc>
                <a:tc>
                  <a:txBody>
                    <a:bodyPr/>
                    <a:lstStyle/>
                    <a:p>
                      <a:pPr algn="ctr" rtl="0" fontAlgn="ctr"/>
                      <a:r>
                        <a:rPr lang="en-GB" sz="2400" u="none" strike="noStrike">
                          <a:effectLst/>
                        </a:rPr>
                        <a:t> $     806.00 </a:t>
                      </a:r>
                      <a:endParaRPr lang="en-GB" sz="2400" b="0" i="0" u="none" strike="noStrike">
                        <a:solidFill>
                          <a:srgbClr val="000000"/>
                        </a:solidFill>
                        <a:effectLst/>
                        <a:latin typeface="Century Schoolbook" panose="02040604050505020304" pitchFamily="18" charset="0"/>
                      </a:endParaRPr>
                    </a:p>
                  </a:txBody>
                  <a:tcPr marL="3810" marR="3810" marT="3810" marB="0" anchor="ctr"/>
                </a:tc>
                <a:tc>
                  <a:txBody>
                    <a:bodyPr/>
                    <a:lstStyle/>
                    <a:p>
                      <a:pPr algn="ctr" fontAlgn="b"/>
                      <a:r>
                        <a:rPr lang="en-GB" sz="2400" u="none" strike="noStrike">
                          <a:effectLst/>
                        </a:rPr>
                        <a:t>-48%</a:t>
                      </a:r>
                      <a:endParaRPr lang="en-GB" sz="2400" b="0" i="0" u="none" strike="noStrike">
                        <a:solidFill>
                          <a:srgbClr val="000000"/>
                        </a:solidFill>
                        <a:effectLst/>
                        <a:latin typeface="Calibri" panose="020F0502020204030204" pitchFamily="34" charset="0"/>
                      </a:endParaRPr>
                    </a:p>
                  </a:txBody>
                  <a:tcPr marL="3810" marR="3810" marT="3810" marB="0" anchor="b"/>
                </a:tc>
                <a:tc>
                  <a:txBody>
                    <a:bodyPr/>
                    <a:lstStyle/>
                    <a:p>
                      <a:pPr algn="ctr" rtl="0" fontAlgn="ctr"/>
                      <a:r>
                        <a:rPr lang="en-GB" sz="2400" u="none" strike="noStrike">
                          <a:effectLst/>
                        </a:rPr>
                        <a:t> $  -388.25 </a:t>
                      </a:r>
                      <a:endParaRPr lang="en-GB" sz="2400" b="0" i="0" u="none" strike="noStrike">
                        <a:solidFill>
                          <a:srgbClr val="000000"/>
                        </a:solidFill>
                        <a:effectLst/>
                        <a:latin typeface="Century Schoolbook" panose="02040604050505020304" pitchFamily="18" charset="0"/>
                      </a:endParaRPr>
                    </a:p>
                  </a:txBody>
                  <a:tcPr marL="3810" marR="3810" marT="3810" marB="0" anchor="ctr"/>
                </a:tc>
                <a:extLst>
                  <a:ext uri="{0D108BD9-81ED-4DB2-BD59-A6C34878D82A}">
                    <a16:rowId xmlns:a16="http://schemas.microsoft.com/office/drawing/2014/main" val="304865001"/>
                  </a:ext>
                </a:extLst>
              </a:tr>
              <a:tr h="466832">
                <a:tc>
                  <a:txBody>
                    <a:bodyPr/>
                    <a:lstStyle/>
                    <a:p>
                      <a:pPr algn="ctr" rtl="0" fontAlgn="ctr"/>
                      <a:r>
                        <a:rPr lang="en-GB" sz="2400" u="none" strike="noStrike">
                          <a:effectLst/>
                        </a:rPr>
                        <a:t>2</a:t>
                      </a:r>
                      <a:endParaRPr lang="en-GB" sz="2400" b="0" i="0" u="none" strike="noStrike">
                        <a:solidFill>
                          <a:srgbClr val="000000"/>
                        </a:solidFill>
                        <a:effectLst/>
                        <a:latin typeface="Century Schoolbook" panose="02040604050505020304" pitchFamily="18" charset="0"/>
                      </a:endParaRPr>
                    </a:p>
                  </a:txBody>
                  <a:tcPr marL="3810" marR="3810" marT="3810" marB="0" anchor="ctr"/>
                </a:tc>
                <a:tc>
                  <a:txBody>
                    <a:bodyPr/>
                    <a:lstStyle/>
                    <a:p>
                      <a:pPr algn="ctr" fontAlgn="b"/>
                      <a:r>
                        <a:rPr lang="en-GB" sz="2400" u="none" strike="noStrike">
                          <a:effectLst/>
                        </a:rPr>
                        <a:t>100%</a:t>
                      </a:r>
                      <a:endParaRPr lang="en-GB" sz="2400" b="0" i="0" u="none" strike="noStrike">
                        <a:solidFill>
                          <a:srgbClr val="000000"/>
                        </a:solidFill>
                        <a:effectLst/>
                        <a:latin typeface="Calibri" panose="020F0502020204030204" pitchFamily="34" charset="0"/>
                      </a:endParaRPr>
                    </a:p>
                  </a:txBody>
                  <a:tcPr marL="3810" marR="3810" marT="3810" marB="0" anchor="b"/>
                </a:tc>
                <a:tc>
                  <a:txBody>
                    <a:bodyPr/>
                    <a:lstStyle/>
                    <a:p>
                      <a:pPr algn="ctr" rtl="0" fontAlgn="ctr"/>
                      <a:r>
                        <a:rPr lang="en-GB" sz="2400" u="none" strike="noStrike">
                          <a:effectLst/>
                        </a:rPr>
                        <a:t> $  1,611.00 </a:t>
                      </a:r>
                      <a:endParaRPr lang="en-GB" sz="2400" b="0" i="0" u="none" strike="noStrike">
                        <a:solidFill>
                          <a:srgbClr val="000000"/>
                        </a:solidFill>
                        <a:effectLst/>
                        <a:latin typeface="Century Schoolbook" panose="02040604050505020304" pitchFamily="18" charset="0"/>
                      </a:endParaRPr>
                    </a:p>
                  </a:txBody>
                  <a:tcPr marL="3810" marR="3810" marT="3810" marB="0" anchor="ctr"/>
                </a:tc>
                <a:tc>
                  <a:txBody>
                    <a:bodyPr/>
                    <a:lstStyle/>
                    <a:p>
                      <a:pPr algn="ctr" fontAlgn="b"/>
                      <a:r>
                        <a:rPr lang="en-GB" sz="2400" u="none" strike="noStrike">
                          <a:effectLst/>
                        </a:rPr>
                        <a:t>-27%</a:t>
                      </a:r>
                      <a:endParaRPr lang="en-GB" sz="2400" b="0" i="0" u="none" strike="noStrike">
                        <a:solidFill>
                          <a:srgbClr val="000000"/>
                        </a:solidFill>
                        <a:effectLst/>
                        <a:latin typeface="Calibri" panose="020F0502020204030204" pitchFamily="34" charset="0"/>
                      </a:endParaRPr>
                    </a:p>
                  </a:txBody>
                  <a:tcPr marL="3810" marR="3810" marT="3810" marB="0" anchor="b"/>
                </a:tc>
                <a:tc>
                  <a:txBody>
                    <a:bodyPr/>
                    <a:lstStyle/>
                    <a:p>
                      <a:pPr algn="ctr" rtl="0" fontAlgn="ctr"/>
                      <a:r>
                        <a:rPr lang="en-GB" sz="2400" u="none" strike="noStrike">
                          <a:effectLst/>
                        </a:rPr>
                        <a:t> $  -438.35 </a:t>
                      </a:r>
                      <a:endParaRPr lang="en-GB" sz="2400" b="0" i="0" u="none" strike="noStrike">
                        <a:solidFill>
                          <a:srgbClr val="000000"/>
                        </a:solidFill>
                        <a:effectLst/>
                        <a:latin typeface="Century Schoolbook" panose="02040604050505020304" pitchFamily="18" charset="0"/>
                      </a:endParaRPr>
                    </a:p>
                  </a:txBody>
                  <a:tcPr marL="3810" marR="3810" marT="3810" marB="0" anchor="ctr"/>
                </a:tc>
                <a:extLst>
                  <a:ext uri="{0D108BD9-81ED-4DB2-BD59-A6C34878D82A}">
                    <a16:rowId xmlns:a16="http://schemas.microsoft.com/office/drawing/2014/main" val="755867394"/>
                  </a:ext>
                </a:extLst>
              </a:tr>
              <a:tr h="448524">
                <a:tc>
                  <a:txBody>
                    <a:bodyPr/>
                    <a:lstStyle/>
                    <a:p>
                      <a:pPr algn="ctr" rtl="0" fontAlgn="ctr"/>
                      <a:r>
                        <a:rPr lang="en-GB" sz="2400" u="none" strike="noStrike">
                          <a:effectLst/>
                        </a:rPr>
                        <a:t>3</a:t>
                      </a:r>
                      <a:endParaRPr lang="en-GB" sz="2400" b="0" i="0" u="none" strike="noStrike">
                        <a:solidFill>
                          <a:srgbClr val="000000"/>
                        </a:solidFill>
                        <a:effectLst/>
                        <a:latin typeface="Century Schoolbook" panose="02040604050505020304" pitchFamily="18" charset="0"/>
                      </a:endParaRPr>
                    </a:p>
                  </a:txBody>
                  <a:tcPr marL="3810" marR="3810" marT="3810" marB="0" anchor="ctr"/>
                </a:tc>
                <a:tc>
                  <a:txBody>
                    <a:bodyPr/>
                    <a:lstStyle/>
                    <a:p>
                      <a:pPr algn="ctr" fontAlgn="b"/>
                      <a:r>
                        <a:rPr lang="en-GB" sz="2400" u="none" strike="noStrike">
                          <a:effectLst/>
                        </a:rPr>
                        <a:t>80%</a:t>
                      </a:r>
                      <a:endParaRPr lang="en-GB" sz="2400" b="0" i="0" u="none" strike="noStrike">
                        <a:solidFill>
                          <a:srgbClr val="000000"/>
                        </a:solidFill>
                        <a:effectLst/>
                        <a:latin typeface="Calibri" panose="020F0502020204030204" pitchFamily="34" charset="0"/>
                      </a:endParaRPr>
                    </a:p>
                  </a:txBody>
                  <a:tcPr marL="3810" marR="3810" marT="3810" marB="0" anchor="b"/>
                </a:tc>
                <a:tc>
                  <a:txBody>
                    <a:bodyPr/>
                    <a:lstStyle/>
                    <a:p>
                      <a:pPr algn="ctr" rtl="0" fontAlgn="ctr"/>
                      <a:r>
                        <a:rPr lang="en-GB" sz="2400" u="none" strike="noStrike">
                          <a:effectLst/>
                        </a:rPr>
                        <a:t> $  2,900.00 </a:t>
                      </a:r>
                      <a:endParaRPr lang="en-GB" sz="2400" b="0" i="0" u="none" strike="noStrike">
                        <a:solidFill>
                          <a:srgbClr val="000000"/>
                        </a:solidFill>
                        <a:effectLst/>
                        <a:latin typeface="Century Schoolbook" panose="02040604050505020304" pitchFamily="18" charset="0"/>
                      </a:endParaRPr>
                    </a:p>
                  </a:txBody>
                  <a:tcPr marL="3810" marR="3810" marT="3810" marB="0" anchor="ctr"/>
                </a:tc>
                <a:tc>
                  <a:txBody>
                    <a:bodyPr/>
                    <a:lstStyle/>
                    <a:p>
                      <a:pPr algn="ctr" fontAlgn="b"/>
                      <a:r>
                        <a:rPr lang="en-GB" sz="2400" u="none" strike="noStrike">
                          <a:effectLst/>
                        </a:rPr>
                        <a:t>-13%</a:t>
                      </a:r>
                      <a:endParaRPr lang="en-GB" sz="2400" b="0" i="0" u="none" strike="noStrike">
                        <a:solidFill>
                          <a:srgbClr val="000000"/>
                        </a:solidFill>
                        <a:effectLst/>
                        <a:latin typeface="Calibri" panose="020F0502020204030204" pitchFamily="34" charset="0"/>
                      </a:endParaRPr>
                    </a:p>
                  </a:txBody>
                  <a:tcPr marL="3810" marR="3810" marT="3810" marB="0" anchor="b"/>
                </a:tc>
                <a:tc>
                  <a:txBody>
                    <a:bodyPr/>
                    <a:lstStyle/>
                    <a:p>
                      <a:pPr algn="ctr" rtl="0" fontAlgn="ctr"/>
                      <a:r>
                        <a:rPr lang="en-GB" sz="2400" u="none" strike="noStrike">
                          <a:effectLst/>
                        </a:rPr>
                        <a:t> $  -383.67 </a:t>
                      </a:r>
                      <a:endParaRPr lang="en-GB" sz="2400" b="0" i="0" u="none" strike="noStrike">
                        <a:solidFill>
                          <a:srgbClr val="000000"/>
                        </a:solidFill>
                        <a:effectLst/>
                        <a:latin typeface="Century Schoolbook" panose="02040604050505020304" pitchFamily="18" charset="0"/>
                      </a:endParaRPr>
                    </a:p>
                  </a:txBody>
                  <a:tcPr marL="3810" marR="3810" marT="3810" marB="0" anchor="ctr"/>
                </a:tc>
                <a:extLst>
                  <a:ext uri="{0D108BD9-81ED-4DB2-BD59-A6C34878D82A}">
                    <a16:rowId xmlns:a16="http://schemas.microsoft.com/office/drawing/2014/main" val="1547623335"/>
                  </a:ext>
                </a:extLst>
              </a:tr>
              <a:tr h="448524">
                <a:tc>
                  <a:txBody>
                    <a:bodyPr/>
                    <a:lstStyle/>
                    <a:p>
                      <a:pPr algn="ctr" rtl="0" fontAlgn="ctr"/>
                      <a:r>
                        <a:rPr lang="en-GB" sz="2400" u="none" strike="noStrike">
                          <a:effectLst/>
                        </a:rPr>
                        <a:t>4</a:t>
                      </a:r>
                      <a:endParaRPr lang="en-GB" sz="2400" b="0" i="0" u="none" strike="noStrike">
                        <a:solidFill>
                          <a:srgbClr val="000000"/>
                        </a:solidFill>
                        <a:effectLst/>
                        <a:latin typeface="Century Schoolbook" panose="02040604050505020304" pitchFamily="18" charset="0"/>
                      </a:endParaRPr>
                    </a:p>
                  </a:txBody>
                  <a:tcPr marL="3810" marR="3810" marT="3810" marB="0" anchor="ctr"/>
                </a:tc>
                <a:tc>
                  <a:txBody>
                    <a:bodyPr/>
                    <a:lstStyle/>
                    <a:p>
                      <a:pPr algn="ctr" fontAlgn="b"/>
                      <a:r>
                        <a:rPr lang="en-GB" sz="2400" u="none" strike="noStrike">
                          <a:effectLst/>
                        </a:rPr>
                        <a:t>60%</a:t>
                      </a:r>
                      <a:endParaRPr lang="en-GB" sz="2400" b="0" i="0" u="none" strike="noStrike">
                        <a:solidFill>
                          <a:srgbClr val="000000"/>
                        </a:solidFill>
                        <a:effectLst/>
                        <a:latin typeface="Calibri" panose="020F0502020204030204" pitchFamily="34" charset="0"/>
                      </a:endParaRPr>
                    </a:p>
                  </a:txBody>
                  <a:tcPr marL="3810" marR="3810" marT="3810" marB="0" anchor="b"/>
                </a:tc>
                <a:tc>
                  <a:txBody>
                    <a:bodyPr/>
                    <a:lstStyle/>
                    <a:p>
                      <a:pPr algn="ctr" rtl="0" fontAlgn="ctr"/>
                      <a:r>
                        <a:rPr lang="en-GB" sz="2400" u="none" strike="noStrike">
                          <a:effectLst/>
                        </a:rPr>
                        <a:t> $  4,640.00 </a:t>
                      </a:r>
                      <a:endParaRPr lang="en-GB" sz="2400" b="0" i="0" u="none" strike="noStrike">
                        <a:solidFill>
                          <a:srgbClr val="000000"/>
                        </a:solidFill>
                        <a:effectLst/>
                        <a:latin typeface="Century Schoolbook" panose="02040604050505020304" pitchFamily="18" charset="0"/>
                      </a:endParaRPr>
                    </a:p>
                  </a:txBody>
                  <a:tcPr marL="3810" marR="3810" marT="3810" marB="0" anchor="ctr"/>
                </a:tc>
                <a:tc>
                  <a:txBody>
                    <a:bodyPr/>
                    <a:lstStyle/>
                    <a:p>
                      <a:pPr algn="ctr" fontAlgn="b"/>
                      <a:r>
                        <a:rPr lang="en-GB" sz="2400" u="none" strike="noStrike">
                          <a:effectLst/>
                        </a:rPr>
                        <a:t>-4%</a:t>
                      </a:r>
                      <a:endParaRPr lang="en-GB" sz="2400" b="0" i="0" u="none" strike="noStrike">
                        <a:solidFill>
                          <a:srgbClr val="000000"/>
                        </a:solidFill>
                        <a:effectLst/>
                        <a:latin typeface="Calibri" panose="020F0502020204030204" pitchFamily="34" charset="0"/>
                      </a:endParaRPr>
                    </a:p>
                  </a:txBody>
                  <a:tcPr marL="3810" marR="3810" marT="3810" marB="0" anchor="b"/>
                </a:tc>
                <a:tc>
                  <a:txBody>
                    <a:bodyPr/>
                    <a:lstStyle/>
                    <a:p>
                      <a:pPr algn="ctr" rtl="0" fontAlgn="ctr"/>
                      <a:r>
                        <a:rPr lang="en-GB" sz="2400" u="none" strike="noStrike">
                          <a:effectLst/>
                        </a:rPr>
                        <a:t> $  -181.42 </a:t>
                      </a:r>
                      <a:endParaRPr lang="en-GB" sz="2400" b="0" i="0" u="none" strike="noStrike">
                        <a:solidFill>
                          <a:srgbClr val="000000"/>
                        </a:solidFill>
                        <a:effectLst/>
                        <a:latin typeface="Century Schoolbook" panose="02040604050505020304" pitchFamily="18" charset="0"/>
                      </a:endParaRPr>
                    </a:p>
                  </a:txBody>
                  <a:tcPr marL="3810" marR="3810" marT="3810" marB="0" anchor="ctr"/>
                </a:tc>
                <a:extLst>
                  <a:ext uri="{0D108BD9-81ED-4DB2-BD59-A6C34878D82A}">
                    <a16:rowId xmlns:a16="http://schemas.microsoft.com/office/drawing/2014/main" val="3175128354"/>
                  </a:ext>
                </a:extLst>
              </a:tr>
              <a:tr h="448524">
                <a:tc>
                  <a:txBody>
                    <a:bodyPr/>
                    <a:lstStyle/>
                    <a:p>
                      <a:pPr algn="ctr" rtl="0" fontAlgn="ctr"/>
                      <a:r>
                        <a:rPr lang="en-GB" sz="2400" u="none" strike="noStrike">
                          <a:effectLst/>
                        </a:rPr>
                        <a:t>5</a:t>
                      </a:r>
                      <a:endParaRPr lang="en-GB" sz="2400" b="0" i="0" u="none" strike="noStrike">
                        <a:solidFill>
                          <a:srgbClr val="000000"/>
                        </a:solidFill>
                        <a:effectLst/>
                        <a:latin typeface="Century Schoolbook" panose="02040604050505020304" pitchFamily="18" charset="0"/>
                      </a:endParaRPr>
                    </a:p>
                  </a:txBody>
                  <a:tcPr marL="3810" marR="3810" marT="3810" marB="0" anchor="ctr"/>
                </a:tc>
                <a:tc>
                  <a:txBody>
                    <a:bodyPr/>
                    <a:lstStyle/>
                    <a:p>
                      <a:pPr algn="ctr" fontAlgn="b"/>
                      <a:r>
                        <a:rPr lang="en-GB" sz="2400" u="none" strike="noStrike">
                          <a:effectLst/>
                        </a:rPr>
                        <a:t>40%</a:t>
                      </a:r>
                      <a:endParaRPr lang="en-GB" sz="2400" b="0" i="0" u="none" strike="noStrike">
                        <a:solidFill>
                          <a:srgbClr val="000000"/>
                        </a:solidFill>
                        <a:effectLst/>
                        <a:latin typeface="Calibri" panose="020F0502020204030204" pitchFamily="34" charset="0"/>
                      </a:endParaRPr>
                    </a:p>
                  </a:txBody>
                  <a:tcPr marL="3810" marR="3810" marT="3810" marB="0" anchor="b"/>
                </a:tc>
                <a:tc>
                  <a:txBody>
                    <a:bodyPr/>
                    <a:lstStyle/>
                    <a:p>
                      <a:pPr algn="ctr" rtl="0" fontAlgn="ctr"/>
                      <a:r>
                        <a:rPr lang="en-GB" sz="2400" u="none" strike="noStrike">
                          <a:effectLst/>
                        </a:rPr>
                        <a:t> $  6,496.00 </a:t>
                      </a:r>
                      <a:endParaRPr lang="en-GB" sz="2400" b="0" i="0" u="none" strike="noStrike">
                        <a:solidFill>
                          <a:srgbClr val="000000"/>
                        </a:solidFill>
                        <a:effectLst/>
                        <a:latin typeface="Century Schoolbook" panose="02040604050505020304" pitchFamily="18" charset="0"/>
                      </a:endParaRPr>
                    </a:p>
                  </a:txBody>
                  <a:tcPr marL="3810" marR="3810" marT="3810" marB="0" anchor="ctr"/>
                </a:tc>
                <a:tc>
                  <a:txBody>
                    <a:bodyPr/>
                    <a:lstStyle/>
                    <a:p>
                      <a:pPr algn="ctr" fontAlgn="b"/>
                      <a:r>
                        <a:rPr lang="en-GB" sz="2400" u="none" strike="noStrike">
                          <a:effectLst/>
                        </a:rPr>
                        <a:t>2%</a:t>
                      </a:r>
                      <a:endParaRPr lang="en-GB" sz="2400" b="0" i="0" u="none" strike="noStrike">
                        <a:solidFill>
                          <a:srgbClr val="000000"/>
                        </a:solidFill>
                        <a:effectLst/>
                        <a:latin typeface="Calibri" panose="020F0502020204030204" pitchFamily="34" charset="0"/>
                      </a:endParaRPr>
                    </a:p>
                  </a:txBody>
                  <a:tcPr marL="3810" marR="3810" marT="3810" marB="0" anchor="b"/>
                </a:tc>
                <a:tc>
                  <a:txBody>
                    <a:bodyPr/>
                    <a:lstStyle/>
                    <a:p>
                      <a:pPr algn="ctr" rtl="0" fontAlgn="ctr"/>
                      <a:r>
                        <a:rPr lang="en-GB" sz="2400" u="none" strike="noStrike">
                          <a:effectLst/>
                        </a:rPr>
                        <a:t> $   149.41 </a:t>
                      </a:r>
                      <a:endParaRPr lang="en-GB" sz="2400" b="0" i="0" u="none" strike="noStrike">
                        <a:solidFill>
                          <a:srgbClr val="000000"/>
                        </a:solidFill>
                        <a:effectLst/>
                        <a:latin typeface="Century Schoolbook" panose="02040604050505020304" pitchFamily="18" charset="0"/>
                      </a:endParaRPr>
                    </a:p>
                  </a:txBody>
                  <a:tcPr marL="3810" marR="3810" marT="3810" marB="0" anchor="ctr"/>
                </a:tc>
                <a:extLst>
                  <a:ext uri="{0D108BD9-81ED-4DB2-BD59-A6C34878D82A}">
                    <a16:rowId xmlns:a16="http://schemas.microsoft.com/office/drawing/2014/main" val="3171984439"/>
                  </a:ext>
                </a:extLst>
              </a:tr>
              <a:tr h="448524">
                <a:tc>
                  <a:txBody>
                    <a:bodyPr/>
                    <a:lstStyle/>
                    <a:p>
                      <a:pPr algn="ctr" rtl="0" fontAlgn="ctr"/>
                      <a:r>
                        <a:rPr lang="en-GB" sz="2400" u="none" strike="noStrike">
                          <a:effectLst/>
                        </a:rPr>
                        <a:t>6</a:t>
                      </a:r>
                      <a:endParaRPr lang="en-GB" sz="2400" b="0" i="0" u="none" strike="noStrike">
                        <a:solidFill>
                          <a:srgbClr val="000000"/>
                        </a:solidFill>
                        <a:effectLst/>
                        <a:latin typeface="Century Schoolbook" panose="02040604050505020304" pitchFamily="18" charset="0"/>
                      </a:endParaRPr>
                    </a:p>
                  </a:txBody>
                  <a:tcPr marL="3810" marR="3810" marT="3810" marB="0" anchor="ctr"/>
                </a:tc>
                <a:tc>
                  <a:txBody>
                    <a:bodyPr/>
                    <a:lstStyle/>
                    <a:p>
                      <a:pPr algn="ctr" fontAlgn="b"/>
                      <a:r>
                        <a:rPr lang="en-GB" sz="2400" u="none" strike="noStrike">
                          <a:effectLst/>
                        </a:rPr>
                        <a:t>35%</a:t>
                      </a:r>
                      <a:endParaRPr lang="en-GB" sz="2400" b="0" i="0" u="none" strike="noStrike">
                        <a:solidFill>
                          <a:srgbClr val="000000"/>
                        </a:solidFill>
                        <a:effectLst/>
                        <a:latin typeface="Calibri" panose="020F0502020204030204" pitchFamily="34" charset="0"/>
                      </a:endParaRPr>
                    </a:p>
                  </a:txBody>
                  <a:tcPr marL="3810" marR="3810" marT="3810" marB="0" anchor="b"/>
                </a:tc>
                <a:tc>
                  <a:txBody>
                    <a:bodyPr/>
                    <a:lstStyle/>
                    <a:p>
                      <a:pPr algn="ctr" rtl="0" fontAlgn="ctr"/>
                      <a:r>
                        <a:rPr lang="en-GB" sz="2400" u="none" strike="noStrike">
                          <a:effectLst/>
                        </a:rPr>
                        <a:t> $  8,770.00 </a:t>
                      </a:r>
                      <a:endParaRPr lang="en-GB" sz="2400" b="0" i="0" u="none" strike="noStrike">
                        <a:solidFill>
                          <a:srgbClr val="000000"/>
                        </a:solidFill>
                        <a:effectLst/>
                        <a:latin typeface="Century Schoolbook" panose="02040604050505020304" pitchFamily="18" charset="0"/>
                      </a:endParaRPr>
                    </a:p>
                  </a:txBody>
                  <a:tcPr marL="3810" marR="3810" marT="3810" marB="0" anchor="ctr"/>
                </a:tc>
                <a:tc>
                  <a:txBody>
                    <a:bodyPr/>
                    <a:lstStyle/>
                    <a:p>
                      <a:pPr algn="ctr" fontAlgn="b"/>
                      <a:r>
                        <a:rPr lang="en-GB" sz="2400" u="none" strike="noStrike">
                          <a:effectLst/>
                        </a:rPr>
                        <a:t>6%</a:t>
                      </a:r>
                      <a:endParaRPr lang="en-GB" sz="2400" b="0" i="0" u="none" strike="noStrike">
                        <a:solidFill>
                          <a:srgbClr val="000000"/>
                        </a:solidFill>
                        <a:effectLst/>
                        <a:latin typeface="Calibri" panose="020F0502020204030204" pitchFamily="34" charset="0"/>
                      </a:endParaRPr>
                    </a:p>
                  </a:txBody>
                  <a:tcPr marL="3810" marR="3810" marT="3810" marB="0" anchor="b"/>
                </a:tc>
                <a:tc>
                  <a:txBody>
                    <a:bodyPr/>
                    <a:lstStyle/>
                    <a:p>
                      <a:pPr algn="ctr" rtl="0" fontAlgn="ctr"/>
                      <a:r>
                        <a:rPr lang="en-GB" sz="2400" u="none" strike="noStrike">
                          <a:effectLst/>
                        </a:rPr>
                        <a:t> $   564.79 </a:t>
                      </a:r>
                      <a:endParaRPr lang="en-GB" sz="2400" b="0" i="0" u="none" strike="noStrike">
                        <a:solidFill>
                          <a:srgbClr val="000000"/>
                        </a:solidFill>
                        <a:effectLst/>
                        <a:latin typeface="Century Schoolbook" panose="02040604050505020304" pitchFamily="18" charset="0"/>
                      </a:endParaRPr>
                    </a:p>
                  </a:txBody>
                  <a:tcPr marL="3810" marR="3810" marT="3810" marB="0" anchor="ctr"/>
                </a:tc>
                <a:extLst>
                  <a:ext uri="{0D108BD9-81ED-4DB2-BD59-A6C34878D82A}">
                    <a16:rowId xmlns:a16="http://schemas.microsoft.com/office/drawing/2014/main" val="1911007688"/>
                  </a:ext>
                </a:extLst>
              </a:tr>
              <a:tr h="448524">
                <a:tc>
                  <a:txBody>
                    <a:bodyPr/>
                    <a:lstStyle/>
                    <a:p>
                      <a:pPr algn="ctr" rtl="0" fontAlgn="ctr"/>
                      <a:r>
                        <a:rPr lang="en-GB" sz="2400" u="none" strike="noStrike">
                          <a:effectLst/>
                        </a:rPr>
                        <a:t>7</a:t>
                      </a:r>
                      <a:endParaRPr lang="en-GB" sz="2400" b="0" i="0" u="none" strike="noStrike">
                        <a:solidFill>
                          <a:srgbClr val="000000"/>
                        </a:solidFill>
                        <a:effectLst/>
                        <a:latin typeface="Century Schoolbook" panose="02040604050505020304" pitchFamily="18" charset="0"/>
                      </a:endParaRPr>
                    </a:p>
                  </a:txBody>
                  <a:tcPr marL="3810" marR="3810" marT="3810" marB="0" anchor="ctr"/>
                </a:tc>
                <a:tc>
                  <a:txBody>
                    <a:bodyPr/>
                    <a:lstStyle/>
                    <a:p>
                      <a:pPr algn="ctr" fontAlgn="b"/>
                      <a:r>
                        <a:rPr lang="en-GB" sz="2400" u="none" strike="noStrike">
                          <a:effectLst/>
                        </a:rPr>
                        <a:t>30%</a:t>
                      </a:r>
                      <a:endParaRPr lang="en-GB" sz="2400" b="0" i="0" u="none" strike="noStrike">
                        <a:solidFill>
                          <a:srgbClr val="000000"/>
                        </a:solidFill>
                        <a:effectLst/>
                        <a:latin typeface="Calibri" panose="020F0502020204030204" pitchFamily="34" charset="0"/>
                      </a:endParaRPr>
                    </a:p>
                  </a:txBody>
                  <a:tcPr marL="3810" marR="3810" marT="3810" marB="0" anchor="b"/>
                </a:tc>
                <a:tc>
                  <a:txBody>
                    <a:bodyPr/>
                    <a:lstStyle/>
                    <a:p>
                      <a:pPr algn="ctr" rtl="0" fontAlgn="ctr"/>
                      <a:r>
                        <a:rPr lang="en-GB" sz="2400" u="none" strike="noStrike">
                          <a:effectLst/>
                        </a:rPr>
                        <a:t> $11,401.00 </a:t>
                      </a:r>
                      <a:endParaRPr lang="en-GB" sz="2400" b="0" i="0" u="none" strike="noStrike">
                        <a:solidFill>
                          <a:srgbClr val="000000"/>
                        </a:solidFill>
                        <a:effectLst/>
                        <a:latin typeface="Century Schoolbook" panose="02040604050505020304" pitchFamily="18" charset="0"/>
                      </a:endParaRPr>
                    </a:p>
                  </a:txBody>
                  <a:tcPr marL="3810" marR="3810" marT="3810" marB="0" anchor="ctr"/>
                </a:tc>
                <a:tc>
                  <a:txBody>
                    <a:bodyPr/>
                    <a:lstStyle/>
                    <a:p>
                      <a:pPr algn="ctr" fontAlgn="b"/>
                      <a:r>
                        <a:rPr lang="en-GB" sz="2400" u="none" strike="noStrike">
                          <a:effectLst/>
                        </a:rPr>
                        <a:t>9%</a:t>
                      </a:r>
                      <a:endParaRPr lang="en-GB" sz="2400" b="0" i="0" u="none" strike="noStrike">
                        <a:solidFill>
                          <a:srgbClr val="000000"/>
                        </a:solidFill>
                        <a:effectLst/>
                        <a:latin typeface="Calibri" panose="020F0502020204030204" pitchFamily="34" charset="0"/>
                      </a:endParaRPr>
                    </a:p>
                  </a:txBody>
                  <a:tcPr marL="3810" marR="3810" marT="3810" marB="0" anchor="b"/>
                </a:tc>
                <a:tc>
                  <a:txBody>
                    <a:bodyPr/>
                    <a:lstStyle/>
                    <a:p>
                      <a:pPr algn="ctr" rtl="0" fontAlgn="ctr"/>
                      <a:r>
                        <a:rPr lang="en-GB" sz="2400" u="none" strike="noStrike">
                          <a:effectLst/>
                        </a:rPr>
                        <a:t> $1,048.89 </a:t>
                      </a:r>
                      <a:endParaRPr lang="en-GB" sz="2400" b="0" i="0" u="none" strike="noStrike">
                        <a:solidFill>
                          <a:srgbClr val="000000"/>
                        </a:solidFill>
                        <a:effectLst/>
                        <a:latin typeface="Century Schoolbook" panose="02040604050505020304" pitchFamily="18" charset="0"/>
                      </a:endParaRPr>
                    </a:p>
                  </a:txBody>
                  <a:tcPr marL="3810" marR="3810" marT="3810" marB="0" anchor="ctr"/>
                </a:tc>
                <a:extLst>
                  <a:ext uri="{0D108BD9-81ED-4DB2-BD59-A6C34878D82A}">
                    <a16:rowId xmlns:a16="http://schemas.microsoft.com/office/drawing/2014/main" val="2331342609"/>
                  </a:ext>
                </a:extLst>
              </a:tr>
              <a:tr h="448524">
                <a:tc>
                  <a:txBody>
                    <a:bodyPr/>
                    <a:lstStyle/>
                    <a:p>
                      <a:pPr algn="ctr" rtl="0" fontAlgn="ctr"/>
                      <a:r>
                        <a:rPr lang="en-GB" sz="2400" u="none" strike="noStrike">
                          <a:effectLst/>
                        </a:rPr>
                        <a:t>8</a:t>
                      </a:r>
                      <a:endParaRPr lang="en-GB" sz="2400" b="0" i="0" u="none" strike="noStrike">
                        <a:solidFill>
                          <a:srgbClr val="000000"/>
                        </a:solidFill>
                        <a:effectLst/>
                        <a:latin typeface="Century Schoolbook" panose="02040604050505020304" pitchFamily="18" charset="0"/>
                      </a:endParaRPr>
                    </a:p>
                  </a:txBody>
                  <a:tcPr marL="3810" marR="3810" marT="3810" marB="0" anchor="ctr"/>
                </a:tc>
                <a:tc>
                  <a:txBody>
                    <a:bodyPr/>
                    <a:lstStyle/>
                    <a:p>
                      <a:pPr algn="ctr" fontAlgn="b"/>
                      <a:r>
                        <a:rPr lang="en-GB" sz="2400" u="none" strike="noStrike">
                          <a:effectLst/>
                        </a:rPr>
                        <a:t>20%</a:t>
                      </a:r>
                      <a:endParaRPr lang="en-GB" sz="2400" b="0" i="0" u="none" strike="noStrike">
                        <a:solidFill>
                          <a:srgbClr val="000000"/>
                        </a:solidFill>
                        <a:effectLst/>
                        <a:latin typeface="Calibri" panose="020F0502020204030204" pitchFamily="34" charset="0"/>
                      </a:endParaRPr>
                    </a:p>
                  </a:txBody>
                  <a:tcPr marL="3810" marR="3810" marT="3810" marB="0" anchor="b"/>
                </a:tc>
                <a:tc>
                  <a:txBody>
                    <a:bodyPr/>
                    <a:lstStyle/>
                    <a:p>
                      <a:pPr algn="ctr" rtl="0" fontAlgn="ctr"/>
                      <a:r>
                        <a:rPr lang="en-GB" sz="2400" u="none" strike="noStrike">
                          <a:effectLst/>
                        </a:rPr>
                        <a:t> $13,681.00 </a:t>
                      </a:r>
                      <a:endParaRPr lang="en-GB" sz="2400" b="0" i="0" u="none" strike="noStrike">
                        <a:solidFill>
                          <a:srgbClr val="000000"/>
                        </a:solidFill>
                        <a:effectLst/>
                        <a:latin typeface="Century Schoolbook" panose="02040604050505020304" pitchFamily="18" charset="0"/>
                      </a:endParaRPr>
                    </a:p>
                  </a:txBody>
                  <a:tcPr marL="3810" marR="3810" marT="3810" marB="0" anchor="ctr"/>
                </a:tc>
                <a:tc>
                  <a:txBody>
                    <a:bodyPr/>
                    <a:lstStyle/>
                    <a:p>
                      <a:pPr algn="ctr" fontAlgn="b"/>
                      <a:r>
                        <a:rPr lang="en-GB" sz="2400" u="none" strike="noStrike">
                          <a:effectLst/>
                        </a:rPr>
                        <a:t>11%</a:t>
                      </a:r>
                      <a:endParaRPr lang="en-GB" sz="2400" b="0" i="0" u="none" strike="noStrike">
                        <a:solidFill>
                          <a:srgbClr val="000000"/>
                        </a:solidFill>
                        <a:effectLst/>
                        <a:latin typeface="Calibri" panose="020F0502020204030204" pitchFamily="34" charset="0"/>
                      </a:endParaRPr>
                    </a:p>
                  </a:txBody>
                  <a:tcPr marL="3810" marR="3810" marT="3810" marB="0" anchor="b"/>
                </a:tc>
                <a:tc>
                  <a:txBody>
                    <a:bodyPr/>
                    <a:lstStyle/>
                    <a:p>
                      <a:pPr algn="ctr" rtl="0" fontAlgn="ctr"/>
                      <a:r>
                        <a:rPr lang="en-GB" sz="2400" u="none" strike="noStrike">
                          <a:effectLst/>
                        </a:rPr>
                        <a:t> $1,510.38 </a:t>
                      </a:r>
                      <a:endParaRPr lang="en-GB" sz="2400" b="0" i="0" u="none" strike="noStrike">
                        <a:solidFill>
                          <a:srgbClr val="000000"/>
                        </a:solidFill>
                        <a:effectLst/>
                        <a:latin typeface="Century Schoolbook" panose="02040604050505020304" pitchFamily="18" charset="0"/>
                      </a:endParaRPr>
                    </a:p>
                  </a:txBody>
                  <a:tcPr marL="3810" marR="3810" marT="3810" marB="0" anchor="ctr"/>
                </a:tc>
                <a:extLst>
                  <a:ext uri="{0D108BD9-81ED-4DB2-BD59-A6C34878D82A}">
                    <a16:rowId xmlns:a16="http://schemas.microsoft.com/office/drawing/2014/main" val="507639002"/>
                  </a:ext>
                </a:extLst>
              </a:tr>
              <a:tr h="448524">
                <a:tc>
                  <a:txBody>
                    <a:bodyPr/>
                    <a:lstStyle/>
                    <a:p>
                      <a:pPr algn="ctr" rtl="0" fontAlgn="ctr"/>
                      <a:r>
                        <a:rPr lang="en-GB" sz="2400" u="none" strike="noStrike">
                          <a:effectLst/>
                        </a:rPr>
                        <a:t>9</a:t>
                      </a:r>
                      <a:endParaRPr lang="en-GB" sz="2400" b="0" i="0" u="none" strike="noStrike">
                        <a:solidFill>
                          <a:srgbClr val="000000"/>
                        </a:solidFill>
                        <a:effectLst/>
                        <a:latin typeface="Century Schoolbook" panose="02040604050505020304" pitchFamily="18" charset="0"/>
                      </a:endParaRPr>
                    </a:p>
                  </a:txBody>
                  <a:tcPr marL="3810" marR="3810" marT="3810" marB="0" anchor="ctr"/>
                </a:tc>
                <a:tc>
                  <a:txBody>
                    <a:bodyPr/>
                    <a:lstStyle/>
                    <a:p>
                      <a:pPr algn="ctr" fontAlgn="b"/>
                      <a:r>
                        <a:rPr lang="en-GB" sz="2400" u="none" strike="noStrike">
                          <a:effectLst/>
                        </a:rPr>
                        <a:t>10%</a:t>
                      </a:r>
                      <a:endParaRPr lang="en-GB" sz="2400" b="0" i="0" u="none" strike="noStrike">
                        <a:solidFill>
                          <a:srgbClr val="000000"/>
                        </a:solidFill>
                        <a:effectLst/>
                        <a:latin typeface="Calibri" panose="020F0502020204030204" pitchFamily="34" charset="0"/>
                      </a:endParaRPr>
                    </a:p>
                  </a:txBody>
                  <a:tcPr marL="3810" marR="3810" marT="3810" marB="0" anchor="b"/>
                </a:tc>
                <a:tc>
                  <a:txBody>
                    <a:bodyPr/>
                    <a:lstStyle/>
                    <a:p>
                      <a:pPr algn="ctr" rtl="0" fontAlgn="ctr"/>
                      <a:r>
                        <a:rPr lang="en-GB" sz="2400" u="none" strike="noStrike">
                          <a:effectLst/>
                        </a:rPr>
                        <a:t> $15,049.00 </a:t>
                      </a:r>
                      <a:endParaRPr lang="en-GB" sz="2400" b="0" i="0" u="none" strike="noStrike">
                        <a:solidFill>
                          <a:srgbClr val="000000"/>
                        </a:solidFill>
                        <a:effectLst/>
                        <a:latin typeface="Century Schoolbook" panose="02040604050505020304" pitchFamily="18" charset="0"/>
                      </a:endParaRPr>
                    </a:p>
                  </a:txBody>
                  <a:tcPr marL="3810" marR="3810" marT="3810" marB="0" anchor="ctr"/>
                </a:tc>
                <a:tc>
                  <a:txBody>
                    <a:bodyPr/>
                    <a:lstStyle/>
                    <a:p>
                      <a:pPr algn="ctr" fontAlgn="b"/>
                      <a:r>
                        <a:rPr lang="en-GB" sz="2400" u="none" strike="noStrike">
                          <a:effectLst/>
                        </a:rPr>
                        <a:t>12%</a:t>
                      </a:r>
                      <a:endParaRPr lang="en-GB" sz="2400" b="0" i="0" u="none" strike="noStrike">
                        <a:solidFill>
                          <a:srgbClr val="000000"/>
                        </a:solidFill>
                        <a:effectLst/>
                        <a:latin typeface="Calibri" panose="020F0502020204030204" pitchFamily="34" charset="0"/>
                      </a:endParaRPr>
                    </a:p>
                  </a:txBody>
                  <a:tcPr marL="3810" marR="3810" marT="3810" marB="0" anchor="b"/>
                </a:tc>
                <a:tc>
                  <a:txBody>
                    <a:bodyPr/>
                    <a:lstStyle/>
                    <a:p>
                      <a:pPr algn="ctr" rtl="0" fontAlgn="ctr"/>
                      <a:r>
                        <a:rPr lang="en-GB" sz="2400" u="none" strike="noStrike">
                          <a:effectLst/>
                        </a:rPr>
                        <a:t> $1,846.51 </a:t>
                      </a:r>
                      <a:endParaRPr lang="en-GB" sz="2400" b="0" i="0" u="none" strike="noStrike">
                        <a:solidFill>
                          <a:srgbClr val="000000"/>
                        </a:solidFill>
                        <a:effectLst/>
                        <a:latin typeface="Century Schoolbook" panose="02040604050505020304" pitchFamily="18" charset="0"/>
                      </a:endParaRPr>
                    </a:p>
                  </a:txBody>
                  <a:tcPr marL="3810" marR="3810" marT="3810" marB="0" anchor="ctr"/>
                </a:tc>
                <a:extLst>
                  <a:ext uri="{0D108BD9-81ED-4DB2-BD59-A6C34878D82A}">
                    <a16:rowId xmlns:a16="http://schemas.microsoft.com/office/drawing/2014/main" val="4148402766"/>
                  </a:ext>
                </a:extLst>
              </a:tr>
              <a:tr h="448524">
                <a:tc>
                  <a:txBody>
                    <a:bodyPr/>
                    <a:lstStyle/>
                    <a:p>
                      <a:pPr algn="ctr" rtl="0" fontAlgn="ctr"/>
                      <a:r>
                        <a:rPr lang="en-GB" sz="2400" u="none" strike="noStrike">
                          <a:effectLst/>
                        </a:rPr>
                        <a:t>10</a:t>
                      </a:r>
                      <a:endParaRPr lang="en-GB" sz="2400" b="0" i="0" u="none" strike="noStrike">
                        <a:solidFill>
                          <a:srgbClr val="000000"/>
                        </a:solidFill>
                        <a:effectLst/>
                        <a:latin typeface="Century Schoolbook" panose="02040604050505020304" pitchFamily="18" charset="0"/>
                      </a:endParaRPr>
                    </a:p>
                  </a:txBody>
                  <a:tcPr marL="3810" marR="3810" marT="3810" marB="0" anchor="ctr"/>
                </a:tc>
                <a:tc>
                  <a:txBody>
                    <a:bodyPr/>
                    <a:lstStyle/>
                    <a:p>
                      <a:pPr algn="ctr" fontAlgn="b"/>
                      <a:r>
                        <a:rPr lang="en-GB" sz="2400" u="none" strike="noStrike">
                          <a:effectLst/>
                        </a:rPr>
                        <a:t>5%</a:t>
                      </a:r>
                      <a:endParaRPr lang="en-GB" sz="2400" b="0" i="0" u="none" strike="noStrike">
                        <a:solidFill>
                          <a:srgbClr val="000000"/>
                        </a:solidFill>
                        <a:effectLst/>
                        <a:latin typeface="Calibri" panose="020F0502020204030204" pitchFamily="34" charset="0"/>
                      </a:endParaRPr>
                    </a:p>
                  </a:txBody>
                  <a:tcPr marL="3810" marR="3810" marT="3810" marB="0" anchor="b"/>
                </a:tc>
                <a:tc>
                  <a:txBody>
                    <a:bodyPr/>
                    <a:lstStyle/>
                    <a:p>
                      <a:pPr algn="ctr" rtl="0" fontAlgn="ctr"/>
                      <a:r>
                        <a:rPr lang="en-GB" sz="2400" u="none" strike="noStrike">
                          <a:effectLst/>
                        </a:rPr>
                        <a:t> $15,802.00 </a:t>
                      </a:r>
                      <a:endParaRPr lang="en-GB" sz="2400" b="0" i="0" u="none" strike="noStrike">
                        <a:solidFill>
                          <a:srgbClr val="000000"/>
                        </a:solidFill>
                        <a:effectLst/>
                        <a:latin typeface="Century Schoolbook" panose="02040604050505020304" pitchFamily="18" charset="0"/>
                      </a:endParaRPr>
                    </a:p>
                  </a:txBody>
                  <a:tcPr marL="3810" marR="3810" marT="3810" marB="0" anchor="ctr"/>
                </a:tc>
                <a:tc>
                  <a:txBody>
                    <a:bodyPr/>
                    <a:lstStyle/>
                    <a:p>
                      <a:pPr algn="ctr" fontAlgn="b"/>
                      <a:r>
                        <a:rPr lang="en-GB" sz="2400" u="none" strike="noStrike">
                          <a:effectLst/>
                        </a:rPr>
                        <a:t>13%</a:t>
                      </a:r>
                      <a:endParaRPr lang="en-GB" sz="2400" b="0" i="0" u="none" strike="noStrike">
                        <a:solidFill>
                          <a:srgbClr val="000000"/>
                        </a:solidFill>
                        <a:effectLst/>
                        <a:latin typeface="Calibri" panose="020F0502020204030204" pitchFamily="34" charset="0"/>
                      </a:endParaRPr>
                    </a:p>
                  </a:txBody>
                  <a:tcPr marL="3810" marR="3810" marT="3810" marB="0" anchor="b"/>
                </a:tc>
                <a:tc>
                  <a:txBody>
                    <a:bodyPr/>
                    <a:lstStyle/>
                    <a:p>
                      <a:pPr algn="ctr" rtl="0" fontAlgn="ctr"/>
                      <a:r>
                        <a:rPr lang="en-GB" sz="2400" u="none" strike="noStrike" dirty="0">
                          <a:effectLst/>
                        </a:rPr>
                        <a:t> $2,066.90 </a:t>
                      </a:r>
                      <a:endParaRPr lang="en-GB" sz="2400" b="0" i="0" u="none" strike="noStrike" dirty="0">
                        <a:solidFill>
                          <a:srgbClr val="000000"/>
                        </a:solidFill>
                        <a:effectLst/>
                        <a:latin typeface="Century Schoolbook" panose="02040604050505020304" pitchFamily="18" charset="0"/>
                      </a:endParaRPr>
                    </a:p>
                  </a:txBody>
                  <a:tcPr marL="3810" marR="3810" marT="3810" marB="0" anchor="ctr"/>
                </a:tc>
                <a:extLst>
                  <a:ext uri="{0D108BD9-81ED-4DB2-BD59-A6C34878D82A}">
                    <a16:rowId xmlns:a16="http://schemas.microsoft.com/office/drawing/2014/main" val="1184541816"/>
                  </a:ext>
                </a:extLst>
              </a:tr>
            </a:tbl>
          </a:graphicData>
        </a:graphic>
      </p:graphicFrame>
      <p:graphicFrame>
        <p:nvGraphicFramePr>
          <p:cNvPr id="6" name="Object 5">
            <a:extLst>
              <a:ext uri="{FF2B5EF4-FFF2-40B4-BE49-F238E27FC236}">
                <a16:creationId xmlns:a16="http://schemas.microsoft.com/office/drawing/2014/main" id="{750F16CB-A0F5-467C-9AB3-5ABAC7E6A947}"/>
              </a:ext>
            </a:extLst>
          </p:cNvPr>
          <p:cNvGraphicFramePr>
            <a:graphicFrameLocks noChangeAspect="1"/>
          </p:cNvGraphicFramePr>
          <p:nvPr>
            <p:extLst>
              <p:ext uri="{D42A27DB-BD31-4B8C-83A1-F6EECF244321}">
                <p14:modId xmlns:p14="http://schemas.microsoft.com/office/powerpoint/2010/main" val="2147697571"/>
              </p:ext>
            </p:extLst>
          </p:nvPr>
        </p:nvGraphicFramePr>
        <p:xfrm>
          <a:off x="7516407" y="3068960"/>
          <a:ext cx="1226362" cy="1058162"/>
        </p:xfrm>
        <a:graphic>
          <a:graphicData uri="http://schemas.openxmlformats.org/presentationml/2006/ole">
            <mc:AlternateContent xmlns:mc="http://schemas.openxmlformats.org/markup-compatibility/2006">
              <mc:Choice xmlns:v="urn:schemas-microsoft-com:vml" Requires="v">
                <p:oleObj name="Worksheet" showAsIcon="1" r:id="rId3" imgW="914400" imgH="788848" progId="Excel.Sheet.12">
                  <p:embed/>
                </p:oleObj>
              </mc:Choice>
              <mc:Fallback>
                <p:oleObj name="Worksheet" showAsIcon="1" r:id="rId3" imgW="914400" imgH="788848" progId="Excel.Sheet.12">
                  <p:embed/>
                  <p:pic>
                    <p:nvPicPr>
                      <p:cNvPr id="6" name="Object 5">
                        <a:extLst>
                          <a:ext uri="{FF2B5EF4-FFF2-40B4-BE49-F238E27FC236}">
                            <a16:creationId xmlns:a16="http://schemas.microsoft.com/office/drawing/2014/main" id="{750F16CB-A0F5-467C-9AB3-5ABAC7E6A947}"/>
                          </a:ext>
                        </a:extLst>
                      </p:cNvPr>
                      <p:cNvPicPr/>
                      <p:nvPr/>
                    </p:nvPicPr>
                    <p:blipFill>
                      <a:blip r:embed="rId4"/>
                      <a:stretch>
                        <a:fillRect/>
                      </a:stretch>
                    </p:blipFill>
                    <p:spPr>
                      <a:xfrm>
                        <a:off x="7516407" y="3068960"/>
                        <a:ext cx="1226362" cy="1058162"/>
                      </a:xfrm>
                      <a:prstGeom prst="rect">
                        <a:avLst/>
                      </a:prstGeom>
                    </p:spPr>
                  </p:pic>
                </p:oleObj>
              </mc:Fallback>
            </mc:AlternateContent>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5090" name="Rectangle 2"/>
          <p:cNvSpPr>
            <a:spLocks noGrp="1" noChangeArrowheads="1"/>
          </p:cNvSpPr>
          <p:nvPr>
            <p:ph type="title"/>
          </p:nvPr>
        </p:nvSpPr>
        <p:spPr>
          <a:xfrm>
            <a:off x="457200" y="44624"/>
            <a:ext cx="7467600" cy="562074"/>
          </a:xfrm>
        </p:spPr>
        <p:txBody>
          <a:bodyPr/>
          <a:lstStyle/>
          <a:p>
            <a:pPr eaLnBrk="1" fontAlgn="auto" hangingPunct="1">
              <a:spcAft>
                <a:spcPts val="0"/>
              </a:spcAft>
              <a:defRPr/>
            </a:pPr>
            <a:r>
              <a:rPr lang="en-US" dirty="0"/>
              <a:t>Commerce One: Reinvestment Needs</a:t>
            </a:r>
          </a:p>
        </p:txBody>
      </p:sp>
      <p:sp>
        <p:nvSpPr>
          <p:cNvPr id="2" name="Slide Number Placeholder 1"/>
          <p:cNvSpPr>
            <a:spLocks noGrp="1"/>
          </p:cNvSpPr>
          <p:nvPr>
            <p:ph type="sldNum" sz="quarter" idx="11"/>
          </p:nvPr>
        </p:nvSpPr>
        <p:spPr/>
        <p:txBody>
          <a:bodyPr/>
          <a:lstStyle/>
          <a:p>
            <a:pPr>
              <a:defRPr/>
            </a:pPr>
            <a:fld id="{C3168C1A-0F73-4148-A9C6-17783D0D792E}" type="slidenum">
              <a:rPr lang="en-GB" smtClean="0"/>
              <a:pPr>
                <a:defRPr/>
              </a:pPr>
              <a:t>69</a:t>
            </a:fld>
            <a:endParaRPr lang="en-GB"/>
          </a:p>
        </p:txBody>
      </p:sp>
      <p:graphicFrame>
        <p:nvGraphicFramePr>
          <p:cNvPr id="9" name="Content Placeholder 8">
            <a:extLst>
              <a:ext uri="{FF2B5EF4-FFF2-40B4-BE49-F238E27FC236}">
                <a16:creationId xmlns:a16="http://schemas.microsoft.com/office/drawing/2014/main" id="{FCA533BD-0BE3-47D7-AD84-01FD67D884A3}"/>
              </a:ext>
            </a:extLst>
          </p:cNvPr>
          <p:cNvGraphicFramePr>
            <a:graphicFrameLocks noGrp="1"/>
          </p:cNvGraphicFramePr>
          <p:nvPr>
            <p:ph sz="quarter" idx="1"/>
            <p:extLst>
              <p:ext uri="{D42A27DB-BD31-4B8C-83A1-F6EECF244321}">
                <p14:modId xmlns:p14="http://schemas.microsoft.com/office/powerpoint/2010/main" val="2684932706"/>
              </p:ext>
            </p:extLst>
          </p:nvPr>
        </p:nvGraphicFramePr>
        <p:xfrm>
          <a:off x="179512" y="692696"/>
          <a:ext cx="8640960" cy="5562055"/>
        </p:xfrm>
        <a:graphic>
          <a:graphicData uri="http://schemas.openxmlformats.org/drawingml/2006/table">
            <a:tbl>
              <a:tblPr>
                <a:tableStyleId>{5C22544A-7EE6-4342-B048-85BDC9FD1C3A}</a:tableStyleId>
              </a:tblPr>
              <a:tblGrid>
                <a:gridCol w="504056">
                  <a:extLst>
                    <a:ext uri="{9D8B030D-6E8A-4147-A177-3AD203B41FA5}">
                      <a16:colId xmlns:a16="http://schemas.microsoft.com/office/drawing/2014/main" val="4166700267"/>
                    </a:ext>
                  </a:extLst>
                </a:gridCol>
                <a:gridCol w="936104">
                  <a:extLst>
                    <a:ext uri="{9D8B030D-6E8A-4147-A177-3AD203B41FA5}">
                      <a16:colId xmlns:a16="http://schemas.microsoft.com/office/drawing/2014/main" val="216328263"/>
                    </a:ext>
                  </a:extLst>
                </a:gridCol>
                <a:gridCol w="936104">
                  <a:extLst>
                    <a:ext uri="{9D8B030D-6E8A-4147-A177-3AD203B41FA5}">
                      <a16:colId xmlns:a16="http://schemas.microsoft.com/office/drawing/2014/main" val="720425543"/>
                    </a:ext>
                  </a:extLst>
                </a:gridCol>
                <a:gridCol w="576064">
                  <a:extLst>
                    <a:ext uri="{9D8B030D-6E8A-4147-A177-3AD203B41FA5}">
                      <a16:colId xmlns:a16="http://schemas.microsoft.com/office/drawing/2014/main" val="728097231"/>
                    </a:ext>
                  </a:extLst>
                </a:gridCol>
                <a:gridCol w="864096">
                  <a:extLst>
                    <a:ext uri="{9D8B030D-6E8A-4147-A177-3AD203B41FA5}">
                      <a16:colId xmlns:a16="http://schemas.microsoft.com/office/drawing/2014/main" val="1942939055"/>
                    </a:ext>
                  </a:extLst>
                </a:gridCol>
                <a:gridCol w="792088">
                  <a:extLst>
                    <a:ext uri="{9D8B030D-6E8A-4147-A177-3AD203B41FA5}">
                      <a16:colId xmlns:a16="http://schemas.microsoft.com/office/drawing/2014/main" val="3733320368"/>
                    </a:ext>
                  </a:extLst>
                </a:gridCol>
                <a:gridCol w="864096">
                  <a:extLst>
                    <a:ext uri="{9D8B030D-6E8A-4147-A177-3AD203B41FA5}">
                      <a16:colId xmlns:a16="http://schemas.microsoft.com/office/drawing/2014/main" val="1726036894"/>
                    </a:ext>
                  </a:extLst>
                </a:gridCol>
                <a:gridCol w="864096">
                  <a:extLst>
                    <a:ext uri="{9D8B030D-6E8A-4147-A177-3AD203B41FA5}">
                      <a16:colId xmlns:a16="http://schemas.microsoft.com/office/drawing/2014/main" val="3205197486"/>
                    </a:ext>
                  </a:extLst>
                </a:gridCol>
                <a:gridCol w="864096">
                  <a:extLst>
                    <a:ext uri="{9D8B030D-6E8A-4147-A177-3AD203B41FA5}">
                      <a16:colId xmlns:a16="http://schemas.microsoft.com/office/drawing/2014/main" val="3415669678"/>
                    </a:ext>
                  </a:extLst>
                </a:gridCol>
                <a:gridCol w="1440160">
                  <a:extLst>
                    <a:ext uri="{9D8B030D-6E8A-4147-A177-3AD203B41FA5}">
                      <a16:colId xmlns:a16="http://schemas.microsoft.com/office/drawing/2014/main" val="1037401083"/>
                    </a:ext>
                  </a:extLst>
                </a:gridCol>
              </a:tblGrid>
              <a:tr h="944723">
                <a:tc>
                  <a:txBody>
                    <a:bodyPr/>
                    <a:lstStyle/>
                    <a:p>
                      <a:pPr algn="ctr" rtl="0" fontAlgn="ctr"/>
                      <a:endParaRPr lang="en-GB" sz="1600" u="none" strike="noStrike" dirty="0">
                        <a:effectLst/>
                      </a:endParaRPr>
                    </a:p>
                  </a:txBody>
                  <a:tcPr marL="3410" marR="3410" marT="3410" marB="0" vert="vert270" anchor="ctr"/>
                </a:tc>
                <a:tc>
                  <a:txBody>
                    <a:bodyPr/>
                    <a:lstStyle/>
                    <a:p>
                      <a:pPr algn="ctr" rtl="0" fontAlgn="ctr"/>
                      <a:r>
                        <a:rPr lang="en-GB" sz="1600" u="none" strike="noStrike">
                          <a:effectLst/>
                        </a:rPr>
                        <a:t>Rev ($)</a:t>
                      </a:r>
                      <a:endParaRPr lang="en-GB" sz="1600" b="0" i="0" u="none" strike="noStrike">
                        <a:solidFill>
                          <a:srgbClr val="000000"/>
                        </a:solidFill>
                        <a:effectLst/>
                        <a:latin typeface="Century Schoolbook" panose="02040604050505020304" pitchFamily="18" charset="0"/>
                      </a:endParaRPr>
                    </a:p>
                  </a:txBody>
                  <a:tcPr marL="3410" marR="3410" marT="3410" marB="0" vert="vert270" anchor="ctr"/>
                </a:tc>
                <a:tc>
                  <a:txBody>
                    <a:bodyPr/>
                    <a:lstStyle/>
                    <a:p>
                      <a:pPr algn="ctr" rtl="0" fontAlgn="ctr"/>
                      <a:r>
                        <a:rPr lang="en-GB" sz="1600" u="none" strike="noStrike" dirty="0">
                          <a:effectLst/>
                        </a:rPr>
                        <a:t>EBIT ($)</a:t>
                      </a:r>
                      <a:endParaRPr lang="en-GB" sz="1600" b="0" i="0" u="none" strike="noStrike" dirty="0">
                        <a:solidFill>
                          <a:srgbClr val="000000"/>
                        </a:solidFill>
                        <a:effectLst/>
                        <a:latin typeface="Century Schoolbook" panose="02040604050505020304" pitchFamily="18" charset="0"/>
                      </a:endParaRPr>
                    </a:p>
                  </a:txBody>
                  <a:tcPr marL="3410" marR="3410" marT="3410" marB="0" vert="vert270" anchor="ctr"/>
                </a:tc>
                <a:tc>
                  <a:txBody>
                    <a:bodyPr/>
                    <a:lstStyle/>
                    <a:p>
                      <a:pPr algn="ctr" rtl="0" fontAlgn="ctr"/>
                      <a:r>
                        <a:rPr lang="en-GB" sz="1600" u="none" strike="noStrike" dirty="0">
                          <a:effectLst/>
                        </a:rPr>
                        <a:t>Tax</a:t>
                      </a:r>
                      <a:endParaRPr lang="en-GB" sz="1600" b="0" i="0" u="none" strike="noStrike" dirty="0">
                        <a:solidFill>
                          <a:srgbClr val="000000"/>
                        </a:solidFill>
                        <a:effectLst/>
                        <a:latin typeface="Century Schoolbook" panose="02040604050505020304" pitchFamily="18" charset="0"/>
                      </a:endParaRPr>
                    </a:p>
                  </a:txBody>
                  <a:tcPr marL="3410" marR="3410" marT="3410" marB="0" vert="vert270" anchor="ctr">
                    <a:lnR w="12700" cap="flat" cmpd="sng" algn="ctr">
                      <a:solidFill>
                        <a:schemeClr val="tx1"/>
                      </a:solidFill>
                      <a:prstDash val="solid"/>
                      <a:round/>
                      <a:headEnd type="none" w="med" len="med"/>
                      <a:tailEnd type="none" w="med" len="med"/>
                    </a:lnR>
                  </a:tcPr>
                </a:tc>
                <a:tc>
                  <a:txBody>
                    <a:bodyPr/>
                    <a:lstStyle/>
                    <a:p>
                      <a:pPr algn="ctr" rtl="0" fontAlgn="ctr"/>
                      <a:r>
                        <a:rPr lang="en-GB" sz="1600" u="none" strike="noStrike" dirty="0">
                          <a:effectLst/>
                        </a:rPr>
                        <a:t>NCE</a:t>
                      </a:r>
                    </a:p>
                    <a:p>
                      <a:pPr algn="ctr" rtl="0" fontAlgn="ctr"/>
                      <a:r>
                        <a:rPr lang="en-GB" sz="1600" u="none" strike="noStrike" dirty="0">
                          <a:effectLst/>
                        </a:rPr>
                        <a:t>/Sales</a:t>
                      </a:r>
                      <a:endParaRPr lang="en-GB" sz="1600" b="0" i="0" u="none" strike="noStrike" dirty="0">
                        <a:solidFill>
                          <a:srgbClr val="000000"/>
                        </a:solidFill>
                        <a:effectLst/>
                        <a:latin typeface="Century Schoolbook" panose="02040604050505020304" pitchFamily="18" charset="0"/>
                      </a:endParaRPr>
                    </a:p>
                  </a:txBody>
                  <a:tcPr marL="3410" marR="3410" marT="3410" marB="0" vert="vert270" anchor="ctr">
                    <a:lnL w="12700" cap="flat" cmpd="sng" algn="ctr">
                      <a:solidFill>
                        <a:schemeClr val="tx1"/>
                      </a:solidFill>
                      <a:prstDash val="solid"/>
                      <a:round/>
                      <a:headEnd type="none" w="med" len="med"/>
                      <a:tailEnd type="none" w="med" len="med"/>
                    </a:lnL>
                  </a:tcPr>
                </a:tc>
                <a:tc>
                  <a:txBody>
                    <a:bodyPr/>
                    <a:lstStyle/>
                    <a:p>
                      <a:pPr algn="ctr" rtl="0" fontAlgn="ctr"/>
                      <a:r>
                        <a:rPr lang="en-GB" sz="1600" u="none" strike="noStrike" dirty="0">
                          <a:effectLst/>
                        </a:rPr>
                        <a:t>NCE ($)</a:t>
                      </a:r>
                      <a:endParaRPr lang="en-GB" sz="1600" b="0" i="0" u="none" strike="noStrike" dirty="0">
                        <a:solidFill>
                          <a:srgbClr val="000000"/>
                        </a:solidFill>
                        <a:effectLst/>
                        <a:latin typeface="Century Schoolbook" panose="02040604050505020304" pitchFamily="18" charset="0"/>
                      </a:endParaRPr>
                    </a:p>
                  </a:txBody>
                  <a:tcPr marL="3410" marR="3410" marT="3410" marB="0" vert="vert270" anchor="ctr">
                    <a:lnR w="12700" cap="flat" cmpd="sng" algn="ctr">
                      <a:solidFill>
                        <a:schemeClr val="tx1"/>
                      </a:solidFill>
                      <a:prstDash val="solid"/>
                      <a:round/>
                      <a:headEnd type="none" w="med" len="med"/>
                      <a:tailEnd type="none" w="med" len="med"/>
                    </a:lnR>
                  </a:tcPr>
                </a:tc>
                <a:tc>
                  <a:txBody>
                    <a:bodyPr/>
                    <a:lstStyle/>
                    <a:p>
                      <a:pPr algn="ctr" rtl="0" fontAlgn="ctr"/>
                      <a:r>
                        <a:rPr lang="en-GB" sz="1600" u="none" strike="noStrike" dirty="0">
                          <a:effectLst/>
                        </a:rPr>
                        <a:t>WC</a:t>
                      </a:r>
                    </a:p>
                    <a:p>
                      <a:pPr algn="ctr" rtl="0" fontAlgn="ctr"/>
                      <a:r>
                        <a:rPr lang="en-GB" sz="1600" u="none" strike="noStrike" dirty="0">
                          <a:effectLst/>
                        </a:rPr>
                        <a:t>/Sales</a:t>
                      </a:r>
                      <a:endParaRPr lang="en-GB" sz="1600" b="0" i="0" u="none" strike="noStrike" dirty="0">
                        <a:solidFill>
                          <a:srgbClr val="000000"/>
                        </a:solidFill>
                        <a:effectLst/>
                        <a:latin typeface="Century Schoolbook" panose="02040604050505020304" pitchFamily="18" charset="0"/>
                      </a:endParaRPr>
                    </a:p>
                  </a:txBody>
                  <a:tcPr marL="3410" marR="3410" marT="3410" marB="0" vert="vert270" anchor="ctr">
                    <a:lnL w="12700" cap="flat" cmpd="sng" algn="ctr">
                      <a:solidFill>
                        <a:schemeClr val="tx1"/>
                      </a:solidFill>
                      <a:prstDash val="solid"/>
                      <a:round/>
                      <a:headEnd type="none" w="med" len="med"/>
                      <a:tailEnd type="none" w="med" len="med"/>
                    </a:lnL>
                  </a:tcPr>
                </a:tc>
                <a:tc>
                  <a:txBody>
                    <a:bodyPr/>
                    <a:lstStyle/>
                    <a:p>
                      <a:pPr algn="ctr" rtl="0" fontAlgn="ctr"/>
                      <a:r>
                        <a:rPr lang="en-GB" sz="1600" u="none" strike="noStrike" dirty="0">
                          <a:effectLst/>
                        </a:rPr>
                        <a:t>NWC ($)</a:t>
                      </a:r>
                      <a:endParaRPr lang="en-GB" sz="1600" b="0" i="0" u="none" strike="noStrike" dirty="0">
                        <a:solidFill>
                          <a:srgbClr val="000000"/>
                        </a:solidFill>
                        <a:effectLst/>
                        <a:latin typeface="Century Schoolbook" panose="02040604050505020304" pitchFamily="18" charset="0"/>
                      </a:endParaRPr>
                    </a:p>
                  </a:txBody>
                  <a:tcPr marL="3410" marR="3410" marT="3410" marB="0" vert="vert270" anchor="ctr">
                    <a:lnR w="12700" cap="flat" cmpd="sng" algn="ctr">
                      <a:solidFill>
                        <a:schemeClr val="tx1"/>
                      </a:solidFill>
                      <a:prstDash val="solid"/>
                      <a:round/>
                      <a:headEnd type="none" w="med" len="med"/>
                      <a:tailEnd type="none" w="med" len="med"/>
                    </a:lnR>
                  </a:tcPr>
                </a:tc>
                <a:tc>
                  <a:txBody>
                    <a:bodyPr/>
                    <a:lstStyle/>
                    <a:p>
                      <a:pPr algn="ctr" rtl="0" fontAlgn="ctr"/>
                      <a:r>
                        <a:rPr lang="en-GB" sz="1600" u="none" strike="noStrike" dirty="0" err="1">
                          <a:effectLst/>
                        </a:rPr>
                        <a:t>Inv</a:t>
                      </a:r>
                      <a:r>
                        <a:rPr lang="en-GB" sz="1600" u="none" strike="noStrike" dirty="0">
                          <a:effectLst/>
                        </a:rPr>
                        <a:t> ($)</a:t>
                      </a:r>
                      <a:endParaRPr lang="en-GB" sz="1600" b="0" i="0" u="none" strike="noStrike" dirty="0">
                        <a:solidFill>
                          <a:srgbClr val="000000"/>
                        </a:solidFill>
                        <a:effectLst/>
                        <a:latin typeface="Century Schoolbook" panose="02040604050505020304" pitchFamily="18" charset="0"/>
                      </a:endParaRPr>
                    </a:p>
                  </a:txBody>
                  <a:tcPr marL="3410" marR="3410" marT="3410" marB="0" vert="vert270" anchor="ctr">
                    <a:lnL w="12700" cap="flat" cmpd="sng" algn="ctr">
                      <a:solidFill>
                        <a:schemeClr val="tx1"/>
                      </a:solidFill>
                      <a:prstDash val="solid"/>
                      <a:round/>
                      <a:headEnd type="none" w="med" len="med"/>
                      <a:tailEnd type="none" w="med" len="med"/>
                    </a:lnL>
                  </a:tcPr>
                </a:tc>
                <a:tc>
                  <a:txBody>
                    <a:bodyPr/>
                    <a:lstStyle/>
                    <a:p>
                      <a:pPr algn="ctr" rtl="0" fontAlgn="ctr"/>
                      <a:r>
                        <a:rPr kumimoji="0" lang="en-GB" sz="1600" u="none" strike="noStrike" kern="1200" dirty="0">
                          <a:solidFill>
                            <a:schemeClr val="dk1"/>
                          </a:solidFill>
                          <a:effectLst/>
                          <a:latin typeface="+mn-lt"/>
                          <a:ea typeface="+mn-ea"/>
                          <a:cs typeface="+mn-cs"/>
                        </a:rPr>
                        <a:t>FCFF</a:t>
                      </a:r>
                    </a:p>
                  </a:txBody>
                  <a:tcPr marL="3810" marR="3810" marT="381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77685212"/>
                  </a:ext>
                </a:extLst>
              </a:tr>
              <a:tr h="263772">
                <a:tc>
                  <a:txBody>
                    <a:bodyPr/>
                    <a:lstStyle/>
                    <a:p>
                      <a:pPr algn="ctr" rtl="0" fontAlgn="ctr"/>
                      <a:r>
                        <a:rPr lang="en-GB" sz="1600" u="none" strike="noStrike">
                          <a:effectLst/>
                        </a:rPr>
                        <a:t>0</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537</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 </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 </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fontAlgn="ctr"/>
                      <a:r>
                        <a:rPr lang="en-GB" sz="1600" u="none" strike="noStrike">
                          <a:effectLst/>
                        </a:rPr>
                        <a:t> </a:t>
                      </a:r>
                      <a:endParaRPr lang="en-GB" sz="1600" b="0" i="0" u="none" strike="noStrike">
                        <a:solidFill>
                          <a:srgbClr val="000000"/>
                        </a:solidFill>
                        <a:effectLst/>
                        <a:latin typeface="Arial" panose="020B0604020202020204" pitchFamily="34"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ctr"/>
                      <a:r>
                        <a:rPr lang="en-GB" sz="1600" u="none" strike="noStrike">
                          <a:effectLst/>
                        </a:rPr>
                        <a:t> </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fontAlgn="ctr"/>
                      <a:r>
                        <a:rPr lang="en-GB" sz="1600" u="none" strike="noStrike">
                          <a:effectLst/>
                        </a:rPr>
                        <a:t> </a:t>
                      </a:r>
                      <a:endParaRPr lang="en-GB" sz="1600" b="0" i="0" u="none" strike="noStrike">
                        <a:solidFill>
                          <a:srgbClr val="000000"/>
                        </a:solidFill>
                        <a:effectLst/>
                        <a:latin typeface="Arial" panose="020B0604020202020204" pitchFamily="34"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ctr"/>
                      <a:r>
                        <a:rPr lang="en-GB" sz="1600" u="none" strike="noStrike">
                          <a:effectLst/>
                        </a:rPr>
                        <a:t> </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ctr"/>
                      <a:r>
                        <a:rPr lang="en-GB" sz="1600" u="none" strike="noStrike">
                          <a:effectLst/>
                        </a:rPr>
                        <a:t> </a:t>
                      </a:r>
                      <a:endParaRPr lang="en-GB" sz="1600" b="0" i="0" u="none" strike="noStrike">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fontAlgn="ctr"/>
                      <a:r>
                        <a:rPr kumimoji="0" lang="en-GB" sz="1600" u="none" strike="noStrike" kern="1200">
                          <a:solidFill>
                            <a:schemeClr val="dk1"/>
                          </a:solidFill>
                          <a:effectLst/>
                          <a:latin typeface="+mn-lt"/>
                          <a:ea typeface="+mn-ea"/>
                          <a:cs typeface="+mn-cs"/>
                        </a:rPr>
                        <a:t> </a:t>
                      </a:r>
                    </a:p>
                  </a:txBody>
                  <a:tcPr marL="3810" marR="3810" marT="381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115723252"/>
                  </a:ext>
                </a:extLst>
              </a:tr>
              <a:tr h="435356">
                <a:tc>
                  <a:txBody>
                    <a:bodyPr/>
                    <a:lstStyle/>
                    <a:p>
                      <a:pPr algn="ctr" rtl="0" fontAlgn="ctr"/>
                      <a:r>
                        <a:rPr lang="en-GB" sz="1600" u="none" strike="noStrike">
                          <a:effectLst/>
                        </a:rPr>
                        <a:t>1</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dirty="0">
                          <a:effectLst/>
                        </a:rPr>
                        <a:t>806</a:t>
                      </a:r>
                      <a:endParaRPr lang="en-GB" sz="1600" b="0" i="0" u="none" strike="noStrike" dirty="0">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-388.25</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30%</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b"/>
                      <a:r>
                        <a:rPr lang="en-GB" sz="1600" u="none" strike="noStrike" dirty="0">
                          <a:effectLst/>
                        </a:rPr>
                        <a:t>8.76%</a:t>
                      </a:r>
                      <a:endParaRPr lang="en-GB" sz="1600" b="0" i="0" u="none" strike="noStrike" dirty="0">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ctr"/>
                      <a:r>
                        <a:rPr lang="en-GB" sz="1600" u="none" strike="noStrike">
                          <a:effectLst/>
                        </a:rPr>
                        <a:t>70.61</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b"/>
                      <a:r>
                        <a:rPr lang="en-GB" sz="1600" u="none" strike="noStrike">
                          <a:effectLst/>
                        </a:rPr>
                        <a:t>3.31%</a:t>
                      </a:r>
                      <a:endParaRPr lang="en-GB" sz="1600" b="0" i="0" u="none" strike="noStrike">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ctr"/>
                      <a:r>
                        <a:rPr lang="en-GB" sz="1600" u="none" strike="noStrike">
                          <a:effectLst/>
                        </a:rPr>
                        <a:t>8.90</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ctr"/>
                      <a:r>
                        <a:rPr lang="en-GB" sz="1600" u="none" strike="noStrike">
                          <a:effectLst/>
                        </a:rPr>
                        <a:t>79.51</a:t>
                      </a:r>
                      <a:endParaRPr lang="en-GB" sz="1600" b="0" i="0" u="none" strike="noStrike">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b"/>
                      <a:r>
                        <a:rPr kumimoji="0" lang="en-GB" sz="1600" u="none" strike="noStrike" kern="1200" dirty="0">
                          <a:solidFill>
                            <a:schemeClr val="dk1"/>
                          </a:solidFill>
                          <a:effectLst/>
                          <a:latin typeface="+mn-lt"/>
                          <a:ea typeface="+mn-ea"/>
                          <a:cs typeface="+mn-cs"/>
                        </a:rPr>
                        <a:t> $    -467.76 </a:t>
                      </a:r>
                    </a:p>
                  </a:txBody>
                  <a:tcPr marL="3810" marR="3810" marT="3810" marB="0" anchor="b">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70550842"/>
                  </a:ext>
                </a:extLst>
              </a:tr>
              <a:tr h="435356">
                <a:tc>
                  <a:txBody>
                    <a:bodyPr/>
                    <a:lstStyle/>
                    <a:p>
                      <a:pPr algn="ctr" rtl="0" fontAlgn="ctr"/>
                      <a:r>
                        <a:rPr lang="en-GB" sz="1600" u="none" strike="noStrike">
                          <a:effectLst/>
                        </a:rPr>
                        <a:t>2</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1611</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-438.35</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30%</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b"/>
                      <a:r>
                        <a:rPr lang="en-GB" sz="1600" u="none" strike="noStrike" dirty="0">
                          <a:effectLst/>
                        </a:rPr>
                        <a:t>8.76%</a:t>
                      </a:r>
                      <a:endParaRPr lang="en-GB" sz="1600" b="0" i="0" u="none" strike="noStrike" dirty="0">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ctr"/>
                      <a:r>
                        <a:rPr lang="en-GB" sz="1600" u="none" strike="noStrike">
                          <a:effectLst/>
                        </a:rPr>
                        <a:t>141.12</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b"/>
                      <a:r>
                        <a:rPr lang="en-GB" sz="1600" u="none" strike="noStrike">
                          <a:effectLst/>
                        </a:rPr>
                        <a:t>3.31%</a:t>
                      </a:r>
                      <a:endParaRPr lang="en-GB" sz="1600" b="0" i="0" u="none" strike="noStrike">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ctr"/>
                      <a:r>
                        <a:rPr lang="en-GB" sz="1600" u="none" strike="noStrike">
                          <a:effectLst/>
                        </a:rPr>
                        <a:t>26.65</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ctr"/>
                      <a:r>
                        <a:rPr lang="en-GB" sz="1600" u="none" strike="noStrike">
                          <a:effectLst/>
                        </a:rPr>
                        <a:t>167.77</a:t>
                      </a:r>
                      <a:endParaRPr lang="en-GB" sz="1600" b="0" i="0" u="none" strike="noStrike">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b"/>
                      <a:r>
                        <a:rPr kumimoji="0" lang="en-GB" sz="1600" u="none" strike="noStrike" kern="1200">
                          <a:solidFill>
                            <a:schemeClr val="dk1"/>
                          </a:solidFill>
                          <a:effectLst/>
                          <a:latin typeface="+mn-lt"/>
                          <a:ea typeface="+mn-ea"/>
                          <a:cs typeface="+mn-cs"/>
                        </a:rPr>
                        <a:t> $    -606.12 </a:t>
                      </a:r>
                    </a:p>
                  </a:txBody>
                  <a:tcPr marL="3810" marR="3810" marT="3810" marB="0" anchor="b">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468175480"/>
                  </a:ext>
                </a:extLst>
              </a:tr>
              <a:tr h="435356">
                <a:tc>
                  <a:txBody>
                    <a:bodyPr/>
                    <a:lstStyle/>
                    <a:p>
                      <a:pPr algn="ctr" rtl="0" fontAlgn="ctr"/>
                      <a:r>
                        <a:rPr lang="en-GB" sz="1600" u="none" strike="noStrike">
                          <a:effectLst/>
                        </a:rPr>
                        <a:t>3</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2900</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-383.67</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30%</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b"/>
                      <a:r>
                        <a:rPr lang="en-GB" sz="1600" u="none" strike="noStrike">
                          <a:effectLst/>
                        </a:rPr>
                        <a:t>8.76%</a:t>
                      </a:r>
                      <a:endParaRPr lang="en-GB" sz="1600" b="0" i="0" u="none" strike="noStrike">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ctr"/>
                      <a:r>
                        <a:rPr lang="en-GB" sz="1600" u="none" strike="noStrike" dirty="0">
                          <a:effectLst/>
                        </a:rPr>
                        <a:t>254.04</a:t>
                      </a:r>
                      <a:endParaRPr lang="en-GB" sz="1600" b="0" i="0" u="none" strike="noStrike" dirty="0">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b"/>
                      <a:r>
                        <a:rPr lang="en-GB" sz="1600" u="none" strike="noStrike">
                          <a:effectLst/>
                        </a:rPr>
                        <a:t>3.31%</a:t>
                      </a:r>
                      <a:endParaRPr lang="en-GB" sz="1600" b="0" i="0" u="none" strike="noStrike">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ctr"/>
                      <a:r>
                        <a:rPr lang="en-GB" sz="1600" u="none" strike="noStrike">
                          <a:effectLst/>
                        </a:rPr>
                        <a:t>42.67</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ctr"/>
                      <a:r>
                        <a:rPr lang="en-GB" sz="1600" u="none" strike="noStrike">
                          <a:effectLst/>
                        </a:rPr>
                        <a:t>296.71</a:t>
                      </a:r>
                      <a:endParaRPr lang="en-GB" sz="1600" b="0" i="0" u="none" strike="noStrike">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b"/>
                      <a:r>
                        <a:rPr kumimoji="0" lang="en-GB" sz="1600" u="none" strike="noStrike" kern="1200" dirty="0">
                          <a:solidFill>
                            <a:schemeClr val="dk1"/>
                          </a:solidFill>
                          <a:effectLst/>
                          <a:latin typeface="+mn-lt"/>
                          <a:ea typeface="+mn-ea"/>
                          <a:cs typeface="+mn-cs"/>
                        </a:rPr>
                        <a:t> $    -680.38 </a:t>
                      </a:r>
                    </a:p>
                  </a:txBody>
                  <a:tcPr marL="3810" marR="3810" marT="3810" marB="0" anchor="b">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67118078"/>
                  </a:ext>
                </a:extLst>
              </a:tr>
              <a:tr h="435356">
                <a:tc>
                  <a:txBody>
                    <a:bodyPr/>
                    <a:lstStyle/>
                    <a:p>
                      <a:pPr algn="ctr" rtl="0" fontAlgn="ctr"/>
                      <a:r>
                        <a:rPr lang="en-GB" sz="1600" u="none" strike="noStrike">
                          <a:effectLst/>
                        </a:rPr>
                        <a:t>4</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4640</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-181.42</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30%</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b"/>
                      <a:r>
                        <a:rPr lang="en-GB" sz="1600" u="none" strike="noStrike">
                          <a:effectLst/>
                        </a:rPr>
                        <a:t>8.76%</a:t>
                      </a:r>
                      <a:endParaRPr lang="en-GB" sz="1600" b="0" i="0" u="none" strike="noStrike">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ctr"/>
                      <a:r>
                        <a:rPr lang="en-GB" sz="1600" u="none" strike="noStrike">
                          <a:effectLst/>
                        </a:rPr>
                        <a:t>406.46</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b"/>
                      <a:r>
                        <a:rPr lang="en-GB" sz="1600" u="none" strike="noStrike">
                          <a:effectLst/>
                        </a:rPr>
                        <a:t>3.31%</a:t>
                      </a:r>
                      <a:endParaRPr lang="en-GB" sz="1600" b="0" i="0" u="none" strike="noStrike">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ctr"/>
                      <a:r>
                        <a:rPr lang="en-GB" sz="1600" u="none" strike="noStrike" dirty="0">
                          <a:effectLst/>
                        </a:rPr>
                        <a:t>57.59</a:t>
                      </a:r>
                      <a:endParaRPr lang="en-GB" sz="1600" b="0" i="0" u="none" strike="noStrike" dirty="0">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ctr"/>
                      <a:r>
                        <a:rPr lang="en-GB" sz="1600" u="none" strike="noStrike">
                          <a:effectLst/>
                        </a:rPr>
                        <a:t>464.06</a:t>
                      </a:r>
                      <a:endParaRPr lang="en-GB" sz="1600" b="0" i="0" u="none" strike="noStrike">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b"/>
                      <a:r>
                        <a:rPr kumimoji="0" lang="en-GB" sz="1600" u="none" strike="noStrike" kern="1200">
                          <a:solidFill>
                            <a:schemeClr val="dk1"/>
                          </a:solidFill>
                          <a:effectLst/>
                          <a:latin typeface="+mn-lt"/>
                          <a:ea typeface="+mn-ea"/>
                          <a:cs typeface="+mn-cs"/>
                        </a:rPr>
                        <a:t> $    -645.48 </a:t>
                      </a:r>
                    </a:p>
                  </a:txBody>
                  <a:tcPr marL="3810" marR="3810" marT="3810" marB="0" anchor="b">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103261337"/>
                  </a:ext>
                </a:extLst>
              </a:tr>
              <a:tr h="435356">
                <a:tc>
                  <a:txBody>
                    <a:bodyPr/>
                    <a:lstStyle/>
                    <a:p>
                      <a:pPr algn="ctr" rtl="0" fontAlgn="ctr"/>
                      <a:r>
                        <a:rPr lang="en-GB" sz="1600" u="none" strike="noStrike">
                          <a:effectLst/>
                        </a:rPr>
                        <a:t>5</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6496</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149.41</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30%</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b"/>
                      <a:r>
                        <a:rPr lang="en-GB" sz="1600" u="none" strike="noStrike" dirty="0">
                          <a:effectLst/>
                        </a:rPr>
                        <a:t>8.76%</a:t>
                      </a:r>
                      <a:endParaRPr lang="en-GB" sz="1600" b="0" i="0" u="none" strike="noStrike" dirty="0">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ctr"/>
                      <a:r>
                        <a:rPr lang="en-GB" sz="1600" u="none" strike="noStrike">
                          <a:effectLst/>
                        </a:rPr>
                        <a:t>569.05</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b"/>
                      <a:r>
                        <a:rPr lang="en-GB" sz="1600" u="none" strike="noStrike">
                          <a:effectLst/>
                        </a:rPr>
                        <a:t>3.31%</a:t>
                      </a:r>
                      <a:endParaRPr lang="en-GB" sz="1600" b="0" i="0" u="none" strike="noStrike">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ctr"/>
                      <a:r>
                        <a:rPr lang="en-GB" sz="1600" u="none" strike="noStrike">
                          <a:effectLst/>
                        </a:rPr>
                        <a:t>61.43</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ctr"/>
                      <a:r>
                        <a:rPr lang="en-GB" sz="1600" u="none" strike="noStrike" dirty="0">
                          <a:effectLst/>
                        </a:rPr>
                        <a:t>630.48</a:t>
                      </a:r>
                      <a:endParaRPr lang="en-GB" sz="1600" b="0" i="0" u="none" strike="noStrike" dirty="0">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b"/>
                      <a:r>
                        <a:rPr kumimoji="0" lang="en-GB" sz="1600" u="none" strike="noStrike" kern="1200">
                          <a:solidFill>
                            <a:schemeClr val="dk1"/>
                          </a:solidFill>
                          <a:effectLst/>
                          <a:latin typeface="+mn-lt"/>
                          <a:ea typeface="+mn-ea"/>
                          <a:cs typeface="+mn-cs"/>
                        </a:rPr>
                        <a:t> $    -525.90 </a:t>
                      </a:r>
                    </a:p>
                  </a:txBody>
                  <a:tcPr marL="3810" marR="3810" marT="3810" marB="0" anchor="b">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00480309"/>
                  </a:ext>
                </a:extLst>
              </a:tr>
              <a:tr h="435356">
                <a:tc>
                  <a:txBody>
                    <a:bodyPr/>
                    <a:lstStyle/>
                    <a:p>
                      <a:pPr algn="ctr" rtl="0" fontAlgn="ctr"/>
                      <a:r>
                        <a:rPr lang="en-GB" sz="1600" u="none" strike="noStrike">
                          <a:effectLst/>
                        </a:rPr>
                        <a:t>6</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8770</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564.79</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30%</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b"/>
                      <a:r>
                        <a:rPr lang="en-GB" sz="1600" u="none" strike="noStrike">
                          <a:effectLst/>
                        </a:rPr>
                        <a:t>8.76%</a:t>
                      </a:r>
                      <a:endParaRPr lang="en-GB" sz="1600" b="0" i="0" u="none" strike="noStrike">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ctr"/>
                      <a:r>
                        <a:rPr lang="en-GB" sz="1600" u="none" strike="noStrike">
                          <a:effectLst/>
                        </a:rPr>
                        <a:t>768.25</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b"/>
                      <a:r>
                        <a:rPr lang="en-GB" sz="1600" u="none" strike="noStrike">
                          <a:effectLst/>
                        </a:rPr>
                        <a:t>3.31%</a:t>
                      </a:r>
                      <a:endParaRPr lang="en-GB" sz="1600" b="0" i="0" u="none" strike="noStrike">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ctr"/>
                      <a:r>
                        <a:rPr lang="en-GB" sz="1600" u="none" strike="noStrike">
                          <a:effectLst/>
                        </a:rPr>
                        <a:t>75.27</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ctr"/>
                      <a:r>
                        <a:rPr lang="en-GB" sz="1600" u="none" strike="noStrike">
                          <a:effectLst/>
                        </a:rPr>
                        <a:t>843.52</a:t>
                      </a:r>
                      <a:endParaRPr lang="en-GB" sz="1600" b="0" i="0" u="none" strike="noStrike">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b"/>
                      <a:r>
                        <a:rPr kumimoji="0" lang="en-GB" sz="1600" u="none" strike="noStrike" kern="1200" dirty="0">
                          <a:solidFill>
                            <a:schemeClr val="dk1"/>
                          </a:solidFill>
                          <a:effectLst/>
                          <a:latin typeface="+mn-lt"/>
                          <a:ea typeface="+mn-ea"/>
                          <a:cs typeface="+mn-cs"/>
                        </a:rPr>
                        <a:t> $    -448.17 </a:t>
                      </a:r>
                    </a:p>
                  </a:txBody>
                  <a:tcPr marL="3810" marR="3810" marT="3810" marB="0" anchor="b">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890008894"/>
                  </a:ext>
                </a:extLst>
              </a:tr>
              <a:tr h="435356">
                <a:tc>
                  <a:txBody>
                    <a:bodyPr/>
                    <a:lstStyle/>
                    <a:p>
                      <a:pPr algn="ctr" rtl="0" fontAlgn="ctr"/>
                      <a:r>
                        <a:rPr lang="en-GB" sz="1600" u="none" strike="noStrike">
                          <a:effectLst/>
                        </a:rPr>
                        <a:t>7</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11401</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1048.89</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30%</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b"/>
                      <a:r>
                        <a:rPr lang="en-GB" sz="1600" u="none" strike="noStrike">
                          <a:effectLst/>
                        </a:rPr>
                        <a:t>8.76%</a:t>
                      </a:r>
                      <a:endParaRPr lang="en-GB" sz="1600" b="0" i="0" u="none" strike="noStrike">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ctr"/>
                      <a:r>
                        <a:rPr lang="en-GB" sz="1600" u="none" strike="noStrike">
                          <a:effectLst/>
                        </a:rPr>
                        <a:t>998.73</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b"/>
                      <a:r>
                        <a:rPr lang="en-GB" sz="1600" u="none" strike="noStrike">
                          <a:effectLst/>
                        </a:rPr>
                        <a:t>3.31%</a:t>
                      </a:r>
                      <a:endParaRPr lang="en-GB" sz="1600" b="0" i="0" u="none" strike="noStrike">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ctr"/>
                      <a:r>
                        <a:rPr lang="en-GB" sz="1600" u="none" strike="noStrike">
                          <a:effectLst/>
                        </a:rPr>
                        <a:t>87.09</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ctr"/>
                      <a:r>
                        <a:rPr lang="en-GB" sz="1600" u="none" strike="noStrike">
                          <a:effectLst/>
                        </a:rPr>
                        <a:t>1085.81</a:t>
                      </a:r>
                      <a:endParaRPr lang="en-GB" sz="1600" b="0" i="0" u="none" strike="noStrike">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b"/>
                      <a:r>
                        <a:rPr kumimoji="0" lang="en-GB" sz="1600" u="none" strike="noStrike" kern="1200">
                          <a:solidFill>
                            <a:schemeClr val="dk1"/>
                          </a:solidFill>
                          <a:effectLst/>
                          <a:latin typeface="+mn-lt"/>
                          <a:ea typeface="+mn-ea"/>
                          <a:cs typeface="+mn-cs"/>
                        </a:rPr>
                        <a:t> $    -351.59 </a:t>
                      </a:r>
                    </a:p>
                  </a:txBody>
                  <a:tcPr marL="3810" marR="3810" marT="3810" marB="0" anchor="b">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258967570"/>
                  </a:ext>
                </a:extLst>
              </a:tr>
              <a:tr h="435356">
                <a:tc>
                  <a:txBody>
                    <a:bodyPr/>
                    <a:lstStyle/>
                    <a:p>
                      <a:pPr algn="ctr" rtl="0" fontAlgn="ctr"/>
                      <a:r>
                        <a:rPr lang="en-GB" sz="1600" u="none" strike="noStrike">
                          <a:effectLst/>
                        </a:rPr>
                        <a:t>8</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13681</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1510.38</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30%</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b"/>
                      <a:r>
                        <a:rPr lang="en-GB" sz="1600" u="none" strike="noStrike" dirty="0">
                          <a:effectLst/>
                        </a:rPr>
                        <a:t>8.76%</a:t>
                      </a:r>
                      <a:endParaRPr lang="en-GB" sz="1600" b="0" i="0" u="none" strike="noStrike" dirty="0">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ctr"/>
                      <a:r>
                        <a:rPr lang="en-GB" sz="1600" u="none" strike="noStrike">
                          <a:effectLst/>
                        </a:rPr>
                        <a:t>1198.46</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b"/>
                      <a:r>
                        <a:rPr lang="en-GB" sz="1600" u="none" strike="noStrike">
                          <a:effectLst/>
                        </a:rPr>
                        <a:t>3.31%</a:t>
                      </a:r>
                      <a:endParaRPr lang="en-GB" sz="1600" b="0" i="0" u="none" strike="noStrike">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ctr"/>
                      <a:r>
                        <a:rPr lang="en-GB" sz="1600" u="none" strike="noStrike">
                          <a:effectLst/>
                        </a:rPr>
                        <a:t>75.47</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ctr"/>
                      <a:r>
                        <a:rPr lang="en-GB" sz="1600" u="none" strike="noStrike">
                          <a:effectLst/>
                        </a:rPr>
                        <a:t>1273.92</a:t>
                      </a:r>
                      <a:endParaRPr lang="en-GB" sz="1600" b="0" i="0" u="none" strike="noStrike">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b"/>
                      <a:r>
                        <a:rPr kumimoji="0" lang="en-GB" sz="1600" u="none" strike="noStrike" kern="1200" dirty="0">
                          <a:solidFill>
                            <a:schemeClr val="dk1"/>
                          </a:solidFill>
                          <a:effectLst/>
                          <a:latin typeface="+mn-lt"/>
                          <a:ea typeface="+mn-ea"/>
                          <a:cs typeface="+mn-cs"/>
                        </a:rPr>
                        <a:t> $    -216.66 </a:t>
                      </a:r>
                    </a:p>
                  </a:txBody>
                  <a:tcPr marL="3810" marR="3810" marT="3810" marB="0" anchor="b">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942657611"/>
                  </a:ext>
                </a:extLst>
              </a:tr>
              <a:tr h="435356">
                <a:tc>
                  <a:txBody>
                    <a:bodyPr/>
                    <a:lstStyle/>
                    <a:p>
                      <a:pPr algn="ctr" rtl="0" fontAlgn="ctr"/>
                      <a:r>
                        <a:rPr lang="en-GB" sz="1600" u="none" strike="noStrike">
                          <a:effectLst/>
                        </a:rPr>
                        <a:t>9</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15049</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1846.51</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30%</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b"/>
                      <a:r>
                        <a:rPr lang="en-GB" sz="1600" u="none" strike="noStrike">
                          <a:effectLst/>
                        </a:rPr>
                        <a:t>8.76%</a:t>
                      </a:r>
                      <a:endParaRPr lang="en-GB" sz="1600" b="0" i="0" u="none" strike="noStrike">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ctr"/>
                      <a:r>
                        <a:rPr lang="en-GB" sz="1600" u="none" strike="noStrike">
                          <a:effectLst/>
                        </a:rPr>
                        <a:t>1318.29</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b"/>
                      <a:r>
                        <a:rPr lang="en-GB" sz="1600" u="none" strike="noStrike">
                          <a:effectLst/>
                        </a:rPr>
                        <a:t>3.31%</a:t>
                      </a:r>
                      <a:endParaRPr lang="en-GB" sz="1600" b="0" i="0" u="none" strike="noStrike">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ctr"/>
                      <a:r>
                        <a:rPr lang="en-GB" sz="1600" u="none" strike="noStrike">
                          <a:effectLst/>
                        </a:rPr>
                        <a:t>45.28</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ctr"/>
                      <a:r>
                        <a:rPr lang="en-GB" sz="1600" u="none" strike="noStrike">
                          <a:effectLst/>
                        </a:rPr>
                        <a:t>1363.57</a:t>
                      </a:r>
                      <a:endParaRPr lang="en-GB" sz="1600" b="0" i="0" u="none" strike="noStrike">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b"/>
                      <a:r>
                        <a:rPr kumimoji="0" lang="en-GB" sz="1600" u="none" strike="noStrike" kern="1200" dirty="0">
                          <a:solidFill>
                            <a:schemeClr val="dk1"/>
                          </a:solidFill>
                          <a:effectLst/>
                          <a:latin typeface="+mn-lt"/>
                          <a:ea typeface="+mn-ea"/>
                          <a:cs typeface="+mn-cs"/>
                        </a:rPr>
                        <a:t> $      -71.01 </a:t>
                      </a:r>
                    </a:p>
                  </a:txBody>
                  <a:tcPr marL="3810" marR="3810" marT="3810" marB="0" anchor="b">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463696269"/>
                  </a:ext>
                </a:extLst>
              </a:tr>
              <a:tr h="435356">
                <a:tc>
                  <a:txBody>
                    <a:bodyPr/>
                    <a:lstStyle/>
                    <a:p>
                      <a:pPr algn="ctr" rtl="0" fontAlgn="ctr"/>
                      <a:r>
                        <a:rPr lang="en-GB" sz="1600" u="none" strike="noStrike">
                          <a:effectLst/>
                        </a:rPr>
                        <a:t>10</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15802</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2066.90</a:t>
                      </a:r>
                      <a:endParaRPr lang="en-GB" sz="1600" b="0" i="0" u="none" strike="noStrike">
                        <a:solidFill>
                          <a:srgbClr val="000000"/>
                        </a:solidFill>
                        <a:effectLst/>
                        <a:latin typeface="Century Schoolbook" panose="02040604050505020304" pitchFamily="18" charset="0"/>
                      </a:endParaRPr>
                    </a:p>
                  </a:txBody>
                  <a:tcPr marL="3410" marR="3410" marT="3410" marB="0" anchor="ctr"/>
                </a:tc>
                <a:tc>
                  <a:txBody>
                    <a:bodyPr/>
                    <a:lstStyle/>
                    <a:p>
                      <a:pPr algn="ctr" rtl="0" fontAlgn="ctr"/>
                      <a:r>
                        <a:rPr lang="en-GB" sz="1600" u="none" strike="noStrike">
                          <a:effectLst/>
                        </a:rPr>
                        <a:t>30%</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b"/>
                      <a:r>
                        <a:rPr lang="en-GB" sz="1600" u="none" strike="noStrike" dirty="0">
                          <a:effectLst/>
                        </a:rPr>
                        <a:t>8.76%</a:t>
                      </a:r>
                      <a:endParaRPr lang="en-GB" sz="1600" b="0" i="0" u="none" strike="noStrike" dirty="0">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ctr"/>
                      <a:r>
                        <a:rPr lang="en-GB" sz="1600" u="none" strike="noStrike">
                          <a:effectLst/>
                        </a:rPr>
                        <a:t>1384.26</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b"/>
                      <a:r>
                        <a:rPr lang="en-GB" sz="1600" u="none" strike="noStrike">
                          <a:effectLst/>
                        </a:rPr>
                        <a:t>3.31%</a:t>
                      </a:r>
                      <a:endParaRPr lang="en-GB" sz="1600" b="0" i="0" u="none" strike="noStrike">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ctr"/>
                      <a:r>
                        <a:rPr lang="en-GB" sz="1600" u="none" strike="noStrike">
                          <a:effectLst/>
                        </a:rPr>
                        <a:t>24.92</a:t>
                      </a:r>
                      <a:endParaRPr lang="en-GB" sz="1600" b="0" i="0" u="none" strike="noStrike">
                        <a:solidFill>
                          <a:srgbClr val="000000"/>
                        </a:solidFill>
                        <a:effectLst/>
                        <a:latin typeface="Century Schoolbook" panose="02040604050505020304" pitchFamily="18" charset="0"/>
                      </a:endParaRPr>
                    </a:p>
                  </a:txBody>
                  <a:tcPr marL="3410" marR="3410" marT="3410" marB="0" anchor="ctr">
                    <a:lnR w="12700" cap="flat" cmpd="sng" algn="ctr">
                      <a:solidFill>
                        <a:schemeClr val="tx1"/>
                      </a:solidFill>
                      <a:prstDash val="solid"/>
                      <a:round/>
                      <a:headEnd type="none" w="med" len="med"/>
                      <a:tailEnd type="none" w="med" len="med"/>
                    </a:lnR>
                  </a:tcPr>
                </a:tc>
                <a:tc>
                  <a:txBody>
                    <a:bodyPr/>
                    <a:lstStyle/>
                    <a:p>
                      <a:pPr algn="ctr" rtl="0" fontAlgn="ctr"/>
                      <a:r>
                        <a:rPr lang="en-GB" sz="1600" u="none" strike="noStrike" dirty="0">
                          <a:effectLst/>
                        </a:rPr>
                        <a:t>1409.18</a:t>
                      </a:r>
                      <a:endParaRPr lang="en-GB" sz="1600" b="0" i="0" u="none" strike="noStrike" dirty="0">
                        <a:solidFill>
                          <a:srgbClr val="000000"/>
                        </a:solidFill>
                        <a:effectLst/>
                        <a:latin typeface="Century Schoolbook" panose="02040604050505020304" pitchFamily="18" charset="0"/>
                      </a:endParaRPr>
                    </a:p>
                  </a:txBody>
                  <a:tcPr marL="3410" marR="3410" marT="3410" marB="0" anchor="ctr">
                    <a:lnL w="12700" cap="flat" cmpd="sng" algn="ctr">
                      <a:solidFill>
                        <a:schemeClr val="tx1"/>
                      </a:solidFill>
                      <a:prstDash val="solid"/>
                      <a:round/>
                      <a:headEnd type="none" w="med" len="med"/>
                      <a:tailEnd type="none" w="med" len="med"/>
                    </a:lnL>
                  </a:tcPr>
                </a:tc>
                <a:tc>
                  <a:txBody>
                    <a:bodyPr/>
                    <a:lstStyle/>
                    <a:p>
                      <a:pPr algn="ctr" rtl="0" fontAlgn="b"/>
                      <a:r>
                        <a:rPr kumimoji="0" lang="en-GB" sz="1600" u="none" strike="noStrike" kern="1200" dirty="0">
                          <a:solidFill>
                            <a:schemeClr val="dk1"/>
                          </a:solidFill>
                          <a:effectLst/>
                          <a:latin typeface="+mn-lt"/>
                          <a:ea typeface="+mn-ea"/>
                          <a:cs typeface="+mn-cs"/>
                        </a:rPr>
                        <a:t> $       37.65 </a:t>
                      </a:r>
                    </a:p>
                  </a:txBody>
                  <a:tcPr marL="3810" marR="3810" marT="3810" marB="0" anchor="b">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620644583"/>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34300-117A-4DE6-94C2-1B069337FBD1}"/>
              </a:ext>
            </a:extLst>
          </p:cNvPr>
          <p:cNvSpPr>
            <a:spLocks noGrp="1"/>
          </p:cNvSpPr>
          <p:nvPr>
            <p:ph type="title"/>
          </p:nvPr>
        </p:nvSpPr>
        <p:spPr/>
        <p:txBody>
          <a:bodyPr/>
          <a:lstStyle/>
          <a:p>
            <a:pPr algn="ctr"/>
            <a:r>
              <a:rPr lang="en-GB" dirty="0"/>
              <a:t>Money Loosing Firm: Case Study</a:t>
            </a:r>
          </a:p>
        </p:txBody>
      </p:sp>
      <p:sp>
        <p:nvSpPr>
          <p:cNvPr id="4" name="Slide Number Placeholder 3">
            <a:extLst>
              <a:ext uri="{FF2B5EF4-FFF2-40B4-BE49-F238E27FC236}">
                <a16:creationId xmlns:a16="http://schemas.microsoft.com/office/drawing/2014/main" id="{21237A47-EAE3-4182-9F91-FB0FBDA5F8C8}"/>
              </a:ext>
            </a:extLst>
          </p:cNvPr>
          <p:cNvSpPr>
            <a:spLocks noGrp="1"/>
          </p:cNvSpPr>
          <p:nvPr>
            <p:ph type="sldNum" sz="quarter" idx="11"/>
          </p:nvPr>
        </p:nvSpPr>
        <p:spPr/>
        <p:txBody>
          <a:bodyPr/>
          <a:lstStyle/>
          <a:p>
            <a:pPr>
              <a:defRPr/>
            </a:pPr>
            <a:fld id="{C3168C1A-0F73-4148-A9C6-17783D0D792E}" type="slidenum">
              <a:rPr lang="en-GB" smtClean="0"/>
              <a:pPr>
                <a:defRPr/>
              </a:pPr>
              <a:t>70</a:t>
            </a:fld>
            <a:endParaRPr lang="en-GB"/>
          </a:p>
        </p:txBody>
      </p:sp>
      <p:graphicFrame>
        <p:nvGraphicFramePr>
          <p:cNvPr id="6" name="Object 5">
            <a:extLst>
              <a:ext uri="{FF2B5EF4-FFF2-40B4-BE49-F238E27FC236}">
                <a16:creationId xmlns:a16="http://schemas.microsoft.com/office/drawing/2014/main" id="{DA0B8C3F-4F96-4611-AC47-DFA7DFE37005}"/>
              </a:ext>
            </a:extLst>
          </p:cNvPr>
          <p:cNvGraphicFramePr>
            <a:graphicFrameLocks noChangeAspect="1"/>
          </p:cNvGraphicFramePr>
          <p:nvPr>
            <p:extLst>
              <p:ext uri="{D42A27DB-BD31-4B8C-83A1-F6EECF244321}">
                <p14:modId xmlns:p14="http://schemas.microsoft.com/office/powerpoint/2010/main" val="3371611499"/>
              </p:ext>
            </p:extLst>
          </p:nvPr>
        </p:nvGraphicFramePr>
        <p:xfrm>
          <a:off x="2843808" y="2348880"/>
          <a:ext cx="3045193" cy="2627535"/>
        </p:xfrm>
        <a:graphic>
          <a:graphicData uri="http://schemas.openxmlformats.org/presentationml/2006/ole">
            <mc:AlternateContent xmlns:mc="http://schemas.openxmlformats.org/markup-compatibility/2006">
              <mc:Choice xmlns:v="urn:schemas-microsoft-com:vml" Requires="v">
                <p:oleObj name="Document" showAsIcon="1" r:id="rId2" imgW="914400" imgH="788848" progId="Word.Document.12">
                  <p:embed/>
                </p:oleObj>
              </mc:Choice>
              <mc:Fallback>
                <p:oleObj name="Document" showAsIcon="1" r:id="rId2" imgW="914400" imgH="788848" progId="Word.Document.12">
                  <p:embed/>
                  <p:pic>
                    <p:nvPicPr>
                      <p:cNvPr id="6" name="Object 5">
                        <a:extLst>
                          <a:ext uri="{FF2B5EF4-FFF2-40B4-BE49-F238E27FC236}">
                            <a16:creationId xmlns:a16="http://schemas.microsoft.com/office/drawing/2014/main" id="{DA0B8C3F-4F96-4611-AC47-DFA7DFE37005}"/>
                          </a:ext>
                        </a:extLst>
                      </p:cNvPr>
                      <p:cNvPicPr/>
                      <p:nvPr/>
                    </p:nvPicPr>
                    <p:blipFill>
                      <a:blip r:embed="rId3"/>
                      <a:stretch>
                        <a:fillRect/>
                      </a:stretch>
                    </p:blipFill>
                    <p:spPr>
                      <a:xfrm>
                        <a:off x="2843808" y="2348880"/>
                        <a:ext cx="3045193" cy="2627535"/>
                      </a:xfrm>
                      <a:prstGeom prst="rect">
                        <a:avLst/>
                      </a:prstGeom>
                    </p:spPr>
                  </p:pic>
                </p:oleObj>
              </mc:Fallback>
            </mc:AlternateContent>
          </a:graphicData>
        </a:graphic>
      </p:graphicFrame>
    </p:spTree>
    <p:extLst>
      <p:ext uri="{BB962C8B-B14F-4D97-AF65-F5344CB8AC3E}">
        <p14:creationId xmlns:p14="http://schemas.microsoft.com/office/powerpoint/2010/main" val="30101924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18058"/>
          </a:xfrm>
        </p:spPr>
        <p:txBody>
          <a:bodyPr>
            <a:normAutofit fontScale="90000"/>
          </a:bodyPr>
          <a:lstStyle/>
          <a:p>
            <a:r>
              <a:rPr lang="en-GB" dirty="0"/>
              <a:t>Operating Leases-Example</a:t>
            </a:r>
          </a:p>
        </p:txBody>
      </p:sp>
      <p:sp>
        <p:nvSpPr>
          <p:cNvPr id="3" name="Content Placeholder 2"/>
          <p:cNvSpPr>
            <a:spLocks noGrp="1"/>
          </p:cNvSpPr>
          <p:nvPr>
            <p:ph sz="quarter" idx="1"/>
          </p:nvPr>
        </p:nvSpPr>
        <p:spPr>
          <a:xfrm>
            <a:off x="251520" y="692696"/>
            <a:ext cx="8568952" cy="6048672"/>
          </a:xfrm>
        </p:spPr>
        <p:txBody>
          <a:bodyPr>
            <a:normAutofit fontScale="92500" lnSpcReduction="20000"/>
          </a:bodyPr>
          <a:lstStyle/>
          <a:p>
            <a:pPr marL="0" indent="0" algn="ctr" eaLnBrk="1" fontAlgn="auto" hangingPunct="1">
              <a:spcAft>
                <a:spcPts val="0"/>
              </a:spcAft>
              <a:buNone/>
              <a:tabLst>
                <a:tab pos="1036638" algn="l"/>
                <a:tab pos="3894138" algn="l"/>
              </a:tabLst>
              <a:defRPr/>
            </a:pPr>
            <a:r>
              <a:rPr lang="en-US" dirty="0"/>
              <a:t>The Gap has EBIT equal to $1.012b, conventional debt of about $ 1.97 billion on its balance sheet and its pre-tax (35%) cost of debt is about 6%. Its operating lease payments for the </a:t>
            </a:r>
            <a:r>
              <a:rPr lang="en-US" b="1" dirty="0"/>
              <a:t>previous</a:t>
            </a:r>
            <a:r>
              <a:rPr lang="en-US" dirty="0"/>
              <a:t> year were $978m and its commitments for the future are below:</a:t>
            </a:r>
          </a:p>
          <a:p>
            <a:pPr marL="274320" indent="-274320" algn="ctr" eaLnBrk="1" fontAlgn="auto" hangingPunct="1">
              <a:spcAft>
                <a:spcPts val="0"/>
              </a:spcAft>
              <a:buFont typeface="Monotype Sorts" charset="2"/>
              <a:buNone/>
              <a:tabLst>
                <a:tab pos="1036638" algn="l"/>
                <a:tab pos="3894138" algn="l"/>
              </a:tabLst>
              <a:defRPr/>
            </a:pPr>
            <a:endParaRPr lang="en-US" sz="1800" dirty="0"/>
          </a:p>
          <a:p>
            <a:pPr marL="274320" indent="-274320" algn="ctr" eaLnBrk="1" fontAlgn="auto" hangingPunct="1">
              <a:spcAft>
                <a:spcPts val="0"/>
              </a:spcAft>
              <a:buFont typeface="Monotype Sorts" charset="2"/>
              <a:buNone/>
              <a:tabLst>
                <a:tab pos="1036638" algn="l"/>
                <a:tab pos="3894138" algn="l"/>
              </a:tabLst>
              <a:defRPr/>
            </a:pPr>
            <a:r>
              <a:rPr lang="en-US" sz="1800" dirty="0"/>
              <a:t>Year	Commitment (millions)	</a:t>
            </a:r>
          </a:p>
          <a:p>
            <a:pPr marL="274320" indent="-274320" algn="ctr" eaLnBrk="1" fontAlgn="auto" hangingPunct="1">
              <a:spcAft>
                <a:spcPts val="0"/>
              </a:spcAft>
              <a:buFont typeface="Monotype Sorts" charset="2"/>
              <a:buNone/>
              <a:tabLst>
                <a:tab pos="1036638" algn="l"/>
                <a:tab pos="3894138" algn="l"/>
              </a:tabLst>
              <a:defRPr/>
            </a:pPr>
            <a:r>
              <a:rPr lang="en-US" sz="1800" dirty="0"/>
              <a:t>1	 	$899.00 	 </a:t>
            </a:r>
          </a:p>
          <a:p>
            <a:pPr marL="274320" indent="-274320" algn="ctr" eaLnBrk="1" fontAlgn="auto" hangingPunct="1">
              <a:spcAft>
                <a:spcPts val="0"/>
              </a:spcAft>
              <a:buFont typeface="Monotype Sorts" charset="2"/>
              <a:buNone/>
              <a:tabLst>
                <a:tab pos="1036638" algn="l"/>
                <a:tab pos="3894138" algn="l"/>
              </a:tabLst>
              <a:defRPr/>
            </a:pPr>
            <a:r>
              <a:rPr lang="en-US" sz="1800" dirty="0"/>
              <a:t>2	 	$846.00 	 </a:t>
            </a:r>
          </a:p>
          <a:p>
            <a:pPr marL="274320" indent="-274320" algn="ctr" eaLnBrk="1" fontAlgn="auto" hangingPunct="1">
              <a:spcAft>
                <a:spcPts val="0"/>
              </a:spcAft>
              <a:buFont typeface="Monotype Sorts" charset="2"/>
              <a:buNone/>
              <a:tabLst>
                <a:tab pos="1036638" algn="l"/>
                <a:tab pos="3894138" algn="l"/>
              </a:tabLst>
              <a:defRPr/>
            </a:pPr>
            <a:r>
              <a:rPr lang="en-US" sz="1800" dirty="0"/>
              <a:t>3	 	$738.00 	</a:t>
            </a:r>
          </a:p>
          <a:p>
            <a:pPr marL="274320" indent="-274320" algn="ctr" eaLnBrk="1" fontAlgn="auto" hangingPunct="1">
              <a:spcAft>
                <a:spcPts val="0"/>
              </a:spcAft>
              <a:buFont typeface="Monotype Sorts" charset="2"/>
              <a:buNone/>
              <a:tabLst>
                <a:tab pos="1036638" algn="l"/>
                <a:tab pos="3894138" algn="l"/>
              </a:tabLst>
              <a:defRPr/>
            </a:pPr>
            <a:r>
              <a:rPr lang="en-US" sz="1800" dirty="0"/>
              <a:t>4	 	$598.00 	</a:t>
            </a:r>
          </a:p>
          <a:p>
            <a:pPr marL="274320" indent="-274320" algn="ctr" eaLnBrk="1" fontAlgn="auto" hangingPunct="1">
              <a:spcAft>
                <a:spcPts val="0"/>
              </a:spcAft>
              <a:buFont typeface="Monotype Sorts" charset="2"/>
              <a:buNone/>
              <a:tabLst>
                <a:tab pos="1036638" algn="l"/>
                <a:tab pos="3894138" algn="l"/>
              </a:tabLst>
              <a:defRPr/>
            </a:pPr>
            <a:r>
              <a:rPr lang="en-US" sz="1800" dirty="0"/>
              <a:t>5	 	$477.00 	</a:t>
            </a:r>
          </a:p>
          <a:p>
            <a:pPr marL="274320" indent="-274320" algn="ctr" eaLnBrk="1" fontAlgn="auto" hangingPunct="1">
              <a:spcAft>
                <a:spcPts val="0"/>
              </a:spcAft>
              <a:buFont typeface="Monotype Sorts" charset="2"/>
              <a:buNone/>
              <a:tabLst>
                <a:tab pos="1036638" algn="l"/>
                <a:tab pos="3894138" algn="l"/>
              </a:tabLst>
              <a:defRPr/>
            </a:pPr>
            <a:r>
              <a:rPr lang="en-US" sz="1800" dirty="0"/>
              <a:t>6&amp;7	$982.50 each year	</a:t>
            </a:r>
          </a:p>
          <a:p>
            <a:pPr marL="274320" indent="-274320" algn="ctr" eaLnBrk="1" fontAlgn="auto" hangingPunct="1">
              <a:spcAft>
                <a:spcPts val="0"/>
              </a:spcAft>
              <a:buFont typeface="Monotype Sorts" charset="2"/>
              <a:buNone/>
              <a:tabLst>
                <a:tab pos="1036638" algn="l"/>
                <a:tab pos="3894138" algn="l"/>
              </a:tabLst>
              <a:defRPr/>
            </a:pPr>
            <a:endParaRPr lang="en-US" sz="1800" dirty="0"/>
          </a:p>
          <a:p>
            <a:pPr marL="0" indent="0" algn="ctr">
              <a:buNone/>
            </a:pPr>
            <a:r>
              <a:rPr lang="en-GB" dirty="0"/>
              <a:t>Other figures for GAP include</a:t>
            </a:r>
          </a:p>
          <a:p>
            <a:pPr marL="0" indent="0" algn="ctr">
              <a:buNone/>
            </a:pPr>
            <a:endParaRPr lang="en-GB" dirty="0"/>
          </a:p>
          <a:p>
            <a:pPr marL="0" indent="0" algn="ctr">
              <a:buNone/>
            </a:pPr>
            <a:endParaRPr lang="en-GB" dirty="0"/>
          </a:p>
          <a:p>
            <a:pPr marL="0" indent="0" algn="ctr">
              <a:buNone/>
            </a:pPr>
            <a:endParaRPr lang="en-GB" dirty="0"/>
          </a:p>
          <a:p>
            <a:pPr marL="0" indent="0" algn="ctr">
              <a:buNone/>
            </a:pPr>
            <a:endParaRPr lang="en-GB" dirty="0"/>
          </a:p>
          <a:p>
            <a:pPr marL="0" indent="0" algn="ctr">
              <a:buNone/>
            </a:pPr>
            <a:r>
              <a:rPr lang="en-GB" dirty="0"/>
              <a:t>What is the Adjusted Operating Income?</a:t>
            </a:r>
          </a:p>
        </p:txBody>
      </p:sp>
      <p:graphicFrame>
        <p:nvGraphicFramePr>
          <p:cNvPr id="4" name="Table 3"/>
          <p:cNvGraphicFramePr>
            <a:graphicFrameLocks noGrp="1"/>
          </p:cNvGraphicFramePr>
          <p:nvPr/>
        </p:nvGraphicFramePr>
        <p:xfrm>
          <a:off x="2051720" y="4797152"/>
          <a:ext cx="4320480" cy="1111424"/>
        </p:xfrm>
        <a:graphic>
          <a:graphicData uri="http://schemas.openxmlformats.org/drawingml/2006/table">
            <a:tbl>
              <a:tblPr>
                <a:tableStyleId>{5C22544A-7EE6-4342-B048-85BDC9FD1C3A}</a:tableStyleId>
              </a:tblPr>
              <a:tblGrid>
                <a:gridCol w="2160240">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tblGrid>
              <a:tr h="379904">
                <a:tc>
                  <a:txBody>
                    <a:bodyPr/>
                    <a:lstStyle/>
                    <a:p>
                      <a:pPr algn="ctr" fontAlgn="b"/>
                      <a:r>
                        <a:rPr lang="en-GB" sz="1600" u="none" strike="noStrike" dirty="0">
                          <a:effectLst/>
                        </a:rPr>
                        <a:t>MV of Debt=BV Debt</a:t>
                      </a:r>
                      <a:endParaRPr lang="en-GB" sz="1600" b="0" i="0" u="none" strike="noStrike" dirty="0">
                        <a:effectLst/>
                        <a:latin typeface="Geneva"/>
                      </a:endParaRPr>
                    </a:p>
                  </a:txBody>
                  <a:tcPr marL="0" marR="0" marT="0" marB="0" anchor="ctr">
                    <a:noFill/>
                  </a:tcPr>
                </a:tc>
                <a:tc>
                  <a:txBody>
                    <a:bodyPr/>
                    <a:lstStyle/>
                    <a:p>
                      <a:pPr algn="ctr" fontAlgn="b"/>
                      <a:r>
                        <a:rPr lang="en-GB" sz="1600" u="none" strike="noStrike" dirty="0">
                          <a:effectLst/>
                        </a:rPr>
                        <a:t>$1,970m</a:t>
                      </a:r>
                      <a:endParaRPr lang="en-GB" sz="1600" b="0" i="0" u="none" strike="noStrike" dirty="0">
                        <a:effectLst/>
                        <a:latin typeface="Geneva"/>
                      </a:endParaRPr>
                    </a:p>
                  </a:txBody>
                  <a:tcPr marL="0" marR="0" marT="0" marB="0" anchor="ctr">
                    <a:noFill/>
                  </a:tcPr>
                </a:tc>
                <a:extLst>
                  <a:ext uri="{0D108BD9-81ED-4DB2-BD59-A6C34878D82A}">
                    <a16:rowId xmlns:a16="http://schemas.microsoft.com/office/drawing/2014/main" val="10000"/>
                  </a:ext>
                </a:extLst>
              </a:tr>
              <a:tr h="211058">
                <a:tc>
                  <a:txBody>
                    <a:bodyPr/>
                    <a:lstStyle/>
                    <a:p>
                      <a:pPr algn="ctr" fontAlgn="b"/>
                      <a:r>
                        <a:rPr lang="en-GB" sz="1600" u="none" strike="noStrike" dirty="0">
                          <a:effectLst/>
                        </a:rPr>
                        <a:t>BV of Equity</a:t>
                      </a:r>
                      <a:endParaRPr lang="en-GB" sz="1600" b="0" i="0" u="none" strike="noStrike" dirty="0">
                        <a:effectLst/>
                        <a:latin typeface="Geneva"/>
                      </a:endParaRPr>
                    </a:p>
                  </a:txBody>
                  <a:tcPr marL="0" marR="0" marT="0" marB="0" anchor="ctr">
                    <a:noFill/>
                  </a:tcPr>
                </a:tc>
                <a:tc>
                  <a:txBody>
                    <a:bodyPr/>
                    <a:lstStyle/>
                    <a:p>
                      <a:pPr algn="ctr" fontAlgn="b"/>
                      <a:r>
                        <a:rPr lang="en-GB" sz="1600" u="none" strike="noStrike" dirty="0">
                          <a:effectLst/>
                        </a:rPr>
                        <a:t>$3,130m</a:t>
                      </a:r>
                      <a:endParaRPr lang="en-GB" sz="1600" b="0" i="0" u="none" strike="noStrike" dirty="0">
                        <a:effectLst/>
                        <a:latin typeface="Geneva"/>
                      </a:endParaRPr>
                    </a:p>
                  </a:txBody>
                  <a:tcPr marL="0" marR="0" marT="0" marB="0" anchor="ctr">
                    <a:noFill/>
                  </a:tcPr>
                </a:tc>
                <a:extLst>
                  <a:ext uri="{0D108BD9-81ED-4DB2-BD59-A6C34878D82A}">
                    <a16:rowId xmlns:a16="http://schemas.microsoft.com/office/drawing/2014/main" val="10001"/>
                  </a:ext>
                </a:extLst>
              </a:tr>
              <a:tr h="211058">
                <a:tc>
                  <a:txBody>
                    <a:bodyPr/>
                    <a:lstStyle/>
                    <a:p>
                      <a:pPr algn="ctr" fontAlgn="b"/>
                      <a:r>
                        <a:rPr lang="en-GB" sz="1600" u="none" strike="noStrike" dirty="0">
                          <a:effectLst/>
                        </a:rPr>
                        <a:t>MV of Equity</a:t>
                      </a:r>
                      <a:endParaRPr lang="en-GB" sz="1600" b="0" i="0" u="none" strike="noStrike" dirty="0">
                        <a:effectLst/>
                        <a:latin typeface="Geneva"/>
                      </a:endParaRPr>
                    </a:p>
                  </a:txBody>
                  <a:tcPr marL="0" marR="0" marT="0" marB="0" anchor="ctr">
                    <a:noFill/>
                  </a:tcPr>
                </a:tc>
                <a:tc>
                  <a:txBody>
                    <a:bodyPr/>
                    <a:lstStyle/>
                    <a:p>
                      <a:pPr algn="ctr" fontAlgn="b"/>
                      <a:r>
                        <a:rPr lang="en-GB" sz="1600" u="none" strike="noStrike" dirty="0">
                          <a:effectLst/>
                        </a:rPr>
                        <a:t>$7,350m</a:t>
                      </a:r>
                      <a:endParaRPr lang="en-GB" sz="1600" b="0" i="0" u="none" strike="noStrike" dirty="0">
                        <a:effectLst/>
                        <a:latin typeface="Geneva"/>
                      </a:endParaRPr>
                    </a:p>
                  </a:txBody>
                  <a:tcPr marL="0" marR="0" marT="0" marB="0" anchor="ctr">
                    <a:noFill/>
                  </a:tcPr>
                </a:tc>
                <a:extLst>
                  <a:ext uri="{0D108BD9-81ED-4DB2-BD59-A6C34878D82A}">
                    <a16:rowId xmlns:a16="http://schemas.microsoft.com/office/drawing/2014/main" val="10002"/>
                  </a:ext>
                </a:extLst>
              </a:tr>
              <a:tr h="211058">
                <a:tc>
                  <a:txBody>
                    <a:bodyPr/>
                    <a:lstStyle/>
                    <a:p>
                      <a:pPr algn="ctr" fontAlgn="b"/>
                      <a:r>
                        <a:rPr lang="en-GB" sz="1600" u="none" strike="noStrike">
                          <a:effectLst/>
                        </a:rPr>
                        <a:t>ke</a:t>
                      </a:r>
                      <a:endParaRPr lang="en-GB" sz="1600" b="0" i="0" u="none" strike="noStrike">
                        <a:effectLst/>
                        <a:latin typeface="Geneva"/>
                      </a:endParaRPr>
                    </a:p>
                  </a:txBody>
                  <a:tcPr marL="0" marR="0" marT="0" marB="0" anchor="ctr">
                    <a:noFill/>
                  </a:tcPr>
                </a:tc>
                <a:tc>
                  <a:txBody>
                    <a:bodyPr/>
                    <a:lstStyle/>
                    <a:p>
                      <a:pPr algn="ctr" fontAlgn="b"/>
                      <a:r>
                        <a:rPr lang="en-GB" sz="1600" u="none" strike="noStrike" dirty="0">
                          <a:effectLst/>
                        </a:rPr>
                        <a:t>8.2%</a:t>
                      </a:r>
                      <a:endParaRPr lang="en-GB" sz="1600" b="0" i="0" u="none" strike="noStrike" dirty="0">
                        <a:effectLst/>
                        <a:latin typeface="Geneva"/>
                      </a:endParaRPr>
                    </a:p>
                  </a:txBody>
                  <a:tcPr marL="0" marR="0" marT="0" marB="0" anchor="ctr">
                    <a:noFill/>
                  </a:tcPr>
                </a:tc>
                <a:extLst>
                  <a:ext uri="{0D108BD9-81ED-4DB2-BD59-A6C34878D82A}">
                    <a16:rowId xmlns:a16="http://schemas.microsoft.com/office/drawing/2014/main" val="10003"/>
                  </a:ext>
                </a:extLst>
              </a:tr>
            </a:tbl>
          </a:graphicData>
        </a:graphic>
      </p:graphicFrame>
      <p:sp>
        <p:nvSpPr>
          <p:cNvPr id="5" name="Slide Number Placeholder 4"/>
          <p:cNvSpPr>
            <a:spLocks noGrp="1"/>
          </p:cNvSpPr>
          <p:nvPr>
            <p:ph type="sldNum" sz="quarter" idx="11"/>
          </p:nvPr>
        </p:nvSpPr>
        <p:spPr/>
        <p:txBody>
          <a:bodyPr/>
          <a:lstStyle/>
          <a:p>
            <a:pPr>
              <a:defRPr/>
            </a:pPr>
            <a:fld id="{C3168C1A-0F73-4148-A9C6-17783D0D792E}" type="slidenum">
              <a:rPr lang="en-GB" smtClean="0"/>
              <a:pPr>
                <a:defRPr/>
              </a:pPr>
              <a:t>71</a:t>
            </a:fld>
            <a:endParaRPr lang="en-GB"/>
          </a:p>
        </p:txBody>
      </p:sp>
    </p:spTree>
    <p:extLst>
      <p:ext uri="{BB962C8B-B14F-4D97-AF65-F5344CB8AC3E}">
        <p14:creationId xmlns:p14="http://schemas.microsoft.com/office/powerpoint/2010/main" val="371933054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2386" name="Rectangle 2"/>
          <p:cNvSpPr>
            <a:spLocks noGrp="1" noChangeArrowheads="1"/>
          </p:cNvSpPr>
          <p:nvPr>
            <p:ph type="title"/>
          </p:nvPr>
        </p:nvSpPr>
        <p:spPr>
          <a:xfrm>
            <a:off x="457200" y="274638"/>
            <a:ext cx="7467600" cy="706090"/>
          </a:xfrm>
        </p:spPr>
        <p:txBody>
          <a:bodyPr/>
          <a:lstStyle/>
          <a:p>
            <a:pPr eaLnBrk="1" fontAlgn="auto" hangingPunct="1">
              <a:spcAft>
                <a:spcPts val="0"/>
              </a:spcAft>
              <a:defRPr/>
            </a:pPr>
            <a:r>
              <a:rPr lang="en-US" dirty="0"/>
              <a:t>Operating Leases at The Gap</a:t>
            </a:r>
          </a:p>
        </p:txBody>
      </p:sp>
      <p:sp>
        <p:nvSpPr>
          <p:cNvPr id="272387" name="Rectangle 3"/>
          <p:cNvSpPr>
            <a:spLocks noGrp="1" noChangeArrowheads="1"/>
          </p:cNvSpPr>
          <p:nvPr>
            <p:ph sz="quarter" idx="1"/>
          </p:nvPr>
        </p:nvSpPr>
        <p:spPr>
          <a:xfrm>
            <a:off x="457200" y="980728"/>
            <a:ext cx="7931224" cy="5805264"/>
          </a:xfrm>
        </p:spPr>
        <p:txBody>
          <a:bodyPr>
            <a:noAutofit/>
          </a:bodyPr>
          <a:lstStyle/>
          <a:p>
            <a:pPr marL="274320" indent="-274320" eaLnBrk="1" fontAlgn="auto" hangingPunct="1">
              <a:spcAft>
                <a:spcPts val="0"/>
              </a:spcAft>
              <a:buFont typeface="Monotype Sorts" charset="2"/>
              <a:buNone/>
              <a:tabLst>
                <a:tab pos="1036638" algn="l"/>
                <a:tab pos="3894138" algn="l"/>
              </a:tabLst>
              <a:defRPr/>
            </a:pPr>
            <a:r>
              <a:rPr lang="en-US" sz="2000" dirty="0"/>
              <a:t>Year	Commitment (millions)	Present Value (at 6%)</a:t>
            </a:r>
          </a:p>
          <a:p>
            <a:pPr marL="274320" indent="-274320" eaLnBrk="1" fontAlgn="auto" hangingPunct="1">
              <a:spcAft>
                <a:spcPts val="0"/>
              </a:spcAft>
              <a:buFont typeface="Monotype Sorts" charset="2"/>
              <a:buNone/>
              <a:tabLst>
                <a:tab pos="1036638" algn="l"/>
                <a:tab pos="3894138" algn="l"/>
              </a:tabLst>
              <a:defRPr/>
            </a:pPr>
            <a:r>
              <a:rPr lang="en-US" sz="2000" dirty="0"/>
              <a:t>1	 	$899.00 	 $848.11 </a:t>
            </a:r>
          </a:p>
          <a:p>
            <a:pPr marL="274320" indent="-274320" eaLnBrk="1" fontAlgn="auto" hangingPunct="1">
              <a:spcAft>
                <a:spcPts val="0"/>
              </a:spcAft>
              <a:buFont typeface="Monotype Sorts" charset="2"/>
              <a:buNone/>
              <a:tabLst>
                <a:tab pos="1036638" algn="l"/>
                <a:tab pos="3894138" algn="l"/>
              </a:tabLst>
              <a:defRPr/>
            </a:pPr>
            <a:r>
              <a:rPr lang="en-US" sz="2000" dirty="0"/>
              <a:t>2	 	$846.00 	 $752.94 </a:t>
            </a:r>
          </a:p>
          <a:p>
            <a:pPr marL="274320" indent="-274320" eaLnBrk="1" fontAlgn="auto" hangingPunct="1">
              <a:spcAft>
                <a:spcPts val="0"/>
              </a:spcAft>
              <a:buFont typeface="Monotype Sorts" charset="2"/>
              <a:buNone/>
              <a:tabLst>
                <a:tab pos="1036638" algn="l"/>
                <a:tab pos="3894138" algn="l"/>
              </a:tabLst>
              <a:defRPr/>
            </a:pPr>
            <a:r>
              <a:rPr lang="en-US" sz="2000" dirty="0"/>
              <a:t>3	 	$738.00 	 $619.64 </a:t>
            </a:r>
          </a:p>
          <a:p>
            <a:pPr marL="274320" indent="-274320" eaLnBrk="1" fontAlgn="auto" hangingPunct="1">
              <a:spcAft>
                <a:spcPts val="0"/>
              </a:spcAft>
              <a:buFont typeface="Monotype Sorts" charset="2"/>
              <a:buNone/>
              <a:tabLst>
                <a:tab pos="1036638" algn="l"/>
                <a:tab pos="3894138" algn="l"/>
              </a:tabLst>
              <a:defRPr/>
            </a:pPr>
            <a:r>
              <a:rPr lang="en-US" sz="2000" dirty="0"/>
              <a:t>4	 	$598.00 	 $473.67 </a:t>
            </a:r>
          </a:p>
          <a:p>
            <a:pPr marL="274320" indent="-274320" eaLnBrk="1" fontAlgn="auto" hangingPunct="1">
              <a:spcAft>
                <a:spcPts val="0"/>
              </a:spcAft>
              <a:buFont typeface="Monotype Sorts" charset="2"/>
              <a:buNone/>
              <a:tabLst>
                <a:tab pos="1036638" algn="l"/>
                <a:tab pos="3894138" algn="l"/>
              </a:tabLst>
              <a:defRPr/>
            </a:pPr>
            <a:r>
              <a:rPr lang="en-US" sz="2000" dirty="0"/>
              <a:t>5	 	$477.00 	 $356.44 </a:t>
            </a:r>
          </a:p>
          <a:p>
            <a:pPr marL="274320" indent="-274320" eaLnBrk="1" fontAlgn="auto" hangingPunct="1">
              <a:spcAft>
                <a:spcPts val="0"/>
              </a:spcAft>
              <a:buFont typeface="Monotype Sorts" charset="2"/>
              <a:buNone/>
              <a:tabLst>
                <a:tab pos="1036638" algn="l"/>
                <a:tab pos="3894138" algn="l"/>
              </a:tabLst>
              <a:defRPr/>
            </a:pPr>
            <a:r>
              <a:rPr lang="en-US" sz="2000" dirty="0"/>
              <a:t>6&amp;7	 $982.50 each year	 $1,346.04 </a:t>
            </a:r>
          </a:p>
          <a:p>
            <a:pPr marL="274320" indent="-274320" eaLnBrk="1" fontAlgn="auto" hangingPunct="1">
              <a:spcAft>
                <a:spcPts val="0"/>
              </a:spcAft>
              <a:buFont typeface="Monotype Sorts" charset="2"/>
              <a:buNone/>
              <a:tabLst>
                <a:tab pos="1036638" algn="l"/>
                <a:tab pos="3894138" algn="l"/>
              </a:tabLst>
              <a:defRPr/>
            </a:pPr>
            <a:r>
              <a:rPr lang="en-US" sz="2000" dirty="0"/>
              <a:t>Debt Value of leases =	 $4,396.85</a:t>
            </a:r>
            <a:r>
              <a:rPr lang="en-US" dirty="0"/>
              <a:t> (Also value of leased asset)</a:t>
            </a:r>
          </a:p>
          <a:p>
            <a:pPr marL="274320" indent="-274320" eaLnBrk="1" fontAlgn="auto" hangingPunct="1">
              <a:spcAft>
                <a:spcPts val="0"/>
              </a:spcAft>
              <a:buFont typeface="Monotype Sorts" charset="2"/>
              <a:buNone/>
              <a:tabLst>
                <a:tab pos="1036638" algn="l"/>
                <a:tab pos="3894138" algn="l"/>
              </a:tabLst>
              <a:defRPr/>
            </a:pPr>
            <a:endParaRPr lang="en-US" dirty="0"/>
          </a:p>
          <a:p>
            <a:pPr marL="274320" indent="-274320" eaLnBrk="1" fontAlgn="auto" hangingPunct="1">
              <a:spcAft>
                <a:spcPts val="0"/>
              </a:spcAft>
              <a:buFont typeface="Wingdings"/>
              <a:buChar char=""/>
              <a:tabLst>
                <a:tab pos="1036638" algn="l"/>
                <a:tab pos="3894138" algn="l"/>
              </a:tabLst>
              <a:defRPr/>
            </a:pPr>
            <a:r>
              <a:rPr lang="en-US" sz="1800" dirty="0"/>
              <a:t>Debt outstanding at The Gap = $1,970 m + $4,397 m = $6,367 m</a:t>
            </a:r>
          </a:p>
          <a:p>
            <a:pPr marL="274320" indent="-274320" eaLnBrk="1" fontAlgn="auto" hangingPunct="1">
              <a:spcAft>
                <a:spcPts val="0"/>
              </a:spcAft>
              <a:buFont typeface="Wingdings"/>
              <a:buChar char=""/>
              <a:tabLst>
                <a:tab pos="1036638" algn="l"/>
                <a:tab pos="3894138" algn="l"/>
              </a:tabLst>
              <a:defRPr/>
            </a:pPr>
            <a:r>
              <a:rPr lang="en-US" sz="1800" dirty="0"/>
              <a:t>Adjusted Operating Income = Stated OI + OL </a:t>
            </a:r>
            <a:r>
              <a:rPr lang="en-US" sz="1800" dirty="0" err="1"/>
              <a:t>exp</a:t>
            </a:r>
            <a:r>
              <a:rPr lang="en-US" sz="1800" dirty="0"/>
              <a:t> this year - </a:t>
            </a:r>
            <a:r>
              <a:rPr lang="en-US" sz="1800" dirty="0" err="1"/>
              <a:t>Deprec’n</a:t>
            </a:r>
            <a:endParaRPr lang="en-US" sz="1800" dirty="0"/>
          </a:p>
          <a:p>
            <a:pPr marL="274320" indent="-274320" eaLnBrk="1" fontAlgn="auto" hangingPunct="1">
              <a:spcAft>
                <a:spcPts val="0"/>
              </a:spcAft>
              <a:buFont typeface="Monotype Sorts" charset="2"/>
              <a:buNone/>
              <a:tabLst>
                <a:tab pos="1036638" algn="l"/>
                <a:tab pos="3894138" algn="l"/>
              </a:tabLst>
              <a:defRPr/>
            </a:pPr>
            <a:r>
              <a:rPr lang="en-US" sz="1800" dirty="0"/>
              <a:t>= $1,012 m + 978 m - 4397 m /7 = $1,362 million (7 year life for assets)</a:t>
            </a:r>
          </a:p>
          <a:p>
            <a:pPr marL="274320" indent="-274320" eaLnBrk="1" fontAlgn="auto" hangingPunct="1">
              <a:spcAft>
                <a:spcPts val="0"/>
              </a:spcAft>
              <a:buFont typeface="Wingdings"/>
              <a:buChar char=""/>
              <a:tabLst>
                <a:tab pos="1036638" algn="l"/>
                <a:tab pos="3894138" algn="l"/>
              </a:tabLst>
              <a:defRPr/>
            </a:pPr>
            <a:r>
              <a:rPr lang="en-US" sz="1800" dirty="0"/>
              <a:t>Approximate OI = $1,012 m + $ 4397 m (.06) = $1,276 m</a:t>
            </a:r>
          </a:p>
        </p:txBody>
      </p:sp>
      <p:graphicFrame>
        <p:nvGraphicFramePr>
          <p:cNvPr id="2" name="Object 1"/>
          <p:cNvGraphicFramePr>
            <a:graphicFrameLocks noChangeAspect="1"/>
          </p:cNvGraphicFramePr>
          <p:nvPr/>
        </p:nvGraphicFramePr>
        <p:xfrm>
          <a:off x="7884368" y="252636"/>
          <a:ext cx="914400" cy="800100"/>
        </p:xfrm>
        <a:graphic>
          <a:graphicData uri="http://schemas.openxmlformats.org/presentationml/2006/ole">
            <mc:AlternateContent xmlns:mc="http://schemas.openxmlformats.org/markup-compatibility/2006">
              <mc:Choice xmlns:v="urn:schemas-microsoft-com:vml" Requires="v">
                <p:oleObj name="Worksheet" showAsIcon="1" r:id="rId3" imgW="914400" imgH="800280" progId="Excel.Sheet.8">
                  <p:embed/>
                </p:oleObj>
              </mc:Choice>
              <mc:Fallback>
                <p:oleObj name="Worksheet" showAsIcon="1" r:id="rId3" imgW="914400" imgH="800280" progId="Excel.Sheet.8">
                  <p:embed/>
                  <p:pic>
                    <p:nvPicPr>
                      <p:cNvPr id="2" name="Object 1"/>
                      <p:cNvPicPr>
                        <a:picLocks noChangeAspect="1" noChangeArrowheads="1"/>
                      </p:cNvPicPr>
                      <p:nvPr/>
                    </p:nvPicPr>
                    <p:blipFill>
                      <a:blip r:embed="rId4"/>
                      <a:srcRect/>
                      <a:stretch>
                        <a:fillRect/>
                      </a:stretch>
                    </p:blipFill>
                    <p:spPr bwMode="auto">
                      <a:xfrm>
                        <a:off x="7884368" y="252636"/>
                        <a:ext cx="914400" cy="800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Slide Number Placeholder 2"/>
          <p:cNvSpPr>
            <a:spLocks noGrp="1"/>
          </p:cNvSpPr>
          <p:nvPr>
            <p:ph type="sldNum" sz="quarter" idx="11"/>
          </p:nvPr>
        </p:nvSpPr>
        <p:spPr/>
        <p:txBody>
          <a:bodyPr/>
          <a:lstStyle/>
          <a:p>
            <a:pPr>
              <a:defRPr/>
            </a:pPr>
            <a:fld id="{C3168C1A-0F73-4148-A9C6-17783D0D792E}" type="slidenum">
              <a:rPr lang="en-GB" smtClean="0"/>
              <a:pPr>
                <a:defRPr/>
              </a:pPr>
              <a:t>72</a:t>
            </a:fld>
            <a:endParaRPr lang="en-GB"/>
          </a:p>
        </p:txBody>
      </p:sp>
    </p:spTree>
    <p:extLst>
      <p:ext uri="{BB962C8B-B14F-4D97-AF65-F5344CB8AC3E}">
        <p14:creationId xmlns:p14="http://schemas.microsoft.com/office/powerpoint/2010/main" val="1902773353"/>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94658" name="Rectangle 2"/>
          <p:cNvSpPr>
            <a:spLocks noGrp="1" noChangeArrowheads="1"/>
          </p:cNvSpPr>
          <p:nvPr>
            <p:ph type="title"/>
          </p:nvPr>
        </p:nvSpPr>
        <p:spPr>
          <a:xfrm>
            <a:off x="457200" y="274638"/>
            <a:ext cx="7467600" cy="850106"/>
          </a:xfrm>
        </p:spPr>
        <p:txBody>
          <a:bodyPr>
            <a:normAutofit fontScale="90000"/>
          </a:bodyPr>
          <a:lstStyle/>
          <a:p>
            <a:pPr eaLnBrk="1" fontAlgn="auto" hangingPunct="1">
              <a:spcAft>
                <a:spcPts val="0"/>
              </a:spcAft>
              <a:defRPr/>
            </a:pPr>
            <a:r>
              <a:rPr lang="en-US" dirty="0"/>
              <a:t>The Collateral Effects of Treating Operating Leases as Debt</a:t>
            </a:r>
          </a:p>
        </p:txBody>
      </p:sp>
      <p:graphicFrame>
        <p:nvGraphicFramePr>
          <p:cNvPr id="2050" name="Object 2"/>
          <p:cNvGraphicFramePr>
            <a:graphicFrameLocks noGrp="1" noChangeAspect="1"/>
          </p:cNvGraphicFramePr>
          <p:nvPr>
            <p:ph sz="quarter" idx="1"/>
          </p:nvPr>
        </p:nvGraphicFramePr>
        <p:xfrm>
          <a:off x="233685" y="1419225"/>
          <a:ext cx="8586787" cy="5359400"/>
        </p:xfrm>
        <a:graphic>
          <a:graphicData uri="http://schemas.openxmlformats.org/presentationml/2006/ole">
            <mc:AlternateContent xmlns:mc="http://schemas.openxmlformats.org/markup-compatibility/2006">
              <mc:Choice xmlns:v="urn:schemas-microsoft-com:vml" Requires="v">
                <p:oleObj name="Document" r:id="rId3" imgW="8371353" imgH="5224130" progId="Word.Document.8">
                  <p:embed/>
                </p:oleObj>
              </mc:Choice>
              <mc:Fallback>
                <p:oleObj name="Document" r:id="rId3" imgW="8371353" imgH="5224130" progId="Word.Document.8">
                  <p:embed/>
                  <p:pic>
                    <p:nvPicPr>
                      <p:cNvPr id="2050" name="Object 2"/>
                      <p:cNvPicPr>
                        <a:picLocks noGrp="1" noChangeAspect="1" noChangeArrowheads="1"/>
                      </p:cNvPicPr>
                      <p:nvPr/>
                    </p:nvPicPr>
                    <p:blipFill>
                      <a:blip r:embed="rId4"/>
                      <a:srcRect/>
                      <a:stretch>
                        <a:fillRect/>
                      </a:stretch>
                    </p:blipFill>
                    <p:spPr bwMode="auto">
                      <a:xfrm>
                        <a:off x="233685" y="1419225"/>
                        <a:ext cx="8586787" cy="5359400"/>
                      </a:xfrm>
                      <a:prstGeom prst="rect">
                        <a:avLst/>
                      </a:prstGeom>
                      <a:solidFill>
                        <a:schemeClr val="bg1"/>
                      </a:solidFill>
                    </p:spPr>
                  </p:pic>
                </p:oleObj>
              </mc:Fallback>
            </mc:AlternateContent>
          </a:graphicData>
        </a:graphic>
      </p:graphicFrame>
      <p:sp>
        <p:nvSpPr>
          <p:cNvPr id="2" name="Slide Number Placeholder 1"/>
          <p:cNvSpPr>
            <a:spLocks noGrp="1"/>
          </p:cNvSpPr>
          <p:nvPr>
            <p:ph type="sldNum" sz="quarter" idx="11"/>
          </p:nvPr>
        </p:nvSpPr>
        <p:spPr/>
        <p:txBody>
          <a:bodyPr/>
          <a:lstStyle/>
          <a:p>
            <a:pPr>
              <a:defRPr/>
            </a:pPr>
            <a:fld id="{C3168C1A-0F73-4148-A9C6-17783D0D792E}" type="slidenum">
              <a:rPr lang="en-GB" smtClean="0"/>
              <a:pPr>
                <a:defRPr/>
              </a:pPr>
              <a:t>73</a:t>
            </a:fld>
            <a:endParaRPr lang="en-GB"/>
          </a:p>
        </p:txBody>
      </p:sp>
    </p:spTree>
    <p:extLst>
      <p:ext uri="{BB962C8B-B14F-4D97-AF65-F5344CB8AC3E}">
        <p14:creationId xmlns:p14="http://schemas.microsoft.com/office/powerpoint/2010/main" val="376041542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9074" name="Rectangle 2"/>
          <p:cNvSpPr>
            <a:spLocks noGrp="1" noChangeArrowheads="1"/>
          </p:cNvSpPr>
          <p:nvPr>
            <p:ph type="title"/>
          </p:nvPr>
        </p:nvSpPr>
        <p:spPr>
          <a:xfrm>
            <a:off x="457200" y="274638"/>
            <a:ext cx="7467600" cy="634082"/>
          </a:xfrm>
        </p:spPr>
        <p:txBody>
          <a:bodyPr/>
          <a:lstStyle/>
          <a:p>
            <a:pPr eaLnBrk="1" fontAlgn="auto" hangingPunct="1">
              <a:spcAft>
                <a:spcPts val="0"/>
              </a:spcAft>
              <a:defRPr/>
            </a:pPr>
            <a:r>
              <a:rPr lang="en-US" dirty="0"/>
              <a:t>Capitalizing R&amp;D Expenses: Cisco</a:t>
            </a:r>
          </a:p>
        </p:txBody>
      </p:sp>
      <p:sp>
        <p:nvSpPr>
          <p:cNvPr id="26627" name="Rectangle 3"/>
          <p:cNvSpPr>
            <a:spLocks noGrp="1" noChangeArrowheads="1"/>
          </p:cNvSpPr>
          <p:nvPr>
            <p:ph sz="quarter" idx="1"/>
          </p:nvPr>
        </p:nvSpPr>
        <p:spPr>
          <a:xfrm>
            <a:off x="457200" y="1052736"/>
            <a:ext cx="8291264" cy="5328592"/>
          </a:xfrm>
        </p:spPr>
        <p:txBody>
          <a:bodyPr/>
          <a:lstStyle/>
          <a:p>
            <a:pPr marL="0" indent="0" algn="ctr" eaLnBrk="1" hangingPunct="1">
              <a:buNone/>
              <a:tabLst>
                <a:tab pos="1487488" algn="l"/>
                <a:tab pos="3090863" algn="l"/>
                <a:tab pos="4060825" algn="l"/>
                <a:tab pos="5548313" algn="l"/>
              </a:tabLst>
            </a:pPr>
            <a:r>
              <a:rPr lang="en-US" dirty="0"/>
              <a:t>Cisco is a company that invests for high growth and part of its investments are in R &amp; D, which is assumed to have a 5-year life.</a:t>
            </a:r>
          </a:p>
          <a:p>
            <a:pPr marL="0" indent="725488" algn="ctr" eaLnBrk="1" hangingPunct="1">
              <a:buNone/>
              <a:tabLst>
                <a:tab pos="2238375" algn="l"/>
                <a:tab pos="3090863" algn="l"/>
                <a:tab pos="4060825" algn="l"/>
                <a:tab pos="5548313" algn="l"/>
              </a:tabLst>
            </a:pPr>
            <a:r>
              <a:rPr lang="en-US" sz="1600" i="1" dirty="0"/>
              <a:t>Year                            R&amp;D Expense	</a:t>
            </a:r>
            <a:endParaRPr lang="en-US" sz="1600" dirty="0"/>
          </a:p>
          <a:p>
            <a:pPr algn="ctr" eaLnBrk="1" hangingPunct="1">
              <a:buFont typeface="Monotype Sorts" charset="2"/>
              <a:buNone/>
              <a:tabLst>
                <a:tab pos="1487488" algn="l"/>
                <a:tab pos="3090863" algn="l"/>
                <a:tab pos="4060825" algn="l"/>
                <a:tab pos="5548313" algn="l"/>
              </a:tabLst>
            </a:pPr>
            <a:r>
              <a:rPr lang="en-US" sz="1600" dirty="0"/>
              <a:t>                    2013 (current)	1594.00			</a:t>
            </a:r>
          </a:p>
          <a:p>
            <a:pPr algn="ctr" eaLnBrk="1" hangingPunct="1">
              <a:buFont typeface="Monotype Sorts" charset="2"/>
              <a:buNone/>
              <a:tabLst>
                <a:tab pos="1487488" algn="l"/>
                <a:tab pos="3090863" algn="l"/>
                <a:tab pos="4060825" algn="l"/>
                <a:tab pos="5548313" algn="l"/>
              </a:tabLst>
            </a:pPr>
            <a:r>
              <a:rPr lang="en-US" sz="1600" dirty="0"/>
              <a:t>2012	        1026.00	 	</a:t>
            </a:r>
          </a:p>
          <a:p>
            <a:pPr algn="ctr" eaLnBrk="1" hangingPunct="1">
              <a:buFont typeface="Monotype Sorts" charset="2"/>
              <a:buNone/>
              <a:tabLst>
                <a:tab pos="1487488" algn="l"/>
                <a:tab pos="3090863" algn="l"/>
                <a:tab pos="4060825" algn="l"/>
                <a:tab pos="5548313" algn="l"/>
              </a:tabLst>
            </a:pPr>
            <a:r>
              <a:rPr lang="en-US" sz="1600" dirty="0"/>
              <a:t>2011	         698.00	 	</a:t>
            </a:r>
          </a:p>
          <a:p>
            <a:pPr algn="ctr" eaLnBrk="1" hangingPunct="1">
              <a:buFont typeface="Monotype Sorts" charset="2"/>
              <a:buNone/>
              <a:tabLst>
                <a:tab pos="1487488" algn="l"/>
                <a:tab pos="3090863" algn="l"/>
                <a:tab pos="4060825" algn="l"/>
                <a:tab pos="5548313" algn="l"/>
              </a:tabLst>
            </a:pPr>
            <a:r>
              <a:rPr lang="en-US" sz="1600" dirty="0"/>
              <a:t>2010	         399.00	 	</a:t>
            </a:r>
          </a:p>
          <a:p>
            <a:pPr algn="ctr" eaLnBrk="1" hangingPunct="1">
              <a:buFont typeface="Monotype Sorts" charset="2"/>
              <a:buNone/>
              <a:tabLst>
                <a:tab pos="1487488" algn="l"/>
                <a:tab pos="3090863" algn="l"/>
                <a:tab pos="4060825" algn="l"/>
                <a:tab pos="5548313" algn="l"/>
              </a:tabLst>
            </a:pPr>
            <a:r>
              <a:rPr lang="en-US" sz="1600" dirty="0"/>
              <a:t>2009	         211.00	 	</a:t>
            </a:r>
          </a:p>
          <a:p>
            <a:pPr algn="ctr" eaLnBrk="1" hangingPunct="1">
              <a:buFont typeface="Monotype Sorts" charset="2"/>
              <a:buNone/>
              <a:tabLst>
                <a:tab pos="1487488" algn="l"/>
                <a:tab pos="3090863" algn="l"/>
                <a:tab pos="4060825" algn="l"/>
                <a:tab pos="5548313" algn="l"/>
              </a:tabLst>
            </a:pPr>
            <a:r>
              <a:rPr lang="en-US" sz="1600" dirty="0"/>
              <a:t>2008	         89.00	 	</a:t>
            </a:r>
          </a:p>
          <a:p>
            <a:pPr eaLnBrk="1" hangingPunct="1">
              <a:buFont typeface="Monotype Sorts" charset="2"/>
              <a:buNone/>
              <a:tabLst>
                <a:tab pos="1487488" algn="l"/>
                <a:tab pos="3090863" algn="l"/>
                <a:tab pos="4060825" algn="l"/>
                <a:tab pos="5548313" algn="l"/>
              </a:tabLst>
            </a:pPr>
            <a:endParaRPr lang="en-US" sz="1600" dirty="0"/>
          </a:p>
          <a:p>
            <a:pPr eaLnBrk="1" hangingPunct="1">
              <a:buFont typeface="Monotype Sorts" charset="2"/>
              <a:buNone/>
              <a:tabLst>
                <a:tab pos="1487488" algn="l"/>
                <a:tab pos="3090863" algn="l"/>
                <a:tab pos="4060825" algn="l"/>
                <a:tab pos="5548313" algn="l"/>
              </a:tabLst>
            </a:pPr>
            <a:endParaRPr lang="en-US" sz="1600" dirty="0"/>
          </a:p>
          <a:p>
            <a:pPr eaLnBrk="1" hangingPunct="1">
              <a:buFont typeface="Monotype Sorts" charset="2"/>
              <a:buNone/>
              <a:tabLst>
                <a:tab pos="1487488" algn="l"/>
                <a:tab pos="3090863" algn="l"/>
                <a:tab pos="4060825" algn="l"/>
                <a:tab pos="5548313" algn="l"/>
              </a:tabLst>
            </a:pPr>
            <a:endParaRPr lang="en-US" sz="1600" dirty="0"/>
          </a:p>
          <a:p>
            <a:pPr eaLnBrk="1" hangingPunct="1">
              <a:buFont typeface="Monotype Sorts" charset="2"/>
              <a:buNone/>
              <a:tabLst>
                <a:tab pos="1487488" algn="l"/>
                <a:tab pos="3090863" algn="l"/>
                <a:tab pos="4060825" algn="l"/>
                <a:tab pos="5548313" algn="l"/>
              </a:tabLst>
            </a:pPr>
            <a:endParaRPr lang="en-US" sz="1600" dirty="0"/>
          </a:p>
          <a:p>
            <a:pPr eaLnBrk="1" hangingPunct="1">
              <a:buFont typeface="Monotype Sorts" charset="2"/>
              <a:buNone/>
              <a:tabLst>
                <a:tab pos="1487488" algn="l"/>
                <a:tab pos="3090863" algn="l"/>
                <a:tab pos="4060825" algn="l"/>
                <a:tab pos="5548313" algn="l"/>
              </a:tabLst>
            </a:pPr>
            <a:endParaRPr lang="en-US" sz="1600" dirty="0"/>
          </a:p>
          <a:p>
            <a:pPr algn="ctr" eaLnBrk="1" hangingPunct="1">
              <a:buFont typeface="Monotype Sorts" charset="2"/>
              <a:buNone/>
              <a:tabLst>
                <a:tab pos="1487488" algn="l"/>
                <a:tab pos="3090863" algn="l"/>
                <a:tab pos="4060825" algn="l"/>
                <a:tab pos="5548313" algn="l"/>
              </a:tabLst>
            </a:pPr>
            <a:r>
              <a:rPr lang="en-US" b="1" dirty="0"/>
              <a:t>What is the adjustment in operating income?</a:t>
            </a:r>
          </a:p>
          <a:p>
            <a:pPr eaLnBrk="1" hangingPunct="1">
              <a:buFont typeface="Monotype Sorts" charset="2"/>
              <a:buNone/>
              <a:tabLst>
                <a:tab pos="1487488" algn="l"/>
                <a:tab pos="3090863" algn="l"/>
                <a:tab pos="4060825" algn="l"/>
                <a:tab pos="5548313" algn="l"/>
              </a:tabLst>
            </a:pPr>
            <a:endParaRPr lang="en-US" sz="1600" dirty="0"/>
          </a:p>
          <a:p>
            <a:pPr eaLnBrk="1" hangingPunct="1">
              <a:buFont typeface="Monotype Sorts" charset="2"/>
              <a:buNone/>
              <a:tabLst>
                <a:tab pos="1487488" algn="l"/>
                <a:tab pos="3090863" algn="l"/>
                <a:tab pos="4060825" algn="l"/>
                <a:tab pos="5548313" algn="l"/>
              </a:tabLst>
            </a:pPr>
            <a:endParaRPr lang="en-US" dirty="0"/>
          </a:p>
        </p:txBody>
      </p:sp>
      <p:graphicFrame>
        <p:nvGraphicFramePr>
          <p:cNvPr id="4" name="Table 3"/>
          <p:cNvGraphicFramePr>
            <a:graphicFrameLocks noGrp="1"/>
          </p:cNvGraphicFramePr>
          <p:nvPr/>
        </p:nvGraphicFramePr>
        <p:xfrm>
          <a:off x="323528" y="4943440"/>
          <a:ext cx="8136904" cy="1005840"/>
        </p:xfrm>
        <a:graphic>
          <a:graphicData uri="http://schemas.openxmlformats.org/drawingml/2006/table">
            <a:tbl>
              <a:tblPr firstRow="1" bandRow="1">
                <a:tableStyleId>{616DA210-FB5B-4158-B5E0-FEB733F419BA}</a:tableStyleId>
              </a:tblPr>
              <a:tblGrid>
                <a:gridCol w="2034226">
                  <a:extLst>
                    <a:ext uri="{9D8B030D-6E8A-4147-A177-3AD203B41FA5}">
                      <a16:colId xmlns:a16="http://schemas.microsoft.com/office/drawing/2014/main" val="20000"/>
                    </a:ext>
                  </a:extLst>
                </a:gridCol>
                <a:gridCol w="2034226">
                  <a:extLst>
                    <a:ext uri="{9D8B030D-6E8A-4147-A177-3AD203B41FA5}">
                      <a16:colId xmlns:a16="http://schemas.microsoft.com/office/drawing/2014/main" val="20001"/>
                    </a:ext>
                  </a:extLst>
                </a:gridCol>
                <a:gridCol w="2034226">
                  <a:extLst>
                    <a:ext uri="{9D8B030D-6E8A-4147-A177-3AD203B41FA5}">
                      <a16:colId xmlns:a16="http://schemas.microsoft.com/office/drawing/2014/main" val="20002"/>
                    </a:ext>
                  </a:extLst>
                </a:gridCol>
                <a:gridCol w="2034226">
                  <a:extLst>
                    <a:ext uri="{9D8B030D-6E8A-4147-A177-3AD203B41FA5}">
                      <a16:colId xmlns:a16="http://schemas.microsoft.com/office/drawing/2014/main" val="20003"/>
                    </a:ext>
                  </a:extLst>
                </a:gridCol>
              </a:tblGrid>
              <a:tr h="238315">
                <a:tc gridSpan="2">
                  <a:txBody>
                    <a:bodyPr/>
                    <a:lstStyle/>
                    <a:p>
                      <a:r>
                        <a:rPr lang="en-GB" sz="1600" dirty="0"/>
                        <a:t>Other figures</a:t>
                      </a:r>
                      <a:r>
                        <a:rPr lang="en-GB" sz="1600" baseline="0" dirty="0"/>
                        <a:t> include</a:t>
                      </a:r>
                      <a:endParaRPr lang="en-GB" sz="1600" dirty="0"/>
                    </a:p>
                  </a:txBody>
                  <a:tcPr/>
                </a:tc>
                <a:tc hMerge="1">
                  <a:txBody>
                    <a:bodyPr/>
                    <a:lstStyle/>
                    <a:p>
                      <a:endParaRPr lang="en-GB" sz="1600" dirty="0"/>
                    </a:p>
                  </a:txBody>
                  <a:tcPr/>
                </a:tc>
                <a:tc>
                  <a:txBody>
                    <a:bodyPr/>
                    <a:lstStyle/>
                    <a:p>
                      <a:r>
                        <a:rPr lang="en-GB" sz="1600" dirty="0"/>
                        <a:t>EBIT</a:t>
                      </a:r>
                    </a:p>
                  </a:txBody>
                  <a:tcPr/>
                </a:tc>
                <a:tc>
                  <a:txBody>
                    <a:bodyPr/>
                    <a:lstStyle/>
                    <a:p>
                      <a:r>
                        <a:rPr lang="en-GB" sz="1600" dirty="0"/>
                        <a:t>$3,455m</a:t>
                      </a:r>
                    </a:p>
                  </a:txBody>
                  <a:tcPr/>
                </a:tc>
                <a:extLst>
                  <a:ext uri="{0D108BD9-81ED-4DB2-BD59-A6C34878D82A}">
                    <a16:rowId xmlns:a16="http://schemas.microsoft.com/office/drawing/2014/main" val="10000"/>
                  </a:ext>
                </a:extLst>
              </a:tr>
              <a:tr h="318178">
                <a:tc>
                  <a:txBody>
                    <a:bodyPr/>
                    <a:lstStyle/>
                    <a:p>
                      <a:r>
                        <a:rPr lang="en-GB" sz="1600" dirty="0"/>
                        <a:t>Debt</a:t>
                      </a:r>
                    </a:p>
                  </a:txBody>
                  <a:tcPr/>
                </a:tc>
                <a:tc>
                  <a:txBody>
                    <a:bodyPr/>
                    <a:lstStyle/>
                    <a:p>
                      <a:r>
                        <a:rPr lang="en-GB" sz="1600" dirty="0"/>
                        <a:t>0</a:t>
                      </a:r>
                    </a:p>
                  </a:txBody>
                  <a:tcPr/>
                </a:tc>
                <a:tc>
                  <a:txBody>
                    <a:bodyPr/>
                    <a:lstStyle/>
                    <a:p>
                      <a:r>
                        <a:rPr lang="en-GB" sz="1600" dirty="0"/>
                        <a:t>MV Equity</a:t>
                      </a:r>
                    </a:p>
                  </a:txBody>
                  <a:tcPr/>
                </a:tc>
                <a:tc>
                  <a:txBody>
                    <a:bodyPr/>
                    <a:lstStyle/>
                    <a:p>
                      <a:r>
                        <a:rPr lang="en-GB" sz="1600" dirty="0"/>
                        <a:t>$11,722m</a:t>
                      </a:r>
                    </a:p>
                  </a:txBody>
                  <a:tcPr/>
                </a:tc>
                <a:extLst>
                  <a:ext uri="{0D108BD9-81ED-4DB2-BD59-A6C34878D82A}">
                    <a16:rowId xmlns:a16="http://schemas.microsoft.com/office/drawing/2014/main" val="10001"/>
                  </a:ext>
                </a:extLst>
              </a:tr>
              <a:tr h="238315">
                <a:tc>
                  <a:txBody>
                    <a:bodyPr/>
                    <a:lstStyle/>
                    <a:p>
                      <a:r>
                        <a:rPr lang="en-GB" sz="1600" dirty="0"/>
                        <a:t>Tax</a:t>
                      </a:r>
                    </a:p>
                  </a:txBody>
                  <a:tcPr/>
                </a:tc>
                <a:tc>
                  <a:txBody>
                    <a:bodyPr/>
                    <a:lstStyle/>
                    <a:p>
                      <a:r>
                        <a:rPr lang="en-GB" sz="1600" dirty="0"/>
                        <a:t>35%</a:t>
                      </a:r>
                    </a:p>
                  </a:txBody>
                  <a:tcPr/>
                </a:tc>
                <a:tc>
                  <a:txBody>
                    <a:bodyPr/>
                    <a:lstStyle/>
                    <a:p>
                      <a:r>
                        <a:rPr lang="en-GB" sz="1600" dirty="0" err="1"/>
                        <a:t>CapEx</a:t>
                      </a:r>
                      <a:endParaRPr lang="en-GB" sz="1600" dirty="0"/>
                    </a:p>
                  </a:txBody>
                  <a:tcPr/>
                </a:tc>
                <a:tc>
                  <a:txBody>
                    <a:bodyPr/>
                    <a:lstStyle/>
                    <a:p>
                      <a:r>
                        <a:rPr lang="en-GB" sz="1600" dirty="0"/>
                        <a:t>$98m</a:t>
                      </a:r>
                    </a:p>
                  </a:txBody>
                  <a:tcPr/>
                </a:tc>
                <a:extLst>
                  <a:ext uri="{0D108BD9-81ED-4DB2-BD59-A6C34878D82A}">
                    <a16:rowId xmlns:a16="http://schemas.microsoft.com/office/drawing/2014/main" val="10002"/>
                  </a:ext>
                </a:extLst>
              </a:tr>
            </a:tbl>
          </a:graphicData>
        </a:graphic>
      </p:graphicFrame>
      <p:sp>
        <p:nvSpPr>
          <p:cNvPr id="2" name="Slide Number Placeholder 1"/>
          <p:cNvSpPr>
            <a:spLocks noGrp="1"/>
          </p:cNvSpPr>
          <p:nvPr>
            <p:ph type="sldNum" sz="quarter" idx="11"/>
          </p:nvPr>
        </p:nvSpPr>
        <p:spPr/>
        <p:txBody>
          <a:bodyPr/>
          <a:lstStyle/>
          <a:p>
            <a:pPr>
              <a:defRPr/>
            </a:pPr>
            <a:fld id="{C3168C1A-0F73-4148-A9C6-17783D0D792E}" type="slidenum">
              <a:rPr lang="en-GB" smtClean="0"/>
              <a:pPr>
                <a:defRPr/>
              </a:pPr>
              <a:t>74</a:t>
            </a:fld>
            <a:endParaRPr lang="en-GB"/>
          </a:p>
        </p:txBody>
      </p:sp>
    </p:spTree>
    <p:extLst>
      <p:ext uri="{BB962C8B-B14F-4D97-AF65-F5344CB8AC3E}">
        <p14:creationId xmlns:p14="http://schemas.microsoft.com/office/powerpoint/2010/main" val="37806526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9074" name="Rectangle 2"/>
          <p:cNvSpPr>
            <a:spLocks noGrp="1" noChangeArrowheads="1"/>
          </p:cNvSpPr>
          <p:nvPr>
            <p:ph type="title"/>
          </p:nvPr>
        </p:nvSpPr>
        <p:spPr>
          <a:xfrm>
            <a:off x="457200" y="274638"/>
            <a:ext cx="7467600" cy="634082"/>
          </a:xfrm>
        </p:spPr>
        <p:txBody>
          <a:bodyPr/>
          <a:lstStyle/>
          <a:p>
            <a:pPr eaLnBrk="1" fontAlgn="auto" hangingPunct="1">
              <a:spcAft>
                <a:spcPts val="0"/>
              </a:spcAft>
              <a:defRPr/>
            </a:pPr>
            <a:r>
              <a:rPr lang="en-US" dirty="0"/>
              <a:t>Capitalizing R&amp;D Expenses: Cisco</a:t>
            </a:r>
          </a:p>
        </p:txBody>
      </p:sp>
      <p:sp>
        <p:nvSpPr>
          <p:cNvPr id="26627" name="Rectangle 3"/>
          <p:cNvSpPr>
            <a:spLocks noGrp="1" noChangeArrowheads="1"/>
          </p:cNvSpPr>
          <p:nvPr>
            <p:ph sz="quarter" idx="1"/>
          </p:nvPr>
        </p:nvSpPr>
        <p:spPr>
          <a:xfrm>
            <a:off x="457200" y="1052736"/>
            <a:ext cx="8291264" cy="5328592"/>
          </a:xfrm>
        </p:spPr>
        <p:txBody>
          <a:bodyPr/>
          <a:lstStyle/>
          <a:p>
            <a:pPr eaLnBrk="1" hangingPunct="1">
              <a:tabLst>
                <a:tab pos="1487488" algn="l"/>
                <a:tab pos="3090863" algn="l"/>
                <a:tab pos="4060825" algn="l"/>
                <a:tab pos="5548313" algn="l"/>
              </a:tabLst>
            </a:pPr>
            <a:r>
              <a:rPr lang="en-US" dirty="0"/>
              <a:t>R &amp; D was assumed to have a 5-year life.</a:t>
            </a:r>
          </a:p>
          <a:p>
            <a:pPr eaLnBrk="1" hangingPunct="1">
              <a:buFont typeface="Monotype Sorts" charset="2"/>
              <a:buNone/>
              <a:tabLst>
                <a:tab pos="1487488" algn="l"/>
                <a:tab pos="3090863" algn="l"/>
                <a:tab pos="4060825" algn="l"/>
                <a:tab pos="5548313" algn="l"/>
              </a:tabLst>
            </a:pPr>
            <a:r>
              <a:rPr lang="en-US" sz="1600" i="1" dirty="0"/>
              <a:t>Year	R&amp;D Expense	Unamortized portion	Amortization this year	A	B	A*B	0.2*A</a:t>
            </a:r>
            <a:endParaRPr lang="en-US" sz="1600" dirty="0"/>
          </a:p>
          <a:p>
            <a:pPr eaLnBrk="1" hangingPunct="1">
              <a:buFont typeface="Monotype Sorts" charset="2"/>
              <a:buNone/>
              <a:tabLst>
                <a:tab pos="1487488" algn="l"/>
                <a:tab pos="3090863" algn="l"/>
                <a:tab pos="4060825" algn="l"/>
                <a:tab pos="5548313" algn="l"/>
              </a:tabLst>
            </a:pPr>
            <a:r>
              <a:rPr lang="en-US" sz="1600" dirty="0"/>
              <a:t>2013 (current)	1594.00	1.00	1594.00		</a:t>
            </a:r>
          </a:p>
          <a:p>
            <a:pPr eaLnBrk="1" hangingPunct="1">
              <a:buFont typeface="Monotype Sorts" charset="2"/>
              <a:buNone/>
              <a:tabLst>
                <a:tab pos="1487488" algn="l"/>
                <a:tab pos="3090863" algn="l"/>
                <a:tab pos="4060825" algn="l"/>
                <a:tab pos="5548313" algn="l"/>
              </a:tabLst>
            </a:pPr>
            <a:r>
              <a:rPr lang="en-US" sz="1600" dirty="0"/>
              <a:t>2012	1026.00	0.80	820.80	$205.20 	</a:t>
            </a:r>
          </a:p>
          <a:p>
            <a:pPr eaLnBrk="1" hangingPunct="1">
              <a:buFont typeface="Monotype Sorts" charset="2"/>
              <a:buNone/>
              <a:tabLst>
                <a:tab pos="1487488" algn="l"/>
                <a:tab pos="3090863" algn="l"/>
                <a:tab pos="4060825" algn="l"/>
                <a:tab pos="5548313" algn="l"/>
              </a:tabLst>
            </a:pPr>
            <a:r>
              <a:rPr lang="en-US" sz="1600" dirty="0"/>
              <a:t>2011	698.00	0.60	418.80	$139.60 	</a:t>
            </a:r>
          </a:p>
          <a:p>
            <a:pPr eaLnBrk="1" hangingPunct="1">
              <a:buFont typeface="Monotype Sorts" charset="2"/>
              <a:buNone/>
              <a:tabLst>
                <a:tab pos="1487488" algn="l"/>
                <a:tab pos="3090863" algn="l"/>
                <a:tab pos="4060825" algn="l"/>
                <a:tab pos="5548313" algn="l"/>
              </a:tabLst>
            </a:pPr>
            <a:r>
              <a:rPr lang="en-US" sz="1600" dirty="0"/>
              <a:t>2010	399.00	0.40	159.60	$79.80 	</a:t>
            </a:r>
          </a:p>
          <a:p>
            <a:pPr eaLnBrk="1" hangingPunct="1">
              <a:buFont typeface="Monotype Sorts" charset="2"/>
              <a:buNone/>
              <a:tabLst>
                <a:tab pos="1487488" algn="l"/>
                <a:tab pos="3090863" algn="l"/>
                <a:tab pos="4060825" algn="l"/>
                <a:tab pos="5548313" algn="l"/>
              </a:tabLst>
            </a:pPr>
            <a:r>
              <a:rPr lang="en-US" sz="1600" dirty="0"/>
              <a:t>2009	211.00	0.20	42.20	$42.20 	</a:t>
            </a:r>
          </a:p>
          <a:p>
            <a:pPr eaLnBrk="1" hangingPunct="1">
              <a:buFont typeface="Monotype Sorts" charset="2"/>
              <a:buNone/>
              <a:tabLst>
                <a:tab pos="1487488" algn="l"/>
                <a:tab pos="3090863" algn="l"/>
                <a:tab pos="4060825" algn="l"/>
                <a:tab pos="5548313" algn="l"/>
              </a:tabLst>
            </a:pPr>
            <a:r>
              <a:rPr lang="en-US" sz="1600" dirty="0"/>
              <a:t>2008	89.00	0.00	0.00	$17.80 	</a:t>
            </a:r>
          </a:p>
          <a:p>
            <a:pPr eaLnBrk="1" hangingPunct="1">
              <a:buFont typeface="Monotype Sorts" charset="2"/>
              <a:buNone/>
              <a:tabLst>
                <a:tab pos="1487488" algn="l"/>
                <a:tab pos="3090863" algn="l"/>
                <a:tab pos="4060825" algn="l"/>
                <a:tab pos="5548313" algn="l"/>
              </a:tabLst>
            </a:pPr>
            <a:r>
              <a:rPr lang="en-US" sz="1600" dirty="0"/>
              <a:t>Total			$ 3,035.40	$ 484.60</a:t>
            </a:r>
          </a:p>
          <a:p>
            <a:pPr eaLnBrk="1" hangingPunct="1">
              <a:buFont typeface="Monotype Sorts" charset="2"/>
              <a:buNone/>
              <a:tabLst>
                <a:tab pos="1487488" algn="l"/>
                <a:tab pos="3090863" algn="l"/>
                <a:tab pos="4060825" algn="l"/>
                <a:tab pos="5548313" algn="l"/>
              </a:tabLst>
            </a:pPr>
            <a:r>
              <a:rPr lang="en-US" sz="1600" dirty="0"/>
              <a:t>Value of research asset =		$ 3,035.4 million</a:t>
            </a:r>
          </a:p>
          <a:p>
            <a:pPr eaLnBrk="1" hangingPunct="1">
              <a:buFont typeface="Monotype Sorts" charset="2"/>
              <a:buNone/>
              <a:tabLst>
                <a:tab pos="1487488" algn="l"/>
                <a:tab pos="3090863" algn="l"/>
                <a:tab pos="4060825" algn="l"/>
                <a:tab pos="5548313" algn="l"/>
              </a:tabLst>
            </a:pPr>
            <a:r>
              <a:rPr lang="en-US" sz="1600" dirty="0"/>
              <a:t>Amortization of research asset in 2013 =	$ 484.6 million</a:t>
            </a:r>
          </a:p>
          <a:p>
            <a:pPr eaLnBrk="1" hangingPunct="1">
              <a:buFont typeface="Monotype Sorts" charset="2"/>
              <a:buNone/>
              <a:tabLst>
                <a:tab pos="1487488" algn="l"/>
                <a:tab pos="3090863" algn="l"/>
                <a:tab pos="4060825" algn="l"/>
                <a:tab pos="5548313" algn="l"/>
              </a:tabLst>
            </a:pPr>
            <a:endParaRPr lang="en-US" sz="1600" dirty="0"/>
          </a:p>
          <a:p>
            <a:pPr eaLnBrk="1" hangingPunct="1">
              <a:buFont typeface="Monotype Sorts" charset="2"/>
              <a:buNone/>
              <a:tabLst>
                <a:tab pos="1487488" algn="l"/>
                <a:tab pos="3090863" algn="l"/>
                <a:tab pos="4060825" algn="l"/>
                <a:tab pos="5548313" algn="l"/>
              </a:tabLst>
            </a:pPr>
            <a:endParaRPr lang="en-US" sz="1600" dirty="0"/>
          </a:p>
          <a:p>
            <a:pPr eaLnBrk="1" hangingPunct="1">
              <a:buFont typeface="Monotype Sorts" charset="2"/>
              <a:buNone/>
              <a:tabLst>
                <a:tab pos="1487488" algn="l"/>
                <a:tab pos="3090863" algn="l"/>
                <a:tab pos="4060825" algn="l"/>
                <a:tab pos="5548313" algn="l"/>
              </a:tabLst>
            </a:pPr>
            <a:endParaRPr lang="en-US" sz="1600" dirty="0"/>
          </a:p>
          <a:p>
            <a:pPr eaLnBrk="1" hangingPunct="1">
              <a:buFont typeface="Monotype Sorts" charset="2"/>
              <a:buNone/>
              <a:tabLst>
                <a:tab pos="1487488" algn="l"/>
                <a:tab pos="3090863" algn="l"/>
                <a:tab pos="4060825" algn="l"/>
                <a:tab pos="5548313" algn="l"/>
              </a:tabLst>
            </a:pPr>
            <a:r>
              <a:rPr lang="en-US" sz="1600" dirty="0"/>
              <a:t>Adjustment to Operating Income = $ 1,594 million - 484.6 million = 1,109.4 million </a:t>
            </a:r>
            <a:endParaRPr lang="en-US" dirty="0">
              <a:solidFill>
                <a:srgbClr val="000000"/>
              </a:solidFill>
              <a:latin typeface="Geneva" charset="0"/>
            </a:endParaRPr>
          </a:p>
          <a:p>
            <a:pPr eaLnBrk="1" hangingPunct="1">
              <a:buFont typeface="Monotype Sorts" charset="2"/>
              <a:buNone/>
              <a:tabLst>
                <a:tab pos="1487488" algn="l"/>
                <a:tab pos="3090863" algn="l"/>
                <a:tab pos="4060825" algn="l"/>
                <a:tab pos="5548313" algn="l"/>
              </a:tabLst>
            </a:pPr>
            <a:endParaRPr lang="en-US" dirty="0"/>
          </a:p>
        </p:txBody>
      </p:sp>
      <p:graphicFrame>
        <p:nvGraphicFramePr>
          <p:cNvPr id="2" name="Object 1"/>
          <p:cNvGraphicFramePr>
            <a:graphicFrameLocks noChangeAspect="1"/>
          </p:cNvGraphicFramePr>
          <p:nvPr/>
        </p:nvGraphicFramePr>
        <p:xfrm>
          <a:off x="7740352" y="260648"/>
          <a:ext cx="1058416" cy="800100"/>
        </p:xfrm>
        <a:graphic>
          <a:graphicData uri="http://schemas.openxmlformats.org/presentationml/2006/ole">
            <mc:AlternateContent xmlns:mc="http://schemas.openxmlformats.org/markup-compatibility/2006">
              <mc:Choice xmlns:v="urn:schemas-microsoft-com:vml" Requires="v">
                <p:oleObj name="Worksheet" showAsIcon="1" r:id="rId3" imgW="914400" imgH="800280" progId="Excel.Sheet.8">
                  <p:embed/>
                </p:oleObj>
              </mc:Choice>
              <mc:Fallback>
                <p:oleObj name="Worksheet" showAsIcon="1" r:id="rId3" imgW="914400" imgH="800280" progId="Excel.Sheet.8">
                  <p:embed/>
                  <p:pic>
                    <p:nvPicPr>
                      <p:cNvPr id="2" name="Object 1"/>
                      <p:cNvPicPr>
                        <a:picLocks noChangeAspect="1" noChangeArrowheads="1"/>
                      </p:cNvPicPr>
                      <p:nvPr/>
                    </p:nvPicPr>
                    <p:blipFill>
                      <a:blip r:embed="rId4"/>
                      <a:srcRect/>
                      <a:stretch>
                        <a:fillRect/>
                      </a:stretch>
                    </p:blipFill>
                    <p:spPr bwMode="auto">
                      <a:xfrm>
                        <a:off x="7740352" y="260648"/>
                        <a:ext cx="1058416" cy="800100"/>
                      </a:xfrm>
                      <a:prstGeom prst="rect">
                        <a:avLst/>
                      </a:prstGeom>
                      <a:noFill/>
                    </p:spPr>
                  </p:pic>
                </p:oleObj>
              </mc:Fallback>
            </mc:AlternateContent>
          </a:graphicData>
        </a:graphic>
      </p:graphicFrame>
      <p:graphicFrame>
        <p:nvGraphicFramePr>
          <p:cNvPr id="3" name="Object 2"/>
          <p:cNvGraphicFramePr>
            <a:graphicFrameLocks noChangeAspect="1"/>
          </p:cNvGraphicFramePr>
          <p:nvPr/>
        </p:nvGraphicFramePr>
        <p:xfrm>
          <a:off x="558800" y="5516563"/>
          <a:ext cx="7161213" cy="469900"/>
        </p:xfrm>
        <a:graphic>
          <a:graphicData uri="http://schemas.openxmlformats.org/presentationml/2006/ole">
            <mc:AlternateContent xmlns:mc="http://schemas.openxmlformats.org/markup-compatibility/2006">
              <mc:Choice xmlns:v="urn:schemas-microsoft-com:vml" Requires="v">
                <p:oleObj name="Equation" r:id="rId5" imgW="3098520" imgH="203040" progId="Equation.3">
                  <p:embed/>
                </p:oleObj>
              </mc:Choice>
              <mc:Fallback>
                <p:oleObj name="Equation" r:id="rId5" imgW="3098520" imgH="203040" progId="Equation.3">
                  <p:embed/>
                  <p:pic>
                    <p:nvPicPr>
                      <p:cNvPr id="3"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800" y="5516563"/>
                        <a:ext cx="71612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Slide Number Placeholder 3"/>
          <p:cNvSpPr>
            <a:spLocks noGrp="1"/>
          </p:cNvSpPr>
          <p:nvPr>
            <p:ph type="sldNum" sz="quarter" idx="11"/>
          </p:nvPr>
        </p:nvSpPr>
        <p:spPr/>
        <p:txBody>
          <a:bodyPr/>
          <a:lstStyle/>
          <a:p>
            <a:pPr>
              <a:defRPr/>
            </a:pPr>
            <a:fld id="{C3168C1A-0F73-4148-A9C6-17783D0D792E}" type="slidenum">
              <a:rPr lang="en-GB" smtClean="0"/>
              <a:pPr>
                <a:defRPr/>
              </a:pPr>
              <a:t>75</a:t>
            </a:fld>
            <a:endParaRPr lang="en-GB"/>
          </a:p>
        </p:txBody>
      </p:sp>
    </p:spTree>
    <p:extLst>
      <p:ext uri="{BB962C8B-B14F-4D97-AF65-F5344CB8AC3E}">
        <p14:creationId xmlns:p14="http://schemas.microsoft.com/office/powerpoint/2010/main" val="153120704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42" name="Rectangle 2"/>
          <p:cNvSpPr>
            <a:spLocks noGrp="1" noChangeArrowheads="1"/>
          </p:cNvSpPr>
          <p:nvPr>
            <p:ph type="title"/>
          </p:nvPr>
        </p:nvSpPr>
        <p:spPr>
          <a:xfrm>
            <a:off x="457200" y="-27384"/>
            <a:ext cx="7467600" cy="648072"/>
          </a:xfrm>
        </p:spPr>
        <p:txBody>
          <a:bodyPr/>
          <a:lstStyle/>
          <a:p>
            <a:pPr eaLnBrk="1" fontAlgn="auto" hangingPunct="1">
              <a:spcAft>
                <a:spcPts val="0"/>
              </a:spcAft>
              <a:defRPr/>
            </a:pPr>
            <a:r>
              <a:rPr lang="en-US" dirty="0">
                <a:hlinkClick r:id="rId3"/>
              </a:rPr>
              <a:t>The Effect of Capitalizing R&amp;D</a:t>
            </a:r>
            <a:endParaRPr lang="en-US" dirty="0"/>
          </a:p>
        </p:txBody>
      </p:sp>
      <p:graphicFrame>
        <p:nvGraphicFramePr>
          <p:cNvPr id="4098" name="Object 2"/>
          <p:cNvGraphicFramePr>
            <a:graphicFrameLocks noGrp="1" noChangeAspect="1"/>
          </p:cNvGraphicFramePr>
          <p:nvPr>
            <p:ph sz="quarter" idx="1"/>
          </p:nvPr>
        </p:nvGraphicFramePr>
        <p:xfrm>
          <a:off x="315913" y="1039813"/>
          <a:ext cx="8450262" cy="5408612"/>
        </p:xfrm>
        <a:graphic>
          <a:graphicData uri="http://schemas.openxmlformats.org/presentationml/2006/ole">
            <mc:AlternateContent xmlns:mc="http://schemas.openxmlformats.org/markup-compatibility/2006">
              <mc:Choice xmlns:v="urn:schemas-microsoft-com:vml" Requires="v">
                <p:oleObj name="Document" r:id="rId4" imgW="8371353" imgH="5346949" progId="Word.Document.8">
                  <p:embed/>
                </p:oleObj>
              </mc:Choice>
              <mc:Fallback>
                <p:oleObj name="Document" r:id="rId4" imgW="8371353" imgH="5346949" progId="Word.Document.8">
                  <p:embed/>
                  <p:pic>
                    <p:nvPicPr>
                      <p:cNvPr id="4098" name="Object 2"/>
                      <p:cNvPicPr>
                        <a:picLocks noGrp="1" noChangeAspect="1" noChangeArrowheads="1"/>
                      </p:cNvPicPr>
                      <p:nvPr/>
                    </p:nvPicPr>
                    <p:blipFill>
                      <a:blip r:embed="rId5"/>
                      <a:srcRect/>
                      <a:stretch>
                        <a:fillRect/>
                      </a:stretch>
                    </p:blipFill>
                    <p:spPr bwMode="auto">
                      <a:xfrm>
                        <a:off x="315913" y="1039813"/>
                        <a:ext cx="8450262" cy="5408612"/>
                      </a:xfrm>
                      <a:prstGeom prst="rect">
                        <a:avLst/>
                      </a:prstGeom>
                      <a:noFill/>
                    </p:spPr>
                  </p:pic>
                </p:oleObj>
              </mc:Fallback>
            </mc:AlternateContent>
          </a:graphicData>
        </a:graphic>
      </p:graphicFrame>
      <p:sp>
        <p:nvSpPr>
          <p:cNvPr id="2" name="Slide Number Placeholder 1"/>
          <p:cNvSpPr>
            <a:spLocks noGrp="1"/>
          </p:cNvSpPr>
          <p:nvPr>
            <p:ph type="sldNum" sz="quarter" idx="11"/>
          </p:nvPr>
        </p:nvSpPr>
        <p:spPr/>
        <p:txBody>
          <a:bodyPr/>
          <a:lstStyle/>
          <a:p>
            <a:pPr>
              <a:defRPr/>
            </a:pPr>
            <a:fld id="{C3168C1A-0F73-4148-A9C6-17783D0D792E}" type="slidenum">
              <a:rPr lang="en-GB" smtClean="0"/>
              <a:pPr>
                <a:defRPr/>
              </a:pPr>
              <a:t>76</a:t>
            </a:fld>
            <a:endParaRPr lang="en-GB"/>
          </a:p>
        </p:txBody>
      </p:sp>
    </p:spTree>
    <p:extLst>
      <p:ext uri="{BB962C8B-B14F-4D97-AF65-F5344CB8AC3E}">
        <p14:creationId xmlns:p14="http://schemas.microsoft.com/office/powerpoint/2010/main" val="169192218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4082"/>
          </a:xfrm>
        </p:spPr>
        <p:txBody>
          <a:bodyPr/>
          <a:lstStyle/>
          <a:p>
            <a:r>
              <a:rPr lang="en-GB" dirty="0"/>
              <a:t>Further Practice Questions</a:t>
            </a:r>
          </a:p>
        </p:txBody>
      </p:sp>
      <p:graphicFrame>
        <p:nvGraphicFramePr>
          <p:cNvPr id="4" name="Content Placeholder 3"/>
          <p:cNvGraphicFramePr>
            <a:graphicFrameLocks noGrp="1" noChangeAspect="1"/>
          </p:cNvGraphicFramePr>
          <p:nvPr>
            <p:ph sz="quarter" idx="1"/>
          </p:nvPr>
        </p:nvGraphicFramePr>
        <p:xfrm>
          <a:off x="899592" y="1340768"/>
          <a:ext cx="2560284" cy="2160240"/>
        </p:xfrm>
        <a:graphic>
          <a:graphicData uri="http://schemas.openxmlformats.org/presentationml/2006/ole">
            <mc:AlternateContent xmlns:mc="http://schemas.openxmlformats.org/markup-compatibility/2006">
              <mc:Choice xmlns:v="urn:schemas-microsoft-com:vml" Requires="v">
                <p:oleObj name="Document" showAsIcon="1" r:id="rId2" imgW="914400" imgH="771480" progId="Word.Document.12">
                  <p:embed/>
                </p:oleObj>
              </mc:Choice>
              <mc:Fallback>
                <p:oleObj name="Document" showAsIcon="1" r:id="rId2" imgW="914400" imgH="771480" progId="Word.Document.12">
                  <p:embed/>
                  <p:pic>
                    <p:nvPicPr>
                      <p:cNvPr id="4" name="Content Placeholder 3"/>
                      <p:cNvPicPr/>
                      <p:nvPr/>
                    </p:nvPicPr>
                    <p:blipFill>
                      <a:blip r:embed="rId3"/>
                      <a:stretch>
                        <a:fillRect/>
                      </a:stretch>
                    </p:blipFill>
                    <p:spPr>
                      <a:xfrm>
                        <a:off x="899592" y="1340768"/>
                        <a:ext cx="2560284" cy="2160240"/>
                      </a:xfrm>
                      <a:prstGeom prst="rect">
                        <a:avLst/>
                      </a:prstGeom>
                    </p:spPr>
                  </p:pic>
                </p:oleObj>
              </mc:Fallback>
            </mc:AlternateContent>
          </a:graphicData>
        </a:graphic>
      </p:graphicFrame>
      <p:graphicFrame>
        <p:nvGraphicFramePr>
          <p:cNvPr id="5" name="Object 4"/>
          <p:cNvGraphicFramePr>
            <a:graphicFrameLocks noChangeAspect="1"/>
          </p:cNvGraphicFramePr>
          <p:nvPr/>
        </p:nvGraphicFramePr>
        <p:xfrm>
          <a:off x="4932040" y="3212976"/>
          <a:ext cx="2560284" cy="2160240"/>
        </p:xfrm>
        <a:graphic>
          <a:graphicData uri="http://schemas.openxmlformats.org/presentationml/2006/ole">
            <mc:AlternateContent xmlns:mc="http://schemas.openxmlformats.org/markup-compatibility/2006">
              <mc:Choice xmlns:v="urn:schemas-microsoft-com:vml" Requires="v">
                <p:oleObj name="Document" showAsIcon="1" r:id="rId4" imgW="914400" imgH="771480" progId="Word.Document.12">
                  <p:embed/>
                </p:oleObj>
              </mc:Choice>
              <mc:Fallback>
                <p:oleObj name="Document" showAsIcon="1" r:id="rId4" imgW="914400" imgH="771480" progId="Word.Document.12">
                  <p:embed/>
                  <p:pic>
                    <p:nvPicPr>
                      <p:cNvPr id="5" name="Object 4"/>
                      <p:cNvPicPr/>
                      <p:nvPr/>
                    </p:nvPicPr>
                    <p:blipFill>
                      <a:blip r:embed="rId5"/>
                      <a:stretch>
                        <a:fillRect/>
                      </a:stretch>
                    </p:blipFill>
                    <p:spPr>
                      <a:xfrm>
                        <a:off x="4932040" y="3212976"/>
                        <a:ext cx="2560284" cy="2160240"/>
                      </a:xfrm>
                      <a:prstGeom prst="rect">
                        <a:avLst/>
                      </a:prstGeom>
                    </p:spPr>
                  </p:pic>
                </p:oleObj>
              </mc:Fallback>
            </mc:AlternateContent>
          </a:graphicData>
        </a:graphic>
      </p:graphicFrame>
      <p:sp>
        <p:nvSpPr>
          <p:cNvPr id="3" name="Slide Number Placeholder 2"/>
          <p:cNvSpPr>
            <a:spLocks noGrp="1"/>
          </p:cNvSpPr>
          <p:nvPr>
            <p:ph type="sldNum" sz="quarter" idx="11"/>
          </p:nvPr>
        </p:nvSpPr>
        <p:spPr/>
        <p:txBody>
          <a:bodyPr/>
          <a:lstStyle/>
          <a:p>
            <a:pPr>
              <a:defRPr/>
            </a:pPr>
            <a:fld id="{C3168C1A-0F73-4148-A9C6-17783D0D792E}" type="slidenum">
              <a:rPr lang="en-GB" smtClean="0"/>
              <a:pPr>
                <a:defRPr/>
              </a:pPr>
              <a:t>77</a:t>
            </a:fld>
            <a:endParaRPr lang="en-GB"/>
          </a:p>
        </p:txBody>
      </p:sp>
    </p:spTree>
    <p:extLst>
      <p:ext uri="{BB962C8B-B14F-4D97-AF65-F5344CB8AC3E}">
        <p14:creationId xmlns:p14="http://schemas.microsoft.com/office/powerpoint/2010/main" val="3070565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image" Target="../media/image2.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Civic">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themeOverride>
</file>

<file path=ppt/webextensions/webextension1.xml><?xml version="1.0" encoding="utf-8"?>
<we:webextension xmlns:we="http://schemas.microsoft.com/office/webextensions/webextension/2010/11" id="{675836EE-0E17-44A9-A9B2-61DC0B7FD794}">
  <we:reference id="wa104381682" version="1.0.0.11" store="en-GB" storeType="OMEX"/>
  <we:alternateReferences>
    <we:reference id="WA104381682" version="1.0.0.11" store="WA104381682" storeType="OMEX"/>
  </we:alternateReferences>
  <we:properties>
    <we:property name="selectedSlug" value="&quot;QMIETBL&quot;"/>
    <we:property name="selectedQuestionId" value="&quot;6ab8e84116601e9492723599&quot;"/>
  </we:properties>
  <we:bindings/>
  <we:snapshot xmlns:r="http://schemas.openxmlformats.org/officeDocument/2006/relationships"/>
</we:webextension>
</file>

<file path=ppt/webextensions/webextension2.xml><?xml version="1.0" encoding="utf-8"?>
<we:webextension xmlns:we="http://schemas.microsoft.com/office/webextensions/webextension/2010/11" id="{AA841F07-9A23-4469-9CB0-1F50D1D91DD3}">
  <we:reference id="wa104381682" version="1.0.0.11" store="en-GB" storeType="OMEX"/>
  <we:alternateReferences>
    <we:reference id="WA104381682" version="1.0.0.11" store="WA104381682" storeType="OMEX"/>
  </we:alternateReferences>
  <we:properties>
    <we:property name="selectedSlug" value="&quot;QMIETBL&quot;"/>
    <we:property name="selectedQuestionId" value="&quot;6ab8ebc3ea6bc083c27d890b&quot;"/>
  </we:properties>
  <we:bindings/>
  <we:snapshot xmlns:r="http://schemas.openxmlformats.org/officeDocument/2006/relationships"/>
</we:webextension>
</file>

<file path=ppt/webextensions/webextension3.xml><?xml version="1.0" encoding="utf-8"?>
<we:webextension xmlns:we="http://schemas.microsoft.com/office/webextensions/webextension/2010/11" id="{F2073942-F893-430D-9754-98352C029E18}">
  <we:reference id="wa104381682" version="1.0.0.11" store="en-GB" storeType="OMEX"/>
  <we:alternateReferences>
    <we:reference id="WA104381682" version="1.0.0.11" store="WA104381682" storeType="OMEX"/>
  </we:alternateReferences>
  <we:properties>
    <we:property name="selectedSlug" value="&quot;QMIETBL&quot;"/>
    <we:property name="selectedQuestionId" value="&quot;6ab8ed40ea6bc083c27e6b33&quot;"/>
  </we:properties>
  <we:bindings/>
  <we:snapshot xmlns:r="http://schemas.openxmlformats.org/officeDocument/2006/relationships"/>
</we:webextension>
</file>

<file path=ppt/webextensions/webextension4.xml><?xml version="1.0" encoding="utf-8"?>
<we:webextension xmlns:we="http://schemas.microsoft.com/office/webextensions/webextension/2010/11" id="{E5D6DF8F-4759-4A87-B338-6C7627F33A2C}">
  <we:reference id="wa104381682" version="1.0.0.11" store="en-GB" storeType="OMEX"/>
  <we:alternateReferences>
    <we:reference id="WA104381682" version="1.0.0.11" store="WA104381682" storeType="OMEX"/>
  </we:alternateReferences>
  <we:properties>
    <we:property name="selectedSlug" value="&quot;QMIETBL&quot;"/>
    <we:property name="selectedQuestionId" value="&quot;6ab8f254ea6bc083c28195ea&quot;"/>
  </we:properties>
  <we:bindings/>
  <we:snapshot xmlns:r="http://schemas.openxmlformats.org/officeDocument/2006/relationships"/>
</we:webextension>
</file>

<file path=ppt/webextensions/webextension5.xml><?xml version="1.0" encoding="utf-8"?>
<we:webextension xmlns:we="http://schemas.microsoft.com/office/webextensions/webextension/2010/11" id="{61BFB197-D78B-4BC5-BE5A-3F1B9DCB34E8}">
  <we:reference id="wa104381682" version="1.0.0.11" store="en-GB" storeType="OMEX"/>
  <we:alternateReferences>
    <we:reference id="WA104381682" version="1.0.0.11" store="WA104381682" storeType="OMEX"/>
  </we:alternateReferences>
  <we:properties>
    <we:property name="selectedSlug" value="&quot;QMIETBL&quot;"/>
    <we:property name="selectedQuestionId" value="&quot;6ab8fcec16601e9492821ec1&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DE17CEDC22C6E4C817BE2B85326AFED" ma:contentTypeVersion="14" ma:contentTypeDescription="Crée un document." ma:contentTypeScope="" ma:versionID="73844b390d1721425b1f685e54025cdd">
  <xsd:schema xmlns:xsd="http://www.w3.org/2001/XMLSchema" xmlns:xs="http://www.w3.org/2001/XMLSchema" xmlns:p="http://schemas.microsoft.com/office/2006/metadata/properties" xmlns:ns3="68c52cd0-c861-4c82-9a1a-0aa4e6c6a5db" xmlns:ns4="92df8fb2-6fee-4711-b57a-2112678babd5" targetNamespace="http://schemas.microsoft.com/office/2006/metadata/properties" ma:root="true" ma:fieldsID="3e7fe5f5a5a3f934ead25981a2843161" ns3:_="" ns4:_="">
    <xsd:import namespace="68c52cd0-c861-4c82-9a1a-0aa4e6c6a5db"/>
    <xsd:import namespace="92df8fb2-6fee-4711-b57a-2112678babd5"/>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GenerationTime" minOccurs="0"/>
                <xsd:element ref="ns4:MediaServiceEventHashCode" minOccurs="0"/>
                <xsd:element ref="ns4:MediaServiceOCR" minOccurs="0"/>
                <xsd:element ref="ns4:MediaServiceDateTaken" minOccurs="0"/>
                <xsd:element ref="ns4:MediaServiceLocation" minOccurs="0"/>
                <xsd:element ref="ns4:MediaServiceAutoKeyPoints" minOccurs="0"/>
                <xsd:element ref="ns4:MediaServiceKeyPoints"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c52cd0-c861-4c82-9a1a-0aa4e6c6a5db" elementFormDefault="qualified">
    <xsd:import namespace="http://schemas.microsoft.com/office/2006/documentManagement/types"/>
    <xsd:import namespace="http://schemas.microsoft.com/office/infopath/2007/PartnerControls"/>
    <xsd:element name="SharedWithUsers" ma:index="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Partagé avec détails" ma:internalName="SharedWithDetails" ma:readOnly="true">
      <xsd:simpleType>
        <xsd:restriction base="dms:Note">
          <xsd:maxLength value="255"/>
        </xsd:restriction>
      </xsd:simpleType>
    </xsd:element>
    <xsd:element name="SharingHintHash" ma:index="10" nillable="true" ma:displayName="Partage du hachage d’indicateur"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2df8fb2-6fee-4711-b57a-2112678babd5"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E11E3ED-5FE9-455F-B748-ED7DE8E5DE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8c52cd0-c861-4c82-9a1a-0aa4e6c6a5db"/>
    <ds:schemaRef ds:uri="92df8fb2-6fee-4711-b57a-2112678bab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EAC7FA5-F711-453C-93D7-A9F33B476128}">
  <ds:schemaRefs>
    <ds:schemaRef ds:uri="http://schemas.microsoft.com/sharepoint/v3/contenttype/forms"/>
  </ds:schemaRefs>
</ds:datastoreItem>
</file>

<file path=customXml/itemProps3.xml><?xml version="1.0" encoding="utf-8"?>
<ds:datastoreItem xmlns:ds="http://schemas.openxmlformats.org/officeDocument/2006/customXml" ds:itemID="{F73C4AEB-1D45-4922-A95C-E50C56B9B76C}">
  <ds:schemaRefs>
    <ds:schemaRef ds:uri="http://purl.org/dc/dcmitype/"/>
    <ds:schemaRef ds:uri="http://schemas.microsoft.com/office/2006/documentManagement/types"/>
    <ds:schemaRef ds:uri="68c52cd0-c861-4c82-9a1a-0aa4e6c6a5db"/>
    <ds:schemaRef ds:uri="http://schemas.microsoft.com/office/infopath/2007/PartnerControls"/>
    <ds:schemaRef ds:uri="http://schemas.microsoft.com/office/2006/metadata/properties"/>
    <ds:schemaRef ds:uri="http://purl.org/dc/terms/"/>
    <ds:schemaRef ds:uri="http://schemas.openxmlformats.org/package/2006/metadata/core-properties"/>
    <ds:schemaRef ds:uri="92df8fb2-6fee-4711-b57a-2112678babd5"/>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Oriel</Template>
  <TotalTime>11451</TotalTime>
  <Words>12750</Words>
  <Application>Microsoft Office PowerPoint</Application>
  <PresentationFormat>Presentación en pantalla (4:3)</PresentationFormat>
  <Paragraphs>1470</Paragraphs>
  <Slides>77</Slides>
  <Notes>56</Notes>
  <HiddenSlides>14</HiddenSlides>
  <MMClips>0</MMClips>
  <ScaleCrop>false</ScaleCrop>
  <HeadingPairs>
    <vt:vector size="8" baseType="variant">
      <vt:variant>
        <vt:lpstr>Fuentes usadas</vt:lpstr>
      </vt:variant>
      <vt:variant>
        <vt:i4>13</vt:i4>
      </vt:variant>
      <vt:variant>
        <vt:lpstr>Tema</vt:lpstr>
      </vt:variant>
      <vt:variant>
        <vt:i4>2</vt:i4>
      </vt:variant>
      <vt:variant>
        <vt:lpstr>Servidores OLE incrustados</vt:lpstr>
      </vt:variant>
      <vt:variant>
        <vt:i4>5</vt:i4>
      </vt:variant>
      <vt:variant>
        <vt:lpstr>Títulos de diapositiva</vt:lpstr>
      </vt:variant>
      <vt:variant>
        <vt:i4>77</vt:i4>
      </vt:variant>
    </vt:vector>
  </HeadingPairs>
  <TitlesOfParts>
    <vt:vector size="97" baseType="lpstr">
      <vt:lpstr>Arial</vt:lpstr>
      <vt:lpstr>Calibri</vt:lpstr>
      <vt:lpstr>Cambria Math</vt:lpstr>
      <vt:lpstr>Century Schoolbook</vt:lpstr>
      <vt:lpstr>Geneva</vt:lpstr>
      <vt:lpstr>Georgia</vt:lpstr>
      <vt:lpstr>Kermit Thin Condensed</vt:lpstr>
      <vt:lpstr>Monotype Sorts</vt:lpstr>
      <vt:lpstr>Symbol</vt:lpstr>
      <vt:lpstr>Times</vt:lpstr>
      <vt:lpstr>Times New Roman</vt:lpstr>
      <vt:lpstr>Wingdings</vt:lpstr>
      <vt:lpstr>Wingdings 2</vt:lpstr>
      <vt:lpstr>Oriel</vt:lpstr>
      <vt:lpstr>Civic</vt:lpstr>
      <vt:lpstr>Worksheet</vt:lpstr>
      <vt:lpstr>Equation</vt:lpstr>
      <vt:lpstr>Feuille de calcul</vt:lpstr>
      <vt:lpstr>Acrobat Document</vt:lpstr>
      <vt:lpstr>Document</vt:lpstr>
      <vt:lpstr>Company Valuation:  1st Valuation Method Discounted Cash Flow Valuation</vt:lpstr>
      <vt:lpstr>Recap: What we have seen so far</vt:lpstr>
      <vt:lpstr>Simplest Valuation: Present value of a growing perpetuity</vt:lpstr>
      <vt:lpstr>Discounted Cash Flow Valuation: The Steps</vt:lpstr>
      <vt:lpstr>Steps in Cash Flow Estimation</vt:lpstr>
      <vt:lpstr>Session Plan</vt:lpstr>
      <vt:lpstr>Presentación de PowerPoint</vt:lpstr>
      <vt:lpstr>Presentación de PowerPoint</vt:lpstr>
      <vt:lpstr>I. Update Earnings-Trailing Earnings</vt:lpstr>
      <vt:lpstr>Updating Earnings Example-Disney</vt:lpstr>
      <vt:lpstr>No Dividends the last years Which Figure of EPS should we use NOW?</vt:lpstr>
      <vt:lpstr>Do I need to Estimate Trailing Earnings for Nestle?</vt:lpstr>
      <vt:lpstr>The lucky guys!!!</vt:lpstr>
      <vt:lpstr>Presentación de PowerPoint</vt:lpstr>
      <vt:lpstr>Other Examples?</vt:lpstr>
      <vt:lpstr>II. One-Time and Non-recurring Charges: Pick Up an Example</vt:lpstr>
      <vt:lpstr>Compare and Contrast</vt:lpstr>
      <vt:lpstr>In a Nutshell: What do I Do? My earnings are negative: What to Do?</vt:lpstr>
      <vt:lpstr>Should we consider an extraordinary item for nestle?</vt:lpstr>
      <vt:lpstr>III. Correcting Accounting Earnings “Advanced Financial Analysis”</vt:lpstr>
      <vt:lpstr>Dealing with Operating Lease Expenses</vt:lpstr>
      <vt:lpstr>Example OL-Easyjet</vt:lpstr>
      <vt:lpstr>Impact of Off-Balance Sheet Financing</vt:lpstr>
      <vt:lpstr>R&amp;D Expenses: Operating or Capital Expenses</vt:lpstr>
      <vt:lpstr>Impact of Off-Balance Sheet Investments</vt:lpstr>
      <vt:lpstr>Presentación de PowerPoint</vt:lpstr>
      <vt:lpstr>A.  TAX</vt:lpstr>
      <vt:lpstr>What Tax Rate? Choose Wisely</vt:lpstr>
      <vt:lpstr>Easyjet Tax rate </vt:lpstr>
      <vt:lpstr>A Tax Rate for a Money Losing Firm</vt:lpstr>
      <vt:lpstr>B.  Net Capital Expenditures (NCE)</vt:lpstr>
      <vt:lpstr>C.  Net Working Capital Investments</vt:lpstr>
      <vt:lpstr>What can we learn from the BS Liquidity</vt:lpstr>
      <vt:lpstr>ΔWC-Example Disney</vt:lpstr>
      <vt:lpstr>Example: Volatile Working Capital? What to Choose</vt:lpstr>
      <vt:lpstr>What Happens When Investments Are Volatile? Preferred Method</vt:lpstr>
      <vt:lpstr>Dividends and Cash Flows to Equity</vt:lpstr>
      <vt:lpstr>Dividends and SBB-Disney</vt:lpstr>
      <vt:lpstr>Measuring Potential Dividends</vt:lpstr>
      <vt:lpstr>Estimating Cash Flows: FCFE</vt:lpstr>
      <vt:lpstr>Estimating FCFE vs Dividends: Disney (Example from 1997)</vt:lpstr>
      <vt:lpstr>Disney was investing for growth and share price was going up (Despite the low Dividend</vt:lpstr>
      <vt:lpstr>Estimate FCFs for BMW</vt:lpstr>
      <vt:lpstr>FCFF and FCFE for Nestle</vt:lpstr>
      <vt:lpstr>Simplest Valuation: Present value of a growing perpetuity</vt:lpstr>
      <vt:lpstr>Ways of Estimating Growth in Earnings</vt:lpstr>
      <vt:lpstr>I. Historical Growth in EPS</vt:lpstr>
      <vt:lpstr>Apple Earnings: Historical Forecast</vt:lpstr>
      <vt:lpstr>A special Mention: Negative Earnings</vt:lpstr>
      <vt:lpstr>Special Mention II: Growth and Size</vt:lpstr>
      <vt:lpstr>II. Analyst Forecasts of Growth</vt:lpstr>
      <vt:lpstr>Apple Inc. Growth Forecast-Analysts (2015)</vt:lpstr>
      <vt:lpstr>How good are analysts at forecasting growth?</vt:lpstr>
      <vt:lpstr>III. Fundamental Growth Rates</vt:lpstr>
      <vt:lpstr>Growth Rate Derivation</vt:lpstr>
      <vt:lpstr>Intrinsic Growth: General</vt:lpstr>
      <vt:lpstr>Presentación de PowerPoint</vt:lpstr>
      <vt:lpstr>I. Expected Long Term Growth in EPS</vt:lpstr>
      <vt:lpstr>Expected Growth Rate ABN Amro</vt:lpstr>
      <vt:lpstr>II. Expected Growth in Net Income</vt:lpstr>
      <vt:lpstr>III. Expected Growth in EBIT And Fundamentals: Stable ROC and Reinvestment Rate</vt:lpstr>
      <vt:lpstr>ROE and Leverage</vt:lpstr>
      <vt:lpstr>EPS Growth Rate Microsoft (2015)</vt:lpstr>
      <vt:lpstr>Growth EBIT</vt:lpstr>
      <vt:lpstr>Appendix</vt:lpstr>
      <vt:lpstr>IV. Estimating Growth when Operating Income is Negative or Margins are changing</vt:lpstr>
      <vt:lpstr>Negative Operating Margin-Commerce One</vt:lpstr>
      <vt:lpstr>Commerce One: Revenues and Revenue Growth</vt:lpstr>
      <vt:lpstr>Commerce One: Reinvestment Needs</vt:lpstr>
      <vt:lpstr>Money Loosing Firm: Case Study</vt:lpstr>
      <vt:lpstr>Operating Leases-Example</vt:lpstr>
      <vt:lpstr>Operating Leases at The Gap</vt:lpstr>
      <vt:lpstr>The Collateral Effects of Treating Operating Leases as Debt</vt:lpstr>
      <vt:lpstr>Capitalizing R&amp;D Expenses: Cisco</vt:lpstr>
      <vt:lpstr>Capitalizing R&amp;D Expenses: Cisco</vt:lpstr>
      <vt:lpstr>The Effect of Capitalizing R&amp;D</vt:lpstr>
      <vt:lpstr>Further Practice Questions</vt:lpstr>
    </vt:vector>
  </TitlesOfParts>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rv</dc:creator>
  <cp:lastModifiedBy>HINCAPIE MARTINEZ Juan</cp:lastModifiedBy>
  <cp:revision>309</cp:revision>
  <dcterms:created xsi:type="dcterms:W3CDTF">2012-11-11T10:46:57Z</dcterms:created>
  <dcterms:modified xsi:type="dcterms:W3CDTF">2026-09-30T11:51:51Z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0x0101005DE17CEDC22C6E4C817BE2B85326AFED</vt:lpwstr>
  </property>
</Properties>
</file>